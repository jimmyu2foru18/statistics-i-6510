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6"/>
  </p:notesMasterIdLst>
  <p:handoutMasterIdLst>
    <p:handoutMasterId r:id="rId57"/>
  </p:handoutMasterIdLst>
  <p:sldIdLst>
    <p:sldId id="384" r:id="rId2"/>
    <p:sldId id="314" r:id="rId3"/>
    <p:sldId id="258" r:id="rId4"/>
    <p:sldId id="321" r:id="rId5"/>
    <p:sldId id="370" r:id="rId6"/>
    <p:sldId id="368" r:id="rId7"/>
    <p:sldId id="322" r:id="rId8"/>
    <p:sldId id="375" r:id="rId9"/>
    <p:sldId id="318" r:id="rId10"/>
    <p:sldId id="319" r:id="rId11"/>
    <p:sldId id="376" r:id="rId12"/>
    <p:sldId id="385" r:id="rId13"/>
    <p:sldId id="320" r:id="rId14"/>
    <p:sldId id="367" r:id="rId15"/>
    <p:sldId id="260" r:id="rId16"/>
    <p:sldId id="328" r:id="rId17"/>
    <p:sldId id="327" r:id="rId18"/>
    <p:sldId id="324" r:id="rId19"/>
    <p:sldId id="325" r:id="rId20"/>
    <p:sldId id="377" r:id="rId21"/>
    <p:sldId id="261" r:id="rId22"/>
    <p:sldId id="329" r:id="rId23"/>
    <p:sldId id="330" r:id="rId24"/>
    <p:sldId id="331" r:id="rId25"/>
    <p:sldId id="333" r:id="rId26"/>
    <p:sldId id="378" r:id="rId27"/>
    <p:sldId id="340" r:id="rId28"/>
    <p:sldId id="334" r:id="rId29"/>
    <p:sldId id="344" r:id="rId30"/>
    <p:sldId id="345" r:id="rId31"/>
    <p:sldId id="335" r:id="rId32"/>
    <p:sldId id="346" r:id="rId33"/>
    <p:sldId id="336" r:id="rId34"/>
    <p:sldId id="379" r:id="rId35"/>
    <p:sldId id="380" r:id="rId36"/>
    <p:sldId id="338" r:id="rId37"/>
    <p:sldId id="347" r:id="rId38"/>
    <p:sldId id="349" r:id="rId39"/>
    <p:sldId id="350" r:id="rId40"/>
    <p:sldId id="351" r:id="rId41"/>
    <p:sldId id="381" r:id="rId42"/>
    <p:sldId id="353" r:id="rId43"/>
    <p:sldId id="382" r:id="rId44"/>
    <p:sldId id="355" r:id="rId45"/>
    <p:sldId id="356" r:id="rId46"/>
    <p:sldId id="357" r:id="rId47"/>
    <p:sldId id="358" r:id="rId48"/>
    <p:sldId id="348" r:id="rId49"/>
    <p:sldId id="365" r:id="rId50"/>
    <p:sldId id="361" r:id="rId51"/>
    <p:sldId id="362" r:id="rId52"/>
    <p:sldId id="364" r:id="rId53"/>
    <p:sldId id="366" r:id="rId54"/>
    <p:sldId id="316" r:id="rId55"/>
  </p:sldIdLst>
  <p:sldSz cx="9144000" cy="6858000" type="screen4x3"/>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1pPr>
    <a:lvl2pPr marL="4572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2pPr>
    <a:lvl3pPr marL="9144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3pPr>
    <a:lvl4pPr marL="13716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4pPr>
    <a:lvl5pPr marL="1828800" algn="l" defTabSz="457200" rtl="0" eaLnBrk="0" fontAlgn="base" hangingPunct="0">
      <a:spcBef>
        <a:spcPct val="0"/>
      </a:spcBef>
      <a:spcAft>
        <a:spcPct val="0"/>
      </a:spcAft>
      <a:defRPr kern="1200">
        <a:solidFill>
          <a:schemeClr val="tx1"/>
        </a:solidFill>
        <a:latin typeface="Arial" pitchFamily="34" charset="0"/>
        <a:ea typeface="ＭＳ Ｐゴシック" pitchFamily="34" charset="-128"/>
        <a:cs typeface="+mn-cs"/>
      </a:defRPr>
    </a:lvl5pPr>
    <a:lvl6pPr marL="2286000" algn="l" defTabSz="914400" rtl="0" eaLnBrk="1" latinLnBrk="0" hangingPunct="1">
      <a:defRPr kern="1200">
        <a:solidFill>
          <a:schemeClr val="tx1"/>
        </a:solidFill>
        <a:latin typeface="Arial" pitchFamily="34" charset="0"/>
        <a:ea typeface="ＭＳ Ｐゴシック" pitchFamily="34" charset="-128"/>
        <a:cs typeface="+mn-cs"/>
      </a:defRPr>
    </a:lvl6pPr>
    <a:lvl7pPr marL="2743200" algn="l" defTabSz="914400" rtl="0" eaLnBrk="1" latinLnBrk="0" hangingPunct="1">
      <a:defRPr kern="1200">
        <a:solidFill>
          <a:schemeClr val="tx1"/>
        </a:solidFill>
        <a:latin typeface="Arial" pitchFamily="34" charset="0"/>
        <a:ea typeface="ＭＳ Ｐゴシック" pitchFamily="34" charset="-128"/>
        <a:cs typeface="+mn-cs"/>
      </a:defRPr>
    </a:lvl7pPr>
    <a:lvl8pPr marL="3200400" algn="l" defTabSz="914400" rtl="0" eaLnBrk="1" latinLnBrk="0" hangingPunct="1">
      <a:defRPr kern="1200">
        <a:solidFill>
          <a:schemeClr val="tx1"/>
        </a:solidFill>
        <a:latin typeface="Arial" pitchFamily="34" charset="0"/>
        <a:ea typeface="ＭＳ Ｐゴシック" pitchFamily="34" charset="-128"/>
        <a:cs typeface="+mn-cs"/>
      </a:defRPr>
    </a:lvl8pPr>
    <a:lvl9pPr marL="3657600" algn="l" defTabSz="914400" rtl="0" eaLnBrk="1" latinLnBrk="0" hangingPunct="1">
      <a:defRPr kern="1200">
        <a:solidFill>
          <a:schemeClr val="tx1"/>
        </a:solidFill>
        <a:latin typeface="Arial" pitchFamily="34"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cKibben, Mark" initials="MM" lastIdx="8" clrIdx="0">
    <p:extLst>
      <p:ext uri="{19B8F6BF-5375-455C-9EA6-DF929625EA0E}">
        <p15:presenceInfo xmlns:p15="http://schemas.microsoft.com/office/powerpoint/2012/main" userId="S::MMCKIBBEN@wcupa.edu::7757feae-4db0-4e12-a310-74b038de7b89" providerId="AD"/>
      </p:ext>
    </p:extLst>
  </p:cmAuthor>
  <p:cmAuthor id="2" name="Newton, Andy" initials="NA" lastIdx="1" clrIdx="1">
    <p:extLst>
      <p:ext uri="{19B8F6BF-5375-455C-9EA6-DF929625EA0E}">
        <p15:presenceInfo xmlns:p15="http://schemas.microsoft.com/office/powerpoint/2012/main" userId="S-1-5-21-4250845945-3731851581-3800177176-49714" providerId="AD"/>
      </p:ext>
    </p:extLst>
  </p:cmAuthor>
  <p:cmAuthor id="3" name="Connie Day" initials="CD" lastIdx="4" clrIdx="2">
    <p:extLst>
      <p:ext uri="{19B8F6BF-5375-455C-9EA6-DF929625EA0E}">
        <p15:presenceInfo xmlns:p15="http://schemas.microsoft.com/office/powerpoint/2012/main" userId="9ff5298ed15b641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780"/>
    <a:srgbClr val="7A0000"/>
    <a:srgbClr val="990000"/>
    <a:srgbClr val="EEEF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9" autoAdjust="0"/>
    <p:restoredTop sz="94645" autoAdjust="0"/>
  </p:normalViewPr>
  <p:slideViewPr>
    <p:cSldViewPr snapToGrid="0" snapToObjects="1">
      <p:cViewPr varScale="1">
        <p:scale>
          <a:sx n="66" d="100"/>
          <a:sy n="66" d="100"/>
        </p:scale>
        <p:origin x="128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snapToObjects="1">
      <p:cViewPr varScale="1">
        <p:scale>
          <a:sx n="88" d="100"/>
          <a:sy n="88" d="100"/>
        </p:scale>
        <p:origin x="3822" y="10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435897435897438"/>
          <c:y val="7.5117370892018781E-2"/>
          <c:w val="0.67948717948717952"/>
          <c:h val="0.676056338028169"/>
        </c:manualLayout>
      </c:layout>
      <c:scatterChart>
        <c:scatterStyle val="lineMarker"/>
        <c:varyColors val="0"/>
        <c:ser>
          <c:idx val="0"/>
          <c:order val="0"/>
          <c:tx>
            <c:strRef>
              <c:f>Sheet1!$A$2</c:f>
              <c:strCache>
                <c:ptCount val="1"/>
                <c:pt idx="0">
                  <c:v>height</c:v>
                </c:pt>
              </c:strCache>
            </c:strRef>
          </c:tx>
          <c:spPr>
            <a:ln w="20003">
              <a:noFill/>
            </a:ln>
          </c:spPr>
          <c:marker>
            <c:symbol val="diamond"/>
            <c:size val="8"/>
            <c:spPr>
              <a:solidFill>
                <a:srgbClr val="FF0000"/>
              </a:solidFill>
              <a:ln>
                <a:solidFill>
                  <a:srgbClr val="FF0000"/>
                </a:solidFill>
                <a:prstDash val="solid"/>
              </a:ln>
            </c:spPr>
          </c:marker>
          <c:trendline>
            <c:spPr>
              <a:ln w="13335">
                <a:solidFill>
                  <a:schemeClr val="accent3">
                    <a:lumMod val="50000"/>
                  </a:schemeClr>
                </a:solidFill>
                <a:prstDash val="solid"/>
              </a:ln>
            </c:spPr>
            <c:trendlineType val="linear"/>
            <c:dispRSqr val="0"/>
            <c:dispEq val="0"/>
          </c:trendline>
          <c:xVal>
            <c:numRef>
              <c:f>Sheet1!$B$1:$H$1</c:f>
              <c:numCache>
                <c:formatCode>General</c:formatCode>
                <c:ptCount val="7"/>
                <c:pt idx="0">
                  <c:v>36</c:v>
                </c:pt>
                <c:pt idx="1">
                  <c:v>48</c:v>
                </c:pt>
                <c:pt idx="2">
                  <c:v>51</c:v>
                </c:pt>
                <c:pt idx="3">
                  <c:v>54</c:v>
                </c:pt>
                <c:pt idx="4">
                  <c:v>57</c:v>
                </c:pt>
                <c:pt idx="5">
                  <c:v>60</c:v>
                </c:pt>
                <c:pt idx="6">
                  <c:v>360</c:v>
                </c:pt>
              </c:numCache>
            </c:numRef>
          </c:xVal>
          <c:yVal>
            <c:numRef>
              <c:f>Sheet1!$B$2:$H$2</c:f>
              <c:numCache>
                <c:formatCode>General</c:formatCode>
                <c:ptCount val="7"/>
                <c:pt idx="0">
                  <c:v>86</c:v>
                </c:pt>
                <c:pt idx="1">
                  <c:v>90</c:v>
                </c:pt>
                <c:pt idx="2">
                  <c:v>91</c:v>
                </c:pt>
                <c:pt idx="3">
                  <c:v>93</c:v>
                </c:pt>
                <c:pt idx="4">
                  <c:v>94</c:v>
                </c:pt>
                <c:pt idx="5">
                  <c:v>95</c:v>
                </c:pt>
                <c:pt idx="6">
                  <c:v>209.8</c:v>
                </c:pt>
              </c:numCache>
            </c:numRef>
          </c:yVal>
          <c:smooth val="0"/>
          <c:extLst xmlns:c16r2="http://schemas.microsoft.com/office/drawing/2015/06/chart">
            <c:ext xmlns:c16="http://schemas.microsoft.com/office/drawing/2014/chart" uri="{C3380CC4-5D6E-409C-BE32-E72D297353CC}">
              <c16:uniqueId val="{00000001-8F0C-4805-A4E0-762A24FBD12C}"/>
            </c:ext>
          </c:extLst>
        </c:ser>
        <c:dLbls>
          <c:showLegendKey val="0"/>
          <c:showVal val="0"/>
          <c:showCatName val="0"/>
          <c:showSerName val="0"/>
          <c:showPercent val="0"/>
          <c:showBubbleSize val="0"/>
        </c:dLbls>
        <c:axId val="193918112"/>
        <c:axId val="193919288"/>
      </c:scatterChart>
      <c:valAx>
        <c:axId val="193918112"/>
        <c:scaling>
          <c:orientation val="minMax"/>
          <c:max val="390"/>
          <c:min val="30"/>
        </c:scaling>
        <c:delete val="0"/>
        <c:axPos val="b"/>
        <c:title>
          <c:tx>
            <c:rich>
              <a:bodyPr/>
              <a:lstStyle/>
              <a:p>
                <a:pPr>
                  <a:defRPr sz="1890" b="1" i="0" u="none" strike="noStrike" baseline="0">
                    <a:solidFill>
                      <a:schemeClr val="tx1"/>
                    </a:solidFill>
                    <a:latin typeface="Arial"/>
                    <a:ea typeface="Arial"/>
                    <a:cs typeface="Arial"/>
                  </a:defRPr>
                </a:pPr>
                <a:r>
                  <a:rPr lang="en-US"/>
                  <a:t>age (months)</a:t>
                </a:r>
              </a:p>
            </c:rich>
          </c:tx>
          <c:layout>
            <c:manualLayout>
              <c:xMode val="edge"/>
              <c:yMode val="edge"/>
              <c:x val="0.40769230769230769"/>
              <c:y val="0.852112676056338"/>
            </c:manualLayout>
          </c:layout>
          <c:overlay val="0"/>
          <c:spPr>
            <a:noFill/>
            <a:ln w="26671">
              <a:noFill/>
            </a:ln>
          </c:spPr>
        </c:title>
        <c:numFmt formatCode="General" sourceLinked="1"/>
        <c:majorTickMark val="out"/>
        <c:minorTickMark val="none"/>
        <c:tickLblPos val="nextTo"/>
        <c:spPr>
          <a:ln w="3334">
            <a:solidFill>
              <a:schemeClr val="tx1"/>
            </a:solidFill>
            <a:prstDash val="solid"/>
          </a:ln>
        </c:spPr>
        <c:txPr>
          <a:bodyPr rot="0" vert="horz"/>
          <a:lstStyle/>
          <a:p>
            <a:pPr>
              <a:defRPr sz="1470" b="1" i="0" u="none" strike="noStrike" baseline="0">
                <a:solidFill>
                  <a:schemeClr val="tx1"/>
                </a:solidFill>
                <a:latin typeface="Arial"/>
                <a:ea typeface="Arial"/>
                <a:cs typeface="Arial"/>
              </a:defRPr>
            </a:pPr>
            <a:endParaRPr lang="en-US"/>
          </a:p>
        </c:txPr>
        <c:crossAx val="193919288"/>
        <c:crosses val="autoZero"/>
        <c:crossBetween val="midCat"/>
        <c:majorUnit val="60"/>
        <c:minorUnit val="4"/>
      </c:valAx>
      <c:valAx>
        <c:axId val="193919288"/>
        <c:scaling>
          <c:orientation val="minMax"/>
          <c:max val="210"/>
          <c:min val="70"/>
        </c:scaling>
        <c:delete val="0"/>
        <c:axPos val="l"/>
        <c:majorGridlines>
          <c:spPr>
            <a:ln w="13335">
              <a:solidFill>
                <a:srgbClr val="FFFFFF"/>
              </a:solidFill>
              <a:prstDash val="solid"/>
            </a:ln>
          </c:spPr>
        </c:majorGridlines>
        <c:title>
          <c:tx>
            <c:rich>
              <a:bodyPr/>
              <a:lstStyle/>
              <a:p>
                <a:pPr>
                  <a:defRPr sz="1890" b="1" i="0" u="none" strike="noStrike" baseline="0">
                    <a:solidFill>
                      <a:schemeClr val="tx1"/>
                    </a:solidFill>
                    <a:latin typeface="Arial"/>
                    <a:ea typeface="Arial"/>
                    <a:cs typeface="Arial"/>
                  </a:defRPr>
                </a:pPr>
                <a:r>
                  <a:rPr lang="en-US"/>
                  <a:t>height (cm)</a:t>
                </a:r>
              </a:p>
            </c:rich>
          </c:tx>
          <c:layout>
            <c:manualLayout>
              <c:xMode val="edge"/>
              <c:yMode val="edge"/>
              <c:x val="0"/>
              <c:y val="0.24882629107981222"/>
            </c:manualLayout>
          </c:layout>
          <c:overlay val="0"/>
          <c:spPr>
            <a:noFill/>
            <a:ln w="26671">
              <a:noFill/>
            </a:ln>
          </c:spPr>
        </c:title>
        <c:numFmt formatCode="General" sourceLinked="1"/>
        <c:majorTickMark val="out"/>
        <c:minorTickMark val="none"/>
        <c:tickLblPos val="nextTo"/>
        <c:spPr>
          <a:ln w="3334">
            <a:solidFill>
              <a:schemeClr val="tx1"/>
            </a:solidFill>
            <a:prstDash val="solid"/>
          </a:ln>
        </c:spPr>
        <c:txPr>
          <a:bodyPr rot="0" vert="horz"/>
          <a:lstStyle/>
          <a:p>
            <a:pPr>
              <a:defRPr sz="1890" b="1" i="0" u="none" strike="noStrike" baseline="0">
                <a:solidFill>
                  <a:schemeClr val="tx1"/>
                </a:solidFill>
                <a:latin typeface="Arial"/>
                <a:ea typeface="Arial"/>
                <a:cs typeface="Arial"/>
              </a:defRPr>
            </a:pPr>
            <a:endParaRPr lang="en-US"/>
          </a:p>
        </c:txPr>
        <c:crossAx val="193918112"/>
        <c:crosses val="autoZero"/>
        <c:crossBetween val="midCat"/>
        <c:majorUnit val="20"/>
        <c:minorUnit val="0.4"/>
      </c:valAx>
      <c:spPr>
        <a:noFill/>
        <a:ln w="26671">
          <a:noFill/>
        </a:ln>
      </c:spPr>
    </c:plotArea>
    <c:plotVisOnly val="1"/>
    <c:dispBlanksAs val="gap"/>
    <c:showDLblsOverMax val="0"/>
  </c:chart>
  <c:spPr>
    <a:noFill/>
    <a:ln>
      <a:noFill/>
    </a:ln>
  </c:spPr>
  <c:txPr>
    <a:bodyPr/>
    <a:lstStyle/>
    <a:p>
      <a:pPr>
        <a:defRPr sz="1890" b="1" i="0" u="none" strike="noStrike" baseline="0">
          <a:solidFill>
            <a:schemeClr val="tx1"/>
          </a:solidFill>
          <a:latin typeface="Arial"/>
          <a:ea typeface="Arial"/>
          <a:cs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manualLayout>
          <c:layoutTarget val="inner"/>
          <c:xMode val="edge"/>
          <c:yMode val="edge"/>
          <c:x val="0.1139974110529199"/>
          <c:y val="3.2168865931021001E-2"/>
          <c:w val="0.8050783759270792"/>
          <c:h val="0.81081444649378054"/>
        </c:manualLayout>
      </c:layout>
      <c:scatterChart>
        <c:scatterStyle val="lineMarker"/>
        <c:varyColors val="0"/>
        <c:ser>
          <c:idx val="0"/>
          <c:order val="0"/>
          <c:tx>
            <c:strRef>
              <c:f>Sheet1!$B$1</c:f>
              <c:strCache>
                <c:ptCount val="1"/>
                <c:pt idx="0">
                  <c:v>Y-Value 1</c:v>
                </c:pt>
              </c:strCache>
            </c:strRef>
          </c:tx>
          <c:spPr>
            <a:ln w="47584">
              <a:noFill/>
            </a:ln>
          </c:spPr>
          <c:marker>
            <c:symbol val="circle"/>
            <c:size val="2"/>
            <c:spPr>
              <a:noFill/>
            </c:spPr>
          </c:marker>
          <c:xVal>
            <c:numRef>
              <c:f>Sheet1!$A$2:$A$13</c:f>
              <c:numCache>
                <c:formatCode>General</c:formatCode>
                <c:ptCount val="12"/>
                <c:pt idx="0">
                  <c:v>152</c:v>
                </c:pt>
                <c:pt idx="1">
                  <c:v>153</c:v>
                </c:pt>
                <c:pt idx="2">
                  <c:v>160</c:v>
                </c:pt>
                <c:pt idx="3">
                  <c:v>162</c:v>
                </c:pt>
                <c:pt idx="4">
                  <c:v>165</c:v>
                </c:pt>
                <c:pt idx="5">
                  <c:v>170</c:v>
                </c:pt>
                <c:pt idx="6">
                  <c:v>172</c:v>
                </c:pt>
                <c:pt idx="7">
                  <c:v>173</c:v>
                </c:pt>
                <c:pt idx="8">
                  <c:v>175</c:v>
                </c:pt>
                <c:pt idx="9">
                  <c:v>208</c:v>
                </c:pt>
                <c:pt idx="10">
                  <c:v>225</c:v>
                </c:pt>
                <c:pt idx="11">
                  <c:v>245</c:v>
                </c:pt>
              </c:numCache>
            </c:numRef>
          </c:xVal>
          <c:yVal>
            <c:numRef>
              <c:f>Sheet1!$B$2:$B$13</c:f>
              <c:numCache>
                <c:formatCode>General</c:formatCode>
                <c:ptCount val="12"/>
                <c:pt idx="0">
                  <c:v>250</c:v>
                </c:pt>
                <c:pt idx="1">
                  <c:v>185</c:v>
                </c:pt>
                <c:pt idx="2">
                  <c:v>301</c:v>
                </c:pt>
                <c:pt idx="3">
                  <c:v>75</c:v>
                </c:pt>
                <c:pt idx="4">
                  <c:v>99</c:v>
                </c:pt>
                <c:pt idx="5">
                  <c:v>145</c:v>
                </c:pt>
                <c:pt idx="6">
                  <c:v>72</c:v>
                </c:pt>
                <c:pt idx="7">
                  <c:v>95</c:v>
                </c:pt>
                <c:pt idx="8">
                  <c:v>205</c:v>
                </c:pt>
                <c:pt idx="9">
                  <c:v>95</c:v>
                </c:pt>
                <c:pt idx="10">
                  <c:v>105</c:v>
                </c:pt>
                <c:pt idx="11">
                  <c:v>98</c:v>
                </c:pt>
              </c:numCache>
            </c:numRef>
          </c:yVal>
          <c:smooth val="0"/>
          <c:extLst xmlns:c16r2="http://schemas.microsoft.com/office/drawing/2015/06/chart">
            <c:ext xmlns:c16="http://schemas.microsoft.com/office/drawing/2014/chart" uri="{C3380CC4-5D6E-409C-BE32-E72D297353CC}">
              <c16:uniqueId val="{00000000-3085-4887-80CE-323B50644375}"/>
            </c:ext>
          </c:extLst>
        </c:ser>
        <c:dLbls>
          <c:showLegendKey val="0"/>
          <c:showVal val="0"/>
          <c:showCatName val="0"/>
          <c:showSerName val="0"/>
          <c:showPercent val="0"/>
          <c:showBubbleSize val="0"/>
        </c:dLbls>
        <c:axId val="193914192"/>
        <c:axId val="193914976"/>
      </c:scatterChart>
      <c:valAx>
        <c:axId val="193914192"/>
        <c:scaling>
          <c:orientation val="minMax"/>
          <c:min val="150"/>
        </c:scaling>
        <c:delete val="0"/>
        <c:axPos val="b"/>
        <c:title>
          <c:tx>
            <c:rich>
              <a:bodyPr/>
              <a:lstStyle/>
              <a:p>
                <a:pPr>
                  <a:defRPr sz="1330" b="1" i="0" u="none" strike="noStrike" baseline="0">
                    <a:solidFill>
                      <a:srgbClr val="000000"/>
                    </a:solidFill>
                    <a:latin typeface="Arial"/>
                    <a:ea typeface="Arial"/>
                    <a:cs typeface="Arial"/>
                  </a:defRPr>
                </a:pPr>
                <a:r>
                  <a:rPr lang="en-US"/>
                  <a:t>Electricity</a:t>
                </a:r>
              </a:p>
            </c:rich>
          </c:tx>
          <c:layout/>
          <c:overlay val="0"/>
          <c:spPr>
            <a:noFill/>
            <a:ln w="25379">
              <a:noFill/>
            </a:ln>
          </c:spPr>
        </c:title>
        <c:numFmt formatCode="\$#,##0" sourceLinked="0"/>
        <c:majorTickMark val="out"/>
        <c:minorTickMark val="none"/>
        <c:tickLblPos val="nextTo"/>
        <c:spPr>
          <a:ln w="3172">
            <a:solidFill>
              <a:srgbClr val="808080"/>
            </a:solidFill>
            <a:prstDash val="solid"/>
          </a:ln>
        </c:spPr>
        <c:txPr>
          <a:bodyPr rot="0" vert="horz"/>
          <a:lstStyle/>
          <a:p>
            <a:pPr>
              <a:defRPr sz="1355" b="0" i="0" u="none" strike="noStrike" baseline="0">
                <a:solidFill>
                  <a:srgbClr val="000000"/>
                </a:solidFill>
                <a:latin typeface="Arial"/>
                <a:ea typeface="Arial"/>
                <a:cs typeface="Arial"/>
              </a:defRPr>
            </a:pPr>
            <a:endParaRPr lang="en-US"/>
          </a:p>
        </c:txPr>
        <c:crossAx val="193914976"/>
        <c:crosses val="autoZero"/>
        <c:crossBetween val="midCat"/>
        <c:majorUnit val="50"/>
      </c:valAx>
      <c:valAx>
        <c:axId val="193914976"/>
        <c:scaling>
          <c:orientation val="minMax"/>
        </c:scaling>
        <c:delete val="0"/>
        <c:axPos val="l"/>
        <c:title>
          <c:tx>
            <c:rich>
              <a:bodyPr/>
              <a:lstStyle/>
              <a:p>
                <a:pPr>
                  <a:defRPr sz="1330" b="1" i="0" u="none" strike="noStrike" baseline="0">
                    <a:solidFill>
                      <a:srgbClr val="000000"/>
                    </a:solidFill>
                    <a:latin typeface="Arial"/>
                    <a:ea typeface="Arial"/>
                    <a:cs typeface="Arial"/>
                  </a:defRPr>
                </a:pPr>
                <a:r>
                  <a:rPr lang="en-US" dirty="0"/>
                  <a:t>Gas</a:t>
                </a:r>
              </a:p>
            </c:rich>
          </c:tx>
          <c:layout>
            <c:manualLayout>
              <c:xMode val="edge"/>
              <c:yMode val="edge"/>
              <c:x val="5.0573662630264511E-3"/>
              <c:y val="0.46738049334051557"/>
            </c:manualLayout>
          </c:layout>
          <c:overlay val="0"/>
          <c:spPr>
            <a:noFill/>
            <a:ln w="25379">
              <a:noFill/>
            </a:ln>
          </c:spPr>
        </c:title>
        <c:numFmt formatCode="\$#,##0" sourceLinked="0"/>
        <c:majorTickMark val="out"/>
        <c:minorTickMark val="none"/>
        <c:tickLblPos val="nextTo"/>
        <c:spPr>
          <a:ln w="3172">
            <a:solidFill>
              <a:srgbClr val="808080"/>
            </a:solidFill>
            <a:prstDash val="solid"/>
          </a:ln>
        </c:spPr>
        <c:crossAx val="193914192"/>
        <c:crosses val="autoZero"/>
        <c:crossBetween val="midCat"/>
        <c:majorUnit val="100"/>
        <c:minorUnit val="20"/>
      </c:valAx>
      <c:spPr>
        <a:noFill/>
        <a:ln w="25396">
          <a:noFill/>
        </a:ln>
      </c:spPr>
    </c:plotArea>
    <c:plotVisOnly val="1"/>
    <c:dispBlanksAs val="gap"/>
    <c:showDLblsOverMax val="0"/>
  </c:chart>
  <c:spPr>
    <a:noFill/>
    <a:ln>
      <a:noFill/>
    </a:ln>
  </c:spPr>
  <c:txPr>
    <a:bodyPr/>
    <a:lstStyle/>
    <a:p>
      <a:pPr>
        <a:defRPr sz="1353"/>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39"/>
    </mc:Choice>
    <mc:Fallback>
      <c:style val="39"/>
    </mc:Fallback>
  </mc:AlternateContent>
  <c:chart>
    <c:title>
      <c:tx>
        <c:rich>
          <a:bodyPr/>
          <a:lstStyle/>
          <a:p>
            <a:pPr>
              <a:defRPr sz="435"/>
            </a:pPr>
            <a:r>
              <a:rPr lang="en-US" dirty="0"/>
              <a:t>Chance of Getting Rich by Age 30</a:t>
            </a:r>
          </a:p>
        </c:rich>
      </c:tx>
      <c:layout>
        <c:manualLayout>
          <c:xMode val="edge"/>
          <c:yMode val="edge"/>
          <c:x val="0.13093398898260247"/>
          <c:y val="0.11924895973369183"/>
        </c:manualLayout>
      </c:layout>
      <c:overlay val="0"/>
      <c:spPr>
        <a:noFill/>
        <a:ln w="25394">
          <a:noFill/>
        </a:ln>
      </c:spPr>
    </c:title>
    <c:autoTitleDeleted val="0"/>
    <c:plotArea>
      <c:layout>
        <c:manualLayout>
          <c:layoutTarget val="inner"/>
          <c:xMode val="edge"/>
          <c:yMode val="edge"/>
          <c:x val="0.14250000000000002"/>
          <c:y val="0.36051502145922704"/>
          <c:w val="0.8"/>
          <c:h val="0.35193133047210295"/>
        </c:manualLayout>
      </c:layout>
      <c:barChart>
        <c:barDir val="col"/>
        <c:grouping val="clustered"/>
        <c:varyColors val="0"/>
        <c:ser>
          <c:idx val="0"/>
          <c:order val="0"/>
          <c:tx>
            <c:strRef>
              <c:f>Sheet1!$B$1</c:f>
              <c:strCache>
                <c:ptCount val="1"/>
                <c:pt idx="0">
                  <c:v>Super Power Preference</c:v>
                </c:pt>
              </c:strCache>
            </c:strRef>
          </c:tx>
          <c:spPr>
            <a:solidFill>
              <a:srgbClr val="4BACC6"/>
            </a:solidFill>
            <a:ln w="3175">
              <a:solidFill>
                <a:srgbClr val="339966"/>
              </a:solidFill>
              <a:prstDash val="solid"/>
            </a:ln>
          </c:spPr>
          <c:invertIfNegative val="0"/>
          <c:cat>
            <c:strRef>
              <c:f>Sheet1!$A$2:$A$6</c:f>
              <c:strCache>
                <c:ptCount val="5"/>
                <c:pt idx="0">
                  <c:v>Almost none</c:v>
                </c:pt>
                <c:pt idx="1">
                  <c:v>Some chance</c:v>
                </c:pt>
                <c:pt idx="2">
                  <c:v>50-50 chance</c:v>
                </c:pt>
                <c:pt idx="3">
                  <c:v>Good chance</c:v>
                </c:pt>
                <c:pt idx="4">
                  <c:v>Almost certain</c:v>
                </c:pt>
              </c:strCache>
            </c:strRef>
          </c:cat>
          <c:val>
            <c:numRef>
              <c:f>Sheet1!$B$2:$B$6</c:f>
              <c:numCache>
                <c:formatCode>General</c:formatCode>
                <c:ptCount val="5"/>
                <c:pt idx="0">
                  <c:v>4</c:v>
                </c:pt>
                <c:pt idx="1">
                  <c:v>14.8</c:v>
                </c:pt>
                <c:pt idx="2">
                  <c:v>29.3</c:v>
                </c:pt>
                <c:pt idx="3">
                  <c:v>29.4</c:v>
                </c:pt>
                <c:pt idx="4">
                  <c:v>22.4</c:v>
                </c:pt>
              </c:numCache>
            </c:numRef>
          </c:val>
          <c:extLst xmlns:c16r2="http://schemas.microsoft.com/office/drawing/2015/06/chart">
            <c:ext xmlns:c16="http://schemas.microsoft.com/office/drawing/2014/chart" uri="{C3380CC4-5D6E-409C-BE32-E72D297353CC}">
              <c16:uniqueId val="{00000000-F36C-4D01-88A6-7AAE1B60178B}"/>
            </c:ext>
          </c:extLst>
        </c:ser>
        <c:dLbls>
          <c:showLegendKey val="0"/>
          <c:showVal val="0"/>
          <c:showCatName val="0"/>
          <c:showSerName val="0"/>
          <c:showPercent val="0"/>
          <c:showBubbleSize val="0"/>
        </c:dLbls>
        <c:gapWidth val="150"/>
        <c:axId val="193916936"/>
        <c:axId val="193915760"/>
      </c:barChart>
      <c:catAx>
        <c:axId val="193916936"/>
        <c:scaling>
          <c:orientation val="minMax"/>
        </c:scaling>
        <c:delete val="0"/>
        <c:axPos val="b"/>
        <c:title>
          <c:tx>
            <c:rich>
              <a:bodyPr/>
              <a:lstStyle/>
              <a:p>
                <a:pPr>
                  <a:defRPr sz="350" b="1" i="0" u="none" strike="noStrike" baseline="0">
                    <a:solidFill>
                      <a:srgbClr val="000000"/>
                    </a:solidFill>
                    <a:latin typeface="Calibri"/>
                    <a:ea typeface="Calibri"/>
                    <a:cs typeface="Calibri"/>
                  </a:defRPr>
                </a:pPr>
                <a:r>
                  <a:rPr lang="en-US"/>
                  <a:t>Survey Response</a:t>
                </a:r>
              </a:p>
            </c:rich>
          </c:tx>
          <c:layout/>
          <c:overlay val="0"/>
          <c:spPr>
            <a:noFill/>
            <a:ln w="25394">
              <a:noFill/>
            </a:ln>
          </c:spPr>
        </c:title>
        <c:numFmt formatCode="General" sourceLinked="1"/>
        <c:majorTickMark val="out"/>
        <c:minorTickMark val="none"/>
        <c:tickLblPos val="nextTo"/>
        <c:spPr>
          <a:ln w="3175">
            <a:solidFill>
              <a:srgbClr val="808080"/>
            </a:solidFill>
            <a:prstDash val="solid"/>
          </a:ln>
        </c:spPr>
        <c:txPr>
          <a:bodyPr rot="0" vert="horz">
            <a:spAutoFit/>
          </a:bodyPr>
          <a:lstStyle/>
          <a:p>
            <a:pPr>
              <a:defRPr sz="372" b="0"/>
            </a:pPr>
            <a:endParaRPr lang="en-US"/>
          </a:p>
        </c:txPr>
        <c:crossAx val="193915760"/>
        <c:crosses val="autoZero"/>
        <c:auto val="1"/>
        <c:lblAlgn val="ctr"/>
        <c:lblOffset val="100"/>
        <c:noMultiLvlLbl val="0"/>
      </c:catAx>
      <c:valAx>
        <c:axId val="193915760"/>
        <c:scaling>
          <c:orientation val="minMax"/>
        </c:scaling>
        <c:delete val="0"/>
        <c:axPos val="l"/>
        <c:majorGridlines>
          <c:spPr>
            <a:ln w="3175">
              <a:solidFill>
                <a:srgbClr val="808080"/>
              </a:solidFill>
              <a:prstDash val="solid"/>
            </a:ln>
          </c:spPr>
        </c:majorGridlines>
        <c:title>
          <c:tx>
            <c:rich>
              <a:bodyPr/>
              <a:lstStyle/>
              <a:p>
                <a:pPr>
                  <a:defRPr sz="350" b="1" i="0" u="none" strike="noStrike" baseline="0">
                    <a:solidFill>
                      <a:srgbClr val="000000"/>
                    </a:solidFill>
                    <a:latin typeface="Calibri"/>
                    <a:ea typeface="Calibri"/>
                    <a:cs typeface="Calibri"/>
                  </a:defRPr>
                </a:pPr>
                <a:r>
                  <a:rPr lang="en-US"/>
                  <a:t>Percent</a:t>
                </a:r>
              </a:p>
            </c:rich>
          </c:tx>
          <c:layout/>
          <c:overlay val="0"/>
          <c:spPr>
            <a:noFill/>
            <a:ln w="25394">
              <a:noFill/>
            </a:ln>
          </c:spPr>
        </c:title>
        <c:numFmt formatCode="General" sourceLinked="1"/>
        <c:majorTickMark val="out"/>
        <c:minorTickMark val="none"/>
        <c:tickLblPos val="nextTo"/>
        <c:spPr>
          <a:ln w="3175">
            <a:solidFill>
              <a:srgbClr val="808080"/>
            </a:solidFill>
            <a:prstDash val="solid"/>
          </a:ln>
        </c:spPr>
        <c:txPr>
          <a:bodyPr/>
          <a:lstStyle/>
          <a:p>
            <a:pPr>
              <a:defRPr sz="340"/>
            </a:pPr>
            <a:endParaRPr lang="en-US"/>
          </a:p>
        </c:txPr>
        <c:crossAx val="193916936"/>
        <c:crosses val="autoZero"/>
        <c:crossBetween val="between"/>
      </c:valAx>
      <c:spPr>
        <a:solidFill>
          <a:srgbClr val="E9F1F5"/>
        </a:solidFill>
        <a:ln w="25394">
          <a:noFill/>
        </a:ln>
      </c:spPr>
    </c:plotArea>
    <c:plotVisOnly val="1"/>
    <c:dispBlanksAs val="gap"/>
    <c:showDLblsOverMax val="0"/>
  </c:chart>
  <c:spPr>
    <a:solidFill>
      <a:srgbClr val="FFFFFF"/>
    </a:solidFill>
    <a:ln w="3175">
      <a:solidFill>
        <a:srgbClr val="808080"/>
      </a:solidFill>
      <a:prstDash val="solid"/>
    </a:ln>
  </c:spPr>
  <c:txPr>
    <a:bodyPr/>
    <a:lstStyle/>
    <a:p>
      <a:pPr>
        <a:defRPr sz="557"/>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34"/>
    </mc:Choice>
    <mc:Fallback>
      <c:style val="34"/>
    </mc:Fallback>
  </mc:AlternateContent>
  <c:chart>
    <c:title>
      <c:tx>
        <c:rich>
          <a:bodyPr/>
          <a:lstStyle/>
          <a:p>
            <a:pPr>
              <a:defRPr sz="1084"/>
            </a:pPr>
            <a:r>
              <a:rPr lang="en-US" sz="1084" dirty="0"/>
              <a:t>Chance of Getting Rich by Age 30</a:t>
            </a:r>
          </a:p>
        </c:rich>
      </c:tx>
      <c:layout/>
      <c:overlay val="0"/>
      <c:spPr>
        <a:noFill/>
        <a:ln w="25373">
          <a:noFill/>
        </a:ln>
      </c:spPr>
    </c:title>
    <c:autoTitleDeleted val="0"/>
    <c:plotArea>
      <c:layout>
        <c:manualLayout>
          <c:layoutTarget val="inner"/>
          <c:xMode val="edge"/>
          <c:yMode val="edge"/>
          <c:x val="0.15776081424936403"/>
          <c:y val="0.22177419354838704"/>
          <c:w val="0.46310432569974508"/>
          <c:h val="0.70161290322580605"/>
        </c:manualLayout>
      </c:layout>
      <c:barChart>
        <c:barDir val="col"/>
        <c:grouping val="percentStacked"/>
        <c:varyColors val="0"/>
        <c:ser>
          <c:idx val="0"/>
          <c:order val="0"/>
          <c:tx>
            <c:strRef>
              <c:f>Sheet1!$A$2</c:f>
              <c:strCache>
                <c:ptCount val="1"/>
                <c:pt idx="0">
                  <c:v>Almost no chance</c:v>
                </c:pt>
              </c:strCache>
            </c:strRef>
          </c:tx>
          <c:spPr>
            <a:solidFill>
              <a:srgbClr val="4F81BD"/>
            </a:solidFill>
            <a:ln w="3171">
              <a:solidFill>
                <a:srgbClr val="333399"/>
              </a:solidFill>
              <a:prstDash val="solid"/>
            </a:ln>
          </c:spPr>
          <c:invertIfNegative val="0"/>
          <c:cat>
            <c:strRef>
              <c:f>Sheet1!$B$1:$C$1</c:f>
              <c:strCache>
                <c:ptCount val="2"/>
                <c:pt idx="0">
                  <c:v>Males</c:v>
                </c:pt>
                <c:pt idx="1">
                  <c:v>Females</c:v>
                </c:pt>
              </c:strCache>
            </c:strRef>
          </c:cat>
          <c:val>
            <c:numRef>
              <c:f>Sheet1!$B$2:$C$2</c:f>
              <c:numCache>
                <c:formatCode>General</c:formatCode>
                <c:ptCount val="2"/>
                <c:pt idx="0">
                  <c:v>4</c:v>
                </c:pt>
                <c:pt idx="1">
                  <c:v>4.0999999999999996</c:v>
                </c:pt>
              </c:numCache>
            </c:numRef>
          </c:val>
          <c:extLst xmlns:c16r2="http://schemas.microsoft.com/office/drawing/2015/06/chart">
            <c:ext xmlns:c16="http://schemas.microsoft.com/office/drawing/2014/chart" uri="{C3380CC4-5D6E-409C-BE32-E72D297353CC}">
              <c16:uniqueId val="{00000000-9BF1-4AEB-B94A-51CCECEB6207}"/>
            </c:ext>
          </c:extLst>
        </c:ser>
        <c:ser>
          <c:idx val="1"/>
          <c:order val="1"/>
          <c:tx>
            <c:strRef>
              <c:f>Sheet1!$A$3</c:f>
              <c:strCache>
                <c:ptCount val="1"/>
                <c:pt idx="0">
                  <c:v>Some chance</c:v>
                </c:pt>
              </c:strCache>
            </c:strRef>
          </c:tx>
          <c:spPr>
            <a:solidFill>
              <a:srgbClr val="C0504D"/>
            </a:solidFill>
            <a:ln w="3171">
              <a:solidFill>
                <a:srgbClr val="865357"/>
              </a:solidFill>
              <a:prstDash val="solid"/>
            </a:ln>
          </c:spPr>
          <c:invertIfNegative val="0"/>
          <c:cat>
            <c:strRef>
              <c:f>Sheet1!$B$1:$C$1</c:f>
              <c:strCache>
                <c:ptCount val="2"/>
                <c:pt idx="0">
                  <c:v>Males</c:v>
                </c:pt>
                <c:pt idx="1">
                  <c:v>Females</c:v>
                </c:pt>
              </c:strCache>
            </c:strRef>
          </c:cat>
          <c:val>
            <c:numRef>
              <c:f>Sheet1!$B$3:$C$3</c:f>
              <c:numCache>
                <c:formatCode>General</c:formatCode>
                <c:ptCount val="2"/>
                <c:pt idx="0">
                  <c:v>11.6</c:v>
                </c:pt>
                <c:pt idx="1">
                  <c:v>18</c:v>
                </c:pt>
              </c:numCache>
            </c:numRef>
          </c:val>
          <c:extLst xmlns:c16r2="http://schemas.microsoft.com/office/drawing/2015/06/chart">
            <c:ext xmlns:c16="http://schemas.microsoft.com/office/drawing/2014/chart" uri="{C3380CC4-5D6E-409C-BE32-E72D297353CC}">
              <c16:uniqueId val="{00000001-9BF1-4AEB-B94A-51CCECEB6207}"/>
            </c:ext>
          </c:extLst>
        </c:ser>
        <c:ser>
          <c:idx val="2"/>
          <c:order val="2"/>
          <c:tx>
            <c:strRef>
              <c:f>Sheet1!$A$4</c:f>
              <c:strCache>
                <c:ptCount val="1"/>
                <c:pt idx="0">
                  <c:v>50-50 chance</c:v>
                </c:pt>
              </c:strCache>
            </c:strRef>
          </c:tx>
          <c:spPr>
            <a:solidFill>
              <a:srgbClr val="9BBB59"/>
            </a:solidFill>
            <a:ln w="3171">
              <a:solidFill>
                <a:srgbClr val="90713A"/>
              </a:solidFill>
              <a:prstDash val="solid"/>
            </a:ln>
          </c:spPr>
          <c:invertIfNegative val="0"/>
          <c:cat>
            <c:strRef>
              <c:f>Sheet1!$B$1:$C$1</c:f>
              <c:strCache>
                <c:ptCount val="2"/>
                <c:pt idx="0">
                  <c:v>Males</c:v>
                </c:pt>
                <c:pt idx="1">
                  <c:v>Females</c:v>
                </c:pt>
              </c:strCache>
            </c:strRef>
          </c:cat>
          <c:val>
            <c:numRef>
              <c:f>Sheet1!$B$4:$C$4</c:f>
              <c:numCache>
                <c:formatCode>General</c:formatCode>
                <c:ptCount val="2"/>
                <c:pt idx="0">
                  <c:v>29.3</c:v>
                </c:pt>
                <c:pt idx="1">
                  <c:v>29.4</c:v>
                </c:pt>
              </c:numCache>
            </c:numRef>
          </c:val>
          <c:extLst xmlns:c16r2="http://schemas.microsoft.com/office/drawing/2015/06/chart">
            <c:ext xmlns:c16="http://schemas.microsoft.com/office/drawing/2014/chart" uri="{C3380CC4-5D6E-409C-BE32-E72D297353CC}">
              <c16:uniqueId val="{00000002-9BF1-4AEB-B94A-51CCECEB6207}"/>
            </c:ext>
          </c:extLst>
        </c:ser>
        <c:ser>
          <c:idx val="3"/>
          <c:order val="3"/>
          <c:tx>
            <c:strRef>
              <c:f>Sheet1!$A$5</c:f>
              <c:strCache>
                <c:ptCount val="1"/>
                <c:pt idx="0">
                  <c:v>Good chance</c:v>
                </c:pt>
              </c:strCache>
            </c:strRef>
          </c:tx>
          <c:spPr>
            <a:solidFill>
              <a:srgbClr val="8064A2"/>
            </a:solidFill>
            <a:ln w="3171">
              <a:solidFill>
                <a:srgbClr val="666699"/>
              </a:solidFill>
              <a:prstDash val="solid"/>
            </a:ln>
          </c:spPr>
          <c:invertIfNegative val="0"/>
          <c:cat>
            <c:strRef>
              <c:f>Sheet1!$B$1:$C$1</c:f>
              <c:strCache>
                <c:ptCount val="2"/>
                <c:pt idx="0">
                  <c:v>Males</c:v>
                </c:pt>
                <c:pt idx="1">
                  <c:v>Females</c:v>
                </c:pt>
              </c:strCache>
            </c:strRef>
          </c:cat>
          <c:val>
            <c:numRef>
              <c:f>Sheet1!$B$5:$C$5</c:f>
              <c:numCache>
                <c:formatCode>General</c:formatCode>
                <c:ptCount val="2"/>
                <c:pt idx="0">
                  <c:v>30.8</c:v>
                </c:pt>
                <c:pt idx="1">
                  <c:v>28</c:v>
                </c:pt>
              </c:numCache>
            </c:numRef>
          </c:val>
          <c:extLst xmlns:c16r2="http://schemas.microsoft.com/office/drawing/2015/06/chart">
            <c:ext xmlns:c16="http://schemas.microsoft.com/office/drawing/2014/chart" uri="{C3380CC4-5D6E-409C-BE32-E72D297353CC}">
              <c16:uniqueId val="{00000003-9BF1-4AEB-B94A-51CCECEB6207}"/>
            </c:ext>
          </c:extLst>
        </c:ser>
        <c:ser>
          <c:idx val="4"/>
          <c:order val="4"/>
          <c:tx>
            <c:strRef>
              <c:f>Sheet1!$A$6</c:f>
              <c:strCache>
                <c:ptCount val="1"/>
                <c:pt idx="0">
                  <c:v>Almost certain</c:v>
                </c:pt>
              </c:strCache>
            </c:strRef>
          </c:tx>
          <c:spPr>
            <a:solidFill>
              <a:srgbClr val="4BACC6"/>
            </a:solidFill>
            <a:ln w="3171">
              <a:solidFill>
                <a:srgbClr val="339966"/>
              </a:solidFill>
              <a:prstDash val="solid"/>
            </a:ln>
          </c:spPr>
          <c:invertIfNegative val="0"/>
          <c:cat>
            <c:strRef>
              <c:f>Sheet1!$B$1:$C$1</c:f>
              <c:strCache>
                <c:ptCount val="2"/>
                <c:pt idx="0">
                  <c:v>Males</c:v>
                </c:pt>
                <c:pt idx="1">
                  <c:v>Females</c:v>
                </c:pt>
              </c:strCache>
            </c:strRef>
          </c:cat>
          <c:val>
            <c:numRef>
              <c:f>Sheet1!$B$6:$C$6</c:f>
              <c:numCache>
                <c:formatCode>General</c:formatCode>
                <c:ptCount val="2"/>
                <c:pt idx="0">
                  <c:v>24.3</c:v>
                </c:pt>
                <c:pt idx="1">
                  <c:v>20.5</c:v>
                </c:pt>
              </c:numCache>
            </c:numRef>
          </c:val>
          <c:extLst xmlns:c16r2="http://schemas.microsoft.com/office/drawing/2015/06/chart">
            <c:ext xmlns:c16="http://schemas.microsoft.com/office/drawing/2014/chart" uri="{C3380CC4-5D6E-409C-BE32-E72D297353CC}">
              <c16:uniqueId val="{00000004-9BF1-4AEB-B94A-51CCECEB6207}"/>
            </c:ext>
          </c:extLst>
        </c:ser>
        <c:dLbls>
          <c:showLegendKey val="0"/>
          <c:showVal val="0"/>
          <c:showCatName val="0"/>
          <c:showSerName val="0"/>
          <c:showPercent val="0"/>
          <c:showBubbleSize val="0"/>
        </c:dLbls>
        <c:gapWidth val="150"/>
        <c:overlap val="100"/>
        <c:axId val="186807568"/>
        <c:axId val="186808352"/>
      </c:barChart>
      <c:catAx>
        <c:axId val="186807568"/>
        <c:scaling>
          <c:orientation val="minMax"/>
        </c:scaling>
        <c:delete val="0"/>
        <c:axPos val="b"/>
        <c:title>
          <c:tx>
            <c:rich>
              <a:bodyPr/>
              <a:lstStyle/>
              <a:p>
                <a:pPr>
                  <a:defRPr sz="890" b="1" i="0" u="none" strike="noStrike" baseline="0">
                    <a:solidFill>
                      <a:srgbClr val="000000"/>
                    </a:solidFill>
                    <a:latin typeface="Calibri"/>
                    <a:ea typeface="Calibri"/>
                    <a:cs typeface="Calibri"/>
                  </a:defRPr>
                </a:pPr>
                <a:r>
                  <a:rPr lang="en-US"/>
                  <a:t>Opinion</a:t>
                </a:r>
              </a:p>
            </c:rich>
          </c:tx>
          <c:layout>
            <c:manualLayout>
              <c:xMode val="edge"/>
              <c:yMode val="edge"/>
              <c:x val="0.31442515551697769"/>
              <c:y val="0.90966607497762197"/>
            </c:manualLayout>
          </c:layout>
          <c:overlay val="0"/>
          <c:spPr>
            <a:noFill/>
            <a:ln w="25373">
              <a:noFill/>
            </a:ln>
          </c:spPr>
        </c:title>
        <c:numFmt formatCode="General" sourceLinked="1"/>
        <c:majorTickMark val="out"/>
        <c:minorTickMark val="none"/>
        <c:tickLblPos val="nextTo"/>
        <c:spPr>
          <a:ln w="3171">
            <a:solidFill>
              <a:srgbClr val="808080"/>
            </a:solidFill>
            <a:prstDash val="solid"/>
          </a:ln>
        </c:spPr>
        <c:txPr>
          <a:bodyPr rot="0" vert="horz"/>
          <a:lstStyle/>
          <a:p>
            <a:pPr>
              <a:defRPr sz="931"/>
            </a:pPr>
            <a:endParaRPr lang="en-US"/>
          </a:p>
        </c:txPr>
        <c:crossAx val="186808352"/>
        <c:crosses val="autoZero"/>
        <c:auto val="1"/>
        <c:lblAlgn val="ctr"/>
        <c:lblOffset val="100"/>
        <c:noMultiLvlLbl val="0"/>
      </c:catAx>
      <c:valAx>
        <c:axId val="186808352"/>
        <c:scaling>
          <c:orientation val="minMax"/>
        </c:scaling>
        <c:delete val="0"/>
        <c:axPos val="l"/>
        <c:majorGridlines>
          <c:spPr>
            <a:ln w="3171">
              <a:solidFill>
                <a:srgbClr val="808080"/>
              </a:solidFill>
              <a:prstDash val="solid"/>
            </a:ln>
          </c:spPr>
        </c:majorGridlines>
        <c:title>
          <c:tx>
            <c:rich>
              <a:bodyPr/>
              <a:lstStyle/>
              <a:p>
                <a:pPr>
                  <a:defRPr sz="890" b="1" i="0" u="none" strike="noStrike" baseline="0">
                    <a:solidFill>
                      <a:srgbClr val="000000"/>
                    </a:solidFill>
                    <a:latin typeface="Calibri"/>
                    <a:ea typeface="Calibri"/>
                    <a:cs typeface="Calibri"/>
                  </a:defRPr>
                </a:pPr>
                <a:r>
                  <a:rPr lang="en-US"/>
                  <a:t>Percent</a:t>
                </a:r>
              </a:p>
            </c:rich>
          </c:tx>
          <c:layout/>
          <c:overlay val="0"/>
          <c:spPr>
            <a:noFill/>
            <a:ln w="25373">
              <a:noFill/>
            </a:ln>
          </c:spPr>
        </c:title>
        <c:numFmt formatCode="0%" sourceLinked="1"/>
        <c:majorTickMark val="out"/>
        <c:minorTickMark val="none"/>
        <c:tickLblPos val="nextTo"/>
        <c:spPr>
          <a:ln w="3171">
            <a:solidFill>
              <a:srgbClr val="808080"/>
            </a:solidFill>
            <a:prstDash val="solid"/>
          </a:ln>
        </c:spPr>
        <c:txPr>
          <a:bodyPr/>
          <a:lstStyle/>
          <a:p>
            <a:pPr>
              <a:defRPr sz="856"/>
            </a:pPr>
            <a:endParaRPr lang="en-US"/>
          </a:p>
        </c:txPr>
        <c:crossAx val="186807568"/>
        <c:crosses val="autoZero"/>
        <c:crossBetween val="between"/>
      </c:valAx>
      <c:spPr>
        <a:solidFill>
          <a:srgbClr val="E7E7E7"/>
        </a:solidFill>
        <a:ln w="25373">
          <a:noFill/>
        </a:ln>
      </c:spPr>
    </c:plotArea>
    <c:legend>
      <c:legendPos val="r"/>
      <c:layout>
        <c:manualLayout>
          <c:xMode val="edge"/>
          <c:yMode val="edge"/>
          <c:x val="0.7289156178312356"/>
          <c:y val="0.38754327674358624"/>
          <c:w val="0.24899601132535598"/>
          <c:h val="0.47058819959643772"/>
        </c:manualLayout>
      </c:layout>
      <c:overlay val="0"/>
      <c:spPr>
        <a:noFill/>
        <a:ln w="25373">
          <a:noFill/>
        </a:ln>
      </c:spPr>
      <c:txPr>
        <a:bodyPr/>
        <a:lstStyle/>
        <a:p>
          <a:pPr>
            <a:defRPr sz="725" b="0" i="0" u="none" strike="noStrike" baseline="0">
              <a:solidFill>
                <a:srgbClr val="000000"/>
              </a:solidFill>
              <a:latin typeface="Arial"/>
              <a:ea typeface="Arial"/>
              <a:cs typeface="Arial"/>
            </a:defRPr>
          </a:pPr>
          <a:endParaRPr lang="en-US"/>
        </a:p>
      </c:txPr>
    </c:legend>
    <c:plotVisOnly val="1"/>
    <c:dispBlanksAs val="gap"/>
    <c:showDLblsOverMax val="0"/>
  </c:chart>
  <c:spPr>
    <a:solidFill>
      <a:srgbClr val="FFFFFF"/>
    </a:solidFill>
    <a:ln w="3171">
      <a:solidFill>
        <a:srgbClr val="808080"/>
      </a:solidFill>
      <a:prstDash val="solid"/>
    </a:ln>
  </c:spPr>
  <c:txPr>
    <a:bodyPr/>
    <a:lstStyle/>
    <a:p>
      <a:pPr>
        <a:defRPr sz="1393"/>
      </a:pPr>
      <a:endParaRPr lang="en-US"/>
    </a:p>
  </c:txPr>
  <c:externalData r:id="rId1">
    <c:autoUpdate val="0"/>
  </c:externalData>
</c:chartSpace>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lt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pitchFamily="34" charset="0"/>
              </a:defRPr>
            </a:lvl1pPr>
          </a:lstStyle>
          <a:p>
            <a:pPr>
              <a:defRPr/>
            </a:pPr>
            <a:fld id="{74897A62-979C-459C-A9AA-04847F5C5F63}" type="datetime1">
              <a:rPr lang="en-US"/>
              <a:pPr>
                <a:defRPr/>
              </a:pPr>
              <a:t>12/8/2020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lt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62A34DAB-33EE-459A-B9C8-5D9CD7A4F470}" type="slidenum">
              <a:rPr lang="en-US"/>
              <a:pPr>
                <a:defRPr/>
              </a:pPr>
              <a:t>‹#›</a:t>
            </a:fld>
            <a:endParaRPr lang="en-US"/>
          </a:p>
        </p:txBody>
      </p:sp>
    </p:spTree>
    <p:extLst>
      <p:ext uri="{BB962C8B-B14F-4D97-AF65-F5344CB8AC3E}">
        <p14:creationId xmlns:p14="http://schemas.microsoft.com/office/powerpoint/2010/main" val="78131146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lt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smtClean="0">
                <a:latin typeface="Calibri" pitchFamily="34" charset="0"/>
              </a:defRPr>
            </a:lvl1pPr>
          </a:lstStyle>
          <a:p>
            <a:pPr>
              <a:defRPr/>
            </a:pPr>
            <a:fld id="{996C3D14-0397-4CEE-9557-C78519CF8CA4}" type="datetime1">
              <a:rPr lang="en-US"/>
              <a:pPr>
                <a:defRPr/>
              </a:pPr>
              <a:t>12/8/2020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itchFamily="34" charset="0"/>
                <a:ea typeface="ＭＳ Ｐゴシック" pitchFamily="34" charset="-128"/>
                <a:cs typeface="+mn-cs"/>
              </a:defRPr>
            </a:lvl1pPr>
          </a:lstStyle>
          <a:p>
            <a:pPr>
              <a:defRPr/>
            </a:pPr>
            <a:endParaRPr lang="en-US" alt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AFA4905E-2CDC-4402-A84B-4A944033FC84}" type="slidenum">
              <a:rPr lang="en-US"/>
              <a:pPr>
                <a:defRPr/>
              </a:pPr>
              <a:t>‹#›</a:t>
            </a:fld>
            <a:endParaRPr lang="en-US"/>
          </a:p>
        </p:txBody>
      </p:sp>
    </p:spTree>
    <p:extLst>
      <p:ext uri="{BB962C8B-B14F-4D97-AF65-F5344CB8AC3E}">
        <p14:creationId xmlns:p14="http://schemas.microsoft.com/office/powerpoint/2010/main" val="3809452177"/>
      </p:ext>
    </p:extLst>
  </p:cSld>
  <p:clrMap bg1="lt1" tx1="dk1" bg2="lt2" tx2="dk2" accent1="accent1" accent2="accent2" accent3="accent3" accent4="accent4" accent5="accent5" accent6="accent6" hlink="hlink" folHlink="folHlink"/>
  <p:hf hdr="0" ftr="0" dt="0"/>
  <p:notesStyle>
    <a:lvl1pPr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ＭＳ Ｐゴシック" pitchFamily="-1" charset="-128"/>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ChangeArrowheads="1" noTextEdit="1"/>
          </p:cNvSpPr>
          <p:nvPr>
            <p:ph type="sldImg"/>
          </p:nvPr>
        </p:nvSpPr>
        <p:spPr>
          <a:ln/>
        </p:spPr>
      </p:sp>
      <p:sp>
        <p:nvSpPr>
          <p:cNvPr id="5120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ea typeface="ヒラギノ角ゴ Pro W3" pitchFamily="-105" charset="-128"/>
            </a:endParaRPr>
          </a:p>
        </p:txBody>
      </p:sp>
    </p:spTree>
    <p:extLst>
      <p:ext uri="{BB962C8B-B14F-4D97-AF65-F5344CB8AC3E}">
        <p14:creationId xmlns:p14="http://schemas.microsoft.com/office/powerpoint/2010/main" val="37075639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788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4BA1B8B7-78EE-44A5-8F6C-2C1A5933C2B9}" type="slidenum">
              <a:rPr lang="en-US">
                <a:latin typeface="Calibri" pitchFamily="34" charset="0"/>
              </a:rPr>
              <a:pPr/>
              <a:t>8</a:t>
            </a:fld>
            <a:endParaRPr lang="en-US">
              <a:latin typeface="Calibri" pitchFamily="34" charset="0"/>
            </a:endParaRPr>
          </a:p>
        </p:txBody>
      </p:sp>
    </p:spTree>
    <p:extLst>
      <p:ext uri="{BB962C8B-B14F-4D97-AF65-F5344CB8AC3E}">
        <p14:creationId xmlns:p14="http://schemas.microsoft.com/office/powerpoint/2010/main" val="3668821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a:p>
            <a:endParaRPr lang="en-US">
              <a:ea typeface="ＭＳ Ｐゴシック" pitchFamily="34" charset="-128"/>
            </a:endParaRPr>
          </a:p>
        </p:txBody>
      </p:sp>
      <p:sp>
        <p:nvSpPr>
          <p:cNvPr id="798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FDFEDF0C-92A8-4B3A-B829-DFF956BE0E00}" type="slidenum">
              <a:rPr lang="en-US">
                <a:latin typeface="Calibri" pitchFamily="34" charset="0"/>
              </a:rPr>
              <a:pPr/>
              <a:t>13</a:t>
            </a:fld>
            <a:endParaRPr lang="en-US">
              <a:latin typeface="Calibri" pitchFamily="34" charset="0"/>
            </a:endParaRPr>
          </a:p>
        </p:txBody>
      </p:sp>
    </p:spTree>
    <p:extLst>
      <p:ext uri="{BB962C8B-B14F-4D97-AF65-F5344CB8AC3E}">
        <p14:creationId xmlns:p14="http://schemas.microsoft.com/office/powerpoint/2010/main" val="409667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72C27A8F-D9C1-42BA-8A57-E044A9A7094F}" type="slidenum">
              <a:rPr lang="en-US">
                <a:latin typeface="Calibri" pitchFamily="34" charset="0"/>
              </a:rPr>
              <a:pPr/>
              <a:t>14</a:t>
            </a:fld>
            <a:endParaRPr lang="en-US">
              <a:latin typeface="Calibri" pitchFamily="34" charset="0"/>
            </a:endParaRPr>
          </a:p>
        </p:txBody>
      </p:sp>
    </p:spTree>
    <p:extLst>
      <p:ext uri="{BB962C8B-B14F-4D97-AF65-F5344CB8AC3E}">
        <p14:creationId xmlns:p14="http://schemas.microsoft.com/office/powerpoint/2010/main" val="2138596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819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C9A62588-82B2-4B45-9679-C7A2EF7F2C39}" type="slidenum">
              <a:rPr lang="en-US">
                <a:latin typeface="Calibri" pitchFamily="34" charset="0"/>
              </a:rPr>
              <a:pPr/>
              <a:t>28</a:t>
            </a:fld>
            <a:endParaRPr lang="en-US">
              <a:latin typeface="Calibri" pitchFamily="34" charset="0"/>
            </a:endParaRPr>
          </a:p>
        </p:txBody>
      </p:sp>
    </p:spTree>
    <p:extLst>
      <p:ext uri="{BB962C8B-B14F-4D97-AF65-F5344CB8AC3E}">
        <p14:creationId xmlns:p14="http://schemas.microsoft.com/office/powerpoint/2010/main" val="454048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829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D3F5444B-81D5-4BA4-89EE-6EC0766B39D7}" type="slidenum">
              <a:rPr lang="en-US">
                <a:latin typeface="Calibri" pitchFamily="34" charset="0"/>
              </a:rPr>
              <a:pPr/>
              <a:t>34</a:t>
            </a:fld>
            <a:endParaRPr lang="en-US">
              <a:latin typeface="Calibri" pitchFamily="34" charset="0"/>
            </a:endParaRPr>
          </a:p>
        </p:txBody>
      </p:sp>
    </p:spTree>
    <p:extLst>
      <p:ext uri="{BB962C8B-B14F-4D97-AF65-F5344CB8AC3E}">
        <p14:creationId xmlns:p14="http://schemas.microsoft.com/office/powerpoint/2010/main" val="2739480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839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DE57A5F7-15DF-48DF-9CCE-5055A2856127}" type="slidenum">
              <a:rPr lang="en-US">
                <a:latin typeface="Calibri" pitchFamily="34" charset="0"/>
              </a:rPr>
              <a:pPr/>
              <a:t>35</a:t>
            </a:fld>
            <a:endParaRPr lang="en-US">
              <a:latin typeface="Calibri" pitchFamily="34" charset="0"/>
            </a:endParaRPr>
          </a:p>
        </p:txBody>
      </p:sp>
    </p:spTree>
    <p:extLst>
      <p:ext uri="{BB962C8B-B14F-4D97-AF65-F5344CB8AC3E}">
        <p14:creationId xmlns:p14="http://schemas.microsoft.com/office/powerpoint/2010/main" val="20518106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849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C4A6FD18-6E1D-475A-A51F-FBFACA238CB1}" type="slidenum">
              <a:rPr lang="en-US">
                <a:latin typeface="Calibri" pitchFamily="34" charset="0"/>
              </a:rPr>
              <a:pPr/>
              <a:t>36</a:t>
            </a:fld>
            <a:endParaRPr lang="en-US">
              <a:latin typeface="Calibri" pitchFamily="34" charset="0"/>
            </a:endParaRPr>
          </a:p>
        </p:txBody>
      </p:sp>
    </p:spTree>
    <p:extLst>
      <p:ext uri="{BB962C8B-B14F-4D97-AF65-F5344CB8AC3E}">
        <p14:creationId xmlns:p14="http://schemas.microsoft.com/office/powerpoint/2010/main" val="20718929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ea typeface="ＭＳ Ｐゴシック" pitchFamily="34" charset="-128"/>
            </a:endParaRPr>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917BFF9B-7869-4999-8696-DFB8CA48E03F}" type="slidenum">
              <a:rPr lang="en-US">
                <a:latin typeface="Calibri" pitchFamily="34" charset="0"/>
              </a:rPr>
              <a:pPr/>
              <a:t>43</a:t>
            </a:fld>
            <a:endParaRPr lang="en-US">
              <a:latin typeface="Calibri" pitchFamily="34" charset="0"/>
            </a:endParaRPr>
          </a:p>
        </p:txBody>
      </p:sp>
    </p:spTree>
    <p:extLst>
      <p:ext uri="{BB962C8B-B14F-4D97-AF65-F5344CB8AC3E}">
        <p14:creationId xmlns:p14="http://schemas.microsoft.com/office/powerpoint/2010/main" val="3290346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32337698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7"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3759251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1"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647764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atin typeface="Arial" pitchFamily="34" charset="0"/>
              <a:ea typeface="ＭＳ Ｐゴシック" pitchFamily="34" charset="-128"/>
            </a:endParaRPr>
          </a:p>
        </p:txBody>
      </p:sp>
    </p:spTree>
    <p:extLst>
      <p:ext uri="{BB962C8B-B14F-4D97-AF65-F5344CB8AC3E}">
        <p14:creationId xmlns:p14="http://schemas.microsoft.com/office/powerpoint/2010/main" val="24232302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hdr" sz="quarter"/>
          </p:nvPr>
        </p:nvSpPr>
        <p:spPr bwMode="auto">
          <a:ln>
            <a:miter lim="800000"/>
            <a:headEnd/>
            <a:tailEnd/>
          </a:ln>
        </p:spPr>
        <p:txBody>
          <a:bodyPr rtlCol="0"/>
          <a:lstStyle/>
          <a:p>
            <a:pPr>
              <a:defRPr/>
            </a:pPr>
            <a:r>
              <a:rPr lang="en-US">
                <a:latin typeface="+mn-lt"/>
                <a:ea typeface="ＭＳ Ｐゴシック" pitchFamily="-84" charset="-128"/>
                <a:cs typeface="ＭＳ Ｐゴシック" pitchFamily="-84" charset="-128"/>
              </a:rPr>
              <a:t>Basic Practice of Statistics - 3rd Edition</a:t>
            </a:r>
          </a:p>
        </p:txBody>
      </p:sp>
      <p:sp>
        <p:nvSpPr>
          <p:cNvPr id="40962" name="Rectangle 6"/>
          <p:cNvSpPr>
            <a:spLocks noGrp="1" noChangeArrowheads="1"/>
          </p:cNvSpPr>
          <p:nvPr>
            <p:ph type="ftr" sz="quarter" idx="4"/>
          </p:nvPr>
        </p:nvSpPr>
        <p:spPr bwMode="auto">
          <a:ln>
            <a:miter lim="800000"/>
            <a:headEnd/>
            <a:tailEnd/>
          </a:ln>
        </p:spPr>
        <p:txBody>
          <a:bodyPr rtlCol="0"/>
          <a:lstStyle/>
          <a:p>
            <a:pPr>
              <a:defRPr/>
            </a:pPr>
            <a:r>
              <a:rPr lang="en-US">
                <a:latin typeface="+mn-lt"/>
                <a:ea typeface="ＭＳ Ｐゴシック" pitchFamily="-84" charset="-128"/>
                <a:cs typeface="ＭＳ Ｐゴシック" pitchFamily="-84" charset="-128"/>
              </a:rPr>
              <a:t>Chapter 5</a:t>
            </a:r>
          </a:p>
        </p:txBody>
      </p:sp>
      <p:sp>
        <p:nvSpPr>
          <p:cNvPr id="9114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AD5F0DF9-B1E1-4803-8248-31ECBEC74B7E}" type="slidenum">
              <a:rPr lang="en-US">
                <a:latin typeface="Calibri" pitchFamily="34" charset="0"/>
              </a:rPr>
              <a:pPr/>
              <a:t>53</a:t>
            </a:fld>
            <a:endParaRPr lang="en-US">
              <a:latin typeface="Calibri" pitchFamily="34" charset="0"/>
            </a:endParaRPr>
          </a:p>
        </p:txBody>
      </p:sp>
      <p:sp>
        <p:nvSpPr>
          <p:cNvPr id="91141" name="Rectangle 2"/>
          <p:cNvSpPr>
            <a:spLocks noGrp="1" noRot="1" noChangeAspect="1" noChangeArrowheads="1" noTextEdit="1"/>
          </p:cNvSpPr>
          <p:nvPr>
            <p:ph type="sldImg"/>
          </p:nvPr>
        </p:nvSpPr>
        <p:spPr bwMode="auto">
          <a:xfrm>
            <a:off x="1150938" y="690563"/>
            <a:ext cx="4556125" cy="3417887"/>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114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ea typeface="ＭＳ Ｐゴシック" pitchFamily="34" charset="-128"/>
            </a:endParaRPr>
          </a:p>
        </p:txBody>
      </p:sp>
    </p:spTree>
    <p:extLst>
      <p:ext uri="{BB962C8B-B14F-4D97-AF65-F5344CB8AC3E}">
        <p14:creationId xmlns:p14="http://schemas.microsoft.com/office/powerpoint/2010/main" val="2761735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itle 2"/>
          <p:cNvSpPr>
            <a:spLocks noGrp="1"/>
          </p:cNvSpPr>
          <p:nvPr>
            <p:ph type="title"/>
          </p:nvPr>
        </p:nvSpPr>
        <p:spPr>
          <a:xfrm>
            <a:off x="457200" y="4114800"/>
            <a:ext cx="6508750" cy="1143000"/>
          </a:xfrm>
          <a:noFill/>
        </p:spPr>
        <p:txBody>
          <a:bodyPr/>
          <a:lstStyle/>
          <a:p>
            <a:r>
              <a:rPr lang="en-US"/>
              <a:t>Click to edit Master title style</a:t>
            </a:r>
          </a:p>
        </p:txBody>
      </p:sp>
    </p:spTree>
    <p:extLst>
      <p:ext uri="{BB962C8B-B14F-4D97-AF65-F5344CB8AC3E}">
        <p14:creationId xmlns:p14="http://schemas.microsoft.com/office/powerpoint/2010/main" val="987889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Slide Number Placeholder 5"/>
          <p:cNvSpPr>
            <a:spLocks noGrp="1"/>
          </p:cNvSpPr>
          <p:nvPr>
            <p:ph type="sldNum" sz="quarter" idx="10"/>
          </p:nvPr>
        </p:nvSpPr>
        <p:spPr>
          <a:xfrm>
            <a:off x="8509000" y="6356350"/>
            <a:ext cx="508000" cy="365125"/>
          </a:xfrm>
        </p:spPr>
        <p:txBody>
          <a:bodyPr/>
          <a:lstStyle>
            <a:lvl1pPr>
              <a:defRPr sz="1400" smtClean="0">
                <a:solidFill>
                  <a:schemeClr val="accent1"/>
                </a:solidFill>
              </a:defRPr>
            </a:lvl1pPr>
          </a:lstStyle>
          <a:p>
            <a:pPr>
              <a:defRPr/>
            </a:pPr>
            <a:fld id="{E13D25CC-1CE2-4E4D-A915-FA189DF91594}" type="slidenum">
              <a:rPr lang="en-US"/>
              <a:pPr>
                <a:defRPr/>
              </a:pPr>
              <a:t>‹#›</a:t>
            </a:fld>
            <a:endParaRPr lang="en-US" dirty="0"/>
          </a:p>
        </p:txBody>
      </p:sp>
    </p:spTree>
    <p:extLst>
      <p:ext uri="{BB962C8B-B14F-4D97-AF65-F5344CB8AC3E}">
        <p14:creationId xmlns:p14="http://schemas.microsoft.com/office/powerpoint/2010/main" val="1738344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icture">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xfrm>
            <a:off x="8509000" y="6356350"/>
            <a:ext cx="508000" cy="365125"/>
          </a:xfrm>
        </p:spPr>
        <p:txBody>
          <a:bodyPr/>
          <a:lstStyle>
            <a:lvl1pPr>
              <a:defRPr sz="1400" smtClean="0">
                <a:solidFill>
                  <a:schemeClr val="accent1"/>
                </a:solidFill>
              </a:defRPr>
            </a:lvl1pPr>
          </a:lstStyle>
          <a:p>
            <a:pPr>
              <a:defRPr/>
            </a:pPr>
            <a:fld id="{D396CE72-EAB9-40F2-A60F-B7BBC8C93F5A}" type="slidenum">
              <a:rPr lang="en-US"/>
              <a:pPr>
                <a:defRPr/>
              </a:pPr>
              <a:t>‹#›</a:t>
            </a:fld>
            <a:endParaRPr lang="en-US"/>
          </a:p>
        </p:txBody>
      </p:sp>
    </p:spTree>
    <p:extLst>
      <p:ext uri="{BB962C8B-B14F-4D97-AF65-F5344CB8AC3E}">
        <p14:creationId xmlns:p14="http://schemas.microsoft.com/office/powerpoint/2010/main" val="2487879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2" name="Title 1"/>
          <p:cNvSpPr>
            <a:spLocks noGrp="1"/>
          </p:cNvSpPr>
          <p:nvPr>
            <p:ph type="title"/>
          </p:nvPr>
        </p:nvSpPr>
        <p:spPr>
          <a:xfrm>
            <a:off x="2178423" y="914400"/>
            <a:ext cx="6508377" cy="1143000"/>
          </a:xfrm>
        </p:spPr>
        <p:txBody>
          <a:bodyPr/>
          <a:lstStyle/>
          <a:p>
            <a:r>
              <a:rPr lang="en-US"/>
              <a:t>Click to edit Master title style</a:t>
            </a:r>
            <a:endParaRPr/>
          </a:p>
        </p:txBody>
      </p:sp>
      <p:sp>
        <p:nvSpPr>
          <p:cNvPr id="3" name="Content Placeholder 2"/>
          <p:cNvSpPr>
            <a:spLocks noGrp="1"/>
          </p:cNvSpPr>
          <p:nvPr>
            <p:ph idx="1"/>
          </p:nvPr>
        </p:nvSpPr>
        <p:spPr>
          <a:xfrm>
            <a:off x="2178423" y="2209800"/>
            <a:ext cx="6508377" cy="3916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Picture Placeholder 8"/>
          <p:cNvSpPr>
            <a:spLocks noGrp="1"/>
          </p:cNvSpPr>
          <p:nvPr>
            <p:ph type="pic" sz="quarter" idx="13"/>
          </p:nvPr>
        </p:nvSpPr>
        <p:spPr>
          <a:xfrm>
            <a:off x="269875" y="1976718"/>
            <a:ext cx="1645920" cy="4625788"/>
          </a:xfrm>
        </p:spPr>
        <p:txBody>
          <a:bodyPr rtlCol="0">
            <a:normAutofit/>
          </a:bodyPr>
          <a:lstStyle>
            <a:lvl1pPr>
              <a:buNone/>
              <a:defRPr/>
            </a:lvl1pPr>
          </a:lstStyle>
          <a:p>
            <a:pPr lvl="0"/>
            <a:r>
              <a:rPr lang="en-US" noProof="0" dirty="0"/>
              <a:t>Click icon to add picture</a:t>
            </a:r>
            <a:endParaRPr noProof="0" dirty="0"/>
          </a:p>
        </p:txBody>
      </p:sp>
      <p:sp>
        <p:nvSpPr>
          <p:cNvPr id="6" name="Slide Number Placeholder 5"/>
          <p:cNvSpPr>
            <a:spLocks noGrp="1"/>
          </p:cNvSpPr>
          <p:nvPr>
            <p:ph type="sldNum" sz="quarter" idx="14"/>
          </p:nvPr>
        </p:nvSpPr>
        <p:spPr>
          <a:xfrm>
            <a:off x="8509000" y="6356350"/>
            <a:ext cx="508000" cy="365125"/>
          </a:xfrm>
        </p:spPr>
        <p:txBody>
          <a:bodyPr/>
          <a:lstStyle>
            <a:lvl1pPr>
              <a:defRPr sz="1400" smtClean="0">
                <a:solidFill>
                  <a:schemeClr val="accent1"/>
                </a:solidFill>
              </a:defRPr>
            </a:lvl1pPr>
          </a:lstStyle>
          <a:p>
            <a:pPr>
              <a:defRPr/>
            </a:pPr>
            <a:fld id="{CE7406A6-FA75-449D-8682-55E5D689B9C5}" type="slidenum">
              <a:rPr lang="en-US"/>
              <a:pPr>
                <a:defRPr/>
              </a:pPr>
              <a:t>‹#›</a:t>
            </a:fld>
            <a:endParaRPr lang="en-US"/>
          </a:p>
        </p:txBody>
      </p:sp>
    </p:spTree>
    <p:extLst>
      <p:ext uri="{BB962C8B-B14F-4D97-AF65-F5344CB8AC3E}">
        <p14:creationId xmlns:p14="http://schemas.microsoft.com/office/powerpoint/2010/main" val="116296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09801" y="3429000"/>
            <a:ext cx="4966446" cy="1398494"/>
          </a:xfrm>
        </p:spPr>
        <p:txBody>
          <a:bodyPr/>
          <a:lstStyle>
            <a:lvl1pPr algn="r">
              <a:defRPr sz="4600" b="0" cap="none" baseline="0"/>
            </a:lvl1pPr>
          </a:lstStyle>
          <a:p>
            <a:r>
              <a:rPr lang="en-US" dirty="0"/>
              <a:t>Click to edit Master title style</a:t>
            </a:r>
            <a:endParaRPr dirty="0"/>
          </a:p>
        </p:txBody>
      </p:sp>
      <p:sp>
        <p:nvSpPr>
          <p:cNvPr id="3" name="Text Placeholder 2"/>
          <p:cNvSpPr>
            <a:spLocks noGrp="1"/>
          </p:cNvSpPr>
          <p:nvPr>
            <p:ph type="body" idx="1"/>
          </p:nvPr>
        </p:nvSpPr>
        <p:spPr>
          <a:xfrm>
            <a:off x="2209801"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0"/>
          </p:nvPr>
        </p:nvSpPr>
        <p:spPr/>
        <p:txBody>
          <a:bodyPr/>
          <a:lstStyle>
            <a:lvl1pPr>
              <a:defRPr sz="1400" smtClean="0"/>
            </a:lvl1pPr>
          </a:lstStyle>
          <a:p>
            <a:pPr>
              <a:defRPr/>
            </a:pPr>
            <a:fld id="{D2472BF7-D259-44DE-ACE0-FA3CE8D3BCDC}" type="slidenum">
              <a:rPr lang="en-US"/>
              <a:pPr>
                <a:defRPr/>
              </a:pPr>
              <a:t>‹#›</a:t>
            </a:fld>
            <a:endParaRPr lang="en-US"/>
          </a:p>
        </p:txBody>
      </p:sp>
    </p:spTree>
    <p:extLst>
      <p:ext uri="{BB962C8B-B14F-4D97-AF65-F5344CB8AC3E}">
        <p14:creationId xmlns:p14="http://schemas.microsoft.com/office/powerpoint/2010/main" val="42505700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2" name="Title 1"/>
          <p:cNvSpPr>
            <a:spLocks noGrp="1"/>
          </p:cNvSpPr>
          <p:nvPr>
            <p:ph type="title"/>
          </p:nvPr>
        </p:nvSpPr>
        <p:spPr>
          <a:xfrm>
            <a:off x="3720354" y="3429001"/>
            <a:ext cx="4966446" cy="1398494"/>
          </a:xfrm>
        </p:spPr>
        <p:txBody>
          <a:bodyPr/>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3720354" y="4824414"/>
            <a:ext cx="4966446" cy="1320800"/>
          </a:xfrm>
        </p:spPr>
        <p:txBody>
          <a:bodyPr>
            <a:normAutofit/>
          </a:bodyPr>
          <a:lstStyle>
            <a:lvl1pPr marL="0" indent="0" algn="r">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Picture Placeholder 8"/>
          <p:cNvSpPr>
            <a:spLocks noGrp="1"/>
          </p:cNvSpPr>
          <p:nvPr>
            <p:ph type="pic" sz="quarter" idx="13"/>
          </p:nvPr>
        </p:nvSpPr>
        <p:spPr>
          <a:xfrm>
            <a:off x="269874" y="268288"/>
            <a:ext cx="2971800" cy="4438650"/>
          </a:xfrm>
        </p:spPr>
        <p:txBody>
          <a:bodyPr rtlCol="0">
            <a:normAutofit/>
          </a:bodyPr>
          <a:lstStyle>
            <a:lvl1pPr>
              <a:buNone/>
              <a:defRPr/>
            </a:lvl1pPr>
          </a:lstStyle>
          <a:p>
            <a:pPr lvl="0"/>
            <a:r>
              <a:rPr lang="en-US" noProof="0" dirty="0"/>
              <a:t>Click icon to add picture</a:t>
            </a:r>
            <a:endParaRPr noProof="0" dirty="0"/>
          </a:p>
        </p:txBody>
      </p:sp>
      <p:sp>
        <p:nvSpPr>
          <p:cNvPr id="6" name="Slide Number Placeholder 5"/>
          <p:cNvSpPr>
            <a:spLocks noGrp="1"/>
          </p:cNvSpPr>
          <p:nvPr>
            <p:ph type="sldNum" sz="quarter" idx="14"/>
          </p:nvPr>
        </p:nvSpPr>
        <p:spPr>
          <a:xfrm>
            <a:off x="350838" y="6105525"/>
            <a:ext cx="506412" cy="365125"/>
          </a:xfrm>
        </p:spPr>
        <p:txBody>
          <a:bodyPr/>
          <a:lstStyle>
            <a:lvl1pPr>
              <a:defRPr smtClean="0"/>
            </a:lvl1pPr>
          </a:lstStyle>
          <a:p>
            <a:pPr>
              <a:defRPr/>
            </a:pPr>
            <a:fld id="{F1312872-EB26-4A24-BB88-9847E90BCE82}" type="slidenum">
              <a:rPr lang="en-US"/>
              <a:pPr>
                <a:defRPr/>
              </a:pPr>
              <a:t>‹#›</a:t>
            </a:fld>
            <a:endParaRPr lang="en-US"/>
          </a:p>
        </p:txBody>
      </p:sp>
    </p:spTree>
    <p:extLst>
      <p:ext uri="{BB962C8B-B14F-4D97-AF65-F5344CB8AC3E}">
        <p14:creationId xmlns:p14="http://schemas.microsoft.com/office/powerpoint/2010/main" val="10473553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28244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0"/>
          </p:nvPr>
        </p:nvSpPr>
        <p:spPr/>
        <p:txBody>
          <a:bodyPr/>
          <a:lstStyle>
            <a:lvl1pPr>
              <a:defRPr/>
            </a:lvl1pPr>
          </a:lstStyle>
          <a:p>
            <a:pPr>
              <a:defRPr/>
            </a:pPr>
            <a:endParaRPr lang="en-US" altLang="en-US"/>
          </a:p>
        </p:txBody>
      </p:sp>
      <p:sp>
        <p:nvSpPr>
          <p:cNvPr id="7" name="Footer Placeholder 5"/>
          <p:cNvSpPr>
            <a:spLocks noGrp="1"/>
          </p:cNvSpPr>
          <p:nvPr>
            <p:ph type="ftr" sz="quarter" idx="11"/>
          </p:nvPr>
        </p:nvSpPr>
        <p:spPr/>
        <p:txBody>
          <a:bodyPr/>
          <a:lstStyle>
            <a:lvl1pPr>
              <a:defRPr/>
            </a:lvl1pPr>
          </a:lstStyle>
          <a:p>
            <a:pPr>
              <a:defRPr/>
            </a:pPr>
            <a:endParaRPr lang="en-US" altLang="en-US"/>
          </a:p>
        </p:txBody>
      </p:sp>
      <p:sp>
        <p:nvSpPr>
          <p:cNvPr id="8" name="Slide Number Placeholder 6"/>
          <p:cNvSpPr>
            <a:spLocks noGrp="1"/>
          </p:cNvSpPr>
          <p:nvPr>
            <p:ph type="sldNum" sz="quarter" idx="12"/>
          </p:nvPr>
        </p:nvSpPr>
        <p:spPr/>
        <p:txBody>
          <a:bodyPr/>
          <a:lstStyle>
            <a:lvl1pPr>
              <a:defRPr smtClean="0"/>
            </a:lvl1pPr>
          </a:lstStyle>
          <a:p>
            <a:pPr>
              <a:defRPr/>
            </a:pPr>
            <a:fld id="{5B66BC2F-2986-4B3F-A36D-415957FA7CF5}" type="slidenum">
              <a:rPr lang="en-US"/>
              <a:pPr>
                <a:defRPr/>
              </a:pPr>
              <a:t>‹#›</a:t>
            </a:fld>
            <a:endParaRPr lang="en-US"/>
          </a:p>
        </p:txBody>
      </p:sp>
    </p:spTree>
    <p:extLst>
      <p:ext uri="{BB962C8B-B14F-4D97-AF65-F5344CB8AC3E}">
        <p14:creationId xmlns:p14="http://schemas.microsoft.com/office/powerpoint/2010/main" val="17630433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smtClean="0"/>
            </a:lvl1pPr>
          </a:lstStyle>
          <a:p>
            <a:pPr>
              <a:defRPr/>
            </a:pPr>
            <a:fld id="{9018F2F3-1A5E-4E93-8F6A-6A1B9FE63E0D}" type="slidenum">
              <a:rPr lang="en-US"/>
              <a:pPr>
                <a:defRPr/>
              </a:pPr>
              <a:t>‹#›</a:t>
            </a:fld>
            <a:endParaRPr lang="en-US"/>
          </a:p>
        </p:txBody>
      </p:sp>
    </p:spTree>
    <p:extLst>
      <p:ext uri="{BB962C8B-B14F-4D97-AF65-F5344CB8AC3E}">
        <p14:creationId xmlns:p14="http://schemas.microsoft.com/office/powerpoint/2010/main" val="353594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88352"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457200"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279391" y="2054132"/>
            <a:ext cx="356616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79391" y="2689411"/>
            <a:ext cx="356616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6"/>
          <p:cNvSpPr>
            <a:spLocks noGrp="1"/>
          </p:cNvSpPr>
          <p:nvPr>
            <p:ph type="dt" sz="half" idx="10"/>
          </p:nvPr>
        </p:nvSpPr>
        <p:spPr/>
        <p:txBody>
          <a:bodyPr/>
          <a:lstStyle>
            <a:lvl1pPr>
              <a:defRPr/>
            </a:lvl1pPr>
          </a:lstStyle>
          <a:p>
            <a:pPr>
              <a:defRPr/>
            </a:pPr>
            <a:endParaRPr lang="en-US" altLang="en-US"/>
          </a:p>
        </p:txBody>
      </p:sp>
      <p:sp>
        <p:nvSpPr>
          <p:cNvPr id="9" name="Footer Placeholder 7"/>
          <p:cNvSpPr>
            <a:spLocks noGrp="1"/>
          </p:cNvSpPr>
          <p:nvPr>
            <p:ph type="ftr" sz="quarter" idx="11"/>
          </p:nvPr>
        </p:nvSpPr>
        <p:spPr/>
        <p:txBody>
          <a:bodyPr/>
          <a:lstStyle>
            <a:lvl1pPr>
              <a:defRPr/>
            </a:lvl1pPr>
          </a:lstStyle>
          <a:p>
            <a:pPr>
              <a:defRPr/>
            </a:pPr>
            <a:endParaRPr lang="en-US" altLang="en-US"/>
          </a:p>
        </p:txBody>
      </p:sp>
      <p:sp>
        <p:nvSpPr>
          <p:cNvPr id="10" name="Slide Number Placeholder 8"/>
          <p:cNvSpPr>
            <a:spLocks noGrp="1"/>
          </p:cNvSpPr>
          <p:nvPr>
            <p:ph type="sldNum" sz="quarter" idx="12"/>
          </p:nvPr>
        </p:nvSpPr>
        <p:spPr/>
        <p:txBody>
          <a:bodyPr/>
          <a:lstStyle>
            <a:lvl1pPr>
              <a:defRPr smtClean="0"/>
            </a:lvl1pPr>
          </a:lstStyle>
          <a:p>
            <a:pPr>
              <a:defRPr/>
            </a:pPr>
            <a:fld id="{165D2AC0-A4C1-40A0-ABD2-CE90FCC82959}" type="slidenum">
              <a:rPr lang="en-US"/>
              <a:pPr>
                <a:defRPr/>
              </a:pPr>
              <a:t>‹#›</a:t>
            </a:fld>
            <a:endParaRPr lang="en-US"/>
          </a:p>
        </p:txBody>
      </p:sp>
    </p:spTree>
    <p:extLst>
      <p:ext uri="{BB962C8B-B14F-4D97-AF65-F5344CB8AC3E}">
        <p14:creationId xmlns:p14="http://schemas.microsoft.com/office/powerpoint/2010/main" val="2703221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57199" y="2214562"/>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57199" y="4224973"/>
            <a:ext cx="7396163"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Date Placeholder 4"/>
          <p:cNvSpPr>
            <a:spLocks noGrp="1"/>
          </p:cNvSpPr>
          <p:nvPr>
            <p:ph type="dt" sz="half" idx="14"/>
          </p:nvPr>
        </p:nvSpPr>
        <p:spPr/>
        <p:txBody>
          <a:bodyPr/>
          <a:lstStyle>
            <a:lvl1pPr>
              <a:defRPr/>
            </a:lvl1pPr>
          </a:lstStyle>
          <a:p>
            <a:pPr>
              <a:defRPr/>
            </a:pPr>
            <a:endParaRPr lang="en-US" altLang="en-US"/>
          </a:p>
        </p:txBody>
      </p:sp>
      <p:sp>
        <p:nvSpPr>
          <p:cNvPr id="7" name="Footer Placeholder 5"/>
          <p:cNvSpPr>
            <a:spLocks noGrp="1"/>
          </p:cNvSpPr>
          <p:nvPr>
            <p:ph type="ftr" sz="quarter" idx="15"/>
          </p:nvPr>
        </p:nvSpPr>
        <p:spPr/>
        <p:txBody>
          <a:bodyPr/>
          <a:lstStyle>
            <a:lvl1pPr>
              <a:defRPr/>
            </a:lvl1pPr>
          </a:lstStyle>
          <a:p>
            <a:pPr>
              <a:defRPr/>
            </a:pPr>
            <a:endParaRPr lang="en-US" altLang="en-US"/>
          </a:p>
        </p:txBody>
      </p:sp>
      <p:sp>
        <p:nvSpPr>
          <p:cNvPr id="8" name="Slide Number Placeholder 6"/>
          <p:cNvSpPr>
            <a:spLocks noGrp="1"/>
          </p:cNvSpPr>
          <p:nvPr>
            <p:ph type="sldNum" sz="quarter" idx="16"/>
          </p:nvPr>
        </p:nvSpPr>
        <p:spPr/>
        <p:txBody>
          <a:bodyPr/>
          <a:lstStyle>
            <a:lvl1pPr>
              <a:defRPr smtClean="0"/>
            </a:lvl1pPr>
          </a:lstStyle>
          <a:p>
            <a:pPr>
              <a:defRPr/>
            </a:pPr>
            <a:fld id="{621FE921-2B45-4377-94C0-69830E122B67}" type="slidenum">
              <a:rPr lang="en-US"/>
              <a:pPr>
                <a:defRPr/>
              </a:pPr>
              <a:t>‹#›</a:t>
            </a:fld>
            <a:endParaRPr lang="en-US"/>
          </a:p>
        </p:txBody>
      </p:sp>
    </p:spTree>
    <p:extLst>
      <p:ext uri="{BB962C8B-B14F-4D97-AF65-F5344CB8AC3E}">
        <p14:creationId xmlns:p14="http://schemas.microsoft.com/office/powerpoint/2010/main" val="1828625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457200" y="2214563"/>
            <a:ext cx="356616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4"/>
          <p:cNvSpPr>
            <a:spLocks noGrp="1"/>
          </p:cNvSpPr>
          <p:nvPr>
            <p:ph type="dt" sz="half" idx="15"/>
          </p:nvPr>
        </p:nvSpPr>
        <p:spPr/>
        <p:txBody>
          <a:bodyPr/>
          <a:lstStyle>
            <a:lvl1pPr>
              <a:defRPr/>
            </a:lvl1pPr>
          </a:lstStyle>
          <a:p>
            <a:pPr>
              <a:defRPr/>
            </a:pPr>
            <a:endParaRPr lang="en-US" altLang="en-US"/>
          </a:p>
        </p:txBody>
      </p:sp>
      <p:sp>
        <p:nvSpPr>
          <p:cNvPr id="8" name="Footer Placeholder 5"/>
          <p:cNvSpPr>
            <a:spLocks noGrp="1"/>
          </p:cNvSpPr>
          <p:nvPr>
            <p:ph type="ftr" sz="quarter" idx="16"/>
          </p:nvPr>
        </p:nvSpPr>
        <p:spPr/>
        <p:txBody>
          <a:bodyPr/>
          <a:lstStyle>
            <a:lvl1pPr>
              <a:defRPr/>
            </a:lvl1pPr>
          </a:lstStyle>
          <a:p>
            <a:pPr>
              <a:defRPr/>
            </a:pPr>
            <a:endParaRPr lang="en-US" altLang="en-US"/>
          </a:p>
        </p:txBody>
      </p:sp>
      <p:sp>
        <p:nvSpPr>
          <p:cNvPr id="11" name="Slide Number Placeholder 6"/>
          <p:cNvSpPr>
            <a:spLocks noGrp="1"/>
          </p:cNvSpPr>
          <p:nvPr>
            <p:ph type="sldNum" sz="quarter" idx="17"/>
          </p:nvPr>
        </p:nvSpPr>
        <p:spPr/>
        <p:txBody>
          <a:bodyPr/>
          <a:lstStyle>
            <a:lvl1pPr>
              <a:defRPr smtClean="0"/>
            </a:lvl1pPr>
          </a:lstStyle>
          <a:p>
            <a:pPr>
              <a:defRPr/>
            </a:pPr>
            <a:fld id="{4C0E6ED6-FBFD-4259-84E6-63A6802CE61A}" type="slidenum">
              <a:rPr lang="en-US"/>
              <a:pPr>
                <a:defRPr/>
              </a:pPr>
              <a:t>‹#›</a:t>
            </a:fld>
            <a:endParaRPr lang="en-US"/>
          </a:p>
        </p:txBody>
      </p:sp>
    </p:spTree>
    <p:extLst>
      <p:ext uri="{BB962C8B-B14F-4D97-AF65-F5344CB8AC3E}">
        <p14:creationId xmlns:p14="http://schemas.microsoft.com/office/powerpoint/2010/main" val="23871899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a:xfrm>
            <a:off x="457199" y="914400"/>
            <a:ext cx="7391401" cy="1143000"/>
          </a:xfrm>
        </p:spPr>
        <p:txBody>
          <a:bodyPr/>
          <a:lstStyle/>
          <a:p>
            <a:r>
              <a:rPr lang="en-US"/>
              <a:t>Click to edit Master title style</a:t>
            </a:r>
            <a:endParaRPr/>
          </a:p>
        </p:txBody>
      </p:sp>
      <p:sp>
        <p:nvSpPr>
          <p:cNvPr id="3" name="Content Placeholder 2"/>
          <p:cNvSpPr>
            <a:spLocks noGrp="1"/>
          </p:cNvSpPr>
          <p:nvPr>
            <p:ph sz="half" idx="1"/>
          </p:nvPr>
        </p:nvSpPr>
        <p:spPr>
          <a:xfrm>
            <a:off x="428244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9" name="Content Placeholder 2"/>
          <p:cNvSpPr>
            <a:spLocks noGrp="1"/>
          </p:cNvSpPr>
          <p:nvPr>
            <p:ph sz="half" idx="13"/>
          </p:nvPr>
        </p:nvSpPr>
        <p:spPr>
          <a:xfrm>
            <a:off x="428244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4"/>
          </p:nvPr>
        </p:nvSpPr>
        <p:spPr>
          <a:xfrm>
            <a:off x="457200" y="2214562"/>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2" name="Content Placeholder 2"/>
          <p:cNvSpPr>
            <a:spLocks noGrp="1"/>
          </p:cNvSpPr>
          <p:nvPr>
            <p:ph sz="half" idx="15"/>
          </p:nvPr>
        </p:nvSpPr>
        <p:spPr>
          <a:xfrm>
            <a:off x="457200" y="4224973"/>
            <a:ext cx="356616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Date Placeholder 4"/>
          <p:cNvSpPr>
            <a:spLocks noGrp="1"/>
          </p:cNvSpPr>
          <p:nvPr>
            <p:ph type="dt" sz="half" idx="16"/>
          </p:nvPr>
        </p:nvSpPr>
        <p:spPr/>
        <p:txBody>
          <a:bodyPr/>
          <a:lstStyle>
            <a:lvl1pPr>
              <a:defRPr/>
            </a:lvl1pPr>
          </a:lstStyle>
          <a:p>
            <a:pPr>
              <a:defRPr/>
            </a:pPr>
            <a:endParaRPr lang="en-US" altLang="en-US"/>
          </a:p>
        </p:txBody>
      </p:sp>
      <p:sp>
        <p:nvSpPr>
          <p:cNvPr id="10" name="Footer Placeholder 5"/>
          <p:cNvSpPr>
            <a:spLocks noGrp="1"/>
          </p:cNvSpPr>
          <p:nvPr>
            <p:ph type="ftr" sz="quarter" idx="17"/>
          </p:nvPr>
        </p:nvSpPr>
        <p:spPr/>
        <p:txBody>
          <a:bodyPr/>
          <a:lstStyle>
            <a:lvl1pPr>
              <a:defRPr/>
            </a:lvl1pPr>
          </a:lstStyle>
          <a:p>
            <a:pPr>
              <a:defRPr/>
            </a:pPr>
            <a:endParaRPr lang="en-US" altLang="en-US"/>
          </a:p>
        </p:txBody>
      </p:sp>
      <p:sp>
        <p:nvSpPr>
          <p:cNvPr id="13" name="Slide Number Placeholder 6"/>
          <p:cNvSpPr>
            <a:spLocks noGrp="1"/>
          </p:cNvSpPr>
          <p:nvPr>
            <p:ph type="sldNum" sz="quarter" idx="18"/>
          </p:nvPr>
        </p:nvSpPr>
        <p:spPr/>
        <p:txBody>
          <a:bodyPr/>
          <a:lstStyle>
            <a:lvl1pPr>
              <a:defRPr smtClean="0"/>
            </a:lvl1pPr>
          </a:lstStyle>
          <a:p>
            <a:pPr>
              <a:defRPr/>
            </a:pPr>
            <a:fld id="{E195C120-FF38-455A-AC6F-ADA375FEA8B9}" type="slidenum">
              <a:rPr lang="en-US"/>
              <a:pPr>
                <a:defRPr/>
              </a:pPr>
              <a:t>‹#›</a:t>
            </a:fld>
            <a:endParaRPr lang="en-US"/>
          </a:p>
        </p:txBody>
      </p:sp>
    </p:spTree>
    <p:extLst>
      <p:ext uri="{BB962C8B-B14F-4D97-AF65-F5344CB8AC3E}">
        <p14:creationId xmlns:p14="http://schemas.microsoft.com/office/powerpoint/2010/main" val="962896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4624" y="154305"/>
            <a:ext cx="7772400" cy="777240"/>
          </a:xfrm>
        </p:spPr>
        <p:txBody>
          <a:bodyPr/>
          <a:lstStyle>
            <a:lvl1pPr>
              <a:defRPr>
                <a:solidFill>
                  <a:schemeClr val="accent1"/>
                </a:solidFill>
              </a:defRPr>
            </a:lvl1pPr>
          </a:lstStyle>
          <a:p>
            <a:r>
              <a:rPr lang="en-US" dirty="0"/>
              <a:t>Click to edit Master title style</a:t>
            </a:r>
            <a:endParaRPr dirty="0"/>
          </a:p>
        </p:txBody>
      </p:sp>
      <p:sp>
        <p:nvSpPr>
          <p:cNvPr id="7" name="Slide Number Placeholder 6"/>
          <p:cNvSpPr>
            <a:spLocks noGrp="1"/>
          </p:cNvSpPr>
          <p:nvPr>
            <p:ph type="sldNum" sz="quarter" idx="12"/>
          </p:nvPr>
        </p:nvSpPr>
        <p:spPr/>
        <p:txBody>
          <a:bodyPr/>
          <a:lstStyle>
            <a:lvl1pPr>
              <a:defRPr sz="1400">
                <a:solidFill>
                  <a:schemeClr val="accent1"/>
                </a:solidFill>
              </a:defRPr>
            </a:lvl1pPr>
          </a:lstStyle>
          <a:p>
            <a:pPr>
              <a:defRPr/>
            </a:pPr>
            <a:fld id="{C98D259C-971B-403A-BCFB-AD272460D802}" type="slidenum">
              <a:rPr lang="en-US" smtClean="0"/>
              <a:pPr>
                <a:defRPr/>
              </a:pPr>
              <a:t>‹#›</a:t>
            </a:fld>
            <a:endParaRPr lang="en-US" dirty="0"/>
          </a:p>
        </p:txBody>
      </p:sp>
    </p:spTree>
    <p:extLst>
      <p:ext uri="{BB962C8B-B14F-4D97-AF65-F5344CB8AC3E}">
        <p14:creationId xmlns:p14="http://schemas.microsoft.com/office/powerpoint/2010/main" val="32872450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10"/>
          </p:nvPr>
        </p:nvSpPr>
        <p:spPr>
          <a:xfrm>
            <a:off x="8509000" y="6356350"/>
            <a:ext cx="508000" cy="365125"/>
          </a:xfrm>
        </p:spPr>
        <p:txBody>
          <a:bodyPr/>
          <a:lstStyle>
            <a:lvl1pPr>
              <a:defRPr sz="1400" smtClean="0">
                <a:solidFill>
                  <a:schemeClr val="accent1"/>
                </a:solidFill>
              </a:defRPr>
            </a:lvl1pPr>
          </a:lstStyle>
          <a:p>
            <a:pPr>
              <a:defRPr/>
            </a:pPr>
            <a:fld id="{3FEE58E6-57A3-48B3-9E31-8DC073A7120D}" type="slidenum">
              <a:rPr lang="en-US"/>
              <a:pPr>
                <a:defRPr/>
              </a:pPr>
              <a:t>‹#›</a:t>
            </a:fld>
            <a:endParaRPr lang="en-US"/>
          </a:p>
        </p:txBody>
      </p:sp>
    </p:spTree>
    <p:extLst>
      <p:ext uri="{BB962C8B-B14F-4D97-AF65-F5344CB8AC3E}">
        <p14:creationId xmlns:p14="http://schemas.microsoft.com/office/powerpoint/2010/main" val="37945060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4762052" y="990600"/>
            <a:ext cx="3566160" cy="513556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ltLang="en-US"/>
          </a:p>
        </p:txBody>
      </p:sp>
      <p:sp>
        <p:nvSpPr>
          <p:cNvPr id="7" name="Footer Placeholder 5"/>
          <p:cNvSpPr>
            <a:spLocks noGrp="1"/>
          </p:cNvSpPr>
          <p:nvPr>
            <p:ph type="ftr" sz="quarter" idx="11"/>
          </p:nvPr>
        </p:nvSpPr>
        <p:spPr/>
        <p:txBody>
          <a:bodyPr/>
          <a:lstStyle>
            <a:lvl1pPr>
              <a:defRPr/>
            </a:lvl1pPr>
          </a:lstStyle>
          <a:p>
            <a:pPr>
              <a:defRPr/>
            </a:pPr>
            <a:endParaRPr lang="en-US" altLang="en-US"/>
          </a:p>
        </p:txBody>
      </p:sp>
      <p:sp>
        <p:nvSpPr>
          <p:cNvPr id="8" name="Slide Number Placeholder 6"/>
          <p:cNvSpPr>
            <a:spLocks noGrp="1"/>
          </p:cNvSpPr>
          <p:nvPr>
            <p:ph type="sldNum" sz="quarter" idx="12"/>
          </p:nvPr>
        </p:nvSpPr>
        <p:spPr/>
        <p:txBody>
          <a:bodyPr/>
          <a:lstStyle>
            <a:lvl1pPr>
              <a:defRPr smtClean="0"/>
            </a:lvl1pPr>
          </a:lstStyle>
          <a:p>
            <a:pPr>
              <a:defRPr/>
            </a:pPr>
            <a:fld id="{59BCE9AB-6C38-4F30-BE53-DD7EC698FDD9}" type="slidenum">
              <a:rPr lang="en-US"/>
              <a:pPr>
                <a:defRPr/>
              </a:pPr>
              <a:t>‹#›</a:t>
            </a:fld>
            <a:endParaRPr lang="en-US"/>
          </a:p>
        </p:txBody>
      </p:sp>
    </p:spTree>
    <p:extLst>
      <p:ext uri="{BB962C8B-B14F-4D97-AF65-F5344CB8AC3E}">
        <p14:creationId xmlns:p14="http://schemas.microsoft.com/office/powerpoint/2010/main" val="21548980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199" y="995082"/>
            <a:ext cx="3566160" cy="1035424"/>
          </a:xfrm>
        </p:spPr>
        <p:txBody>
          <a:bodyPr/>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457199" y="2057400"/>
            <a:ext cx="3566160" cy="365760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9"/>
          <p:cNvSpPr>
            <a:spLocks noGrp="1"/>
          </p:cNvSpPr>
          <p:nvPr>
            <p:ph type="pic" sz="quarter" idx="13"/>
          </p:nvPr>
        </p:nvSpPr>
        <p:spPr>
          <a:xfrm>
            <a:off x="4760258" y="990600"/>
            <a:ext cx="4096512" cy="5611813"/>
          </a:xfrm>
        </p:spPr>
        <p:txBody>
          <a:bodyPr rtlCol="0">
            <a:normAutofit/>
          </a:bodyPr>
          <a:lstStyle>
            <a:lvl1pPr>
              <a:buNone/>
              <a:defRPr/>
            </a:lvl1pPr>
          </a:lstStyle>
          <a:p>
            <a:pPr lvl="0"/>
            <a:r>
              <a:rPr lang="en-US" noProof="0" dirty="0"/>
              <a:t>Click icon to add picture</a:t>
            </a:r>
            <a:endParaRPr noProof="0" dirty="0"/>
          </a:p>
        </p:txBody>
      </p:sp>
      <p:sp>
        <p:nvSpPr>
          <p:cNvPr id="6" name="Date Placeholder 4"/>
          <p:cNvSpPr>
            <a:spLocks noGrp="1"/>
          </p:cNvSpPr>
          <p:nvPr>
            <p:ph type="dt" sz="half" idx="14"/>
          </p:nvPr>
        </p:nvSpPr>
        <p:spPr>
          <a:xfrm>
            <a:off x="161925" y="6124575"/>
            <a:ext cx="1752600" cy="365125"/>
          </a:xfrm>
        </p:spPr>
        <p:txBody>
          <a:bodyPr/>
          <a:lstStyle>
            <a:lvl1pPr algn="l">
              <a:defRPr/>
            </a:lvl1pPr>
          </a:lstStyle>
          <a:p>
            <a:pPr>
              <a:defRPr/>
            </a:pPr>
            <a:endParaRPr lang="en-US" altLang="en-US"/>
          </a:p>
        </p:txBody>
      </p:sp>
      <p:sp>
        <p:nvSpPr>
          <p:cNvPr id="7" name="Footer Placeholder 5"/>
          <p:cNvSpPr>
            <a:spLocks noGrp="1"/>
          </p:cNvSpPr>
          <p:nvPr>
            <p:ph type="ftr" sz="quarter" idx="15"/>
          </p:nvPr>
        </p:nvSpPr>
        <p:spPr>
          <a:xfrm>
            <a:off x="174625" y="6356350"/>
            <a:ext cx="3863975" cy="365125"/>
          </a:xfrm>
        </p:spPr>
        <p:txBody>
          <a:bodyPr/>
          <a:lstStyle>
            <a:lvl1pPr>
              <a:defRPr/>
            </a:lvl1pPr>
          </a:lstStyle>
          <a:p>
            <a:pPr>
              <a:defRPr/>
            </a:pPr>
            <a:endParaRPr lang="en-US" altLang="en-US"/>
          </a:p>
        </p:txBody>
      </p:sp>
      <p:sp>
        <p:nvSpPr>
          <p:cNvPr id="8" name="Slide Number Placeholder 6"/>
          <p:cNvSpPr>
            <a:spLocks noGrp="1"/>
          </p:cNvSpPr>
          <p:nvPr>
            <p:ph type="sldNum" sz="quarter" idx="16"/>
          </p:nvPr>
        </p:nvSpPr>
        <p:spPr/>
        <p:txBody>
          <a:bodyPr/>
          <a:lstStyle>
            <a:lvl1pPr>
              <a:defRPr smtClean="0"/>
            </a:lvl1pPr>
          </a:lstStyle>
          <a:p>
            <a:pPr>
              <a:defRPr/>
            </a:pPr>
            <a:fld id="{FF2644F3-4AC8-46A9-8E15-0C43EB0C4C41}" type="slidenum">
              <a:rPr lang="en-US"/>
              <a:pPr>
                <a:defRPr/>
              </a:pPr>
              <a:t>‹#›</a:t>
            </a:fld>
            <a:endParaRPr lang="en-US"/>
          </a:p>
        </p:txBody>
      </p:sp>
    </p:spTree>
    <p:extLst>
      <p:ext uri="{BB962C8B-B14F-4D97-AF65-F5344CB8AC3E}">
        <p14:creationId xmlns:p14="http://schemas.microsoft.com/office/powerpoint/2010/main" val="23910235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6858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ltLang="en-US"/>
          </a:p>
        </p:txBody>
      </p:sp>
      <p:sp>
        <p:nvSpPr>
          <p:cNvPr id="7" name="Footer Placeholder 5"/>
          <p:cNvSpPr>
            <a:spLocks noGrp="1"/>
          </p:cNvSpPr>
          <p:nvPr>
            <p:ph type="ftr" sz="quarter" idx="11"/>
          </p:nvPr>
        </p:nvSpPr>
        <p:spPr/>
        <p:txBody>
          <a:bodyPr/>
          <a:lstStyle>
            <a:lvl1pPr>
              <a:defRPr/>
            </a:lvl1pPr>
          </a:lstStyle>
          <a:p>
            <a:pPr>
              <a:defRPr/>
            </a:pPr>
            <a:endParaRPr lang="en-US" altLang="en-US"/>
          </a:p>
        </p:txBody>
      </p:sp>
      <p:sp>
        <p:nvSpPr>
          <p:cNvPr id="8" name="Slide Number Placeholder 6"/>
          <p:cNvSpPr>
            <a:spLocks noGrp="1"/>
          </p:cNvSpPr>
          <p:nvPr>
            <p:ph type="sldNum" sz="quarter" idx="12"/>
          </p:nvPr>
        </p:nvSpPr>
        <p:spPr/>
        <p:txBody>
          <a:bodyPr/>
          <a:lstStyle>
            <a:lvl1pPr>
              <a:defRPr smtClean="0"/>
            </a:lvl1pPr>
          </a:lstStyle>
          <a:p>
            <a:pPr>
              <a:defRPr/>
            </a:pPr>
            <a:fld id="{328758B6-9C20-497C-AEA0-9CEFE4553553}" type="slidenum">
              <a:rPr lang="en-US"/>
              <a:pPr>
                <a:defRPr/>
              </a:pPr>
              <a:t>‹#›</a:t>
            </a:fld>
            <a:endParaRPr lang="en-US"/>
          </a:p>
        </p:txBody>
      </p:sp>
    </p:spTree>
    <p:extLst>
      <p:ext uri="{BB962C8B-B14F-4D97-AF65-F5344CB8AC3E}">
        <p14:creationId xmlns:p14="http://schemas.microsoft.com/office/powerpoint/2010/main" val="29475853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8788" y="4267200"/>
            <a:ext cx="6477000" cy="566738"/>
          </a:xfrm>
        </p:spPr>
        <p:txBody>
          <a:bodyPr/>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269874" y="268288"/>
            <a:ext cx="3006726"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4" name="Text Placeholder 3"/>
          <p:cNvSpPr>
            <a:spLocks noGrp="1"/>
          </p:cNvSpPr>
          <p:nvPr>
            <p:ph type="body" sz="half" idx="2"/>
          </p:nvPr>
        </p:nvSpPr>
        <p:spPr>
          <a:xfrm>
            <a:off x="458788" y="4840941"/>
            <a:ext cx="6475412" cy="1304271"/>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Picture Placeholder 2"/>
          <p:cNvSpPr>
            <a:spLocks noGrp="1"/>
          </p:cNvSpPr>
          <p:nvPr>
            <p:ph type="pic" idx="13"/>
          </p:nvPr>
        </p:nvSpPr>
        <p:spPr>
          <a:xfrm>
            <a:off x="3352800" y="268288"/>
            <a:ext cx="47019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1" name="Picture Placeholder 2"/>
          <p:cNvSpPr>
            <a:spLocks noGrp="1"/>
          </p:cNvSpPr>
          <p:nvPr>
            <p:ph type="pic" idx="14"/>
          </p:nvPr>
        </p:nvSpPr>
        <p:spPr>
          <a:xfrm>
            <a:off x="33528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12" name="Picture Placeholder 2"/>
          <p:cNvSpPr>
            <a:spLocks noGrp="1"/>
          </p:cNvSpPr>
          <p:nvPr>
            <p:ph type="pic" idx="15"/>
          </p:nvPr>
        </p:nvSpPr>
        <p:spPr>
          <a:xfrm>
            <a:off x="5750500" y="2131935"/>
            <a:ext cx="2304288"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endParaRPr noProof="0" dirty="0"/>
          </a:p>
        </p:txBody>
      </p:sp>
      <p:sp>
        <p:nvSpPr>
          <p:cNvPr id="9" name="Date Placeholder 4"/>
          <p:cNvSpPr>
            <a:spLocks noGrp="1"/>
          </p:cNvSpPr>
          <p:nvPr>
            <p:ph type="dt" sz="half" idx="16"/>
          </p:nvPr>
        </p:nvSpPr>
        <p:spPr/>
        <p:txBody>
          <a:bodyPr/>
          <a:lstStyle>
            <a:lvl1pPr>
              <a:defRPr/>
            </a:lvl1pPr>
          </a:lstStyle>
          <a:p>
            <a:pPr>
              <a:defRPr/>
            </a:pPr>
            <a:endParaRPr lang="en-US" altLang="en-US"/>
          </a:p>
        </p:txBody>
      </p:sp>
      <p:sp>
        <p:nvSpPr>
          <p:cNvPr id="13" name="Footer Placeholder 5"/>
          <p:cNvSpPr>
            <a:spLocks noGrp="1"/>
          </p:cNvSpPr>
          <p:nvPr>
            <p:ph type="ftr" sz="quarter" idx="17"/>
          </p:nvPr>
        </p:nvSpPr>
        <p:spPr/>
        <p:txBody>
          <a:bodyPr/>
          <a:lstStyle>
            <a:lvl1pPr>
              <a:defRPr/>
            </a:lvl1pPr>
          </a:lstStyle>
          <a:p>
            <a:pPr>
              <a:defRPr/>
            </a:pPr>
            <a:endParaRPr lang="en-US" altLang="en-US"/>
          </a:p>
        </p:txBody>
      </p:sp>
      <p:sp>
        <p:nvSpPr>
          <p:cNvPr id="14" name="Slide Number Placeholder 6"/>
          <p:cNvSpPr>
            <a:spLocks noGrp="1"/>
          </p:cNvSpPr>
          <p:nvPr>
            <p:ph type="sldNum" sz="quarter" idx="18"/>
          </p:nvPr>
        </p:nvSpPr>
        <p:spPr/>
        <p:txBody>
          <a:bodyPr/>
          <a:lstStyle>
            <a:lvl1pPr>
              <a:defRPr smtClean="0"/>
            </a:lvl1pPr>
          </a:lstStyle>
          <a:p>
            <a:pPr>
              <a:defRPr/>
            </a:pPr>
            <a:fld id="{2438DD94-DECA-43B3-ACD5-F73B31D5AE7F}" type="slidenum">
              <a:rPr lang="en-US"/>
              <a:pPr>
                <a:defRPr/>
              </a:pPr>
              <a:t>‹#›</a:t>
            </a:fld>
            <a:endParaRPr lang="en-US"/>
          </a:p>
        </p:txBody>
      </p:sp>
    </p:spTree>
    <p:extLst>
      <p:ext uri="{BB962C8B-B14F-4D97-AF65-F5344CB8AC3E}">
        <p14:creationId xmlns:p14="http://schemas.microsoft.com/office/powerpoint/2010/main" val="3942173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43799" y="1035424"/>
            <a:ext cx="1322295" cy="5090739"/>
          </a:xfrm>
        </p:spPr>
        <p:txBody>
          <a:bodyPr vert="eaVert" anchor="t"/>
          <a:lstStyle/>
          <a:p>
            <a:r>
              <a:rPr lang="en-US"/>
              <a:t>Click to edit Master title style</a:t>
            </a:r>
            <a:endParaRPr/>
          </a:p>
        </p:txBody>
      </p:sp>
      <p:sp>
        <p:nvSpPr>
          <p:cNvPr id="3" name="Vertical Text Placeholder 2"/>
          <p:cNvSpPr>
            <a:spLocks noGrp="1"/>
          </p:cNvSpPr>
          <p:nvPr>
            <p:ph type="body" orient="vert" idx="1"/>
          </p:nvPr>
        </p:nvSpPr>
        <p:spPr>
          <a:xfrm>
            <a:off x="457200" y="1035424"/>
            <a:ext cx="6019800" cy="51097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3"/>
          <p:cNvSpPr>
            <a:spLocks noGrp="1"/>
          </p:cNvSpPr>
          <p:nvPr>
            <p:ph type="dt" sz="half" idx="10"/>
          </p:nvPr>
        </p:nvSpPr>
        <p:spPr/>
        <p:txBody>
          <a:bodyPr/>
          <a:lstStyle>
            <a:lvl1pPr>
              <a:defRPr/>
            </a:lvl1pPr>
          </a:lstStyle>
          <a:p>
            <a:pPr>
              <a:defRPr/>
            </a:pPr>
            <a:endParaRPr lang="en-US" altLang="en-US"/>
          </a:p>
        </p:txBody>
      </p:sp>
      <p:sp>
        <p:nvSpPr>
          <p:cNvPr id="6" name="Footer Placeholder 4"/>
          <p:cNvSpPr>
            <a:spLocks noGrp="1"/>
          </p:cNvSpPr>
          <p:nvPr>
            <p:ph type="ftr" sz="quarter" idx="11"/>
          </p:nvPr>
        </p:nvSpPr>
        <p:spPr/>
        <p:txBody>
          <a:bodyPr/>
          <a:lstStyle>
            <a:lvl1pPr>
              <a:defRPr/>
            </a:lvl1pPr>
          </a:lstStyle>
          <a:p>
            <a:pPr>
              <a:defRPr/>
            </a:pPr>
            <a:endParaRPr lang="en-US" altLang="en-US"/>
          </a:p>
        </p:txBody>
      </p:sp>
      <p:sp>
        <p:nvSpPr>
          <p:cNvPr id="7" name="Slide Number Placeholder 5"/>
          <p:cNvSpPr>
            <a:spLocks noGrp="1"/>
          </p:cNvSpPr>
          <p:nvPr>
            <p:ph type="sldNum" sz="quarter" idx="12"/>
          </p:nvPr>
        </p:nvSpPr>
        <p:spPr/>
        <p:txBody>
          <a:bodyPr/>
          <a:lstStyle>
            <a:lvl1pPr>
              <a:defRPr smtClean="0"/>
            </a:lvl1pPr>
          </a:lstStyle>
          <a:p>
            <a:pPr>
              <a:defRPr/>
            </a:pPr>
            <a:fld id="{9C9A638D-16A7-40C0-BC03-46B1CBDA4CC6}" type="slidenum">
              <a:rPr lang="en-US"/>
              <a:pPr>
                <a:defRPr/>
              </a:pPr>
              <a:t>‹#›</a:t>
            </a:fld>
            <a:endParaRPr lang="en-US"/>
          </a:p>
        </p:txBody>
      </p:sp>
    </p:spTree>
    <p:extLst>
      <p:ext uri="{BB962C8B-B14F-4D97-AF65-F5344CB8AC3E}">
        <p14:creationId xmlns:p14="http://schemas.microsoft.com/office/powerpoint/2010/main" val="27689408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71450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67150"/>
            <a:ext cx="3810000" cy="20002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85800" y="6248400"/>
            <a:ext cx="1905000" cy="457200"/>
          </a:xfrm>
        </p:spPr>
        <p:txBody>
          <a:bodyPr rtlCol="0"/>
          <a:lstStyle>
            <a:lvl1pPr fontAlgn="auto">
              <a:spcBef>
                <a:spcPts val="0"/>
              </a:spcBef>
              <a:spcAft>
                <a:spcPts val="0"/>
              </a:spcAft>
              <a:defRPr>
                <a:solidFill>
                  <a:schemeClr val="tx2">
                    <a:lumMod val="60000"/>
                    <a:lumOff val="40000"/>
                  </a:schemeClr>
                </a:solidFill>
                <a:latin typeface="+mn-lt"/>
                <a:ea typeface="+mn-ea"/>
                <a:cs typeface="+mn-cs"/>
              </a:defRPr>
            </a:lvl1pPr>
          </a:lstStyle>
          <a:p>
            <a:pPr>
              <a:defRPr/>
            </a:pPr>
            <a:r>
              <a:rPr lang="en-US"/>
              <a:t>BPS - 5th Ed.</a:t>
            </a:r>
          </a:p>
        </p:txBody>
      </p:sp>
      <p:sp>
        <p:nvSpPr>
          <p:cNvPr id="7" name="Footer Placeholder 6"/>
          <p:cNvSpPr>
            <a:spLocks noGrp="1"/>
          </p:cNvSpPr>
          <p:nvPr>
            <p:ph type="ftr" sz="quarter" idx="11"/>
          </p:nvPr>
        </p:nvSpPr>
        <p:spPr>
          <a:xfrm>
            <a:off x="3124200" y="6248400"/>
            <a:ext cx="2895600" cy="457200"/>
          </a:xfrm>
        </p:spPr>
        <p:txBody>
          <a:bodyPr rtlCol="0"/>
          <a:lstStyle>
            <a:lvl1pPr fontAlgn="auto">
              <a:spcBef>
                <a:spcPts val="0"/>
              </a:spcBef>
              <a:spcAft>
                <a:spcPts val="0"/>
              </a:spcAft>
              <a:defRPr>
                <a:solidFill>
                  <a:schemeClr val="tx2">
                    <a:lumMod val="60000"/>
                    <a:lumOff val="40000"/>
                  </a:schemeClr>
                </a:solidFill>
                <a:latin typeface="+mn-lt"/>
                <a:ea typeface="+mn-ea"/>
              </a:defRPr>
            </a:lvl1pPr>
          </a:lstStyle>
          <a:p>
            <a:pPr>
              <a:defRPr/>
            </a:pPr>
            <a:r>
              <a:rPr lang="en-US"/>
              <a:t>Chapter 5</a:t>
            </a:r>
          </a:p>
        </p:txBody>
      </p:sp>
      <p:sp>
        <p:nvSpPr>
          <p:cNvPr id="8" name="Slide Number Placeholder 7"/>
          <p:cNvSpPr>
            <a:spLocks noGrp="1"/>
          </p:cNvSpPr>
          <p:nvPr>
            <p:ph type="sldNum" sz="quarter" idx="12"/>
          </p:nvPr>
        </p:nvSpPr>
        <p:spPr>
          <a:xfrm>
            <a:off x="6553200" y="6248400"/>
            <a:ext cx="1905000" cy="457200"/>
          </a:xfrm>
        </p:spPr>
        <p:txBody>
          <a:bodyPr/>
          <a:lstStyle>
            <a:lvl1pPr>
              <a:defRPr smtClean="0"/>
            </a:lvl1pPr>
          </a:lstStyle>
          <a:p>
            <a:pPr>
              <a:defRPr/>
            </a:pPr>
            <a:fld id="{3A8918EC-6E8E-4067-BDD3-341C5857DE3D}" type="slidenum">
              <a:rPr lang="en-US"/>
              <a:pPr>
                <a:defRPr/>
              </a:pPr>
              <a:t>‹#›</a:t>
            </a:fld>
            <a:endParaRPr lang="en-US"/>
          </a:p>
        </p:txBody>
      </p:sp>
    </p:spTree>
    <p:extLst>
      <p:ext uri="{BB962C8B-B14F-4D97-AF65-F5344CB8AC3E}">
        <p14:creationId xmlns:p14="http://schemas.microsoft.com/office/powerpoint/2010/main" val="6745562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714500"/>
            <a:ext cx="3810000" cy="4152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85800" y="6248400"/>
            <a:ext cx="1905000" cy="457200"/>
          </a:xfrm>
        </p:spPr>
        <p:txBody>
          <a:bodyPr rtlCol="0"/>
          <a:lstStyle>
            <a:lvl1pPr fontAlgn="auto">
              <a:spcBef>
                <a:spcPts val="0"/>
              </a:spcBef>
              <a:spcAft>
                <a:spcPts val="0"/>
              </a:spcAft>
              <a:defRPr>
                <a:solidFill>
                  <a:schemeClr val="tx2">
                    <a:lumMod val="60000"/>
                    <a:lumOff val="40000"/>
                  </a:schemeClr>
                </a:solidFill>
                <a:latin typeface="+mn-lt"/>
                <a:ea typeface="+mn-ea"/>
                <a:cs typeface="+mn-cs"/>
              </a:defRPr>
            </a:lvl1pPr>
          </a:lstStyle>
          <a:p>
            <a:pPr>
              <a:defRPr/>
            </a:pPr>
            <a:r>
              <a:rPr lang="en-US"/>
              <a:t>BPS - 5th Ed.</a:t>
            </a:r>
          </a:p>
        </p:txBody>
      </p:sp>
      <p:sp>
        <p:nvSpPr>
          <p:cNvPr id="6" name="Footer Placeholder 5"/>
          <p:cNvSpPr>
            <a:spLocks noGrp="1"/>
          </p:cNvSpPr>
          <p:nvPr>
            <p:ph type="ftr" sz="quarter" idx="11"/>
          </p:nvPr>
        </p:nvSpPr>
        <p:spPr>
          <a:xfrm>
            <a:off x="3124200" y="6248400"/>
            <a:ext cx="2895600" cy="457200"/>
          </a:xfrm>
        </p:spPr>
        <p:txBody>
          <a:bodyPr rtlCol="0"/>
          <a:lstStyle>
            <a:lvl1pPr fontAlgn="auto">
              <a:spcBef>
                <a:spcPts val="0"/>
              </a:spcBef>
              <a:spcAft>
                <a:spcPts val="0"/>
              </a:spcAft>
              <a:defRPr>
                <a:solidFill>
                  <a:schemeClr val="tx2">
                    <a:lumMod val="60000"/>
                    <a:lumOff val="40000"/>
                  </a:schemeClr>
                </a:solidFill>
                <a:latin typeface="+mn-lt"/>
                <a:ea typeface="+mn-ea"/>
              </a:defRPr>
            </a:lvl1pPr>
          </a:lstStyle>
          <a:p>
            <a:pPr>
              <a:defRPr/>
            </a:pPr>
            <a:r>
              <a:rPr lang="en-US"/>
              <a:t>Chapter 5</a:t>
            </a:r>
          </a:p>
        </p:txBody>
      </p:sp>
      <p:sp>
        <p:nvSpPr>
          <p:cNvPr id="7" name="Slide Number Placeholder 6"/>
          <p:cNvSpPr>
            <a:spLocks noGrp="1"/>
          </p:cNvSpPr>
          <p:nvPr>
            <p:ph type="sldNum" sz="quarter" idx="12"/>
          </p:nvPr>
        </p:nvSpPr>
        <p:spPr>
          <a:xfrm>
            <a:off x="6553200" y="6248400"/>
            <a:ext cx="1905000" cy="457200"/>
          </a:xfrm>
        </p:spPr>
        <p:txBody>
          <a:bodyPr/>
          <a:lstStyle>
            <a:lvl1pPr>
              <a:defRPr smtClean="0"/>
            </a:lvl1pPr>
          </a:lstStyle>
          <a:p>
            <a:pPr>
              <a:defRPr/>
            </a:pPr>
            <a:fld id="{1D3277ED-D5E1-41CF-A95B-6BC649AB9A3D}" type="slidenum">
              <a:rPr lang="en-US"/>
              <a:pPr>
                <a:defRPr/>
              </a:pPr>
              <a:t>‹#›</a:t>
            </a:fld>
            <a:endParaRPr lang="en-US"/>
          </a:p>
        </p:txBody>
      </p:sp>
    </p:spTree>
    <p:extLst>
      <p:ext uri="{BB962C8B-B14F-4D97-AF65-F5344CB8AC3E}">
        <p14:creationId xmlns:p14="http://schemas.microsoft.com/office/powerpoint/2010/main" val="1452346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14400"/>
            <a:ext cx="6508750" cy="1143000"/>
          </a:xfrm>
          <a:prstGeom prst="rect">
            <a:avLst/>
          </a:prstGeom>
          <a:solidFill>
            <a:schemeClr val="accent2"/>
          </a:solidFill>
          <a:ln>
            <a:noFill/>
          </a:ln>
        </p:spPr>
        <p:txBody>
          <a:bodyPr vert="horz" wrap="square" lIns="91440" tIns="45720" rIns="91440" bIns="45720" numCol="1" anchor="b" anchorCtr="0" compatLnSpc="1">
            <a:prstTxWarp prst="textNoShape">
              <a:avLst/>
            </a:prstTxWarp>
          </a:bodyPr>
          <a:lstStyle/>
          <a:p>
            <a:pPr lvl="0"/>
            <a:r>
              <a:rPr lang="en-US" dirty="0"/>
              <a:t>Click to edit Master title style</a:t>
            </a:r>
          </a:p>
        </p:txBody>
      </p:sp>
      <p:sp>
        <p:nvSpPr>
          <p:cNvPr id="1027" name="Text Placeholder 2"/>
          <p:cNvSpPr>
            <a:spLocks noGrp="1"/>
          </p:cNvSpPr>
          <p:nvPr>
            <p:ph type="body" idx="1"/>
          </p:nvPr>
        </p:nvSpPr>
        <p:spPr bwMode="auto">
          <a:xfrm>
            <a:off x="457200" y="2209800"/>
            <a:ext cx="6508750"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199313" y="6356350"/>
            <a:ext cx="1752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100" b="1">
                <a:solidFill>
                  <a:srgbClr val="60B9EC"/>
                </a:solidFill>
                <a:latin typeface="Arial" pitchFamily="34" charset="0"/>
                <a:ea typeface="ＭＳ Ｐゴシック" pitchFamily="34" charset="-128"/>
                <a:cs typeface="+mn-cs"/>
              </a:defRPr>
            </a:lvl1pPr>
          </a:lstStyle>
          <a:p>
            <a:pPr>
              <a:defRPr/>
            </a:pPr>
            <a:endParaRPr lang="en-US" altLang="en-US"/>
          </a:p>
        </p:txBody>
      </p:sp>
      <p:sp>
        <p:nvSpPr>
          <p:cNvPr id="5" name="Footer Placeholder 4"/>
          <p:cNvSpPr>
            <a:spLocks noGrp="1"/>
          </p:cNvSpPr>
          <p:nvPr>
            <p:ph type="ftr" sz="quarter" idx="3"/>
          </p:nvPr>
        </p:nvSpPr>
        <p:spPr>
          <a:xfrm>
            <a:off x="174625" y="6356350"/>
            <a:ext cx="60071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100" b="1">
                <a:solidFill>
                  <a:srgbClr val="60B9EC"/>
                </a:solidFill>
                <a:latin typeface="Arial" pitchFamily="34" charset="0"/>
                <a:ea typeface="ＭＳ Ｐゴシック" pitchFamily="34" charset="-128"/>
                <a:cs typeface="+mn-cs"/>
              </a:defRPr>
            </a:lvl1pPr>
          </a:lstStyle>
          <a:p>
            <a:pPr>
              <a:defRPr/>
            </a:pPr>
            <a:endParaRPr lang="en-US" altLang="en-US"/>
          </a:p>
        </p:txBody>
      </p:sp>
      <p:sp>
        <p:nvSpPr>
          <p:cNvPr id="6" name="Slide Number Placeholder 5"/>
          <p:cNvSpPr>
            <a:spLocks noGrp="1"/>
          </p:cNvSpPr>
          <p:nvPr>
            <p:ph type="sldNum" sz="quarter" idx="4"/>
          </p:nvPr>
        </p:nvSpPr>
        <p:spPr>
          <a:xfrm>
            <a:off x="8256588" y="360363"/>
            <a:ext cx="506412"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2200" b="1" smtClean="0">
                <a:solidFill>
                  <a:schemeClr val="bg1"/>
                </a:solidFill>
              </a:defRPr>
            </a:lvl1pPr>
          </a:lstStyle>
          <a:p>
            <a:pPr>
              <a:defRPr/>
            </a:pPr>
            <a:fld id="{C98D259C-971B-403A-BCFB-AD272460D80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5169" r:id="rId1"/>
    <p:sldLayoutId id="2147485170" r:id="rId2"/>
    <p:sldLayoutId id="2147485171" r:id="rId3"/>
    <p:sldLayoutId id="2147485172" r:id="rId4"/>
    <p:sldLayoutId id="2147485173" r:id="rId5"/>
    <p:sldLayoutId id="2147485174" r:id="rId6"/>
    <p:sldLayoutId id="2147485175" r:id="rId7"/>
    <p:sldLayoutId id="2147485176" r:id="rId8"/>
    <p:sldLayoutId id="2147485177" r:id="rId9"/>
    <p:sldLayoutId id="2147485178" r:id="rId10"/>
    <p:sldLayoutId id="2147485179" r:id="rId11"/>
    <p:sldLayoutId id="2147485180" r:id="rId12"/>
    <p:sldLayoutId id="2147485181" r:id="rId13"/>
    <p:sldLayoutId id="2147485182" r:id="rId14"/>
    <p:sldLayoutId id="2147485183" r:id="rId15"/>
    <p:sldLayoutId id="2147485184" r:id="rId16"/>
    <p:sldLayoutId id="2147485185" r:id="rId17"/>
    <p:sldLayoutId id="2147485186" r:id="rId18"/>
    <p:sldLayoutId id="2147485187" r:id="rId19"/>
    <p:sldLayoutId id="2147485188" r:id="rId20"/>
    <p:sldLayoutId id="2147485189" r:id="rId21"/>
  </p:sldLayoutIdLst>
  <p:hf hdr="0" ftr="0" dt="0"/>
  <p:txStyles>
    <p:titleStyle>
      <a:lvl1pPr algn="l" rtl="0" eaLnBrk="0" fontAlgn="base" hangingPunct="0">
        <a:spcBef>
          <a:spcPct val="0"/>
        </a:spcBef>
        <a:spcAft>
          <a:spcPct val="0"/>
        </a:spcAft>
        <a:defRPr sz="3600" kern="1200">
          <a:solidFill>
            <a:schemeClr val="tx1"/>
          </a:solidFill>
          <a:latin typeface="+mj-lt"/>
          <a:ea typeface="ＭＳ Ｐゴシック" pitchFamily="-1" charset="-128"/>
          <a:cs typeface="ＭＳ Ｐゴシック" pitchFamily="-1" charset="-128"/>
        </a:defRPr>
      </a:lvl1pPr>
      <a:lvl2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accent1"/>
          </a:solidFill>
          <a:latin typeface="Arial" pitchFamily="-1" charset="0"/>
          <a:ea typeface="ＭＳ Ｐゴシック" pitchFamily="-1" charset="-128"/>
          <a:cs typeface="ＭＳ Ｐゴシック" pitchFamily="-1" charset="-128"/>
        </a:defRPr>
      </a:lvl9pPr>
    </p:titleStyle>
    <p:bodyStyle>
      <a:lvl1pPr marL="228600" indent="-228600" algn="l" rtl="0" eaLnBrk="0" fontAlgn="base" hangingPunct="0">
        <a:spcBef>
          <a:spcPts val="1800"/>
        </a:spcBef>
        <a:spcAft>
          <a:spcPct val="0"/>
        </a:spcAft>
        <a:buClr>
          <a:schemeClr val="accent1"/>
        </a:buClr>
        <a:buSzPct val="100000"/>
        <a:buFont typeface="Wingdings 2" pitchFamily="18" charset="2"/>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pitchFamily="18" charset="2"/>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pitchFamily="18" charset="2"/>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3.xml"/><Relationship Id="rId1" Type="http://schemas.openxmlformats.org/officeDocument/2006/relationships/vmlDrawing" Target="../drawings/vmlDrawing1.vml"/><Relationship Id="rId4" Type="http://schemas.openxmlformats.org/officeDocument/2006/relationships/image" Target="../media/image8.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3.xml"/><Relationship Id="rId1" Type="http://schemas.openxmlformats.org/officeDocument/2006/relationships/vmlDrawing" Target="../drawings/vmlDrawing2.vml"/><Relationship Id="rId4" Type="http://schemas.openxmlformats.org/officeDocument/2006/relationships/image" Target="../media/image12.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3.xml"/><Relationship Id="rId1" Type="http://schemas.openxmlformats.org/officeDocument/2006/relationships/vmlDrawing" Target="../drawings/vmlDrawing3.vml"/><Relationship Id="rId4" Type="http://schemas.openxmlformats.org/officeDocument/2006/relationships/image" Target="../media/image13.emf"/></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3.xml"/><Relationship Id="rId1" Type="http://schemas.openxmlformats.org/officeDocument/2006/relationships/vmlDrawing" Target="../drawings/vmlDrawing4.vml"/><Relationship Id="rId4" Type="http://schemas.openxmlformats.org/officeDocument/2006/relationships/image" Target="../media/image14.wmf"/></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727208" y="4298469"/>
            <a:ext cx="7772400" cy="1829761"/>
          </a:xfrm>
        </p:spPr>
        <p:txBody>
          <a:bodyPr>
            <a:normAutofit fontScale="90000"/>
          </a:bodyPr>
          <a:lstStyle/>
          <a:p>
            <a:pPr algn="ctr" eaLnBrk="1" fontAlgn="auto" hangingPunct="1">
              <a:spcAft>
                <a:spcPts val="0"/>
              </a:spcAft>
              <a:defRPr/>
            </a:pPr>
            <a:r>
              <a:rPr lang="en-US" sz="3000" b="0" dirty="0">
                <a:solidFill>
                  <a:schemeClr val="tx1"/>
                </a:solidFill>
                <a:effectLst/>
                <a:latin typeface="Arial" pitchFamily="34" charset="0"/>
                <a:ea typeface="ヒラギノ角ゴ Pro W3" pitchFamily="-84" charset="-128"/>
                <a:cs typeface="Arial" pitchFamily="34" charset="0"/>
              </a:rPr>
              <a:t>Chapter 2</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solidFill>
                  <a:schemeClr val="tx1"/>
                </a:solidFill>
                <a:effectLst/>
                <a:latin typeface="Arial" pitchFamily="34" charset="0"/>
                <a:ea typeface="ヒラギノ角ゴ Pro W3" pitchFamily="-84" charset="-128"/>
                <a:cs typeface="Arial" pitchFamily="34" charset="0"/>
              </a:rPr>
              <a:t>Looking at Data—Relationships</a:t>
            </a:r>
            <a:br>
              <a:rPr lang="en-US" sz="3000" b="0" dirty="0">
                <a:solidFill>
                  <a:schemeClr val="tx1"/>
                </a:solidFill>
                <a:effectLst/>
                <a:latin typeface="Arial" pitchFamily="34" charset="0"/>
                <a:ea typeface="ヒラギノ角ゴ Pro W3" pitchFamily="-84" charset="-128"/>
                <a:cs typeface="Arial" pitchFamily="34" charset="0"/>
              </a:rPr>
            </a:br>
            <a:r>
              <a:rPr lang="en-US" sz="3000" b="0" dirty="0">
                <a:effectLst/>
                <a:ea typeface="ヒラギノ角ゴ Pro W3" pitchFamily="-84" charset="-128"/>
              </a:rPr>
              <a:t/>
            </a:r>
            <a:br>
              <a:rPr lang="en-US" sz="3000" b="0" dirty="0">
                <a:effectLst/>
                <a:ea typeface="ヒラギノ角ゴ Pro W3" pitchFamily="-84" charset="-128"/>
              </a:rPr>
            </a:br>
            <a:r>
              <a:rPr lang="en-US" sz="3000" dirty="0">
                <a:solidFill>
                  <a:srgbClr val="073779"/>
                </a:solidFill>
                <a:ea typeface="ヒラギノ角ゴ Pro W3" pitchFamily="-84" charset="-128"/>
              </a:rPr>
              <a:t>Lecture Slides</a:t>
            </a:r>
            <a:endParaRPr lang="en-US" sz="3000" b="0" dirty="0">
              <a:solidFill>
                <a:schemeClr val="tx1"/>
              </a:solidFill>
              <a:effectLst/>
              <a:latin typeface="Arial" pitchFamily="34" charset="0"/>
              <a:ea typeface="ヒラギノ角ゴ Pro W3" pitchFamily="-84" charset="-128"/>
              <a:cs typeface="Arial" pitchFamily="34" charset="0"/>
            </a:endParaRPr>
          </a:p>
        </p:txBody>
      </p:sp>
      <p:sp>
        <p:nvSpPr>
          <p:cNvPr id="2" name="Footer Placeholder 1"/>
          <p:cNvSpPr>
            <a:spLocks noGrp="1"/>
          </p:cNvSpPr>
          <p:nvPr>
            <p:ph type="ftr" sz="quarter" idx="4294967295"/>
          </p:nvPr>
        </p:nvSpPr>
        <p:spPr>
          <a:xfrm>
            <a:off x="5943600" y="6294120"/>
            <a:ext cx="2807738" cy="365125"/>
          </a:xfrm>
          <a:prstGeom prst="rect">
            <a:avLst/>
          </a:prstGeom>
        </p:spPr>
        <p:txBody>
          <a:bodyPr/>
          <a:lstStyle/>
          <a:p>
            <a:pPr>
              <a:defRPr/>
            </a:pPr>
            <a:r>
              <a:rPr lang="en-US" sz="1200" dirty="0">
                <a:solidFill>
                  <a:prstClr val="black"/>
                </a:solidFill>
              </a:rPr>
              <a:t>© 2021 W.H. Freeman and Company</a:t>
            </a:r>
          </a:p>
        </p:txBody>
      </p:sp>
      <p:sp>
        <p:nvSpPr>
          <p:cNvPr id="6" name="Google Shape;56;p1"/>
          <p:cNvSpPr txBox="1">
            <a:spLocks/>
          </p:cNvSpPr>
          <p:nvPr/>
        </p:nvSpPr>
        <p:spPr>
          <a:xfrm>
            <a:off x="304800" y="457200"/>
            <a:ext cx="8617217" cy="3644900"/>
          </a:xfrm>
          <a:prstGeom prst="rect">
            <a:avLst/>
          </a:prstGeom>
          <a:noFill/>
          <a:ln>
            <a:noFill/>
          </a:ln>
        </p:spPr>
        <p:txBody>
          <a:bodyPr spcFirstLastPara="1" vert="horz" wrap="square" lIns="91425" tIns="45700" rIns="91425" bIns="4570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ClrTx/>
              <a:buFontTx/>
            </a:pPr>
            <a:r>
              <a:rPr lang="en-US" sz="5000" dirty="0">
                <a:latin typeface="Garamond"/>
                <a:ea typeface="Garamond"/>
                <a:cs typeface="Garamond"/>
                <a:sym typeface="Garamond"/>
              </a:rPr>
              <a:t>Introduction to the Practice of Statistics</a:t>
            </a:r>
            <a:br>
              <a:rPr lang="en-US" sz="5000" dirty="0">
                <a:latin typeface="Garamond"/>
                <a:ea typeface="Garamond"/>
                <a:cs typeface="Garamond"/>
                <a:sym typeface="Garamond"/>
              </a:rPr>
            </a:br>
            <a:r>
              <a:rPr lang="en-US" sz="5000" dirty="0">
                <a:latin typeface="Garamond"/>
                <a:ea typeface="Garamond"/>
                <a:cs typeface="Garamond"/>
                <a:sym typeface="Garamond"/>
              </a:rPr>
              <a:t>Tenth Edition</a:t>
            </a: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4000" dirty="0">
                <a:latin typeface="Garamond"/>
                <a:ea typeface="Garamond"/>
                <a:cs typeface="Garamond"/>
                <a:sym typeface="Garamond"/>
              </a:rPr>
              <a:t/>
            </a:r>
            <a:br>
              <a:rPr lang="en-US" sz="4000" dirty="0">
                <a:latin typeface="Garamond"/>
                <a:ea typeface="Garamond"/>
                <a:cs typeface="Garamond"/>
                <a:sym typeface="Garamond"/>
              </a:rPr>
            </a:br>
            <a:r>
              <a:rPr lang="en-US" sz="3500" dirty="0">
                <a:latin typeface="Garamond"/>
                <a:ea typeface="Garamond"/>
                <a:cs typeface="Garamond"/>
                <a:sym typeface="Garamond"/>
              </a:rPr>
              <a:t>David S. Moore			George P. McCabe</a:t>
            </a:r>
            <a:br>
              <a:rPr lang="en-US" sz="3500" dirty="0">
                <a:latin typeface="Garamond"/>
                <a:ea typeface="Garamond"/>
                <a:cs typeface="Garamond"/>
                <a:sym typeface="Garamond"/>
              </a:rPr>
            </a:br>
            <a:r>
              <a:rPr lang="en-US" sz="3500" dirty="0">
                <a:latin typeface="Garamond"/>
                <a:ea typeface="Garamond"/>
                <a:cs typeface="Garamond"/>
                <a:sym typeface="Garamond"/>
              </a:rPr>
              <a:t>Bruce Craig</a:t>
            </a:r>
          </a:p>
        </p:txBody>
      </p:sp>
    </p:spTree>
    <p:extLst>
      <p:ext uri="{BB962C8B-B14F-4D97-AF65-F5344CB8AC3E}">
        <p14:creationId xmlns:p14="http://schemas.microsoft.com/office/powerpoint/2010/main" val="415926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365760"/>
            <a:ext cx="7573617" cy="1304014"/>
          </a:xfrm>
        </p:spPr>
        <p:txBody>
          <a:bodyPr/>
          <a:lstStyle/>
          <a:p>
            <a:pPr defTabSz="914400" eaLnBrk="1" hangingPunct="1">
              <a:defRPr/>
            </a:pPr>
            <a:r>
              <a:rPr lang="en-US" b="1" dirty="0">
                <a:solidFill>
                  <a:schemeClr val="accent1"/>
                </a:solidFill>
              </a:rPr>
              <a:t>Chapter 2</a:t>
            </a:r>
            <a:r>
              <a:rPr lang="en-US" b="1" dirty="0">
                <a:solidFill>
                  <a:schemeClr val="accent1"/>
                </a:solidFill>
                <a:effectLst>
                  <a:outerShdw blurRad="38100" dist="38100" dir="2700000" algn="tl">
                    <a:srgbClr val="000000">
                      <a:alpha val="43137"/>
                    </a:srgbClr>
                  </a:outerShdw>
                </a:effectLst>
              </a:rPr>
              <a:t/>
            </a:r>
            <a:br>
              <a:rPr lang="en-US" b="1" dirty="0">
                <a:solidFill>
                  <a:schemeClr val="accent1"/>
                </a:solidFill>
                <a:effectLst>
                  <a:outerShdw blurRad="38100" dist="38100" dir="2700000" algn="tl">
                    <a:srgbClr val="000000">
                      <a:alpha val="43137"/>
                    </a:srgbClr>
                  </a:outerShdw>
                </a:effectLst>
              </a:rPr>
            </a:br>
            <a:r>
              <a:rPr lang="en-US" b="1" dirty="0">
                <a:solidFill>
                  <a:schemeClr val="accent1"/>
                </a:solidFill>
              </a:rPr>
              <a:t>Looking at Data — Relationships</a:t>
            </a:r>
          </a:p>
        </p:txBody>
      </p:sp>
      <p:sp>
        <p:nvSpPr>
          <p:cNvPr id="3" name="Content Placeholder 2"/>
          <p:cNvSpPr>
            <a:spLocks noGrp="1"/>
          </p:cNvSpPr>
          <p:nvPr>
            <p:ph idx="1"/>
          </p:nvPr>
        </p:nvSpPr>
        <p:spPr>
          <a:xfrm>
            <a:off x="457200" y="2030550"/>
            <a:ext cx="7573616" cy="4511675"/>
          </a:xfrm>
        </p:spPr>
        <p:txBody>
          <a:bodyPr/>
          <a:lstStyle/>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2.1 Relationships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2.2 Scatterplots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2.3 Correlation</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2.4 Least-Squares Regression</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2.5 Cautions about Correlation and Regression</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2.6 Data Analysis for Two-Way Tables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2.7 The Question of Causation</a:t>
            </a:r>
          </a:p>
        </p:txBody>
      </p:sp>
      <p:sp>
        <p:nvSpPr>
          <p:cNvPr id="24578"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A52F3968-EBD2-455E-97CC-CCF262D69178}" type="slidenum">
              <a:rPr lang="en-US">
                <a:solidFill>
                  <a:schemeClr val="accent1"/>
                </a:solidFill>
              </a:rPr>
              <a:pPr/>
              <a:t>2</a:t>
            </a:fld>
            <a:endParaRPr lang="en-US" dirty="0">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2"/>
          <p:cNvSpPr>
            <a:spLocks noGrp="1"/>
          </p:cNvSpPr>
          <p:nvPr>
            <p:ph type="title"/>
          </p:nvPr>
        </p:nvSpPr>
        <p:spPr/>
        <p:txBody>
          <a:bodyPr anchor="t"/>
          <a:lstStyle/>
          <a:p>
            <a:pPr eaLnBrk="1" hangingPunct="1"/>
            <a:r>
              <a:rPr lang="en-US" b="1" dirty="0">
                <a:solidFill>
                  <a:schemeClr val="accent1"/>
                </a:solidFill>
                <a:ea typeface="ＭＳ Ｐゴシック" pitchFamily="34" charset="-128"/>
              </a:rPr>
              <a:t>2.1 Relationships</a:t>
            </a:r>
          </a:p>
        </p:txBody>
      </p:sp>
      <p:sp>
        <p:nvSpPr>
          <p:cNvPr id="25603" name="Text Placeholder 3"/>
          <p:cNvSpPr>
            <a:spLocks noGrp="1"/>
          </p:cNvSpPr>
          <p:nvPr>
            <p:ph idx="1"/>
          </p:nvPr>
        </p:nvSpPr>
        <p:spPr/>
        <p:txBody>
          <a:bodyPr/>
          <a:lstStyle/>
          <a:p>
            <a:pPr eaLnBrk="1" hangingPunct="1">
              <a:buFont typeface="Wingdings" pitchFamily="2" charset="2"/>
              <a:buChar char="§"/>
            </a:pPr>
            <a:r>
              <a:rPr lang="en-US" sz="2400" dirty="0">
                <a:solidFill>
                  <a:schemeClr val="accent1"/>
                </a:solidFill>
                <a:ea typeface="ＭＳ Ｐゴシック" pitchFamily="34" charset="-128"/>
              </a:rPr>
              <a:t>Association between variables</a:t>
            </a:r>
          </a:p>
          <a:p>
            <a:pPr eaLnBrk="1" hangingPunct="1">
              <a:buFont typeface="Wingdings" pitchFamily="2" charset="2"/>
              <a:buChar char="§"/>
            </a:pPr>
            <a:r>
              <a:rPr lang="en-US" sz="2400" dirty="0">
                <a:solidFill>
                  <a:schemeClr val="accent1"/>
                </a:solidFill>
                <a:ea typeface="ＭＳ Ｐゴシック" pitchFamily="34" charset="-128"/>
              </a:rPr>
              <a:t>Explanatory and response variables</a:t>
            </a:r>
          </a:p>
          <a:p>
            <a:pPr eaLnBrk="1" hangingPunct="1">
              <a:buFont typeface="Wingdings" pitchFamily="2" charset="2"/>
              <a:buChar char="§"/>
            </a:pPr>
            <a:r>
              <a:rPr lang="en-US" sz="2400" dirty="0">
                <a:solidFill>
                  <a:schemeClr val="accent1"/>
                </a:solidFill>
                <a:ea typeface="ＭＳ Ｐゴシック" pitchFamily="34" charset="-128"/>
              </a:rPr>
              <a:t>Key characteristics of a data set</a:t>
            </a:r>
          </a:p>
        </p:txBody>
      </p:sp>
      <p:sp>
        <p:nvSpPr>
          <p:cNvPr id="25604"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3C0A656E-7224-4819-8B16-27916018CE19}" type="slidenum">
              <a:rPr lang="en-US">
                <a:solidFill>
                  <a:schemeClr val="accent1"/>
                </a:solidFill>
              </a:rPr>
              <a:pPr/>
              <a:t>3</a:t>
            </a:fld>
            <a:endParaRPr lang="en-US">
              <a:solidFill>
                <a:schemeClr val="accen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accent1"/>
                </a:solidFill>
              </a:rPr>
              <a:t>Associations between Variables</a:t>
            </a:r>
            <a:endParaRPr lang="en-US" dirty="0"/>
          </a:p>
        </p:txBody>
      </p:sp>
      <p:sp>
        <p:nvSpPr>
          <p:cNvPr id="26626" name="Slide Number Placeholder 7"/>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A3B916BB-5777-4B27-9001-FF4C5159023A}" type="slidenum">
              <a:rPr lang="en-US">
                <a:solidFill>
                  <a:schemeClr val="accent1"/>
                </a:solidFill>
              </a:rPr>
              <a:pPr/>
              <a:t>4</a:t>
            </a:fld>
            <a:endParaRPr lang="en-US">
              <a:solidFill>
                <a:schemeClr val="accent1"/>
              </a:solidFill>
            </a:endParaRPr>
          </a:p>
        </p:txBody>
      </p:sp>
      <p:sp>
        <p:nvSpPr>
          <p:cNvPr id="26627" name="Rectangle 3"/>
          <p:cNvSpPr txBox="1">
            <a:spLocks noChangeArrowheads="1"/>
          </p:cNvSpPr>
          <p:nvPr/>
        </p:nvSpPr>
        <p:spPr bwMode="auto">
          <a:xfrm>
            <a:off x="350837" y="1181282"/>
            <a:ext cx="8412163"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defTabSz="914400" eaLnBrk="1" hangingPunct="1">
              <a:spcBef>
                <a:spcPts val="700"/>
              </a:spcBef>
              <a:buClr>
                <a:schemeClr val="accent2"/>
              </a:buClr>
              <a:buSzPct val="60000"/>
              <a:buFont typeface="Monotype Sorts" charset="2"/>
              <a:buNone/>
            </a:pPr>
            <a:r>
              <a:rPr lang="en-US" sz="2000" dirty="0"/>
              <a:t>Many interesting examples of the use of statistics involve relationships between pairs of variables.</a:t>
            </a:r>
          </a:p>
        </p:txBody>
      </p:sp>
      <p:sp>
        <p:nvSpPr>
          <p:cNvPr id="13" name="TextBox 12"/>
          <p:cNvSpPr txBox="1">
            <a:spLocks noChangeArrowheads="1"/>
          </p:cNvSpPr>
          <p:nvPr/>
        </p:nvSpPr>
        <p:spPr bwMode="auto">
          <a:xfrm>
            <a:off x="1008061" y="2037647"/>
            <a:ext cx="7248527" cy="1570038"/>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ct val="0"/>
              </a:spcBef>
              <a:buClrTx/>
              <a:buSzTx/>
              <a:buFontTx/>
              <a:buNone/>
              <a:defRPr/>
            </a:pPr>
            <a:endParaRPr lang="en-US" altLang="en-US" sz="600" b="1" u="sng" dirty="0">
              <a:solidFill>
                <a:srgbClr val="E81F30"/>
              </a:solidFill>
            </a:endParaRPr>
          </a:p>
          <a:p>
            <a:pPr algn="just" eaLnBrk="1" hangingPunct="1">
              <a:spcBef>
                <a:spcPct val="0"/>
              </a:spcBef>
              <a:buClrTx/>
              <a:buSzTx/>
              <a:buFontTx/>
              <a:buNone/>
              <a:defRPr/>
            </a:pPr>
            <a:r>
              <a:rPr lang="en-US" altLang="en-US" dirty="0">
                <a:solidFill>
                  <a:schemeClr val="tx1"/>
                </a:solidFill>
              </a:rPr>
              <a:t>Two variables measured on the same cases are </a:t>
            </a:r>
            <a:r>
              <a:rPr lang="en-US" altLang="en-US" b="1" dirty="0">
                <a:solidFill>
                  <a:srgbClr val="C00000"/>
                </a:solidFill>
              </a:rPr>
              <a:t>associated</a:t>
            </a:r>
            <a:r>
              <a:rPr lang="en-US" altLang="en-US" dirty="0">
                <a:solidFill>
                  <a:srgbClr val="800000"/>
                </a:solidFill>
              </a:rPr>
              <a:t> </a:t>
            </a:r>
            <a:r>
              <a:rPr lang="en-US" altLang="en-US" dirty="0">
                <a:solidFill>
                  <a:schemeClr val="tx1"/>
                </a:solidFill>
              </a:rPr>
              <a:t>if knowing the value of one of the variables tells you something that you would not otherwise know about the value of the other variable.</a:t>
            </a:r>
          </a:p>
          <a:p>
            <a:pPr eaLnBrk="1" hangingPunct="1">
              <a:spcBef>
                <a:spcPct val="0"/>
              </a:spcBef>
              <a:buClrTx/>
              <a:buSzTx/>
              <a:buFontTx/>
              <a:buNone/>
              <a:defRPr/>
            </a:pPr>
            <a:endParaRPr lang="en-US" altLang="en-US" sz="1000" b="1" dirty="0">
              <a:solidFill>
                <a:schemeClr val="tx1"/>
              </a:solidFill>
            </a:endParaRPr>
          </a:p>
        </p:txBody>
      </p:sp>
      <p:sp>
        <p:nvSpPr>
          <p:cNvPr id="11" name="Rectangle 3"/>
          <p:cNvSpPr txBox="1">
            <a:spLocks noChangeArrowheads="1"/>
          </p:cNvSpPr>
          <p:nvPr/>
        </p:nvSpPr>
        <p:spPr bwMode="auto">
          <a:xfrm>
            <a:off x="350837" y="3738563"/>
            <a:ext cx="8412163" cy="13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defTabSz="914400" eaLnBrk="1" hangingPunct="1">
              <a:spcBef>
                <a:spcPts val="700"/>
              </a:spcBef>
              <a:buClr>
                <a:schemeClr val="accent2"/>
              </a:buClr>
              <a:buSzPct val="60000"/>
              <a:buFont typeface="Monotype Sorts" charset="2"/>
              <a:buNone/>
            </a:pPr>
            <a:r>
              <a:rPr lang="en-US" sz="2000" dirty="0"/>
              <a:t>When you examine the relationship between two variables, a new question becomes important: </a:t>
            </a:r>
            <a:r>
              <a:rPr lang="en-US" sz="2000" i="1" dirty="0"/>
              <a:t>Is your purpose simply to explore the nature of the relationship, or do you wish to show that one of the variables can explain variation in the other?</a:t>
            </a:r>
          </a:p>
        </p:txBody>
      </p:sp>
      <p:sp>
        <p:nvSpPr>
          <p:cNvPr id="10" name="TextBox 9"/>
          <p:cNvSpPr txBox="1">
            <a:spLocks noChangeArrowheads="1"/>
          </p:cNvSpPr>
          <p:nvPr/>
        </p:nvSpPr>
        <p:spPr bwMode="auto">
          <a:xfrm>
            <a:off x="1008060" y="5173141"/>
            <a:ext cx="7097713" cy="126206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ct val="0"/>
              </a:spcBef>
              <a:buClrTx/>
              <a:buSzTx/>
              <a:buFontTx/>
              <a:buNone/>
              <a:defRPr/>
            </a:pPr>
            <a:endParaRPr lang="en-US" altLang="en-US" sz="600" b="1" u="sng" dirty="0">
              <a:solidFill>
                <a:schemeClr val="tx1"/>
              </a:solidFill>
            </a:endParaRPr>
          </a:p>
          <a:p>
            <a:pPr algn="just" eaLnBrk="1" hangingPunct="1">
              <a:spcBef>
                <a:spcPct val="0"/>
              </a:spcBef>
              <a:buClrTx/>
              <a:buSzTx/>
              <a:buFontTx/>
              <a:buNone/>
              <a:defRPr/>
            </a:pPr>
            <a:r>
              <a:rPr lang="en-US" altLang="en-US" dirty="0">
                <a:solidFill>
                  <a:schemeClr val="tx1"/>
                </a:solidFill>
              </a:rPr>
              <a:t>A </a:t>
            </a:r>
            <a:r>
              <a:rPr lang="en-US" altLang="en-US" b="1" dirty="0">
                <a:solidFill>
                  <a:schemeClr val="tx1"/>
                </a:solidFill>
              </a:rPr>
              <a:t>response variable</a:t>
            </a:r>
            <a:r>
              <a:rPr lang="en-US" altLang="en-US" dirty="0">
                <a:solidFill>
                  <a:schemeClr val="tx1"/>
                </a:solidFill>
              </a:rPr>
              <a:t> measures an outcome of a study. An </a:t>
            </a:r>
            <a:r>
              <a:rPr lang="en-US" altLang="en-US" b="1" dirty="0">
                <a:solidFill>
                  <a:schemeClr val="tx1"/>
                </a:solidFill>
              </a:rPr>
              <a:t>explanatory variable</a:t>
            </a:r>
            <a:r>
              <a:rPr lang="en-US" altLang="en-US" dirty="0">
                <a:solidFill>
                  <a:schemeClr val="tx1"/>
                </a:solidFill>
              </a:rPr>
              <a:t> explains or causes changes in the response variable.</a:t>
            </a:r>
          </a:p>
          <a:p>
            <a:pPr eaLnBrk="1" hangingPunct="1">
              <a:spcBef>
                <a:spcPct val="0"/>
              </a:spcBef>
              <a:buClrTx/>
              <a:buSzTx/>
              <a:buFontTx/>
              <a:buNone/>
              <a:defRPr/>
            </a:pPr>
            <a:endParaRPr lang="en-US" altLang="en-US" sz="1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accel="50000" decel="5000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ppt_x"/>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73779"/>
                </a:solidFill>
              </a:rPr>
              <a:t>Key Characteristics of a Data Set</a:t>
            </a:r>
            <a:endParaRPr lang="en-US" dirty="0"/>
          </a:p>
        </p:txBody>
      </p:sp>
      <p:sp>
        <p:nvSpPr>
          <p:cNvPr id="27650" name="Slide Number Placeholder 1"/>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B02DD394-B032-4B51-979B-E61BD9084CA6}" type="slidenum">
              <a:rPr lang="en-US">
                <a:solidFill>
                  <a:schemeClr val="accent1"/>
                </a:solidFill>
              </a:rPr>
              <a:pPr/>
              <a:t>5</a:t>
            </a:fld>
            <a:endParaRPr lang="en-US">
              <a:solidFill>
                <a:schemeClr val="accent1"/>
              </a:solidFill>
            </a:endParaRPr>
          </a:p>
        </p:txBody>
      </p:sp>
      <p:sp>
        <p:nvSpPr>
          <p:cNvPr id="5" name="TextBox 4"/>
          <p:cNvSpPr txBox="1">
            <a:spLocks noChangeArrowheads="1"/>
          </p:cNvSpPr>
          <p:nvPr/>
        </p:nvSpPr>
        <p:spPr bwMode="auto">
          <a:xfrm>
            <a:off x="555624" y="1332707"/>
            <a:ext cx="820737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000" dirty="0"/>
              <a:t>Certain characteristics of a data set are key to exploring the relationship between two variables. These should include the following: </a:t>
            </a:r>
          </a:p>
        </p:txBody>
      </p:sp>
      <p:sp>
        <p:nvSpPr>
          <p:cNvPr id="6" name="TextBox 5"/>
          <p:cNvSpPr txBox="1"/>
          <p:nvPr/>
        </p:nvSpPr>
        <p:spPr>
          <a:xfrm>
            <a:off x="555625" y="2441755"/>
            <a:ext cx="8032750" cy="3000821"/>
          </a:xfrm>
          <a:prstGeom prst="rect">
            <a:avLst/>
          </a:prstGeom>
          <a:solidFill>
            <a:srgbClr val="FFD780"/>
          </a:solidFill>
        </p:spPr>
        <p:txBody>
          <a:bodyPr>
            <a:spAutoFit/>
          </a:bodyPr>
          <a:lstStyle/>
          <a:p>
            <a:pPr marL="285750" indent="-285750" eaLnBrk="1" hangingPunct="1">
              <a:lnSpc>
                <a:spcPct val="150000"/>
              </a:lnSpc>
              <a:buFont typeface="Wingdings" panose="05000000000000000000" pitchFamily="2" charset="2"/>
              <a:buChar char="ü"/>
              <a:defRPr/>
            </a:pPr>
            <a:r>
              <a:rPr lang="en-US" b="1" dirty="0">
                <a:latin typeface="Arial" charset="0"/>
                <a:ea typeface="ＭＳ Ｐゴシック" pitchFamily="-65" charset="-128"/>
              </a:rPr>
              <a:t>Cases:</a:t>
            </a:r>
            <a:r>
              <a:rPr lang="en-US" dirty="0">
                <a:latin typeface="Arial" charset="0"/>
                <a:ea typeface="ＭＳ Ｐゴシック" pitchFamily="-65" charset="-128"/>
              </a:rPr>
              <a:t> Identify the cases and how many there are in the data set.  </a:t>
            </a:r>
          </a:p>
          <a:p>
            <a:pPr marL="285750" indent="-285750" eaLnBrk="1" hangingPunct="1">
              <a:lnSpc>
                <a:spcPct val="150000"/>
              </a:lnSpc>
              <a:buFont typeface="Wingdings" panose="05000000000000000000" pitchFamily="2" charset="2"/>
              <a:buChar char="ü"/>
              <a:defRPr/>
            </a:pPr>
            <a:r>
              <a:rPr lang="en-US" b="1" dirty="0">
                <a:latin typeface="Arial" charset="0"/>
                <a:ea typeface="ＭＳ Ｐゴシック" pitchFamily="-65" charset="-128"/>
              </a:rPr>
              <a:t>Categorical or quantitative: </a:t>
            </a:r>
            <a:r>
              <a:rPr lang="en-US" dirty="0">
                <a:latin typeface="Arial" charset="0"/>
                <a:ea typeface="ＭＳ Ｐゴシック" pitchFamily="-65" charset="-128"/>
              </a:rPr>
              <a:t>Classify each variable as categorical or quantitative.</a:t>
            </a:r>
          </a:p>
          <a:p>
            <a:pPr marL="285750" indent="-285750" eaLnBrk="1" hangingPunct="1">
              <a:lnSpc>
                <a:spcPct val="150000"/>
              </a:lnSpc>
              <a:buFont typeface="Wingdings" panose="05000000000000000000" pitchFamily="2" charset="2"/>
              <a:buChar char="ü"/>
              <a:defRPr/>
            </a:pPr>
            <a:r>
              <a:rPr lang="en-US" b="1" dirty="0">
                <a:latin typeface="Arial" charset="0"/>
                <a:ea typeface="ＭＳ Ｐゴシック" pitchFamily="-65" charset="-128"/>
              </a:rPr>
              <a:t>Values: </a:t>
            </a:r>
            <a:r>
              <a:rPr lang="en-US" dirty="0">
                <a:latin typeface="Arial" charset="0"/>
                <a:ea typeface="ＭＳ Ｐゴシック" pitchFamily="-65" charset="-128"/>
              </a:rPr>
              <a:t>Identify the possible values for each variable.</a:t>
            </a:r>
          </a:p>
          <a:p>
            <a:pPr marL="285750" indent="-285750" eaLnBrk="1" hangingPunct="1">
              <a:lnSpc>
                <a:spcPct val="150000"/>
              </a:lnSpc>
              <a:buFont typeface="Wingdings" panose="05000000000000000000" pitchFamily="2" charset="2"/>
              <a:buChar char="ü"/>
              <a:defRPr/>
            </a:pPr>
            <a:r>
              <a:rPr lang="en-US" b="1" dirty="0">
                <a:latin typeface="Arial" charset="0"/>
                <a:ea typeface="ＭＳ Ｐゴシック" pitchFamily="-65" charset="-128"/>
              </a:rPr>
              <a:t>Explanatory or response</a:t>
            </a:r>
            <a:r>
              <a:rPr lang="en-US" dirty="0">
                <a:latin typeface="Arial" charset="0"/>
                <a:ea typeface="ＭＳ Ｐゴシック" pitchFamily="-65" charset="-128"/>
              </a:rPr>
              <a:t>: If appropriate, classify each variable as explanatory or response.</a:t>
            </a:r>
          </a:p>
          <a:p>
            <a:pPr marL="285750" indent="-285750" eaLnBrk="1" hangingPunct="1">
              <a:lnSpc>
                <a:spcPct val="150000"/>
              </a:lnSpc>
              <a:buFont typeface="Wingdings" panose="05000000000000000000" pitchFamily="2" charset="2"/>
              <a:buChar char="ü"/>
              <a:defRPr/>
            </a:pPr>
            <a:r>
              <a:rPr lang="en-US" b="1" dirty="0">
                <a:latin typeface="Arial" charset="0"/>
                <a:ea typeface="ＭＳ Ｐゴシック" pitchFamily="-65" charset="-128"/>
              </a:rPr>
              <a:t>Label:</a:t>
            </a:r>
            <a:r>
              <a:rPr lang="en-US" dirty="0">
                <a:latin typeface="Arial" charset="0"/>
                <a:ea typeface="ＭＳ Ｐゴシック" pitchFamily="-65" charset="-128"/>
              </a:rPr>
              <a:t> Identify what is used as a label variable if one is present.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 calcmode="lin" valueType="num">
                                      <p:cBhvr additive="base">
                                        <p:cTn id="12"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 calcmode="lin" valueType="num">
                                      <p:cBhvr additive="base">
                                        <p:cTn id="18"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 calcmode="lin" valueType="num">
                                      <p:cBhvr additive="base">
                                        <p:cTn id="24"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 calcmode="lin" valueType="num">
                                      <p:cBhvr additive="base">
                                        <p:cTn id="30"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6">
                                            <p:txEl>
                                              <p:pRg st="4" end="4"/>
                                            </p:txEl>
                                          </p:spTgt>
                                        </p:tgtEl>
                                        <p:attrNameLst>
                                          <p:attrName>style.visibility</p:attrName>
                                        </p:attrNameLst>
                                      </p:cBhvr>
                                      <p:to>
                                        <p:strVal val="visible"/>
                                      </p:to>
                                    </p:set>
                                    <p:anim calcmode="lin" valueType="num">
                                      <p:cBhvr additive="base">
                                        <p:cTn id="36"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2"/>
          <p:cNvSpPr>
            <a:spLocks noGrp="1"/>
          </p:cNvSpPr>
          <p:nvPr>
            <p:ph type="title"/>
          </p:nvPr>
        </p:nvSpPr>
        <p:spPr>
          <a:xfrm>
            <a:off x="457200" y="653143"/>
            <a:ext cx="6508750" cy="1063690"/>
          </a:xfrm>
        </p:spPr>
        <p:txBody>
          <a:bodyPr anchor="t"/>
          <a:lstStyle/>
          <a:p>
            <a:pPr eaLnBrk="1" hangingPunct="1"/>
            <a:r>
              <a:rPr lang="en-US" b="1" dirty="0">
                <a:solidFill>
                  <a:schemeClr val="accent1"/>
                </a:solidFill>
                <a:ea typeface="ＭＳ Ｐゴシック" pitchFamily="34" charset="-128"/>
              </a:rPr>
              <a:t>2.2 Scatterplots</a:t>
            </a:r>
          </a:p>
        </p:txBody>
      </p:sp>
      <p:sp>
        <p:nvSpPr>
          <p:cNvPr id="28675" name="Text Placeholder 3"/>
          <p:cNvSpPr>
            <a:spLocks noGrp="1"/>
          </p:cNvSpPr>
          <p:nvPr>
            <p:ph idx="1"/>
          </p:nvPr>
        </p:nvSpPr>
        <p:spPr>
          <a:xfrm>
            <a:off x="457200" y="2247124"/>
            <a:ext cx="6508750" cy="3089988"/>
          </a:xfrm>
        </p:spPr>
        <p:txBody>
          <a:bodyPr/>
          <a:lstStyle/>
          <a:p>
            <a:pPr eaLnBrk="1" hangingPunct="1">
              <a:buFont typeface="Wingdings" pitchFamily="2" charset="2"/>
              <a:buChar char="§"/>
            </a:pPr>
            <a:r>
              <a:rPr lang="en-US" sz="2400" dirty="0">
                <a:solidFill>
                  <a:schemeClr val="accent1"/>
                </a:solidFill>
                <a:ea typeface="ＭＳ Ｐゴシック" pitchFamily="34" charset="-128"/>
              </a:rPr>
              <a:t>Scatterplots</a:t>
            </a:r>
          </a:p>
          <a:p>
            <a:pPr eaLnBrk="1" hangingPunct="1">
              <a:buFont typeface="Wingdings" pitchFamily="2" charset="2"/>
              <a:buChar char="§"/>
            </a:pPr>
            <a:r>
              <a:rPr lang="en-US" sz="2400" dirty="0">
                <a:solidFill>
                  <a:schemeClr val="accent1"/>
                </a:solidFill>
                <a:ea typeface="ＭＳ Ｐゴシック" pitchFamily="34" charset="-128"/>
              </a:rPr>
              <a:t>Interpreting scatterplots</a:t>
            </a:r>
          </a:p>
          <a:p>
            <a:pPr eaLnBrk="1" hangingPunct="1">
              <a:buFont typeface="Wingdings" pitchFamily="2" charset="2"/>
              <a:buChar char="§"/>
            </a:pPr>
            <a:r>
              <a:rPr lang="en-US" sz="2400" dirty="0">
                <a:solidFill>
                  <a:schemeClr val="accent1"/>
                </a:solidFill>
                <a:ea typeface="ＭＳ Ｐゴシック" pitchFamily="34" charset="-128"/>
              </a:rPr>
              <a:t>Log transformation</a:t>
            </a:r>
          </a:p>
          <a:p>
            <a:pPr eaLnBrk="1" hangingPunct="1">
              <a:buFont typeface="Wingdings" pitchFamily="2" charset="2"/>
              <a:buChar char="§"/>
            </a:pPr>
            <a:r>
              <a:rPr lang="en-US" sz="2400" dirty="0">
                <a:solidFill>
                  <a:schemeClr val="accent1"/>
                </a:solidFill>
                <a:ea typeface="ＭＳ Ｐゴシック" pitchFamily="34" charset="-128"/>
              </a:rPr>
              <a:t>Categorical variables in scatterplots</a:t>
            </a:r>
          </a:p>
        </p:txBody>
      </p:sp>
      <p:sp>
        <p:nvSpPr>
          <p:cNvPr id="28676"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8F6BAC35-D244-4BA9-9994-C973F6A3B247}" type="slidenum">
              <a:rPr lang="en-US">
                <a:solidFill>
                  <a:schemeClr val="accent1"/>
                </a:solidFill>
              </a:rPr>
              <a:pPr/>
              <a:t>6</a:t>
            </a:fld>
            <a:endParaRPr lang="en-US">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Scatterplot 1</a:t>
            </a:r>
            <a:endParaRPr lang="en-US" dirty="0"/>
          </a:p>
        </p:txBody>
      </p:sp>
      <p:sp>
        <p:nvSpPr>
          <p:cNvPr id="29698" name="Slide Number Placeholder 7"/>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262E0A95-7E27-4C31-95C5-AC382ECB7574}" type="slidenum">
              <a:rPr lang="en-US">
                <a:solidFill>
                  <a:schemeClr val="accent1"/>
                </a:solidFill>
              </a:rPr>
              <a:pPr/>
              <a:t>7</a:t>
            </a:fld>
            <a:endParaRPr lang="en-US">
              <a:solidFill>
                <a:schemeClr val="accent1"/>
              </a:solidFill>
            </a:endParaRPr>
          </a:p>
        </p:txBody>
      </p:sp>
      <p:sp>
        <p:nvSpPr>
          <p:cNvPr id="29699" name="Rectangle 3"/>
          <p:cNvSpPr txBox="1">
            <a:spLocks noChangeArrowheads="1"/>
          </p:cNvSpPr>
          <p:nvPr/>
        </p:nvSpPr>
        <p:spPr bwMode="auto">
          <a:xfrm>
            <a:off x="365918" y="1050926"/>
            <a:ext cx="8412163" cy="724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defTabSz="914400" eaLnBrk="1" hangingPunct="1">
              <a:spcBef>
                <a:spcPts val="700"/>
              </a:spcBef>
              <a:buClr>
                <a:schemeClr val="accent2"/>
              </a:buClr>
              <a:buSzPct val="60000"/>
              <a:buFont typeface="Monotype Sorts" charset="2"/>
              <a:buNone/>
            </a:pPr>
            <a:r>
              <a:rPr lang="en-US" sz="2000" dirty="0"/>
              <a:t>The most useful graph for displaying the relationship between two quantitative variables is a </a:t>
            </a:r>
            <a:r>
              <a:rPr lang="en-US" sz="2000" b="1" dirty="0"/>
              <a:t>scatterplot.</a:t>
            </a:r>
            <a:r>
              <a:rPr lang="en-US" sz="2000" dirty="0"/>
              <a:t> </a:t>
            </a:r>
          </a:p>
        </p:txBody>
      </p:sp>
      <p:sp>
        <p:nvSpPr>
          <p:cNvPr id="13" name="TextBox 12"/>
          <p:cNvSpPr txBox="1">
            <a:spLocks noChangeArrowheads="1"/>
          </p:cNvSpPr>
          <p:nvPr/>
        </p:nvSpPr>
        <p:spPr bwMode="auto">
          <a:xfrm>
            <a:off x="511967" y="2002312"/>
            <a:ext cx="7744622" cy="1878013"/>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endParaRPr lang="en-US" sz="600" b="1" u="sng" dirty="0"/>
          </a:p>
          <a:p>
            <a:pPr eaLnBrk="1" hangingPunct="1">
              <a:defRPr/>
            </a:pPr>
            <a:r>
              <a:rPr lang="en-US" sz="2000" dirty="0"/>
              <a:t>A </a:t>
            </a:r>
            <a:r>
              <a:rPr lang="en-US" sz="2000" b="1" dirty="0"/>
              <a:t>scatterplot</a:t>
            </a:r>
            <a:r>
              <a:rPr lang="en-US" sz="2000" dirty="0"/>
              <a:t> shows the relationship between two quantitative variables measured on the same cases. </a:t>
            </a:r>
          </a:p>
          <a:p>
            <a:pPr marL="342900" indent="-342900" algn="just" eaLnBrk="1" hangingPunct="1">
              <a:buFont typeface="Arial" panose="020B0604020202020204" pitchFamily="34" charset="0"/>
              <a:buChar char="•"/>
              <a:defRPr/>
            </a:pPr>
            <a:r>
              <a:rPr lang="en-US" sz="2000" dirty="0"/>
              <a:t>The values of one variable appear on the horizontal axis, and the values of the other variable appear on the vertical axis. </a:t>
            </a:r>
          </a:p>
          <a:p>
            <a:pPr marL="342900" indent="-342900" eaLnBrk="1" hangingPunct="1">
              <a:buFont typeface="Arial" panose="020B0604020202020204" pitchFamily="34" charset="0"/>
              <a:buChar char="•"/>
              <a:defRPr/>
            </a:pPr>
            <a:r>
              <a:rPr lang="en-US" sz="2000" dirty="0"/>
              <a:t>Each case corresponds to one point on the graph.</a:t>
            </a:r>
          </a:p>
          <a:p>
            <a:pPr eaLnBrk="1" hangingPunct="1">
              <a:defRPr/>
            </a:pPr>
            <a:endParaRPr lang="en-US" sz="1000" b="1" dirty="0"/>
          </a:p>
        </p:txBody>
      </p:sp>
      <p:sp>
        <p:nvSpPr>
          <p:cNvPr id="15" name="TextBox 14"/>
          <p:cNvSpPr txBox="1">
            <a:spLocks noChangeArrowheads="1"/>
          </p:cNvSpPr>
          <p:nvPr/>
        </p:nvSpPr>
        <p:spPr bwMode="auto">
          <a:xfrm>
            <a:off x="1743309" y="4313237"/>
            <a:ext cx="5422900" cy="461665"/>
          </a:xfrm>
          <a:prstGeom prst="rect">
            <a:avLst/>
          </a:prstGeom>
          <a:solidFill>
            <a:srgbClr val="D6DFE8"/>
          </a:solidFill>
          <a:ln w="10000">
            <a:solidFill>
              <a:schemeClr val="accent2"/>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2400" b="1" dirty="0">
                <a:latin typeface="+mn-lt"/>
                <a:ea typeface="ＭＳ Ｐゴシック" charset="-128"/>
                <a:cs typeface="ＭＳ Ｐゴシック" charset="-128"/>
              </a:rPr>
              <a:t>How to Make a Scatterplot</a:t>
            </a:r>
          </a:p>
        </p:txBody>
      </p:sp>
      <p:sp>
        <p:nvSpPr>
          <p:cNvPr id="14" name="TextBox 13"/>
          <p:cNvSpPr txBox="1">
            <a:spLocks noChangeArrowheads="1"/>
          </p:cNvSpPr>
          <p:nvPr/>
        </p:nvSpPr>
        <p:spPr bwMode="auto">
          <a:xfrm>
            <a:off x="1023144" y="4908233"/>
            <a:ext cx="7374407" cy="179546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marL="342900" indent="-342900"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algn="just" eaLnBrk="1" hangingPunct="1">
              <a:lnSpc>
                <a:spcPct val="80000"/>
              </a:lnSpc>
              <a:spcAft>
                <a:spcPts val="1800"/>
              </a:spcAft>
              <a:buFontTx/>
              <a:buAutoNum type="arabicPeriod"/>
              <a:defRPr/>
            </a:pPr>
            <a:r>
              <a:rPr lang="en-US" altLang="en-US" sz="2000" dirty="0">
                <a:solidFill>
                  <a:srgbClr val="000000"/>
                </a:solidFill>
              </a:rPr>
              <a:t>Decide which variable should go on each axis. If a distinction exists, plot the explanatory variable on the </a:t>
            </a:r>
            <a:r>
              <a:rPr lang="en-US" altLang="en-US" sz="2000" i="1" dirty="0">
                <a:solidFill>
                  <a:srgbClr val="000000"/>
                </a:solidFill>
              </a:rPr>
              <a:t>x </a:t>
            </a:r>
            <a:r>
              <a:rPr lang="en-US" altLang="en-US" sz="2000" dirty="0">
                <a:solidFill>
                  <a:srgbClr val="000000"/>
                </a:solidFill>
              </a:rPr>
              <a:t>axis and the response variable on the </a:t>
            </a:r>
            <a:r>
              <a:rPr lang="en-US" altLang="en-US" sz="2000" i="1" dirty="0">
                <a:solidFill>
                  <a:srgbClr val="000000"/>
                </a:solidFill>
              </a:rPr>
              <a:t>y </a:t>
            </a:r>
            <a:r>
              <a:rPr lang="en-US" altLang="en-US" sz="2000" dirty="0">
                <a:solidFill>
                  <a:srgbClr val="000000"/>
                </a:solidFill>
              </a:rPr>
              <a:t>axis.</a:t>
            </a:r>
          </a:p>
          <a:p>
            <a:pPr eaLnBrk="1" hangingPunct="1">
              <a:lnSpc>
                <a:spcPct val="80000"/>
              </a:lnSpc>
              <a:spcAft>
                <a:spcPts val="1800"/>
              </a:spcAft>
              <a:buFontTx/>
              <a:buAutoNum type="arabicPeriod"/>
              <a:defRPr/>
            </a:pPr>
            <a:r>
              <a:rPr lang="en-US" altLang="en-US" sz="2000" dirty="0">
                <a:solidFill>
                  <a:srgbClr val="000000"/>
                </a:solidFill>
              </a:rPr>
              <a:t>Label and scale the axes appropriately.</a:t>
            </a:r>
          </a:p>
          <a:p>
            <a:pPr eaLnBrk="1" hangingPunct="1">
              <a:lnSpc>
                <a:spcPct val="80000"/>
              </a:lnSpc>
              <a:spcAft>
                <a:spcPts val="1800"/>
              </a:spcAft>
              <a:buFontTx/>
              <a:buAutoNum type="arabicPeriod"/>
              <a:defRPr/>
            </a:pPr>
            <a:r>
              <a:rPr lang="en-US" altLang="en-US" sz="2000" dirty="0">
                <a:solidFill>
                  <a:srgbClr val="000000"/>
                </a:solidFill>
              </a:rPr>
              <a:t>Plot individual data values.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1000"/>
                                        <p:tgtEl>
                                          <p:spTgt spid="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4">
                                            <p:bg/>
                                          </p:spTgt>
                                        </p:tgtEl>
                                        <p:attrNameLst>
                                          <p:attrName>style.visibility</p:attrName>
                                        </p:attrNameLst>
                                      </p:cBhvr>
                                      <p:to>
                                        <p:strVal val="visible"/>
                                      </p:to>
                                    </p:set>
                                    <p:animEffect transition="in" filter="fade">
                                      <p:cBhvr>
                                        <p:cTn id="15" dur="1000"/>
                                        <p:tgtEl>
                                          <p:spTgt spid="14">
                                            <p:bg/>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xEl>
                                              <p:pRg st="0" end="0"/>
                                            </p:txEl>
                                          </p:spTgt>
                                        </p:tgtEl>
                                        <p:attrNameLst>
                                          <p:attrName>style.visibility</p:attrName>
                                        </p:attrNameLst>
                                      </p:cBhvr>
                                      <p:to>
                                        <p:strVal val="visible"/>
                                      </p:to>
                                    </p:set>
                                    <p:animEffect transition="in" filter="fade">
                                      <p:cBhvr>
                                        <p:cTn id="20" dur="1000"/>
                                        <p:tgtEl>
                                          <p:spTgt spid="14">
                                            <p:txEl>
                                              <p:pRg st="0" end="0"/>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4">
                                            <p:txEl>
                                              <p:pRg st="1" end="1"/>
                                            </p:txEl>
                                          </p:spTgt>
                                        </p:tgtEl>
                                        <p:attrNameLst>
                                          <p:attrName>style.visibility</p:attrName>
                                        </p:attrNameLst>
                                      </p:cBhvr>
                                      <p:to>
                                        <p:strVal val="visible"/>
                                      </p:to>
                                    </p:set>
                                    <p:animEffect transition="in" filter="fade">
                                      <p:cBhvr>
                                        <p:cTn id="25" dur="1000"/>
                                        <p:tgtEl>
                                          <p:spTgt spid="14">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4">
                                            <p:txEl>
                                              <p:pRg st="2" end="2"/>
                                            </p:txEl>
                                          </p:spTgt>
                                        </p:tgtEl>
                                        <p:attrNameLst>
                                          <p:attrName>style.visibility</p:attrName>
                                        </p:attrNameLst>
                                      </p:cBhvr>
                                      <p:to>
                                        <p:strVal val="visible"/>
                                      </p:to>
                                    </p:set>
                                    <p:animEffect transition="in" filter="fade">
                                      <p:cBhvr>
                                        <p:cTn id="30" dur="10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build="p" bldLvl="5"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1"/>
                </a:solidFill>
              </a:rPr>
              <a:t>Scatterplot 2</a:t>
            </a:r>
            <a:endParaRPr lang="en-US" dirty="0"/>
          </a:p>
        </p:txBody>
      </p:sp>
      <p:sp>
        <p:nvSpPr>
          <p:cNvPr id="30723"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025447DF-8259-4C86-BB74-84373ADD3EFE}" type="slidenum">
              <a:rPr lang="en-US" sz="1200">
                <a:solidFill>
                  <a:schemeClr val="accent1"/>
                </a:solidFill>
              </a:rPr>
              <a:pPr>
                <a:lnSpc>
                  <a:spcPct val="80000"/>
                </a:lnSpc>
              </a:pPr>
              <a:t>8</a:t>
            </a:fld>
            <a:endParaRPr lang="en-US" sz="1200">
              <a:solidFill>
                <a:schemeClr val="accent1"/>
              </a:solidFill>
            </a:endParaRPr>
          </a:p>
        </p:txBody>
      </p:sp>
      <p:sp>
        <p:nvSpPr>
          <p:cNvPr id="2" name="Rectangle 3"/>
          <p:cNvSpPr txBox="1">
            <a:spLocks noChangeArrowheads="1"/>
          </p:cNvSpPr>
          <p:nvPr/>
        </p:nvSpPr>
        <p:spPr bwMode="auto">
          <a:xfrm>
            <a:off x="92364" y="1044575"/>
            <a:ext cx="8627773" cy="709625"/>
          </a:xfrm>
          <a:prstGeom prst="rect">
            <a:avLst/>
          </a:prstGeom>
          <a:noFill/>
          <a:ln>
            <a:noFill/>
          </a:ln>
        </p:spPr>
        <p:txBody>
          <a:bodyPr/>
          <a:lstStyle>
            <a:lvl1pPr marL="24161750" indent="-24161750" eaLnBrk="0" hangingPunct="0">
              <a:defRPr sz="2400">
                <a:solidFill>
                  <a:schemeClr val="tx1"/>
                </a:solidFill>
                <a:latin typeface="Arial" charset="0"/>
                <a:ea typeface="ＭＳ Ｐゴシック" pitchFamily="-84" charset="-128"/>
              </a:defRPr>
            </a:lvl1pPr>
            <a:lvl2pPr marL="461963" indent="-4763" eaLnBrk="0" hangingPunct="0">
              <a:defRPr sz="2400">
                <a:solidFill>
                  <a:schemeClr val="tx1"/>
                </a:solidFill>
                <a:latin typeface="Arial" charset="0"/>
                <a:ea typeface="ＭＳ Ｐゴシック" pitchFamily="-84" charset="-128"/>
              </a:defRPr>
            </a:lvl2pPr>
            <a:lvl3pPr eaLnBrk="0" hangingPunct="0">
              <a:defRPr sz="2400">
                <a:solidFill>
                  <a:schemeClr val="tx1"/>
                </a:solidFill>
                <a:latin typeface="Arial" charset="0"/>
                <a:ea typeface="ＭＳ Ｐゴシック" pitchFamily="-84" charset="-128"/>
              </a:defRPr>
            </a:lvl3pPr>
            <a:lvl4pPr eaLnBrk="0" hangingPunct="0">
              <a:defRPr sz="2400">
                <a:solidFill>
                  <a:schemeClr val="tx1"/>
                </a:solidFill>
                <a:latin typeface="Arial" charset="0"/>
                <a:ea typeface="ＭＳ Ｐゴシック" pitchFamily="-84" charset="-128"/>
              </a:defRPr>
            </a:lvl4pPr>
            <a:lvl5pPr eaLnBrk="0" hangingPunct="0">
              <a:defRPr sz="2400">
                <a:solidFill>
                  <a:schemeClr val="tx1"/>
                </a:solidFill>
                <a:latin typeface="Arial" charset="0"/>
                <a:ea typeface="ＭＳ Ｐゴシック" pitchFamily="-84" charset="-128"/>
              </a:defRPr>
            </a:lvl5pPr>
            <a:lvl6pPr marL="457200" eaLnBrk="0" fontAlgn="base" hangingPunct="0">
              <a:spcBef>
                <a:spcPct val="0"/>
              </a:spcBef>
              <a:spcAft>
                <a:spcPct val="0"/>
              </a:spcAft>
              <a:defRPr sz="2400">
                <a:solidFill>
                  <a:schemeClr val="tx1"/>
                </a:solidFill>
                <a:latin typeface="Arial" charset="0"/>
                <a:ea typeface="ＭＳ Ｐゴシック" pitchFamily="-84" charset="-128"/>
              </a:defRPr>
            </a:lvl6pPr>
            <a:lvl7pPr marL="914400" eaLnBrk="0" fontAlgn="base" hangingPunct="0">
              <a:spcBef>
                <a:spcPct val="0"/>
              </a:spcBef>
              <a:spcAft>
                <a:spcPct val="0"/>
              </a:spcAft>
              <a:defRPr sz="2400">
                <a:solidFill>
                  <a:schemeClr val="tx1"/>
                </a:solidFill>
                <a:latin typeface="Arial" charset="0"/>
                <a:ea typeface="ＭＳ Ｐゴシック" pitchFamily="-84" charset="-128"/>
              </a:defRPr>
            </a:lvl7pPr>
            <a:lvl8pPr marL="1371600" eaLnBrk="0" fontAlgn="base" hangingPunct="0">
              <a:spcBef>
                <a:spcPct val="0"/>
              </a:spcBef>
              <a:spcAft>
                <a:spcPct val="0"/>
              </a:spcAft>
              <a:defRPr sz="2400">
                <a:solidFill>
                  <a:schemeClr val="tx1"/>
                </a:solidFill>
                <a:latin typeface="Arial" charset="0"/>
                <a:ea typeface="ＭＳ Ｐゴシック" pitchFamily="-84" charset="-128"/>
              </a:defRPr>
            </a:lvl8pPr>
            <a:lvl9pPr marL="1828800" eaLnBrk="0" fontAlgn="base" hangingPunct="0">
              <a:spcBef>
                <a:spcPct val="0"/>
              </a:spcBef>
              <a:spcAft>
                <a:spcPct val="0"/>
              </a:spcAft>
              <a:defRPr sz="2400">
                <a:solidFill>
                  <a:schemeClr val="tx1"/>
                </a:solidFill>
                <a:latin typeface="Arial" charset="0"/>
                <a:ea typeface="ＭＳ Ｐゴシック" pitchFamily="-84" charset="-128"/>
              </a:defRPr>
            </a:lvl9pPr>
          </a:lstStyle>
          <a:p>
            <a:pPr marL="92075" lvl="1" eaLnBrk="1" hangingPunct="1">
              <a:buFont typeface="Wingdings" pitchFamily="-84" charset="2"/>
              <a:buNone/>
              <a:defRPr/>
            </a:pPr>
            <a:r>
              <a:rPr lang="en-US" sz="2000" b="1" u="sng" dirty="0">
                <a:solidFill>
                  <a:schemeClr val="accent1"/>
                </a:solidFill>
                <a:cs typeface="Arial" charset="0"/>
              </a:rPr>
              <a:t>Example</a:t>
            </a:r>
            <a:r>
              <a:rPr lang="en-US" sz="2000" b="1" dirty="0">
                <a:solidFill>
                  <a:schemeClr val="tx2">
                    <a:lumMod val="50000"/>
                  </a:schemeClr>
                </a:solidFill>
                <a:cs typeface="Arial" charset="0"/>
              </a:rPr>
              <a:t>:</a:t>
            </a:r>
            <a:r>
              <a:rPr lang="en-US" sz="2000" dirty="0">
                <a:cs typeface="Arial" charset="0"/>
              </a:rPr>
              <a:t> </a:t>
            </a:r>
            <a:r>
              <a:rPr lang="en-US" sz="2000" dirty="0">
                <a:solidFill>
                  <a:srgbClr val="000000"/>
                </a:solidFill>
              </a:rPr>
              <a:t>Make a scatterplot of the relationship between price and rating for laundry detergents.</a:t>
            </a:r>
          </a:p>
        </p:txBody>
      </p:sp>
      <p:graphicFrame>
        <p:nvGraphicFramePr>
          <p:cNvPr id="11" name="Table 10" descr="Price per load (cents), Rating"/>
          <p:cNvGraphicFramePr>
            <a:graphicFrameLocks noGrp="1"/>
          </p:cNvGraphicFramePr>
          <p:nvPr>
            <p:extLst>
              <p:ext uri="{D42A27DB-BD31-4B8C-83A1-F6EECF244321}">
                <p14:modId xmlns:p14="http://schemas.microsoft.com/office/powerpoint/2010/main" val="233548297"/>
              </p:ext>
            </p:extLst>
          </p:nvPr>
        </p:nvGraphicFramePr>
        <p:xfrm>
          <a:off x="1025525" y="1884363"/>
          <a:ext cx="7694613" cy="635000"/>
        </p:xfrm>
        <a:graphic>
          <a:graphicData uri="http://schemas.openxmlformats.org/drawingml/2006/table">
            <a:tbl>
              <a:tblPr firstRow="1"/>
              <a:tblGrid>
                <a:gridCol w="2068513">
                  <a:extLst>
                    <a:ext uri="{9D8B030D-6E8A-4147-A177-3AD203B41FA5}">
                      <a16:colId xmlns:a16="http://schemas.microsoft.com/office/drawing/2014/main" xmlns="" val="20000"/>
                    </a:ext>
                  </a:extLst>
                </a:gridCol>
                <a:gridCol w="703262">
                  <a:extLst>
                    <a:ext uri="{9D8B030D-6E8A-4147-A177-3AD203B41FA5}">
                      <a16:colId xmlns:a16="http://schemas.microsoft.com/office/drawing/2014/main" xmlns="" val="20001"/>
                    </a:ext>
                  </a:extLst>
                </a:gridCol>
                <a:gridCol w="703263">
                  <a:extLst>
                    <a:ext uri="{9D8B030D-6E8A-4147-A177-3AD203B41FA5}">
                      <a16:colId xmlns:a16="http://schemas.microsoft.com/office/drawing/2014/main" xmlns="" val="20002"/>
                    </a:ext>
                  </a:extLst>
                </a:gridCol>
                <a:gridCol w="703262">
                  <a:extLst>
                    <a:ext uri="{9D8B030D-6E8A-4147-A177-3AD203B41FA5}">
                      <a16:colId xmlns:a16="http://schemas.microsoft.com/office/drawing/2014/main" xmlns="" val="20003"/>
                    </a:ext>
                  </a:extLst>
                </a:gridCol>
                <a:gridCol w="703263">
                  <a:extLst>
                    <a:ext uri="{9D8B030D-6E8A-4147-A177-3AD203B41FA5}">
                      <a16:colId xmlns:a16="http://schemas.microsoft.com/office/drawing/2014/main" xmlns="" val="20004"/>
                    </a:ext>
                  </a:extLst>
                </a:gridCol>
                <a:gridCol w="703262">
                  <a:extLst>
                    <a:ext uri="{9D8B030D-6E8A-4147-A177-3AD203B41FA5}">
                      <a16:colId xmlns:a16="http://schemas.microsoft.com/office/drawing/2014/main" xmlns="" val="20005"/>
                    </a:ext>
                  </a:extLst>
                </a:gridCol>
                <a:gridCol w="703263">
                  <a:extLst>
                    <a:ext uri="{9D8B030D-6E8A-4147-A177-3AD203B41FA5}">
                      <a16:colId xmlns:a16="http://schemas.microsoft.com/office/drawing/2014/main" xmlns="" val="20006"/>
                    </a:ext>
                  </a:extLst>
                </a:gridCol>
                <a:gridCol w="703262">
                  <a:extLst>
                    <a:ext uri="{9D8B030D-6E8A-4147-A177-3AD203B41FA5}">
                      <a16:colId xmlns:a16="http://schemas.microsoft.com/office/drawing/2014/main" xmlns="" val="20007"/>
                    </a:ext>
                  </a:extLst>
                </a:gridCol>
                <a:gridCol w="703263">
                  <a:extLst>
                    <a:ext uri="{9D8B030D-6E8A-4147-A177-3AD203B41FA5}">
                      <a16:colId xmlns:a16="http://schemas.microsoft.com/office/drawing/2014/main" xmlns="" val="20008"/>
                    </a:ext>
                  </a:extLst>
                </a:gridCol>
              </a:tblGrid>
              <a:tr h="317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ea typeface="ＭＳ Ｐゴシック" pitchFamily="34" charset="-128"/>
                        </a:rPr>
                        <a:t>Price per load (cents)</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14</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14</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14</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ea typeface="ＭＳ Ｐゴシック" pitchFamily="34" charset="-128"/>
                        </a:rPr>
                        <a:t>12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10</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8</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ea typeface="ＭＳ Ｐゴシック" pitchFamily="34" charset="-128"/>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ea typeface="ＭＳ Ｐゴシック" pitchFamily="34" charset="-128"/>
                        </a:rPr>
                        <a:t>12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xmlns="" val="10000"/>
                  </a:ext>
                </a:extLst>
              </a:tr>
              <a:tr h="3175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Arial" pitchFamily="34" charset="0"/>
                          <a:ea typeface="ＭＳ Ｐゴシック" pitchFamily="34" charset="-128"/>
                        </a:rPr>
                        <a:t>Rating</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60</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ea typeface="ＭＳ Ｐゴシック" pitchFamily="34" charset="-128"/>
                        </a:rPr>
                        <a:t>58</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ea typeface="ＭＳ Ｐゴシック" pitchFamily="34" charset="-128"/>
                        </a:rPr>
                        <a:t>60</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53</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ea typeface="ＭＳ Ｐゴシック" pitchFamily="34" charset="-128"/>
                        </a:rPr>
                        <a:t>57</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41</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a:ln>
                            <a:noFill/>
                          </a:ln>
                          <a:solidFill>
                            <a:schemeClr val="tx1"/>
                          </a:solidFill>
                          <a:effectLst/>
                          <a:latin typeface="Arial" pitchFamily="34" charset="0"/>
                          <a:ea typeface="ＭＳ Ｐゴシック" pitchFamily="34" charset="-128"/>
                        </a:rPr>
                        <a:t>…</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Arial" pitchFamily="34" charset="0"/>
                          <a:ea typeface="ＭＳ Ｐゴシック" pitchFamily="34" charset="-128"/>
                        </a:rPr>
                        <a:t>32</a:t>
                      </a:r>
                    </a:p>
                  </a:txBody>
                  <a:tcPr marT="45734" marB="45734"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xmlns="" val="10001"/>
                  </a:ext>
                </a:extLst>
              </a:tr>
            </a:tbl>
          </a:graphicData>
        </a:graphic>
      </p:graphicFrame>
      <p:sp>
        <p:nvSpPr>
          <p:cNvPr id="30" name="Rectangle 29" descr="already described"/>
          <p:cNvSpPr>
            <a:spLocks noChangeArrowheads="1"/>
          </p:cNvSpPr>
          <p:nvPr/>
        </p:nvSpPr>
        <p:spPr bwMode="auto">
          <a:xfrm>
            <a:off x="3094038" y="1880574"/>
            <a:ext cx="709612" cy="638790"/>
          </a:xfrm>
          <a:prstGeom prst="rect">
            <a:avLst/>
          </a:prstGeom>
          <a:solidFill>
            <a:srgbClr val="D2DA7A">
              <a:alpha val="30980"/>
            </a:srgbClr>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endParaRPr lang="en-US" altLang="en-US" sz="1800">
              <a:solidFill>
                <a:srgbClr val="FFFFFF"/>
              </a:solidFill>
            </a:endParaRPr>
          </a:p>
        </p:txBody>
      </p:sp>
      <p:sp>
        <p:nvSpPr>
          <p:cNvPr id="27" name="Curved Right Arrow 26" descr="An arrow points from the first row of the table to the horizontal axis."/>
          <p:cNvSpPr/>
          <p:nvPr/>
        </p:nvSpPr>
        <p:spPr>
          <a:xfrm rot="20227827">
            <a:off x="1321318" y="1914137"/>
            <a:ext cx="803950" cy="5148122"/>
          </a:xfrm>
          <a:prstGeom prst="curvedRightArrow">
            <a:avLst>
              <a:gd name="adj1" fmla="val 25000"/>
              <a:gd name="adj2" fmla="val 50000"/>
              <a:gd name="adj3" fmla="val 43559"/>
            </a:avLst>
          </a:prstGeom>
        </p:spPr>
        <p:style>
          <a:lnRef idx="0">
            <a:schemeClr val="accent5"/>
          </a:lnRef>
          <a:fillRef idx="3">
            <a:schemeClr val="accent5"/>
          </a:fillRef>
          <a:effectRef idx="3">
            <a:schemeClr val="accent5"/>
          </a:effectRef>
          <a:fontRef idx="minor">
            <a:schemeClr val="lt1"/>
          </a:fontRef>
        </p:style>
        <p:txBody>
          <a:bodyPr anchor="ctr"/>
          <a:lstStyle/>
          <a:p>
            <a:pPr algn="ctr" eaLnBrk="1" hangingPunct="1">
              <a:defRPr/>
            </a:pPr>
            <a:endParaRPr lang="en-US" dirty="0">
              <a:solidFill>
                <a:schemeClr val="tx1"/>
              </a:solidFill>
            </a:endParaRPr>
          </a:p>
        </p:txBody>
      </p:sp>
      <p:sp>
        <p:nvSpPr>
          <p:cNvPr id="28" name="Curved Right Arrow 27" descr="An arrow points from the second row of the table to the vertical axis."/>
          <p:cNvSpPr/>
          <p:nvPr/>
        </p:nvSpPr>
        <p:spPr>
          <a:xfrm rot="20597505">
            <a:off x="1171150" y="2326830"/>
            <a:ext cx="857576" cy="2583197"/>
          </a:xfrm>
          <a:prstGeom prst="curvedRightArrow">
            <a:avLst>
              <a:gd name="adj1" fmla="val 4213"/>
              <a:gd name="adj2" fmla="val 50000"/>
              <a:gd name="adj3" fmla="val 0"/>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solidFill>
                <a:schemeClr val="tx1"/>
              </a:solidFill>
            </a:endParaRPr>
          </a:p>
        </p:txBody>
      </p:sp>
      <p:pic>
        <p:nvPicPr>
          <p:cNvPr id="24" name="Picture 3" descr="The graph plots ranking on the vertical axis, ranging from 20 to 90 in increments of 10, versus price per load in cents on the horizontal axis, ranging from 0 to 60 in increments of 10. Dozens of points are plotted high and wide in a loose cluster that rises very slightly from approximately (8, 30) to (30, 70). An outlying point is plotted at (50, 59). A majority of the points are clustered between 5 and 30 on the horizontal axis and 25 and 85 on the horizontal axis."/>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403566" y="2684523"/>
            <a:ext cx="4271554" cy="3417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019430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childTnLst>
                                </p:cTn>
                              </p:par>
                              <p:par>
                                <p:cTn id="8" presetID="10" presetClass="entr" presetSubtype="0"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10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Interpreting Scatterplots 1</a:t>
            </a:r>
            <a:endParaRPr lang="en-US" dirty="0"/>
          </a:p>
        </p:txBody>
      </p:sp>
      <p:sp>
        <p:nvSpPr>
          <p:cNvPr id="31746"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170F1E48-24C1-469C-BB30-D1DF886C9E42}" type="slidenum">
              <a:rPr lang="en-US" sz="1200">
                <a:solidFill>
                  <a:schemeClr val="accent1"/>
                </a:solidFill>
              </a:rPr>
              <a:pPr>
                <a:lnSpc>
                  <a:spcPct val="80000"/>
                </a:lnSpc>
              </a:pPr>
              <a:t>9</a:t>
            </a:fld>
            <a:endParaRPr lang="en-US" sz="1200">
              <a:solidFill>
                <a:schemeClr val="accent1"/>
              </a:solidFill>
            </a:endParaRPr>
          </a:p>
        </p:txBody>
      </p:sp>
      <p:sp>
        <p:nvSpPr>
          <p:cNvPr id="31747" name="Rectangle 1"/>
          <p:cNvSpPr>
            <a:spLocks noChangeArrowheads="1"/>
          </p:cNvSpPr>
          <p:nvPr/>
        </p:nvSpPr>
        <p:spPr bwMode="auto">
          <a:xfrm>
            <a:off x="174624" y="1289050"/>
            <a:ext cx="858837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lvl="1" algn="just" eaLnBrk="1" hangingPunct="1">
              <a:buFont typeface="Wingdings" pitchFamily="2" charset="2"/>
              <a:buNone/>
              <a:tabLst>
                <a:tab pos="517525" algn="l"/>
              </a:tabLst>
            </a:pPr>
            <a:r>
              <a:rPr lang="en-US" sz="2000" dirty="0">
                <a:solidFill>
                  <a:srgbClr val="000000"/>
                </a:solidFill>
              </a:rPr>
              <a:t>To interpret a scatterplot, follow the basic strategy of data analysis from Chapter 1. Look for patterns and important departures from those patterns.</a:t>
            </a:r>
          </a:p>
        </p:txBody>
      </p:sp>
      <p:sp>
        <p:nvSpPr>
          <p:cNvPr id="11" name="TextBox 10"/>
          <p:cNvSpPr txBox="1">
            <a:spLocks noChangeArrowheads="1"/>
          </p:cNvSpPr>
          <p:nvPr/>
        </p:nvSpPr>
        <p:spPr bwMode="auto">
          <a:xfrm>
            <a:off x="1735137" y="2501582"/>
            <a:ext cx="5422900" cy="40011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2000" b="1" dirty="0">
                <a:solidFill>
                  <a:srgbClr val="000000"/>
                </a:solidFill>
                <a:latin typeface="+mn-lt"/>
                <a:ea typeface="ＭＳ Ｐゴシック" charset="-128"/>
                <a:cs typeface="ＭＳ Ｐゴシック" charset="-128"/>
              </a:rPr>
              <a:t>How to Examine a Scatterplot</a:t>
            </a:r>
          </a:p>
        </p:txBody>
      </p:sp>
      <p:sp>
        <p:nvSpPr>
          <p:cNvPr id="10" name="TextBox 9"/>
          <p:cNvSpPr txBox="1">
            <a:spLocks noChangeArrowheads="1"/>
          </p:cNvSpPr>
          <p:nvPr/>
        </p:nvSpPr>
        <p:spPr bwMode="auto">
          <a:xfrm>
            <a:off x="758825" y="3290888"/>
            <a:ext cx="7699375" cy="2093912"/>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600"/>
              </a:spcAft>
              <a:defRPr/>
            </a:pPr>
            <a:r>
              <a:rPr lang="en-US" altLang="en-US" sz="2000" dirty="0"/>
              <a:t>As in any graph of data, look for the </a:t>
            </a:r>
            <a:r>
              <a:rPr lang="en-US" altLang="en-US" sz="2000" i="1" dirty="0"/>
              <a:t>overall pattern</a:t>
            </a:r>
            <a:r>
              <a:rPr lang="en-US" altLang="en-US" sz="2000" dirty="0"/>
              <a:t> and for striking </a:t>
            </a:r>
            <a:r>
              <a:rPr lang="en-US" altLang="en-US" sz="2000" i="1" dirty="0"/>
              <a:t>deviations </a:t>
            </a:r>
            <a:r>
              <a:rPr lang="en-US" altLang="en-US" sz="2000" dirty="0"/>
              <a:t>from that pattern.</a:t>
            </a:r>
          </a:p>
          <a:p>
            <a:pPr marL="233363" indent="-233363" algn="just" eaLnBrk="1" hangingPunct="1">
              <a:spcAft>
                <a:spcPts val="600"/>
              </a:spcAft>
              <a:buClr>
                <a:schemeClr val="accent1"/>
              </a:buClr>
              <a:buFont typeface="Wingdings" pitchFamily="-65" charset="2"/>
              <a:buChar char="§"/>
              <a:defRPr/>
            </a:pPr>
            <a:r>
              <a:rPr lang="en-US" altLang="en-US" sz="2000" dirty="0"/>
              <a:t>You can describe the overall pattern of a scatterplot by the </a:t>
            </a:r>
            <a:r>
              <a:rPr lang="en-US" altLang="en-US" sz="2000" b="1" dirty="0"/>
              <a:t>form</a:t>
            </a:r>
            <a:r>
              <a:rPr lang="en-US" altLang="en-US" sz="2000" dirty="0"/>
              <a:t>, </a:t>
            </a:r>
            <a:r>
              <a:rPr lang="en-US" altLang="en-US" sz="2000" b="1" dirty="0"/>
              <a:t>direction</a:t>
            </a:r>
            <a:r>
              <a:rPr lang="en-US" altLang="en-US" sz="2000" dirty="0"/>
              <a:t>, and </a:t>
            </a:r>
            <a:r>
              <a:rPr lang="en-US" altLang="en-US" sz="2000" b="1" dirty="0"/>
              <a:t>strength</a:t>
            </a:r>
            <a:r>
              <a:rPr lang="en-US" altLang="en-US" sz="2000" dirty="0"/>
              <a:t> of the relationship.</a:t>
            </a:r>
          </a:p>
          <a:p>
            <a:pPr marL="233363" indent="-233363" algn="just" eaLnBrk="1" hangingPunct="1">
              <a:spcAft>
                <a:spcPts val="600"/>
              </a:spcAft>
              <a:buClr>
                <a:schemeClr val="accent1"/>
              </a:buClr>
              <a:buFont typeface="Wingdings" pitchFamily="-65" charset="2"/>
              <a:buChar char="§"/>
              <a:defRPr/>
            </a:pPr>
            <a:r>
              <a:rPr lang="en-US" altLang="en-US" sz="2000" dirty="0"/>
              <a:t>An important kind of departure is an </a:t>
            </a:r>
            <a:r>
              <a:rPr lang="en-US" altLang="en-US" sz="2000" b="1" dirty="0"/>
              <a:t>outlier</a:t>
            </a:r>
            <a:r>
              <a:rPr lang="en-US" altLang="en-US" sz="2000" dirty="0"/>
              <a:t>, an individual value that falls outside the overall pattern of the relationship.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bg/>
                                          </p:spTgt>
                                        </p:tgtEl>
                                        <p:attrNameLst>
                                          <p:attrName>style.visibility</p:attrName>
                                        </p:attrNameLst>
                                      </p:cBhvr>
                                      <p:to>
                                        <p:strVal val="visible"/>
                                      </p:to>
                                    </p:set>
                                    <p:animEffect transition="in" filter="fade">
                                      <p:cBhvr>
                                        <p:cTn id="10" dur="1000"/>
                                        <p:tgtEl>
                                          <p:spTgt spid="10">
                                            <p:bg/>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animEffect transition="in" filter="fade">
                                      <p:cBhvr>
                                        <p:cTn id="15" dur="1000"/>
                                        <p:tgtEl>
                                          <p:spTgt spid="10">
                                            <p:txEl>
                                              <p:pRg st="0" end="0"/>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0">
                                            <p:txEl>
                                              <p:pRg st="1" end="1"/>
                                            </p:txEl>
                                          </p:spTgt>
                                        </p:tgtEl>
                                        <p:attrNameLst>
                                          <p:attrName>style.visibility</p:attrName>
                                        </p:attrNameLst>
                                      </p:cBhvr>
                                      <p:to>
                                        <p:strVal val="visible"/>
                                      </p:to>
                                    </p:set>
                                    <p:animEffect transition="in" filter="fade">
                                      <p:cBhvr>
                                        <p:cTn id="20" dur="1000"/>
                                        <p:tgtEl>
                                          <p:spTgt spid="10">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0">
                                            <p:txEl>
                                              <p:pRg st="2" end="2"/>
                                            </p:txEl>
                                          </p:spTgt>
                                        </p:tgtEl>
                                        <p:attrNameLst>
                                          <p:attrName>style.visibility</p:attrName>
                                        </p:attrNameLst>
                                      </p:cBhvr>
                                      <p:to>
                                        <p:strVal val="visible"/>
                                      </p:to>
                                    </p:set>
                                    <p:animEffect transition="in" filter="fade">
                                      <p:cBhvr>
                                        <p:cTn id="25" dur="10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5" animBg="1"/>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Interpreting Scatterplots 2</a:t>
            </a:r>
            <a:endParaRPr lang="en-US" dirty="0"/>
          </a:p>
        </p:txBody>
      </p:sp>
      <p:sp>
        <p:nvSpPr>
          <p:cNvPr id="32770"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20DF943D-B4D6-4E27-A358-9A4A7FAF9CF6}" type="slidenum">
              <a:rPr lang="en-US" sz="1200">
                <a:solidFill>
                  <a:schemeClr val="accent1"/>
                </a:solidFill>
              </a:rPr>
              <a:pPr>
                <a:lnSpc>
                  <a:spcPct val="80000"/>
                </a:lnSpc>
              </a:pPr>
              <a:t>10</a:t>
            </a:fld>
            <a:endParaRPr lang="en-US" sz="1200">
              <a:solidFill>
                <a:schemeClr val="accent1"/>
              </a:solidFill>
            </a:endParaRPr>
          </a:p>
        </p:txBody>
      </p:sp>
      <p:pic>
        <p:nvPicPr>
          <p:cNvPr id="32773" name="Picture 4" descr="The image on the slide displays two scatter plots. The first scatter plot represents a positive linear relationship, and the second represents a negative linear relationship. In the positive linear relationship scatter plot dots are plotted indicating 45 degrees angle with the axis (X and Y) in increasing order. In negative linear relationship scatter plot dots are plotted indicating 45 degrees angle with the axis (X and Y) in decreasing order."/>
          <p:cNvPicPr>
            <a:picLocks noChangeAspect="1" noChangeArrowheads="1"/>
          </p:cNvPicPr>
          <p:nvPr/>
        </p:nvPicPr>
        <p:blipFill rotWithShape="1">
          <a:blip r:embed="rId2">
            <a:extLst>
              <a:ext uri="{28A0092B-C50C-407E-A947-70E740481C1C}">
                <a14:useLocalDpi xmlns:a14="http://schemas.microsoft.com/office/drawing/2010/main" val="0"/>
              </a:ext>
            </a:extLst>
          </a:blip>
          <a:srcRect l="-51" t="29606" r="-19" b="223"/>
          <a:stretch/>
        </p:blipFill>
        <p:spPr bwMode="auto">
          <a:xfrm>
            <a:off x="1135864" y="3919855"/>
            <a:ext cx="6853222" cy="2793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a:spLocks noChangeArrowheads="1"/>
          </p:cNvSpPr>
          <p:nvPr/>
        </p:nvSpPr>
        <p:spPr bwMode="auto">
          <a:xfrm>
            <a:off x="174624" y="1244600"/>
            <a:ext cx="8359776" cy="2362200"/>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ct val="0"/>
              </a:spcBef>
              <a:buClrTx/>
              <a:buSzTx/>
              <a:buFontTx/>
              <a:buNone/>
              <a:defRPr/>
            </a:pPr>
            <a:endParaRPr lang="en-US" altLang="en-US" sz="700" b="1" u="sng" dirty="0">
              <a:solidFill>
                <a:schemeClr val="tx1"/>
              </a:solidFill>
            </a:endParaRPr>
          </a:p>
          <a:p>
            <a:pPr algn="just" eaLnBrk="1" hangingPunct="1">
              <a:spcBef>
                <a:spcPct val="0"/>
              </a:spcBef>
              <a:spcAft>
                <a:spcPts val="1200"/>
              </a:spcAft>
              <a:buClrTx/>
              <a:buSzTx/>
              <a:buFontTx/>
              <a:buNone/>
              <a:defRPr/>
            </a:pPr>
            <a:r>
              <a:rPr lang="en-US" altLang="en-US" dirty="0">
                <a:solidFill>
                  <a:schemeClr val="tx1"/>
                </a:solidFill>
              </a:rPr>
              <a:t>Two variables are </a:t>
            </a:r>
            <a:r>
              <a:rPr lang="en-US" altLang="en-US" b="1" dirty="0">
                <a:solidFill>
                  <a:schemeClr val="tx1"/>
                </a:solidFill>
              </a:rPr>
              <a:t>positively associated</a:t>
            </a:r>
            <a:r>
              <a:rPr lang="en-US" altLang="en-US" dirty="0">
                <a:solidFill>
                  <a:schemeClr val="tx1"/>
                </a:solidFill>
              </a:rPr>
              <a:t> when above-average values of one tend to accompany above-average values of the other and when below-average values also tend to occur together.</a:t>
            </a:r>
          </a:p>
          <a:p>
            <a:pPr algn="just" eaLnBrk="1" hangingPunct="1">
              <a:spcBef>
                <a:spcPct val="0"/>
              </a:spcBef>
              <a:buClrTx/>
              <a:buSzTx/>
              <a:buFontTx/>
              <a:buNone/>
              <a:defRPr/>
            </a:pPr>
            <a:r>
              <a:rPr lang="en-US" altLang="en-US" dirty="0">
                <a:solidFill>
                  <a:schemeClr val="tx1"/>
                </a:solidFill>
              </a:rPr>
              <a:t>Two variables are </a:t>
            </a:r>
            <a:r>
              <a:rPr lang="en-US" altLang="en-US" b="1" dirty="0">
                <a:solidFill>
                  <a:schemeClr val="tx1"/>
                </a:solidFill>
              </a:rPr>
              <a:t>negatively associated</a:t>
            </a:r>
            <a:r>
              <a:rPr lang="en-US" altLang="en-US" dirty="0">
                <a:solidFill>
                  <a:schemeClr val="tx1"/>
                </a:solidFill>
              </a:rPr>
              <a:t> when above-average values of one tend to accompany below-average values of the other, and vice versa.</a:t>
            </a:r>
            <a:endParaRPr lang="en-US" altLang="en-US" sz="2400" dirty="0">
              <a:solidFill>
                <a:schemeClr val="tx1"/>
              </a:solidFill>
            </a:endParaRPr>
          </a:p>
          <a:p>
            <a:pPr eaLnBrk="1" hangingPunct="1">
              <a:spcBef>
                <a:spcPct val="0"/>
              </a:spcBef>
              <a:buClrTx/>
              <a:buSzTx/>
              <a:buFontTx/>
              <a:buNone/>
              <a:defRPr/>
            </a:pPr>
            <a:endParaRPr lang="en-US" altLang="en-US" sz="1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chemeClr val="accent1"/>
                </a:solidFill>
              </a:rPr>
              <a:t>Interpreting Scatterplots 3</a:t>
            </a:r>
            <a:endParaRPr lang="en-US" dirty="0"/>
          </a:p>
        </p:txBody>
      </p:sp>
      <p:sp>
        <p:nvSpPr>
          <p:cNvPr id="33794"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AF518DB6-32D4-4482-8162-9DBF907DC377}" type="slidenum">
              <a:rPr lang="en-US" sz="1200">
                <a:solidFill>
                  <a:schemeClr val="accent1"/>
                </a:solidFill>
              </a:rPr>
              <a:pPr>
                <a:lnSpc>
                  <a:spcPct val="80000"/>
                </a:lnSpc>
              </a:pPr>
              <a:t>11</a:t>
            </a:fld>
            <a:endParaRPr lang="en-US" sz="1200">
              <a:solidFill>
                <a:schemeClr val="accent1"/>
              </a:solidFill>
            </a:endParaRPr>
          </a:p>
        </p:txBody>
      </p:sp>
      <p:pic>
        <p:nvPicPr>
          <p:cNvPr id="33795" name="Picture 10" descr="A scatterplot of laundry detergent ratings."/>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123406" y="1260796"/>
            <a:ext cx="4136571" cy="3253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ight Arrow 15" descr="The diagonal regression line is highlighted."/>
          <p:cNvSpPr/>
          <p:nvPr/>
        </p:nvSpPr>
        <p:spPr>
          <a:xfrm rot="21142470">
            <a:off x="1850108" y="2621578"/>
            <a:ext cx="3065572" cy="307135"/>
          </a:xfrm>
          <a:prstGeom prst="rightArrow">
            <a:avLst/>
          </a:prstGeom>
        </p:spPr>
        <p:style>
          <a:lnRef idx="0">
            <a:schemeClr val="accent6"/>
          </a:lnRef>
          <a:fillRef idx="3">
            <a:schemeClr val="accent6"/>
          </a:fillRef>
          <a:effectRef idx="3">
            <a:schemeClr val="accent6"/>
          </a:effectRef>
          <a:fontRef idx="minor">
            <a:schemeClr val="lt1"/>
          </a:fontRef>
        </p:style>
        <p:txBody>
          <a:bodyPr anchor="ctr"/>
          <a:lstStyle/>
          <a:p>
            <a:pPr algn="ctr" eaLnBrk="1" hangingPunct="1">
              <a:defRPr/>
            </a:pPr>
            <a:endParaRPr lang="en-US" dirty="0"/>
          </a:p>
        </p:txBody>
      </p:sp>
      <p:grpSp>
        <p:nvGrpSpPr>
          <p:cNvPr id="5" name="Group 22" descr="already described"/>
          <p:cNvGrpSpPr>
            <a:grpSpLocks/>
          </p:cNvGrpSpPr>
          <p:nvPr/>
        </p:nvGrpSpPr>
        <p:grpSpPr bwMode="auto">
          <a:xfrm>
            <a:off x="5948363" y="1401763"/>
            <a:ext cx="3195637" cy="2995612"/>
            <a:chOff x="5998370" y="2401501"/>
            <a:chExt cx="3383532" cy="2993494"/>
          </a:xfrm>
        </p:grpSpPr>
        <p:sp>
          <p:nvSpPr>
            <p:cNvPr id="19" name="TextBox 18"/>
            <p:cNvSpPr txBox="1"/>
            <p:nvPr/>
          </p:nvSpPr>
          <p:spPr>
            <a:xfrm>
              <a:off x="7105076" y="2401501"/>
              <a:ext cx="1227980" cy="338554"/>
            </a:xfrm>
            <a:prstGeom prst="rect">
              <a:avLst/>
            </a:prstGeom>
          </p:spPr>
          <p:style>
            <a:lnRef idx="0">
              <a:schemeClr val="accent3"/>
            </a:lnRef>
            <a:fillRef idx="3">
              <a:schemeClr val="accent3"/>
            </a:fillRef>
            <a:effectRef idx="3">
              <a:schemeClr val="accent3"/>
            </a:effectRef>
            <a:fontRef idx="minor">
              <a:schemeClr val="lt1"/>
            </a:fontRef>
          </p:style>
          <p:txBody>
            <a:bodyPr>
              <a:spAutoFit/>
            </a:bodyPr>
            <a:lstStyle/>
            <a:p>
              <a:pPr algn="ctr" eaLnBrk="1" hangingPunct="1">
                <a:defRPr/>
              </a:pPr>
              <a:r>
                <a:rPr lang="en-US" sz="1600" b="1" dirty="0">
                  <a:solidFill>
                    <a:schemeClr val="tx1"/>
                  </a:solidFill>
                </a:rPr>
                <a:t>Outlier</a:t>
              </a:r>
            </a:p>
          </p:txBody>
        </p:sp>
        <p:sp>
          <p:nvSpPr>
            <p:cNvPr id="33804" name="TextBox 15"/>
            <p:cNvSpPr txBox="1">
              <a:spLocks noChangeArrowheads="1"/>
            </p:cNvSpPr>
            <p:nvPr/>
          </p:nvSpPr>
          <p:spPr bwMode="auto">
            <a:xfrm>
              <a:off x="5998370" y="2842805"/>
              <a:ext cx="3383532" cy="2552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eaLnBrk="1" hangingPunct="1">
                <a:buFont typeface="Wingdings" pitchFamily="2" charset="2"/>
                <a:buChar char="ü"/>
              </a:pPr>
              <a:r>
                <a:rPr lang="en-US" sz="2000" dirty="0"/>
                <a:t>There is one possible outlier: The detergent with the price per load of 56 cents seems to have a lower rating than one might expect if higher price means a higher-rated detergent. </a:t>
              </a:r>
            </a:p>
          </p:txBody>
        </p:sp>
      </p:grpSp>
      <p:grpSp>
        <p:nvGrpSpPr>
          <p:cNvPr id="4" name="Group 21" descr="already described"/>
          <p:cNvGrpSpPr>
            <a:grpSpLocks/>
          </p:cNvGrpSpPr>
          <p:nvPr/>
        </p:nvGrpSpPr>
        <p:grpSpPr bwMode="auto">
          <a:xfrm>
            <a:off x="2043113" y="4740273"/>
            <a:ext cx="2058987" cy="736602"/>
            <a:chOff x="2328332" y="4811523"/>
            <a:chExt cx="1965737" cy="734146"/>
          </a:xfrm>
        </p:grpSpPr>
        <p:sp>
          <p:nvSpPr>
            <p:cNvPr id="14" name="Rectangle 13"/>
            <p:cNvSpPr>
              <a:spLocks noChangeArrowheads="1"/>
            </p:cNvSpPr>
            <p:nvPr/>
          </p:nvSpPr>
          <p:spPr bwMode="auto">
            <a:xfrm>
              <a:off x="2328332" y="5207077"/>
              <a:ext cx="1965737" cy="338592"/>
            </a:xfrm>
            <a:prstGeom prst="rect">
              <a:avLst/>
            </a:prstGeom>
            <a:solidFill>
              <a:srgbClr val="DFCEC9"/>
            </a:solidFill>
            <a:ln w="10000">
              <a:solidFill>
                <a:srgbClr val="B88472"/>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endParaRPr lang="en-US" altLang="en-US" sz="1800">
                <a:solidFill>
                  <a:srgbClr val="000000"/>
                </a:solidFill>
              </a:endParaRPr>
            </a:p>
          </p:txBody>
        </p:sp>
        <p:sp>
          <p:nvSpPr>
            <p:cNvPr id="15" name="TextBox 14"/>
            <p:cNvSpPr txBox="1">
              <a:spLocks noChangeArrowheads="1"/>
            </p:cNvSpPr>
            <p:nvPr/>
          </p:nvSpPr>
          <p:spPr bwMode="auto">
            <a:xfrm>
              <a:off x="2776951" y="4811523"/>
              <a:ext cx="1083656" cy="338592"/>
            </a:xfrm>
            <a:prstGeom prst="rect">
              <a:avLst/>
            </a:prstGeom>
            <a:solidFill>
              <a:srgbClr val="DFCEC9"/>
            </a:solidFill>
            <a:ln w="10000">
              <a:solidFill>
                <a:srgbClr val="B88472"/>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r>
                <a:rPr lang="en-US" altLang="en-US" sz="1600" b="1" dirty="0">
                  <a:solidFill>
                    <a:schemeClr val="tx1"/>
                  </a:solidFill>
                </a:rPr>
                <a:t>Strength</a:t>
              </a:r>
              <a:endParaRPr lang="en-US" altLang="en-US" sz="1400" b="1" dirty="0">
                <a:solidFill>
                  <a:schemeClr val="tx1"/>
                </a:solidFill>
              </a:endParaRPr>
            </a:p>
          </p:txBody>
        </p:sp>
      </p:grpSp>
      <p:grpSp>
        <p:nvGrpSpPr>
          <p:cNvPr id="2" name="Group 20" descr="already described"/>
          <p:cNvGrpSpPr>
            <a:grpSpLocks/>
          </p:cNvGrpSpPr>
          <p:nvPr/>
        </p:nvGrpSpPr>
        <p:grpSpPr bwMode="auto">
          <a:xfrm>
            <a:off x="3973512" y="4740275"/>
            <a:ext cx="1095378" cy="733425"/>
            <a:chOff x="4665676" y="4811525"/>
            <a:chExt cx="1095092" cy="734142"/>
          </a:xfrm>
        </p:grpSpPr>
        <p:sp>
          <p:nvSpPr>
            <p:cNvPr id="8" name="Rectangle 7"/>
            <p:cNvSpPr>
              <a:spLocks noChangeArrowheads="1"/>
            </p:cNvSpPr>
            <p:nvPr/>
          </p:nvSpPr>
          <p:spPr bwMode="auto">
            <a:xfrm>
              <a:off x="4857714" y="5207199"/>
              <a:ext cx="903054" cy="338468"/>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endParaRPr lang="en-US" altLang="en-US" sz="1800">
                <a:solidFill>
                  <a:srgbClr val="000000"/>
                </a:solidFill>
              </a:endParaRPr>
            </a:p>
          </p:txBody>
        </p:sp>
        <p:sp>
          <p:nvSpPr>
            <p:cNvPr id="9" name="TextBox 8"/>
            <p:cNvSpPr txBox="1">
              <a:spLocks noChangeArrowheads="1"/>
            </p:cNvSpPr>
            <p:nvPr/>
          </p:nvSpPr>
          <p:spPr bwMode="auto">
            <a:xfrm>
              <a:off x="4665676" y="4811525"/>
              <a:ext cx="1095090" cy="338469"/>
            </a:xfrm>
            <a:prstGeom prst="rect">
              <a:avLst/>
            </a:prstGeom>
            <a:solidFill>
              <a:srgbClr val="EAEDCB"/>
            </a:solidFill>
            <a:ln w="10000">
              <a:solidFill>
                <a:srgbClr val="D2DA7A"/>
              </a:solidFill>
              <a:miter lim="800000"/>
              <a:headEnd/>
              <a:tailEnd/>
            </a:ln>
            <a:effectLst>
              <a:outerShdw blurRad="38100" dist="30000" dir="5400000" rotWithShape="0">
                <a:srgbClr val="808080">
                  <a:alpha val="45000"/>
                </a:srgbClr>
              </a:outerShdw>
            </a:effectLst>
          </p:spPr>
          <p:txBody>
            <a:bodyPr>
              <a:spAutoFit/>
            </a:bodyPr>
            <a:lstStyle/>
            <a:p>
              <a:pPr algn="ctr" eaLnBrk="1" hangingPunct="1">
                <a:defRPr/>
              </a:pPr>
              <a:r>
                <a:rPr lang="en-US" sz="1600" b="1" dirty="0">
                  <a:latin typeface="+mn-lt"/>
                  <a:ea typeface="+mn-ea"/>
                </a:rPr>
                <a:t>Direction</a:t>
              </a:r>
            </a:p>
          </p:txBody>
        </p:sp>
      </p:grpSp>
      <p:grpSp>
        <p:nvGrpSpPr>
          <p:cNvPr id="3" name="Group 19" descr="already described"/>
          <p:cNvGrpSpPr>
            <a:grpSpLocks/>
          </p:cNvGrpSpPr>
          <p:nvPr/>
        </p:nvGrpSpPr>
        <p:grpSpPr bwMode="auto">
          <a:xfrm>
            <a:off x="5132387" y="4743450"/>
            <a:ext cx="1093786" cy="733425"/>
            <a:chOff x="6086734" y="4811527"/>
            <a:chExt cx="1103835" cy="734142"/>
          </a:xfrm>
        </p:grpSpPr>
        <p:sp>
          <p:nvSpPr>
            <p:cNvPr id="11" name="Rectangle 10"/>
            <p:cNvSpPr>
              <a:spLocks noChangeArrowheads="1"/>
            </p:cNvSpPr>
            <p:nvPr/>
          </p:nvSpPr>
          <p:spPr bwMode="auto">
            <a:xfrm>
              <a:off x="6086734" y="5207201"/>
              <a:ext cx="664064" cy="338468"/>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endParaRPr lang="en-US" altLang="en-US" sz="1800">
                <a:solidFill>
                  <a:srgbClr val="000000"/>
                </a:solidFill>
              </a:endParaRPr>
            </a:p>
          </p:txBody>
        </p:sp>
        <p:sp>
          <p:nvSpPr>
            <p:cNvPr id="12" name="TextBox 11"/>
            <p:cNvSpPr txBox="1">
              <a:spLocks noChangeArrowheads="1"/>
            </p:cNvSpPr>
            <p:nvPr/>
          </p:nvSpPr>
          <p:spPr bwMode="auto">
            <a:xfrm>
              <a:off x="6311025" y="4811527"/>
              <a:ext cx="879544" cy="338470"/>
            </a:xfrm>
            <a:prstGeom prst="rect">
              <a:avLst/>
            </a:prstGeom>
            <a:solidFill>
              <a:srgbClr val="C9CCD8"/>
            </a:solidFill>
            <a:ln w="10000">
              <a:solidFill>
                <a:schemeClr val="accent1"/>
              </a:solidFill>
              <a:miter lim="800000"/>
              <a:headEnd/>
              <a:tailEnd/>
            </a:ln>
            <a:effectLst>
              <a:outerShdw blurRad="38100" dist="30000" dir="5400000" rotWithShape="0">
                <a:srgbClr val="808080">
                  <a:alpha val="45000"/>
                </a:srgbClr>
              </a:outerShdw>
            </a:effectLst>
          </p:spPr>
          <p:txBody>
            <a:bodyPr>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r>
                <a:rPr lang="en-US" altLang="en-US" sz="1600" b="1" dirty="0">
                  <a:solidFill>
                    <a:schemeClr val="tx1"/>
                  </a:solidFill>
                </a:rPr>
                <a:t>Form</a:t>
              </a:r>
              <a:endParaRPr lang="en-US" altLang="en-US" sz="1400" b="1" dirty="0">
                <a:solidFill>
                  <a:schemeClr val="tx1"/>
                </a:solidFill>
              </a:endParaRPr>
            </a:p>
          </p:txBody>
        </p:sp>
      </p:grpSp>
      <p:sp>
        <p:nvSpPr>
          <p:cNvPr id="21" name="TextBox 20"/>
          <p:cNvSpPr txBox="1">
            <a:spLocks noChangeArrowheads="1"/>
          </p:cNvSpPr>
          <p:nvPr/>
        </p:nvSpPr>
        <p:spPr bwMode="auto">
          <a:xfrm>
            <a:off x="444500" y="5111750"/>
            <a:ext cx="853186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eaLnBrk="1" hangingPunct="1">
              <a:buFont typeface="Wingdings" pitchFamily="2" charset="2"/>
              <a:buChar char="ü"/>
            </a:pPr>
            <a:r>
              <a:rPr lang="en-US" sz="2000" dirty="0"/>
              <a:t>There is a moderately weak, positive, linear relationship between price per load and detergent rating.</a:t>
            </a:r>
          </a:p>
          <a:p>
            <a:pPr algn="just" eaLnBrk="1" hangingPunct="1">
              <a:buFont typeface="Wingdings" pitchFamily="2" charset="2"/>
              <a:buChar char="ü"/>
            </a:pPr>
            <a:r>
              <a:rPr lang="en-US" sz="2000" dirty="0"/>
              <a:t>It appears that more expensive detergents are rated slightly higher, with possibly one exception.</a:t>
            </a:r>
          </a:p>
        </p:txBody>
      </p:sp>
    </p:spTree>
    <p:extLst>
      <p:ext uri="{BB962C8B-B14F-4D97-AF65-F5344CB8AC3E}">
        <p14:creationId xmlns:p14="http://schemas.microsoft.com/office/powerpoint/2010/main" val="325248937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childTnLst>
                                </p:cTn>
                              </p:par>
                            </p:childTnLst>
                          </p:cTn>
                        </p:par>
                        <p:par>
                          <p:cTn id="18" fill="hold" nodeType="afterGroup">
                            <p:stCondLst>
                              <p:cond delay="1000"/>
                            </p:stCondLst>
                            <p:childTnLst>
                              <p:par>
                                <p:cTn id="19" presetID="10" presetClass="entr" presetSubtype="0" fill="hold" nodeType="after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fade">
                                      <p:cBhvr>
                                        <p:cTn id="21" dur="1000"/>
                                        <p:tgtEl>
                                          <p:spTgt spid="2"/>
                                        </p:tgtEl>
                                      </p:cBhvr>
                                    </p:animEffect>
                                  </p:childTnLst>
                                </p:cTn>
                              </p:par>
                            </p:childTnLst>
                          </p:cTn>
                        </p:par>
                        <p:par>
                          <p:cTn id="22" fill="hold" nodeType="afterGroup">
                            <p:stCondLst>
                              <p:cond delay="2000"/>
                            </p:stCondLst>
                            <p:childTnLst>
                              <p:par>
                                <p:cTn id="23" presetID="10" presetClass="entr" presetSubtype="0" fill="hold" nodeType="after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10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0" presetClass="entr" presetSubtype="0"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The Log Transformation</a:t>
            </a:r>
            <a:endParaRPr lang="en-US" dirty="0"/>
          </a:p>
        </p:txBody>
      </p:sp>
      <p:sp>
        <p:nvSpPr>
          <p:cNvPr id="31746"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170F1E48-24C1-469C-BB30-D1DF886C9E42}" type="slidenum">
              <a:rPr lang="en-US" sz="1200">
                <a:solidFill>
                  <a:schemeClr val="accent1"/>
                </a:solidFill>
              </a:rPr>
              <a:pPr>
                <a:lnSpc>
                  <a:spcPct val="80000"/>
                </a:lnSpc>
              </a:pPr>
              <a:t>12</a:t>
            </a:fld>
            <a:endParaRPr lang="en-US" sz="1200">
              <a:solidFill>
                <a:schemeClr val="accent1"/>
              </a:solidFill>
            </a:endParaRPr>
          </a:p>
        </p:txBody>
      </p:sp>
      <p:sp>
        <p:nvSpPr>
          <p:cNvPr id="31747" name="Rectangle 1"/>
          <p:cNvSpPr>
            <a:spLocks noChangeArrowheads="1"/>
          </p:cNvSpPr>
          <p:nvPr/>
        </p:nvSpPr>
        <p:spPr bwMode="auto">
          <a:xfrm>
            <a:off x="174624" y="1168902"/>
            <a:ext cx="8588376"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lvl="1" algn="just" eaLnBrk="1" hangingPunct="1">
              <a:buFont typeface="Wingdings" pitchFamily="2" charset="2"/>
              <a:buNone/>
              <a:tabLst>
                <a:tab pos="517525" algn="l"/>
              </a:tabLst>
            </a:pPr>
            <a:r>
              <a:rPr lang="en-US" sz="2000" dirty="0"/>
              <a:t>Sometimes, the pattern that best describes data in a scatterplot is a curve other than a line.  In this case, it is often useful to apply a </a:t>
            </a:r>
            <a:r>
              <a:rPr lang="en-US" sz="2000" b="1" dirty="0"/>
              <a:t>transformation</a:t>
            </a:r>
            <a:r>
              <a:rPr lang="en-US" sz="2000" dirty="0"/>
              <a:t> to the data that renders the relationship approximately linear. </a:t>
            </a:r>
          </a:p>
        </p:txBody>
      </p:sp>
      <p:sp>
        <p:nvSpPr>
          <p:cNvPr id="10" name="TextBox 9"/>
          <p:cNvSpPr txBox="1">
            <a:spLocks noChangeArrowheads="1"/>
          </p:cNvSpPr>
          <p:nvPr/>
        </p:nvSpPr>
        <p:spPr bwMode="auto">
          <a:xfrm>
            <a:off x="247649" y="2370162"/>
            <a:ext cx="8515351" cy="1169551"/>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spcAft>
                <a:spcPts val="600"/>
              </a:spcAft>
              <a:defRPr/>
            </a:pPr>
            <a:r>
              <a:rPr lang="en-US" altLang="en-US" sz="2000" dirty="0"/>
              <a:t>The </a:t>
            </a:r>
            <a:r>
              <a:rPr lang="en-US" altLang="en-US" sz="2000" b="1" dirty="0"/>
              <a:t>log transformation </a:t>
            </a:r>
            <a:r>
              <a:rPr lang="en-US" altLang="en-US" sz="2000" dirty="0"/>
              <a:t>is the most important one used in this course.</a:t>
            </a:r>
          </a:p>
          <a:p>
            <a:pPr marL="342900" indent="-342900" eaLnBrk="1" hangingPunct="1">
              <a:spcAft>
                <a:spcPts val="600"/>
              </a:spcAft>
              <a:buFont typeface="Arial" panose="020B0604020202020204" pitchFamily="34" charset="0"/>
              <a:buChar char="•"/>
              <a:defRPr/>
            </a:pPr>
            <a:r>
              <a:rPr lang="en-US" altLang="en-US" sz="2000" dirty="0"/>
              <a:t>It can be used only for variables whose values are positive.</a:t>
            </a:r>
          </a:p>
          <a:p>
            <a:pPr marL="342900" indent="-342900" eaLnBrk="1" hangingPunct="1">
              <a:spcAft>
                <a:spcPts val="600"/>
              </a:spcAft>
              <a:buFont typeface="Arial" panose="020B0604020202020204" pitchFamily="34" charset="0"/>
              <a:buChar char="•"/>
              <a:defRPr/>
            </a:pPr>
            <a:r>
              <a:rPr lang="en-US" altLang="en-US" sz="2000" dirty="0"/>
              <a:t>The </a:t>
            </a:r>
            <a:r>
              <a:rPr lang="en-US" altLang="en-US" sz="2000" b="1" dirty="0"/>
              <a:t>natural logarithm </a:t>
            </a:r>
            <a:r>
              <a:rPr lang="en-US" altLang="en-US" sz="2000" dirty="0"/>
              <a:t>is what we use to perform this transformation.  </a:t>
            </a:r>
          </a:p>
        </p:txBody>
      </p:sp>
      <p:sp>
        <p:nvSpPr>
          <p:cNvPr id="7" name="Rectangle 1">
            <a:extLst>
              <a:ext uri="{FF2B5EF4-FFF2-40B4-BE49-F238E27FC236}">
                <a16:creationId xmlns:a16="http://schemas.microsoft.com/office/drawing/2014/main" xmlns="" id="{9FCAC4DC-6081-4934-8D75-25F244C793BE}"/>
              </a:ext>
            </a:extLst>
          </p:cNvPr>
          <p:cNvSpPr>
            <a:spLocks noChangeArrowheads="1"/>
          </p:cNvSpPr>
          <p:nvPr/>
        </p:nvSpPr>
        <p:spPr bwMode="auto">
          <a:xfrm>
            <a:off x="211136" y="3726235"/>
            <a:ext cx="877460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lvl="1" algn="just" eaLnBrk="1" hangingPunct="1">
              <a:buFont typeface="Wingdings" pitchFamily="2" charset="2"/>
              <a:buNone/>
              <a:tabLst>
                <a:tab pos="517525" algn="l"/>
              </a:tabLst>
            </a:pPr>
            <a:r>
              <a:rPr lang="en-US" altLang="en-US" sz="2000" b="1" u="sng" dirty="0">
                <a:solidFill>
                  <a:schemeClr val="accent1"/>
                </a:solidFill>
              </a:rPr>
              <a:t>Example</a:t>
            </a:r>
            <a:r>
              <a:rPr lang="en-US" altLang="en-US" sz="2000" b="1" dirty="0">
                <a:solidFill>
                  <a:schemeClr val="accent1"/>
                </a:solidFill>
              </a:rPr>
              <a:t>: </a:t>
            </a:r>
            <a:r>
              <a:rPr lang="en-US" altLang="en-US" sz="2000" dirty="0"/>
              <a:t>Consider the following two scatterplots concerning calcium intake versus calcium retention. </a:t>
            </a:r>
            <a:endParaRPr lang="en-US" sz="2000" dirty="0">
              <a:solidFill>
                <a:srgbClr val="000000"/>
              </a:solidFill>
            </a:endParaRPr>
          </a:p>
        </p:txBody>
      </p:sp>
      <p:sp>
        <p:nvSpPr>
          <p:cNvPr id="8" name="Rectangle 1">
            <a:extLst>
              <a:ext uri="{FF2B5EF4-FFF2-40B4-BE49-F238E27FC236}">
                <a16:creationId xmlns:a16="http://schemas.microsoft.com/office/drawing/2014/main" xmlns="" id="{58DADA43-50B2-4722-8B4D-F58717130263}"/>
              </a:ext>
            </a:extLst>
          </p:cNvPr>
          <p:cNvSpPr>
            <a:spLocks noChangeArrowheads="1"/>
          </p:cNvSpPr>
          <p:nvPr/>
        </p:nvSpPr>
        <p:spPr bwMode="auto">
          <a:xfrm>
            <a:off x="1074126" y="4620643"/>
            <a:ext cx="26889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lvl="1" eaLnBrk="1" hangingPunct="1">
              <a:buFont typeface="Wingdings" pitchFamily="2" charset="2"/>
              <a:buNone/>
              <a:tabLst>
                <a:tab pos="517525" algn="l"/>
              </a:tabLst>
            </a:pPr>
            <a:r>
              <a:rPr lang="en-US" altLang="en-US" sz="2000" b="1" dirty="0">
                <a:solidFill>
                  <a:schemeClr val="accent1"/>
                </a:solidFill>
              </a:rPr>
              <a:t>Original Scatterplot</a:t>
            </a:r>
            <a:endParaRPr lang="en-US" sz="2000" dirty="0">
              <a:solidFill>
                <a:srgbClr val="000000"/>
              </a:solidFill>
            </a:endParaRPr>
          </a:p>
        </p:txBody>
      </p:sp>
      <p:pic>
        <p:nvPicPr>
          <p:cNvPr id="3" name="Picture 2" descr="The graph plots calcium retention in milligrams per day on the vertical axis, ranging from 100 to 1000 in increments of 100, versus calcium intake in milligrams on the horizontal axis, ranging from 500 to 2000 in increments of 500. Fifty-six points are plotted in a wide, loose cluster that rises from left to right, then falls slightly. A smooth curve is drawn through the center of the cluster, rising from (500, 250) to (1500, 500), then rises at a lower angle and appears to approach horizontal as it moves to (1800, 600). ">
            <a:extLst>
              <a:ext uri="{FF2B5EF4-FFF2-40B4-BE49-F238E27FC236}">
                <a16:creationId xmlns:a16="http://schemas.microsoft.com/office/drawing/2014/main" xmlns="" id="{6D26CE28-A431-4867-9C83-72079C5785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8410" y="5125965"/>
            <a:ext cx="2643345" cy="1600200"/>
          </a:xfrm>
          <a:prstGeom prst="rect">
            <a:avLst/>
          </a:prstGeom>
        </p:spPr>
      </p:pic>
      <p:sp>
        <p:nvSpPr>
          <p:cNvPr id="12" name="Rectangle 1">
            <a:extLst>
              <a:ext uri="{FF2B5EF4-FFF2-40B4-BE49-F238E27FC236}">
                <a16:creationId xmlns:a16="http://schemas.microsoft.com/office/drawing/2014/main" xmlns="" id="{333E4572-ABF9-4649-94A2-3EBD96D7FB28}"/>
              </a:ext>
            </a:extLst>
          </p:cNvPr>
          <p:cNvSpPr>
            <a:spLocks noChangeArrowheads="1"/>
          </p:cNvSpPr>
          <p:nvPr/>
        </p:nvSpPr>
        <p:spPr bwMode="auto">
          <a:xfrm>
            <a:off x="4743450" y="4610671"/>
            <a:ext cx="4019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lvl="1" eaLnBrk="1" hangingPunct="1">
              <a:buFont typeface="Wingdings" pitchFamily="2" charset="2"/>
              <a:buNone/>
              <a:tabLst>
                <a:tab pos="517525" algn="l"/>
              </a:tabLst>
            </a:pPr>
            <a:r>
              <a:rPr lang="en-US" altLang="en-US" sz="2000" b="1" dirty="0">
                <a:solidFill>
                  <a:schemeClr val="accent1"/>
                </a:solidFill>
              </a:rPr>
              <a:t>Log Transformation Scatterplot </a:t>
            </a:r>
            <a:endParaRPr lang="en-US" sz="2000" dirty="0">
              <a:solidFill>
                <a:srgbClr val="000000"/>
              </a:solidFill>
            </a:endParaRPr>
          </a:p>
        </p:txBody>
      </p:sp>
      <p:pic>
        <p:nvPicPr>
          <p:cNvPr id="4" name="Picture 3" descr="The graph plots log of calcium retention on the vertical axis, ranging from 4 to 7 in increments of 1, versus calcium intake in milligrams per day on the horizontal axis, ranging from 600 to 2000 in increments of 100. Fifty-six points are plotted in a loose cluster that rises diagonally from left to right between 4.5 and 6.5 on the vertical axis and 600 and 1800 on the horizontal axis. A fitted straight line rises through the center of the cluster from (600, 5.5) through (2000, 6.5). All values estimated.">
            <a:extLst>
              <a:ext uri="{FF2B5EF4-FFF2-40B4-BE49-F238E27FC236}">
                <a16:creationId xmlns:a16="http://schemas.microsoft.com/office/drawing/2014/main" xmlns="" id="{8113C8A6-F535-4F53-BBA8-18BD319DEF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0893" y="5112823"/>
            <a:ext cx="2685077" cy="1614650"/>
          </a:xfrm>
          <a:prstGeom prst="rect">
            <a:avLst/>
          </a:prstGeom>
        </p:spPr>
      </p:pic>
    </p:spTree>
    <p:extLst>
      <p:ext uri="{BB962C8B-B14F-4D97-AF65-F5344CB8AC3E}">
        <p14:creationId xmlns:p14="http://schemas.microsoft.com/office/powerpoint/2010/main" val="2938582941"/>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bg/>
                                          </p:spTgt>
                                        </p:tgtEl>
                                        <p:attrNameLst>
                                          <p:attrName>style.visibility</p:attrName>
                                        </p:attrNameLst>
                                      </p:cBhvr>
                                      <p:to>
                                        <p:strVal val="visible"/>
                                      </p:to>
                                    </p:set>
                                    <p:animEffect transition="in" filter="fade">
                                      <p:cBhvr>
                                        <p:cTn id="7" dur="1000"/>
                                        <p:tgtEl>
                                          <p:spTgt spid="10">
                                            <p:bg/>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fade">
                                      <p:cBhvr>
                                        <p:cTn id="12" dur="10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fade">
                                      <p:cBhvr>
                                        <p:cTn id="17" dur="1000"/>
                                        <p:tgtEl>
                                          <p:spTgt spid="1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xEl>
                                              <p:pRg st="2" end="2"/>
                                            </p:txEl>
                                          </p:spTgt>
                                        </p:tgtEl>
                                        <p:attrNameLst>
                                          <p:attrName>style.visibility</p:attrName>
                                        </p:attrNameLst>
                                      </p:cBhvr>
                                      <p:to>
                                        <p:strVal val="visible"/>
                                      </p:to>
                                    </p:set>
                                    <p:animEffect transition="in" filter="fade">
                                      <p:cBhvr>
                                        <p:cTn id="22" dur="10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bldLvl="5"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a:xfrm>
            <a:off x="174624" y="152876"/>
            <a:ext cx="7772400" cy="1114108"/>
          </a:xfrm>
        </p:spPr>
        <p:txBody>
          <a:bodyPr/>
          <a:lstStyle/>
          <a:p>
            <a:r>
              <a:rPr lang="en-US" sz="3200" dirty="0">
                <a:solidFill>
                  <a:schemeClr val="accent1"/>
                </a:solidFill>
              </a:rPr>
              <a:t>Adding Categorical Variables to a Scatterplot </a:t>
            </a:r>
            <a:endParaRPr lang="en-US" sz="3200" dirty="0"/>
          </a:p>
        </p:txBody>
      </p:sp>
      <p:sp>
        <p:nvSpPr>
          <p:cNvPr id="34818" name="Slide Number Placeholder 6"/>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a:solidFill>
                  <a:schemeClr val="accent1"/>
                </a:solidFill>
              </a:rPr>
              <a:t>10</a:t>
            </a:r>
          </a:p>
        </p:txBody>
      </p:sp>
      <p:sp>
        <p:nvSpPr>
          <p:cNvPr id="34819" name="Rectangle 3"/>
          <p:cNvSpPr>
            <a:spLocks noGrp="1" noChangeArrowheads="1"/>
          </p:cNvSpPr>
          <p:nvPr>
            <p:ph sz="quarter" idx="4294967295"/>
          </p:nvPr>
        </p:nvSpPr>
        <p:spPr>
          <a:xfrm>
            <a:off x="174624" y="1522367"/>
            <a:ext cx="8534400" cy="709930"/>
          </a:xfrm>
        </p:spPr>
        <p:txBody>
          <a:bodyPr/>
          <a:lstStyle/>
          <a:p>
            <a:pPr algn="just" eaLnBrk="1" hangingPunct="1"/>
            <a:r>
              <a:rPr lang="en-US" dirty="0">
                <a:solidFill>
                  <a:srgbClr val="000000"/>
                </a:solidFill>
                <a:ea typeface="ＭＳ Ｐゴシック" pitchFamily="34" charset="-128"/>
              </a:rPr>
              <a:t>Consider the relationship between mean SAT verbal score and percent of high school grads taking the SAT for each state.</a:t>
            </a:r>
          </a:p>
        </p:txBody>
      </p:sp>
      <p:sp>
        <p:nvSpPr>
          <p:cNvPr id="2" name="Rectangle 1"/>
          <p:cNvSpPr>
            <a:spLocks noChangeArrowheads="1"/>
          </p:cNvSpPr>
          <p:nvPr/>
        </p:nvSpPr>
        <p:spPr bwMode="auto">
          <a:xfrm>
            <a:off x="304800" y="2967038"/>
            <a:ext cx="2913185"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spcBef>
                <a:spcPct val="50000"/>
              </a:spcBef>
              <a:buFont typeface="Monotype Sorts" charset="2"/>
              <a:buNone/>
            </a:pPr>
            <a:r>
              <a:rPr lang="en-US" sz="2000" dirty="0"/>
              <a:t>To add a </a:t>
            </a:r>
            <a:r>
              <a:rPr lang="en-US" sz="2000" b="1" i="1" dirty="0"/>
              <a:t>categorical variable</a:t>
            </a:r>
            <a:r>
              <a:rPr lang="en-US" sz="2000" dirty="0"/>
              <a:t>, use a different plot color or symbol for each category.</a:t>
            </a:r>
          </a:p>
        </p:txBody>
      </p:sp>
      <p:pic>
        <p:nvPicPr>
          <p:cNvPr id="11" name="Picture 8" descr="The image on the slide displays a scatter plot. The X-axis represents &quot;Percent of high school grads taking SAT&quot; ranging from 0 to 100 in a successive interval of 10 and the Y-axis represents &quot;mean SAT verbal score&quot; ranging from 460 to 600 in a successive interval of 20. The scatter plot shows blue and orange color dots representing different states. The orange color dots represent southern states. The plot displays a negative strong linear relationship."/>
          <p:cNvPicPr>
            <a:picLocks noChangeAspect="1" noChangeArrowheads="1"/>
          </p:cNvPicPr>
          <p:nvPr/>
        </p:nvPicPr>
        <p:blipFill rotWithShape="1">
          <a:blip r:embed="rId3">
            <a:extLst>
              <a:ext uri="{28A0092B-C50C-407E-A947-70E740481C1C}">
                <a14:useLocalDpi xmlns:a14="http://schemas.microsoft.com/office/drawing/2010/main" val="0"/>
              </a:ext>
            </a:extLst>
          </a:blip>
          <a:srcRect t="-51" b="102"/>
          <a:stretch/>
        </p:blipFill>
        <p:spPr bwMode="auto">
          <a:xfrm>
            <a:off x="3648075" y="2656114"/>
            <a:ext cx="4894263" cy="3396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11"/>
          <p:cNvSpPr txBox="1">
            <a:spLocks noChangeArrowheads="1"/>
          </p:cNvSpPr>
          <p:nvPr/>
        </p:nvSpPr>
        <p:spPr bwMode="auto">
          <a:xfrm>
            <a:off x="5662246" y="2851875"/>
            <a:ext cx="259434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ctr" eaLnBrk="1" hangingPunct="1">
              <a:spcBef>
                <a:spcPct val="50000"/>
              </a:spcBef>
            </a:pPr>
            <a:r>
              <a:rPr lang="en-US" sz="2400" b="1" dirty="0">
                <a:solidFill>
                  <a:schemeClr val="accent1"/>
                </a:solidFill>
              </a:rPr>
              <a:t>Southern states are orange dots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par>
                          <p:cTn id="10" fill="hold" nodeType="afterGroup">
                            <p:stCondLst>
                              <p:cond delay="1000"/>
                            </p:stCondLst>
                            <p:childTnLst>
                              <p:par>
                                <p:cTn id="11" presetID="55"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p:cTn id="13" dur="1000" fill="hold"/>
                                        <p:tgtEl>
                                          <p:spTgt spid="11"/>
                                        </p:tgtEl>
                                        <p:attrNameLst>
                                          <p:attrName>ppt_w</p:attrName>
                                        </p:attrNameLst>
                                      </p:cBhvr>
                                      <p:tavLst>
                                        <p:tav tm="0">
                                          <p:val>
                                            <p:strVal val="#ppt_w*0.70"/>
                                          </p:val>
                                        </p:tav>
                                        <p:tav tm="100000">
                                          <p:val>
                                            <p:strVal val="#ppt_w"/>
                                          </p:val>
                                        </p:tav>
                                      </p:tavLst>
                                    </p:anim>
                                    <p:anim calcmode="lin" valueType="num">
                                      <p:cBhvr>
                                        <p:cTn id="14" dur="1000" fill="hold"/>
                                        <p:tgtEl>
                                          <p:spTgt spid="11"/>
                                        </p:tgtEl>
                                        <p:attrNameLst>
                                          <p:attrName>ppt_h</p:attrName>
                                        </p:attrNameLst>
                                      </p:cBhvr>
                                      <p:tavLst>
                                        <p:tav tm="0">
                                          <p:val>
                                            <p:strVal val="#ppt_h"/>
                                          </p:val>
                                        </p:tav>
                                        <p:tav tm="100000">
                                          <p:val>
                                            <p:strVal val="#ppt_h"/>
                                          </p:val>
                                        </p:tav>
                                      </p:tavLst>
                                    </p:anim>
                                    <p:animEffect transition="in" filter="fade">
                                      <p:cBhvr>
                                        <p:cTn id="15" dur="1000"/>
                                        <p:tgtEl>
                                          <p:spTgt spid="11"/>
                                        </p:tgtEl>
                                      </p:cBhvr>
                                    </p:animEffect>
                                  </p:childTnLst>
                                </p:cTn>
                              </p:par>
                              <p:par>
                                <p:cTn id="16" presetID="55"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1000" fill="hold"/>
                                        <p:tgtEl>
                                          <p:spTgt spid="12"/>
                                        </p:tgtEl>
                                        <p:attrNameLst>
                                          <p:attrName>ppt_w</p:attrName>
                                        </p:attrNameLst>
                                      </p:cBhvr>
                                      <p:tavLst>
                                        <p:tav tm="0">
                                          <p:val>
                                            <p:strVal val="#ppt_w*0.70"/>
                                          </p:val>
                                        </p:tav>
                                        <p:tav tm="100000">
                                          <p:val>
                                            <p:strVal val="#ppt_w"/>
                                          </p:val>
                                        </p:tav>
                                      </p:tavLst>
                                    </p:anim>
                                    <p:anim calcmode="lin" valueType="num">
                                      <p:cBhvr>
                                        <p:cTn id="19" dur="1000" fill="hold"/>
                                        <p:tgtEl>
                                          <p:spTgt spid="12"/>
                                        </p:tgtEl>
                                        <p:attrNameLst>
                                          <p:attrName>ppt_h</p:attrName>
                                        </p:attrNameLst>
                                      </p:cBhvr>
                                      <p:tavLst>
                                        <p:tav tm="0">
                                          <p:val>
                                            <p:strVal val="#ppt_h"/>
                                          </p:val>
                                        </p:tav>
                                        <p:tav tm="100000">
                                          <p:val>
                                            <p:strVal val="#ppt_h"/>
                                          </p:val>
                                        </p:tav>
                                      </p:tavLst>
                                    </p:anim>
                                    <p:animEffect transition="in" filter="fade">
                                      <p:cBhvr>
                                        <p:cTn id="20"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Nonlinear Relationships </a:t>
            </a:r>
            <a:endParaRPr lang="en-US" dirty="0"/>
          </a:p>
        </p:txBody>
      </p:sp>
      <p:sp>
        <p:nvSpPr>
          <p:cNvPr id="35842" name="Slide Number Placeholder 1"/>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CC9651C1-EBFA-4C70-86B5-E29735B2594E}" type="slidenum">
              <a:rPr lang="en-US">
                <a:solidFill>
                  <a:schemeClr val="accent1"/>
                </a:solidFill>
              </a:rPr>
              <a:pPr/>
              <a:t>14</a:t>
            </a:fld>
            <a:endParaRPr lang="en-US">
              <a:solidFill>
                <a:schemeClr val="accent1"/>
              </a:solidFill>
            </a:endParaRPr>
          </a:p>
        </p:txBody>
      </p:sp>
      <p:sp>
        <p:nvSpPr>
          <p:cNvPr id="35845" name="Rectangle 10"/>
          <p:cNvSpPr>
            <a:spLocks noChangeArrowheads="1"/>
          </p:cNvSpPr>
          <p:nvPr/>
        </p:nvSpPr>
        <p:spPr bwMode="auto">
          <a:xfrm>
            <a:off x="174624" y="1458303"/>
            <a:ext cx="8441838" cy="1323439"/>
          </a:xfrm>
          <a:prstGeom prst="rect">
            <a:avLst/>
          </a:prstGeom>
          <a:solidFill>
            <a:srgbClr val="FFD780"/>
          </a:solidFill>
          <a:ln>
            <a:noFill/>
          </a:ln>
        </p:spPr>
        <p:txBody>
          <a:bodyPr wrap="square">
            <a:spAutoFit/>
          </a:bodyPr>
          <a:lstStyle/>
          <a:p>
            <a:pPr marL="285750" indent="-285750" algn="just" eaLnBrk="1" hangingPunct="1">
              <a:buFont typeface="Wingdings" pitchFamily="2" charset="2"/>
              <a:buChar char="§"/>
            </a:pPr>
            <a:r>
              <a:rPr lang="en-US" sz="2000" dirty="0"/>
              <a:t>There are other </a:t>
            </a:r>
            <a:r>
              <a:rPr lang="en-US" sz="2000" b="1" dirty="0"/>
              <a:t>forms</a:t>
            </a:r>
            <a:r>
              <a:rPr lang="en-US" sz="2000" dirty="0"/>
              <a:t> of relationships besides linear. The scatterplot below is an example of a </a:t>
            </a:r>
            <a:r>
              <a:rPr lang="en-US" sz="2000" b="1" dirty="0"/>
              <a:t>nonlinear form</a:t>
            </a:r>
            <a:r>
              <a:rPr lang="en-US" sz="2000" dirty="0"/>
              <a:t>.  </a:t>
            </a:r>
          </a:p>
          <a:p>
            <a:pPr marL="285750" indent="-285750" eaLnBrk="1" hangingPunct="1">
              <a:buFont typeface="Wingdings" pitchFamily="2" charset="2"/>
              <a:buChar char="§"/>
            </a:pPr>
            <a:endParaRPr lang="en-US" sz="2000" dirty="0"/>
          </a:p>
          <a:p>
            <a:pPr marL="285750" indent="-285750" eaLnBrk="1" hangingPunct="1">
              <a:buFont typeface="Wingdings" pitchFamily="2" charset="2"/>
              <a:buChar char="§"/>
            </a:pPr>
            <a:r>
              <a:rPr lang="en-US" sz="2000" dirty="0"/>
              <a:t>Note the curvature in the relationship between </a:t>
            </a:r>
            <a:r>
              <a:rPr lang="en-US" sz="2000" i="1" dirty="0"/>
              <a:t>x </a:t>
            </a:r>
            <a:r>
              <a:rPr lang="en-US" sz="2000" dirty="0"/>
              <a:t>and </a:t>
            </a:r>
            <a:r>
              <a:rPr lang="en-US" sz="2000" i="1" dirty="0"/>
              <a:t>y</a:t>
            </a:r>
            <a:r>
              <a:rPr lang="en-US" sz="2000" dirty="0"/>
              <a:t>.  </a:t>
            </a:r>
          </a:p>
        </p:txBody>
      </p:sp>
      <p:pic>
        <p:nvPicPr>
          <p:cNvPr id="35909" name="Picture 69" descr="The image shows a scatterplot between ‘x’ and ‘y’ variables on the horizontal and vertical axis, respectively. The horizontal axis shows the numerical values from 1 to 5 in successive intervals of 1, and the vertical axis ranges from 0 to 120 in successive intervals of 20. The scatterplot depicts a nonlinear relationship between ‘x’ and ‘y’ variables as the dots on the plot forms a curve shape."/>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2395536" y="3226289"/>
            <a:ext cx="4352925"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2"/>
          <p:cNvSpPr>
            <a:spLocks noGrp="1"/>
          </p:cNvSpPr>
          <p:nvPr>
            <p:ph type="title"/>
          </p:nvPr>
        </p:nvSpPr>
        <p:spPr>
          <a:xfrm>
            <a:off x="457200" y="492370"/>
            <a:ext cx="6508750" cy="1143000"/>
          </a:xfrm>
        </p:spPr>
        <p:txBody>
          <a:bodyPr anchor="t"/>
          <a:lstStyle/>
          <a:p>
            <a:pPr eaLnBrk="1" hangingPunct="1"/>
            <a:r>
              <a:rPr lang="en-US" b="1" dirty="0">
                <a:solidFill>
                  <a:schemeClr val="accent1"/>
                </a:solidFill>
                <a:ea typeface="ＭＳ Ｐゴシック" pitchFamily="34" charset="-128"/>
              </a:rPr>
              <a:t>2.3 Correlation</a:t>
            </a:r>
          </a:p>
        </p:txBody>
      </p:sp>
      <p:sp>
        <p:nvSpPr>
          <p:cNvPr id="36867" name="Text Placeholder 3"/>
          <p:cNvSpPr>
            <a:spLocks noGrp="1"/>
          </p:cNvSpPr>
          <p:nvPr>
            <p:ph idx="1"/>
          </p:nvPr>
        </p:nvSpPr>
        <p:spPr>
          <a:xfrm>
            <a:off x="457200" y="1928446"/>
            <a:ext cx="6508750" cy="3916363"/>
          </a:xfrm>
        </p:spPr>
        <p:txBody>
          <a:bodyPr/>
          <a:lstStyle/>
          <a:p>
            <a:pPr eaLnBrk="1" hangingPunct="1"/>
            <a:r>
              <a:rPr lang="en-US" sz="2400" dirty="0">
                <a:solidFill>
                  <a:srgbClr val="073779"/>
                </a:solidFill>
                <a:ea typeface="ＭＳ Ｐゴシック" pitchFamily="34" charset="-128"/>
              </a:rPr>
              <a:t>The correlation </a:t>
            </a:r>
            <a:r>
              <a:rPr lang="en-US" sz="2400" i="1" dirty="0">
                <a:solidFill>
                  <a:srgbClr val="073779"/>
                </a:solidFill>
                <a:ea typeface="ＭＳ Ｐゴシック" pitchFamily="34" charset="-128"/>
              </a:rPr>
              <a:t>r</a:t>
            </a:r>
          </a:p>
          <a:p>
            <a:pPr eaLnBrk="1" hangingPunct="1"/>
            <a:r>
              <a:rPr lang="en-US" sz="2400" dirty="0">
                <a:solidFill>
                  <a:srgbClr val="073779"/>
                </a:solidFill>
                <a:ea typeface="ＭＳ Ｐゴシック" pitchFamily="34" charset="-128"/>
              </a:rPr>
              <a:t>Properties of correlation</a:t>
            </a:r>
          </a:p>
        </p:txBody>
      </p:sp>
      <p:sp>
        <p:nvSpPr>
          <p:cNvPr id="36868" name="Slide Number Placeholder 9"/>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04BEACC4-5C1F-45E6-893D-D74DE90C39B4}" type="slidenum">
              <a:rPr lang="en-US">
                <a:solidFill>
                  <a:schemeClr val="accent1"/>
                </a:solidFill>
              </a:rPr>
              <a:pPr/>
              <a:t>15</a:t>
            </a:fld>
            <a:endParaRPr lang="en-US">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4969" y="154305"/>
            <a:ext cx="7772400" cy="777240"/>
          </a:xfrm>
        </p:spPr>
        <p:txBody>
          <a:bodyPr/>
          <a:lstStyle/>
          <a:p>
            <a:r>
              <a:rPr lang="en-US" dirty="0">
                <a:solidFill>
                  <a:schemeClr val="accent1"/>
                </a:solidFill>
              </a:rPr>
              <a:t>Measuring Linear Association 1</a:t>
            </a:r>
            <a:endParaRPr lang="en-US" dirty="0"/>
          </a:p>
        </p:txBody>
      </p:sp>
      <p:sp>
        <p:nvSpPr>
          <p:cNvPr id="37890" name="Slide Number Placeholder 4"/>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19F29ADE-F947-43C8-A380-CB402D098DAB}" type="slidenum">
              <a:rPr lang="en-US" sz="1200">
                <a:solidFill>
                  <a:schemeClr val="accent1"/>
                </a:solidFill>
                <a:latin typeface="+mn-lt"/>
              </a:rPr>
              <a:pPr>
                <a:lnSpc>
                  <a:spcPct val="80000"/>
                </a:lnSpc>
              </a:pPr>
              <a:t>16</a:t>
            </a:fld>
            <a:endParaRPr lang="en-US" sz="1200" dirty="0">
              <a:solidFill>
                <a:schemeClr val="accent1"/>
              </a:solidFill>
              <a:latin typeface="+mn-lt"/>
            </a:endParaRPr>
          </a:p>
        </p:txBody>
      </p:sp>
      <p:sp>
        <p:nvSpPr>
          <p:cNvPr id="37891" name="Rectangle 3"/>
          <p:cNvSpPr txBox="1">
            <a:spLocks noChangeArrowheads="1"/>
          </p:cNvSpPr>
          <p:nvPr/>
        </p:nvSpPr>
        <p:spPr bwMode="auto">
          <a:xfrm>
            <a:off x="384969" y="1382282"/>
            <a:ext cx="8378031" cy="2440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a:spcBef>
                <a:spcPct val="50000"/>
              </a:spcBef>
              <a:buClr>
                <a:schemeClr val="accent2"/>
              </a:buClr>
              <a:buSzPct val="60000"/>
            </a:pPr>
            <a:r>
              <a:rPr lang="en-US" sz="2000" dirty="0"/>
              <a:t>A scatterplot displays the strength, direction, and form of the relationship between two quantitative variables. </a:t>
            </a:r>
            <a:r>
              <a:rPr lang="en-US" sz="2000" b="1" dirty="0"/>
              <a:t>Linear relationships </a:t>
            </a:r>
            <a:r>
              <a:rPr lang="en-US" sz="2000" dirty="0"/>
              <a:t>are important because a straight line is a simple pattern that is quite common.</a:t>
            </a:r>
          </a:p>
          <a:p>
            <a:pPr algn="just">
              <a:spcBef>
                <a:spcPct val="50000"/>
              </a:spcBef>
              <a:buClr>
                <a:schemeClr val="accent2"/>
              </a:buClr>
              <a:buSzPct val="60000"/>
            </a:pPr>
            <a:r>
              <a:rPr lang="en-US" sz="2000" dirty="0"/>
              <a:t>Our eyes are not always good judges of how strong a relationship is. Therefore, we use a numerical measure to supplement our scatterplot and help us interpret the strength of the linear relationship.</a:t>
            </a:r>
          </a:p>
        </p:txBody>
      </p:sp>
      <p:sp>
        <p:nvSpPr>
          <p:cNvPr id="8" name="TextBox 7"/>
          <p:cNvSpPr txBox="1">
            <a:spLocks noChangeArrowheads="1"/>
          </p:cNvSpPr>
          <p:nvPr/>
        </p:nvSpPr>
        <p:spPr bwMode="auto">
          <a:xfrm>
            <a:off x="384969" y="3871007"/>
            <a:ext cx="8565600" cy="1323439"/>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just" eaLnBrk="1" hangingPunct="1">
              <a:defRPr/>
            </a:pPr>
            <a:r>
              <a:rPr lang="en-US" sz="2000" dirty="0" smtClean="0">
                <a:solidFill>
                  <a:schemeClr val="tx1"/>
                </a:solidFill>
              </a:rPr>
              <a:t>The </a:t>
            </a:r>
            <a:r>
              <a:rPr lang="en-US" sz="2000" b="1" dirty="0">
                <a:solidFill>
                  <a:schemeClr val="tx1"/>
                </a:solidFill>
              </a:rPr>
              <a:t>correlation </a:t>
            </a:r>
            <a:r>
              <a:rPr lang="en-US" sz="2000" b="1" i="1" dirty="0">
                <a:solidFill>
                  <a:schemeClr val="tx1"/>
                </a:solidFill>
              </a:rPr>
              <a:t>r</a:t>
            </a:r>
            <a:r>
              <a:rPr lang="en-US" sz="2000" dirty="0">
                <a:solidFill>
                  <a:schemeClr val="tx1"/>
                </a:solidFill>
              </a:rPr>
              <a:t> measures the strength of the linear relationship between two quantitative variables. Using the notation explained on pp. 92 in the text:</a:t>
            </a:r>
          </a:p>
          <a:p>
            <a:pPr eaLnBrk="1" hangingPunct="1">
              <a:defRPr/>
            </a:pPr>
            <a:endParaRPr lang="en-US" sz="2000" dirty="0">
              <a:solidFill>
                <a:schemeClr val="tx1"/>
              </a:solidFill>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700578801"/>
              </p:ext>
            </p:extLst>
          </p:nvPr>
        </p:nvGraphicFramePr>
        <p:xfrm>
          <a:off x="2999324" y="5319574"/>
          <a:ext cx="3317668" cy="928019"/>
        </p:xfrm>
        <a:graphic>
          <a:graphicData uri="http://schemas.openxmlformats.org/presentationml/2006/ole">
            <mc:AlternateContent xmlns:mc="http://schemas.openxmlformats.org/markup-compatibility/2006">
              <mc:Choice xmlns:v="urn:schemas-microsoft-com:vml" Requires="v">
                <p:oleObj spid="_x0000_s55298" name="Equation" r:id="rId3" imgW="1815840" imgH="507960" progId="Equation.DSMT4">
                  <p:embed/>
                </p:oleObj>
              </mc:Choice>
              <mc:Fallback>
                <p:oleObj name="Equation" r:id="rId3" imgW="1815840" imgH="507960" progId="Equation.DSMT4">
                  <p:embed/>
                  <p:pic>
                    <p:nvPicPr>
                      <p:cNvPr id="0" name=""/>
                      <p:cNvPicPr/>
                      <p:nvPr/>
                    </p:nvPicPr>
                    <p:blipFill>
                      <a:blip r:embed="rId4"/>
                      <a:stretch>
                        <a:fillRect/>
                      </a:stretch>
                    </p:blipFill>
                    <p:spPr>
                      <a:xfrm>
                        <a:off x="2999324" y="5319574"/>
                        <a:ext cx="3317668" cy="928019"/>
                      </a:xfrm>
                      <a:prstGeom prst="rect">
                        <a:avLst/>
                      </a:prstGeom>
                      <a:solidFill>
                        <a:srgbClr val="FFD780"/>
                      </a:solidFill>
                    </p:spPr>
                  </p:pic>
                </p:oleObj>
              </mc:Fallback>
            </mc:AlternateContent>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fade">
                                      <p:cBhvr>
                                        <p:cTn id="7" dur="1000"/>
                                        <p:tgtEl>
                                          <p:spTgt spid="8">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xEl>
                                              <p:pRg st="0" end="0"/>
                                            </p:txEl>
                                          </p:spTgt>
                                        </p:tgtEl>
                                        <p:attrNameLst>
                                          <p:attrName>style.visibility</p:attrName>
                                        </p:attrNameLst>
                                      </p:cBhvr>
                                      <p:to>
                                        <p:strVal val="visible"/>
                                      </p:to>
                                    </p:set>
                                    <p:animEffect transition="in" filter="fade">
                                      <p:cBhvr>
                                        <p:cTn id="10" dur="10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5"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Measuring Linear Association 2</a:t>
            </a:r>
            <a:endParaRPr lang="en-US" dirty="0"/>
          </a:p>
        </p:txBody>
      </p:sp>
      <p:sp>
        <p:nvSpPr>
          <p:cNvPr id="38914" name="Slide Number Placeholder 4"/>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0CCC8152-4E45-4CDF-B7BD-BF46B49F1F59}" type="slidenum">
              <a:rPr lang="en-US" sz="1200">
                <a:solidFill>
                  <a:schemeClr val="accent1"/>
                </a:solidFill>
                <a:latin typeface="+mn-lt"/>
              </a:rPr>
              <a:pPr>
                <a:lnSpc>
                  <a:spcPct val="80000"/>
                </a:lnSpc>
              </a:pPr>
              <a:t>17</a:t>
            </a:fld>
            <a:endParaRPr lang="en-US" sz="1200" dirty="0">
              <a:solidFill>
                <a:schemeClr val="accent1"/>
              </a:solidFill>
              <a:latin typeface="+mn-lt"/>
            </a:endParaRPr>
          </a:p>
        </p:txBody>
      </p:sp>
      <p:sp>
        <p:nvSpPr>
          <p:cNvPr id="38915" name="Rectangle 3"/>
          <p:cNvSpPr txBox="1">
            <a:spLocks noChangeArrowheads="1"/>
          </p:cNvSpPr>
          <p:nvPr/>
        </p:nvSpPr>
        <p:spPr bwMode="auto">
          <a:xfrm>
            <a:off x="509587" y="1201300"/>
            <a:ext cx="8124825" cy="1468438"/>
          </a:xfrm>
          <a:prstGeom prst="rect">
            <a:avLst/>
          </a:prstGeom>
          <a:solidFill>
            <a:srgbClr val="FFD780"/>
          </a:solidFill>
          <a:ln>
            <a:noFill/>
          </a:ln>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a:spcBef>
                <a:spcPct val="50000"/>
              </a:spcBef>
              <a:buClr>
                <a:schemeClr val="accent2"/>
              </a:buClr>
              <a:buSzPct val="60000"/>
            </a:pPr>
            <a:r>
              <a:rPr lang="en-US" sz="2000" dirty="0"/>
              <a:t>A linear relationship is </a:t>
            </a:r>
            <a:r>
              <a:rPr lang="en-US" sz="2000" b="1" dirty="0"/>
              <a:t>strong</a:t>
            </a:r>
            <a:r>
              <a:rPr lang="en-US" sz="2000" dirty="0"/>
              <a:t> if the points lie close to a straight line and weak if they are widely scattered about a line. </a:t>
            </a:r>
          </a:p>
          <a:p>
            <a:pPr algn="just">
              <a:spcBef>
                <a:spcPct val="50000"/>
              </a:spcBef>
              <a:buClr>
                <a:schemeClr val="accent2"/>
              </a:buClr>
              <a:buSzPct val="60000"/>
            </a:pPr>
            <a:r>
              <a:rPr lang="en-US" sz="2000" dirty="0"/>
              <a:t>The following facts about </a:t>
            </a:r>
            <a:r>
              <a:rPr lang="en-US" sz="2000" i="1" dirty="0"/>
              <a:t>r</a:t>
            </a:r>
            <a:r>
              <a:rPr lang="en-US" sz="2000" dirty="0"/>
              <a:t> help us further interpret the strength of the linear relationship.</a:t>
            </a:r>
          </a:p>
        </p:txBody>
      </p:sp>
      <p:sp>
        <p:nvSpPr>
          <p:cNvPr id="8" name="TextBox 7"/>
          <p:cNvSpPr txBox="1">
            <a:spLocks noChangeArrowheads="1"/>
          </p:cNvSpPr>
          <p:nvPr/>
        </p:nvSpPr>
        <p:spPr bwMode="auto">
          <a:xfrm>
            <a:off x="509586" y="2939494"/>
            <a:ext cx="8253413" cy="3616375"/>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628650" indent="-1714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algn="ctr" eaLnBrk="1" hangingPunct="1">
              <a:defRPr/>
            </a:pPr>
            <a:r>
              <a:rPr lang="en-US" b="1" dirty="0"/>
              <a:t>Properties of Correlation</a:t>
            </a:r>
          </a:p>
          <a:p>
            <a:pPr eaLnBrk="1" hangingPunct="1">
              <a:defRPr/>
            </a:pPr>
            <a:endParaRPr lang="en-US" sz="2000" dirty="0"/>
          </a:p>
          <a:p>
            <a:pPr lvl="1" eaLnBrk="1" hangingPunct="1">
              <a:spcAft>
                <a:spcPts val="600"/>
              </a:spcAft>
              <a:buClr>
                <a:schemeClr val="accent1"/>
              </a:buClr>
              <a:buFont typeface="Wingdings" pitchFamily="2" charset="2"/>
              <a:buChar char="§"/>
              <a:defRPr/>
            </a:pPr>
            <a:r>
              <a:rPr lang="en-US" sz="2000" i="1" dirty="0"/>
              <a:t> r </a:t>
            </a:r>
            <a:r>
              <a:rPr lang="en-US" sz="2000" dirty="0"/>
              <a:t>is always a number between –1 and 1, inclusive.</a:t>
            </a:r>
          </a:p>
          <a:p>
            <a:pPr lvl="1" eaLnBrk="1" hangingPunct="1">
              <a:spcAft>
                <a:spcPts val="600"/>
              </a:spcAft>
              <a:buClr>
                <a:schemeClr val="accent1"/>
              </a:buClr>
              <a:buFont typeface="Wingdings" pitchFamily="2" charset="2"/>
              <a:buChar char="§"/>
              <a:defRPr/>
            </a:pPr>
            <a:r>
              <a:rPr lang="en-US" sz="2000" i="1" dirty="0"/>
              <a:t> r </a:t>
            </a:r>
            <a:r>
              <a:rPr lang="en-US" sz="2000" dirty="0"/>
              <a:t>&gt; 0 indicates a positive association.</a:t>
            </a:r>
          </a:p>
          <a:p>
            <a:pPr lvl="1" eaLnBrk="1" hangingPunct="1">
              <a:spcAft>
                <a:spcPts val="600"/>
              </a:spcAft>
              <a:buClr>
                <a:schemeClr val="accent1"/>
              </a:buClr>
              <a:buFont typeface="Wingdings" pitchFamily="2" charset="2"/>
              <a:buChar char="§"/>
              <a:defRPr/>
            </a:pPr>
            <a:r>
              <a:rPr lang="en-US" sz="2000" i="1" dirty="0"/>
              <a:t> r </a:t>
            </a:r>
            <a:r>
              <a:rPr lang="en-US" sz="2000" dirty="0"/>
              <a:t>&lt; 0 indicates a negative association.</a:t>
            </a:r>
          </a:p>
          <a:p>
            <a:pPr lvl="1" eaLnBrk="1" hangingPunct="1">
              <a:spcAft>
                <a:spcPts val="600"/>
              </a:spcAft>
              <a:buClr>
                <a:schemeClr val="accent1"/>
              </a:buClr>
              <a:buFont typeface="Wingdings" pitchFamily="2" charset="2"/>
              <a:buChar char="§"/>
              <a:defRPr/>
            </a:pPr>
            <a:r>
              <a:rPr lang="en-US" sz="2000" dirty="0"/>
              <a:t> Values of </a:t>
            </a:r>
            <a:r>
              <a:rPr lang="en-US" sz="2000" i="1" dirty="0"/>
              <a:t>r</a:t>
            </a:r>
            <a:r>
              <a:rPr lang="en-US" sz="2000" dirty="0"/>
              <a:t> near 0 indicate a very weak linear relationship.</a:t>
            </a:r>
          </a:p>
          <a:p>
            <a:pPr lvl="1" algn="just" eaLnBrk="1" hangingPunct="1">
              <a:spcAft>
                <a:spcPts val="600"/>
              </a:spcAft>
              <a:buClr>
                <a:schemeClr val="accent1"/>
              </a:buClr>
              <a:buFont typeface="Wingdings" pitchFamily="2" charset="2"/>
              <a:buChar char="§"/>
              <a:defRPr/>
            </a:pPr>
            <a:r>
              <a:rPr lang="en-US" sz="2000" dirty="0"/>
              <a:t>The strength of the linear relationship increases as </a:t>
            </a:r>
            <a:r>
              <a:rPr lang="en-US" sz="2000" i="1" dirty="0"/>
              <a:t>r</a:t>
            </a:r>
            <a:r>
              <a:rPr lang="en-US" sz="2000" dirty="0"/>
              <a:t> moves away from 0 toward –1 or 1.</a:t>
            </a:r>
          </a:p>
          <a:p>
            <a:pPr lvl="1" algn="just" eaLnBrk="1" hangingPunct="1">
              <a:spcAft>
                <a:spcPts val="600"/>
              </a:spcAft>
              <a:buClr>
                <a:schemeClr val="accent1"/>
              </a:buClr>
              <a:buFont typeface="Wingdings" pitchFamily="2" charset="2"/>
              <a:buChar char="§"/>
              <a:defRPr/>
            </a:pPr>
            <a:r>
              <a:rPr lang="en-US" sz="2000" dirty="0"/>
              <a:t>The extreme values </a:t>
            </a:r>
            <a:r>
              <a:rPr lang="en-US" sz="2000" i="1" dirty="0"/>
              <a:t>r </a:t>
            </a:r>
            <a:r>
              <a:rPr lang="en-US" sz="2000" dirty="0"/>
              <a:t>= –1 and </a:t>
            </a:r>
            <a:r>
              <a:rPr lang="en-US" sz="2000" i="1" dirty="0"/>
              <a:t>r</a:t>
            </a:r>
            <a:r>
              <a:rPr lang="en-US" sz="2000" dirty="0"/>
              <a:t> = 1 occur only in the case of a perfect linear relationship.</a:t>
            </a:r>
            <a:endParaRPr lang="en-US" sz="1000" b="1"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bg/>
                                          </p:spTgt>
                                        </p:tgtEl>
                                        <p:attrNameLst>
                                          <p:attrName>style.visibility</p:attrName>
                                        </p:attrNameLst>
                                      </p:cBhvr>
                                      <p:to>
                                        <p:strVal val="visible"/>
                                      </p:to>
                                    </p:set>
                                    <p:animEffect transition="in" filter="fade">
                                      <p:cBhvr>
                                        <p:cTn id="7" dur="1000"/>
                                        <p:tgtEl>
                                          <p:spTgt spid="8">
                                            <p:bg/>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5"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Correlation</a:t>
            </a:r>
            <a:endParaRPr lang="en-US" dirty="0"/>
          </a:p>
        </p:txBody>
      </p:sp>
      <p:sp>
        <p:nvSpPr>
          <p:cNvPr id="39938"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5FD5E0FD-29AA-48E1-B7B1-07447B705E02}" type="slidenum">
              <a:rPr lang="en-US" sz="1200">
                <a:solidFill>
                  <a:schemeClr val="accent1"/>
                </a:solidFill>
                <a:latin typeface="+mn-lt"/>
              </a:rPr>
              <a:pPr>
                <a:lnSpc>
                  <a:spcPct val="80000"/>
                </a:lnSpc>
              </a:pPr>
              <a:t>18</a:t>
            </a:fld>
            <a:endParaRPr lang="en-US" sz="1200" dirty="0">
              <a:solidFill>
                <a:schemeClr val="accent1"/>
              </a:solidFill>
              <a:latin typeface="+mn-lt"/>
            </a:endParaRPr>
          </a:p>
        </p:txBody>
      </p:sp>
      <p:pic>
        <p:nvPicPr>
          <p:cNvPr id="39939" name="Picture 4" descr="Six scatterplots illustrate different correlations."/>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466361" y="1416268"/>
            <a:ext cx="7480663" cy="5031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Properties of Correlation</a:t>
            </a:r>
            <a:endParaRPr lang="en-US" dirty="0"/>
          </a:p>
        </p:txBody>
      </p:sp>
      <p:sp>
        <p:nvSpPr>
          <p:cNvPr id="40962"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718D6CF7-45AF-4F26-9BA1-2AB552CDC9DA}" type="slidenum">
              <a:rPr lang="en-US" sz="1200">
                <a:solidFill>
                  <a:schemeClr val="accent1"/>
                </a:solidFill>
                <a:latin typeface="+mn-lt"/>
              </a:rPr>
              <a:pPr>
                <a:lnSpc>
                  <a:spcPct val="80000"/>
                </a:lnSpc>
              </a:pPr>
              <a:t>19</a:t>
            </a:fld>
            <a:endParaRPr lang="en-US" sz="1200" dirty="0">
              <a:solidFill>
                <a:schemeClr val="accent1"/>
              </a:solidFill>
              <a:latin typeface="+mn-lt"/>
            </a:endParaRPr>
          </a:p>
        </p:txBody>
      </p:sp>
      <p:sp>
        <p:nvSpPr>
          <p:cNvPr id="40963" name="TextBox 7"/>
          <p:cNvSpPr txBox="1">
            <a:spLocks noChangeArrowheads="1"/>
          </p:cNvSpPr>
          <p:nvPr/>
        </p:nvSpPr>
        <p:spPr bwMode="auto">
          <a:xfrm>
            <a:off x="188913" y="1138238"/>
            <a:ext cx="8778875" cy="2708275"/>
          </a:xfrm>
          <a:prstGeom prst="rect">
            <a:avLst/>
          </a:prstGeom>
          <a:solidFill>
            <a:srgbClr val="FFD780"/>
          </a:solidFill>
          <a:ln>
            <a:noFill/>
          </a:ln>
        </p:spPr>
        <p:txBody>
          <a:bodyPr>
            <a:spAutoFit/>
          </a:bodyPr>
          <a:lstStyle>
            <a:lvl1pPr>
              <a:tabLst>
                <a:tab pos="285750" algn="l"/>
              </a:tabLst>
              <a:defRPr>
                <a:solidFill>
                  <a:schemeClr val="tx1"/>
                </a:solidFill>
                <a:latin typeface="Arial" pitchFamily="34" charset="0"/>
                <a:ea typeface="ＭＳ Ｐゴシック" pitchFamily="34" charset="-128"/>
              </a:defRPr>
            </a:lvl1pPr>
            <a:lvl2pPr marL="742950" indent="-285750">
              <a:tabLst>
                <a:tab pos="285750" algn="l"/>
              </a:tabLst>
              <a:defRPr>
                <a:solidFill>
                  <a:schemeClr val="tx1"/>
                </a:solidFill>
                <a:latin typeface="Arial" pitchFamily="34" charset="0"/>
                <a:ea typeface="ＭＳ Ｐゴシック" pitchFamily="34" charset="-128"/>
              </a:defRPr>
            </a:lvl2pPr>
            <a:lvl3pPr marL="1143000" indent="-228600">
              <a:tabLst>
                <a:tab pos="285750" algn="l"/>
              </a:tabLst>
              <a:defRPr>
                <a:solidFill>
                  <a:schemeClr val="tx1"/>
                </a:solidFill>
                <a:latin typeface="Arial" pitchFamily="34" charset="0"/>
                <a:ea typeface="ＭＳ Ｐゴシック" pitchFamily="34" charset="-128"/>
              </a:defRPr>
            </a:lvl3pPr>
            <a:lvl4pPr marL="1600200" indent="-228600">
              <a:tabLst>
                <a:tab pos="285750" algn="l"/>
              </a:tabLst>
              <a:defRPr>
                <a:solidFill>
                  <a:schemeClr val="tx1"/>
                </a:solidFill>
                <a:latin typeface="Arial" pitchFamily="34" charset="0"/>
                <a:ea typeface="ＭＳ Ｐゴシック" pitchFamily="34" charset="-128"/>
              </a:defRPr>
            </a:lvl4pPr>
            <a:lvl5pPr marL="2057400" indent="-228600">
              <a:tabLst>
                <a:tab pos="285750" algn="l"/>
              </a:tabLst>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tabLst>
                <a:tab pos="285750" algn="l"/>
              </a:tabLs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tabLst>
                <a:tab pos="285750" algn="l"/>
              </a:tabLs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tabLst>
                <a:tab pos="285750" algn="l"/>
              </a:tabLs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tabLst>
                <a:tab pos="285750" algn="l"/>
              </a:tabLst>
              <a:defRPr>
                <a:solidFill>
                  <a:schemeClr val="tx1"/>
                </a:solidFill>
                <a:latin typeface="Arial" pitchFamily="34" charset="0"/>
                <a:ea typeface="ＭＳ Ｐゴシック" pitchFamily="34" charset="-128"/>
              </a:defRPr>
            </a:lvl9pPr>
          </a:lstStyle>
          <a:p>
            <a:pPr algn="just" eaLnBrk="1" hangingPunct="1">
              <a:spcAft>
                <a:spcPts val="1200"/>
              </a:spcAft>
              <a:buFont typeface="Rockwell" charset="0"/>
              <a:buAutoNum type="arabicPeriod"/>
            </a:pPr>
            <a:r>
              <a:rPr lang="en-US" sz="2000" dirty="0"/>
              <a:t> Correlation makes no distinction between explanatory and response 	variables.</a:t>
            </a:r>
          </a:p>
          <a:p>
            <a:pPr algn="just" eaLnBrk="1" hangingPunct="1">
              <a:spcAft>
                <a:spcPts val="1200"/>
              </a:spcAft>
              <a:buFont typeface="Rockwell" charset="0"/>
              <a:buAutoNum type="arabicPeriod"/>
            </a:pPr>
            <a:r>
              <a:rPr lang="en-US" sz="2000" i="1" dirty="0"/>
              <a:t> r</a:t>
            </a:r>
            <a:r>
              <a:rPr lang="en-US" sz="2000" dirty="0"/>
              <a:t> has no units and does not change when we change the units of 	measurement of </a:t>
            </a:r>
            <a:r>
              <a:rPr lang="en-US" sz="2000" i="1" dirty="0"/>
              <a:t>x</a:t>
            </a:r>
            <a:r>
              <a:rPr lang="en-US" sz="2000" dirty="0"/>
              <a:t>, </a:t>
            </a:r>
            <a:r>
              <a:rPr lang="en-US" sz="2000" i="1" dirty="0"/>
              <a:t>y</a:t>
            </a:r>
            <a:r>
              <a:rPr lang="en-US" sz="2000" dirty="0"/>
              <a:t>, or both.</a:t>
            </a:r>
          </a:p>
          <a:p>
            <a:pPr algn="just" eaLnBrk="1" hangingPunct="1">
              <a:spcAft>
                <a:spcPts val="1200"/>
              </a:spcAft>
              <a:buFont typeface="Rockwell" charset="0"/>
              <a:buAutoNum type="arabicPeriod"/>
            </a:pPr>
            <a:r>
              <a:rPr lang="en-US" sz="2000" dirty="0"/>
              <a:t> Positive </a:t>
            </a:r>
            <a:r>
              <a:rPr lang="en-US" sz="2000" i="1" dirty="0"/>
              <a:t>r</a:t>
            </a:r>
            <a:r>
              <a:rPr lang="en-US" sz="2000" dirty="0"/>
              <a:t> indicates a positive association between the variables, and 	negative </a:t>
            </a:r>
            <a:r>
              <a:rPr lang="en-US" sz="2000" i="1" dirty="0"/>
              <a:t>r</a:t>
            </a:r>
            <a:r>
              <a:rPr lang="en-US" sz="2000" dirty="0"/>
              <a:t> indicates a negative association.</a:t>
            </a:r>
          </a:p>
          <a:p>
            <a:pPr algn="just" eaLnBrk="1" hangingPunct="1">
              <a:spcAft>
                <a:spcPts val="1200"/>
              </a:spcAft>
              <a:buFont typeface="Rockwell" charset="0"/>
              <a:buAutoNum type="arabicPeriod"/>
            </a:pPr>
            <a:r>
              <a:rPr lang="en-US" sz="2000" dirty="0"/>
              <a:t> The correlation </a:t>
            </a:r>
            <a:r>
              <a:rPr lang="en-US" sz="2000" i="1" dirty="0"/>
              <a:t>r</a:t>
            </a:r>
            <a:r>
              <a:rPr lang="en-US" sz="2000" dirty="0"/>
              <a:t> is always a number between –1 and 1.</a:t>
            </a:r>
          </a:p>
        </p:txBody>
      </p:sp>
      <p:sp>
        <p:nvSpPr>
          <p:cNvPr id="12" name="Rectangle 11"/>
          <p:cNvSpPr>
            <a:spLocks noChangeArrowheads="1"/>
          </p:cNvSpPr>
          <p:nvPr/>
        </p:nvSpPr>
        <p:spPr bwMode="auto">
          <a:xfrm>
            <a:off x="258761" y="4149725"/>
            <a:ext cx="8709027" cy="2708275"/>
          </a:xfrm>
          <a:prstGeom prst="rect">
            <a:avLst/>
          </a:prstGeom>
          <a:solidFill>
            <a:srgbClr val="FFD780"/>
          </a:solidFill>
          <a:ln>
            <a:noFill/>
          </a:ln>
          <a:effectLst>
            <a:outerShdw blurRad="38100" dist="30000" dir="5400000" rotWithShape="0">
              <a:srgbClr val="808080">
                <a:alpha val="45000"/>
              </a:srgbClr>
            </a:outerShdw>
          </a:effectLst>
        </p:spPr>
        <p:txBody>
          <a:bodyPr wrap="square">
            <a:spAutoFit/>
          </a:bodyPr>
          <a:lstStyle>
            <a:lvl1pPr marL="342900" indent="-342900" eaLnBrk="0" hangingPunct="0">
              <a:defRPr sz="2400">
                <a:solidFill>
                  <a:schemeClr val="tx1"/>
                </a:solidFill>
                <a:latin typeface="Arial" charset="0"/>
                <a:ea typeface="ＭＳ Ｐゴシック" pitchFamily="-65" charset="-128"/>
              </a:defRPr>
            </a:lvl1pPr>
            <a:lvl2pPr marL="37931725" indent="-37474525" eaLnBrk="0" hangingPunct="0">
              <a:defRPr sz="2400">
                <a:solidFill>
                  <a:schemeClr val="tx1"/>
                </a:solidFill>
                <a:latin typeface="Arial" charset="0"/>
                <a:ea typeface="ＭＳ Ｐゴシック" pitchFamily="-65" charset="-128"/>
              </a:defRPr>
            </a:lvl2pPr>
            <a:lvl3pPr eaLnBrk="0" hangingPunct="0">
              <a:defRPr sz="2400">
                <a:solidFill>
                  <a:schemeClr val="tx1"/>
                </a:solidFill>
                <a:latin typeface="Arial" charset="0"/>
                <a:ea typeface="ＭＳ Ｐゴシック" pitchFamily="-65" charset="-128"/>
              </a:defRPr>
            </a:lvl3pPr>
            <a:lvl4pPr eaLnBrk="0" hangingPunct="0">
              <a:defRPr sz="2400">
                <a:solidFill>
                  <a:schemeClr val="tx1"/>
                </a:solidFill>
                <a:latin typeface="Arial" charset="0"/>
                <a:ea typeface="ＭＳ Ｐゴシック" pitchFamily="-65" charset="-128"/>
              </a:defRPr>
            </a:lvl4pPr>
            <a:lvl5pPr eaLnBrk="0" hangingPunct="0">
              <a:defRPr sz="2400">
                <a:solidFill>
                  <a:schemeClr val="tx1"/>
                </a:solidFill>
                <a:latin typeface="Arial" charset="0"/>
                <a:ea typeface="ＭＳ Ｐゴシック" pitchFamily="-65" charset="-128"/>
              </a:defRPr>
            </a:lvl5pPr>
            <a:lvl6pPr marL="457200" eaLnBrk="0" fontAlgn="base" hangingPunct="0">
              <a:spcBef>
                <a:spcPct val="0"/>
              </a:spcBef>
              <a:spcAft>
                <a:spcPct val="0"/>
              </a:spcAft>
              <a:defRPr sz="2400">
                <a:solidFill>
                  <a:schemeClr val="tx1"/>
                </a:solidFill>
                <a:latin typeface="Arial" charset="0"/>
                <a:ea typeface="ＭＳ Ｐゴシック" pitchFamily="-65" charset="-128"/>
              </a:defRPr>
            </a:lvl6pPr>
            <a:lvl7pPr marL="914400" eaLnBrk="0" fontAlgn="base" hangingPunct="0">
              <a:spcBef>
                <a:spcPct val="0"/>
              </a:spcBef>
              <a:spcAft>
                <a:spcPct val="0"/>
              </a:spcAft>
              <a:defRPr sz="2400">
                <a:solidFill>
                  <a:schemeClr val="tx1"/>
                </a:solidFill>
                <a:latin typeface="Arial" charset="0"/>
                <a:ea typeface="ＭＳ Ｐゴシック" pitchFamily="-65" charset="-128"/>
              </a:defRPr>
            </a:lvl7pPr>
            <a:lvl8pPr marL="1371600" eaLnBrk="0" fontAlgn="base" hangingPunct="0">
              <a:spcBef>
                <a:spcPct val="0"/>
              </a:spcBef>
              <a:spcAft>
                <a:spcPct val="0"/>
              </a:spcAft>
              <a:defRPr sz="2400">
                <a:solidFill>
                  <a:schemeClr val="tx1"/>
                </a:solidFill>
                <a:latin typeface="Arial" charset="0"/>
                <a:ea typeface="ＭＳ Ｐゴシック" pitchFamily="-65" charset="-128"/>
              </a:defRPr>
            </a:lvl8pPr>
            <a:lvl9pPr marL="1828800" eaLnBrk="0" fontAlgn="base" hangingPunct="0">
              <a:spcBef>
                <a:spcPct val="0"/>
              </a:spcBef>
              <a:spcAft>
                <a:spcPct val="0"/>
              </a:spcAft>
              <a:defRPr sz="2400">
                <a:solidFill>
                  <a:schemeClr val="tx1"/>
                </a:solidFill>
                <a:latin typeface="Arial" charset="0"/>
                <a:ea typeface="ＭＳ Ｐゴシック" pitchFamily="-65" charset="-128"/>
              </a:defRPr>
            </a:lvl9pPr>
          </a:lstStyle>
          <a:p>
            <a:pPr eaLnBrk="1" hangingPunct="1">
              <a:defRPr/>
            </a:pPr>
            <a:r>
              <a:rPr lang="en-US" altLang="en-US" sz="2000" b="1" u="sng" dirty="0"/>
              <a:t>Cautions</a:t>
            </a:r>
            <a:r>
              <a:rPr lang="en-US" altLang="en-US" sz="2000" b="1" dirty="0"/>
              <a:t>:</a:t>
            </a:r>
          </a:p>
          <a:p>
            <a:pPr eaLnBrk="1" hangingPunct="1">
              <a:spcAft>
                <a:spcPts val="1200"/>
              </a:spcAft>
              <a:buClr>
                <a:schemeClr val="accent1"/>
              </a:buClr>
              <a:buFont typeface="Wingdings" pitchFamily="-65" charset="2"/>
              <a:buChar char="§"/>
              <a:defRPr/>
            </a:pPr>
            <a:r>
              <a:rPr lang="en-US" altLang="en-US" sz="2000" dirty="0"/>
              <a:t>Correlation requires that both variables be quantitative.</a:t>
            </a:r>
          </a:p>
          <a:p>
            <a:pPr algn="just" eaLnBrk="1" hangingPunct="1">
              <a:spcAft>
                <a:spcPts val="1200"/>
              </a:spcAft>
              <a:buClr>
                <a:schemeClr val="accent1"/>
              </a:buClr>
              <a:buFont typeface="Wingdings" pitchFamily="-65" charset="2"/>
              <a:buChar char="§"/>
              <a:defRPr/>
            </a:pPr>
            <a:r>
              <a:rPr lang="en-US" altLang="en-US" sz="2000" dirty="0"/>
              <a:t>Correlation </a:t>
            </a:r>
            <a:r>
              <a:rPr lang="en-US" altLang="en-US" sz="2000" i="1" dirty="0"/>
              <a:t>does not describe curved relationships</a:t>
            </a:r>
            <a:r>
              <a:rPr lang="en-US" altLang="en-US" sz="2000" dirty="0"/>
              <a:t> between variables, no matter how strong the relationship is.</a:t>
            </a:r>
          </a:p>
          <a:p>
            <a:pPr algn="just" eaLnBrk="1" hangingPunct="1">
              <a:spcAft>
                <a:spcPts val="1200"/>
              </a:spcAft>
              <a:buClr>
                <a:schemeClr val="accent1"/>
              </a:buClr>
              <a:buFont typeface="Wingdings" pitchFamily="-65" charset="2"/>
              <a:buChar char="§"/>
              <a:defRPr/>
            </a:pPr>
            <a:r>
              <a:rPr lang="en-US" altLang="en-US" sz="2000" dirty="0"/>
              <a:t>The correlation </a:t>
            </a:r>
            <a:r>
              <a:rPr lang="en-US" altLang="en-US" sz="2000" i="1" dirty="0"/>
              <a:t>r </a:t>
            </a:r>
            <a:r>
              <a:rPr lang="en-US" altLang="en-US" sz="2000" dirty="0"/>
              <a:t>is not resistant; it can be strongly affected by a few outlying observations.</a:t>
            </a:r>
          </a:p>
          <a:p>
            <a:pPr algn="just" eaLnBrk="1" hangingPunct="1">
              <a:spcAft>
                <a:spcPts val="1200"/>
              </a:spcAft>
              <a:buClr>
                <a:schemeClr val="accent1"/>
              </a:buClr>
              <a:buFont typeface="Wingdings" pitchFamily="-65" charset="2"/>
              <a:buChar char="§"/>
              <a:defRPr/>
            </a:pPr>
            <a:r>
              <a:rPr lang="en-US" altLang="en-US" sz="2000" dirty="0"/>
              <a:t>Correlation is not a complete summary of two-variable data.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Correlation Examples</a:t>
            </a:r>
            <a:endParaRPr lang="en-US" dirty="0"/>
          </a:p>
        </p:txBody>
      </p:sp>
      <p:sp>
        <p:nvSpPr>
          <p:cNvPr id="41986"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BFD135ED-2EEF-44BF-A2E0-F31ADF16F938}" type="slidenum">
              <a:rPr lang="en-US" sz="1200">
                <a:solidFill>
                  <a:schemeClr val="accent1"/>
                </a:solidFill>
                <a:latin typeface="+mn-lt"/>
              </a:rPr>
              <a:pPr>
                <a:lnSpc>
                  <a:spcPct val="80000"/>
                </a:lnSpc>
              </a:pPr>
              <a:t>20</a:t>
            </a:fld>
            <a:endParaRPr lang="en-US" sz="1200" dirty="0">
              <a:solidFill>
                <a:schemeClr val="accent1"/>
              </a:solidFill>
              <a:latin typeface="+mn-lt"/>
            </a:endParaRPr>
          </a:p>
        </p:txBody>
      </p:sp>
      <p:sp>
        <p:nvSpPr>
          <p:cNvPr id="41991" name="Rectangle 1"/>
          <p:cNvSpPr>
            <a:spLocks noChangeArrowheads="1"/>
          </p:cNvSpPr>
          <p:nvPr/>
        </p:nvSpPr>
        <p:spPr bwMode="auto">
          <a:xfrm>
            <a:off x="434181" y="1057275"/>
            <a:ext cx="827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Wingdings" pitchFamily="2" charset="2"/>
              <a:buNone/>
            </a:pPr>
            <a:r>
              <a:rPr lang="en-US" sz="2000" dirty="0">
                <a:solidFill>
                  <a:srgbClr val="000000"/>
                </a:solidFill>
              </a:rPr>
              <a:t>For each graph, estimate the correlation </a:t>
            </a:r>
            <a:r>
              <a:rPr lang="en-US" sz="2000" i="1" dirty="0">
                <a:solidFill>
                  <a:srgbClr val="000000"/>
                </a:solidFill>
              </a:rPr>
              <a:t>r</a:t>
            </a:r>
            <a:r>
              <a:rPr lang="en-US" sz="2000" dirty="0">
                <a:solidFill>
                  <a:srgbClr val="000000"/>
                </a:solidFill>
              </a:rPr>
              <a:t> and interpret it in context. </a:t>
            </a:r>
          </a:p>
        </p:txBody>
      </p:sp>
      <p:pic>
        <p:nvPicPr>
          <p:cNvPr id="11" name="Picture 4" descr="A scatterplot of manatees killed by boats."/>
          <p:cNvPicPr>
            <a:picLocks noChangeAspect="1"/>
          </p:cNvPicPr>
          <p:nvPr/>
        </p:nvPicPr>
        <p:blipFill rotWithShape="1">
          <a:blip r:embed="rId2">
            <a:extLst>
              <a:ext uri="{28A0092B-C50C-407E-A947-70E740481C1C}">
                <a14:useLocalDpi xmlns:a14="http://schemas.microsoft.com/office/drawing/2010/main" val="0"/>
              </a:ext>
            </a:extLst>
          </a:blip>
          <a:srcRect l="51420" t="50607" r="3"/>
          <a:stretch/>
        </p:blipFill>
        <p:spPr bwMode="auto">
          <a:xfrm>
            <a:off x="1375014" y="1588531"/>
            <a:ext cx="6214071" cy="4661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6106010"/>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accel="50000" decel="5000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1000" fill="hold"/>
                                        <p:tgtEl>
                                          <p:spTgt spid="11"/>
                                        </p:tgtEl>
                                        <p:attrNameLst>
                                          <p:attrName>ppt_x</p:attrName>
                                        </p:attrNameLst>
                                      </p:cBhvr>
                                      <p:tavLst>
                                        <p:tav tm="0">
                                          <p:val>
                                            <p:strVal val="#ppt_x"/>
                                          </p:val>
                                        </p:tav>
                                        <p:tav tm="100000">
                                          <p:val>
                                            <p:strVal val="#ppt_x"/>
                                          </p:val>
                                        </p:tav>
                                      </p:tavLst>
                                    </p:anim>
                                    <p:anim calcmode="lin" valueType="num">
                                      <p:cBhvr additive="base">
                                        <p:cTn id="8" dur="10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2"/>
          <p:cNvSpPr>
            <a:spLocks noGrp="1"/>
          </p:cNvSpPr>
          <p:nvPr>
            <p:ph type="title"/>
          </p:nvPr>
        </p:nvSpPr>
        <p:spPr>
          <a:xfrm>
            <a:off x="457200" y="597877"/>
            <a:ext cx="7262446" cy="1143000"/>
          </a:xfrm>
        </p:spPr>
        <p:txBody>
          <a:bodyPr anchor="t"/>
          <a:lstStyle/>
          <a:p>
            <a:pPr eaLnBrk="1" hangingPunct="1"/>
            <a:r>
              <a:rPr lang="en-US" b="1" dirty="0">
                <a:solidFill>
                  <a:schemeClr val="accent1"/>
                </a:solidFill>
                <a:ea typeface="ＭＳ Ｐゴシック" pitchFamily="34" charset="-128"/>
              </a:rPr>
              <a:t>2.4 Least-Squares Regression</a:t>
            </a:r>
          </a:p>
        </p:txBody>
      </p:sp>
      <p:sp>
        <p:nvSpPr>
          <p:cNvPr id="43011" name="Text Placeholder 3"/>
          <p:cNvSpPr>
            <a:spLocks noGrp="1"/>
          </p:cNvSpPr>
          <p:nvPr>
            <p:ph idx="1"/>
          </p:nvPr>
        </p:nvSpPr>
        <p:spPr/>
        <p:txBody>
          <a:bodyPr/>
          <a:lstStyle/>
          <a:p>
            <a:pPr eaLnBrk="1" hangingPunct="1"/>
            <a:r>
              <a:rPr lang="en-US" sz="2400" dirty="0">
                <a:solidFill>
                  <a:srgbClr val="073779"/>
                </a:solidFill>
                <a:ea typeface="ＭＳ Ｐゴシック" pitchFamily="34" charset="-128"/>
              </a:rPr>
              <a:t>Regression lines</a:t>
            </a:r>
          </a:p>
          <a:p>
            <a:pPr eaLnBrk="1" hangingPunct="1"/>
            <a:r>
              <a:rPr lang="en-US" sz="2400" dirty="0">
                <a:solidFill>
                  <a:srgbClr val="073779"/>
                </a:solidFill>
                <a:ea typeface="ＭＳ Ｐゴシック" pitchFamily="34" charset="-128"/>
              </a:rPr>
              <a:t>Least-squares regression line</a:t>
            </a:r>
          </a:p>
          <a:p>
            <a:pPr eaLnBrk="1" hangingPunct="1"/>
            <a:r>
              <a:rPr lang="en-US" sz="2400" dirty="0">
                <a:solidFill>
                  <a:srgbClr val="073779"/>
                </a:solidFill>
                <a:ea typeface="ＭＳ Ｐゴシック" pitchFamily="34" charset="-128"/>
              </a:rPr>
              <a:t>Predictions</a:t>
            </a:r>
          </a:p>
          <a:p>
            <a:pPr eaLnBrk="1" hangingPunct="1"/>
            <a:r>
              <a:rPr lang="en-US" sz="2400" dirty="0">
                <a:solidFill>
                  <a:srgbClr val="073779"/>
                </a:solidFill>
                <a:ea typeface="ＭＳ Ｐゴシック" pitchFamily="34" charset="-128"/>
              </a:rPr>
              <a:t>Facts about least-squares regression</a:t>
            </a:r>
          </a:p>
          <a:p>
            <a:pPr eaLnBrk="1" hangingPunct="1"/>
            <a:r>
              <a:rPr lang="en-US" sz="2400" dirty="0">
                <a:solidFill>
                  <a:srgbClr val="073779"/>
                </a:solidFill>
                <a:ea typeface="ＭＳ Ｐゴシック" pitchFamily="34" charset="-128"/>
              </a:rPr>
              <a:t>Correlation and regression</a:t>
            </a:r>
          </a:p>
          <a:p>
            <a:pPr marL="0" indent="0" eaLnBrk="1" hangingPunct="1">
              <a:buNone/>
            </a:pPr>
            <a:endParaRPr lang="en-US" sz="2400" baseline="30000" dirty="0">
              <a:solidFill>
                <a:srgbClr val="073779"/>
              </a:solidFill>
              <a:ea typeface="ＭＳ Ｐゴシック" pitchFamily="34" charset="-128"/>
            </a:endParaRPr>
          </a:p>
        </p:txBody>
      </p:sp>
      <p:sp>
        <p:nvSpPr>
          <p:cNvPr id="43012"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8844AA2F-746E-4C9D-AF7B-301786804139}" type="slidenum">
              <a:rPr lang="en-US">
                <a:solidFill>
                  <a:schemeClr val="accent1"/>
                </a:solidFill>
              </a:rPr>
              <a:pPr/>
              <a:t>21</a:t>
            </a:fld>
            <a:endParaRPr lang="en-US">
              <a:solidFill>
                <a:schemeClr val="accen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Regression Line 1</a:t>
            </a:r>
            <a:endParaRPr lang="en-US" dirty="0"/>
          </a:p>
        </p:txBody>
      </p:sp>
      <p:sp>
        <p:nvSpPr>
          <p:cNvPr id="44034" name="Slide Number Placeholder 7"/>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64B5E510-2534-4B37-990D-9D411DB64F2C}" type="slidenum">
              <a:rPr lang="en-US">
                <a:solidFill>
                  <a:schemeClr val="accent1"/>
                </a:solidFill>
              </a:rPr>
              <a:pPr/>
              <a:t>22</a:t>
            </a:fld>
            <a:endParaRPr lang="en-US" dirty="0">
              <a:solidFill>
                <a:schemeClr val="accent1"/>
              </a:solidFill>
            </a:endParaRPr>
          </a:p>
        </p:txBody>
      </p:sp>
      <p:sp>
        <p:nvSpPr>
          <p:cNvPr id="44037" name="Rectangle 3"/>
          <p:cNvSpPr txBox="1">
            <a:spLocks noChangeArrowheads="1"/>
          </p:cNvSpPr>
          <p:nvPr/>
        </p:nvSpPr>
        <p:spPr bwMode="auto">
          <a:xfrm>
            <a:off x="217486" y="1124313"/>
            <a:ext cx="8697914" cy="1458141"/>
          </a:xfrm>
          <a:prstGeom prst="rect">
            <a:avLst/>
          </a:prstGeom>
          <a:solidFill>
            <a:srgbClr val="FFD780"/>
          </a:solidFill>
          <a:ln>
            <a:noFill/>
          </a:ln>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defTabSz="914400" eaLnBrk="1" hangingPunct="1">
              <a:spcBef>
                <a:spcPts val="700"/>
              </a:spcBef>
              <a:buClr>
                <a:schemeClr val="accent2"/>
              </a:buClr>
              <a:buSzPct val="60000"/>
              <a:buFont typeface="Monotype Sorts" charset="2"/>
              <a:buNone/>
            </a:pPr>
            <a:r>
              <a:rPr lang="en-US" sz="2000" dirty="0"/>
              <a:t>A </a:t>
            </a:r>
            <a:r>
              <a:rPr lang="en-US" sz="2000" b="1" dirty="0"/>
              <a:t>regression line</a:t>
            </a:r>
            <a:r>
              <a:rPr lang="en-US" sz="2000" dirty="0"/>
              <a:t> is a straight line that describes how a response variable </a:t>
            </a:r>
            <a:r>
              <a:rPr lang="en-US" sz="2000" i="1" dirty="0"/>
              <a:t>y</a:t>
            </a:r>
            <a:r>
              <a:rPr lang="en-US" sz="2000" dirty="0"/>
              <a:t> changes as an explanatory variable </a:t>
            </a:r>
            <a:r>
              <a:rPr lang="en-US" sz="2000" i="1" dirty="0"/>
              <a:t>x</a:t>
            </a:r>
            <a:r>
              <a:rPr lang="en-US" sz="2000" dirty="0"/>
              <a:t> changes.</a:t>
            </a:r>
          </a:p>
          <a:p>
            <a:pPr defTabSz="914400" eaLnBrk="1" hangingPunct="1">
              <a:spcBef>
                <a:spcPts val="700"/>
              </a:spcBef>
              <a:buClr>
                <a:schemeClr val="accent2"/>
              </a:buClr>
              <a:buSzPct val="60000"/>
              <a:buFont typeface="Monotype Sorts" charset="2"/>
              <a:buNone/>
            </a:pPr>
            <a:r>
              <a:rPr lang="en-US" sz="2000" dirty="0"/>
              <a:t>We can use a regression line to predict the value of </a:t>
            </a:r>
            <a:r>
              <a:rPr lang="en-US" sz="2000" i="1" dirty="0"/>
              <a:t>y</a:t>
            </a:r>
            <a:r>
              <a:rPr lang="en-US" sz="2000" dirty="0"/>
              <a:t> for a given value of </a:t>
            </a:r>
            <a:r>
              <a:rPr lang="en-US" sz="2000" i="1" dirty="0"/>
              <a:t>x</a:t>
            </a:r>
            <a:r>
              <a:rPr lang="en-US" sz="2000" dirty="0"/>
              <a:t>.</a:t>
            </a:r>
          </a:p>
        </p:txBody>
      </p:sp>
      <p:sp>
        <p:nvSpPr>
          <p:cNvPr id="458755" name="Rectangle 3"/>
          <p:cNvSpPr>
            <a:spLocks noGrp="1" noChangeArrowheads="1"/>
          </p:cNvSpPr>
          <p:nvPr>
            <p:ph type="body" sz="half" idx="4294967295"/>
          </p:nvPr>
        </p:nvSpPr>
        <p:spPr>
          <a:xfrm>
            <a:off x="259556" y="3105665"/>
            <a:ext cx="4306887" cy="2747464"/>
          </a:xfrm>
        </p:spPr>
        <p:txBody>
          <a:bodyPr/>
          <a:lstStyle/>
          <a:p>
            <a:pPr marL="0" indent="0" algn="just" eaLnBrk="1" hangingPunct="1">
              <a:buFont typeface="Monotype Sorts" pitchFamily="-65" charset="2"/>
              <a:buNone/>
              <a:defRPr/>
            </a:pPr>
            <a:r>
              <a:rPr lang="en-US" altLang="en-US" b="1" u="sng" dirty="0">
                <a:solidFill>
                  <a:srgbClr val="0070C0"/>
                </a:solidFill>
                <a:ea typeface="ＭＳ Ｐゴシック" pitchFamily="-65" charset="-128"/>
                <a:cs typeface="Arial" charset="0"/>
              </a:rPr>
              <a:t>Example</a:t>
            </a:r>
            <a:r>
              <a:rPr lang="en-US" altLang="en-US" b="1" dirty="0">
                <a:solidFill>
                  <a:srgbClr val="0070C0"/>
                </a:solidFill>
                <a:ea typeface="ＭＳ Ｐゴシック" pitchFamily="-65" charset="-128"/>
                <a:cs typeface="Arial" charset="0"/>
              </a:rPr>
              <a:t>:</a:t>
            </a:r>
            <a:r>
              <a:rPr lang="en-US" altLang="en-US" dirty="0">
                <a:solidFill>
                  <a:schemeClr val="tx1"/>
                </a:solidFill>
                <a:ea typeface="ＭＳ Ｐゴシック" pitchFamily="-65" charset="-128"/>
                <a:cs typeface="Arial" charset="0"/>
              </a:rPr>
              <a:t> Predict the number of new adult birds that join the colony based on the percent of adult birds that return to the colony from the previous year.</a:t>
            </a:r>
          </a:p>
          <a:p>
            <a:pPr marL="233363" indent="-233363" eaLnBrk="1" hangingPunct="1">
              <a:buFont typeface="Wingdings 2" pitchFamily="-65" charset="2"/>
              <a:buChar char="¡"/>
              <a:defRPr/>
            </a:pPr>
            <a:r>
              <a:rPr lang="en-US" altLang="en-US" b="1" dirty="0">
                <a:solidFill>
                  <a:schemeClr val="tx1"/>
                </a:solidFill>
                <a:ea typeface="ＭＳ Ｐゴシック" pitchFamily="-65" charset="-128"/>
                <a:cs typeface="Arial" charset="0"/>
              </a:rPr>
              <a:t>If 60% of adults return, how many new birds are predicted?</a:t>
            </a:r>
          </a:p>
        </p:txBody>
      </p:sp>
      <p:pic>
        <p:nvPicPr>
          <p:cNvPr id="458756" name="Picture 4" descr="The image on the slide displays a scatter plot. X-axis is represented by “percent of adults returning,” and Y-axis is represented by “Number of new birds”. In the plot “regression line” is drawn, marked in red, and description for the regression line is given as “This regression line describes the overall pattern of the relationship.” On the regression line, there is a dotted line roughly in the shape of a square which is the predicted response for a colony with X is equal to 60 percent returning."/>
          <p:cNvPicPr>
            <a:picLocks noGrp="1" noChangeAspect="1" noChangeArrowheads="1"/>
          </p:cNvPicPr>
          <p:nvPr>
            <p:ph sz="quarter" idx="4294967295"/>
          </p:nvPr>
        </p:nvPicPr>
        <p:blipFill rotWithShape="1">
          <a:blip r:embed="rId2">
            <a:extLst>
              <a:ext uri="{28A0092B-C50C-407E-A947-70E740481C1C}">
                <a14:useLocalDpi xmlns:a14="http://schemas.microsoft.com/office/drawing/2010/main" val="0"/>
              </a:ext>
            </a:extLst>
          </a:blip>
          <a:srcRect t="-8" b="-8"/>
          <a:stretch/>
        </p:blipFill>
        <p:spPr>
          <a:xfrm>
            <a:off x="4894263" y="2765425"/>
            <a:ext cx="4249737" cy="3602038"/>
          </a:xfr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2" presetClass="entr" presetSubtype="0" fill="hold" grpId="0" nodeType="clickEffect">
                                  <p:stCondLst>
                                    <p:cond delay="0"/>
                                  </p:stCondLst>
                                  <p:childTnLst>
                                    <p:set>
                                      <p:cBhvr>
                                        <p:cTn id="6" dur="1" fill="hold">
                                          <p:stCondLst>
                                            <p:cond delay="0"/>
                                          </p:stCondLst>
                                        </p:cTn>
                                        <p:tgtEl>
                                          <p:spTgt spid="458755">
                                            <p:txEl>
                                              <p:pRg st="0" end="0"/>
                                            </p:txEl>
                                          </p:spTgt>
                                        </p:tgtEl>
                                        <p:attrNameLst>
                                          <p:attrName>style.visibility</p:attrName>
                                        </p:attrNameLst>
                                      </p:cBhvr>
                                      <p:to>
                                        <p:strVal val="visible"/>
                                      </p:to>
                                    </p:set>
                                    <p:animScale>
                                      <p:cBhvr>
                                        <p:cTn id="7" dur="1000" decel="50000" fill="hold">
                                          <p:stCondLst>
                                            <p:cond delay="0"/>
                                          </p:stCondLst>
                                        </p:cTn>
                                        <p:tgtEl>
                                          <p:spTgt spid="458755">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58755">
                                            <p:txEl>
                                              <p:pRg st="0" end="0"/>
                                            </p:txEl>
                                          </p:spTgt>
                                        </p:tgtEl>
                                        <p:attrNameLst>
                                          <p:attrName>ppt_x</p:attrName>
                                          <p:attrName>ppt_y</p:attrName>
                                        </p:attrNameLst>
                                      </p:cBhvr>
                                    </p:animMotion>
                                    <p:animEffect transition="in" filter="fade">
                                      <p:cBhvr>
                                        <p:cTn id="9" dur="1000"/>
                                        <p:tgtEl>
                                          <p:spTgt spid="458755">
                                            <p:txEl>
                                              <p:pRg st="0" end="0"/>
                                            </p:txEl>
                                          </p:spTgt>
                                        </p:tgtEl>
                                      </p:cBhvr>
                                    </p:animEffect>
                                  </p:childTnLst>
                                </p:cTn>
                              </p:par>
                            </p:childTnLst>
                          </p:cTn>
                        </p:par>
                        <p:par>
                          <p:cTn id="10" fill="hold" nodeType="afterGroup">
                            <p:stCondLst>
                              <p:cond delay="1000"/>
                            </p:stCondLst>
                            <p:childTnLst>
                              <p:par>
                                <p:cTn id="11" presetID="52" presetClass="entr" presetSubtype="0" fill="hold" grpId="0" nodeType="afterEffect">
                                  <p:stCondLst>
                                    <p:cond delay="0"/>
                                  </p:stCondLst>
                                  <p:childTnLst>
                                    <p:set>
                                      <p:cBhvr>
                                        <p:cTn id="12" dur="1" fill="hold">
                                          <p:stCondLst>
                                            <p:cond delay="0"/>
                                          </p:stCondLst>
                                        </p:cTn>
                                        <p:tgtEl>
                                          <p:spTgt spid="458755">
                                            <p:txEl>
                                              <p:pRg st="1" end="1"/>
                                            </p:txEl>
                                          </p:spTgt>
                                        </p:tgtEl>
                                        <p:attrNameLst>
                                          <p:attrName>style.visibility</p:attrName>
                                        </p:attrNameLst>
                                      </p:cBhvr>
                                      <p:to>
                                        <p:strVal val="visible"/>
                                      </p:to>
                                    </p:set>
                                    <p:animScale>
                                      <p:cBhvr>
                                        <p:cTn id="13" dur="1000" decel="50000" fill="hold">
                                          <p:stCondLst>
                                            <p:cond delay="0"/>
                                          </p:stCondLst>
                                        </p:cTn>
                                        <p:tgtEl>
                                          <p:spTgt spid="458755">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4" dur="1000" decel="50000" fill="hold">
                                          <p:stCondLst>
                                            <p:cond delay="0"/>
                                          </p:stCondLst>
                                        </p:cTn>
                                        <p:tgtEl>
                                          <p:spTgt spid="458755">
                                            <p:txEl>
                                              <p:pRg st="1" end="1"/>
                                            </p:txEl>
                                          </p:spTgt>
                                        </p:tgtEl>
                                        <p:attrNameLst>
                                          <p:attrName>ppt_x</p:attrName>
                                          <p:attrName>ppt_y</p:attrName>
                                        </p:attrNameLst>
                                      </p:cBhvr>
                                    </p:animMotion>
                                    <p:animEffect transition="in" filter="fade">
                                      <p:cBhvr>
                                        <p:cTn id="15" dur="1000"/>
                                        <p:tgtEl>
                                          <p:spTgt spid="458755">
                                            <p:txEl>
                                              <p:pRg st="1" end="1"/>
                                            </p:txEl>
                                          </p:spTgt>
                                        </p:tgtEl>
                                      </p:cBhvr>
                                    </p:animEffect>
                                  </p:childTnLst>
                                </p:cTn>
                              </p:par>
                              <p:par>
                                <p:cTn id="16" presetID="52" presetClass="entr" presetSubtype="0" fill="hold" nodeType="withEffect">
                                  <p:stCondLst>
                                    <p:cond delay="0"/>
                                  </p:stCondLst>
                                  <p:childTnLst>
                                    <p:set>
                                      <p:cBhvr>
                                        <p:cTn id="17" dur="1" fill="hold">
                                          <p:stCondLst>
                                            <p:cond delay="0"/>
                                          </p:stCondLst>
                                        </p:cTn>
                                        <p:tgtEl>
                                          <p:spTgt spid="458756"/>
                                        </p:tgtEl>
                                        <p:attrNameLst>
                                          <p:attrName>style.visibility</p:attrName>
                                        </p:attrNameLst>
                                      </p:cBhvr>
                                      <p:to>
                                        <p:strVal val="visible"/>
                                      </p:to>
                                    </p:set>
                                    <p:animScale>
                                      <p:cBhvr>
                                        <p:cTn id="18" dur="1000" decel="50000" fill="hold">
                                          <p:stCondLst>
                                            <p:cond delay="0"/>
                                          </p:stCondLst>
                                        </p:cTn>
                                        <p:tgtEl>
                                          <p:spTgt spid="45875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9" dur="1000" decel="50000" fill="hold">
                                          <p:stCondLst>
                                            <p:cond delay="0"/>
                                          </p:stCondLst>
                                        </p:cTn>
                                        <p:tgtEl>
                                          <p:spTgt spid="458756"/>
                                        </p:tgtEl>
                                        <p:attrNameLst>
                                          <p:attrName>ppt_x</p:attrName>
                                          <p:attrName>ppt_y</p:attrName>
                                        </p:attrNameLst>
                                      </p:cBhvr>
                                    </p:animMotion>
                                    <p:animEffect transition="in" filter="fade">
                                      <p:cBhvr>
                                        <p:cTn id="20" dur="1000"/>
                                        <p:tgtEl>
                                          <p:spTgt spid="458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8755" grpId="0" build="p"/>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solidFill>
                  <a:schemeClr val="accent1"/>
                </a:solidFill>
              </a:rPr>
              <a:t>Regression Line 2</a:t>
            </a:r>
          </a:p>
        </p:txBody>
      </p:sp>
      <p:sp>
        <p:nvSpPr>
          <p:cNvPr id="45058"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1A4F7C3E-9A57-4BB6-BC52-29CFF806D97F}" type="slidenum">
              <a:rPr lang="en-US" sz="1200">
                <a:solidFill>
                  <a:schemeClr val="accent1"/>
                </a:solidFill>
              </a:rPr>
              <a:pPr>
                <a:lnSpc>
                  <a:spcPct val="80000"/>
                </a:lnSpc>
              </a:pPr>
              <a:t>23</a:t>
            </a:fld>
            <a:endParaRPr lang="en-US" sz="1200" dirty="0">
              <a:solidFill>
                <a:schemeClr val="accent1"/>
              </a:solidFill>
            </a:endParaRPr>
          </a:p>
        </p:txBody>
      </p:sp>
      <p:sp>
        <p:nvSpPr>
          <p:cNvPr id="45063" name="Rectangle 3"/>
          <p:cNvSpPr txBox="1">
            <a:spLocks noChangeArrowheads="1"/>
          </p:cNvSpPr>
          <p:nvPr/>
        </p:nvSpPr>
        <p:spPr bwMode="auto">
          <a:xfrm>
            <a:off x="241299" y="1248385"/>
            <a:ext cx="8412163" cy="101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defTabSz="914400" eaLnBrk="1" hangingPunct="1">
              <a:spcBef>
                <a:spcPts val="700"/>
              </a:spcBef>
              <a:buClr>
                <a:schemeClr val="accent2"/>
              </a:buClr>
              <a:buSzPct val="60000"/>
              <a:buFont typeface="Monotype Sorts" charset="2"/>
              <a:buNone/>
            </a:pPr>
            <a:r>
              <a:rPr lang="en-US" sz="2000" dirty="0"/>
              <a:t>When a scatterplot displays a linear pattern, we can describe the overall pattern by drawing a straight line through the points. </a:t>
            </a:r>
          </a:p>
          <a:p>
            <a:pPr algn="just" defTabSz="914400" eaLnBrk="1" hangingPunct="1">
              <a:spcBef>
                <a:spcPts val="700"/>
              </a:spcBef>
              <a:buClr>
                <a:schemeClr val="accent2"/>
              </a:buClr>
              <a:buSzPct val="60000"/>
              <a:buFont typeface="Monotype Sorts" charset="2"/>
              <a:buNone/>
            </a:pPr>
            <a:r>
              <a:rPr lang="en-US" sz="2000" b="1" dirty="0"/>
              <a:t>Fitting a line</a:t>
            </a:r>
            <a:r>
              <a:rPr lang="en-US" sz="2000" dirty="0"/>
              <a:t> to data means drawing a line that comes as close as possible to the points.</a:t>
            </a:r>
          </a:p>
        </p:txBody>
      </p:sp>
      <p:sp>
        <p:nvSpPr>
          <p:cNvPr id="462853" name="Rectangle 5" descr="Regression equation: Y hat is equal to &quot;B zero&quot; plus &quot;B one&quot; multiplied by X."/>
          <p:cNvSpPr>
            <a:spLocks noGrp="1" noChangeArrowheads="1"/>
          </p:cNvSpPr>
          <p:nvPr>
            <p:ph sz="quarter" idx="4294967295"/>
          </p:nvPr>
        </p:nvSpPr>
        <p:spPr>
          <a:xfrm>
            <a:off x="174624" y="2923565"/>
            <a:ext cx="3327400" cy="403225"/>
          </a:xfrm>
        </p:spPr>
        <p:txBody>
          <a:bodyPr/>
          <a:lstStyle/>
          <a:p>
            <a:pPr eaLnBrk="1" hangingPunct="1">
              <a:buFont typeface="Wingdings" pitchFamily="2" charset="2"/>
              <a:buNone/>
            </a:pPr>
            <a:r>
              <a:rPr lang="en-US" sz="2400" b="1" dirty="0">
                <a:solidFill>
                  <a:srgbClr val="000000"/>
                </a:solidFill>
                <a:ea typeface="ＭＳ Ｐゴシック" pitchFamily="34" charset="-128"/>
              </a:rPr>
              <a:t>Regression equation: </a:t>
            </a:r>
            <a:endParaRPr lang="en-US" sz="1800" b="1" dirty="0">
              <a:solidFill>
                <a:srgbClr val="000000"/>
              </a:solidFill>
              <a:ea typeface="ＭＳ Ｐゴシック" pitchFamily="34" charset="-128"/>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339393202"/>
              </p:ext>
            </p:extLst>
          </p:nvPr>
        </p:nvGraphicFramePr>
        <p:xfrm>
          <a:off x="3502023" y="2931135"/>
          <a:ext cx="1507993" cy="476208"/>
        </p:xfrm>
        <a:graphic>
          <a:graphicData uri="http://schemas.openxmlformats.org/presentationml/2006/ole">
            <mc:AlternateContent xmlns:mc="http://schemas.openxmlformats.org/markup-compatibility/2006">
              <mc:Choice xmlns:v="urn:schemas-microsoft-com:vml" Requires="v">
                <p:oleObj spid="_x0000_s56322" name="Equation" r:id="rId3" imgW="723600" imgH="228600" progId="Equation.DSMT4">
                  <p:embed/>
                </p:oleObj>
              </mc:Choice>
              <mc:Fallback>
                <p:oleObj name="Equation" r:id="rId3" imgW="723600" imgH="228600" progId="Equation.DSMT4">
                  <p:embed/>
                  <p:pic>
                    <p:nvPicPr>
                      <p:cNvPr id="0" name=""/>
                      <p:cNvPicPr/>
                      <p:nvPr/>
                    </p:nvPicPr>
                    <p:blipFill>
                      <a:blip r:embed="rId4"/>
                      <a:stretch>
                        <a:fillRect/>
                      </a:stretch>
                    </p:blipFill>
                    <p:spPr>
                      <a:xfrm>
                        <a:off x="3502023" y="2931135"/>
                        <a:ext cx="1507993" cy="476208"/>
                      </a:xfrm>
                      <a:prstGeom prst="rect">
                        <a:avLst/>
                      </a:prstGeom>
                    </p:spPr>
                  </p:pic>
                </p:oleObj>
              </mc:Fallback>
            </mc:AlternateContent>
          </a:graphicData>
        </a:graphic>
      </p:graphicFrame>
      <p:sp>
        <p:nvSpPr>
          <p:cNvPr id="462856" name="Rectangle 8"/>
          <p:cNvSpPr>
            <a:spLocks noChangeArrowheads="1"/>
          </p:cNvSpPr>
          <p:nvPr/>
        </p:nvSpPr>
        <p:spPr bwMode="auto">
          <a:xfrm>
            <a:off x="174624" y="3673768"/>
            <a:ext cx="8478838" cy="3044825"/>
          </a:xfrm>
          <a:prstGeom prst="rect">
            <a:avLst/>
          </a:prstGeom>
          <a:solidFill>
            <a:srgbClr val="FFD780"/>
          </a:solidFill>
          <a:ln>
            <a:noFill/>
          </a:ln>
        </p:spPr>
        <p:txBody>
          <a:bodyPr lIns="92075" tIns="46038" rIns="92075" bIns="46038"/>
          <a:lstStyle/>
          <a:p>
            <a:pPr marL="742950" lvl="1" indent="-285750" eaLnBrk="1" hangingPunct="1">
              <a:lnSpc>
                <a:spcPct val="120000"/>
              </a:lnSpc>
              <a:spcBef>
                <a:spcPct val="20000"/>
              </a:spcBef>
              <a:spcAft>
                <a:spcPts val="600"/>
              </a:spcAft>
              <a:buClr>
                <a:schemeClr val="accent1"/>
              </a:buClr>
              <a:buFont typeface="Wingdings" pitchFamily="2" charset="2"/>
              <a:buChar char="§"/>
            </a:pPr>
            <a:r>
              <a:rPr lang="en-US" sz="2000" b="1" i="1" dirty="0"/>
              <a:t>x</a:t>
            </a:r>
            <a:r>
              <a:rPr lang="en-US" sz="2000" dirty="0"/>
              <a:t> is the value of the explanatory variable.</a:t>
            </a:r>
          </a:p>
          <a:p>
            <a:pPr marL="742950" lvl="1" indent="-285750" algn="just" eaLnBrk="1" hangingPunct="1">
              <a:lnSpc>
                <a:spcPct val="90000"/>
              </a:lnSpc>
              <a:spcBef>
                <a:spcPct val="20000"/>
              </a:spcBef>
              <a:spcAft>
                <a:spcPts val="600"/>
              </a:spcAft>
              <a:buClr>
                <a:schemeClr val="accent1"/>
              </a:buClr>
              <a:buFont typeface="Wingdings" pitchFamily="2" charset="2"/>
              <a:buChar char="§"/>
            </a:pPr>
            <a:r>
              <a:rPr lang="ja-JP" altLang="en-US" sz="2000" b="1" dirty="0"/>
              <a:t>“</a:t>
            </a:r>
            <a:r>
              <a:rPr lang="en-US" altLang="ja-JP" sz="2000" b="1" i="1" dirty="0"/>
              <a:t>y-</a:t>
            </a:r>
            <a:r>
              <a:rPr lang="en-US" altLang="ja-JP" sz="2000" b="1" dirty="0"/>
              <a:t>hat</a:t>
            </a:r>
            <a:r>
              <a:rPr lang="ja-JP" altLang="en-US" sz="2000" b="1" dirty="0"/>
              <a:t>”</a:t>
            </a:r>
            <a:r>
              <a:rPr lang="en-US" altLang="ja-JP" sz="2000" dirty="0"/>
              <a:t> is the predicted value of the response variable for a given value of </a:t>
            </a:r>
            <a:r>
              <a:rPr lang="en-US" altLang="ja-JP" sz="2000" i="1" dirty="0"/>
              <a:t>x</a:t>
            </a:r>
            <a:r>
              <a:rPr lang="en-US" altLang="ja-JP" sz="2000" dirty="0"/>
              <a:t>.</a:t>
            </a:r>
            <a:endParaRPr lang="en-US" altLang="ja-JP" sz="2000" i="1" dirty="0"/>
          </a:p>
          <a:p>
            <a:pPr marL="742950" lvl="1" indent="-285750" algn="just" eaLnBrk="1" hangingPunct="1">
              <a:lnSpc>
                <a:spcPct val="90000"/>
              </a:lnSpc>
              <a:spcBef>
                <a:spcPct val="60000"/>
              </a:spcBef>
              <a:spcAft>
                <a:spcPts val="600"/>
              </a:spcAft>
              <a:buClr>
                <a:schemeClr val="accent1"/>
              </a:buClr>
              <a:buFont typeface="Wingdings" pitchFamily="2" charset="2"/>
              <a:buChar char="§"/>
            </a:pPr>
            <a:r>
              <a:rPr lang="en-US" sz="2000" b="1" i="1" dirty="0"/>
              <a:t>b</a:t>
            </a:r>
            <a:r>
              <a:rPr lang="en-US" sz="2000" b="1" baseline="-25000" dirty="0"/>
              <a:t>1</a:t>
            </a:r>
            <a:r>
              <a:rPr lang="en-US" sz="2000" b="1" i="1" dirty="0"/>
              <a:t> </a:t>
            </a:r>
            <a:r>
              <a:rPr lang="en-US" sz="2000" dirty="0"/>
              <a:t>is the </a:t>
            </a:r>
            <a:r>
              <a:rPr lang="en-US" sz="2000" b="1" dirty="0"/>
              <a:t>slope</a:t>
            </a:r>
            <a:r>
              <a:rPr lang="en-US" sz="2000" dirty="0"/>
              <a:t>, the amount by which </a:t>
            </a:r>
            <a:r>
              <a:rPr lang="en-US" sz="2000" i="1" dirty="0"/>
              <a:t>y</a:t>
            </a:r>
            <a:r>
              <a:rPr lang="en-US" sz="2000" dirty="0"/>
              <a:t> changes for each one-unit increase in </a:t>
            </a:r>
            <a:r>
              <a:rPr lang="en-US" sz="2000" i="1" dirty="0"/>
              <a:t>x.</a:t>
            </a:r>
            <a:endParaRPr lang="en-US" sz="2000" dirty="0"/>
          </a:p>
          <a:p>
            <a:pPr marL="742950" lvl="1" indent="-285750" eaLnBrk="1" hangingPunct="1">
              <a:lnSpc>
                <a:spcPct val="90000"/>
              </a:lnSpc>
              <a:spcBef>
                <a:spcPct val="60000"/>
              </a:spcBef>
              <a:spcAft>
                <a:spcPts val="600"/>
              </a:spcAft>
              <a:buClr>
                <a:schemeClr val="accent1"/>
              </a:buClr>
              <a:buFont typeface="Wingdings" pitchFamily="2" charset="2"/>
              <a:buChar char="§"/>
            </a:pPr>
            <a:r>
              <a:rPr lang="en-US" sz="2000" b="1" i="1" dirty="0"/>
              <a:t>b</a:t>
            </a:r>
            <a:r>
              <a:rPr lang="en-US" sz="2000" b="1" baseline="-25000" dirty="0"/>
              <a:t>0</a:t>
            </a:r>
            <a:r>
              <a:rPr lang="en-US" sz="2000" b="1" i="1" dirty="0"/>
              <a:t> </a:t>
            </a:r>
            <a:r>
              <a:rPr lang="en-US" sz="2000" dirty="0"/>
              <a:t>is the </a:t>
            </a:r>
            <a:r>
              <a:rPr lang="en-US" sz="2000" b="1" dirty="0"/>
              <a:t>intercept</a:t>
            </a:r>
            <a:r>
              <a:rPr lang="en-US" sz="2000" dirty="0"/>
              <a:t>, the value of </a:t>
            </a:r>
            <a:r>
              <a:rPr lang="en-US" sz="2000" i="1" dirty="0"/>
              <a:t>y</a:t>
            </a:r>
            <a:r>
              <a:rPr lang="en-US" sz="2000" dirty="0"/>
              <a:t> when </a:t>
            </a:r>
            <a:r>
              <a:rPr lang="en-US" sz="2000" i="1" dirty="0"/>
              <a:t>x = 0.</a:t>
            </a:r>
            <a:r>
              <a:rPr lang="en-US" sz="2000" dirty="0"/>
              <a:t>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iterate type="lt">
                                    <p:tmAbs val="0"/>
                                  </p:iterate>
                                  <p:childTnLst>
                                    <p:set>
                                      <p:cBhvr>
                                        <p:cTn id="6" dur="1" fill="hold">
                                          <p:stCondLst>
                                            <p:cond delay="0"/>
                                          </p:stCondLst>
                                        </p:cTn>
                                        <p:tgtEl>
                                          <p:spTgt spid="46285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285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62856">
                                            <p:txEl>
                                              <p:pRg st="1" end="1"/>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62856">
                                            <p:txEl>
                                              <p:pRg st="2" end="2"/>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46285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3" grpId="0" build="p"/>
      <p:bldP spid="462856" grpId="0" build="p" bldLvl="3"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1"/>
                </a:solidFill>
              </a:rPr>
              <a:t>Least-Squares Regression Line</a:t>
            </a:r>
            <a:endParaRPr lang="en-US" dirty="0"/>
          </a:p>
        </p:txBody>
      </p:sp>
      <p:sp>
        <p:nvSpPr>
          <p:cNvPr id="46082"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D2759BE8-3A53-4D0F-B4C0-1253E8D1FF54}" type="slidenum">
              <a:rPr lang="en-US" sz="1200">
                <a:solidFill>
                  <a:schemeClr val="accent1"/>
                </a:solidFill>
              </a:rPr>
              <a:pPr>
                <a:lnSpc>
                  <a:spcPct val="80000"/>
                </a:lnSpc>
              </a:pPr>
              <a:t>24</a:t>
            </a:fld>
            <a:endParaRPr lang="en-US" sz="1200">
              <a:solidFill>
                <a:schemeClr val="accent1"/>
              </a:solidFill>
            </a:endParaRPr>
          </a:p>
        </p:txBody>
      </p:sp>
      <p:sp>
        <p:nvSpPr>
          <p:cNvPr id="46083" name="Rectangle 3"/>
          <p:cNvSpPr>
            <a:spLocks noGrp="1" noChangeArrowheads="1"/>
          </p:cNvSpPr>
          <p:nvPr>
            <p:ph sz="quarter" idx="4294967295"/>
          </p:nvPr>
        </p:nvSpPr>
        <p:spPr>
          <a:xfrm>
            <a:off x="174624" y="1313058"/>
            <a:ext cx="8534400" cy="833438"/>
          </a:xfrm>
        </p:spPr>
        <p:txBody>
          <a:bodyPr/>
          <a:lstStyle/>
          <a:p>
            <a:pPr marL="0" indent="0" algn="just" eaLnBrk="1" hangingPunct="1">
              <a:spcBef>
                <a:spcPct val="40000"/>
              </a:spcBef>
              <a:buFont typeface="Wingdings 2" pitchFamily="18" charset="2"/>
              <a:buNone/>
            </a:pPr>
            <a:r>
              <a:rPr lang="en-US" dirty="0">
                <a:solidFill>
                  <a:schemeClr val="tx1"/>
                </a:solidFill>
                <a:ea typeface="ＭＳ Ｐゴシック" pitchFamily="34" charset="-128"/>
              </a:rPr>
              <a:t>Because we are trying to predict </a:t>
            </a:r>
            <a:r>
              <a:rPr lang="en-US" i="1" dirty="0">
                <a:solidFill>
                  <a:schemeClr val="tx1"/>
                </a:solidFill>
                <a:ea typeface="ＭＳ Ｐゴシック" pitchFamily="34" charset="-128"/>
              </a:rPr>
              <a:t>y,</a:t>
            </a:r>
            <a:r>
              <a:rPr lang="en-US" dirty="0">
                <a:solidFill>
                  <a:schemeClr val="tx1"/>
                </a:solidFill>
                <a:ea typeface="ＭＳ Ｐゴシック" pitchFamily="34" charset="-128"/>
              </a:rPr>
              <a:t> we want the regression line to be as close as possible to the data points in the vertical (</a:t>
            </a:r>
            <a:r>
              <a:rPr lang="en-US" i="1" dirty="0">
                <a:solidFill>
                  <a:schemeClr val="tx1"/>
                </a:solidFill>
                <a:ea typeface="ＭＳ Ｐゴシック" pitchFamily="34" charset="-128"/>
              </a:rPr>
              <a:t>y</a:t>
            </a:r>
            <a:r>
              <a:rPr lang="en-US" dirty="0">
                <a:solidFill>
                  <a:schemeClr val="tx1"/>
                </a:solidFill>
                <a:ea typeface="ＭＳ Ｐゴシック" pitchFamily="34" charset="-128"/>
              </a:rPr>
              <a:t>) direction.</a:t>
            </a:r>
          </a:p>
        </p:txBody>
      </p:sp>
      <p:grpSp>
        <p:nvGrpSpPr>
          <p:cNvPr id="2" name="Group 8" descr="Least-Squares Regression Line (LSRL)"/>
          <p:cNvGrpSpPr/>
          <p:nvPr/>
        </p:nvGrpSpPr>
        <p:grpSpPr>
          <a:xfrm>
            <a:off x="372694" y="2528009"/>
            <a:ext cx="8336330" cy="2616101"/>
            <a:chOff x="219426" y="1894285"/>
            <a:chExt cx="7660640" cy="2269053"/>
          </a:xfrm>
          <a:effectLst>
            <a:outerShdw blurRad="50800" dist="38100" dir="2700000">
              <a:srgbClr val="000000">
                <a:alpha val="43000"/>
              </a:srgbClr>
            </a:outerShdw>
          </a:effectLst>
        </p:grpSpPr>
        <p:sp>
          <p:nvSpPr>
            <p:cNvPr id="45063" name="Rectangle 7"/>
            <p:cNvSpPr>
              <a:spLocks noChangeArrowheads="1"/>
            </p:cNvSpPr>
            <p:nvPr/>
          </p:nvSpPr>
          <p:spPr bwMode="auto">
            <a:xfrm>
              <a:off x="219426" y="1894285"/>
              <a:ext cx="7660640" cy="2269053"/>
            </a:xfrm>
            <a:prstGeom prst="rect">
              <a:avLst/>
            </a:prstGeom>
            <a:solidFill>
              <a:srgbClr val="FFD780"/>
            </a:solidFill>
            <a:ln>
              <a:noFill/>
            </a:ln>
          </p:spPr>
          <p:txBody>
            <a:bodyPr>
              <a:spAutoFit/>
            </a:bodyPr>
            <a:lstStyle/>
            <a:p>
              <a:pPr defTabSz="914400" eaLnBrk="1" hangingPunct="1">
                <a:spcBef>
                  <a:spcPct val="40000"/>
                </a:spcBef>
                <a:buClr>
                  <a:schemeClr val="accent2"/>
                </a:buClr>
                <a:buSzPct val="60000"/>
                <a:buFont typeface="Wingdings" pitchFamily="-84" charset="2"/>
                <a:buNone/>
                <a:defRPr/>
              </a:pPr>
              <a:r>
                <a:rPr lang="en-US" sz="2000" b="1" u="sng" dirty="0">
                  <a:latin typeface="Arial" charset="0"/>
                  <a:ea typeface="ＭＳ Ｐゴシック" pitchFamily="-84" charset="-128"/>
                  <a:cs typeface="Arial" charset="0"/>
                </a:rPr>
                <a:t>Least-Squares Regression Line (LSRL)</a:t>
              </a:r>
              <a:r>
                <a:rPr lang="en-US" sz="2000" b="1" dirty="0">
                  <a:latin typeface="Arial" charset="0"/>
                  <a:ea typeface="ＭＳ Ｐゴシック" pitchFamily="-84" charset="-128"/>
                  <a:cs typeface="Arial" charset="0"/>
                </a:rPr>
                <a:t>:</a:t>
              </a:r>
              <a:r>
                <a:rPr lang="en-US" sz="2000" u="sng" dirty="0">
                  <a:latin typeface="Arial" charset="0"/>
                  <a:ea typeface="ＭＳ Ｐゴシック" pitchFamily="-84" charset="-128"/>
                  <a:cs typeface="Arial" charset="0"/>
                </a:rPr>
                <a:t>  </a:t>
              </a:r>
            </a:p>
            <a:p>
              <a:pPr algn="just" defTabSz="914400" eaLnBrk="1" hangingPunct="1">
                <a:spcBef>
                  <a:spcPct val="40000"/>
                </a:spcBef>
                <a:buClr>
                  <a:schemeClr val="accent1"/>
                </a:buClr>
                <a:buSzPct val="70000"/>
                <a:defRPr/>
              </a:pPr>
              <a:r>
                <a:rPr lang="en-US" sz="2000" dirty="0">
                  <a:latin typeface="Arial" charset="0"/>
                  <a:ea typeface="ＭＳ Ｐゴシック" pitchFamily="-84" charset="-128"/>
                  <a:cs typeface="Arial" charset="0"/>
                </a:rPr>
                <a:t>The </a:t>
              </a:r>
              <a:r>
                <a:rPr lang="en-US" sz="2000" b="1" dirty="0">
                  <a:latin typeface="Arial" charset="0"/>
                  <a:ea typeface="ＭＳ Ｐゴシック" pitchFamily="-84" charset="-128"/>
                  <a:cs typeface="Arial" charset="0"/>
                </a:rPr>
                <a:t>least-squares regression line of </a:t>
              </a:r>
              <a:r>
                <a:rPr lang="en-US" sz="2000" b="1" i="1" dirty="0">
                  <a:latin typeface="Arial" charset="0"/>
                  <a:ea typeface="ＭＳ Ｐゴシック" pitchFamily="-84" charset="-128"/>
                  <a:cs typeface="Arial" charset="0"/>
                </a:rPr>
                <a:t>y </a:t>
              </a:r>
              <a:r>
                <a:rPr lang="en-US" sz="2000" b="1" dirty="0">
                  <a:latin typeface="Arial" charset="0"/>
                  <a:ea typeface="ＭＳ Ｐゴシック" pitchFamily="-84" charset="-128"/>
                  <a:cs typeface="Arial" charset="0"/>
                </a:rPr>
                <a:t>on </a:t>
              </a:r>
              <a:r>
                <a:rPr lang="en-US" sz="2000" b="1" i="1" dirty="0">
                  <a:latin typeface="Arial" charset="0"/>
                  <a:ea typeface="ＭＳ Ｐゴシック" pitchFamily="-84" charset="-128"/>
                  <a:cs typeface="Arial" charset="0"/>
                </a:rPr>
                <a:t>x </a:t>
              </a:r>
              <a:r>
                <a:rPr lang="en-US" sz="2000" dirty="0">
                  <a:latin typeface="Arial" charset="0"/>
                  <a:ea typeface="ＭＳ Ｐゴシック" pitchFamily="-84" charset="-128"/>
                  <a:cs typeface="Arial" charset="0"/>
                </a:rPr>
                <a:t>is the line that minimizes the sum of the squares of the vertical distances of the data points from the line.</a:t>
              </a:r>
            </a:p>
            <a:p>
              <a:pPr algn="just" defTabSz="914400" eaLnBrk="1" hangingPunct="1">
                <a:spcBef>
                  <a:spcPct val="40000"/>
                </a:spcBef>
                <a:buClr>
                  <a:schemeClr val="accent1"/>
                </a:buClr>
                <a:buSzPct val="70000"/>
                <a:defRPr/>
              </a:pPr>
              <a:r>
                <a:rPr lang="en-US" sz="2000" dirty="0">
                  <a:latin typeface="Arial" charset="0"/>
                  <a:ea typeface="ＭＳ Ｐゴシック" pitchFamily="-84" charset="-128"/>
                  <a:cs typeface="Arial" charset="0"/>
                </a:rPr>
                <a:t>If we have data on an explanatory variable </a:t>
              </a:r>
              <a:r>
                <a:rPr lang="en-US" sz="2000" i="1" dirty="0">
                  <a:latin typeface="Arial" charset="0"/>
                  <a:ea typeface="ＭＳ Ｐゴシック" pitchFamily="-84" charset="-128"/>
                  <a:cs typeface="Arial" charset="0"/>
                </a:rPr>
                <a:t>x</a:t>
              </a:r>
              <a:r>
                <a:rPr lang="en-US" sz="2000" dirty="0">
                  <a:latin typeface="Arial" charset="0"/>
                  <a:ea typeface="ＭＳ Ｐゴシック" pitchFamily="-84" charset="-128"/>
                  <a:cs typeface="Arial" charset="0"/>
                </a:rPr>
                <a:t> and a response variable </a:t>
              </a:r>
              <a:r>
                <a:rPr lang="en-US" sz="2000" i="1" dirty="0">
                  <a:latin typeface="Arial" charset="0"/>
                  <a:ea typeface="ＭＳ Ｐゴシック" pitchFamily="-84" charset="-128"/>
                  <a:cs typeface="Arial" charset="0"/>
                </a:rPr>
                <a:t>y</a:t>
              </a:r>
              <a:r>
                <a:rPr lang="en-US" sz="2000" dirty="0">
                  <a:latin typeface="Arial" charset="0"/>
                  <a:ea typeface="ＭＳ Ｐゴシック" pitchFamily="-84" charset="-128"/>
                  <a:cs typeface="Arial" charset="0"/>
                </a:rPr>
                <a:t>, the equation of the LSRL is</a:t>
              </a:r>
            </a:p>
            <a:p>
              <a:pPr lvl="1" defTabSz="914400" eaLnBrk="1" hangingPunct="1">
                <a:spcBef>
                  <a:spcPct val="40000"/>
                </a:spcBef>
                <a:buClr>
                  <a:schemeClr val="accent1"/>
                </a:buClr>
                <a:buSzPct val="70000"/>
                <a:defRPr/>
              </a:pPr>
              <a:r>
                <a:rPr lang="en-US" sz="2000" b="1" dirty="0">
                  <a:latin typeface="Arial" pitchFamily="-65" charset="0"/>
                  <a:ea typeface="Arial" pitchFamily="-65" charset="0"/>
                  <a:cs typeface="Arial" pitchFamily="-65" charset="0"/>
                </a:rPr>
                <a:t> 			         </a:t>
              </a:r>
              <a:r>
                <a:rPr lang="en-US" sz="2000" b="1" i="1" dirty="0">
                  <a:latin typeface="Arial" pitchFamily="-65" charset="0"/>
                  <a:ea typeface="Arial" pitchFamily="-65" charset="0"/>
                  <a:cs typeface="Arial" pitchFamily="-65" charset="0"/>
                </a:rPr>
                <a:t>y</a:t>
              </a:r>
              <a:r>
                <a:rPr lang="en-US" sz="2000" b="1" dirty="0">
                  <a:latin typeface="Arial" pitchFamily="-65" charset="0"/>
                  <a:ea typeface="Arial" pitchFamily="-65" charset="0"/>
                  <a:cs typeface="Arial" pitchFamily="-65" charset="0"/>
                </a:rPr>
                <a:t> = </a:t>
              </a:r>
              <a:r>
                <a:rPr lang="en-US" sz="2000" b="1" i="1" dirty="0">
                  <a:latin typeface="Arial" pitchFamily="-65" charset="0"/>
                  <a:ea typeface="Arial" pitchFamily="-65" charset="0"/>
                  <a:cs typeface="Arial" pitchFamily="-65" charset="0"/>
                </a:rPr>
                <a:t>b</a:t>
              </a:r>
              <a:r>
                <a:rPr lang="en-US" sz="2000" b="1" baseline="-25000" dirty="0">
                  <a:latin typeface="Arial" pitchFamily="-65" charset="0"/>
                  <a:ea typeface="Arial" pitchFamily="-65" charset="0"/>
                  <a:cs typeface="Arial" pitchFamily="-65" charset="0"/>
                </a:rPr>
                <a:t>0</a:t>
              </a:r>
              <a:r>
                <a:rPr lang="en-US" sz="2000" b="1" dirty="0">
                  <a:latin typeface="Arial" pitchFamily="-65" charset="0"/>
                  <a:ea typeface="Arial" pitchFamily="-65" charset="0"/>
                  <a:cs typeface="Arial" pitchFamily="-65" charset="0"/>
                </a:rPr>
                <a:t> + </a:t>
              </a:r>
              <a:r>
                <a:rPr lang="en-US" sz="2000" b="1" i="1" dirty="0">
                  <a:latin typeface="Arial" pitchFamily="-65" charset="0"/>
                  <a:ea typeface="Arial" pitchFamily="-65" charset="0"/>
                  <a:cs typeface="Arial" pitchFamily="-65" charset="0"/>
                </a:rPr>
                <a:t>b</a:t>
              </a:r>
              <a:r>
                <a:rPr lang="en-US" sz="2000" b="1" baseline="-25000" dirty="0">
                  <a:latin typeface="Arial" pitchFamily="-65" charset="0"/>
                  <a:ea typeface="Arial" pitchFamily="-65" charset="0"/>
                  <a:cs typeface="Arial" pitchFamily="-65" charset="0"/>
                </a:rPr>
                <a:t>1</a:t>
              </a:r>
              <a:r>
                <a:rPr lang="en-US" sz="2000" b="1" i="1" dirty="0">
                  <a:latin typeface="Arial" pitchFamily="-65" charset="0"/>
                  <a:ea typeface="Arial" pitchFamily="-65" charset="0"/>
                  <a:cs typeface="Arial" pitchFamily="-65" charset="0"/>
                </a:rPr>
                <a:t>x</a:t>
              </a:r>
              <a:endParaRPr lang="en-US" sz="2000" dirty="0">
                <a:latin typeface="Arial" charset="0"/>
                <a:ea typeface="ＭＳ Ｐゴシック" pitchFamily="-84" charset="-128"/>
                <a:cs typeface="Arial" charset="0"/>
              </a:endParaRPr>
            </a:p>
          </p:txBody>
        </p:sp>
      </p:gr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Predictions Via Regression Line</a:t>
            </a:r>
            <a:endParaRPr lang="en-US" dirty="0"/>
          </a:p>
        </p:txBody>
      </p:sp>
      <p:sp>
        <p:nvSpPr>
          <p:cNvPr id="47106" name="Slide Number Placeholder 4"/>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2BA33E8E-991C-4BB3-BA64-57FF6D7A2FDF}" type="slidenum">
              <a:rPr lang="en-US" sz="1200">
                <a:solidFill>
                  <a:schemeClr val="accent1"/>
                </a:solidFill>
              </a:rPr>
              <a:pPr>
                <a:lnSpc>
                  <a:spcPct val="80000"/>
                </a:lnSpc>
              </a:pPr>
              <a:t>25</a:t>
            </a:fld>
            <a:endParaRPr lang="en-US" sz="1200">
              <a:solidFill>
                <a:schemeClr val="accent1"/>
              </a:solidFill>
            </a:endParaRPr>
          </a:p>
        </p:txBody>
      </p:sp>
      <p:pic>
        <p:nvPicPr>
          <p:cNvPr id="47108" name="Picture 4" descr="The image on the slide displays a scatter plot. X-axis is represented by “percent of adults returning” and Y-axis is represented by “Number of new birds”. In the plot “regression line” is drawn, marked in red, and description for the regression line is given as “This regression line describes the overall pattern of the relationship.” On the regression line, there is a dotted line roughly in the shape of a square which is the predicted response for a colony with X is equal to 60 percent returning."/>
          <p:cNvPicPr>
            <a:picLocks noChangeAspect="1" noChangeArrowheads="1"/>
          </p:cNvPicPr>
          <p:nvPr/>
        </p:nvPicPr>
        <p:blipFill rotWithShape="1">
          <a:blip r:embed="rId2">
            <a:extLst>
              <a:ext uri="{28A0092B-C50C-407E-A947-70E740481C1C}">
                <a14:useLocalDpi xmlns:a14="http://schemas.microsoft.com/office/drawing/2010/main" val="0"/>
              </a:ext>
            </a:extLst>
          </a:blip>
          <a:srcRect t="-27" b="-27"/>
          <a:stretch/>
        </p:blipFill>
        <p:spPr bwMode="auto">
          <a:xfrm>
            <a:off x="5798590" y="4129088"/>
            <a:ext cx="3218410" cy="272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6949" name="Rectangle 5"/>
          <p:cNvSpPr>
            <a:spLocks noChangeArrowheads="1"/>
          </p:cNvSpPr>
          <p:nvPr/>
        </p:nvSpPr>
        <p:spPr bwMode="auto">
          <a:xfrm>
            <a:off x="304800" y="1182688"/>
            <a:ext cx="8458200" cy="153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marL="342900" indent="-342900" eaLnBrk="1" hangingPunct="1">
              <a:lnSpc>
                <a:spcPct val="95000"/>
              </a:lnSpc>
              <a:spcBef>
                <a:spcPct val="20000"/>
              </a:spcBef>
              <a:buClr>
                <a:schemeClr val="tx2"/>
              </a:buClr>
              <a:buSzPct val="75000"/>
            </a:pPr>
            <a:r>
              <a:rPr lang="en-US" sz="2000" dirty="0">
                <a:cs typeface="Arial" pitchFamily="34" charset="0"/>
              </a:rPr>
              <a:t>Look back at the “returning birds” example.  Here,</a:t>
            </a:r>
          </a:p>
          <a:p>
            <a:pPr marL="342900" indent="-342900" eaLnBrk="1" hangingPunct="1">
              <a:lnSpc>
                <a:spcPct val="95000"/>
              </a:lnSpc>
              <a:spcBef>
                <a:spcPct val="20000"/>
              </a:spcBef>
              <a:buClr>
                <a:schemeClr val="tx1"/>
              </a:buClr>
              <a:buSzPct val="75000"/>
              <a:buFont typeface="Arial" panose="020B0604020202020204" pitchFamily="34" charset="0"/>
              <a:buChar char="•"/>
            </a:pPr>
            <a:r>
              <a:rPr lang="en-US" sz="2000" dirty="0">
                <a:cs typeface="Arial" pitchFamily="34" charset="0"/>
              </a:rPr>
              <a:t>the LSRL is </a:t>
            </a:r>
            <a:r>
              <a:rPr lang="en-US" sz="2000" b="1" i="1" dirty="0">
                <a:cs typeface="Arial" pitchFamily="34" charset="0"/>
              </a:rPr>
              <a:t>y-</a:t>
            </a:r>
            <a:r>
              <a:rPr lang="en-US" sz="2000" b="1" dirty="0">
                <a:cs typeface="Arial" pitchFamily="34" charset="0"/>
              </a:rPr>
              <a:t>hat</a:t>
            </a:r>
            <a:r>
              <a:rPr lang="en-US" sz="2000" b="1" i="1" dirty="0">
                <a:cs typeface="Arial" pitchFamily="34" charset="0"/>
              </a:rPr>
              <a:t> = </a:t>
            </a:r>
            <a:r>
              <a:rPr lang="en-US" sz="2000" b="1" dirty="0">
                <a:cs typeface="Arial" pitchFamily="34" charset="0"/>
              </a:rPr>
              <a:t>31.9343 </a:t>
            </a:r>
            <a:r>
              <a:rPr lang="en-US" sz="2000" b="1" dirty="0">
                <a:cs typeface="Arial" pitchFamily="34" charset="0"/>
                <a:sym typeface="Symbol" pitchFamily="18" charset="2"/>
              </a:rPr>
              <a:t></a:t>
            </a:r>
            <a:r>
              <a:rPr lang="en-US" sz="2000" b="1" dirty="0">
                <a:cs typeface="Arial" pitchFamily="34" charset="0"/>
              </a:rPr>
              <a:t> 0.3040</a:t>
            </a:r>
            <a:endParaRPr lang="en-US" sz="2000" b="1" i="1" dirty="0">
              <a:cs typeface="Arial" pitchFamily="34" charset="0"/>
            </a:endParaRPr>
          </a:p>
          <a:p>
            <a:pPr marL="342900" indent="-342900" algn="just" eaLnBrk="1" hangingPunct="1">
              <a:lnSpc>
                <a:spcPct val="85000"/>
              </a:lnSpc>
              <a:spcBef>
                <a:spcPct val="5000"/>
              </a:spcBef>
              <a:buClr>
                <a:schemeClr val="tx1"/>
              </a:buClr>
              <a:buFont typeface="Arial" panose="020B0604020202020204" pitchFamily="34" charset="0"/>
              <a:buChar char="•"/>
            </a:pPr>
            <a:r>
              <a:rPr lang="en-US" sz="2000" b="1" i="1" dirty="0">
                <a:cs typeface="Arial" pitchFamily="34" charset="0"/>
              </a:rPr>
              <a:t>y-</a:t>
            </a:r>
            <a:r>
              <a:rPr lang="en-US" sz="2000" b="1" dirty="0">
                <a:cs typeface="Arial" pitchFamily="34" charset="0"/>
              </a:rPr>
              <a:t>hat</a:t>
            </a:r>
            <a:r>
              <a:rPr lang="en-US" sz="2000" dirty="0">
                <a:cs typeface="Arial" pitchFamily="34" charset="0"/>
              </a:rPr>
              <a:t> is the predicted number of new birds for colonies with </a:t>
            </a:r>
            <a:r>
              <a:rPr lang="en-US" sz="2000" b="1" i="1" dirty="0">
                <a:cs typeface="Arial" pitchFamily="34" charset="0"/>
              </a:rPr>
              <a:t>x </a:t>
            </a:r>
            <a:r>
              <a:rPr lang="en-US" sz="2000" dirty="0">
                <a:cs typeface="Arial" pitchFamily="34" charset="0"/>
              </a:rPr>
              <a:t>percent of adults returning.</a:t>
            </a:r>
            <a:endParaRPr lang="en-US" sz="1600" dirty="0">
              <a:cs typeface="Arial" pitchFamily="34" charset="0"/>
            </a:endParaRPr>
          </a:p>
        </p:txBody>
      </p:sp>
      <p:sp>
        <p:nvSpPr>
          <p:cNvPr id="9" name="Rectangle 5"/>
          <p:cNvSpPr>
            <a:spLocks noChangeArrowheads="1"/>
          </p:cNvSpPr>
          <p:nvPr/>
        </p:nvSpPr>
        <p:spPr bwMode="auto">
          <a:xfrm>
            <a:off x="304800" y="2761152"/>
            <a:ext cx="8712200"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eaLnBrk="1" hangingPunct="1">
              <a:lnSpc>
                <a:spcPct val="90000"/>
              </a:lnSpc>
              <a:spcBef>
                <a:spcPct val="20000"/>
              </a:spcBef>
              <a:buClr>
                <a:schemeClr val="tx2"/>
              </a:buClr>
              <a:buSzPct val="75000"/>
            </a:pPr>
            <a:r>
              <a:rPr lang="en-US" sz="2000" dirty="0"/>
              <a:t>Suppose we know that an individual colony has 60% returning. </a:t>
            </a:r>
          </a:p>
          <a:p>
            <a:pPr eaLnBrk="1" hangingPunct="1">
              <a:lnSpc>
                <a:spcPct val="90000"/>
              </a:lnSpc>
              <a:spcBef>
                <a:spcPct val="20000"/>
              </a:spcBef>
              <a:buClr>
                <a:schemeClr val="tx2"/>
              </a:buClr>
              <a:buSzPct val="75000"/>
            </a:pPr>
            <a:r>
              <a:rPr lang="en-US" sz="2000" dirty="0"/>
              <a:t>What would we </a:t>
            </a:r>
            <a:r>
              <a:rPr lang="en-US" sz="2000" b="1" i="1" dirty="0"/>
              <a:t>predict</a:t>
            </a:r>
            <a:r>
              <a:rPr lang="en-US" sz="2000" dirty="0"/>
              <a:t> the number of new birds to be for just that colony?  </a:t>
            </a:r>
            <a:endParaRPr lang="en-US" sz="1400" dirty="0"/>
          </a:p>
        </p:txBody>
      </p:sp>
      <p:sp>
        <p:nvSpPr>
          <p:cNvPr id="10" name="Rectangle 5"/>
          <p:cNvSpPr>
            <a:spLocks noChangeArrowheads="1"/>
          </p:cNvSpPr>
          <p:nvPr/>
        </p:nvSpPr>
        <p:spPr bwMode="auto">
          <a:xfrm>
            <a:off x="304801" y="4099536"/>
            <a:ext cx="5251938" cy="222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pPr algn="just" eaLnBrk="1" hangingPunct="1">
              <a:lnSpc>
                <a:spcPct val="90000"/>
              </a:lnSpc>
              <a:spcBef>
                <a:spcPct val="20000"/>
              </a:spcBef>
              <a:buClr>
                <a:schemeClr val="tx2"/>
              </a:buClr>
              <a:buSzPct val="75000"/>
            </a:pPr>
            <a:r>
              <a:rPr lang="en-US" sz="2000" dirty="0"/>
              <a:t>For colonies with 60% returning, we </a:t>
            </a:r>
            <a:r>
              <a:rPr lang="en-US" sz="2000" b="1" i="1" dirty="0"/>
              <a:t>predict</a:t>
            </a:r>
            <a:r>
              <a:rPr lang="en-US" sz="2000" dirty="0"/>
              <a:t> the average number of new birds to be</a:t>
            </a:r>
          </a:p>
          <a:p>
            <a:pPr eaLnBrk="1" hangingPunct="1">
              <a:lnSpc>
                <a:spcPct val="90000"/>
              </a:lnSpc>
              <a:spcBef>
                <a:spcPct val="20000"/>
              </a:spcBef>
              <a:buClr>
                <a:schemeClr val="tx2"/>
              </a:buClr>
              <a:buSzPct val="75000"/>
            </a:pPr>
            <a:endParaRPr lang="en-US" sz="2000" dirty="0"/>
          </a:p>
          <a:p>
            <a:pPr algn="ctr" eaLnBrk="1" hangingPunct="1">
              <a:lnSpc>
                <a:spcPct val="90000"/>
              </a:lnSpc>
              <a:spcBef>
                <a:spcPct val="20000"/>
              </a:spcBef>
              <a:buClr>
                <a:schemeClr val="tx2"/>
              </a:buClr>
              <a:buSzPct val="75000"/>
            </a:pPr>
            <a:r>
              <a:rPr lang="en-US" sz="2400" dirty="0"/>
              <a:t>31.9343 </a:t>
            </a:r>
            <a:r>
              <a:rPr lang="en-US" sz="2400" dirty="0">
                <a:sym typeface="Symbol" pitchFamily="18" charset="2"/>
              </a:rPr>
              <a:t></a:t>
            </a:r>
            <a:r>
              <a:rPr lang="en-US" sz="2400" dirty="0"/>
              <a:t> (0.3040)(</a:t>
            </a:r>
            <a:r>
              <a:rPr lang="en-US" sz="2400" b="1" dirty="0"/>
              <a:t>60</a:t>
            </a:r>
            <a:r>
              <a:rPr lang="en-US" sz="2400" dirty="0"/>
              <a:t>) = </a:t>
            </a:r>
            <a:r>
              <a:rPr lang="en-US" sz="2400" b="1" dirty="0"/>
              <a:t>13.69 </a:t>
            </a:r>
            <a:r>
              <a:rPr lang="en-US" sz="2400" dirty="0"/>
              <a:t>birds</a:t>
            </a:r>
            <a:endParaRPr lang="en-US" sz="16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669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6694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6694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9">
                                            <p:txEl>
                                              <p:pRg st="1" end="1"/>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0">
                                            <p:txEl>
                                              <p:pRg st="0" end="0"/>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9" grpId="0" build="p" bldLvl="2" autoUpdateAnimBg="0"/>
      <p:bldP spid="9" grpId="0" build="p" bldLvl="2" autoUpdateAnimBg="0"/>
      <p:bldP spid="10" grpId="0" build="p" bldLvl="2"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1"/>
                </a:solidFill>
              </a:rPr>
              <a:t>Extrapolation 1</a:t>
            </a:r>
          </a:p>
        </p:txBody>
      </p:sp>
      <p:sp>
        <p:nvSpPr>
          <p:cNvPr id="492547" name="Rectangle 3"/>
          <p:cNvSpPr>
            <a:spLocks noGrp="1" noChangeArrowheads="1"/>
          </p:cNvSpPr>
          <p:nvPr>
            <p:ph type="body" sz="half" idx="4294967295"/>
          </p:nvPr>
        </p:nvSpPr>
        <p:spPr>
          <a:xfrm>
            <a:off x="174623" y="1651999"/>
            <a:ext cx="4018649" cy="2603478"/>
          </a:xfrm>
        </p:spPr>
        <p:txBody>
          <a:bodyPr/>
          <a:lstStyle/>
          <a:p>
            <a:pPr algn="just" eaLnBrk="1" hangingPunct="1"/>
            <a:r>
              <a:rPr lang="en-US" dirty="0">
                <a:solidFill>
                  <a:schemeClr val="tx1"/>
                </a:solidFill>
                <a:ea typeface="ＭＳ Ｐゴシック" pitchFamily="34" charset="-128"/>
              </a:rPr>
              <a:t>Sarah</a:t>
            </a:r>
            <a:r>
              <a:rPr lang="en-US" altLang="en-US" dirty="0">
                <a:solidFill>
                  <a:schemeClr val="tx1"/>
                </a:solidFill>
                <a:ea typeface="ＭＳ Ｐゴシック" pitchFamily="34" charset="-128"/>
              </a:rPr>
              <a:t>’</a:t>
            </a:r>
            <a:r>
              <a:rPr lang="en-US" altLang="ja-JP" dirty="0">
                <a:solidFill>
                  <a:schemeClr val="tx1"/>
                </a:solidFill>
                <a:ea typeface="ＭＳ Ｐゴシック" pitchFamily="34" charset="-128"/>
              </a:rPr>
              <a:t>s height was plotted against her age.</a:t>
            </a:r>
          </a:p>
          <a:p>
            <a:pPr algn="just" eaLnBrk="1" hangingPunct="1"/>
            <a:r>
              <a:rPr lang="en-US" dirty="0">
                <a:solidFill>
                  <a:schemeClr val="tx1"/>
                </a:solidFill>
                <a:ea typeface="ＭＳ Ｐゴシック" pitchFamily="34" charset="-128"/>
              </a:rPr>
              <a:t>Can you guess (predict) her height at age 42 months?</a:t>
            </a:r>
          </a:p>
          <a:p>
            <a:pPr algn="just" eaLnBrk="1" hangingPunct="1"/>
            <a:r>
              <a:rPr lang="en-US" dirty="0">
                <a:solidFill>
                  <a:schemeClr val="tx1"/>
                </a:solidFill>
                <a:ea typeface="ＭＳ Ｐゴシック" pitchFamily="34" charset="-128"/>
              </a:rPr>
              <a:t>Can you predict her height at age 30 years (360 months)?</a:t>
            </a:r>
          </a:p>
        </p:txBody>
      </p:sp>
      <p:cxnSp>
        <p:nvCxnSpPr>
          <p:cNvPr id="15" name="Straight Connector 14" descr="already described"/>
          <p:cNvCxnSpPr/>
          <p:nvPr/>
        </p:nvCxnSpPr>
        <p:spPr>
          <a:xfrm flipV="1">
            <a:off x="5810250" y="2283824"/>
            <a:ext cx="2952750" cy="2127250"/>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Arrow Connector 13" descr="already described"/>
          <p:cNvCxnSpPr/>
          <p:nvPr/>
        </p:nvCxnSpPr>
        <p:spPr>
          <a:xfrm rot="5400000" flipH="1" flipV="1">
            <a:off x="6128544" y="4349955"/>
            <a:ext cx="1123950" cy="158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16" name="Straight Arrow Connector 15" descr="already described"/>
          <p:cNvCxnSpPr/>
          <p:nvPr/>
        </p:nvCxnSpPr>
        <p:spPr>
          <a:xfrm rot="10800000">
            <a:off x="5788025" y="3788774"/>
            <a:ext cx="903288" cy="158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graphicFrame>
        <p:nvGraphicFramePr>
          <p:cNvPr id="12" name="Object 11" descr="The graph plots height in centimeters on the vertical axis, ranging from 80 to 100 in increments of 5, versus age in months on the horizontal axis, ranging from 30 to 65 in increments of 5. Six points are plotted in a linear pattern that rises diagonally from left to right at (36, 86), (48, 90), (52, 91), (54, 93), (56, 94), and (60, 95). All values estimated."/>
          <p:cNvGraphicFramePr>
            <a:graphicFrameLocks/>
          </p:cNvGraphicFramePr>
          <p:nvPr>
            <p:extLst>
              <p:ext uri="{D42A27DB-BD31-4B8C-83A1-F6EECF244321}">
                <p14:modId xmlns:p14="http://schemas.microsoft.com/office/powerpoint/2010/main" val="1484356987"/>
              </p:ext>
            </p:extLst>
          </p:nvPr>
        </p:nvGraphicFramePr>
        <p:xfrm>
          <a:off x="4654550" y="1651999"/>
          <a:ext cx="4108450" cy="4478337"/>
        </p:xfrm>
        <a:graphic>
          <a:graphicData uri="http://schemas.openxmlformats.org/presentationml/2006/ole">
            <mc:AlternateContent xmlns:mc="http://schemas.openxmlformats.org/markup-compatibility/2006">
              <mc:Choice xmlns:v="urn:schemas-microsoft-com:vml" Requires="v">
                <p:oleObj spid="_x0000_s54348" name="Chart" r:id="rId3" imgW="3809942" imgH="4153029" progId="MSGraph.Chart.8">
                  <p:embed followColorScheme="full"/>
                </p:oleObj>
              </mc:Choice>
              <mc:Fallback>
                <p:oleObj name="Chart" r:id="rId3" imgW="3809942" imgH="4153029" progId="MSGraph.Chart.8">
                  <p:embed followColorScheme="full"/>
                  <p:pic>
                    <p:nvPicPr>
                      <p:cNvPr id="0" name=""/>
                      <p:cNvPicPr>
                        <a:picLocks noChangeArrowheads="1"/>
                      </p:cNvPicPr>
                      <p:nvPr/>
                    </p:nvPicPr>
                    <p:blipFill>
                      <a:blip r:embed="rId4"/>
                      <a:srcRect/>
                      <a:stretch>
                        <a:fillRect/>
                      </a:stretch>
                    </p:blipFill>
                    <p:spPr bwMode="auto">
                      <a:xfrm>
                        <a:off x="4654550" y="1651999"/>
                        <a:ext cx="4108450" cy="447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36"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1F074F15-65CA-40FD-85F2-7227DAD5BF38}" type="slidenum">
              <a:rPr lang="en-US" sz="1200">
                <a:solidFill>
                  <a:schemeClr val="accent1"/>
                </a:solidFill>
              </a:rPr>
              <a:pPr>
                <a:lnSpc>
                  <a:spcPct val="80000"/>
                </a:lnSpc>
              </a:pPr>
              <a:t>26</a:t>
            </a:fld>
            <a:endParaRPr lang="en-US" sz="1200">
              <a:solidFill>
                <a:schemeClr val="accent1"/>
              </a:solidFill>
            </a:endParaRPr>
          </a:p>
        </p:txBody>
      </p:sp>
    </p:spTree>
    <p:extLst>
      <p:ext uri="{BB962C8B-B14F-4D97-AF65-F5344CB8AC3E}">
        <p14:creationId xmlns:p14="http://schemas.microsoft.com/office/powerpoint/2010/main" val="207465042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4925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254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25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accel="50000" decel="5000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additive="base">
                                        <p:cTn id="24" dur="500" fill="hold"/>
                                        <p:tgtEl>
                                          <p:spTgt spid="14"/>
                                        </p:tgtEl>
                                        <p:attrNameLst>
                                          <p:attrName>ppt_x</p:attrName>
                                        </p:attrNameLst>
                                      </p:cBhvr>
                                      <p:tavLst>
                                        <p:tav tm="0">
                                          <p:val>
                                            <p:strVal val="#ppt_x"/>
                                          </p:val>
                                        </p:tav>
                                        <p:tav tm="100000">
                                          <p:val>
                                            <p:strVal val="#ppt_x"/>
                                          </p:val>
                                        </p:tav>
                                      </p:tavLst>
                                    </p:anim>
                                    <p:anim calcmode="lin" valueType="num">
                                      <p:cBhvr additive="base">
                                        <p:cTn id="25" dur="500" fill="hold"/>
                                        <p:tgtEl>
                                          <p:spTgt spid="14"/>
                                        </p:tgtEl>
                                        <p:attrNameLst>
                                          <p:attrName>ppt_y</p:attrName>
                                        </p:attrNameLst>
                                      </p:cBhvr>
                                      <p:tavLst>
                                        <p:tav tm="0">
                                          <p:val>
                                            <p:strVal val="1+#ppt_h/2"/>
                                          </p:val>
                                        </p:tav>
                                        <p:tav tm="100000">
                                          <p:val>
                                            <p:strVal val="#ppt_y"/>
                                          </p:val>
                                        </p:tav>
                                      </p:tavLst>
                                    </p:anim>
                                  </p:childTnLst>
                                </p:cTn>
                              </p:par>
                            </p:childTnLst>
                          </p:cTn>
                        </p:par>
                        <p:par>
                          <p:cTn id="26" fill="hold">
                            <p:stCondLst>
                              <p:cond delay="500"/>
                            </p:stCondLst>
                            <p:childTnLst>
                              <p:par>
                                <p:cTn id="27" presetID="2" presetClass="entr" presetSubtype="2" accel="50000" decel="50000" fill="hold" nodeType="after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fill="hold"/>
                                        <p:tgtEl>
                                          <p:spTgt spid="16"/>
                                        </p:tgtEl>
                                        <p:attrNameLst>
                                          <p:attrName>ppt_x</p:attrName>
                                        </p:attrNameLst>
                                      </p:cBhvr>
                                      <p:tavLst>
                                        <p:tav tm="0">
                                          <p:val>
                                            <p:strVal val="1+#ppt_w/2"/>
                                          </p:val>
                                        </p:tav>
                                        <p:tav tm="100000">
                                          <p:val>
                                            <p:strVal val="#ppt_x"/>
                                          </p:val>
                                        </p:tav>
                                      </p:tavLst>
                                    </p:anim>
                                    <p:anim calcmode="lin" valueType="num">
                                      <p:cBhvr additive="base">
                                        <p:cTn id="30"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2547"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Extrapolation 2</a:t>
            </a:r>
            <a:endParaRPr lang="en-US" dirty="0"/>
          </a:p>
        </p:txBody>
      </p:sp>
      <p:sp>
        <p:nvSpPr>
          <p:cNvPr id="49154" name="Slide Number Placeholder 6"/>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4DC57206-8CE4-4446-BB13-71641810AD59}" type="slidenum">
              <a:rPr lang="en-US">
                <a:solidFill>
                  <a:schemeClr val="accent1"/>
                </a:solidFill>
              </a:rPr>
              <a:pPr/>
              <a:t>27</a:t>
            </a:fld>
            <a:endParaRPr lang="en-US">
              <a:solidFill>
                <a:schemeClr val="accent1"/>
              </a:solidFill>
            </a:endParaRPr>
          </a:p>
        </p:txBody>
      </p:sp>
      <p:sp>
        <p:nvSpPr>
          <p:cNvPr id="493571" name="Rectangle 3"/>
          <p:cNvSpPr>
            <a:spLocks noGrp="1" noChangeArrowheads="1"/>
          </p:cNvSpPr>
          <p:nvPr>
            <p:ph type="body" sz="half" idx="4294967295"/>
          </p:nvPr>
        </p:nvSpPr>
        <p:spPr>
          <a:xfrm>
            <a:off x="174624" y="1530350"/>
            <a:ext cx="4156077" cy="4640263"/>
          </a:xfrm>
        </p:spPr>
        <p:txBody>
          <a:bodyPr/>
          <a:lstStyle/>
          <a:p>
            <a:pPr eaLnBrk="1" hangingPunct="1">
              <a:spcAft>
                <a:spcPts val="1200"/>
              </a:spcAft>
            </a:pPr>
            <a:r>
              <a:rPr lang="en-US" sz="2400" dirty="0">
                <a:solidFill>
                  <a:schemeClr val="tx1"/>
                </a:solidFill>
                <a:ea typeface="ＭＳ Ｐゴシック" pitchFamily="34" charset="-128"/>
              </a:rPr>
              <a:t>Regression line:</a:t>
            </a:r>
            <a:br>
              <a:rPr lang="en-US" sz="2400" dirty="0">
                <a:solidFill>
                  <a:schemeClr val="tx1"/>
                </a:solidFill>
                <a:ea typeface="ＭＳ Ｐゴシック" pitchFamily="34" charset="-128"/>
              </a:rPr>
            </a:br>
            <a:r>
              <a:rPr lang="en-US" sz="2400" b="1" i="1" dirty="0">
                <a:solidFill>
                  <a:schemeClr val="tx1"/>
                </a:solidFill>
                <a:ea typeface="ＭＳ Ｐゴシック" pitchFamily="34" charset="-128"/>
              </a:rPr>
              <a:t>y</a:t>
            </a:r>
            <a:r>
              <a:rPr lang="en-US" sz="2400" b="1" dirty="0">
                <a:solidFill>
                  <a:schemeClr val="tx1"/>
                </a:solidFill>
                <a:ea typeface="ＭＳ Ｐゴシック" pitchFamily="34" charset="-128"/>
              </a:rPr>
              <a:t>-hat = 71.95 + 0.383 </a:t>
            </a:r>
            <a:r>
              <a:rPr lang="en-US" sz="2400" b="1" i="1" dirty="0">
                <a:solidFill>
                  <a:schemeClr val="tx1"/>
                </a:solidFill>
                <a:ea typeface="ＭＳ Ｐゴシック" pitchFamily="34" charset="-128"/>
              </a:rPr>
              <a:t>x</a:t>
            </a:r>
          </a:p>
          <a:p>
            <a:pPr eaLnBrk="1" hangingPunct="1">
              <a:spcAft>
                <a:spcPts val="1200"/>
              </a:spcAft>
            </a:pPr>
            <a:r>
              <a:rPr lang="en-US" sz="2400" dirty="0">
                <a:solidFill>
                  <a:schemeClr val="tx1"/>
                </a:solidFill>
                <a:ea typeface="ＭＳ Ｐゴシック" pitchFamily="34" charset="-128"/>
              </a:rPr>
              <a:t>Height at age 42 months?    </a:t>
            </a:r>
            <a:r>
              <a:rPr lang="en-US" sz="2400" b="1" i="1" dirty="0">
                <a:solidFill>
                  <a:schemeClr val="tx1"/>
                </a:solidFill>
                <a:ea typeface="ＭＳ Ｐゴシック" pitchFamily="34" charset="-128"/>
              </a:rPr>
              <a:t>y</a:t>
            </a:r>
            <a:r>
              <a:rPr lang="en-US" sz="2400" b="1" dirty="0">
                <a:solidFill>
                  <a:schemeClr val="tx1"/>
                </a:solidFill>
                <a:ea typeface="ＭＳ Ｐゴシック" pitchFamily="34" charset="-128"/>
              </a:rPr>
              <a:t>-hat = 88</a:t>
            </a:r>
          </a:p>
          <a:p>
            <a:pPr eaLnBrk="1" hangingPunct="1">
              <a:spcAft>
                <a:spcPts val="1200"/>
              </a:spcAft>
            </a:pPr>
            <a:r>
              <a:rPr lang="en-US" sz="2400" dirty="0">
                <a:solidFill>
                  <a:schemeClr val="tx1"/>
                </a:solidFill>
                <a:ea typeface="ＭＳ Ｐゴシック" pitchFamily="34" charset="-128"/>
              </a:rPr>
              <a:t>Height at age 30 years?    </a:t>
            </a:r>
            <a:r>
              <a:rPr lang="en-US" sz="2400" b="1" i="1" dirty="0">
                <a:solidFill>
                  <a:schemeClr val="tx1"/>
                </a:solidFill>
                <a:ea typeface="ＭＳ Ｐゴシック" pitchFamily="34" charset="-128"/>
              </a:rPr>
              <a:t>y</a:t>
            </a:r>
            <a:r>
              <a:rPr lang="en-US" sz="2400" b="1" dirty="0">
                <a:solidFill>
                  <a:schemeClr val="tx1"/>
                </a:solidFill>
                <a:ea typeface="ＭＳ Ｐゴシック" pitchFamily="34" charset="-128"/>
              </a:rPr>
              <a:t>-hat = 209.8</a:t>
            </a:r>
          </a:p>
          <a:p>
            <a:pPr marL="233363" lvl="1" indent="-233363" eaLnBrk="1" hangingPunct="1">
              <a:spcAft>
                <a:spcPts val="1200"/>
              </a:spcAft>
              <a:buClr>
                <a:srgbClr val="0C4160"/>
              </a:buClr>
            </a:pPr>
            <a:r>
              <a:rPr lang="en-US" sz="2400" dirty="0">
                <a:solidFill>
                  <a:schemeClr val="tx1"/>
                </a:solidFill>
                <a:ea typeface="ＭＳ Ｐゴシック" pitchFamily="34" charset="-128"/>
              </a:rPr>
              <a:t>She is predicted to be 6</a:t>
            </a:r>
            <a:r>
              <a:rPr lang="ja-JP" altLang="en-US" sz="2400" dirty="0">
                <a:solidFill>
                  <a:schemeClr val="tx1"/>
                </a:solidFill>
                <a:ea typeface="ＭＳ Ｐゴシック" pitchFamily="34" charset="-128"/>
              </a:rPr>
              <a:t>’</a:t>
            </a:r>
            <a:r>
              <a:rPr lang="en-US" altLang="ja-JP" sz="2400" dirty="0">
                <a:solidFill>
                  <a:schemeClr val="tx1"/>
                </a:solidFill>
                <a:ea typeface="ＭＳ Ｐゴシック" pitchFamily="34" charset="-128"/>
              </a:rPr>
              <a:t>10.5</a:t>
            </a:r>
            <a:r>
              <a:rPr lang="ja-JP" altLang="en-US" sz="2400" dirty="0">
                <a:solidFill>
                  <a:schemeClr val="tx1"/>
                </a:solidFill>
                <a:ea typeface="ＭＳ Ｐゴシック" pitchFamily="34" charset="-128"/>
              </a:rPr>
              <a:t>”</a:t>
            </a:r>
            <a:r>
              <a:rPr lang="en-US" altLang="ja-JP" sz="2400" dirty="0">
                <a:solidFill>
                  <a:schemeClr val="tx1"/>
                </a:solidFill>
                <a:ea typeface="ＭＳ Ｐゴシック" pitchFamily="34" charset="-128"/>
              </a:rPr>
              <a:t> at age 30!  </a:t>
            </a:r>
            <a:r>
              <a:rPr lang="en-US" altLang="ja-JP" sz="2400" b="1" dirty="0">
                <a:solidFill>
                  <a:schemeClr val="tx1"/>
                </a:solidFill>
                <a:ea typeface="ＭＳ Ｐゴシック" pitchFamily="34" charset="-128"/>
              </a:rPr>
              <a:t>What’s wrong with this?</a:t>
            </a:r>
            <a:endParaRPr lang="en-US" sz="2400" b="1" dirty="0">
              <a:solidFill>
                <a:schemeClr val="tx1"/>
              </a:solidFill>
              <a:ea typeface="ＭＳ Ｐゴシック" pitchFamily="34" charset="-128"/>
            </a:endParaRPr>
          </a:p>
        </p:txBody>
      </p:sp>
      <p:graphicFrame>
        <p:nvGraphicFramePr>
          <p:cNvPr id="3" name="Object 2" descr="The image on the slide displays a graph. Age in months ranging from 30 to 390 in successive intervals of 60 is represented on the X-axis. Height in centimeters ranging from 70 to 210 in successive intervals of 20 is represented on the Y-axis. On the regression line dots are highlighted in red which represent coordinates (42, 88) and (360, 209.8)."/>
          <p:cNvGraphicFramePr>
            <a:graphicFrameLocks noGrp="1"/>
          </p:cNvGraphicFramePr>
          <p:nvPr>
            <p:ph type="chart" sz="half" idx="4294967295"/>
            <p:extLst>
              <p:ext uri="{D42A27DB-BD31-4B8C-83A1-F6EECF244321}">
                <p14:modId xmlns:p14="http://schemas.microsoft.com/office/powerpoint/2010/main" val="2082346671"/>
              </p:ext>
            </p:extLst>
          </p:nvPr>
        </p:nvGraphicFramePr>
        <p:xfrm>
          <a:off x="4610894" y="1720849"/>
          <a:ext cx="3898900" cy="4259263"/>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4935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35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35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935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1" grpId="0" build="p" bldLvl="2"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4" y="153986"/>
            <a:ext cx="7772400" cy="1143000"/>
          </a:xfrm>
        </p:spPr>
        <p:txBody>
          <a:bodyPr/>
          <a:lstStyle/>
          <a:p>
            <a:r>
              <a:rPr lang="en-US" dirty="0">
                <a:solidFill>
                  <a:schemeClr val="accent1"/>
                </a:solidFill>
              </a:rPr>
              <a:t>Facts about Least-Squares Regression</a:t>
            </a:r>
            <a:endParaRPr lang="en-US" dirty="0"/>
          </a:p>
        </p:txBody>
      </p:sp>
      <p:sp>
        <p:nvSpPr>
          <p:cNvPr id="50178"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94B34175-D5E1-452B-953D-1D3AE0712C5C}" type="slidenum">
              <a:rPr lang="en-US" sz="1200">
                <a:solidFill>
                  <a:schemeClr val="accent1"/>
                </a:solidFill>
              </a:rPr>
              <a:pPr>
                <a:lnSpc>
                  <a:spcPct val="80000"/>
                </a:lnSpc>
              </a:pPr>
              <a:t>28</a:t>
            </a:fld>
            <a:endParaRPr lang="en-US" sz="1200">
              <a:solidFill>
                <a:schemeClr val="accent1"/>
              </a:solidFill>
            </a:endParaRPr>
          </a:p>
        </p:txBody>
      </p:sp>
      <p:sp>
        <p:nvSpPr>
          <p:cNvPr id="50181" name="Rectangle 3"/>
          <p:cNvSpPr txBox="1">
            <a:spLocks noChangeArrowheads="1"/>
          </p:cNvSpPr>
          <p:nvPr/>
        </p:nvSpPr>
        <p:spPr bwMode="auto">
          <a:xfrm>
            <a:off x="204788" y="1662967"/>
            <a:ext cx="8763366" cy="101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defTabSz="914400" eaLnBrk="1" hangingPunct="1">
              <a:spcBef>
                <a:spcPct val="40000"/>
              </a:spcBef>
              <a:buClr>
                <a:schemeClr val="accent1"/>
              </a:buClr>
              <a:buSzPct val="100000"/>
              <a:buFont typeface="Wingdings 2" pitchFamily="18" charset="2"/>
              <a:buNone/>
            </a:pPr>
            <a:r>
              <a:rPr lang="en-US" sz="2000" dirty="0"/>
              <a:t>Regression is one of the most common statistical settings, and least- squares is the most common method for fitting a regression line to data.</a:t>
            </a:r>
          </a:p>
          <a:p>
            <a:pPr defTabSz="914400" eaLnBrk="1" hangingPunct="1">
              <a:spcBef>
                <a:spcPct val="40000"/>
              </a:spcBef>
              <a:buClr>
                <a:schemeClr val="accent1"/>
              </a:buClr>
              <a:buSzPct val="100000"/>
              <a:buFont typeface="Wingdings 2" pitchFamily="18" charset="2"/>
              <a:buNone/>
            </a:pPr>
            <a:r>
              <a:rPr lang="en-US" sz="2000" dirty="0"/>
              <a:t>Here are some facts about least-squares regression lines.</a:t>
            </a:r>
          </a:p>
        </p:txBody>
      </p:sp>
      <p:sp>
        <p:nvSpPr>
          <p:cNvPr id="476163" name="Rectangle 3"/>
          <p:cNvSpPr>
            <a:spLocks noGrp="1" noChangeArrowheads="1"/>
          </p:cNvSpPr>
          <p:nvPr>
            <p:ph sz="quarter" idx="4294967295"/>
          </p:nvPr>
        </p:nvSpPr>
        <p:spPr>
          <a:xfrm>
            <a:off x="204788" y="3611010"/>
            <a:ext cx="8763366" cy="1879600"/>
          </a:xfrm>
          <a:solidFill>
            <a:srgbClr val="FFD780"/>
          </a:solidFill>
          <a:effectLst>
            <a:outerShdw blurRad="50800" dist="38100" dir="2700000" rotWithShape="0">
              <a:srgbClr val="000000">
                <a:alpha val="42998"/>
              </a:srgbClr>
            </a:outerShdw>
          </a:effectLst>
        </p:spPr>
        <p:txBody>
          <a:bodyPr/>
          <a:lstStyle/>
          <a:p>
            <a:pPr algn="just" eaLnBrk="1" hangingPunct="1">
              <a:lnSpc>
                <a:spcPct val="90000"/>
              </a:lnSpc>
              <a:spcBef>
                <a:spcPct val="40000"/>
              </a:spcBef>
              <a:spcAft>
                <a:spcPts val="600"/>
              </a:spcAft>
              <a:buFont typeface="Wingdings 2" pitchFamily="-65" charset="2"/>
              <a:buChar char="¡"/>
              <a:defRPr/>
            </a:pPr>
            <a:r>
              <a:rPr lang="en-US" altLang="en-US" b="1" dirty="0">
                <a:solidFill>
                  <a:srgbClr val="000000"/>
                </a:solidFill>
                <a:ea typeface="ＭＳ Ｐゴシック" pitchFamily="-65" charset="-128"/>
                <a:cs typeface="Arial" charset="0"/>
              </a:rPr>
              <a:t>Fact 1: </a:t>
            </a:r>
            <a:r>
              <a:rPr lang="en-US" altLang="en-US" dirty="0">
                <a:solidFill>
                  <a:srgbClr val="000000"/>
                </a:solidFill>
                <a:ea typeface="ＭＳ Ｐゴシック" pitchFamily="-65" charset="-128"/>
                <a:cs typeface="Arial" charset="0"/>
              </a:rPr>
              <a:t>A change of one standard deviation in </a:t>
            </a:r>
            <a:r>
              <a:rPr lang="en-US" altLang="en-US" i="1" dirty="0">
                <a:solidFill>
                  <a:srgbClr val="000000"/>
                </a:solidFill>
                <a:ea typeface="ＭＳ Ｐゴシック" pitchFamily="-65" charset="-128"/>
                <a:cs typeface="Arial" charset="0"/>
              </a:rPr>
              <a:t>x</a:t>
            </a:r>
            <a:r>
              <a:rPr lang="en-US" altLang="en-US" dirty="0">
                <a:solidFill>
                  <a:srgbClr val="000000"/>
                </a:solidFill>
                <a:ea typeface="ＭＳ Ｐゴシック" pitchFamily="-65" charset="-128"/>
                <a:cs typeface="Arial" charset="0"/>
              </a:rPr>
              <a:t> corresponds to a change of </a:t>
            </a:r>
            <a:r>
              <a:rPr lang="en-US" altLang="en-US" i="1" dirty="0">
                <a:solidFill>
                  <a:srgbClr val="000000"/>
                </a:solidFill>
                <a:ea typeface="ＭＳ Ｐゴシック" pitchFamily="-65" charset="-128"/>
                <a:cs typeface="Arial" charset="0"/>
              </a:rPr>
              <a:t>r</a:t>
            </a:r>
            <a:r>
              <a:rPr lang="en-US" altLang="en-US" dirty="0">
                <a:solidFill>
                  <a:srgbClr val="000000"/>
                </a:solidFill>
                <a:ea typeface="ＭＳ Ｐゴシック" pitchFamily="-65" charset="-128"/>
                <a:cs typeface="Arial" charset="0"/>
              </a:rPr>
              <a:t> standard deviations in </a:t>
            </a:r>
            <a:r>
              <a:rPr lang="en-US" altLang="en-US" i="1" dirty="0">
                <a:solidFill>
                  <a:srgbClr val="000000"/>
                </a:solidFill>
                <a:ea typeface="ＭＳ Ｐゴシック" pitchFamily="-65" charset="-128"/>
                <a:cs typeface="Arial" charset="0"/>
              </a:rPr>
              <a:t>y</a:t>
            </a:r>
            <a:r>
              <a:rPr lang="en-US" altLang="en-US" dirty="0">
                <a:solidFill>
                  <a:srgbClr val="000000"/>
                </a:solidFill>
                <a:ea typeface="ＭＳ Ｐゴシック" pitchFamily="-65" charset="-128"/>
                <a:cs typeface="Arial" charset="0"/>
              </a:rPr>
              <a:t>.</a:t>
            </a:r>
          </a:p>
          <a:p>
            <a:pPr algn="just" eaLnBrk="1" hangingPunct="1">
              <a:lnSpc>
                <a:spcPct val="90000"/>
              </a:lnSpc>
              <a:spcBef>
                <a:spcPct val="40000"/>
              </a:spcBef>
              <a:spcAft>
                <a:spcPts val="600"/>
              </a:spcAft>
              <a:buFont typeface="Wingdings 2" pitchFamily="-65" charset="2"/>
              <a:buChar char="¡"/>
              <a:defRPr/>
            </a:pPr>
            <a:r>
              <a:rPr lang="en-US" altLang="en-US" b="1" dirty="0">
                <a:solidFill>
                  <a:srgbClr val="000000"/>
                </a:solidFill>
                <a:ea typeface="ＭＳ Ｐゴシック" pitchFamily="-65" charset="-128"/>
                <a:cs typeface="Arial" charset="0"/>
              </a:rPr>
              <a:t>Fact 2: </a:t>
            </a:r>
            <a:r>
              <a:rPr lang="en-US" altLang="en-US" dirty="0">
                <a:solidFill>
                  <a:srgbClr val="000000"/>
                </a:solidFill>
                <a:ea typeface="ＭＳ Ｐゴシック" pitchFamily="-65" charset="-128"/>
                <a:cs typeface="Arial" charset="0"/>
              </a:rPr>
              <a:t>The LSRL always passes through (</a:t>
            </a:r>
            <a:r>
              <a:rPr lang="en-US" altLang="en-US" i="1" dirty="0">
                <a:solidFill>
                  <a:srgbClr val="000000"/>
                </a:solidFill>
                <a:ea typeface="ＭＳ Ｐゴシック" pitchFamily="-65" charset="-128"/>
                <a:cs typeface="Arial" charset="0"/>
              </a:rPr>
              <a:t>x</a:t>
            </a:r>
            <a:r>
              <a:rPr lang="en-US" altLang="en-US" dirty="0">
                <a:solidFill>
                  <a:srgbClr val="000000"/>
                </a:solidFill>
                <a:ea typeface="ＭＳ Ｐゴシック" pitchFamily="-65" charset="-128"/>
                <a:cs typeface="Arial" charset="0"/>
              </a:rPr>
              <a:t>-bar, </a:t>
            </a:r>
            <a:r>
              <a:rPr lang="en-US" altLang="en-US" i="1" dirty="0">
                <a:solidFill>
                  <a:srgbClr val="000000"/>
                </a:solidFill>
                <a:ea typeface="ＭＳ Ｐゴシック" pitchFamily="-65" charset="-128"/>
                <a:cs typeface="Arial" charset="0"/>
              </a:rPr>
              <a:t>y</a:t>
            </a:r>
            <a:r>
              <a:rPr lang="en-US" altLang="en-US" dirty="0">
                <a:solidFill>
                  <a:srgbClr val="000000"/>
                </a:solidFill>
                <a:ea typeface="ＭＳ Ｐゴシック" pitchFamily="-65" charset="-128"/>
                <a:cs typeface="Arial" charset="0"/>
              </a:rPr>
              <a:t>-bar)</a:t>
            </a:r>
          </a:p>
          <a:p>
            <a:pPr algn="just" eaLnBrk="1" hangingPunct="1">
              <a:lnSpc>
                <a:spcPct val="90000"/>
              </a:lnSpc>
              <a:spcBef>
                <a:spcPct val="40000"/>
              </a:spcBef>
              <a:spcAft>
                <a:spcPts val="600"/>
              </a:spcAft>
              <a:buFont typeface="Wingdings 2" pitchFamily="-65" charset="2"/>
              <a:buChar char="¡"/>
              <a:defRPr/>
            </a:pPr>
            <a:r>
              <a:rPr lang="en-US" altLang="en-US" b="1" dirty="0">
                <a:solidFill>
                  <a:srgbClr val="000000"/>
                </a:solidFill>
                <a:ea typeface="ＭＳ Ｐゴシック" pitchFamily="-65" charset="-128"/>
                <a:cs typeface="Arial" charset="0"/>
              </a:rPr>
              <a:t>Fact 3: </a:t>
            </a:r>
            <a:r>
              <a:rPr lang="en-US" altLang="en-US" dirty="0">
                <a:solidFill>
                  <a:srgbClr val="000000"/>
                </a:solidFill>
                <a:ea typeface="ＭＳ Ｐゴシック" pitchFamily="-65" charset="-128"/>
                <a:cs typeface="Arial" charset="0"/>
              </a:rPr>
              <a:t>The distinction between explanatory and response variables is essential.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61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7616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761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bldLvl="3"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Correlation and Regression</a:t>
            </a:r>
            <a:endParaRPr lang="en-US" dirty="0"/>
          </a:p>
        </p:txBody>
      </p:sp>
      <p:sp>
        <p:nvSpPr>
          <p:cNvPr id="51202"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675E5C55-A2A5-48CA-962F-D12809398721}" type="slidenum">
              <a:rPr lang="en-US" sz="1200">
                <a:solidFill>
                  <a:schemeClr val="accent1"/>
                </a:solidFill>
              </a:rPr>
              <a:pPr>
                <a:lnSpc>
                  <a:spcPct val="80000"/>
                </a:lnSpc>
              </a:pPr>
              <a:t>29</a:t>
            </a:fld>
            <a:endParaRPr lang="en-US" sz="1200">
              <a:solidFill>
                <a:schemeClr val="accent1"/>
              </a:solidFill>
            </a:endParaRPr>
          </a:p>
        </p:txBody>
      </p:sp>
      <p:sp>
        <p:nvSpPr>
          <p:cNvPr id="51205" name="Rectangle 3"/>
          <p:cNvSpPr txBox="1">
            <a:spLocks noChangeArrowheads="1"/>
          </p:cNvSpPr>
          <p:nvPr/>
        </p:nvSpPr>
        <p:spPr bwMode="auto">
          <a:xfrm>
            <a:off x="204788" y="1313339"/>
            <a:ext cx="8235827" cy="1645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defTabSz="914400" eaLnBrk="1" hangingPunct="1">
              <a:spcBef>
                <a:spcPct val="40000"/>
              </a:spcBef>
              <a:buClr>
                <a:schemeClr val="accent1"/>
              </a:buClr>
              <a:buSzPct val="100000"/>
              <a:buFont typeface="Wingdings 2" pitchFamily="18" charset="2"/>
              <a:buNone/>
            </a:pPr>
            <a:r>
              <a:rPr lang="en-US" sz="2000" dirty="0"/>
              <a:t>Least-squares regression looks at the distances of the data points from the line only in the </a:t>
            </a:r>
            <a:r>
              <a:rPr lang="en-US" sz="2000" i="1" dirty="0"/>
              <a:t>y</a:t>
            </a:r>
            <a:r>
              <a:rPr lang="en-US" sz="2000" dirty="0"/>
              <a:t> direction. As a result, the variables </a:t>
            </a:r>
            <a:r>
              <a:rPr lang="en-US" sz="2000" i="1" dirty="0"/>
              <a:t>x</a:t>
            </a:r>
            <a:r>
              <a:rPr lang="en-US" sz="2000" dirty="0"/>
              <a:t> and </a:t>
            </a:r>
            <a:r>
              <a:rPr lang="en-US" sz="2000" i="1" dirty="0"/>
              <a:t>y</a:t>
            </a:r>
            <a:r>
              <a:rPr lang="en-US" sz="2000" dirty="0"/>
              <a:t> play different roles in regression. </a:t>
            </a:r>
          </a:p>
          <a:p>
            <a:pPr algn="just" defTabSz="914400" eaLnBrk="1" hangingPunct="1">
              <a:spcBef>
                <a:spcPct val="40000"/>
              </a:spcBef>
              <a:buClr>
                <a:schemeClr val="accent1"/>
              </a:buClr>
              <a:buSzPct val="100000"/>
              <a:buFont typeface="Wingdings 2" pitchFamily="18" charset="2"/>
              <a:buNone/>
            </a:pPr>
            <a:r>
              <a:rPr lang="en-US" sz="2000" dirty="0"/>
              <a:t>Even though correlation </a:t>
            </a:r>
            <a:r>
              <a:rPr lang="en-US" sz="2000" i="1" dirty="0"/>
              <a:t>r </a:t>
            </a:r>
            <a:r>
              <a:rPr lang="en-US" sz="2000" dirty="0"/>
              <a:t>ignores the distinction between </a:t>
            </a:r>
            <a:r>
              <a:rPr lang="en-US" sz="2000" i="1" dirty="0"/>
              <a:t>x </a:t>
            </a:r>
            <a:r>
              <a:rPr lang="en-US" sz="2000" dirty="0"/>
              <a:t>and </a:t>
            </a:r>
            <a:r>
              <a:rPr lang="en-US" sz="2000" i="1" dirty="0"/>
              <a:t>y, </a:t>
            </a:r>
            <a:r>
              <a:rPr lang="en-US" sz="2000" dirty="0"/>
              <a:t>there is a close connection between correlation and regression.</a:t>
            </a:r>
          </a:p>
        </p:txBody>
      </p:sp>
      <p:sp>
        <p:nvSpPr>
          <p:cNvPr id="476163" name="Rectangle 3"/>
          <p:cNvSpPr>
            <a:spLocks noGrp="1" noChangeArrowheads="1"/>
          </p:cNvSpPr>
          <p:nvPr>
            <p:ph sz="quarter" idx="4294967295"/>
          </p:nvPr>
        </p:nvSpPr>
        <p:spPr>
          <a:xfrm>
            <a:off x="204788" y="3687152"/>
            <a:ext cx="8558212" cy="1392238"/>
          </a:xfrm>
          <a:solidFill>
            <a:srgbClr val="FFD780"/>
          </a:solidFill>
          <a:effectLst>
            <a:outerShdw blurRad="50800" dist="38100" dir="2700000" rotWithShape="0">
              <a:srgbClr val="000000">
                <a:alpha val="42998"/>
              </a:srgbClr>
            </a:outerShdw>
          </a:effectLst>
        </p:spPr>
        <p:txBody>
          <a:bodyPr/>
          <a:lstStyle/>
          <a:p>
            <a:pPr marL="0" indent="0" algn="just" eaLnBrk="1" hangingPunct="1">
              <a:lnSpc>
                <a:spcPct val="90000"/>
              </a:lnSpc>
              <a:spcBef>
                <a:spcPct val="40000"/>
              </a:spcBef>
              <a:spcAft>
                <a:spcPts val="600"/>
              </a:spcAft>
              <a:buFont typeface="Wingdings 2" pitchFamily="18" charset="2"/>
              <a:buNone/>
              <a:defRPr/>
            </a:pPr>
            <a:r>
              <a:rPr lang="en-US" altLang="en-US" dirty="0">
                <a:solidFill>
                  <a:schemeClr val="tx1"/>
                </a:solidFill>
                <a:ea typeface="ＭＳ Ｐゴシック" pitchFamily="34" charset="-128"/>
              </a:rPr>
              <a:t>The </a:t>
            </a:r>
            <a:r>
              <a:rPr lang="en-US" altLang="en-US" b="1" dirty="0">
                <a:solidFill>
                  <a:schemeClr val="tx1"/>
                </a:solidFill>
                <a:ea typeface="ＭＳ Ｐゴシック" pitchFamily="34" charset="-128"/>
              </a:rPr>
              <a:t>square of the correlation, </a:t>
            </a:r>
            <a:r>
              <a:rPr lang="en-US" altLang="en-US" b="1" i="1" dirty="0">
                <a:solidFill>
                  <a:schemeClr val="tx1"/>
                </a:solidFill>
                <a:ea typeface="ＭＳ Ｐゴシック" pitchFamily="34" charset="-128"/>
              </a:rPr>
              <a:t>r</a:t>
            </a:r>
            <a:r>
              <a:rPr lang="en-US" altLang="en-US" b="1" baseline="30000" dirty="0">
                <a:solidFill>
                  <a:schemeClr val="tx1"/>
                </a:solidFill>
                <a:ea typeface="ＭＳ Ｐゴシック" pitchFamily="34" charset="-128"/>
              </a:rPr>
              <a:t>2</a:t>
            </a:r>
            <a:r>
              <a:rPr lang="en-US" altLang="en-US" b="1" dirty="0">
                <a:solidFill>
                  <a:schemeClr val="tx1"/>
                </a:solidFill>
                <a:ea typeface="ＭＳ Ｐゴシック" pitchFamily="34" charset="-128"/>
              </a:rPr>
              <a:t>,</a:t>
            </a:r>
            <a:r>
              <a:rPr lang="en-US" altLang="en-US" dirty="0">
                <a:solidFill>
                  <a:schemeClr val="tx1"/>
                </a:solidFill>
                <a:ea typeface="ＭＳ Ｐゴシック" pitchFamily="34" charset="-128"/>
              </a:rPr>
              <a:t> is the fraction of the variation in values of </a:t>
            </a:r>
            <a:r>
              <a:rPr lang="en-US" altLang="en-US" i="1" dirty="0">
                <a:solidFill>
                  <a:schemeClr val="tx1"/>
                </a:solidFill>
                <a:ea typeface="ＭＳ Ｐゴシック" pitchFamily="34" charset="-128"/>
              </a:rPr>
              <a:t>y </a:t>
            </a:r>
            <a:r>
              <a:rPr lang="en-US" altLang="en-US" dirty="0">
                <a:solidFill>
                  <a:schemeClr val="tx1"/>
                </a:solidFill>
                <a:ea typeface="ＭＳ Ｐゴシック" pitchFamily="34" charset="-128"/>
              </a:rPr>
              <a:t>that is explained by the least-squares regression of </a:t>
            </a:r>
            <a:r>
              <a:rPr lang="en-US" altLang="en-US" i="1" dirty="0">
                <a:solidFill>
                  <a:schemeClr val="tx1"/>
                </a:solidFill>
                <a:ea typeface="ＭＳ Ｐゴシック" pitchFamily="34" charset="-128"/>
              </a:rPr>
              <a:t>y </a:t>
            </a:r>
            <a:r>
              <a:rPr lang="en-US" altLang="en-US" dirty="0">
                <a:solidFill>
                  <a:schemeClr val="tx1"/>
                </a:solidFill>
                <a:ea typeface="ＭＳ Ｐゴシック" pitchFamily="34" charset="-128"/>
              </a:rPr>
              <a:t>on </a:t>
            </a:r>
            <a:r>
              <a:rPr lang="en-US" altLang="en-US" i="1" dirty="0">
                <a:solidFill>
                  <a:schemeClr val="tx1"/>
                </a:solidFill>
                <a:ea typeface="ＭＳ Ｐゴシック" pitchFamily="34" charset="-128"/>
              </a:rPr>
              <a:t>x</a:t>
            </a:r>
            <a:r>
              <a:rPr lang="en-US" altLang="en-US" dirty="0">
                <a:solidFill>
                  <a:schemeClr val="tx1"/>
                </a:solidFill>
                <a:ea typeface="ＭＳ Ｐゴシック" pitchFamily="34" charset="-128"/>
              </a:rPr>
              <a:t>. </a:t>
            </a:r>
          </a:p>
          <a:p>
            <a:pPr lvl="1" eaLnBrk="1" hangingPunct="1">
              <a:lnSpc>
                <a:spcPct val="90000"/>
              </a:lnSpc>
              <a:spcBef>
                <a:spcPct val="40000"/>
              </a:spcBef>
              <a:spcAft>
                <a:spcPts val="600"/>
              </a:spcAft>
              <a:defRPr/>
            </a:pPr>
            <a:r>
              <a:rPr lang="en-US" altLang="en-US" sz="2000" i="1" dirty="0">
                <a:solidFill>
                  <a:schemeClr val="tx1"/>
                </a:solidFill>
                <a:ea typeface="ＭＳ Ｐゴシック" pitchFamily="34" charset="-128"/>
              </a:rPr>
              <a:t>r</a:t>
            </a:r>
            <a:r>
              <a:rPr lang="en-US" altLang="en-US" sz="2000" baseline="30000" dirty="0">
                <a:solidFill>
                  <a:schemeClr val="tx1"/>
                </a:solidFill>
                <a:ea typeface="ＭＳ Ｐゴシック" pitchFamily="34" charset="-128"/>
              </a:rPr>
              <a:t>2</a:t>
            </a:r>
            <a:r>
              <a:rPr lang="en-US" altLang="en-US" sz="2000" i="1" dirty="0">
                <a:solidFill>
                  <a:schemeClr val="tx1"/>
                </a:solidFill>
                <a:ea typeface="ＭＳ Ｐゴシック" pitchFamily="34" charset="-128"/>
              </a:rPr>
              <a:t> </a:t>
            </a:r>
            <a:r>
              <a:rPr lang="en-US" altLang="en-US" sz="2000" dirty="0">
                <a:solidFill>
                  <a:schemeClr val="tx1"/>
                </a:solidFill>
                <a:ea typeface="ＭＳ Ｐゴシック" pitchFamily="34" charset="-128"/>
              </a:rPr>
              <a:t>is sometimes called the </a:t>
            </a:r>
            <a:r>
              <a:rPr lang="en-US" altLang="en-US" sz="2000" b="1" dirty="0">
                <a:solidFill>
                  <a:schemeClr val="tx1"/>
                </a:solidFill>
                <a:ea typeface="ＭＳ Ｐゴシック" pitchFamily="34" charset="-128"/>
              </a:rPr>
              <a:t>coefficient of determination.</a:t>
            </a:r>
          </a:p>
          <a:p>
            <a:pPr marL="0" indent="0" eaLnBrk="1" hangingPunct="1">
              <a:lnSpc>
                <a:spcPct val="90000"/>
              </a:lnSpc>
              <a:spcBef>
                <a:spcPct val="40000"/>
              </a:spcBef>
              <a:spcAft>
                <a:spcPts val="600"/>
              </a:spcAft>
              <a:defRPr/>
            </a:pPr>
            <a:endParaRPr lang="en-US" altLang="en-US" dirty="0">
              <a:solidFill>
                <a:schemeClr val="tx1"/>
              </a:solidFill>
              <a:ea typeface="ＭＳ Ｐゴシック" pitchFamily="34" charset="-128"/>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761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761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3" grpId="0" build="p" bldLvl="3"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2"/>
          <p:cNvSpPr>
            <a:spLocks noGrp="1"/>
          </p:cNvSpPr>
          <p:nvPr>
            <p:ph type="title"/>
          </p:nvPr>
        </p:nvSpPr>
        <p:spPr>
          <a:xfrm>
            <a:off x="457200" y="545123"/>
            <a:ext cx="7420708" cy="1143000"/>
          </a:xfrm>
        </p:spPr>
        <p:txBody>
          <a:bodyPr anchor="t"/>
          <a:lstStyle/>
          <a:p>
            <a:pPr eaLnBrk="1" hangingPunct="1"/>
            <a:r>
              <a:rPr lang="en-US" b="1" dirty="0">
                <a:solidFill>
                  <a:schemeClr val="accent1"/>
                </a:solidFill>
                <a:ea typeface="ＭＳ Ｐゴシック" pitchFamily="34" charset="-128"/>
              </a:rPr>
              <a:t>2.5 Cautions about Correlation and Regression</a:t>
            </a:r>
          </a:p>
        </p:txBody>
      </p:sp>
      <p:sp>
        <p:nvSpPr>
          <p:cNvPr id="52227" name="Text Placeholder 3"/>
          <p:cNvSpPr>
            <a:spLocks noGrp="1"/>
          </p:cNvSpPr>
          <p:nvPr>
            <p:ph idx="1"/>
          </p:nvPr>
        </p:nvSpPr>
        <p:spPr/>
        <p:txBody>
          <a:bodyPr/>
          <a:lstStyle/>
          <a:p>
            <a:pPr eaLnBrk="1" hangingPunct="1"/>
            <a:r>
              <a:rPr lang="en-US" sz="2400" dirty="0">
                <a:solidFill>
                  <a:srgbClr val="073779"/>
                </a:solidFill>
                <a:ea typeface="ＭＳ Ｐゴシック" pitchFamily="34" charset="-128"/>
              </a:rPr>
              <a:t>Residuals and residual plots</a:t>
            </a:r>
          </a:p>
          <a:p>
            <a:pPr eaLnBrk="1" hangingPunct="1"/>
            <a:r>
              <a:rPr lang="en-US" sz="2400" dirty="0">
                <a:solidFill>
                  <a:srgbClr val="073779"/>
                </a:solidFill>
                <a:ea typeface="ＭＳ Ｐゴシック" pitchFamily="34" charset="-128"/>
              </a:rPr>
              <a:t>Outliers and influential observations</a:t>
            </a:r>
          </a:p>
          <a:p>
            <a:pPr eaLnBrk="1" hangingPunct="1"/>
            <a:r>
              <a:rPr lang="en-US" sz="2400" dirty="0">
                <a:solidFill>
                  <a:srgbClr val="073779"/>
                </a:solidFill>
                <a:ea typeface="ＭＳ Ｐゴシック" pitchFamily="34" charset="-128"/>
              </a:rPr>
              <a:t>Lurking variables</a:t>
            </a:r>
          </a:p>
          <a:p>
            <a:pPr eaLnBrk="1" hangingPunct="1"/>
            <a:r>
              <a:rPr lang="en-US" sz="2400" dirty="0">
                <a:solidFill>
                  <a:srgbClr val="073779"/>
                </a:solidFill>
                <a:ea typeface="ＭＳ Ｐゴシック" pitchFamily="34" charset="-128"/>
              </a:rPr>
              <a:t>Correlation and causation</a:t>
            </a:r>
          </a:p>
        </p:txBody>
      </p:sp>
      <p:sp>
        <p:nvSpPr>
          <p:cNvPr id="52228"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38AA59F2-DEDC-4BE7-8E00-A857711D2558}" type="slidenum">
              <a:rPr lang="en-US">
                <a:solidFill>
                  <a:schemeClr val="accent1"/>
                </a:solidFill>
              </a:rPr>
              <a:pPr/>
              <a:t>30</a:t>
            </a:fld>
            <a:endParaRPr lang="en-US">
              <a:solidFill>
                <a:schemeClr val="accent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Residuals</a:t>
            </a:r>
          </a:p>
        </p:txBody>
      </p:sp>
      <p:sp>
        <p:nvSpPr>
          <p:cNvPr id="53250"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FA95DDF4-9563-4AEA-8E88-9666538B0005}" type="slidenum">
              <a:rPr lang="en-US" sz="1200">
                <a:solidFill>
                  <a:schemeClr val="accent1"/>
                </a:solidFill>
              </a:rPr>
              <a:pPr>
                <a:lnSpc>
                  <a:spcPct val="80000"/>
                </a:lnSpc>
              </a:pPr>
              <a:t>31</a:t>
            </a:fld>
            <a:endParaRPr lang="en-US" sz="1200">
              <a:solidFill>
                <a:schemeClr val="accent1"/>
              </a:solidFill>
            </a:endParaRPr>
          </a:p>
        </p:txBody>
      </p:sp>
      <p:sp>
        <p:nvSpPr>
          <p:cNvPr id="14" name="Rectangle 5"/>
          <p:cNvSpPr>
            <a:spLocks noChangeArrowheads="1"/>
          </p:cNvSpPr>
          <p:nvPr/>
        </p:nvSpPr>
        <p:spPr bwMode="auto">
          <a:xfrm>
            <a:off x="174624" y="1254125"/>
            <a:ext cx="8204200" cy="1530350"/>
          </a:xfrm>
          <a:prstGeom prst="rect">
            <a:avLst/>
          </a:prstGeom>
          <a:solidFill>
            <a:srgbClr val="FFD780"/>
          </a:solidFill>
          <a:ln>
            <a:noFill/>
          </a:ln>
        </p:spPr>
        <p:txBody>
          <a:bodyPr lIns="92075" tIns="46038" rIns="92075" bIns="46038"/>
          <a:lstStyle/>
          <a:p>
            <a:pPr algn="just" eaLnBrk="1" hangingPunct="1">
              <a:lnSpc>
                <a:spcPct val="95000"/>
              </a:lnSpc>
              <a:spcBef>
                <a:spcPct val="20000"/>
              </a:spcBef>
              <a:buClr>
                <a:schemeClr val="tx2"/>
              </a:buClr>
              <a:buSzPct val="75000"/>
            </a:pPr>
            <a:r>
              <a:rPr lang="en-US" sz="2000" dirty="0">
                <a:solidFill>
                  <a:srgbClr val="000000"/>
                </a:solidFill>
              </a:rPr>
              <a:t>A regression line describes the overall pattern of a linear relationship between an explanatory variable and a response variable. </a:t>
            </a:r>
          </a:p>
          <a:p>
            <a:pPr algn="just" eaLnBrk="1" hangingPunct="1">
              <a:lnSpc>
                <a:spcPct val="95000"/>
              </a:lnSpc>
              <a:spcBef>
                <a:spcPct val="20000"/>
              </a:spcBef>
              <a:buClr>
                <a:schemeClr val="tx2"/>
              </a:buClr>
              <a:buSzPct val="75000"/>
            </a:pPr>
            <a:r>
              <a:rPr lang="en-US" sz="2000" dirty="0">
                <a:solidFill>
                  <a:srgbClr val="000000"/>
                </a:solidFill>
              </a:rPr>
              <a:t>Deviations from the overall pattern are also important. The vertical distances between the points and the least-squares regression line are call</a:t>
            </a:r>
            <a:r>
              <a:rPr lang="en-US" sz="2000" dirty="0"/>
              <a:t>ed </a:t>
            </a:r>
            <a:r>
              <a:rPr lang="en-US" sz="2000" b="1" i="1" dirty="0"/>
              <a:t>residuals</a:t>
            </a:r>
            <a:r>
              <a:rPr lang="en-US" sz="2000" b="1" dirty="0"/>
              <a:t>.</a:t>
            </a:r>
            <a:endParaRPr lang="en-US" sz="1600" b="1" dirty="0"/>
          </a:p>
        </p:txBody>
      </p:sp>
      <p:sp>
        <p:nvSpPr>
          <p:cNvPr id="477187" name="Rectangle 3" descr="A residual is the difference between an observed value of the response variable and the value predicted by the regression line:&#10;residual = observed y – predicted y is equal to Y minus Y hat."/>
          <p:cNvSpPr>
            <a:spLocks noGrp="1" noChangeArrowheads="1"/>
          </p:cNvSpPr>
          <p:nvPr>
            <p:ph sz="quarter" idx="4294967295"/>
          </p:nvPr>
        </p:nvSpPr>
        <p:spPr>
          <a:xfrm>
            <a:off x="174624" y="3429000"/>
            <a:ext cx="7889875" cy="1928993"/>
          </a:xfrm>
          <a:solidFill>
            <a:srgbClr val="FFD780"/>
          </a:solidFill>
          <a:effectLst>
            <a:outerShdw blurRad="50800" dist="38100" dir="2700000" rotWithShape="0">
              <a:srgbClr val="000000">
                <a:alpha val="42998"/>
              </a:srgbClr>
            </a:outerShdw>
          </a:effectLst>
        </p:spPr>
        <p:txBody>
          <a:bodyPr/>
          <a:lstStyle/>
          <a:p>
            <a:pPr marL="0" indent="0" algn="just" eaLnBrk="1" hangingPunct="1">
              <a:spcBef>
                <a:spcPts val="0"/>
              </a:spcBef>
              <a:spcAft>
                <a:spcPts val="2000"/>
              </a:spcAft>
              <a:buFont typeface="Wingdings 2" pitchFamily="18" charset="2"/>
              <a:buNone/>
              <a:defRPr/>
            </a:pPr>
            <a:r>
              <a:rPr lang="en-US" dirty="0">
                <a:solidFill>
                  <a:schemeClr val="tx1"/>
                </a:solidFill>
                <a:ea typeface="ＭＳ Ｐゴシック" pitchFamily="34" charset="-128"/>
                <a:cs typeface="Arial" pitchFamily="34" charset="0"/>
              </a:rPr>
              <a:t>A </a:t>
            </a:r>
            <a:r>
              <a:rPr lang="en-US" b="1" dirty="0">
                <a:solidFill>
                  <a:schemeClr val="tx1"/>
                </a:solidFill>
                <a:ea typeface="ＭＳ Ｐゴシック" pitchFamily="34" charset="-128"/>
                <a:cs typeface="Arial" pitchFamily="34" charset="0"/>
              </a:rPr>
              <a:t>residual</a:t>
            </a:r>
            <a:r>
              <a:rPr lang="en-US" dirty="0">
                <a:solidFill>
                  <a:schemeClr val="tx1"/>
                </a:solidFill>
                <a:ea typeface="ＭＳ Ｐゴシック" pitchFamily="34" charset="-128"/>
                <a:cs typeface="Arial" pitchFamily="34" charset="0"/>
              </a:rPr>
              <a:t> is the difference between an observed value of the response variable and the value predicted by the regression line</a:t>
            </a:r>
            <a:r>
              <a:rPr lang="en-US" dirty="0" smtClean="0">
                <a:solidFill>
                  <a:schemeClr val="tx1"/>
                </a:solidFill>
                <a:ea typeface="ＭＳ Ｐゴシック" pitchFamily="34" charset="-128"/>
                <a:cs typeface="Arial" pitchFamily="34" charset="0"/>
              </a:rPr>
              <a:t>:</a:t>
            </a:r>
            <a:endParaRPr lang="en-US" dirty="0">
              <a:solidFill>
                <a:schemeClr val="tx1"/>
              </a:solidFill>
              <a:ea typeface="ＭＳ Ｐゴシック" pitchFamily="34" charset="-128"/>
              <a:cs typeface="Arial"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876701028"/>
              </p:ext>
            </p:extLst>
          </p:nvPr>
        </p:nvGraphicFramePr>
        <p:xfrm>
          <a:off x="1003817" y="4393496"/>
          <a:ext cx="6231488" cy="486360"/>
        </p:xfrm>
        <a:graphic>
          <a:graphicData uri="http://schemas.openxmlformats.org/presentationml/2006/ole">
            <mc:AlternateContent xmlns:mc="http://schemas.openxmlformats.org/markup-compatibility/2006">
              <mc:Choice xmlns:v="urn:schemas-microsoft-com:vml" Requires="v">
                <p:oleObj spid="_x0000_s57346" name="Equation" r:id="rId3" imgW="2603160" imgH="203040" progId="Equation.DSMT4">
                  <p:embed/>
                </p:oleObj>
              </mc:Choice>
              <mc:Fallback>
                <p:oleObj name="Equation" r:id="rId3" imgW="2603160" imgH="203040" progId="Equation.DSMT4">
                  <p:embed/>
                  <p:pic>
                    <p:nvPicPr>
                      <p:cNvPr id="0" name=""/>
                      <p:cNvPicPr/>
                      <p:nvPr/>
                    </p:nvPicPr>
                    <p:blipFill>
                      <a:blip r:embed="rId4"/>
                      <a:stretch>
                        <a:fillRect/>
                      </a:stretch>
                    </p:blipFill>
                    <p:spPr>
                      <a:xfrm>
                        <a:off x="1003817" y="4393496"/>
                        <a:ext cx="6231488" cy="486360"/>
                      </a:xfrm>
                      <a:prstGeom prst="rect">
                        <a:avLst/>
                      </a:prstGeom>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7187"/>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7718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allAtOnce" animBg="1"/>
      <p:bldP spid="477187"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Residual Plots</a:t>
            </a:r>
            <a:endParaRPr lang="en-US" dirty="0"/>
          </a:p>
        </p:txBody>
      </p:sp>
      <p:sp>
        <p:nvSpPr>
          <p:cNvPr id="54274"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F3E37BBC-A3A3-420B-967E-C10BB70028D7}" type="slidenum">
              <a:rPr lang="en-US" sz="1200">
                <a:solidFill>
                  <a:schemeClr val="accent1"/>
                </a:solidFill>
              </a:rPr>
              <a:pPr>
                <a:lnSpc>
                  <a:spcPct val="80000"/>
                </a:lnSpc>
              </a:pPr>
              <a:t>32</a:t>
            </a:fld>
            <a:endParaRPr lang="en-US" sz="1200">
              <a:solidFill>
                <a:schemeClr val="accent1"/>
              </a:solidFill>
            </a:endParaRPr>
          </a:p>
        </p:txBody>
      </p:sp>
      <p:sp>
        <p:nvSpPr>
          <p:cNvPr id="8" name="Rectangle 3"/>
          <p:cNvSpPr txBox="1">
            <a:spLocks noChangeArrowheads="1"/>
          </p:cNvSpPr>
          <p:nvPr/>
        </p:nvSpPr>
        <p:spPr bwMode="auto">
          <a:xfrm>
            <a:off x="174624" y="1175324"/>
            <a:ext cx="8253413" cy="1933575"/>
          </a:xfrm>
          <a:prstGeom prst="rect">
            <a:avLst/>
          </a:prstGeom>
          <a:solidFill>
            <a:srgbClr val="FFD780"/>
          </a:solidFill>
          <a:ln>
            <a:noFill/>
          </a:ln>
          <a:effectLst>
            <a:outerShdw blurRad="50800" dist="38100" dir="2700000" rotWithShape="0">
              <a:srgbClr val="808080">
                <a:alpha val="42998"/>
              </a:srgbClr>
            </a:outerShdw>
          </a:effectLst>
        </p:spPr>
        <p:txBody>
          <a:bodyPr/>
          <a:lstStyle>
            <a:lvl1pPr>
              <a:defRPr sz="2400">
                <a:solidFill>
                  <a:schemeClr val="tx1"/>
                </a:solidFill>
                <a:latin typeface="Arial" pitchFamily="34" charset="0"/>
                <a:ea typeface="ＭＳ Ｐゴシック" pitchFamily="34" charset="-128"/>
              </a:defRPr>
            </a:lvl1pPr>
            <a:lvl2pPr marL="639763" indent="-2730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defTabSz="914400" eaLnBrk="1" hangingPunct="1">
              <a:spcBef>
                <a:spcPct val="40000"/>
              </a:spcBef>
              <a:buClr>
                <a:schemeClr val="accent2"/>
              </a:buClr>
              <a:buSzPct val="60000"/>
              <a:defRPr/>
            </a:pPr>
            <a:r>
              <a:rPr lang="en-US" sz="2000" dirty="0">
                <a:cs typeface="Arial" pitchFamily="34" charset="0"/>
              </a:rPr>
              <a:t>A </a:t>
            </a:r>
            <a:r>
              <a:rPr lang="en-US" sz="2000" b="1" dirty="0">
                <a:cs typeface="Arial" pitchFamily="34" charset="0"/>
              </a:rPr>
              <a:t>residual plot</a:t>
            </a:r>
            <a:r>
              <a:rPr lang="en-US" sz="2000" dirty="0">
                <a:cs typeface="Arial" pitchFamily="34" charset="0"/>
              </a:rPr>
              <a:t> is a scatterplot of the regression residuals against the explanatory variable. Residual plots help us assess the fit of a regression line</a:t>
            </a:r>
            <a:r>
              <a:rPr lang="en-US" sz="2000" dirty="0">
                <a:cs typeface="Arial" pitchFamily="34" charset="0"/>
                <a:sym typeface="Symbol" pitchFamily="18" charset="2"/>
              </a:rPr>
              <a:t>.</a:t>
            </a:r>
          </a:p>
          <a:p>
            <a:pPr lvl="1" defTabSz="914400" eaLnBrk="1" hangingPunct="1">
              <a:spcBef>
                <a:spcPct val="40000"/>
              </a:spcBef>
              <a:buClr>
                <a:schemeClr val="accent1"/>
              </a:buClr>
              <a:buSzPct val="70000"/>
              <a:buFont typeface="Wingdings" pitchFamily="2" charset="2"/>
              <a:buChar char="§"/>
              <a:defRPr/>
            </a:pPr>
            <a:r>
              <a:rPr lang="en-US" sz="2000" dirty="0">
                <a:cs typeface="Arial" pitchFamily="34" charset="0"/>
                <a:sym typeface="Symbol" pitchFamily="18" charset="2"/>
              </a:rPr>
              <a:t>Ideally there should be a </a:t>
            </a:r>
            <a:r>
              <a:rPr lang="ja-JP" altLang="en-US" sz="2000" dirty="0">
                <a:cs typeface="Arial" pitchFamily="34" charset="0"/>
                <a:sym typeface="Symbol" pitchFamily="18" charset="2"/>
              </a:rPr>
              <a:t>“</a:t>
            </a:r>
            <a:r>
              <a:rPr lang="en-US" altLang="ja-JP" sz="2000" dirty="0">
                <a:cs typeface="Arial" pitchFamily="34" charset="0"/>
                <a:sym typeface="Symbol" pitchFamily="18" charset="2"/>
              </a:rPr>
              <a:t>random</a:t>
            </a:r>
            <a:r>
              <a:rPr lang="ja-JP" altLang="en-US" sz="2000" dirty="0">
                <a:cs typeface="Arial" pitchFamily="34" charset="0"/>
                <a:sym typeface="Symbol" pitchFamily="18" charset="2"/>
              </a:rPr>
              <a:t>”</a:t>
            </a:r>
            <a:r>
              <a:rPr lang="en-US" altLang="ja-JP" sz="2000" dirty="0">
                <a:cs typeface="Arial" pitchFamily="34" charset="0"/>
                <a:sym typeface="Symbol" pitchFamily="18" charset="2"/>
              </a:rPr>
              <a:t> scatter around zero.</a:t>
            </a:r>
          </a:p>
          <a:p>
            <a:pPr lvl="1" defTabSz="914400" eaLnBrk="1" hangingPunct="1">
              <a:spcBef>
                <a:spcPct val="40000"/>
              </a:spcBef>
              <a:buClr>
                <a:schemeClr val="accent1"/>
              </a:buClr>
              <a:buSzPct val="70000"/>
              <a:buFont typeface="Wingdings" pitchFamily="2" charset="2"/>
              <a:buChar char="§"/>
              <a:defRPr/>
            </a:pPr>
            <a:r>
              <a:rPr lang="en-US" sz="2000" dirty="0">
                <a:cs typeface="Arial" pitchFamily="34" charset="0"/>
                <a:sym typeface="Symbol" pitchFamily="18" charset="2"/>
              </a:rPr>
              <a:t>Residual </a:t>
            </a:r>
            <a:r>
              <a:rPr lang="en-US" sz="2000" i="1" dirty="0">
                <a:cs typeface="Arial" pitchFamily="34" charset="0"/>
                <a:sym typeface="Symbol" pitchFamily="18" charset="2"/>
              </a:rPr>
              <a:t>patterns</a:t>
            </a:r>
            <a:r>
              <a:rPr lang="en-US" sz="2000" dirty="0">
                <a:cs typeface="Arial" pitchFamily="34" charset="0"/>
                <a:sym typeface="Symbol" pitchFamily="18" charset="2"/>
              </a:rPr>
              <a:t> suggest deviations from a linear relationship.</a:t>
            </a:r>
          </a:p>
        </p:txBody>
      </p:sp>
      <p:sp>
        <p:nvSpPr>
          <p:cNvPr id="11" name="Rectangle 4"/>
          <p:cNvSpPr>
            <a:spLocks noChangeArrowheads="1"/>
          </p:cNvSpPr>
          <p:nvPr/>
        </p:nvSpPr>
        <p:spPr bwMode="auto">
          <a:xfrm>
            <a:off x="952500" y="3358710"/>
            <a:ext cx="7391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1" hangingPunct="1"/>
            <a:r>
              <a:rPr lang="en-US" sz="2000" b="1" dirty="0">
                <a:solidFill>
                  <a:srgbClr val="000000"/>
                </a:solidFill>
              </a:rPr>
              <a:t>Gesell Adaptive Score and Age at First Word</a:t>
            </a:r>
          </a:p>
        </p:txBody>
      </p:sp>
      <p:pic>
        <p:nvPicPr>
          <p:cNvPr id="9" name="Picture 5" descr="The slide shows the scatter plot between, age at first word (in months) on X-axis ranging from 0 to 50 at interval of 10, and Gesell adaptive score on Y-axis ranging from 40 to 140 at interval of 20. &#10;In the plot, dots shows negative association and have moderate linear correlation between them. In the plot the dots for Child 18 is outliers."/>
          <p:cNvPicPr>
            <a:picLocks noChangeAspect="1" noChangeArrowheads="1"/>
          </p:cNvPicPr>
          <p:nvPr/>
        </p:nvPicPr>
        <p:blipFill rotWithShape="1">
          <a:blip r:embed="rId2">
            <a:extLst>
              <a:ext uri="{28A0092B-C50C-407E-A947-70E740481C1C}">
                <a14:useLocalDpi xmlns:a14="http://schemas.microsoft.com/office/drawing/2010/main" val="0"/>
              </a:ext>
            </a:extLst>
          </a:blip>
          <a:srcRect t="-36" b="-36"/>
          <a:stretch/>
        </p:blipFill>
        <p:spPr bwMode="auto">
          <a:xfrm>
            <a:off x="426720" y="3865562"/>
            <a:ext cx="3971109" cy="299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0" descr="The slide shows the residual plot between, age at first word (in months) on X-axis ranging from 0 to 50 at interval of 10, and Residual on Y-axis ranging from -20 to 30 in successive intervals of 10.&#10;In the plot, dots are randomly scattered along the horizontal line Y = 0 and dots for child 18 is the outliers."/>
          <p:cNvPicPr>
            <a:picLocks noChangeAspect="1" noChangeArrowheads="1"/>
          </p:cNvPicPr>
          <p:nvPr/>
        </p:nvPicPr>
        <p:blipFill rotWithShape="1">
          <a:blip r:embed="rId3">
            <a:extLst>
              <a:ext uri="{28A0092B-C50C-407E-A947-70E740481C1C}">
                <a14:useLocalDpi xmlns:a14="http://schemas.microsoft.com/office/drawing/2010/main" val="0"/>
              </a:ext>
            </a:extLst>
          </a:blip>
          <a:srcRect t="-15" b="-15"/>
          <a:stretch/>
        </p:blipFill>
        <p:spPr bwMode="auto">
          <a:xfrm>
            <a:off x="4802187" y="3865562"/>
            <a:ext cx="3960813" cy="299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12" accel="50000" decel="5000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 calcmode="lin" valueType="num">
                                      <p:cBhvr additive="base">
                                        <p:cTn id="16" dur="500" fill="hold"/>
                                        <p:tgtEl>
                                          <p:spTgt spid="9"/>
                                        </p:tgtEl>
                                        <p:attrNameLst>
                                          <p:attrName>ppt_x</p:attrName>
                                        </p:attrNameLst>
                                      </p:cBhvr>
                                      <p:tavLst>
                                        <p:tav tm="0">
                                          <p:val>
                                            <p:strVal val="#ppt_x"/>
                                          </p:val>
                                        </p:tav>
                                        <p:tav tm="100000">
                                          <p:val>
                                            <p:strVal val="#ppt_x"/>
                                          </p:val>
                                        </p:tav>
                                      </p:tavLst>
                                    </p:anim>
                                    <p:anim calcmode="lin" valueType="num">
                                      <p:cBhvr additive="base">
                                        <p:cTn id="1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8" accel="50000" decel="5000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0-#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4" y="150347"/>
            <a:ext cx="7772400" cy="777240"/>
          </a:xfrm>
        </p:spPr>
        <p:txBody>
          <a:bodyPr/>
          <a:lstStyle/>
          <a:p>
            <a:r>
              <a:rPr lang="en-US" dirty="0">
                <a:solidFill>
                  <a:schemeClr val="accent1"/>
                </a:solidFill>
              </a:rPr>
              <a:t>Outliers and Influential Points 1</a:t>
            </a:r>
            <a:endParaRPr lang="en-US" dirty="0"/>
          </a:p>
        </p:txBody>
      </p:sp>
      <p:sp>
        <p:nvSpPr>
          <p:cNvPr id="55298"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78B776F8-FEB3-4121-9A42-F8FBCB525E3A}" type="slidenum">
              <a:rPr lang="en-US" sz="1200">
                <a:solidFill>
                  <a:schemeClr val="accent1"/>
                </a:solidFill>
              </a:rPr>
              <a:pPr>
                <a:lnSpc>
                  <a:spcPct val="80000"/>
                </a:lnSpc>
              </a:pPr>
              <a:t>33</a:t>
            </a:fld>
            <a:endParaRPr lang="en-US" sz="1200">
              <a:solidFill>
                <a:schemeClr val="accent1"/>
              </a:solidFill>
            </a:endParaRPr>
          </a:p>
        </p:txBody>
      </p:sp>
      <p:sp>
        <p:nvSpPr>
          <p:cNvPr id="488451" name="Rectangle 3"/>
          <p:cNvSpPr>
            <a:spLocks noGrp="1" noChangeArrowheads="1"/>
          </p:cNvSpPr>
          <p:nvPr>
            <p:ph sz="quarter" idx="4294967295"/>
          </p:nvPr>
        </p:nvSpPr>
        <p:spPr>
          <a:xfrm>
            <a:off x="174623" y="1207446"/>
            <a:ext cx="8081965" cy="2382214"/>
          </a:xfrm>
          <a:solidFill>
            <a:srgbClr val="FFD780"/>
          </a:solidFill>
        </p:spPr>
        <p:txBody>
          <a:bodyPr/>
          <a:lstStyle/>
          <a:p>
            <a:pPr marL="0" indent="0" eaLnBrk="1" hangingPunct="1">
              <a:spcBef>
                <a:spcPct val="40000"/>
              </a:spcBef>
              <a:spcAft>
                <a:spcPts val="1200"/>
              </a:spcAft>
              <a:buFont typeface="Wingdings 2" pitchFamily="18" charset="2"/>
              <a:buNone/>
            </a:pPr>
            <a:r>
              <a:rPr lang="en-US" dirty="0">
                <a:solidFill>
                  <a:schemeClr val="tx1"/>
                </a:solidFill>
                <a:ea typeface="ＭＳ Ｐゴシック" pitchFamily="34" charset="-128"/>
              </a:rPr>
              <a:t>An </a:t>
            </a:r>
            <a:r>
              <a:rPr lang="en-US" b="1" i="1" dirty="0">
                <a:solidFill>
                  <a:schemeClr val="tx1"/>
                </a:solidFill>
                <a:ea typeface="ＭＳ Ｐゴシック" pitchFamily="34" charset="-128"/>
              </a:rPr>
              <a:t>outlier</a:t>
            </a:r>
            <a:r>
              <a:rPr lang="en-US" dirty="0">
                <a:solidFill>
                  <a:schemeClr val="tx1"/>
                </a:solidFill>
                <a:ea typeface="ＭＳ Ｐゴシック" pitchFamily="34" charset="-128"/>
              </a:rPr>
              <a:t> is an observation that lies outside the overall pattern of the other observations.</a:t>
            </a:r>
          </a:p>
          <a:p>
            <a:pPr lvl="1" eaLnBrk="1" hangingPunct="1">
              <a:spcBef>
                <a:spcPct val="40000"/>
              </a:spcBef>
              <a:spcAft>
                <a:spcPts val="1200"/>
              </a:spcAft>
            </a:pPr>
            <a:r>
              <a:rPr lang="en-US" sz="2000" dirty="0">
                <a:solidFill>
                  <a:schemeClr val="tx1"/>
                </a:solidFill>
                <a:ea typeface="ＭＳ Ｐゴシック" pitchFamily="34" charset="-128"/>
                <a:sym typeface="Symbol" pitchFamily="18" charset="2"/>
              </a:rPr>
              <a:t>Outliers in the </a:t>
            </a:r>
            <a:r>
              <a:rPr lang="en-US" sz="2000" i="1" dirty="0">
                <a:solidFill>
                  <a:schemeClr val="tx1"/>
                </a:solidFill>
                <a:ea typeface="ＭＳ Ｐゴシック" pitchFamily="34" charset="-128"/>
                <a:sym typeface="Symbol" pitchFamily="18" charset="2"/>
              </a:rPr>
              <a:t>y </a:t>
            </a:r>
            <a:r>
              <a:rPr lang="en-US" sz="2000" dirty="0">
                <a:solidFill>
                  <a:schemeClr val="tx1"/>
                </a:solidFill>
                <a:ea typeface="ＭＳ Ｐゴシック" pitchFamily="34" charset="-128"/>
                <a:sym typeface="Symbol" pitchFamily="18" charset="2"/>
              </a:rPr>
              <a:t>direction have large residuals.</a:t>
            </a:r>
          </a:p>
          <a:p>
            <a:pPr lvl="1" algn="just" eaLnBrk="1" hangingPunct="1">
              <a:spcBef>
                <a:spcPct val="40000"/>
              </a:spcBef>
              <a:spcAft>
                <a:spcPts val="1200"/>
              </a:spcAft>
            </a:pPr>
            <a:r>
              <a:rPr lang="en-US" sz="2000" dirty="0">
                <a:solidFill>
                  <a:schemeClr val="tx1"/>
                </a:solidFill>
                <a:sym typeface="Symbol" pitchFamily="18" charset="2"/>
              </a:rPr>
              <a:t>Outliers in the </a:t>
            </a:r>
            <a:r>
              <a:rPr lang="en-US" sz="2000" i="1" dirty="0">
                <a:solidFill>
                  <a:schemeClr val="tx1"/>
                </a:solidFill>
                <a:sym typeface="Symbol" pitchFamily="18" charset="2"/>
              </a:rPr>
              <a:t>x</a:t>
            </a:r>
            <a:r>
              <a:rPr lang="en-US" sz="2000" dirty="0">
                <a:solidFill>
                  <a:schemeClr val="tx1"/>
                </a:solidFill>
                <a:sym typeface="Symbol" pitchFamily="18" charset="2"/>
              </a:rPr>
              <a:t> direction are often </a:t>
            </a:r>
            <a:r>
              <a:rPr lang="en-US" sz="2000" b="1" i="1" dirty="0">
                <a:solidFill>
                  <a:schemeClr val="tx1"/>
                </a:solidFill>
                <a:sym typeface="Symbol" pitchFamily="18" charset="2"/>
              </a:rPr>
              <a:t>influential</a:t>
            </a:r>
            <a:r>
              <a:rPr lang="en-US" sz="2000" b="1" dirty="0">
                <a:solidFill>
                  <a:schemeClr val="tx1"/>
                </a:solidFill>
                <a:sym typeface="Symbol" pitchFamily="18" charset="2"/>
              </a:rPr>
              <a:t> </a:t>
            </a:r>
            <a:r>
              <a:rPr lang="en-US" sz="2000" dirty="0">
                <a:solidFill>
                  <a:schemeClr val="tx1"/>
                </a:solidFill>
                <a:sym typeface="Symbol" pitchFamily="18" charset="2"/>
              </a:rPr>
              <a:t>for the least-squares regression line, meaning that the removal of such points would markedly change the equation of the line.</a:t>
            </a:r>
          </a:p>
          <a:p>
            <a:pPr lvl="1" eaLnBrk="1" hangingPunct="1">
              <a:spcBef>
                <a:spcPct val="40000"/>
              </a:spcBef>
              <a:spcAft>
                <a:spcPts val="1200"/>
              </a:spcAft>
            </a:pPr>
            <a:endParaRPr lang="en-US" sz="2000" dirty="0">
              <a:solidFill>
                <a:schemeClr val="tx1"/>
              </a:solidFill>
              <a:ea typeface="ＭＳ Ｐゴシック" pitchFamily="34" charset="-128"/>
              <a:sym typeface="Symbol" pitchFamily="18" charset="2"/>
            </a:endParaRPr>
          </a:p>
        </p:txBody>
      </p:sp>
      <p:pic>
        <p:nvPicPr>
          <p:cNvPr id="6" name="Picture 5" descr="The slide shows the scatter plot between, age at first word (in months) on X-axis ranging from 0 to 50 at interval of 10, and Gesell adaptive score on Y-axis ranging from 40 to 140 at interval of 20. &#10;In the plot, dots shows negative association and have moderate linear correlation between them. In the plot the dots for Child 18 is outliers."/>
          <p:cNvPicPr>
            <a:picLocks noChangeAspect="1" noChangeArrowheads="1"/>
          </p:cNvPicPr>
          <p:nvPr/>
        </p:nvPicPr>
        <p:blipFill rotWithShape="1">
          <a:blip r:embed="rId2">
            <a:extLst>
              <a:ext uri="{28A0092B-C50C-407E-A947-70E740481C1C}">
                <a14:useLocalDpi xmlns:a14="http://schemas.microsoft.com/office/drawing/2010/main" val="0"/>
              </a:ext>
            </a:extLst>
          </a:blip>
          <a:srcRect l="-47" r="-101"/>
          <a:stretch/>
        </p:blipFill>
        <p:spPr bwMode="auto">
          <a:xfrm>
            <a:off x="2789037" y="3865562"/>
            <a:ext cx="3979818" cy="299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884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884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88451">
                                            <p:txEl>
                                              <p:pRg st="2" end="2"/>
                                            </p:txEl>
                                          </p:spTgt>
                                        </p:tgtEl>
                                        <p:attrNameLst>
                                          <p:attrName>style.visibility</p:attrName>
                                        </p:attrNameLst>
                                      </p:cBhvr>
                                      <p:to>
                                        <p:strVal val="visible"/>
                                      </p:to>
                                    </p:set>
                                  </p:childTnLst>
                                </p:cTn>
                              </p:par>
                              <p:par>
                                <p:cTn id="15" presetID="2" presetClass="entr" presetSubtype="6" accel="50000" decel="5000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1+#ppt_w/2"/>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51" grpId="0" build="p" bldLvl="3"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accent1"/>
                </a:solidFill>
              </a:rPr>
              <a:t>Outliers and Influential Points 2</a:t>
            </a:r>
            <a:endParaRPr lang="en-US" dirty="0"/>
          </a:p>
        </p:txBody>
      </p:sp>
      <p:sp>
        <p:nvSpPr>
          <p:cNvPr id="56322"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9A9A4AED-EBE6-4D23-A2C9-285A32700AD8}" type="slidenum">
              <a:rPr lang="en-US" sz="1200">
                <a:solidFill>
                  <a:schemeClr val="accent1"/>
                </a:solidFill>
              </a:rPr>
              <a:pPr>
                <a:lnSpc>
                  <a:spcPct val="80000"/>
                </a:lnSpc>
              </a:pPr>
              <a:t>34</a:t>
            </a:fld>
            <a:endParaRPr lang="en-US" sz="1200">
              <a:solidFill>
                <a:schemeClr val="accent1"/>
              </a:solidFill>
            </a:endParaRPr>
          </a:p>
        </p:txBody>
      </p:sp>
      <p:sp>
        <p:nvSpPr>
          <p:cNvPr id="56324" name="Rectangle 5"/>
          <p:cNvSpPr>
            <a:spLocks noChangeArrowheads="1"/>
          </p:cNvSpPr>
          <p:nvPr/>
        </p:nvSpPr>
        <p:spPr bwMode="auto">
          <a:xfrm>
            <a:off x="1646568" y="1268517"/>
            <a:ext cx="5675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ctr" eaLnBrk="1" hangingPunct="1"/>
            <a:r>
              <a:rPr lang="en-US" sz="2000" b="1" dirty="0"/>
              <a:t>Gesell Adaptive Score and Age at First Word</a:t>
            </a:r>
          </a:p>
        </p:txBody>
      </p:sp>
      <p:pic>
        <p:nvPicPr>
          <p:cNvPr id="56323" name="Picture 7" descr="A scatterplot of Gesell Adaptive Score and age at first word."/>
          <p:cNvPicPr>
            <a:picLocks noGrp="1" noChangeAspect="1" noChangeArrowheads="1"/>
          </p:cNvPicPr>
          <p:nvPr>
            <p:ph sz="quarter" idx="4294967295"/>
          </p:nvPr>
        </p:nvPicPr>
        <p:blipFill rotWithShape="1">
          <a:blip r:embed="rId3">
            <a:extLst>
              <a:ext uri="{28A0092B-C50C-407E-A947-70E740481C1C}">
                <a14:useLocalDpi xmlns:a14="http://schemas.microsoft.com/office/drawing/2010/main" val="0"/>
              </a:ext>
            </a:extLst>
          </a:blip>
          <a:srcRect l="-39" r="-39"/>
          <a:stretch/>
        </p:blipFill>
        <p:spPr>
          <a:xfrm>
            <a:off x="174624" y="1922463"/>
            <a:ext cx="5718175" cy="4264025"/>
          </a:xfrm>
        </p:spPr>
      </p:pic>
      <p:sp>
        <p:nvSpPr>
          <p:cNvPr id="56330" name="Text Box 10"/>
          <p:cNvSpPr txBox="1">
            <a:spLocks noChangeArrowheads="1"/>
          </p:cNvSpPr>
          <p:nvPr/>
        </p:nvSpPr>
        <p:spPr bwMode="auto">
          <a:xfrm>
            <a:off x="4740205" y="2605614"/>
            <a:ext cx="28162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ctr" eaLnBrk="1" hangingPunct="1">
              <a:spcBef>
                <a:spcPct val="50000"/>
              </a:spcBef>
            </a:pPr>
            <a:r>
              <a:rPr lang="en-US" sz="2000" dirty="0"/>
              <a:t>After removing child 18</a:t>
            </a:r>
          </a:p>
        </p:txBody>
      </p:sp>
      <p:sp>
        <p:nvSpPr>
          <p:cNvPr id="56331" name="Line 11" descr="An arrow points to the line after removing child 18."/>
          <p:cNvSpPr>
            <a:spLocks noChangeShapeType="1"/>
          </p:cNvSpPr>
          <p:nvPr/>
        </p:nvSpPr>
        <p:spPr bwMode="auto">
          <a:xfrm flipH="1">
            <a:off x="5656193" y="3059535"/>
            <a:ext cx="841375" cy="1214437"/>
          </a:xfrm>
          <a:prstGeom prst="line">
            <a:avLst/>
          </a:prstGeom>
          <a:noFill/>
          <a:ln w="57150">
            <a:solidFill>
              <a:srgbClr val="94C6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1758" name="AutoShape 20" descr="The point for child 18 is crossed out."/>
          <p:cNvSpPr>
            <a:spLocks noChangeAspect="1" noChangeArrowheads="1"/>
          </p:cNvSpPr>
          <p:nvPr/>
        </p:nvSpPr>
        <p:spPr bwMode="hidden">
          <a:xfrm>
            <a:off x="4740205" y="4734347"/>
            <a:ext cx="406400" cy="403225"/>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22 w 21600"/>
              <a:gd name="T25" fmla="*/ 3146 h 21600"/>
              <a:gd name="T26" fmla="*/ 18478 w 21600"/>
              <a:gd name="T27" fmla="*/ 1845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lnTo>
                  <a:pt x="17401" y="15493"/>
                </a:lnTo>
                <a:close/>
                <a:moveTo>
                  <a:pt x="4198" y="6106"/>
                </a:moveTo>
                <a:cubicBezTo>
                  <a:pt x="3223" y="7477"/>
                  <a:pt x="2699" y="9117"/>
                  <a:pt x="2699" y="10799"/>
                </a:cubicBezTo>
                <a:cubicBezTo>
                  <a:pt x="2700" y="15273"/>
                  <a:pt x="6326" y="18900"/>
                  <a:pt x="10800" y="18900"/>
                </a:cubicBezTo>
                <a:cubicBezTo>
                  <a:pt x="12482" y="18900"/>
                  <a:pt x="14122" y="18376"/>
                  <a:pt x="15493" y="17401"/>
                </a:cubicBezTo>
                <a:lnTo>
                  <a:pt x="4198" y="6106"/>
                </a:lnTo>
                <a:close/>
              </a:path>
            </a:pathLst>
          </a:custGeom>
          <a:ln>
            <a:headEnd/>
            <a:tailEnd/>
          </a:ln>
        </p:spPr>
        <p:style>
          <a:lnRef idx="1">
            <a:schemeClr val="accent1"/>
          </a:lnRef>
          <a:fillRef idx="3">
            <a:schemeClr val="accent1"/>
          </a:fillRef>
          <a:effectRef idx="2">
            <a:schemeClr val="accent1"/>
          </a:effectRef>
          <a:fontRef idx="minor">
            <a:schemeClr val="lt1"/>
          </a:fontRef>
        </p:style>
        <p:txBody>
          <a:bodyPr wrap="none" anchor="ct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defRPr/>
            </a:pPr>
            <a:endParaRPr lang="en-US" altLang="en-US">
              <a:solidFill>
                <a:srgbClr val="FFFFFF"/>
              </a:solidFill>
            </a:endParaRPr>
          </a:p>
        </p:txBody>
      </p:sp>
      <p:sp>
        <p:nvSpPr>
          <p:cNvPr id="489491" name="Text Box 19"/>
          <p:cNvSpPr txBox="1">
            <a:spLocks noChangeArrowheads="1"/>
          </p:cNvSpPr>
          <p:nvPr/>
        </p:nvSpPr>
        <p:spPr bwMode="hidden">
          <a:xfrm>
            <a:off x="6856413" y="2997478"/>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65" charset="-128"/>
              </a:defRPr>
            </a:lvl1pPr>
            <a:lvl2pPr marL="742950" indent="-285750" eaLnBrk="0" hangingPunct="0">
              <a:defRPr>
                <a:solidFill>
                  <a:schemeClr val="tx1"/>
                </a:solidFill>
                <a:latin typeface="Arial" charset="0"/>
                <a:ea typeface="ＭＳ Ｐゴシック" pitchFamily="-65" charset="-128"/>
              </a:defRPr>
            </a:lvl2pPr>
            <a:lvl3pPr marL="1143000" indent="-228600" eaLnBrk="0" hangingPunct="0">
              <a:defRPr>
                <a:solidFill>
                  <a:schemeClr val="tx1"/>
                </a:solidFill>
                <a:latin typeface="Arial" charset="0"/>
                <a:ea typeface="ＭＳ Ｐゴシック" pitchFamily="-65" charset="-128"/>
              </a:defRPr>
            </a:lvl3pPr>
            <a:lvl4pPr marL="1600200" indent="-228600" eaLnBrk="0" hangingPunct="0">
              <a:defRPr>
                <a:solidFill>
                  <a:schemeClr val="tx1"/>
                </a:solidFill>
                <a:latin typeface="Arial" charset="0"/>
                <a:ea typeface="ＭＳ Ｐゴシック" pitchFamily="-65" charset="-128"/>
              </a:defRPr>
            </a:lvl4pPr>
            <a:lvl5pPr marL="2057400" indent="-228600" eaLnBrk="0" hangingPunct="0">
              <a:defRPr>
                <a:solidFill>
                  <a:schemeClr val="tx1"/>
                </a:solidFill>
                <a:latin typeface="Arial" charset="0"/>
                <a:ea typeface="ＭＳ Ｐゴシック" pitchFamily="-65"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65" charset="-128"/>
              </a:defRPr>
            </a:lvl9pPr>
          </a:lstStyle>
          <a:p>
            <a:pPr algn="ctr" eaLnBrk="1" hangingPunct="1">
              <a:spcBef>
                <a:spcPct val="50000"/>
              </a:spcBef>
              <a:defRPr/>
            </a:pPr>
            <a:r>
              <a:rPr lang="en-US" altLang="en-US" sz="2000" b="1" i="1" spc="200" dirty="0">
                <a:solidFill>
                  <a:srgbClr val="800000"/>
                </a:solidFill>
                <a:cs typeface="Arial" charset="0"/>
              </a:rPr>
              <a:t>r</a:t>
            </a:r>
            <a:r>
              <a:rPr lang="en-US" altLang="en-US" sz="2000" b="1" spc="200" baseline="30000" dirty="0">
                <a:solidFill>
                  <a:srgbClr val="800000"/>
                </a:solidFill>
                <a:cs typeface="Arial" charset="0"/>
              </a:rPr>
              <a:t>2</a:t>
            </a:r>
            <a:r>
              <a:rPr lang="en-US" altLang="en-US" sz="2000" b="1" dirty="0">
                <a:solidFill>
                  <a:srgbClr val="800000"/>
                </a:solidFill>
                <a:cs typeface="Arial" charset="0"/>
              </a:rPr>
              <a:t> = 11%</a:t>
            </a:r>
          </a:p>
        </p:txBody>
      </p:sp>
      <p:sp>
        <p:nvSpPr>
          <p:cNvPr id="56335" name="Text Box 9"/>
          <p:cNvSpPr txBox="1">
            <a:spLocks noChangeArrowheads="1"/>
          </p:cNvSpPr>
          <p:nvPr/>
        </p:nvSpPr>
        <p:spPr bwMode="auto">
          <a:xfrm>
            <a:off x="6281738" y="4443413"/>
            <a:ext cx="2401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ctr" eaLnBrk="1" hangingPunct="1">
              <a:spcBef>
                <a:spcPct val="50000"/>
              </a:spcBef>
            </a:pPr>
            <a:r>
              <a:rPr lang="en-US" sz="2000" dirty="0"/>
              <a:t>From all the data</a:t>
            </a:r>
          </a:p>
        </p:txBody>
      </p:sp>
      <p:sp>
        <p:nvSpPr>
          <p:cNvPr id="56336" name="Line 13" descr="An arrow points to the regression line from all the data."/>
          <p:cNvSpPr>
            <a:spLocks noChangeShapeType="1"/>
          </p:cNvSpPr>
          <p:nvPr/>
        </p:nvSpPr>
        <p:spPr bwMode="auto">
          <a:xfrm flipH="1">
            <a:off x="5887968" y="4620047"/>
            <a:ext cx="609600" cy="228600"/>
          </a:xfrm>
          <a:prstGeom prst="line">
            <a:avLst/>
          </a:prstGeom>
          <a:noFill/>
          <a:ln w="57150">
            <a:solidFill>
              <a:srgbClr val="94C6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89490" name="Text Box 18"/>
          <p:cNvSpPr txBox="1">
            <a:spLocks noChangeArrowheads="1"/>
          </p:cNvSpPr>
          <p:nvPr/>
        </p:nvSpPr>
        <p:spPr bwMode="hidden">
          <a:xfrm>
            <a:off x="6856413" y="4900613"/>
            <a:ext cx="1752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ＭＳ Ｐゴシック" pitchFamily="-65" charset="-128"/>
              </a:defRPr>
            </a:lvl1pPr>
            <a:lvl2pPr marL="742950" indent="-285750" eaLnBrk="0" hangingPunct="0">
              <a:defRPr>
                <a:solidFill>
                  <a:schemeClr val="tx1"/>
                </a:solidFill>
                <a:latin typeface="Arial" charset="0"/>
                <a:ea typeface="ＭＳ Ｐゴシック" pitchFamily="-65" charset="-128"/>
              </a:defRPr>
            </a:lvl2pPr>
            <a:lvl3pPr marL="1143000" indent="-228600" eaLnBrk="0" hangingPunct="0">
              <a:defRPr>
                <a:solidFill>
                  <a:schemeClr val="tx1"/>
                </a:solidFill>
                <a:latin typeface="Arial" charset="0"/>
                <a:ea typeface="ＭＳ Ｐゴシック" pitchFamily="-65" charset="-128"/>
              </a:defRPr>
            </a:lvl3pPr>
            <a:lvl4pPr marL="1600200" indent="-228600" eaLnBrk="0" hangingPunct="0">
              <a:defRPr>
                <a:solidFill>
                  <a:schemeClr val="tx1"/>
                </a:solidFill>
                <a:latin typeface="Arial" charset="0"/>
                <a:ea typeface="ＭＳ Ｐゴシック" pitchFamily="-65" charset="-128"/>
              </a:defRPr>
            </a:lvl4pPr>
            <a:lvl5pPr marL="2057400" indent="-228600" eaLnBrk="0" hangingPunct="0">
              <a:defRPr>
                <a:solidFill>
                  <a:schemeClr val="tx1"/>
                </a:solidFill>
                <a:latin typeface="Arial" charset="0"/>
                <a:ea typeface="ＭＳ Ｐゴシック" pitchFamily="-65" charset="-128"/>
              </a:defRPr>
            </a:lvl5pPr>
            <a:lvl6pPr marL="2514600" indent="-228600" defTabSz="457200" eaLnBrk="0" fontAlgn="base" hangingPunct="0">
              <a:spcBef>
                <a:spcPct val="0"/>
              </a:spcBef>
              <a:spcAft>
                <a:spcPct val="0"/>
              </a:spcAft>
              <a:defRPr>
                <a:solidFill>
                  <a:schemeClr val="tx1"/>
                </a:solidFill>
                <a:latin typeface="Arial" charset="0"/>
                <a:ea typeface="ＭＳ Ｐゴシック" pitchFamily="-65" charset="-128"/>
              </a:defRPr>
            </a:lvl6pPr>
            <a:lvl7pPr marL="2971800" indent="-228600" defTabSz="457200" eaLnBrk="0" fontAlgn="base" hangingPunct="0">
              <a:spcBef>
                <a:spcPct val="0"/>
              </a:spcBef>
              <a:spcAft>
                <a:spcPct val="0"/>
              </a:spcAft>
              <a:defRPr>
                <a:solidFill>
                  <a:schemeClr val="tx1"/>
                </a:solidFill>
                <a:latin typeface="Arial" charset="0"/>
                <a:ea typeface="ＭＳ Ｐゴシック" pitchFamily="-65" charset="-128"/>
              </a:defRPr>
            </a:lvl7pPr>
            <a:lvl8pPr marL="3429000" indent="-228600" defTabSz="457200" eaLnBrk="0" fontAlgn="base" hangingPunct="0">
              <a:spcBef>
                <a:spcPct val="0"/>
              </a:spcBef>
              <a:spcAft>
                <a:spcPct val="0"/>
              </a:spcAft>
              <a:defRPr>
                <a:solidFill>
                  <a:schemeClr val="tx1"/>
                </a:solidFill>
                <a:latin typeface="Arial" charset="0"/>
                <a:ea typeface="ＭＳ Ｐゴシック" pitchFamily="-65" charset="-128"/>
              </a:defRPr>
            </a:lvl8pPr>
            <a:lvl9pPr marL="3886200" indent="-228600" defTabSz="457200" eaLnBrk="0" fontAlgn="base" hangingPunct="0">
              <a:spcBef>
                <a:spcPct val="0"/>
              </a:spcBef>
              <a:spcAft>
                <a:spcPct val="0"/>
              </a:spcAft>
              <a:defRPr>
                <a:solidFill>
                  <a:schemeClr val="tx1"/>
                </a:solidFill>
                <a:latin typeface="Arial" charset="0"/>
                <a:ea typeface="ＭＳ Ｐゴシック" pitchFamily="-65" charset="-128"/>
              </a:defRPr>
            </a:lvl9pPr>
          </a:lstStyle>
          <a:p>
            <a:pPr algn="ctr" eaLnBrk="1" hangingPunct="1">
              <a:spcBef>
                <a:spcPct val="50000"/>
              </a:spcBef>
              <a:defRPr/>
            </a:pPr>
            <a:r>
              <a:rPr lang="en-US" altLang="en-US" sz="2000" b="1" i="1" spc="200" dirty="0">
                <a:solidFill>
                  <a:srgbClr val="800000"/>
                </a:solidFill>
                <a:cs typeface="Arial" charset="0"/>
              </a:rPr>
              <a:t>r</a:t>
            </a:r>
            <a:r>
              <a:rPr lang="en-US" altLang="en-US" sz="2000" b="1" spc="200" baseline="30000" dirty="0">
                <a:solidFill>
                  <a:srgbClr val="800000"/>
                </a:solidFill>
                <a:cs typeface="Arial" charset="0"/>
              </a:rPr>
              <a:t>2</a:t>
            </a:r>
            <a:r>
              <a:rPr lang="en-US" altLang="en-US" sz="2000" b="1" dirty="0">
                <a:solidFill>
                  <a:srgbClr val="800000"/>
                </a:solidFill>
                <a:cs typeface="Arial" charset="0"/>
              </a:rPr>
              <a:t> = 41%</a:t>
            </a:r>
          </a:p>
        </p:txBody>
      </p:sp>
    </p:spTree>
    <p:extLst>
      <p:ext uri="{BB962C8B-B14F-4D97-AF65-F5344CB8AC3E}">
        <p14:creationId xmlns:p14="http://schemas.microsoft.com/office/powerpoint/2010/main" val="322681191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4894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894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91" grpId="0"/>
      <p:bldP spid="489490" grpId="0"/>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solidFill>
                  <a:schemeClr val="accent1"/>
                </a:solidFill>
              </a:rPr>
              <a:t>Lurking Variables</a:t>
            </a:r>
            <a:endParaRPr lang="en-US" dirty="0"/>
          </a:p>
        </p:txBody>
      </p:sp>
      <p:sp>
        <p:nvSpPr>
          <p:cNvPr id="57346"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7AB78403-799D-412C-9756-4D7E0716B580}" type="slidenum">
              <a:rPr lang="en-US" sz="1200">
                <a:solidFill>
                  <a:schemeClr val="accent1"/>
                </a:solidFill>
              </a:rPr>
              <a:pPr>
                <a:lnSpc>
                  <a:spcPct val="80000"/>
                </a:lnSpc>
              </a:pPr>
              <a:t>35</a:t>
            </a:fld>
            <a:endParaRPr lang="en-US" sz="1200">
              <a:solidFill>
                <a:schemeClr val="accent1"/>
              </a:solidFill>
            </a:endParaRPr>
          </a:p>
        </p:txBody>
      </p:sp>
      <p:sp>
        <p:nvSpPr>
          <p:cNvPr id="5" name="Rectangle 3"/>
          <p:cNvSpPr txBox="1">
            <a:spLocks noChangeArrowheads="1"/>
          </p:cNvSpPr>
          <p:nvPr/>
        </p:nvSpPr>
        <p:spPr bwMode="auto">
          <a:xfrm>
            <a:off x="174624" y="1212533"/>
            <a:ext cx="8081964" cy="979487"/>
          </a:xfrm>
          <a:prstGeom prst="rect">
            <a:avLst/>
          </a:prstGeom>
          <a:solidFill>
            <a:srgbClr val="FFD780"/>
          </a:solidFill>
          <a:ln>
            <a:noFill/>
          </a:ln>
          <a:effectLst>
            <a:outerShdw blurRad="50800" dist="38100" dir="2700000" rotWithShape="0">
              <a:srgbClr val="808080">
                <a:alpha val="42998"/>
              </a:srgbClr>
            </a:outerShdw>
          </a:effectLst>
        </p:spPr>
        <p:txBody>
          <a:bodyPr/>
          <a:lstStyle>
            <a:lvl1pPr marL="228600" indent="-228600" algn="l" rtl="0" eaLnBrk="0" fontAlgn="base" hangingPunct="0">
              <a:spcBef>
                <a:spcPts val="1800"/>
              </a:spcBef>
              <a:spcAft>
                <a:spcPct val="0"/>
              </a:spcAft>
              <a:buClr>
                <a:schemeClr val="accent1"/>
              </a:buClr>
              <a:buSzPct val="100000"/>
              <a:buFont typeface="Wingdings 2" charset="0"/>
              <a:buChar char="¡"/>
              <a:defRPr sz="2000" kern="1200">
                <a:solidFill>
                  <a:schemeClr val="tx2"/>
                </a:solidFill>
                <a:latin typeface="+mn-lt"/>
                <a:ea typeface="ＭＳ Ｐゴシック" pitchFamily="-1" charset="-128"/>
                <a:cs typeface="ＭＳ Ｐゴシック" pitchFamily="-1" charset="-128"/>
              </a:defRPr>
            </a:lvl1pPr>
            <a:lvl2pPr marL="457200" indent="-228600" algn="l" rtl="0" eaLnBrk="0" fontAlgn="base" hangingPunct="0">
              <a:spcBef>
                <a:spcPts val="600"/>
              </a:spcBef>
              <a:spcAft>
                <a:spcPct val="0"/>
              </a:spcAft>
              <a:buClr>
                <a:srgbClr val="031B3C"/>
              </a:buClr>
              <a:buSzPct val="100000"/>
              <a:buFont typeface="Wingdings 2" charset="0"/>
              <a:buChar char="¡"/>
              <a:defRPr kern="1200">
                <a:solidFill>
                  <a:schemeClr val="tx2"/>
                </a:solidFill>
                <a:latin typeface="+mn-lt"/>
                <a:ea typeface="ＭＳ Ｐゴシック" pitchFamily="-1" charset="-128"/>
                <a:cs typeface="+mn-cs"/>
              </a:defRPr>
            </a:lvl2pPr>
            <a:lvl3pPr marL="685800" indent="-228600" algn="l" rtl="0" eaLnBrk="0" fontAlgn="base" hangingPunct="0">
              <a:spcBef>
                <a:spcPts val="600"/>
              </a:spcBef>
              <a:spcAft>
                <a:spcPct val="0"/>
              </a:spcAft>
              <a:buClr>
                <a:schemeClr val="accent1"/>
              </a:buClr>
              <a:buSzPct val="100000"/>
              <a:buFont typeface="Wingdings 2" charset="0"/>
              <a:buChar char="¡"/>
              <a:defRPr kern="1200">
                <a:solidFill>
                  <a:schemeClr val="tx2"/>
                </a:solidFill>
                <a:latin typeface="+mn-lt"/>
                <a:ea typeface="ＭＳ Ｐゴシック" pitchFamily="-1" charset="-128"/>
                <a:cs typeface="+mn-cs"/>
              </a:defRPr>
            </a:lvl3pPr>
            <a:lvl4pPr marL="914400" indent="-228600" algn="l" rtl="0" eaLnBrk="0" fontAlgn="base" hangingPunct="0">
              <a:spcBef>
                <a:spcPts val="600"/>
              </a:spcBef>
              <a:spcAft>
                <a:spcPct val="0"/>
              </a:spcAft>
              <a:buClr>
                <a:srgbClr val="031B3C"/>
              </a:buClr>
              <a:buSzPct val="100000"/>
              <a:buFont typeface="Wingdings 2" charset="0"/>
              <a:buChar char="¡"/>
              <a:defRPr kern="1200">
                <a:solidFill>
                  <a:schemeClr val="tx2"/>
                </a:solidFill>
                <a:latin typeface="+mn-lt"/>
                <a:ea typeface="ＭＳ Ｐゴシック" pitchFamily="-1" charset="-128"/>
                <a:cs typeface="+mn-cs"/>
              </a:defRPr>
            </a:lvl4pPr>
            <a:lvl5pPr marL="1143000" indent="-228600" algn="l" rtl="0" eaLnBrk="0" fontAlgn="base" hangingPunct="0">
              <a:spcBef>
                <a:spcPts val="600"/>
              </a:spcBef>
              <a:spcAft>
                <a:spcPct val="0"/>
              </a:spcAft>
              <a:buClr>
                <a:schemeClr val="accent1"/>
              </a:buClr>
              <a:buSzPct val="100000"/>
              <a:buFont typeface="Wingdings 2" charset="0"/>
              <a:buChar char="¡"/>
              <a:defRPr kern="1200">
                <a:solidFill>
                  <a:schemeClr val="tx2"/>
                </a:solidFill>
                <a:latin typeface="+mn-lt"/>
                <a:ea typeface="ＭＳ Ｐゴシック" pitchFamily="-1"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eaLnBrk="1" hangingPunct="1">
              <a:lnSpc>
                <a:spcPct val="90000"/>
              </a:lnSpc>
              <a:spcBef>
                <a:spcPct val="40000"/>
              </a:spcBef>
              <a:spcAft>
                <a:spcPts val="600"/>
              </a:spcAft>
              <a:buFont typeface="Wingdings 2" pitchFamily="-65" charset="2"/>
              <a:buNone/>
              <a:defRPr/>
            </a:pPr>
            <a:r>
              <a:rPr lang="en-US" altLang="en-US" dirty="0">
                <a:solidFill>
                  <a:srgbClr val="000000"/>
                </a:solidFill>
                <a:ea typeface="ＭＳ Ｐゴシック" pitchFamily="-65" charset="-128"/>
                <a:cs typeface="Arial" charset="0"/>
              </a:rPr>
              <a:t>A </a:t>
            </a:r>
            <a:r>
              <a:rPr lang="en-US" altLang="en-US" b="1" dirty="0">
                <a:solidFill>
                  <a:schemeClr val="tx1"/>
                </a:solidFill>
                <a:ea typeface="ＭＳ Ｐゴシック" pitchFamily="-65" charset="-128"/>
                <a:cs typeface="Arial" charset="0"/>
              </a:rPr>
              <a:t>lurking variable </a:t>
            </a:r>
            <a:r>
              <a:rPr lang="en-US" altLang="en-US" dirty="0">
                <a:solidFill>
                  <a:schemeClr val="tx1"/>
                </a:solidFill>
                <a:ea typeface="ＭＳ Ｐゴシック" pitchFamily="-65" charset="-128"/>
                <a:cs typeface="Arial" charset="0"/>
              </a:rPr>
              <a:t>is a variable that is not among the explanatory or response variables and yet </a:t>
            </a:r>
            <a:r>
              <a:rPr lang="en-US" altLang="en-US" dirty="0">
                <a:solidFill>
                  <a:srgbClr val="000000"/>
                </a:solidFill>
                <a:ea typeface="ＭＳ Ｐゴシック" pitchFamily="-65" charset="-128"/>
                <a:cs typeface="Arial" charset="0"/>
              </a:rPr>
              <a:t>may influence the interpretation of relationships among those variables.</a:t>
            </a:r>
          </a:p>
        </p:txBody>
      </p:sp>
      <p:graphicFrame>
        <p:nvGraphicFramePr>
          <p:cNvPr id="2" name="Chart 1" descr="A scatterplot showing gas prices vs. electricity prices. The y-axis ranges from $0 to $400, and the x-axis ranges from $150 to $250. With points on the scatterplot, the label &quot;winter months&quot; appears at the top of the graph near points that show high gas prices, and the label &quot;summer months&quot; appears above points closely associated with higher electricity prices."/>
          <p:cNvGraphicFramePr>
            <a:graphicFrameLocks/>
          </p:cNvGraphicFramePr>
          <p:nvPr>
            <p:extLst>
              <p:ext uri="{D42A27DB-BD31-4B8C-83A1-F6EECF244321}">
                <p14:modId xmlns:p14="http://schemas.microsoft.com/office/powerpoint/2010/main" val="3460559882"/>
              </p:ext>
            </p:extLst>
          </p:nvPr>
        </p:nvGraphicFramePr>
        <p:xfrm>
          <a:off x="586854" y="3189289"/>
          <a:ext cx="5022377" cy="3167062"/>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descr="The image on the slide displays a graph. The X-axis represents &quot;Electricity&quot; and the Y-axis represents &quot;Gas.&quot; In the graph, winter and summer months are the two seasons indicated by several scattered dots which represent the lurking variable. Gas expense appears to be negatively associated with Electricity expense."/>
          <p:cNvSpPr txBox="1">
            <a:spLocks noChangeArrowheads="1"/>
          </p:cNvSpPr>
          <p:nvPr/>
        </p:nvSpPr>
        <p:spPr bwMode="auto">
          <a:xfrm>
            <a:off x="2143125" y="3189288"/>
            <a:ext cx="11144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dirty="0">
                <a:solidFill>
                  <a:srgbClr val="3366FF"/>
                </a:solidFill>
              </a:rPr>
              <a:t>Winter Months</a:t>
            </a:r>
          </a:p>
        </p:txBody>
      </p:sp>
      <p:sp>
        <p:nvSpPr>
          <p:cNvPr id="8" name="TextBox 7" descr="The image on the slide displays a graph. The X-axis represents &quot;Electricity&quot; and the Y-axis represents &quot;Gas.&quot; In the graph, winter and summer months are the two seasons indicated by several scattered dots, which represent the lurking variable. Gas expense appears to be negatively associated with Electricity expense."/>
          <p:cNvSpPr txBox="1">
            <a:spLocks noChangeArrowheads="1"/>
          </p:cNvSpPr>
          <p:nvPr/>
        </p:nvSpPr>
        <p:spPr bwMode="auto">
          <a:xfrm>
            <a:off x="3884613" y="3914775"/>
            <a:ext cx="11144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dirty="0" err="1">
                <a:solidFill>
                  <a:srgbClr val="FF0000"/>
                </a:solidFill>
              </a:rPr>
              <a:t>SummerMonths</a:t>
            </a:r>
            <a:endParaRPr lang="en-US" dirty="0">
              <a:solidFill>
                <a:srgbClr val="FF0000"/>
              </a:solidFill>
            </a:endParaRPr>
          </a:p>
        </p:txBody>
      </p:sp>
      <p:sp>
        <p:nvSpPr>
          <p:cNvPr id="491523" name="Rectangle 3"/>
          <p:cNvSpPr>
            <a:spLocks noGrp="1" noChangeArrowheads="1"/>
          </p:cNvSpPr>
          <p:nvPr>
            <p:ph sz="quarter" idx="4294967295"/>
          </p:nvPr>
        </p:nvSpPr>
        <p:spPr>
          <a:xfrm>
            <a:off x="5750169" y="3274852"/>
            <a:ext cx="3156821" cy="1925957"/>
          </a:xfrm>
        </p:spPr>
        <p:txBody>
          <a:bodyPr/>
          <a:lstStyle/>
          <a:p>
            <a:pPr marL="0" indent="0" eaLnBrk="1" hangingPunct="1">
              <a:lnSpc>
                <a:spcPct val="90000"/>
              </a:lnSpc>
              <a:spcBef>
                <a:spcPct val="40000"/>
              </a:spcBef>
              <a:spcAft>
                <a:spcPts val="600"/>
              </a:spcAft>
              <a:buFont typeface="Wingdings 2" pitchFamily="18" charset="2"/>
              <a:buNone/>
            </a:pPr>
            <a:r>
              <a:rPr lang="en-US" b="1" dirty="0">
                <a:solidFill>
                  <a:srgbClr val="000000"/>
                </a:solidFill>
                <a:ea typeface="ＭＳ Ｐゴシック" pitchFamily="34" charset="-128"/>
                <a:sym typeface="Symbol" pitchFamily="18" charset="2"/>
              </a:rPr>
              <a:t>Gas</a:t>
            </a:r>
            <a:r>
              <a:rPr lang="en-US" dirty="0">
                <a:solidFill>
                  <a:srgbClr val="000000"/>
                </a:solidFill>
                <a:ea typeface="ＭＳ Ｐゴシック" pitchFamily="34" charset="-128"/>
                <a:sym typeface="Symbol" pitchFamily="18" charset="2"/>
              </a:rPr>
              <a:t> expense seems to be negatively associated with </a:t>
            </a:r>
            <a:r>
              <a:rPr lang="en-US" b="1" dirty="0">
                <a:solidFill>
                  <a:srgbClr val="000000"/>
                </a:solidFill>
                <a:ea typeface="ＭＳ Ｐゴシック" pitchFamily="34" charset="-128"/>
                <a:sym typeface="Symbol" pitchFamily="18" charset="2"/>
              </a:rPr>
              <a:t>electricity expense.</a:t>
            </a:r>
          </a:p>
          <a:p>
            <a:pPr marL="0" indent="0" eaLnBrk="1" hangingPunct="1">
              <a:lnSpc>
                <a:spcPct val="90000"/>
              </a:lnSpc>
              <a:spcBef>
                <a:spcPct val="40000"/>
              </a:spcBef>
              <a:spcAft>
                <a:spcPts val="600"/>
              </a:spcAft>
              <a:buFont typeface="Wingdings 2" pitchFamily="18" charset="2"/>
              <a:buNone/>
            </a:pPr>
            <a:r>
              <a:rPr lang="en-US" dirty="0">
                <a:solidFill>
                  <a:srgbClr val="000000"/>
                </a:solidFill>
                <a:ea typeface="ＭＳ Ｐゴシック" pitchFamily="34" charset="-128"/>
                <a:sym typeface="Symbol" pitchFamily="18" charset="2"/>
              </a:rPr>
              <a:t>BUT </a:t>
            </a:r>
            <a:r>
              <a:rPr lang="en-US" b="1" dirty="0">
                <a:solidFill>
                  <a:srgbClr val="000000"/>
                </a:solidFill>
                <a:ea typeface="ＭＳ Ｐゴシック" pitchFamily="34" charset="-128"/>
                <a:sym typeface="Symbol" pitchFamily="18" charset="2"/>
              </a:rPr>
              <a:t>season</a:t>
            </a:r>
            <a:r>
              <a:rPr lang="en-US" dirty="0">
                <a:solidFill>
                  <a:srgbClr val="000000"/>
                </a:solidFill>
                <a:ea typeface="ＭＳ Ｐゴシック" pitchFamily="34" charset="-128"/>
                <a:sym typeface="Symbol" pitchFamily="18" charset="2"/>
              </a:rPr>
              <a:t> is a lurking variable.</a:t>
            </a:r>
          </a:p>
        </p:txBody>
      </p:sp>
    </p:spTree>
    <p:extLst>
      <p:ext uri="{BB962C8B-B14F-4D97-AF65-F5344CB8AC3E}">
        <p14:creationId xmlns:p14="http://schemas.microsoft.com/office/powerpoint/2010/main" val="421360834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152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91523">
                                            <p:txEl>
                                              <p:pRg st="1" end="1"/>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bldLvl="3" autoUpdateAnimBg="0"/>
      <p:bldGraphic spid="2" grpId="0">
        <p:bldAsOne/>
      </p:bldGraphic>
      <p:bldP spid="3" grpId="0"/>
      <p:bldP spid="8" grpId="0"/>
      <p:bldP spid="491523" grpId="0" build="p"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74624" y="153986"/>
            <a:ext cx="7772400" cy="1143000"/>
          </a:xfrm>
        </p:spPr>
        <p:txBody>
          <a:bodyPr/>
          <a:lstStyle/>
          <a:p>
            <a:r>
              <a:rPr lang="en-US" dirty="0">
                <a:solidFill>
                  <a:schemeClr val="accent1"/>
                </a:solidFill>
              </a:rPr>
              <a:t>Cautions about Correlation and Regression</a:t>
            </a:r>
            <a:endParaRPr lang="en-US" dirty="0"/>
          </a:p>
        </p:txBody>
      </p:sp>
      <p:sp>
        <p:nvSpPr>
          <p:cNvPr id="58370"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FD9D06F5-8DED-4FEC-A6BA-9A9B46E212BE}" type="slidenum">
              <a:rPr lang="en-US" sz="1200">
                <a:solidFill>
                  <a:schemeClr val="accent1"/>
                </a:solidFill>
              </a:rPr>
              <a:pPr>
                <a:lnSpc>
                  <a:spcPct val="80000"/>
                </a:lnSpc>
              </a:pPr>
              <a:t>36</a:t>
            </a:fld>
            <a:endParaRPr lang="en-US" sz="1200">
              <a:solidFill>
                <a:schemeClr val="accent1"/>
              </a:solidFill>
            </a:endParaRPr>
          </a:p>
        </p:txBody>
      </p:sp>
      <p:sp>
        <p:nvSpPr>
          <p:cNvPr id="491523" name="Rectangle 3"/>
          <p:cNvSpPr>
            <a:spLocks noGrp="1" noChangeArrowheads="1"/>
          </p:cNvSpPr>
          <p:nvPr>
            <p:ph sz="quarter" idx="4294967295"/>
          </p:nvPr>
        </p:nvSpPr>
        <p:spPr>
          <a:xfrm>
            <a:off x="431800" y="1520827"/>
            <a:ext cx="8331200" cy="5183187"/>
          </a:xfrm>
          <a:solidFill>
            <a:srgbClr val="FFD780"/>
          </a:solidFill>
        </p:spPr>
        <p:txBody>
          <a:bodyPr/>
          <a:lstStyle/>
          <a:p>
            <a:pPr eaLnBrk="1" hangingPunct="1">
              <a:lnSpc>
                <a:spcPct val="90000"/>
              </a:lnSpc>
              <a:spcBef>
                <a:spcPct val="40000"/>
              </a:spcBef>
              <a:spcAft>
                <a:spcPts val="600"/>
              </a:spcAft>
              <a:buFont typeface="Wingdings" pitchFamily="2" charset="2"/>
              <a:buChar char="§"/>
            </a:pPr>
            <a:r>
              <a:rPr lang="en-US" sz="2400" dirty="0">
                <a:solidFill>
                  <a:srgbClr val="000000"/>
                </a:solidFill>
                <a:ea typeface="ＭＳ Ｐゴシック" pitchFamily="34" charset="-128"/>
                <a:sym typeface="Symbol" pitchFamily="18" charset="2"/>
              </a:rPr>
              <a:t>Both describe </a:t>
            </a:r>
            <a:r>
              <a:rPr lang="en-US" sz="2400" u="sng" dirty="0">
                <a:solidFill>
                  <a:srgbClr val="000000"/>
                </a:solidFill>
                <a:ea typeface="ＭＳ Ｐゴシック" pitchFamily="34" charset="-128"/>
                <a:sym typeface="Symbol" pitchFamily="18" charset="2"/>
              </a:rPr>
              <a:t>linear</a:t>
            </a:r>
            <a:r>
              <a:rPr lang="en-US" sz="2400" dirty="0">
                <a:solidFill>
                  <a:srgbClr val="000000"/>
                </a:solidFill>
                <a:ea typeface="ＭＳ Ｐゴシック" pitchFamily="34" charset="-128"/>
                <a:sym typeface="Symbol" pitchFamily="18" charset="2"/>
              </a:rPr>
              <a:t> relationships.</a:t>
            </a:r>
          </a:p>
          <a:p>
            <a:pPr eaLnBrk="1" hangingPunct="1">
              <a:lnSpc>
                <a:spcPct val="90000"/>
              </a:lnSpc>
              <a:spcBef>
                <a:spcPct val="40000"/>
              </a:spcBef>
              <a:spcAft>
                <a:spcPts val="600"/>
              </a:spcAft>
              <a:buFont typeface="Wingdings" pitchFamily="2" charset="2"/>
              <a:buChar char="§"/>
            </a:pPr>
            <a:r>
              <a:rPr lang="en-US" sz="2400" dirty="0">
                <a:solidFill>
                  <a:srgbClr val="000000"/>
                </a:solidFill>
                <a:ea typeface="ＭＳ Ｐゴシック" pitchFamily="34" charset="-128"/>
                <a:sym typeface="Symbol" pitchFamily="18" charset="2"/>
              </a:rPr>
              <a:t>Both are affected by outliers.</a:t>
            </a:r>
          </a:p>
          <a:p>
            <a:pPr eaLnBrk="1" hangingPunct="1">
              <a:lnSpc>
                <a:spcPct val="90000"/>
              </a:lnSpc>
              <a:spcBef>
                <a:spcPct val="40000"/>
              </a:spcBef>
              <a:spcAft>
                <a:spcPts val="600"/>
              </a:spcAft>
              <a:buFont typeface="Wingdings" pitchFamily="2" charset="2"/>
              <a:buChar char="§"/>
            </a:pPr>
            <a:r>
              <a:rPr lang="en-US" sz="2400" dirty="0">
                <a:solidFill>
                  <a:schemeClr val="tx1"/>
                </a:solidFill>
                <a:ea typeface="ＭＳ Ｐゴシック" pitchFamily="34" charset="-128"/>
                <a:sym typeface="Symbol" pitchFamily="18" charset="2"/>
              </a:rPr>
              <a:t>Always plot the data before interpreting.</a:t>
            </a:r>
          </a:p>
          <a:p>
            <a:pPr eaLnBrk="1" hangingPunct="1">
              <a:lnSpc>
                <a:spcPct val="90000"/>
              </a:lnSpc>
              <a:spcBef>
                <a:spcPct val="40000"/>
              </a:spcBef>
              <a:spcAft>
                <a:spcPts val="600"/>
              </a:spcAft>
              <a:buFont typeface="Wingdings" pitchFamily="2" charset="2"/>
              <a:buChar char="§"/>
            </a:pPr>
            <a:r>
              <a:rPr lang="en-US" sz="2400" dirty="0">
                <a:solidFill>
                  <a:schemeClr val="tx1"/>
                </a:solidFill>
                <a:ea typeface="ＭＳ Ｐゴシック" pitchFamily="34" charset="-128"/>
                <a:sym typeface="Symbol" pitchFamily="18" charset="2"/>
              </a:rPr>
              <a:t>Beware of </a:t>
            </a:r>
            <a:r>
              <a:rPr lang="en-US" sz="2400" b="1" i="1" dirty="0">
                <a:solidFill>
                  <a:schemeClr val="tx1"/>
                </a:solidFill>
                <a:ea typeface="ＭＳ Ｐゴシック" pitchFamily="34" charset="-128"/>
                <a:sym typeface="Symbol" pitchFamily="18" charset="2"/>
              </a:rPr>
              <a:t>extrapolation.</a:t>
            </a:r>
          </a:p>
          <a:p>
            <a:pPr marL="457200" lvl="2" eaLnBrk="1" hangingPunct="1">
              <a:lnSpc>
                <a:spcPct val="90000"/>
              </a:lnSpc>
              <a:spcAft>
                <a:spcPts val="600"/>
              </a:spcAft>
              <a:buSzPct val="75000"/>
              <a:buFont typeface="Wingdings" pitchFamily="2" charset="2"/>
              <a:buChar char="§"/>
            </a:pPr>
            <a:r>
              <a:rPr lang="en-US" sz="2400" dirty="0">
                <a:solidFill>
                  <a:schemeClr val="tx1"/>
                </a:solidFill>
                <a:ea typeface="ＭＳ Ｐゴシック" pitchFamily="34" charset="-128"/>
                <a:sym typeface="Symbol" pitchFamily="18" charset="2"/>
              </a:rPr>
              <a:t>Use caution in predicting </a:t>
            </a:r>
            <a:r>
              <a:rPr lang="en-US" sz="2400" i="1" dirty="0">
                <a:solidFill>
                  <a:schemeClr val="tx1"/>
                </a:solidFill>
                <a:ea typeface="ＭＳ Ｐゴシック" pitchFamily="34" charset="-128"/>
                <a:sym typeface="Symbol" pitchFamily="18" charset="2"/>
              </a:rPr>
              <a:t>y</a:t>
            </a:r>
            <a:r>
              <a:rPr lang="en-US" sz="2400" dirty="0">
                <a:solidFill>
                  <a:schemeClr val="tx1"/>
                </a:solidFill>
                <a:ea typeface="ＭＳ Ｐゴシック" pitchFamily="34" charset="-128"/>
                <a:sym typeface="Symbol" pitchFamily="18" charset="2"/>
              </a:rPr>
              <a:t> when </a:t>
            </a:r>
            <a:r>
              <a:rPr lang="en-US" sz="2400" i="1" dirty="0">
                <a:solidFill>
                  <a:schemeClr val="tx1"/>
                </a:solidFill>
                <a:ea typeface="ＭＳ Ｐゴシック" pitchFamily="34" charset="-128"/>
                <a:sym typeface="Symbol" pitchFamily="18" charset="2"/>
              </a:rPr>
              <a:t>x </a:t>
            </a:r>
            <a:r>
              <a:rPr lang="en-US" sz="2400" dirty="0">
                <a:solidFill>
                  <a:schemeClr val="tx1"/>
                </a:solidFill>
                <a:ea typeface="ＭＳ Ｐゴシック" pitchFamily="34" charset="-128"/>
                <a:sym typeface="Symbol" pitchFamily="18" charset="2"/>
              </a:rPr>
              <a:t>is outside the range of observed </a:t>
            </a:r>
            <a:r>
              <a:rPr lang="en-US" sz="2400" i="1" dirty="0">
                <a:solidFill>
                  <a:schemeClr val="tx1"/>
                </a:solidFill>
                <a:ea typeface="ＭＳ Ｐゴシック" pitchFamily="34" charset="-128"/>
                <a:sym typeface="Symbol" pitchFamily="18" charset="2"/>
              </a:rPr>
              <a:t>x</a:t>
            </a:r>
            <a:r>
              <a:rPr lang="en-US" altLang="en-US" sz="2400" i="1" dirty="0">
                <a:solidFill>
                  <a:schemeClr val="tx1"/>
                </a:solidFill>
                <a:ea typeface="ＭＳ Ｐゴシック" pitchFamily="34" charset="-128"/>
                <a:sym typeface="Symbol" pitchFamily="18" charset="2"/>
              </a:rPr>
              <a:t>’</a:t>
            </a:r>
            <a:r>
              <a:rPr lang="en-US" altLang="ja-JP" sz="2400" dirty="0">
                <a:solidFill>
                  <a:schemeClr val="tx1"/>
                </a:solidFill>
                <a:ea typeface="ＭＳ Ｐゴシック" pitchFamily="34" charset="-128"/>
                <a:sym typeface="Symbol" pitchFamily="18" charset="2"/>
              </a:rPr>
              <a:t>s.</a:t>
            </a:r>
            <a:endParaRPr lang="en-US" altLang="ja-JP" sz="2400" i="1" dirty="0">
              <a:solidFill>
                <a:schemeClr val="tx1"/>
              </a:solidFill>
              <a:ea typeface="ＭＳ Ｐゴシック" pitchFamily="34" charset="-128"/>
              <a:sym typeface="Symbol" pitchFamily="18" charset="2"/>
            </a:endParaRPr>
          </a:p>
          <a:p>
            <a:pPr eaLnBrk="1" hangingPunct="1">
              <a:lnSpc>
                <a:spcPct val="90000"/>
              </a:lnSpc>
              <a:spcBef>
                <a:spcPct val="40000"/>
              </a:spcBef>
              <a:spcAft>
                <a:spcPts val="600"/>
              </a:spcAft>
              <a:buFont typeface="Wingdings" pitchFamily="2" charset="2"/>
              <a:buChar char="§"/>
            </a:pPr>
            <a:r>
              <a:rPr lang="en-US" sz="2400" dirty="0">
                <a:solidFill>
                  <a:schemeClr val="tx1"/>
                </a:solidFill>
                <a:ea typeface="ＭＳ Ｐゴシック" pitchFamily="34" charset="-128"/>
                <a:sym typeface="Symbol" pitchFamily="18" charset="2"/>
              </a:rPr>
              <a:t>Beware of </a:t>
            </a:r>
            <a:r>
              <a:rPr lang="en-US" sz="2400" b="1" i="1" dirty="0">
                <a:solidFill>
                  <a:schemeClr val="tx1"/>
                </a:solidFill>
                <a:ea typeface="ＭＳ Ｐゴシック" pitchFamily="34" charset="-128"/>
                <a:sym typeface="Symbol" pitchFamily="18" charset="2"/>
              </a:rPr>
              <a:t>lurking variables.</a:t>
            </a:r>
          </a:p>
          <a:p>
            <a:pPr marL="457200" lvl="2" eaLnBrk="1" hangingPunct="1">
              <a:lnSpc>
                <a:spcPct val="90000"/>
              </a:lnSpc>
              <a:spcAft>
                <a:spcPts val="600"/>
              </a:spcAft>
              <a:buSzPct val="75000"/>
              <a:buFont typeface="Wingdings" pitchFamily="2" charset="2"/>
              <a:buChar char="§"/>
            </a:pPr>
            <a:r>
              <a:rPr lang="en-US" sz="2400" dirty="0">
                <a:solidFill>
                  <a:schemeClr val="tx1"/>
                </a:solidFill>
                <a:ea typeface="ＭＳ Ｐゴシック" pitchFamily="34" charset="-128"/>
                <a:sym typeface="Symbol" pitchFamily="18" charset="2"/>
              </a:rPr>
              <a:t>These have an important effect on the relationship among the variables in a study but are not included in the study.</a:t>
            </a:r>
          </a:p>
          <a:p>
            <a:pPr eaLnBrk="1" hangingPunct="1">
              <a:lnSpc>
                <a:spcPct val="90000"/>
              </a:lnSpc>
              <a:spcBef>
                <a:spcPct val="40000"/>
              </a:spcBef>
              <a:spcAft>
                <a:spcPts val="600"/>
              </a:spcAft>
              <a:buFont typeface="Wingdings" pitchFamily="2" charset="2"/>
              <a:buChar char="§"/>
            </a:pPr>
            <a:r>
              <a:rPr lang="en-US" sz="2400" b="1" dirty="0">
                <a:solidFill>
                  <a:schemeClr val="tx1"/>
                </a:solidFill>
                <a:highlight>
                  <a:srgbClr val="FFFF00"/>
                </a:highlight>
                <a:ea typeface="ＭＳ Ｐゴシック" pitchFamily="34" charset="-128"/>
                <a:sym typeface="Symbol" pitchFamily="18" charset="2"/>
              </a:rPr>
              <a:t>Correlation does not imply causation!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915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915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915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49152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491523">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491523">
                                            <p:txEl>
                                              <p:pRg st="5" end="5"/>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49152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4915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3" grpId="0" build="p"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2"/>
          <p:cNvSpPr>
            <a:spLocks noGrp="1"/>
          </p:cNvSpPr>
          <p:nvPr>
            <p:ph type="title"/>
          </p:nvPr>
        </p:nvSpPr>
        <p:spPr>
          <a:xfrm>
            <a:off x="457200" y="562707"/>
            <a:ext cx="6508750" cy="1143000"/>
          </a:xfrm>
        </p:spPr>
        <p:txBody>
          <a:bodyPr anchor="t"/>
          <a:lstStyle/>
          <a:p>
            <a:pPr eaLnBrk="1" hangingPunct="1"/>
            <a:r>
              <a:rPr lang="en-US" b="1" dirty="0">
                <a:solidFill>
                  <a:schemeClr val="accent1"/>
                </a:solidFill>
                <a:ea typeface="ＭＳ Ｐゴシック" pitchFamily="34" charset="-128"/>
              </a:rPr>
              <a:t>2.6 Data Analysis for</a:t>
            </a:r>
            <a:br>
              <a:rPr lang="en-US" b="1" dirty="0">
                <a:solidFill>
                  <a:schemeClr val="accent1"/>
                </a:solidFill>
                <a:ea typeface="ＭＳ Ｐゴシック" pitchFamily="34" charset="-128"/>
              </a:rPr>
            </a:br>
            <a:r>
              <a:rPr lang="en-US" b="1" dirty="0">
                <a:solidFill>
                  <a:schemeClr val="accent1"/>
                </a:solidFill>
                <a:ea typeface="ＭＳ Ｐゴシック" pitchFamily="34" charset="-128"/>
              </a:rPr>
              <a:t>Two-Way Tables</a:t>
            </a:r>
          </a:p>
        </p:txBody>
      </p:sp>
      <p:sp>
        <p:nvSpPr>
          <p:cNvPr id="59395" name="Text Placeholder 3"/>
          <p:cNvSpPr>
            <a:spLocks noGrp="1"/>
          </p:cNvSpPr>
          <p:nvPr>
            <p:ph idx="1"/>
          </p:nvPr>
        </p:nvSpPr>
        <p:spPr>
          <a:xfrm>
            <a:off x="457200" y="2209801"/>
            <a:ext cx="6508750" cy="2696308"/>
          </a:xfrm>
        </p:spPr>
        <p:txBody>
          <a:bodyPr/>
          <a:lstStyle/>
          <a:p>
            <a:pPr eaLnBrk="1" hangingPunct="1"/>
            <a:r>
              <a:rPr lang="en-US" sz="2400" dirty="0">
                <a:solidFill>
                  <a:srgbClr val="073779"/>
                </a:solidFill>
                <a:ea typeface="ＭＳ Ｐゴシック" pitchFamily="34" charset="-128"/>
              </a:rPr>
              <a:t>The two-way table</a:t>
            </a:r>
          </a:p>
          <a:p>
            <a:pPr eaLnBrk="1" hangingPunct="1"/>
            <a:r>
              <a:rPr lang="en-US" sz="2400" dirty="0">
                <a:solidFill>
                  <a:srgbClr val="073779"/>
                </a:solidFill>
                <a:ea typeface="ＭＳ Ｐゴシック" pitchFamily="34" charset="-128"/>
              </a:rPr>
              <a:t>Joint and marginal distributions</a:t>
            </a:r>
          </a:p>
          <a:p>
            <a:pPr eaLnBrk="1" hangingPunct="1"/>
            <a:r>
              <a:rPr lang="en-US" sz="2400" dirty="0">
                <a:solidFill>
                  <a:srgbClr val="073779"/>
                </a:solidFill>
                <a:ea typeface="ＭＳ Ｐゴシック" pitchFamily="34" charset="-128"/>
              </a:rPr>
              <a:t>Conditional distributions</a:t>
            </a:r>
          </a:p>
          <a:p>
            <a:pPr eaLnBrk="1" hangingPunct="1"/>
            <a:r>
              <a:rPr lang="en-US" sz="2400" dirty="0">
                <a:solidFill>
                  <a:srgbClr val="073779"/>
                </a:solidFill>
                <a:ea typeface="ＭＳ Ｐゴシック" pitchFamily="34" charset="-128"/>
              </a:rPr>
              <a:t>Simpson</a:t>
            </a:r>
            <a:r>
              <a:rPr lang="en-US" altLang="en-US" sz="2400" dirty="0">
                <a:solidFill>
                  <a:srgbClr val="073779"/>
                </a:solidFill>
                <a:ea typeface="ＭＳ Ｐゴシック" pitchFamily="34" charset="-128"/>
              </a:rPr>
              <a:t>’</a:t>
            </a:r>
            <a:r>
              <a:rPr lang="en-US" sz="2400" dirty="0">
                <a:solidFill>
                  <a:srgbClr val="073779"/>
                </a:solidFill>
                <a:ea typeface="ＭＳ Ｐゴシック" pitchFamily="34" charset="-128"/>
              </a:rPr>
              <a:t>s paradox</a:t>
            </a:r>
          </a:p>
          <a:p>
            <a:pPr eaLnBrk="1" hangingPunct="1"/>
            <a:endParaRPr lang="en-US" sz="2400" dirty="0">
              <a:solidFill>
                <a:srgbClr val="073779"/>
              </a:solidFill>
              <a:ea typeface="ＭＳ Ｐゴシック" pitchFamily="34" charset="-128"/>
            </a:endParaRPr>
          </a:p>
        </p:txBody>
      </p:sp>
      <p:sp>
        <p:nvSpPr>
          <p:cNvPr id="59396"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24B180D0-8BBF-4CE9-88CE-1E3A426FBC12}" type="slidenum">
              <a:rPr lang="en-US">
                <a:solidFill>
                  <a:schemeClr val="accent1"/>
                </a:solidFill>
              </a:rPr>
              <a:pPr/>
              <a:t>37</a:t>
            </a:fld>
            <a:endParaRPr lang="en-US">
              <a:solidFill>
                <a:schemeClr val="accen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Categorical Variables</a:t>
            </a:r>
            <a:endParaRPr lang="en-US" dirty="0"/>
          </a:p>
        </p:txBody>
      </p:sp>
      <p:sp>
        <p:nvSpPr>
          <p:cNvPr id="60419"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185E89D2-A48E-4382-9B6A-9EA5409427C1}" type="slidenum">
              <a:rPr lang="en-US" sz="1200">
                <a:solidFill>
                  <a:schemeClr val="accent1"/>
                </a:solidFill>
              </a:rPr>
              <a:pPr>
                <a:lnSpc>
                  <a:spcPct val="80000"/>
                </a:lnSpc>
              </a:pPr>
              <a:t>38</a:t>
            </a:fld>
            <a:endParaRPr lang="en-US" sz="1200">
              <a:solidFill>
                <a:schemeClr val="accent1"/>
              </a:solidFill>
            </a:endParaRPr>
          </a:p>
        </p:txBody>
      </p:sp>
      <p:sp>
        <p:nvSpPr>
          <p:cNvPr id="60418" name="Rectangle 3"/>
          <p:cNvSpPr txBox="1">
            <a:spLocks noChangeArrowheads="1"/>
          </p:cNvSpPr>
          <p:nvPr/>
        </p:nvSpPr>
        <p:spPr bwMode="auto">
          <a:xfrm>
            <a:off x="457200" y="1158875"/>
            <a:ext cx="7631723" cy="2078038"/>
          </a:xfrm>
          <a:prstGeom prst="rect">
            <a:avLst/>
          </a:prstGeom>
          <a:solidFill>
            <a:srgbClr val="FFD780"/>
          </a:solidFill>
          <a:ln>
            <a:noFill/>
          </a:ln>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defTabSz="914400" eaLnBrk="1" hangingPunct="1">
              <a:spcBef>
                <a:spcPts val="700"/>
              </a:spcBef>
              <a:buClr>
                <a:schemeClr val="accent2"/>
              </a:buClr>
              <a:buSzPct val="60000"/>
            </a:pPr>
            <a:r>
              <a:rPr lang="en-US" sz="2000" dirty="0">
                <a:cs typeface="Arial" pitchFamily="34" charset="0"/>
              </a:rPr>
              <a:t>Categorical variables place individuals into one of several groups or categories.</a:t>
            </a:r>
          </a:p>
          <a:p>
            <a:pPr algn="just" defTabSz="914400" eaLnBrk="1" hangingPunct="1">
              <a:spcBef>
                <a:spcPts val="700"/>
              </a:spcBef>
              <a:buClr>
                <a:schemeClr val="accent1"/>
              </a:buClr>
              <a:buSzPct val="100000"/>
              <a:buFont typeface="Wingdings" pitchFamily="2" charset="2"/>
              <a:buChar char="§"/>
            </a:pPr>
            <a:r>
              <a:rPr lang="en-US" sz="2000" dirty="0">
                <a:cs typeface="Arial" pitchFamily="34" charset="0"/>
              </a:rPr>
              <a:t>The </a:t>
            </a:r>
            <a:r>
              <a:rPr lang="en-US" sz="2000" b="1" dirty="0">
                <a:cs typeface="Arial" pitchFamily="34" charset="0"/>
              </a:rPr>
              <a:t>values</a:t>
            </a:r>
            <a:r>
              <a:rPr lang="en-US" sz="2000" dirty="0">
                <a:cs typeface="Arial" pitchFamily="34" charset="0"/>
              </a:rPr>
              <a:t> of a categorical variable are labels for the different categories.</a:t>
            </a:r>
          </a:p>
          <a:p>
            <a:pPr algn="just" defTabSz="914400" eaLnBrk="1" hangingPunct="1">
              <a:spcBef>
                <a:spcPts val="700"/>
              </a:spcBef>
              <a:buClr>
                <a:schemeClr val="accent1"/>
              </a:buClr>
              <a:buSzPct val="100000"/>
              <a:buFont typeface="Wingdings" pitchFamily="2" charset="2"/>
              <a:buChar char="§"/>
            </a:pPr>
            <a:r>
              <a:rPr lang="en-US" sz="2000" dirty="0">
                <a:cs typeface="Arial" pitchFamily="34" charset="0"/>
              </a:rPr>
              <a:t>The </a:t>
            </a:r>
            <a:r>
              <a:rPr lang="en-US" sz="2000" b="1" dirty="0">
                <a:cs typeface="Arial" pitchFamily="34" charset="0"/>
              </a:rPr>
              <a:t>distribution</a:t>
            </a:r>
            <a:r>
              <a:rPr lang="en-US" sz="2000" dirty="0">
                <a:cs typeface="Arial" pitchFamily="34" charset="0"/>
              </a:rPr>
              <a:t> of a categorical variable lists the count or percent of individuals who fall into each category.</a:t>
            </a:r>
          </a:p>
          <a:p>
            <a:pPr defTabSz="914400" eaLnBrk="1" hangingPunct="1">
              <a:spcBef>
                <a:spcPts val="700"/>
              </a:spcBef>
              <a:buClr>
                <a:schemeClr val="accent2"/>
              </a:buClr>
              <a:buSzPct val="60000"/>
              <a:buFont typeface="Monotype Sorts" charset="2"/>
              <a:buNone/>
            </a:pPr>
            <a:endParaRPr lang="en-US" sz="2000" dirty="0">
              <a:cs typeface="Arial" pitchFamily="34" charset="0"/>
            </a:endParaRPr>
          </a:p>
        </p:txBody>
      </p:sp>
      <p:sp>
        <p:nvSpPr>
          <p:cNvPr id="60420" name="Rectangle 1"/>
          <p:cNvSpPr>
            <a:spLocks noChangeArrowheads="1"/>
          </p:cNvSpPr>
          <p:nvPr/>
        </p:nvSpPr>
        <p:spPr bwMode="auto">
          <a:xfrm>
            <a:off x="457201" y="3514725"/>
            <a:ext cx="7631722"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Wingdings" pitchFamily="2" charset="2"/>
              <a:buNone/>
            </a:pPr>
            <a:r>
              <a:rPr lang="en-US" sz="2000" dirty="0">
                <a:solidFill>
                  <a:srgbClr val="000000"/>
                </a:solidFill>
              </a:rPr>
              <a:t>When a data set involves two categorical variables, we begin by examining the counts or </a:t>
            </a:r>
            <a:r>
              <a:rPr lang="en-US" sz="2000" dirty="0" err="1">
                <a:solidFill>
                  <a:srgbClr val="000000"/>
                </a:solidFill>
              </a:rPr>
              <a:t>percents</a:t>
            </a:r>
            <a:r>
              <a:rPr lang="en-US" sz="2000" dirty="0">
                <a:solidFill>
                  <a:srgbClr val="000000"/>
                </a:solidFill>
              </a:rPr>
              <a:t> in various categories for </a:t>
            </a:r>
            <a:r>
              <a:rPr lang="en-US" sz="2000" i="1" dirty="0">
                <a:solidFill>
                  <a:srgbClr val="000000"/>
                </a:solidFill>
              </a:rPr>
              <a:t>one</a:t>
            </a:r>
            <a:r>
              <a:rPr lang="en-US" sz="2000" dirty="0">
                <a:solidFill>
                  <a:srgbClr val="000000"/>
                </a:solidFill>
              </a:rPr>
              <a:t> of the variables. </a:t>
            </a:r>
          </a:p>
        </p:txBody>
      </p:sp>
      <p:sp>
        <p:nvSpPr>
          <p:cNvPr id="9" name="TextBox 8"/>
          <p:cNvSpPr txBox="1">
            <a:spLocks noChangeArrowheads="1"/>
          </p:cNvSpPr>
          <p:nvPr/>
        </p:nvSpPr>
        <p:spPr bwMode="auto">
          <a:xfrm>
            <a:off x="637379" y="4694238"/>
            <a:ext cx="7451543" cy="1570037"/>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ct val="0"/>
              </a:spcBef>
              <a:buClrTx/>
              <a:buSzTx/>
              <a:buFontTx/>
              <a:buNone/>
              <a:defRPr/>
            </a:pPr>
            <a:endParaRPr lang="en-US" altLang="en-US" sz="600" b="1" u="sng" dirty="0">
              <a:solidFill>
                <a:srgbClr val="E81F30"/>
              </a:solidFill>
            </a:endParaRPr>
          </a:p>
          <a:p>
            <a:pPr algn="just" eaLnBrk="1" hangingPunct="1">
              <a:spcBef>
                <a:spcPct val="0"/>
              </a:spcBef>
              <a:buClrTx/>
              <a:buSzTx/>
              <a:buFontTx/>
              <a:buNone/>
              <a:defRPr/>
            </a:pPr>
            <a:r>
              <a:rPr lang="en-US" altLang="en-US" dirty="0">
                <a:solidFill>
                  <a:schemeClr val="tx1"/>
                </a:solidFill>
              </a:rPr>
              <a:t>A </a:t>
            </a:r>
            <a:r>
              <a:rPr lang="en-US" altLang="en-US" b="1" dirty="0">
                <a:solidFill>
                  <a:schemeClr val="tx1"/>
                </a:solidFill>
              </a:rPr>
              <a:t>two-way table </a:t>
            </a:r>
            <a:r>
              <a:rPr lang="en-US" altLang="en-US" dirty="0">
                <a:solidFill>
                  <a:schemeClr val="tx1"/>
                </a:solidFill>
              </a:rPr>
              <a:t>describes two categorical variables, organizing counts according to a </a:t>
            </a:r>
            <a:r>
              <a:rPr lang="en-US" altLang="en-US" b="1" dirty="0">
                <a:solidFill>
                  <a:schemeClr val="tx1"/>
                </a:solidFill>
              </a:rPr>
              <a:t>row variable</a:t>
            </a:r>
            <a:r>
              <a:rPr lang="en-US" altLang="en-US" dirty="0">
                <a:solidFill>
                  <a:schemeClr val="tx1"/>
                </a:solidFill>
              </a:rPr>
              <a:t> and a </a:t>
            </a:r>
            <a:r>
              <a:rPr lang="en-US" altLang="en-US" b="1" dirty="0">
                <a:solidFill>
                  <a:schemeClr val="tx1"/>
                </a:solidFill>
              </a:rPr>
              <a:t>column variable. </a:t>
            </a:r>
            <a:r>
              <a:rPr lang="en-US" altLang="en-US" dirty="0">
                <a:solidFill>
                  <a:schemeClr val="tx1"/>
                </a:solidFill>
              </a:rPr>
              <a:t>Each combination of values for these two variables is called a </a:t>
            </a:r>
            <a:r>
              <a:rPr lang="en-US" altLang="en-US" b="1" dirty="0">
                <a:solidFill>
                  <a:schemeClr val="tx1"/>
                </a:solidFill>
              </a:rPr>
              <a:t>cell.</a:t>
            </a:r>
          </a:p>
          <a:p>
            <a:pPr eaLnBrk="1" hangingPunct="1">
              <a:spcBef>
                <a:spcPct val="0"/>
              </a:spcBef>
              <a:buClrTx/>
              <a:buSzTx/>
              <a:buFontTx/>
              <a:buNone/>
              <a:defRPr/>
            </a:pPr>
            <a:endParaRPr lang="en-US" altLang="en-US" sz="1000" b="1" dirty="0">
              <a:solidFill>
                <a:schemeClr val="tx1"/>
              </a:solidFill>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1"/>
                </a:solidFill>
              </a:rPr>
              <a:t>The Two-Way Table</a:t>
            </a:r>
            <a:endParaRPr lang="en-US" dirty="0"/>
          </a:p>
        </p:txBody>
      </p:sp>
      <p:sp>
        <p:nvSpPr>
          <p:cNvPr id="61442"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92DBE876-0F20-480C-AA4B-FBB0DE4AB828}" type="slidenum">
              <a:rPr lang="en-US" sz="1200">
                <a:solidFill>
                  <a:schemeClr val="accent1"/>
                </a:solidFill>
              </a:rPr>
              <a:pPr>
                <a:lnSpc>
                  <a:spcPct val="80000"/>
                </a:lnSpc>
              </a:pPr>
              <a:t>39</a:t>
            </a:fld>
            <a:endParaRPr lang="en-US" sz="1200">
              <a:solidFill>
                <a:schemeClr val="accent1"/>
              </a:solidFill>
            </a:endParaRPr>
          </a:p>
        </p:txBody>
      </p:sp>
      <p:sp>
        <p:nvSpPr>
          <p:cNvPr id="2" name="Rectangle 1"/>
          <p:cNvSpPr/>
          <p:nvPr/>
        </p:nvSpPr>
        <p:spPr>
          <a:xfrm>
            <a:off x="565150" y="1414992"/>
            <a:ext cx="7772400" cy="707886"/>
          </a:xfrm>
          <a:prstGeom prst="rect">
            <a:avLst/>
          </a:prstGeom>
        </p:spPr>
        <p:txBody>
          <a:bodyPr wrap="square">
            <a:spAutoFit/>
          </a:bodyPr>
          <a:lstStyle/>
          <a:p>
            <a:pPr lvl="0" algn="ctr" defTabSz="914400" eaLnBrk="1" hangingPunct="1"/>
            <a:r>
              <a:rPr lang="en-US" sz="2000" b="1" dirty="0">
                <a:solidFill>
                  <a:srgbClr val="000000"/>
                </a:solidFill>
              </a:rPr>
              <a:t>Young Adults by Gender and Chance of Getting Rich by Age 30</a:t>
            </a:r>
            <a:endParaRPr lang="en-US" sz="2000" b="1" dirty="0"/>
          </a:p>
        </p:txBody>
      </p:sp>
      <p:sp>
        <p:nvSpPr>
          <p:cNvPr id="61487" name="TextBox 7"/>
          <p:cNvSpPr txBox="1">
            <a:spLocks noChangeArrowheads="1"/>
          </p:cNvSpPr>
          <p:nvPr/>
        </p:nvSpPr>
        <p:spPr bwMode="auto">
          <a:xfrm>
            <a:off x="565150" y="4953977"/>
            <a:ext cx="723741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000" b="1" dirty="0"/>
              <a:t>What are the variables described by this two-way table?</a:t>
            </a:r>
          </a:p>
          <a:p>
            <a:pPr eaLnBrk="1" hangingPunct="1"/>
            <a:endParaRPr lang="en-US" sz="2000" b="1" dirty="0"/>
          </a:p>
          <a:p>
            <a:pPr eaLnBrk="1" hangingPunct="1"/>
            <a:r>
              <a:rPr lang="en-US" sz="2000" b="1" dirty="0"/>
              <a:t>How many young adults were surveyed?</a:t>
            </a:r>
          </a:p>
        </p:txBody>
      </p:sp>
      <p:graphicFrame>
        <p:nvGraphicFramePr>
          <p:cNvPr id="17" name="Table 16" descr="&#10;Row one represents &quot;almost no chance&quot; with 96 votes given by female and 98 votes given by male making a total of 194 votes.&#10;Row two represents &quot;some chance, but probably not&quot; with 426 votes given by female and 286 votes given by male making a total of 712 votes.&#10;Row three represents &quot;A 50-50 chance&quot; with 696 votes given by female and 720 votes given by male making a total of 1416 votes.&#10;Row four represents &quot;A good chance&quot; with 663 votes given by female and 758 votes given by male making a total of 1421 votes.&#10;Row five represents &quot;Almost certain&quot; with 486 votes given by female and 597 votes given by male making a total of 1083 votes.&#10;and Row six represents the &quot;Total&quot; with 2367 total votes given by female and 2459 total votes given by male with a collective total of 4826 votes."/>
          <p:cNvGraphicFramePr>
            <a:graphicFrameLocks noGrp="1"/>
          </p:cNvGraphicFramePr>
          <p:nvPr>
            <p:extLst>
              <p:ext uri="{D42A27DB-BD31-4B8C-83A1-F6EECF244321}">
                <p14:modId xmlns:p14="http://schemas.microsoft.com/office/powerpoint/2010/main" val="1635478760"/>
              </p:ext>
            </p:extLst>
          </p:nvPr>
        </p:nvGraphicFramePr>
        <p:xfrm>
          <a:off x="565150" y="2122878"/>
          <a:ext cx="7543800" cy="2644775"/>
        </p:xfrm>
        <a:graphic>
          <a:graphicData uri="http://schemas.openxmlformats.org/drawingml/2006/table">
            <a:tbl>
              <a:tblPr firstRow="1"/>
              <a:tblGrid>
                <a:gridCol w="4270375">
                  <a:extLst>
                    <a:ext uri="{9D8B030D-6E8A-4147-A177-3AD203B41FA5}">
                      <a16:colId xmlns:a16="http://schemas.microsoft.com/office/drawing/2014/main" xmlns="" val="20000"/>
                    </a:ext>
                  </a:extLst>
                </a:gridCol>
                <a:gridCol w="1262063">
                  <a:extLst>
                    <a:ext uri="{9D8B030D-6E8A-4147-A177-3AD203B41FA5}">
                      <a16:colId xmlns:a16="http://schemas.microsoft.com/office/drawing/2014/main" xmlns="" val="20001"/>
                    </a:ext>
                  </a:extLst>
                </a:gridCol>
                <a:gridCol w="1001712">
                  <a:extLst>
                    <a:ext uri="{9D8B030D-6E8A-4147-A177-3AD203B41FA5}">
                      <a16:colId xmlns:a16="http://schemas.microsoft.com/office/drawing/2014/main" xmlns="" val="20002"/>
                    </a:ext>
                  </a:extLst>
                </a:gridCol>
                <a:gridCol w="1009650">
                  <a:extLst>
                    <a:ext uri="{9D8B030D-6E8A-4147-A177-3AD203B41FA5}">
                      <a16:colId xmlns:a16="http://schemas.microsoft.com/office/drawing/2014/main" xmlns="" val="20003"/>
                    </a:ext>
                  </a:extLst>
                </a:gridCol>
              </a:tblGrid>
              <a:tr h="377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Arial" pitchFamily="34" charset="0"/>
                          <a:ea typeface="ＭＳ Ｐゴシック" pitchFamily="34" charset="-128"/>
                        </a:rPr>
                        <a:t>Female</a:t>
                      </a:r>
                      <a:endParaRPr kumimoji="0" lang="en-US" sz="1800" b="0" i="0" u="none" strike="noStrike" cap="none" normalizeH="0" baseline="0" dirty="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Male</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Total</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extLst>
                  <a:ext uri="{0D108BD9-81ED-4DB2-BD59-A6C34878D82A}">
                    <a16:rowId xmlns:a16="http://schemas.microsoft.com/office/drawing/2014/main" xmlns="" val="10000"/>
                  </a:ext>
                </a:extLst>
              </a:tr>
              <a:tr h="377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Arial" pitchFamily="34" charset="0"/>
                          <a:ea typeface="ＭＳ Ｐゴシック" pitchFamily="34" charset="-128"/>
                        </a:rPr>
                        <a:t>Almost no chance</a:t>
                      </a:r>
                      <a:endParaRPr kumimoji="0" lang="en-US" sz="1800" b="0" i="0" u="none" strike="noStrike" cap="none" normalizeH="0" baseline="0" dirty="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96</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98</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194</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extLst>
                  <a:ext uri="{0D108BD9-81ED-4DB2-BD59-A6C34878D82A}">
                    <a16:rowId xmlns:a16="http://schemas.microsoft.com/office/drawing/2014/main" xmlns="" val="10001"/>
                  </a:ext>
                </a:extLst>
              </a:tr>
              <a:tr h="377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Arial" pitchFamily="34" charset="0"/>
                          <a:ea typeface="ＭＳ Ｐゴシック" pitchFamily="34" charset="-128"/>
                        </a:rPr>
                        <a:t>Some chance, but probably not</a:t>
                      </a:r>
                      <a:endParaRPr kumimoji="0" lang="en-US" sz="1800" b="0" i="0" u="none" strike="noStrike" cap="none" normalizeH="0" baseline="0" dirty="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Arial" pitchFamily="34" charset="0"/>
                          <a:ea typeface="ＭＳ Ｐゴシック" pitchFamily="34" charset="-128"/>
                        </a:rPr>
                        <a:t>426</a:t>
                      </a:r>
                      <a:endParaRPr kumimoji="0" lang="en-US" sz="1800" b="0" i="0" u="none" strike="noStrike" cap="none" normalizeH="0" baseline="0" dirty="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286</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712</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extLst>
                  <a:ext uri="{0D108BD9-81ED-4DB2-BD59-A6C34878D82A}">
                    <a16:rowId xmlns:a16="http://schemas.microsoft.com/office/drawing/2014/main" xmlns="" val="10002"/>
                  </a:ext>
                </a:extLst>
              </a:tr>
              <a:tr h="377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A 50–50 chance</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696</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720</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1416</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extLst>
                  <a:ext uri="{0D108BD9-81ED-4DB2-BD59-A6C34878D82A}">
                    <a16:rowId xmlns:a16="http://schemas.microsoft.com/office/drawing/2014/main" xmlns="" val="10003"/>
                  </a:ext>
                </a:extLst>
              </a:tr>
              <a:tr h="377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Arial" pitchFamily="34" charset="0"/>
                          <a:ea typeface="ＭＳ Ｐゴシック" pitchFamily="34" charset="-128"/>
                        </a:rPr>
                        <a:t>A good chance</a:t>
                      </a:r>
                      <a:endParaRPr kumimoji="0" lang="en-US" sz="1800" b="0" i="0" u="none" strike="noStrike" cap="none" normalizeH="0" baseline="0" dirty="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663</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758</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1421</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extLst>
                  <a:ext uri="{0D108BD9-81ED-4DB2-BD59-A6C34878D82A}">
                    <a16:rowId xmlns:a16="http://schemas.microsoft.com/office/drawing/2014/main" xmlns="" val="10004"/>
                  </a:ext>
                </a:extLst>
              </a:tr>
              <a:tr h="377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Almost certain</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486</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597</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1083</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extLst>
                  <a:ext uri="{0D108BD9-81ED-4DB2-BD59-A6C34878D82A}">
                    <a16:rowId xmlns:a16="http://schemas.microsoft.com/office/drawing/2014/main" xmlns="" val="10005"/>
                  </a:ext>
                </a:extLst>
              </a:tr>
              <a:tr h="377825">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Total</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2367</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000000"/>
                          </a:solidFill>
                          <a:effectLst/>
                          <a:latin typeface="Arial" pitchFamily="34" charset="0"/>
                          <a:ea typeface="ＭＳ Ｐゴシック" pitchFamily="34" charset="-128"/>
                        </a:rPr>
                        <a:t>2459</a:t>
                      </a:r>
                      <a:endParaRPr kumimoji="0" lang="en-US" sz="1800" b="0" i="0" u="none" strike="noStrike" cap="none" normalizeH="0" baseline="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000000"/>
                          </a:solidFill>
                          <a:effectLst/>
                          <a:latin typeface="Arial" pitchFamily="34" charset="0"/>
                          <a:ea typeface="ＭＳ Ｐゴシック" pitchFamily="34" charset="-128"/>
                        </a:rPr>
                        <a:t>4826</a:t>
                      </a:r>
                      <a:endParaRPr kumimoji="0" lang="en-US" sz="1800" b="0" i="0" u="none" strike="noStrike" cap="none" normalizeH="0" baseline="0" dirty="0">
                        <a:ln>
                          <a:noFill/>
                        </a:ln>
                        <a:solidFill>
                          <a:schemeClr val="tx1"/>
                        </a:solidFill>
                        <a:effectLst/>
                        <a:latin typeface="Arial" pitchFamily="34" charset="0"/>
                        <a:ea typeface="ＭＳ Ｐゴシック" pitchFamily="34" charset="-128"/>
                      </a:endParaRPr>
                    </a:p>
                  </a:txBody>
                  <a:tcPr marL="91431" marR="91431" marT="45695" marB="45695" horzOverflow="overflow">
                    <a:lnL w="12700" cap="flat" cmpd="sng" algn="ctr">
                      <a:solidFill>
                        <a:srgbClr val="EB6615"/>
                      </a:solidFill>
                      <a:prstDash val="solid"/>
                      <a:round/>
                      <a:headEnd type="none" w="med" len="med"/>
                      <a:tailEnd type="none" w="med" len="med"/>
                    </a:lnL>
                    <a:lnR w="12700" cap="flat" cmpd="sng" algn="ctr">
                      <a:solidFill>
                        <a:srgbClr val="EB6615"/>
                      </a:solidFill>
                      <a:prstDash val="solid"/>
                      <a:round/>
                      <a:headEnd type="none" w="med" len="med"/>
                      <a:tailEnd type="none" w="med" len="med"/>
                    </a:lnR>
                    <a:lnT w="12700" cap="flat" cmpd="sng" algn="ctr">
                      <a:solidFill>
                        <a:srgbClr val="EB6615"/>
                      </a:solidFill>
                      <a:prstDash val="solid"/>
                      <a:round/>
                      <a:headEnd type="none" w="med" len="med"/>
                      <a:tailEnd type="none" w="med" len="med"/>
                    </a:lnT>
                    <a:lnB w="12700" cap="flat" cmpd="sng" algn="ctr">
                      <a:solidFill>
                        <a:srgbClr val="EB6615"/>
                      </a:solidFill>
                      <a:prstDash val="solid"/>
                      <a:round/>
                      <a:headEnd type="none" w="med" len="med"/>
                      <a:tailEnd type="none" w="med" len="med"/>
                    </a:lnB>
                    <a:lnTlToBr>
                      <a:noFill/>
                    </a:lnTlToBr>
                    <a:lnBlToTr>
                      <a:noFill/>
                    </a:lnBlToTr>
                    <a:solidFill>
                      <a:srgbClr val="FBEAE7"/>
                    </a:solidFill>
                  </a:tcPr>
                </a:tc>
                <a:extLst>
                  <a:ext uri="{0D108BD9-81ED-4DB2-BD59-A6C34878D82A}">
                    <a16:rowId xmlns:a16="http://schemas.microsoft.com/office/drawing/2014/main" xmlns="" val="10006"/>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Marginal Distribution 1</a:t>
            </a:r>
            <a:endParaRPr lang="en-US" dirty="0"/>
          </a:p>
        </p:txBody>
      </p:sp>
      <p:sp>
        <p:nvSpPr>
          <p:cNvPr id="62466"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C429BEA3-90DA-4119-9590-5066C751A4B1}" type="slidenum">
              <a:rPr lang="en-US" sz="1200">
                <a:solidFill>
                  <a:schemeClr val="accent1"/>
                </a:solidFill>
              </a:rPr>
              <a:pPr>
                <a:lnSpc>
                  <a:spcPct val="80000"/>
                </a:lnSpc>
              </a:pPr>
              <a:t>40</a:t>
            </a:fld>
            <a:endParaRPr lang="en-US" sz="1200">
              <a:solidFill>
                <a:schemeClr val="accent1"/>
              </a:solidFill>
            </a:endParaRPr>
          </a:p>
        </p:txBody>
      </p:sp>
      <p:sp>
        <p:nvSpPr>
          <p:cNvPr id="7" name="TextBox 6"/>
          <p:cNvSpPr txBox="1">
            <a:spLocks noChangeArrowheads="1"/>
          </p:cNvSpPr>
          <p:nvPr/>
        </p:nvSpPr>
        <p:spPr bwMode="auto">
          <a:xfrm>
            <a:off x="174623" y="1190259"/>
            <a:ext cx="8265991" cy="1107996"/>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eaLnBrk="1" hangingPunct="1">
              <a:spcBef>
                <a:spcPct val="0"/>
              </a:spcBef>
              <a:buClrTx/>
              <a:buSzTx/>
              <a:buFontTx/>
              <a:buNone/>
              <a:defRPr/>
            </a:pPr>
            <a:endParaRPr lang="en-US" altLang="en-US" sz="600" b="1" u="sng" dirty="0">
              <a:solidFill>
                <a:srgbClr val="E81F30"/>
              </a:solidFill>
            </a:endParaRPr>
          </a:p>
          <a:p>
            <a:pPr algn="just" eaLnBrk="1" hangingPunct="1">
              <a:spcBef>
                <a:spcPct val="0"/>
              </a:spcBef>
              <a:buClrTx/>
              <a:buSzTx/>
              <a:buFontTx/>
              <a:buNone/>
              <a:defRPr/>
            </a:pPr>
            <a:r>
              <a:rPr lang="en-US" altLang="en-US" dirty="0">
                <a:solidFill>
                  <a:schemeClr val="tx1"/>
                </a:solidFill>
              </a:rPr>
              <a:t>The</a:t>
            </a:r>
            <a:r>
              <a:rPr lang="en-US" altLang="en-US" b="1" dirty="0">
                <a:solidFill>
                  <a:schemeClr val="tx1"/>
                </a:solidFill>
              </a:rPr>
              <a:t> marginal distribution </a:t>
            </a:r>
            <a:r>
              <a:rPr lang="en-US" altLang="en-US" dirty="0">
                <a:solidFill>
                  <a:schemeClr val="tx1"/>
                </a:solidFill>
              </a:rPr>
              <a:t>of one of the categorical variables in a two-way table of counts is the distribution of values of that variable among </a:t>
            </a:r>
            <a:r>
              <a:rPr lang="en-US" altLang="en-US" i="1" dirty="0">
                <a:solidFill>
                  <a:schemeClr val="tx1"/>
                </a:solidFill>
              </a:rPr>
              <a:t>all</a:t>
            </a:r>
            <a:r>
              <a:rPr lang="en-US" altLang="en-US" dirty="0">
                <a:solidFill>
                  <a:schemeClr val="tx1"/>
                </a:solidFill>
              </a:rPr>
              <a:t> individuals described by the table.</a:t>
            </a:r>
          </a:p>
        </p:txBody>
      </p:sp>
      <p:sp>
        <p:nvSpPr>
          <p:cNvPr id="8" name="TextBox 7"/>
          <p:cNvSpPr txBox="1">
            <a:spLocks noChangeArrowheads="1"/>
          </p:cNvSpPr>
          <p:nvPr/>
        </p:nvSpPr>
        <p:spPr bwMode="auto">
          <a:xfrm>
            <a:off x="174624" y="2756554"/>
            <a:ext cx="826599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eaLnBrk="1" hangingPunct="1"/>
            <a:r>
              <a:rPr lang="en-US" sz="2000" i="1" dirty="0"/>
              <a:t>Note</a:t>
            </a:r>
            <a:r>
              <a:rPr lang="en-US" sz="2000" b="1" i="1" dirty="0"/>
              <a:t>:</a:t>
            </a:r>
            <a:r>
              <a:rPr lang="en-US" sz="2000" dirty="0"/>
              <a:t> Percentages are often more informative than counts, especially when one is comparing groups of different sizes.</a:t>
            </a:r>
          </a:p>
          <a:p>
            <a:pPr eaLnBrk="1" hangingPunct="1"/>
            <a:endParaRPr lang="en-US" sz="2000" dirty="0"/>
          </a:p>
          <a:p>
            <a:pPr eaLnBrk="1" hangingPunct="1"/>
            <a:r>
              <a:rPr lang="en-US" sz="2000" b="1" dirty="0"/>
              <a:t>To examine a marginal distribution:</a:t>
            </a:r>
          </a:p>
          <a:p>
            <a:pPr eaLnBrk="1" hangingPunct="1"/>
            <a:endParaRPr lang="en-US" sz="2000" b="1" dirty="0"/>
          </a:p>
          <a:p>
            <a:pPr algn="just" eaLnBrk="1" hangingPunct="1">
              <a:buFont typeface="Tw Cen MT" charset="0"/>
              <a:buAutoNum type="arabicPeriod"/>
            </a:pPr>
            <a:r>
              <a:rPr lang="en-US" sz="2000" dirty="0"/>
              <a:t>  Use the data in the table to calculate the marginal distribution </a:t>
            </a:r>
          </a:p>
          <a:p>
            <a:pPr algn="just" eaLnBrk="1" hangingPunct="1"/>
            <a:r>
              <a:rPr lang="en-US" sz="2000" dirty="0"/>
              <a:t>     (in percent) of the row or column totals.</a:t>
            </a:r>
          </a:p>
          <a:p>
            <a:pPr algn="just" eaLnBrk="1" hangingPunct="1"/>
            <a:r>
              <a:rPr lang="en-US" sz="2000" dirty="0"/>
              <a:t>2.  Make a graph to display the marginal distribution.</a:t>
            </a:r>
          </a:p>
          <a:p>
            <a:pPr eaLnBrk="1" hangingPunct="1"/>
            <a:endParaRPr lang="en-US" sz="2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1"/>
                </a:solidFill>
              </a:rPr>
              <a:t>Marginal Distribution 2</a:t>
            </a:r>
            <a:endParaRPr lang="en-US" dirty="0"/>
          </a:p>
        </p:txBody>
      </p:sp>
      <p:sp>
        <p:nvSpPr>
          <p:cNvPr id="63490"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47306F64-2D30-469F-AAE8-91F5D48AF489}" type="slidenum">
              <a:rPr lang="en-US" sz="1200">
                <a:solidFill>
                  <a:schemeClr val="accent1"/>
                </a:solidFill>
              </a:rPr>
              <a:pPr>
                <a:lnSpc>
                  <a:spcPct val="80000"/>
                </a:lnSpc>
              </a:pPr>
              <a:t>41</a:t>
            </a:fld>
            <a:endParaRPr lang="en-US" sz="1200">
              <a:solidFill>
                <a:schemeClr val="accent1"/>
              </a:solidFill>
            </a:endParaRPr>
          </a:p>
        </p:txBody>
      </p:sp>
      <p:sp>
        <p:nvSpPr>
          <p:cNvPr id="2" name="Rectangle 1"/>
          <p:cNvSpPr/>
          <p:nvPr/>
        </p:nvSpPr>
        <p:spPr>
          <a:xfrm>
            <a:off x="0" y="1147752"/>
            <a:ext cx="4572000" cy="276999"/>
          </a:xfrm>
          <a:prstGeom prst="rect">
            <a:avLst/>
          </a:prstGeom>
        </p:spPr>
        <p:txBody>
          <a:bodyPr>
            <a:spAutoFit/>
          </a:bodyPr>
          <a:lstStyle/>
          <a:p>
            <a:pPr lvl="0" algn="ctr" defTabSz="914400" eaLnBrk="1" hangingPunct="1"/>
            <a:r>
              <a:rPr lang="en-US" sz="1200" dirty="0"/>
              <a:t>Young Adults by Gender and Chance of Getting Rich</a:t>
            </a:r>
            <a:endParaRPr lang="en-US" sz="1200" dirty="0">
              <a:latin typeface="Arial" charset="0"/>
              <a:ea typeface="ＭＳ Ｐゴシック" charset="0"/>
              <a:cs typeface="ＭＳ Ｐゴシック" charset="0"/>
            </a:endParaRPr>
          </a:p>
        </p:txBody>
      </p:sp>
      <p:graphicFrame>
        <p:nvGraphicFramePr>
          <p:cNvPr id="20" name="Table 19" descr="Young adults by gender and chance of getting rich"/>
          <p:cNvGraphicFramePr>
            <a:graphicFrameLocks noGrp="1"/>
          </p:cNvGraphicFramePr>
          <p:nvPr>
            <p:extLst>
              <p:ext uri="{D42A27DB-BD31-4B8C-83A1-F6EECF244321}">
                <p14:modId xmlns:p14="http://schemas.microsoft.com/office/powerpoint/2010/main" val="3032475532"/>
              </p:ext>
            </p:extLst>
          </p:nvPr>
        </p:nvGraphicFramePr>
        <p:xfrm>
          <a:off x="88900" y="1426411"/>
          <a:ext cx="4360863" cy="1985384"/>
        </p:xfrm>
        <a:graphic>
          <a:graphicData uri="http://schemas.openxmlformats.org/drawingml/2006/table">
            <a:tbl>
              <a:tblPr firstRow="1">
                <a:tableStyleId>{69C7853C-536D-4A76-A0AE-DD22124D55A5}</a:tableStyleId>
              </a:tblPr>
              <a:tblGrid>
                <a:gridCol w="2468563">
                  <a:extLst>
                    <a:ext uri="{9D8B030D-6E8A-4147-A177-3AD203B41FA5}">
                      <a16:colId xmlns:a16="http://schemas.microsoft.com/office/drawing/2014/main" xmlns="" val="20000"/>
                    </a:ext>
                  </a:extLst>
                </a:gridCol>
                <a:gridCol w="728662">
                  <a:extLst>
                    <a:ext uri="{9D8B030D-6E8A-4147-A177-3AD203B41FA5}">
                      <a16:colId xmlns:a16="http://schemas.microsoft.com/office/drawing/2014/main" xmlns="" val="20001"/>
                    </a:ext>
                  </a:extLst>
                </a:gridCol>
                <a:gridCol w="581025">
                  <a:extLst>
                    <a:ext uri="{9D8B030D-6E8A-4147-A177-3AD203B41FA5}">
                      <a16:colId xmlns:a16="http://schemas.microsoft.com/office/drawing/2014/main" xmlns="" val="20002"/>
                    </a:ext>
                  </a:extLst>
                </a:gridCol>
                <a:gridCol w="582613">
                  <a:extLst>
                    <a:ext uri="{9D8B030D-6E8A-4147-A177-3AD203B41FA5}">
                      <a16:colId xmlns:a16="http://schemas.microsoft.com/office/drawing/2014/main" xmlns="" val="20003"/>
                    </a:ext>
                  </a:extLst>
                </a:gridCol>
              </a:tblGrid>
              <a:tr h="274979">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chemeClr val="tx1"/>
                          </a:solidFill>
                          <a:effectLst/>
                        </a:rPr>
                        <a:t>Female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chemeClr val="tx1"/>
                          </a:solidFill>
                          <a:effectLst/>
                        </a:rPr>
                        <a:t>Male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chemeClr val="tx1"/>
                          </a:solidFill>
                          <a:effectLst/>
                        </a:rPr>
                        <a:t>Total</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0"/>
                  </a:ext>
                </a:extLst>
              </a:tr>
              <a:tr h="2749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Almost no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96</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98</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194</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1"/>
                  </a:ext>
                </a:extLst>
              </a:tr>
              <a:tr h="2749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Some chance, but probably not</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426</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286</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712</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2"/>
                  </a:ext>
                </a:extLst>
              </a:tr>
              <a:tr h="2749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 50–50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696</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720</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1416</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3"/>
                  </a:ext>
                </a:extLst>
              </a:tr>
              <a:tr h="2749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 good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663</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758</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1421</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4"/>
                  </a:ext>
                </a:extLst>
              </a:tr>
              <a:tr h="27497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Almost certain</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486</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597</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1083</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5"/>
                  </a:ext>
                </a:extLst>
              </a:tr>
              <a:tr h="33551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Total</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2367</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2459</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4826</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6"/>
                  </a:ext>
                </a:extLst>
              </a:tr>
            </a:tbl>
          </a:graphicData>
        </a:graphic>
      </p:graphicFrame>
      <p:graphicFrame>
        <p:nvGraphicFramePr>
          <p:cNvPr id="22" name="Table 21" descr="Young adults by gender and chance of getting rich"/>
          <p:cNvGraphicFramePr>
            <a:graphicFrameLocks noGrp="1"/>
          </p:cNvGraphicFramePr>
          <p:nvPr>
            <p:extLst>
              <p:ext uri="{D42A27DB-BD31-4B8C-83A1-F6EECF244321}">
                <p14:modId xmlns:p14="http://schemas.microsoft.com/office/powerpoint/2010/main" val="2729345032"/>
              </p:ext>
            </p:extLst>
          </p:nvPr>
        </p:nvGraphicFramePr>
        <p:xfrm>
          <a:off x="160867" y="3725863"/>
          <a:ext cx="2882900" cy="2922588"/>
        </p:xfrm>
        <a:graphic>
          <a:graphicData uri="http://schemas.openxmlformats.org/drawingml/2006/table">
            <a:tbl>
              <a:tblPr firstRow="1">
                <a:tableStyleId>{284E427A-3D55-4303-BF80-6455036E1DE7}</a:tableStyleId>
              </a:tblPr>
              <a:tblGrid>
                <a:gridCol w="1501775">
                  <a:extLst>
                    <a:ext uri="{9D8B030D-6E8A-4147-A177-3AD203B41FA5}">
                      <a16:colId xmlns:a16="http://schemas.microsoft.com/office/drawing/2014/main" xmlns="" val="20000"/>
                    </a:ext>
                  </a:extLst>
                </a:gridCol>
                <a:gridCol w="1381125">
                  <a:extLst>
                    <a:ext uri="{9D8B030D-6E8A-4147-A177-3AD203B41FA5}">
                      <a16:colId xmlns:a16="http://schemas.microsoft.com/office/drawing/2014/main" xmlns="" val="20001"/>
                    </a:ext>
                  </a:extLst>
                </a:gridCol>
              </a:tblGrid>
              <a:tr h="3317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solidFill>
                            <a:schemeClr val="tx1"/>
                          </a:solidFill>
                          <a:effectLst/>
                        </a:rPr>
                        <a:t>Response</a:t>
                      </a:r>
                      <a:endParaRPr kumimoji="0" lang="en-US" sz="14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solidFill>
                            <a:schemeClr val="tx1"/>
                          </a:solidFill>
                          <a:effectLst/>
                        </a:rPr>
                        <a:t>Percent</a:t>
                      </a:r>
                      <a:endParaRPr kumimoji="0" lang="en-US" sz="14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0"/>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Almost no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194/4826 = 4.0%</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1"/>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Some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712/4826 = 14.8%</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2"/>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 50–50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1416/4826 = 29.3%</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3"/>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 good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1421/4826 = 29.4%</a:t>
                      </a:r>
                      <a:endParaRPr kumimoji="0" lang="en-US" sz="14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4"/>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Almost certain</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1083/4826 = 22.4%</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5"/>
                  </a:ext>
                </a:extLst>
              </a:tr>
            </a:tbl>
          </a:graphicData>
        </a:graphic>
      </p:graphicFrame>
      <p:sp>
        <p:nvSpPr>
          <p:cNvPr id="63493" name="TextBox 7"/>
          <p:cNvSpPr txBox="1">
            <a:spLocks noChangeArrowheads="1"/>
          </p:cNvSpPr>
          <p:nvPr/>
        </p:nvSpPr>
        <p:spPr bwMode="auto">
          <a:xfrm>
            <a:off x="5549900" y="1552575"/>
            <a:ext cx="3084513"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000" dirty="0"/>
              <a:t>Examine the </a:t>
            </a:r>
            <a:r>
              <a:rPr lang="en-US" sz="2000" b="1" dirty="0"/>
              <a:t>marginal distribution </a:t>
            </a:r>
            <a:r>
              <a:rPr lang="en-US" sz="2000" dirty="0"/>
              <a:t>of chance of getting rich.</a:t>
            </a:r>
          </a:p>
          <a:p>
            <a:pPr eaLnBrk="1" hangingPunct="1"/>
            <a:endParaRPr lang="en-US" sz="2000" dirty="0"/>
          </a:p>
        </p:txBody>
      </p:sp>
      <p:sp>
        <p:nvSpPr>
          <p:cNvPr id="26" name="Curved Down Arrow 25" descr="An arrow points from the text to the table of responses and percentages."/>
          <p:cNvSpPr>
            <a:spLocks noChangeArrowheads="1"/>
          </p:cNvSpPr>
          <p:nvPr/>
        </p:nvSpPr>
        <p:spPr bwMode="auto">
          <a:xfrm rot="18715359" flipH="1">
            <a:off x="2349501" y="2462212"/>
            <a:ext cx="3530600" cy="828675"/>
          </a:xfrm>
          <a:prstGeom prst="curvedDownArrow">
            <a:avLst>
              <a:gd name="adj1" fmla="val 24991"/>
              <a:gd name="adj2" fmla="val 50002"/>
              <a:gd name="adj3" fmla="val 28505"/>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endParaRPr lang="en-US" altLang="en-US" sz="1800">
              <a:solidFill>
                <a:schemeClr val="tx1"/>
              </a:solidFill>
            </a:endParaRPr>
          </a:p>
        </p:txBody>
      </p:sp>
      <p:graphicFrame>
        <p:nvGraphicFramePr>
          <p:cNvPr id="24" name="Chart 23" descr="The graph plots percent on the vertical axis, ranging from 0 to 35 in increments of 5, versus survey response on the horizontal axis, with five responses listed. By response, the percentages are as follows. Almost no chance, 4 percent. Some chance, 15 percent. A 50 50 chance, 29 percent. A good chance, 29 percent. Almost certain, 22 percent. All values estimated."/>
          <p:cNvGraphicFramePr>
            <a:graphicFrameLocks/>
          </p:cNvGraphicFramePr>
          <p:nvPr>
            <p:extLst>
              <p:ext uri="{D42A27DB-BD31-4B8C-83A1-F6EECF244321}">
                <p14:modId xmlns:p14="http://schemas.microsoft.com/office/powerpoint/2010/main" val="325308238"/>
              </p:ext>
            </p:extLst>
          </p:nvPr>
        </p:nvGraphicFramePr>
        <p:xfrm>
          <a:off x="4173538" y="2741613"/>
          <a:ext cx="4918075" cy="4003675"/>
        </p:xfrm>
        <a:graphic>
          <a:graphicData uri="http://schemas.openxmlformats.org/drawingml/2006/chart">
            <c:chart xmlns:c="http://schemas.openxmlformats.org/drawingml/2006/chart" xmlns:r="http://schemas.openxmlformats.org/officeDocument/2006/relationships" r:id="rId2"/>
          </a:graphicData>
        </a:graphic>
      </p:graphicFrame>
      <p:sp>
        <p:nvSpPr>
          <p:cNvPr id="25" name="Curved Down Arrow 24" descr="An arrow points from the table to a bar graph."/>
          <p:cNvSpPr>
            <a:spLocks noChangeArrowheads="1"/>
          </p:cNvSpPr>
          <p:nvPr/>
        </p:nvSpPr>
        <p:spPr bwMode="auto">
          <a:xfrm rot="10800000" flipH="1">
            <a:off x="3248025" y="6167438"/>
            <a:ext cx="1201738" cy="481012"/>
          </a:xfrm>
          <a:prstGeom prst="curvedDownArrow">
            <a:avLst>
              <a:gd name="adj1" fmla="val 24995"/>
              <a:gd name="adj2" fmla="val 50002"/>
              <a:gd name="adj3" fmla="val 28505"/>
            </a:avLst>
          </a:prstGeom>
          <a:solidFill>
            <a:srgbClr val="FADA7A"/>
          </a:solidFill>
          <a:ln w="10000">
            <a:solidFill>
              <a:srgbClr val="FADA7A"/>
            </a:solidFill>
            <a:miter lim="800000"/>
            <a:headEnd/>
            <a:tailEnd/>
          </a:ln>
          <a:effectLst>
            <a:outerShdw blurRad="38100" dist="30000" dir="5400000" rotWithShape="0">
              <a:srgbClr val="808080">
                <a:alpha val="45000"/>
              </a:srgbClr>
            </a:outerShdw>
          </a:effectLst>
        </p:spPr>
        <p:txBody>
          <a:bodyPr anchor="ct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ctr" eaLnBrk="1" hangingPunct="1">
              <a:spcBef>
                <a:spcPct val="0"/>
              </a:spcBef>
              <a:buClrTx/>
              <a:buSzTx/>
              <a:buFontTx/>
              <a:buNone/>
              <a:defRPr/>
            </a:pPr>
            <a:endParaRPr lang="en-US" altLang="en-US" sz="1800">
              <a:solidFill>
                <a:schemeClr val="tx1"/>
              </a:solidFill>
            </a:endParaRPr>
          </a:p>
        </p:txBody>
      </p:sp>
    </p:spTree>
    <p:extLst>
      <p:ext uri="{BB962C8B-B14F-4D97-AF65-F5344CB8AC3E}">
        <p14:creationId xmlns:p14="http://schemas.microsoft.com/office/powerpoint/2010/main" val="305263010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childTnLst>
                                </p:cTn>
                              </p:par>
                            </p:childTnLst>
                          </p:cTn>
                        </p:par>
                        <p:par>
                          <p:cTn id="8" fill="hold" nodeType="afterGroup">
                            <p:stCondLst>
                              <p:cond delay="1000"/>
                            </p:stCondLst>
                            <p:childTnLst>
                              <p:par>
                                <p:cTn id="9" presetID="10"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000"/>
                                        <p:tgtEl>
                                          <p:spTgt spid="2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0" presetClass="entr" presetSubtype="0" fill="hold" nodeType="click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1000"/>
                                        <p:tgtEl>
                                          <p:spTgt spid="25"/>
                                        </p:tgtEl>
                                      </p:cBhvr>
                                    </p:animEffect>
                                  </p:childTnLst>
                                </p:cTn>
                              </p:par>
                            </p:childTnLst>
                          </p:cTn>
                        </p:par>
                        <p:par>
                          <p:cTn id="17" fill="hold" nodeType="afterGroup">
                            <p:stCondLst>
                              <p:cond delay="1000"/>
                            </p:stCondLst>
                            <p:childTnLst>
                              <p:par>
                                <p:cTn id="18" presetID="10" presetClass="entr" presetSubtype="0" fill="hold" grpId="0"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4" grpId="0">
        <p:bldAsOne/>
      </p:bldGraphic>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Conditional Distribution 1</a:t>
            </a:r>
            <a:endParaRPr lang="en-US" dirty="0"/>
          </a:p>
        </p:txBody>
      </p:sp>
      <p:sp>
        <p:nvSpPr>
          <p:cNvPr id="64514" name="Slide Number Placeholder 6"/>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46FB2E14-79C3-4CBA-8C5C-DE58F0B0F585}" type="slidenum">
              <a:rPr lang="en-US">
                <a:solidFill>
                  <a:schemeClr val="accent1"/>
                </a:solidFill>
              </a:rPr>
              <a:pPr/>
              <a:t>42</a:t>
            </a:fld>
            <a:endParaRPr lang="en-US">
              <a:solidFill>
                <a:schemeClr val="accent1"/>
              </a:solidFill>
            </a:endParaRPr>
          </a:p>
        </p:txBody>
      </p:sp>
      <p:sp>
        <p:nvSpPr>
          <p:cNvPr id="64515" name="Rectangle 3"/>
          <p:cNvSpPr>
            <a:spLocks noGrp="1" noChangeArrowheads="1"/>
          </p:cNvSpPr>
          <p:nvPr>
            <p:ph sz="quarter" idx="4294967295"/>
          </p:nvPr>
        </p:nvSpPr>
        <p:spPr>
          <a:xfrm>
            <a:off x="347418" y="1119664"/>
            <a:ext cx="7772400" cy="1166812"/>
          </a:xfrm>
        </p:spPr>
        <p:txBody>
          <a:bodyPr/>
          <a:lstStyle/>
          <a:p>
            <a:pPr marL="0" indent="0" algn="just" eaLnBrk="1" hangingPunct="1">
              <a:buFont typeface="Wingdings 2" pitchFamily="18" charset="2"/>
              <a:buNone/>
            </a:pPr>
            <a:r>
              <a:rPr lang="en-US" dirty="0">
                <a:solidFill>
                  <a:srgbClr val="000000"/>
                </a:solidFill>
                <a:ea typeface="ＭＳ Ｐゴシック" pitchFamily="34" charset="-128"/>
              </a:rPr>
              <a:t>Marginal distributions tell us nothing about the relationship between two variables. For that, we need to explore the conditional distributions of the variables.</a:t>
            </a:r>
          </a:p>
        </p:txBody>
      </p:sp>
      <p:sp>
        <p:nvSpPr>
          <p:cNvPr id="9" name="TextBox 8"/>
          <p:cNvSpPr txBox="1">
            <a:spLocks noChangeArrowheads="1"/>
          </p:cNvSpPr>
          <p:nvPr/>
        </p:nvSpPr>
        <p:spPr bwMode="auto">
          <a:xfrm>
            <a:off x="347418" y="2623439"/>
            <a:ext cx="7599606" cy="1015663"/>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spcBef>
                <a:spcPts val="1800"/>
              </a:spcBef>
              <a:buClr>
                <a:schemeClr val="accent1"/>
              </a:buClr>
              <a:buSzPct val="100000"/>
              <a:buFont typeface="Wingdings 2" pitchFamily="18" charset="2"/>
              <a:buChar char="¡"/>
              <a:defRPr sz="2000">
                <a:solidFill>
                  <a:schemeClr val="tx2"/>
                </a:solidFill>
                <a:latin typeface="Arial" pitchFamily="34" charset="0"/>
                <a:ea typeface="ＭＳ Ｐゴシック" pitchFamily="34" charset="-128"/>
              </a:defRPr>
            </a:lvl1pPr>
            <a:lvl2pPr marL="742950" indent="-28575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2pPr>
            <a:lvl3pPr marL="11430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3pPr>
            <a:lvl4pPr marL="1600200" indent="-228600">
              <a:spcBef>
                <a:spcPts val="600"/>
              </a:spcBef>
              <a:buClr>
                <a:srgbClr val="031B3C"/>
              </a:buClr>
              <a:buSzPct val="100000"/>
              <a:buFont typeface="Wingdings 2" pitchFamily="18" charset="2"/>
              <a:buChar char="¡"/>
              <a:defRPr>
                <a:solidFill>
                  <a:schemeClr val="tx2"/>
                </a:solidFill>
                <a:latin typeface="Arial" pitchFamily="34" charset="0"/>
                <a:ea typeface="ＭＳ Ｐゴシック" pitchFamily="34" charset="-128"/>
              </a:defRPr>
            </a:lvl4pPr>
            <a:lvl5pPr marL="2057400" indent="-228600">
              <a:spcBef>
                <a:spcPts val="600"/>
              </a:spcBef>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5pPr>
            <a:lvl6pPr marL="25146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6pPr>
            <a:lvl7pPr marL="29718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7pPr>
            <a:lvl8pPr marL="34290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8pPr>
            <a:lvl9pPr marL="3886200" indent="-228600" defTabSz="457200" eaLnBrk="0" fontAlgn="base" hangingPunct="0">
              <a:spcBef>
                <a:spcPts val="600"/>
              </a:spcBef>
              <a:spcAft>
                <a:spcPct val="0"/>
              </a:spcAft>
              <a:buClr>
                <a:schemeClr val="accent1"/>
              </a:buClr>
              <a:buSzPct val="100000"/>
              <a:buFont typeface="Wingdings 2" pitchFamily="18" charset="2"/>
              <a:buChar char="¡"/>
              <a:defRPr>
                <a:solidFill>
                  <a:schemeClr val="tx2"/>
                </a:solidFill>
                <a:latin typeface="Arial" pitchFamily="34" charset="0"/>
                <a:ea typeface="ＭＳ Ｐゴシック" pitchFamily="34" charset="-128"/>
              </a:defRPr>
            </a:lvl9pPr>
          </a:lstStyle>
          <a:p>
            <a:pPr algn="just" eaLnBrk="1" hangingPunct="1">
              <a:spcBef>
                <a:spcPct val="0"/>
              </a:spcBef>
              <a:buClrTx/>
              <a:buSzTx/>
              <a:buFontTx/>
              <a:buNone/>
              <a:defRPr/>
            </a:pPr>
            <a:r>
              <a:rPr lang="en-US" altLang="en-US" dirty="0">
                <a:solidFill>
                  <a:schemeClr val="tx1"/>
                </a:solidFill>
              </a:rPr>
              <a:t>A </a:t>
            </a:r>
            <a:r>
              <a:rPr lang="en-US" altLang="en-US" b="1" dirty="0">
                <a:solidFill>
                  <a:schemeClr val="tx1"/>
                </a:solidFill>
              </a:rPr>
              <a:t>conditional distribution </a:t>
            </a:r>
            <a:r>
              <a:rPr lang="en-US" altLang="en-US" dirty="0">
                <a:solidFill>
                  <a:schemeClr val="tx1"/>
                </a:solidFill>
              </a:rPr>
              <a:t>of a variable describes the values of that variable among individuals who have a specific value of another variable.</a:t>
            </a:r>
          </a:p>
        </p:txBody>
      </p:sp>
      <p:sp>
        <p:nvSpPr>
          <p:cNvPr id="10" name="TextBox 9"/>
          <p:cNvSpPr txBox="1">
            <a:spLocks noChangeArrowheads="1"/>
          </p:cNvSpPr>
          <p:nvPr/>
        </p:nvSpPr>
        <p:spPr bwMode="auto">
          <a:xfrm>
            <a:off x="347418" y="3960309"/>
            <a:ext cx="785812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ea typeface="ＭＳ Ｐゴシック" pitchFamily="34" charset="-128"/>
              </a:defRPr>
            </a:lvl1pPr>
            <a:lvl2pPr marL="627063" indent="-169863">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sz="2000" b="1" dirty="0"/>
              <a:t>To examine or compare conditional distributions:</a:t>
            </a:r>
          </a:p>
          <a:p>
            <a:pPr eaLnBrk="1" hangingPunct="1"/>
            <a:endParaRPr lang="en-US" sz="2000" b="1" dirty="0"/>
          </a:p>
          <a:p>
            <a:pPr eaLnBrk="1" hangingPunct="1">
              <a:buFont typeface="Tw Cen MT" charset="0"/>
              <a:buAutoNum type="arabicPeriod"/>
            </a:pPr>
            <a:r>
              <a:rPr lang="en-US" sz="2000" dirty="0"/>
              <a:t> Select the row(s) or column(s) of interest.</a:t>
            </a:r>
          </a:p>
          <a:p>
            <a:pPr eaLnBrk="1" hangingPunct="1">
              <a:buFont typeface="Tw Cen MT" charset="0"/>
              <a:buAutoNum type="arabicPeriod"/>
            </a:pPr>
            <a:r>
              <a:rPr lang="en-US" sz="2000" dirty="0"/>
              <a:t> Use the data in the table to calculate the conditional distribution 	(in percent) of the row(s) or column(s).</a:t>
            </a:r>
          </a:p>
          <a:p>
            <a:pPr eaLnBrk="1" hangingPunct="1">
              <a:buFont typeface="Tw Cen MT" charset="0"/>
              <a:buAutoNum type="arabicPeriod"/>
            </a:pPr>
            <a:r>
              <a:rPr lang="en-US" sz="2000" dirty="0"/>
              <a:t> Make a graph to display the conditional distribution.</a:t>
            </a:r>
          </a:p>
          <a:p>
            <a:pPr lvl="1" eaLnBrk="1" hangingPunct="1">
              <a:buClr>
                <a:schemeClr val="accent1"/>
              </a:buClr>
              <a:buFont typeface="Wingdings" pitchFamily="2" charset="2"/>
              <a:buChar char="§"/>
            </a:pPr>
            <a:r>
              <a:rPr lang="en-US" sz="2000" dirty="0"/>
              <a:t>Use a </a:t>
            </a:r>
            <a:r>
              <a:rPr lang="en-US" sz="2000" b="1" dirty="0"/>
              <a:t>side-by-side bar graph </a:t>
            </a:r>
            <a:r>
              <a:rPr lang="en-US" sz="2000" dirty="0"/>
              <a:t>or a </a:t>
            </a:r>
            <a:r>
              <a:rPr lang="en-US" sz="2000" b="1" dirty="0"/>
              <a:t>segmented bar graph</a:t>
            </a:r>
            <a:r>
              <a:rPr lang="en-US" sz="2000" dirty="0"/>
              <a:t> to compare distributions.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1"/>
                </a:solidFill>
              </a:rPr>
              <a:t>Conditional Distribution 2</a:t>
            </a:r>
            <a:endParaRPr lang="en-US" dirty="0"/>
          </a:p>
        </p:txBody>
      </p:sp>
      <p:sp>
        <p:nvSpPr>
          <p:cNvPr id="2" name="Rectangle 1"/>
          <p:cNvSpPr/>
          <p:nvPr/>
        </p:nvSpPr>
        <p:spPr>
          <a:xfrm>
            <a:off x="133350" y="1139804"/>
            <a:ext cx="4572000" cy="276999"/>
          </a:xfrm>
          <a:prstGeom prst="rect">
            <a:avLst/>
          </a:prstGeom>
        </p:spPr>
        <p:txBody>
          <a:bodyPr>
            <a:spAutoFit/>
          </a:bodyPr>
          <a:lstStyle/>
          <a:p>
            <a:pPr lvl="0" algn="ctr" defTabSz="914400" eaLnBrk="1" hangingPunct="1"/>
            <a:r>
              <a:rPr lang="en-US" sz="1200" dirty="0"/>
              <a:t>Young adults by gender and chance of getting rich</a:t>
            </a:r>
            <a:endParaRPr lang="en-US" sz="1200" dirty="0">
              <a:latin typeface="Arial" charset="0"/>
              <a:ea typeface="ＭＳ Ｐゴシック" charset="0"/>
              <a:cs typeface="ＭＳ Ｐゴシック" charset="0"/>
            </a:endParaRPr>
          </a:p>
        </p:txBody>
      </p:sp>
      <p:sp>
        <p:nvSpPr>
          <p:cNvPr id="65538" name="Slide Number Placeholder 4"/>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F2189DF3-3B38-4415-A977-4C40DE294E7B}" type="slidenum">
              <a:rPr lang="en-US" sz="1200">
                <a:solidFill>
                  <a:schemeClr val="accent1"/>
                </a:solidFill>
              </a:rPr>
              <a:pPr>
                <a:lnSpc>
                  <a:spcPct val="80000"/>
                </a:lnSpc>
              </a:pPr>
              <a:t>43</a:t>
            </a:fld>
            <a:endParaRPr lang="en-US" sz="1200">
              <a:solidFill>
                <a:schemeClr val="accent1"/>
              </a:solidFill>
            </a:endParaRPr>
          </a:p>
        </p:txBody>
      </p:sp>
      <p:graphicFrame>
        <p:nvGraphicFramePr>
          <p:cNvPr id="7" name="Table 6" descr="Young adults by gender and chance of getting rich"/>
          <p:cNvGraphicFramePr>
            <a:graphicFrameLocks noGrp="1"/>
          </p:cNvGraphicFramePr>
          <p:nvPr>
            <p:extLst>
              <p:ext uri="{D42A27DB-BD31-4B8C-83A1-F6EECF244321}">
                <p14:modId xmlns:p14="http://schemas.microsoft.com/office/powerpoint/2010/main" val="1762916098"/>
              </p:ext>
            </p:extLst>
          </p:nvPr>
        </p:nvGraphicFramePr>
        <p:xfrm>
          <a:off x="307975" y="1370571"/>
          <a:ext cx="4397375" cy="2017398"/>
        </p:xfrm>
        <a:graphic>
          <a:graphicData uri="http://schemas.openxmlformats.org/drawingml/2006/table">
            <a:tbl>
              <a:tblPr firstRow="1">
                <a:tableStyleId>{69C7853C-536D-4A76-A0AE-DD22124D55A5}</a:tableStyleId>
              </a:tblPr>
              <a:tblGrid>
                <a:gridCol w="2367744">
                  <a:extLst>
                    <a:ext uri="{9D8B030D-6E8A-4147-A177-3AD203B41FA5}">
                      <a16:colId xmlns:a16="http://schemas.microsoft.com/office/drawing/2014/main" xmlns="" val="20000"/>
                    </a:ext>
                  </a:extLst>
                </a:gridCol>
                <a:gridCol w="741362">
                  <a:extLst>
                    <a:ext uri="{9D8B030D-6E8A-4147-A177-3AD203B41FA5}">
                      <a16:colId xmlns:a16="http://schemas.microsoft.com/office/drawing/2014/main" xmlns="" val="20001"/>
                    </a:ext>
                  </a:extLst>
                </a:gridCol>
                <a:gridCol w="717055">
                  <a:extLst>
                    <a:ext uri="{9D8B030D-6E8A-4147-A177-3AD203B41FA5}">
                      <a16:colId xmlns:a16="http://schemas.microsoft.com/office/drawing/2014/main" xmlns="" val="20002"/>
                    </a:ext>
                  </a:extLst>
                </a:gridCol>
                <a:gridCol w="571214">
                  <a:extLst>
                    <a:ext uri="{9D8B030D-6E8A-4147-A177-3AD203B41FA5}">
                      <a16:colId xmlns:a16="http://schemas.microsoft.com/office/drawing/2014/main" xmlns="" val="20003"/>
                    </a:ext>
                  </a:extLst>
                </a:gridCol>
              </a:tblGrid>
              <a:tr h="15738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Female</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Male</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Total</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0"/>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Almost no chance</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96</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98</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194</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1"/>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Some chance, but probably not</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426</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286</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712</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2"/>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A 50–50 chance</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696</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720</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1416</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3"/>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A good chance</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663</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758</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1421</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4"/>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Almost certain</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486</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597</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1083</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5"/>
                  </a:ext>
                </a:extLst>
              </a:tr>
              <a:tr h="2905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Total</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2367</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2459</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solidFill>
                            <a:srgbClr val="7A0000"/>
                          </a:solidFill>
                          <a:effectLst/>
                        </a:rPr>
                        <a:t>4826</a:t>
                      </a:r>
                      <a:endParaRPr kumimoji="0" lang="en-US" sz="1200" b="0" i="0" u="none" strike="noStrike" cap="none" normalizeH="0" baseline="0" dirty="0">
                        <a:ln>
                          <a:noFill/>
                        </a:ln>
                        <a:solidFill>
                          <a:srgbClr val="7A0000"/>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6"/>
                  </a:ext>
                </a:extLst>
              </a:tr>
            </a:tbl>
          </a:graphicData>
        </a:graphic>
      </p:graphicFrame>
      <p:sp>
        <p:nvSpPr>
          <p:cNvPr id="65541" name="TextBox 7"/>
          <p:cNvSpPr txBox="1">
            <a:spLocks noChangeArrowheads="1"/>
          </p:cNvSpPr>
          <p:nvPr/>
        </p:nvSpPr>
        <p:spPr bwMode="auto">
          <a:xfrm>
            <a:off x="4705350" y="1278304"/>
            <a:ext cx="441325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r>
              <a:rPr lang="en-US" dirty="0"/>
              <a:t>Calculate the conditional distribution of opinion among males.</a:t>
            </a:r>
          </a:p>
          <a:p>
            <a:pPr eaLnBrk="1" hangingPunct="1"/>
            <a:endParaRPr lang="en-US" dirty="0"/>
          </a:p>
          <a:p>
            <a:pPr eaLnBrk="1" hangingPunct="1"/>
            <a:r>
              <a:rPr lang="en-US" dirty="0"/>
              <a:t>Examine the relationship between gender and opinion.</a:t>
            </a:r>
          </a:p>
          <a:p>
            <a:pPr eaLnBrk="1" hangingPunct="1"/>
            <a:endParaRPr lang="en-US" dirty="0"/>
          </a:p>
        </p:txBody>
      </p:sp>
      <p:graphicFrame>
        <p:nvGraphicFramePr>
          <p:cNvPr id="9" name="Table 8" descr="Young adults by gender and chance of getting rich"/>
          <p:cNvGraphicFramePr>
            <a:graphicFrameLocks noGrp="1"/>
          </p:cNvGraphicFramePr>
          <p:nvPr>
            <p:extLst>
              <p:ext uri="{D42A27DB-BD31-4B8C-83A1-F6EECF244321}">
                <p14:modId xmlns:p14="http://schemas.microsoft.com/office/powerpoint/2010/main" val="3909296066"/>
              </p:ext>
            </p:extLst>
          </p:nvPr>
        </p:nvGraphicFramePr>
        <p:xfrm>
          <a:off x="174625" y="3643086"/>
          <a:ext cx="2516188" cy="3185192"/>
        </p:xfrm>
        <a:graphic>
          <a:graphicData uri="http://schemas.openxmlformats.org/drawingml/2006/table">
            <a:tbl>
              <a:tblPr firstRow="1">
                <a:tableStyleId>{284E427A-3D55-4303-BF80-6455036E1DE7}</a:tableStyleId>
              </a:tblPr>
              <a:tblGrid>
                <a:gridCol w="1420813">
                  <a:extLst>
                    <a:ext uri="{9D8B030D-6E8A-4147-A177-3AD203B41FA5}">
                      <a16:colId xmlns:a16="http://schemas.microsoft.com/office/drawing/2014/main" xmlns="" val="20000"/>
                    </a:ext>
                  </a:extLst>
                </a:gridCol>
                <a:gridCol w="1095375">
                  <a:extLst>
                    <a:ext uri="{9D8B030D-6E8A-4147-A177-3AD203B41FA5}">
                      <a16:colId xmlns:a16="http://schemas.microsoft.com/office/drawing/2014/main" xmlns="" val="20001"/>
                    </a:ext>
                  </a:extLst>
                </a:gridCol>
              </a:tblGrid>
              <a:tr h="59439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solidFill>
                            <a:schemeClr val="tx1"/>
                          </a:solidFill>
                          <a:effectLst/>
                        </a:rPr>
                        <a:t>Response</a:t>
                      </a:r>
                      <a:endParaRPr kumimoji="0" lang="en-US" sz="14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solidFill>
                            <a:schemeClr val="tx1"/>
                          </a:solidFill>
                          <a:effectLst/>
                        </a:rPr>
                        <a:t>Male</a:t>
                      </a:r>
                      <a:endParaRPr kumimoji="0" lang="en-US" sz="14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0"/>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Almost no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98/2459 = 4.0% </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1"/>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Some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286/2459 = 11.6%</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2"/>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 50–50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720/2459 = 29.3%</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3"/>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 good chance</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758/2459 = 30.8%</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4"/>
                  </a:ext>
                </a:extLst>
              </a:tr>
              <a:tr h="51816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u="none" strike="noStrike" cap="none" normalizeH="0" baseline="0" dirty="0">
                          <a:ln>
                            <a:noFill/>
                          </a:ln>
                          <a:effectLst/>
                        </a:rPr>
                        <a:t>Almost certain</a:t>
                      </a:r>
                      <a:endParaRPr kumimoji="0" lang="en-US" sz="12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597/2459 = 24.3%</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5"/>
                  </a:ext>
                </a:extLst>
              </a:tr>
            </a:tbl>
          </a:graphicData>
        </a:graphic>
      </p:graphicFrame>
      <p:graphicFrame>
        <p:nvGraphicFramePr>
          <p:cNvPr id="14" name="Table 13" descr="Young adults by gender and chance of getting rich"/>
          <p:cNvGraphicFramePr>
            <a:graphicFrameLocks noGrp="1"/>
          </p:cNvGraphicFramePr>
          <p:nvPr>
            <p:extLst>
              <p:ext uri="{D42A27DB-BD31-4B8C-83A1-F6EECF244321}">
                <p14:modId xmlns:p14="http://schemas.microsoft.com/office/powerpoint/2010/main" val="2323120634"/>
              </p:ext>
            </p:extLst>
          </p:nvPr>
        </p:nvGraphicFramePr>
        <p:xfrm>
          <a:off x="2690813" y="3650343"/>
          <a:ext cx="1130300" cy="3183015"/>
        </p:xfrm>
        <a:graphic>
          <a:graphicData uri="http://schemas.openxmlformats.org/drawingml/2006/table">
            <a:tbl>
              <a:tblPr firstRow="1">
                <a:tableStyleId>{284E427A-3D55-4303-BF80-6455036E1DE7}</a:tableStyleId>
              </a:tblPr>
              <a:tblGrid>
                <a:gridCol w="1130300">
                  <a:extLst>
                    <a:ext uri="{9D8B030D-6E8A-4147-A177-3AD203B41FA5}">
                      <a16:colId xmlns:a16="http://schemas.microsoft.com/office/drawing/2014/main" xmlns="" val="20000"/>
                    </a:ext>
                  </a:extLst>
                </a:gridCol>
              </a:tblGrid>
              <a:tr h="58713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solidFill>
                            <a:schemeClr val="tx1"/>
                          </a:solidFill>
                          <a:effectLst/>
                        </a:rPr>
                        <a:t>Female</a:t>
                      </a:r>
                      <a:endParaRPr kumimoji="0" lang="en-US" sz="1400" b="1"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0"/>
                  </a:ext>
                </a:extLst>
              </a:tr>
              <a:tr h="5181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96/2367 = 4.1%</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1"/>
                  </a:ext>
                </a:extLst>
              </a:tr>
              <a:tr h="5181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426/2367 = 18.0%</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2"/>
                  </a:ext>
                </a:extLst>
              </a:tr>
              <a:tr h="5181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696/2367 = 29.4%</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3"/>
                  </a:ext>
                </a:extLst>
              </a:tr>
              <a:tr h="520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663/2367 = 28.0%</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4"/>
                  </a:ext>
                </a:extLst>
              </a:tr>
              <a:tr h="5207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u="none" strike="noStrike" cap="none" normalizeH="0" baseline="0" dirty="0">
                          <a:ln>
                            <a:noFill/>
                          </a:ln>
                          <a:effectLst/>
                        </a:rPr>
                        <a:t>486/2367 = 20.5%</a:t>
                      </a:r>
                      <a:endParaRPr kumimoji="0" lang="en-US" sz="1400" b="0" i="0" u="none" strike="noStrike" cap="none" normalizeH="0" baseline="0" dirty="0">
                        <a:ln>
                          <a:noFill/>
                        </a:ln>
                        <a:solidFill>
                          <a:schemeClr val="tx1"/>
                        </a:solidFill>
                        <a:effectLst/>
                        <a:latin typeface="Arial" charset="0"/>
                        <a:ea typeface="ＭＳ Ｐゴシック" charset="0"/>
                        <a:cs typeface="ＭＳ Ｐゴシック" charset="0"/>
                      </a:endParaRPr>
                    </a:p>
                  </a:txBody>
                  <a:tcPr horzOverflow="overflow"/>
                </a:tc>
                <a:extLst>
                  <a:ext uri="{0D108BD9-81ED-4DB2-BD59-A6C34878D82A}">
                    <a16:rowId xmlns:a16="http://schemas.microsoft.com/office/drawing/2014/main" xmlns="" val="10005"/>
                  </a:ext>
                </a:extLst>
              </a:tr>
            </a:tbl>
          </a:graphicData>
        </a:graphic>
      </p:graphicFrame>
      <p:grpSp>
        <p:nvGrpSpPr>
          <p:cNvPr id="4" name="Group 3" descr="A segmented bar graph of the chance of getting rich by age 30.">
            <a:extLst>
              <a:ext uri="{FF2B5EF4-FFF2-40B4-BE49-F238E27FC236}">
                <a16:creationId xmlns:a16="http://schemas.microsoft.com/office/drawing/2014/main" xmlns="" id="{E5F254E1-E8F9-44E1-85AA-FDD708D30F65}"/>
              </a:ext>
            </a:extLst>
          </p:cNvPr>
          <p:cNvGrpSpPr/>
          <p:nvPr/>
        </p:nvGrpSpPr>
        <p:grpSpPr>
          <a:xfrm>
            <a:off x="2598016" y="3444998"/>
            <a:ext cx="6521536" cy="3383280"/>
            <a:chOff x="2598016" y="3444998"/>
            <a:chExt cx="6521536" cy="3383280"/>
          </a:xfrm>
        </p:grpSpPr>
        <p:graphicFrame>
          <p:nvGraphicFramePr>
            <p:cNvPr id="18" name="Chart 17" descr="A segmented bar graph of the chance of getting rich by age 30.">
              <a:extLst>
                <a:ext uri="{FF2B5EF4-FFF2-40B4-BE49-F238E27FC236}">
                  <a16:creationId xmlns:a16="http://schemas.microsoft.com/office/drawing/2014/main" xmlns="" id="{F6C5ECD3-3D6F-4A5D-A8C5-A25A11DEE403}"/>
                </a:ext>
              </a:extLst>
            </p:cNvPr>
            <p:cNvGraphicFramePr>
              <a:graphicFrameLocks/>
            </p:cNvGraphicFramePr>
            <p:nvPr>
              <p:extLst>
                <p:ext uri="{D42A27DB-BD31-4B8C-83A1-F6EECF244321}">
                  <p14:modId xmlns:p14="http://schemas.microsoft.com/office/powerpoint/2010/main" val="4032618934"/>
                </p:ext>
              </p:extLst>
            </p:nvPr>
          </p:nvGraphicFramePr>
          <p:xfrm>
            <a:off x="4180840" y="3444998"/>
            <a:ext cx="4938712"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7" name="Curved Down Arrow 16"/>
            <p:cNvSpPr/>
            <p:nvPr/>
          </p:nvSpPr>
          <p:spPr>
            <a:xfrm rot="10800000" flipH="1">
              <a:off x="2598016" y="6115792"/>
              <a:ext cx="2233543" cy="605683"/>
            </a:xfrm>
            <a:prstGeom prst="curvedDownArrow">
              <a:avLst>
                <a:gd name="adj1" fmla="val 25000"/>
                <a:gd name="adj2" fmla="val 50000"/>
                <a:gd name="adj3" fmla="val 28504"/>
              </a:avLst>
            </a:prstGeom>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US" dirty="0">
                <a:solidFill>
                  <a:schemeClr val="tx1"/>
                </a:solidFill>
              </a:endParaRPr>
            </a:p>
          </p:txBody>
        </p:sp>
      </p:grpSp>
      <p:sp>
        <p:nvSpPr>
          <p:cNvPr id="13" name="Curved Down Arrow 12" descr="An arrow points from the first table to the next table."/>
          <p:cNvSpPr/>
          <p:nvPr/>
        </p:nvSpPr>
        <p:spPr>
          <a:xfrm rot="18246188" flipH="1">
            <a:off x="400470" y="1847637"/>
            <a:ext cx="3277652" cy="1105966"/>
          </a:xfrm>
          <a:prstGeom prst="curvedDownArrow">
            <a:avLst>
              <a:gd name="adj1" fmla="val 25000"/>
              <a:gd name="adj2" fmla="val 50000"/>
              <a:gd name="adj3" fmla="val 28504"/>
            </a:avLst>
          </a:prstGeom>
        </p:spPr>
        <p:style>
          <a:lnRef idx="0">
            <a:schemeClr val="accent5"/>
          </a:lnRef>
          <a:fillRef idx="3">
            <a:schemeClr val="accent5"/>
          </a:fillRef>
          <a:effectRef idx="3">
            <a:schemeClr val="accent5"/>
          </a:effectRef>
          <a:fontRef idx="minor">
            <a:schemeClr val="lt1"/>
          </a:fontRef>
        </p:style>
        <p:txBody>
          <a:bodyPr anchor="ctr"/>
          <a:lstStyle/>
          <a:p>
            <a:pPr algn="ctr" eaLnBrk="1" fontAlgn="auto" hangingPunct="1">
              <a:spcBef>
                <a:spcPts val="0"/>
              </a:spcBef>
              <a:spcAft>
                <a:spcPts val="0"/>
              </a:spcAft>
              <a:defRPr/>
            </a:pPr>
            <a:endParaRPr lang="en-US" dirty="0">
              <a:solidFill>
                <a:schemeClr val="tx1"/>
              </a:solidFill>
            </a:endParaRPr>
          </a:p>
        </p:txBody>
      </p:sp>
    </p:spTree>
    <p:extLst>
      <p:ext uri="{BB962C8B-B14F-4D97-AF65-F5344CB8AC3E}">
        <p14:creationId xmlns:p14="http://schemas.microsoft.com/office/powerpoint/2010/main" val="3559278033"/>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000"/>
                                        <p:tgtEl>
                                          <p:spTgt spid="1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Simpson</a:t>
            </a:r>
            <a:r>
              <a:rPr lang="en-US" altLang="en-US" dirty="0">
                <a:solidFill>
                  <a:schemeClr val="accent1"/>
                </a:solidFill>
              </a:rPr>
              <a:t>’</a:t>
            </a:r>
            <a:r>
              <a:rPr lang="en-US" dirty="0">
                <a:solidFill>
                  <a:schemeClr val="accent1"/>
                </a:solidFill>
              </a:rPr>
              <a:t>s Paradox 1</a:t>
            </a:r>
            <a:endParaRPr lang="en-US" dirty="0"/>
          </a:p>
        </p:txBody>
      </p:sp>
      <p:sp>
        <p:nvSpPr>
          <p:cNvPr id="66562"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6943D192-9BEA-422F-A0E8-E3D406B494AC}" type="slidenum">
              <a:rPr lang="en-US" sz="1200">
                <a:solidFill>
                  <a:schemeClr val="accent1"/>
                </a:solidFill>
              </a:rPr>
              <a:pPr>
                <a:lnSpc>
                  <a:spcPct val="80000"/>
                </a:lnSpc>
              </a:pPr>
              <a:t>44</a:t>
            </a:fld>
            <a:endParaRPr lang="en-US" sz="1200">
              <a:solidFill>
                <a:schemeClr val="accent1"/>
              </a:solidFill>
            </a:endParaRPr>
          </a:p>
        </p:txBody>
      </p:sp>
      <p:sp>
        <p:nvSpPr>
          <p:cNvPr id="66563" name="Rectangle 3"/>
          <p:cNvSpPr txBox="1">
            <a:spLocks noChangeArrowheads="1"/>
          </p:cNvSpPr>
          <p:nvPr/>
        </p:nvSpPr>
        <p:spPr bwMode="auto">
          <a:xfrm>
            <a:off x="174625" y="1129812"/>
            <a:ext cx="8081964" cy="243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eaLnBrk="1" hangingPunct="1">
              <a:spcBef>
                <a:spcPct val="40000"/>
              </a:spcBef>
              <a:buClr>
                <a:schemeClr val="accent1"/>
              </a:buClr>
              <a:buSzPct val="60000"/>
            </a:pPr>
            <a:r>
              <a:rPr lang="en-US" sz="2000" dirty="0">
                <a:solidFill>
                  <a:srgbClr val="000000"/>
                </a:solidFill>
              </a:rPr>
              <a:t>When studying the relationship between two variables, remember that there may exist </a:t>
            </a:r>
            <a:r>
              <a:rPr lang="en-US" sz="2000" dirty="0"/>
              <a:t>a </a:t>
            </a:r>
            <a:r>
              <a:rPr lang="en-US" sz="2000" b="1" dirty="0"/>
              <a:t>lurking variable </a:t>
            </a:r>
            <a:r>
              <a:rPr lang="en-US" sz="2000" dirty="0">
                <a:solidFill>
                  <a:srgbClr val="000000"/>
                </a:solidFill>
              </a:rPr>
              <a:t>that creates a reversal in the direction of the relationship when the lurking variable is ignored, as opposed to the direction of the relationship when the lurking variable is considered.</a:t>
            </a:r>
          </a:p>
          <a:p>
            <a:pPr algn="just" eaLnBrk="1" hangingPunct="1">
              <a:spcBef>
                <a:spcPct val="40000"/>
              </a:spcBef>
              <a:buClr>
                <a:schemeClr val="accent1"/>
              </a:buClr>
              <a:buSzPct val="60000"/>
            </a:pPr>
            <a:r>
              <a:rPr lang="en-US" sz="2000" dirty="0">
                <a:solidFill>
                  <a:srgbClr val="000000"/>
                </a:solidFill>
              </a:rPr>
              <a:t>The lurking variable creates subgroups, and failure to take these subgroups into consideration can lead to misleading conclusions about the association between the two variables.</a:t>
            </a:r>
          </a:p>
        </p:txBody>
      </p:sp>
      <p:sp>
        <p:nvSpPr>
          <p:cNvPr id="6" name="TextBox 5"/>
          <p:cNvSpPr txBox="1">
            <a:spLocks noChangeArrowheads="1"/>
          </p:cNvSpPr>
          <p:nvPr/>
        </p:nvSpPr>
        <p:spPr bwMode="auto">
          <a:xfrm>
            <a:off x="311272" y="3969679"/>
            <a:ext cx="8081965" cy="1107996"/>
          </a:xfrm>
          <a:prstGeom prst="rect">
            <a:avLst/>
          </a:prstGeom>
          <a:solidFill>
            <a:srgbClr val="FFD780"/>
          </a:solidFill>
          <a:ln w="10000">
            <a:solidFill>
              <a:srgbClr val="D2DA7A"/>
            </a:solidFill>
            <a:miter lim="800000"/>
            <a:headEnd/>
            <a:tailEnd/>
          </a:ln>
          <a:effectLst>
            <a:outerShdw blurRad="38100" dist="30000" dir="5400000" rotWithShape="0">
              <a:srgbClr val="808080">
                <a:alpha val="45000"/>
              </a:srgbClr>
            </a:outerShdw>
          </a:effectLst>
        </p:spPr>
        <p:txBody>
          <a:bodyPr wrap="square">
            <a:spAutoFit/>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pPr eaLnBrk="1" hangingPunct="1">
              <a:defRPr/>
            </a:pPr>
            <a:endParaRPr lang="en-US" sz="600" b="1" u="sng" dirty="0">
              <a:solidFill>
                <a:srgbClr val="800000"/>
              </a:solidFill>
            </a:endParaRPr>
          </a:p>
          <a:p>
            <a:pPr eaLnBrk="1" hangingPunct="1">
              <a:defRPr/>
            </a:pPr>
            <a:r>
              <a:rPr lang="en-US" sz="2000" dirty="0"/>
              <a:t>An association or comparison that holds for all of several groups can reverse direction when the data are combined to form a single group! This reversal is called </a:t>
            </a:r>
            <a:r>
              <a:rPr lang="en-US" sz="2000" b="1" dirty="0"/>
              <a:t>Simpson</a:t>
            </a:r>
            <a:r>
              <a:rPr lang="en-US" altLang="en-US" sz="2000" b="1" dirty="0"/>
              <a:t>’</a:t>
            </a:r>
            <a:r>
              <a:rPr lang="en-US" sz="2000" b="1" dirty="0"/>
              <a:t>s paradox.</a:t>
            </a: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Simpson</a:t>
            </a:r>
            <a:r>
              <a:rPr lang="en-US" altLang="en-US" dirty="0">
                <a:solidFill>
                  <a:schemeClr val="accent1"/>
                </a:solidFill>
              </a:rPr>
              <a:t>’</a:t>
            </a:r>
            <a:r>
              <a:rPr lang="en-US" dirty="0">
                <a:solidFill>
                  <a:schemeClr val="accent1"/>
                </a:solidFill>
              </a:rPr>
              <a:t>s Paradox 2</a:t>
            </a:r>
            <a:endParaRPr lang="en-US" dirty="0"/>
          </a:p>
        </p:txBody>
      </p:sp>
      <p:sp>
        <p:nvSpPr>
          <p:cNvPr id="67586"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093D3445-DA60-4EF1-9E7E-ED188AA6784D}" type="slidenum">
              <a:rPr lang="en-US" sz="1200">
                <a:solidFill>
                  <a:schemeClr val="accent1"/>
                </a:solidFill>
              </a:rPr>
              <a:pPr>
                <a:lnSpc>
                  <a:spcPct val="80000"/>
                </a:lnSpc>
              </a:pPr>
              <a:t>45</a:t>
            </a:fld>
            <a:endParaRPr lang="en-US" sz="1200">
              <a:solidFill>
                <a:schemeClr val="accent1"/>
              </a:solidFill>
            </a:endParaRPr>
          </a:p>
        </p:txBody>
      </p:sp>
      <p:sp>
        <p:nvSpPr>
          <p:cNvPr id="67587" name="Rectangle 1"/>
          <p:cNvSpPr>
            <a:spLocks noChangeArrowheads="1"/>
          </p:cNvSpPr>
          <p:nvPr/>
        </p:nvSpPr>
        <p:spPr bwMode="auto">
          <a:xfrm>
            <a:off x="229285" y="1268177"/>
            <a:ext cx="7772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1" hangingPunct="1">
              <a:buFont typeface="Monotype Sorts" charset="2"/>
              <a:buNone/>
            </a:pPr>
            <a:r>
              <a:rPr lang="en-US" sz="2000" dirty="0"/>
              <a:t>Consider the acceptance rates for the following groups of men and women who applied to college.</a:t>
            </a:r>
          </a:p>
        </p:txBody>
      </p:sp>
      <p:graphicFrame>
        <p:nvGraphicFramePr>
          <p:cNvPr id="6" name="Group 113" descr="Counts, Accepted, Not accepted, Total"/>
          <p:cNvGraphicFramePr>
            <a:graphicFrameLocks noGrp="1"/>
          </p:cNvGraphicFramePr>
          <p:nvPr>
            <p:extLst>
              <p:ext uri="{D42A27DB-BD31-4B8C-83A1-F6EECF244321}">
                <p14:modId xmlns:p14="http://schemas.microsoft.com/office/powerpoint/2010/main" val="3045045920"/>
              </p:ext>
            </p:extLst>
          </p:nvPr>
        </p:nvGraphicFramePr>
        <p:xfrm>
          <a:off x="381000" y="2589021"/>
          <a:ext cx="4191000" cy="2514600"/>
        </p:xfrm>
        <a:graphic>
          <a:graphicData uri="http://schemas.openxmlformats.org/drawingml/2006/table">
            <a:tbl>
              <a:tblPr firstRow="1">
                <a:tableStyleId>{284E427A-3D55-4303-BF80-6455036E1DE7}</a:tableStyleId>
              </a:tblPr>
              <a:tblGrid>
                <a:gridCol w="1028700">
                  <a:extLst>
                    <a:ext uri="{9D8B030D-6E8A-4147-A177-3AD203B41FA5}">
                      <a16:colId xmlns:a16="http://schemas.microsoft.com/office/drawing/2014/main" xmlns="" val="20000"/>
                    </a:ext>
                  </a:extLst>
                </a:gridCol>
                <a:gridCol w="1181100">
                  <a:extLst>
                    <a:ext uri="{9D8B030D-6E8A-4147-A177-3AD203B41FA5}">
                      <a16:colId xmlns:a16="http://schemas.microsoft.com/office/drawing/2014/main" xmlns="" val="20001"/>
                    </a:ext>
                  </a:extLst>
                </a:gridCol>
                <a:gridCol w="1181100">
                  <a:extLst>
                    <a:ext uri="{9D8B030D-6E8A-4147-A177-3AD203B41FA5}">
                      <a16:colId xmlns:a16="http://schemas.microsoft.com/office/drawing/2014/main" xmlns="" val="20002"/>
                    </a:ext>
                  </a:extLst>
                </a:gridCol>
                <a:gridCol w="800100">
                  <a:extLst>
                    <a:ext uri="{9D8B030D-6E8A-4147-A177-3AD203B41FA5}">
                      <a16:colId xmlns:a16="http://schemas.microsoft.com/office/drawing/2014/main" xmlns="" val="20003"/>
                    </a:ext>
                  </a:extLst>
                </a:gridCol>
              </a:tblGrid>
              <a:tr h="762000">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solidFill>
                            <a:schemeClr val="tx1"/>
                          </a:solidFill>
                          <a:effectLst/>
                        </a:rPr>
                        <a:t>Counts</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solidFill>
                            <a:schemeClr val="tx1"/>
                          </a:solidFill>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solidFill>
                            <a:schemeClr val="tx1"/>
                          </a:solidFill>
                          <a:effectLst/>
                        </a:rPr>
                        <a:t>Not</a:t>
                      </a:r>
                      <a:br>
                        <a:rPr kumimoji="0" lang="en-US" sz="1800" b="0" u="none" strike="noStrike" cap="none" normalizeH="0" baseline="0" dirty="0">
                          <a:ln>
                            <a:noFill/>
                          </a:ln>
                          <a:solidFill>
                            <a:schemeClr val="tx1"/>
                          </a:solidFill>
                          <a:effectLst/>
                        </a:rPr>
                      </a:br>
                      <a:r>
                        <a:rPr kumimoji="0" lang="en-US" sz="1800" b="0" u="none" strike="noStrike" cap="none" normalizeH="0" baseline="0" dirty="0">
                          <a:ln>
                            <a:noFill/>
                          </a:ln>
                          <a:solidFill>
                            <a:schemeClr val="tx1"/>
                          </a:solidFill>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solidFill>
                            <a:schemeClr val="tx1"/>
                          </a:solidFill>
                          <a:effectLst/>
                        </a:rPr>
                        <a:t>Total</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0"/>
                  </a:ext>
                </a:extLst>
              </a:tr>
              <a:tr h="584200">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Men</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198</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162</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360</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1"/>
                  </a:ext>
                </a:extLst>
              </a:tr>
              <a:tr h="584200">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Women</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88</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112</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200</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2"/>
                  </a:ext>
                </a:extLst>
              </a:tr>
              <a:tr h="584200">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Total</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286</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274</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560</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3"/>
                  </a:ext>
                </a:extLst>
              </a:tr>
            </a:tbl>
          </a:graphicData>
        </a:graphic>
      </p:graphicFrame>
      <p:graphicFrame>
        <p:nvGraphicFramePr>
          <p:cNvPr id="8" name="Group 154" descr="Percents, Accepted, Not accepted"/>
          <p:cNvGraphicFramePr>
            <a:graphicFrameLocks noGrp="1"/>
          </p:cNvGraphicFramePr>
          <p:nvPr>
            <p:extLst>
              <p:ext uri="{D42A27DB-BD31-4B8C-83A1-F6EECF244321}">
                <p14:modId xmlns:p14="http://schemas.microsoft.com/office/powerpoint/2010/main" val="1991198220"/>
              </p:ext>
            </p:extLst>
          </p:nvPr>
        </p:nvGraphicFramePr>
        <p:xfrm>
          <a:off x="5144185" y="2883223"/>
          <a:ext cx="3314700" cy="1930400"/>
        </p:xfrm>
        <a:graphic>
          <a:graphicData uri="http://schemas.openxmlformats.org/drawingml/2006/table">
            <a:tbl>
              <a:tblPr firstRow="1">
                <a:tableStyleId>{69C7853C-536D-4A76-A0AE-DD22124D55A5}</a:tableStyleId>
              </a:tblPr>
              <a:tblGrid>
                <a:gridCol w="952500">
                  <a:extLst>
                    <a:ext uri="{9D8B030D-6E8A-4147-A177-3AD203B41FA5}">
                      <a16:colId xmlns:a16="http://schemas.microsoft.com/office/drawing/2014/main" xmlns="" val="20000"/>
                    </a:ext>
                  </a:extLst>
                </a:gridCol>
                <a:gridCol w="1181100">
                  <a:extLst>
                    <a:ext uri="{9D8B030D-6E8A-4147-A177-3AD203B41FA5}">
                      <a16:colId xmlns:a16="http://schemas.microsoft.com/office/drawing/2014/main" xmlns="" val="20001"/>
                    </a:ext>
                  </a:extLst>
                </a:gridCol>
                <a:gridCol w="1181100">
                  <a:extLst>
                    <a:ext uri="{9D8B030D-6E8A-4147-A177-3AD203B41FA5}">
                      <a16:colId xmlns:a16="http://schemas.microsoft.com/office/drawing/2014/main" xmlns="" val="20002"/>
                    </a:ext>
                  </a:extLst>
                </a:gridCol>
              </a:tblGrid>
              <a:tr h="762000">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solidFill>
                            <a:schemeClr val="tx1"/>
                          </a:solidFill>
                          <a:effectLst/>
                        </a:rPr>
                        <a:t>Percents</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solidFill>
                            <a:schemeClr val="tx1"/>
                          </a:solidFill>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solidFill>
                            <a:schemeClr val="tx1"/>
                          </a:solidFill>
                          <a:effectLst/>
                        </a:rPr>
                        <a:t>Not</a:t>
                      </a:r>
                      <a:br>
                        <a:rPr kumimoji="0" lang="en-US" sz="1800" b="0" u="none" strike="noStrike" cap="none" normalizeH="0" baseline="0" dirty="0">
                          <a:ln>
                            <a:noFill/>
                          </a:ln>
                          <a:solidFill>
                            <a:schemeClr val="tx1"/>
                          </a:solidFill>
                          <a:effectLst/>
                        </a:rPr>
                      </a:br>
                      <a:r>
                        <a:rPr kumimoji="0" lang="en-US" sz="1800" b="0" u="none" strike="noStrike" cap="none" normalizeH="0" baseline="0" dirty="0">
                          <a:ln>
                            <a:noFill/>
                          </a:ln>
                          <a:solidFill>
                            <a:schemeClr val="tx1"/>
                          </a:solidFill>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0"/>
                  </a:ext>
                </a:extLst>
              </a:tr>
              <a:tr h="584200">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1" u="none" strike="noStrike" cap="none" normalizeH="0" baseline="0" dirty="0">
                          <a:ln>
                            <a:noFill/>
                          </a:ln>
                          <a:effectLst/>
                        </a:rPr>
                        <a:t>Men</a:t>
                      </a:r>
                      <a:endParaRPr kumimoji="0" lang="en-US" sz="1800" b="1"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1" u="none" strike="noStrike" cap="none" normalizeH="0" baseline="0" dirty="0">
                          <a:ln>
                            <a:noFill/>
                          </a:ln>
                          <a:effectLst/>
                        </a:rPr>
                        <a:t>55%</a:t>
                      </a:r>
                      <a:endParaRPr kumimoji="0" lang="en-US" sz="1800" b="1" i="0" u="none" strike="noStrike" cap="none" normalizeH="0" baseline="0" dirty="0">
                        <a:ln>
                          <a:noFill/>
                        </a:ln>
                        <a:solidFill>
                          <a:schemeClr val="tx2"/>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45%</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1"/>
                  </a:ext>
                </a:extLst>
              </a:tr>
              <a:tr h="584200">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Women</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44%</a:t>
                      </a:r>
                      <a:endParaRPr kumimoji="0" lang="en-US" sz="1800" b="0" i="0" u="none" strike="noStrike" cap="none" normalizeH="0" baseline="0" dirty="0">
                        <a:ln>
                          <a:noFill/>
                        </a:ln>
                        <a:solidFill>
                          <a:schemeClr val="tx2"/>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0" u="none" strike="noStrike" cap="none" normalizeH="0" baseline="0" dirty="0">
                          <a:ln>
                            <a:noFill/>
                          </a:ln>
                          <a:effectLst/>
                        </a:rPr>
                        <a:t>56%</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2"/>
                  </a:ext>
                </a:extLst>
              </a:tr>
            </a:tbl>
          </a:graphicData>
        </a:graphic>
      </p:graphicFrame>
      <p:sp>
        <p:nvSpPr>
          <p:cNvPr id="9" name="Text Box 153"/>
          <p:cNvSpPr txBox="1">
            <a:spLocks noChangeArrowheads="1"/>
          </p:cNvSpPr>
          <p:nvPr/>
        </p:nvSpPr>
        <p:spPr bwMode="auto">
          <a:xfrm>
            <a:off x="381000" y="5391150"/>
            <a:ext cx="8382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spcBef>
                <a:spcPct val="50000"/>
              </a:spcBef>
            </a:pPr>
            <a:r>
              <a:rPr lang="en-US" sz="2400" dirty="0"/>
              <a:t>A higher percentage of </a:t>
            </a:r>
            <a:r>
              <a:rPr lang="en-US" sz="2400" b="1" u="sng" dirty="0"/>
              <a:t>men</a:t>
            </a:r>
            <a:r>
              <a:rPr lang="en-US" sz="2400" dirty="0"/>
              <a:t> were accepted.</a:t>
            </a:r>
          </a:p>
          <a:p>
            <a:pPr eaLnBrk="1" hangingPunct="1">
              <a:spcBef>
                <a:spcPct val="50000"/>
              </a:spcBef>
            </a:pPr>
            <a:r>
              <a:rPr lang="en-US" sz="2400" dirty="0"/>
              <a:t>Is there evidence of discrimination?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Simpson</a:t>
            </a:r>
            <a:r>
              <a:rPr lang="en-US" altLang="en-US" dirty="0">
                <a:solidFill>
                  <a:schemeClr val="accent1"/>
                </a:solidFill>
              </a:rPr>
              <a:t>’</a:t>
            </a:r>
            <a:r>
              <a:rPr lang="en-US" dirty="0">
                <a:solidFill>
                  <a:schemeClr val="accent1"/>
                </a:solidFill>
              </a:rPr>
              <a:t>s Paradox 3</a:t>
            </a:r>
            <a:endParaRPr lang="en-US" dirty="0"/>
          </a:p>
        </p:txBody>
      </p:sp>
      <p:sp>
        <p:nvSpPr>
          <p:cNvPr id="68610"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22014603-4A09-4117-BEBC-014CB6DC42C3}" type="slidenum">
              <a:rPr lang="en-US" sz="1200">
                <a:solidFill>
                  <a:schemeClr val="accent1"/>
                </a:solidFill>
              </a:rPr>
              <a:pPr>
                <a:lnSpc>
                  <a:spcPct val="80000"/>
                </a:lnSpc>
              </a:pPr>
              <a:t>46</a:t>
            </a:fld>
            <a:endParaRPr lang="en-US" sz="1200">
              <a:solidFill>
                <a:schemeClr val="accent1"/>
              </a:solidFill>
            </a:endParaRPr>
          </a:p>
        </p:txBody>
      </p:sp>
      <p:sp>
        <p:nvSpPr>
          <p:cNvPr id="68611" name="Rectangle 8"/>
          <p:cNvSpPr>
            <a:spLocks noChangeArrowheads="1"/>
          </p:cNvSpPr>
          <p:nvPr/>
        </p:nvSpPr>
        <p:spPr bwMode="auto">
          <a:xfrm>
            <a:off x="381000" y="1463357"/>
            <a:ext cx="8229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buFont typeface="Monotype Sorts" charset="2"/>
              <a:buNone/>
            </a:pPr>
            <a:r>
              <a:rPr lang="en-US" dirty="0"/>
              <a:t>Consider the acceptance rates when they are broken down by type of school.</a:t>
            </a:r>
          </a:p>
        </p:txBody>
      </p:sp>
      <p:sp>
        <p:nvSpPr>
          <p:cNvPr id="68614" name="Text Box 86"/>
          <p:cNvSpPr txBox="1">
            <a:spLocks noChangeArrowheads="1"/>
          </p:cNvSpPr>
          <p:nvPr/>
        </p:nvSpPr>
        <p:spPr bwMode="auto">
          <a:xfrm>
            <a:off x="381000" y="1952625"/>
            <a:ext cx="60086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spcBef>
                <a:spcPct val="50000"/>
              </a:spcBef>
            </a:pPr>
            <a:r>
              <a:rPr lang="en-US" sz="2000" b="1" dirty="0">
                <a:solidFill>
                  <a:schemeClr val="accent1"/>
                </a:solidFill>
              </a:rPr>
              <a:t>BUSINESS SCHOOL</a:t>
            </a:r>
          </a:p>
        </p:txBody>
      </p:sp>
      <p:graphicFrame>
        <p:nvGraphicFramePr>
          <p:cNvPr id="10" name="Group 4" descr="Business School: Counts, Accepted, Not accepted, Total"/>
          <p:cNvGraphicFramePr>
            <a:graphicFrameLocks noGrp="1"/>
          </p:cNvGraphicFramePr>
          <p:nvPr>
            <p:extLst>
              <p:ext uri="{D42A27DB-BD31-4B8C-83A1-F6EECF244321}">
                <p14:modId xmlns:p14="http://schemas.microsoft.com/office/powerpoint/2010/main" val="308624325"/>
              </p:ext>
            </p:extLst>
          </p:nvPr>
        </p:nvGraphicFramePr>
        <p:xfrm>
          <a:off x="381000" y="2407443"/>
          <a:ext cx="4191000" cy="1735704"/>
        </p:xfrm>
        <a:graphic>
          <a:graphicData uri="http://schemas.openxmlformats.org/drawingml/2006/table">
            <a:tbl>
              <a:tblPr firstRow="1">
                <a:tableStyleId>{35758FB7-9AC5-4552-8A53-C91805E547FA}</a:tableStyleId>
              </a:tblPr>
              <a:tblGrid>
                <a:gridCol w="1028700">
                  <a:extLst>
                    <a:ext uri="{9D8B030D-6E8A-4147-A177-3AD203B41FA5}">
                      <a16:colId xmlns:a16="http://schemas.microsoft.com/office/drawing/2014/main" xmlns="" val="20000"/>
                    </a:ext>
                  </a:extLst>
                </a:gridCol>
                <a:gridCol w="1181100">
                  <a:extLst>
                    <a:ext uri="{9D8B030D-6E8A-4147-A177-3AD203B41FA5}">
                      <a16:colId xmlns:a16="http://schemas.microsoft.com/office/drawing/2014/main" xmlns="" val="20001"/>
                    </a:ext>
                  </a:extLst>
                </a:gridCol>
                <a:gridCol w="1181100">
                  <a:extLst>
                    <a:ext uri="{9D8B030D-6E8A-4147-A177-3AD203B41FA5}">
                      <a16:colId xmlns:a16="http://schemas.microsoft.com/office/drawing/2014/main" xmlns="" val="20002"/>
                    </a:ext>
                  </a:extLst>
                </a:gridCol>
                <a:gridCol w="800100">
                  <a:extLst>
                    <a:ext uri="{9D8B030D-6E8A-4147-A177-3AD203B41FA5}">
                      <a16:colId xmlns:a16="http://schemas.microsoft.com/office/drawing/2014/main" xmlns="" val="20003"/>
                    </a:ext>
                  </a:extLst>
                </a:gridCol>
              </a:tblGrid>
              <a:tr h="516115">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Counts</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Not</a:t>
                      </a:r>
                      <a:br>
                        <a:rPr kumimoji="0" lang="en-US" sz="1800" u="none" strike="noStrike" cap="none" normalizeH="0" baseline="0" dirty="0">
                          <a:ln>
                            <a:noFill/>
                          </a:ln>
                          <a:effectLst/>
                        </a:rPr>
                      </a:br>
                      <a:r>
                        <a:rPr kumimoji="0" lang="en-US" sz="1800" u="none" strike="noStrike" cap="none" normalizeH="0" baseline="0" dirty="0">
                          <a:ln>
                            <a:noFill/>
                          </a:ln>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Total</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0"/>
                  </a:ext>
                </a:extLst>
              </a:tr>
              <a:tr h="395688">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Men</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18</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102</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120</a:t>
                      </a:r>
                      <a:endParaRPr kumimoji="0" lang="en-US" sz="1800" b="0" i="1"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1"/>
                  </a:ext>
                </a:extLst>
              </a:tr>
              <a:tr h="395688">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Women</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24</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96</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120</a:t>
                      </a:r>
                      <a:endParaRPr kumimoji="0" lang="en-US" sz="1800" b="0" i="1"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2"/>
                  </a:ext>
                </a:extLst>
              </a:tr>
              <a:tr h="395688">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Total</a:t>
                      </a:r>
                      <a:endParaRPr kumimoji="0" lang="en-US" sz="1800" b="0" i="1"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42</a:t>
                      </a:r>
                      <a:endParaRPr kumimoji="0" lang="en-US" sz="1800" b="0" i="1"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198</a:t>
                      </a:r>
                      <a:endParaRPr kumimoji="0" lang="en-US" sz="1800" b="0" i="1"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240</a:t>
                      </a:r>
                      <a:endParaRPr kumimoji="0" lang="en-US" sz="1800" b="0" i="1"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3"/>
                  </a:ext>
                </a:extLst>
              </a:tr>
            </a:tbl>
          </a:graphicData>
        </a:graphic>
      </p:graphicFrame>
      <p:sp>
        <p:nvSpPr>
          <p:cNvPr id="68617" name="Text Box 83"/>
          <p:cNvSpPr txBox="1">
            <a:spLocks noChangeArrowheads="1"/>
          </p:cNvSpPr>
          <p:nvPr/>
        </p:nvSpPr>
        <p:spPr bwMode="auto">
          <a:xfrm>
            <a:off x="381000" y="4521200"/>
            <a:ext cx="441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spcBef>
                <a:spcPct val="50000"/>
              </a:spcBef>
            </a:pPr>
            <a:r>
              <a:rPr lang="en-US" sz="2000" b="1">
                <a:solidFill>
                  <a:schemeClr val="accent1"/>
                </a:solidFill>
              </a:rPr>
              <a:t>ART SCHOOL</a:t>
            </a:r>
          </a:p>
        </p:txBody>
      </p:sp>
      <p:graphicFrame>
        <p:nvGraphicFramePr>
          <p:cNvPr id="17" name="Group 3" descr="Art School: Counts, Accepted, Not accepted, Total"/>
          <p:cNvGraphicFramePr>
            <a:graphicFrameLocks noGrp="1"/>
          </p:cNvGraphicFramePr>
          <p:nvPr>
            <p:extLst>
              <p:ext uri="{D42A27DB-BD31-4B8C-83A1-F6EECF244321}">
                <p14:modId xmlns:p14="http://schemas.microsoft.com/office/powerpoint/2010/main" val="2312454822"/>
              </p:ext>
            </p:extLst>
          </p:nvPr>
        </p:nvGraphicFramePr>
        <p:xfrm>
          <a:off x="381000" y="4920936"/>
          <a:ext cx="4191000" cy="1508487"/>
        </p:xfrm>
        <a:graphic>
          <a:graphicData uri="http://schemas.openxmlformats.org/drawingml/2006/table">
            <a:tbl>
              <a:tblPr firstRow="1">
                <a:tableStyleId>{284E427A-3D55-4303-BF80-6455036E1DE7}</a:tableStyleId>
              </a:tblPr>
              <a:tblGrid>
                <a:gridCol w="1028700">
                  <a:extLst>
                    <a:ext uri="{9D8B030D-6E8A-4147-A177-3AD203B41FA5}">
                      <a16:colId xmlns:a16="http://schemas.microsoft.com/office/drawing/2014/main" xmlns="" val="20000"/>
                    </a:ext>
                  </a:extLst>
                </a:gridCol>
                <a:gridCol w="1181100">
                  <a:extLst>
                    <a:ext uri="{9D8B030D-6E8A-4147-A177-3AD203B41FA5}">
                      <a16:colId xmlns:a16="http://schemas.microsoft.com/office/drawing/2014/main" xmlns="" val="20001"/>
                    </a:ext>
                  </a:extLst>
                </a:gridCol>
                <a:gridCol w="1181100">
                  <a:extLst>
                    <a:ext uri="{9D8B030D-6E8A-4147-A177-3AD203B41FA5}">
                      <a16:colId xmlns:a16="http://schemas.microsoft.com/office/drawing/2014/main" xmlns="" val="20002"/>
                    </a:ext>
                  </a:extLst>
                </a:gridCol>
                <a:gridCol w="800100">
                  <a:extLst>
                    <a:ext uri="{9D8B030D-6E8A-4147-A177-3AD203B41FA5}">
                      <a16:colId xmlns:a16="http://schemas.microsoft.com/office/drawing/2014/main" xmlns="" val="20003"/>
                    </a:ext>
                  </a:extLst>
                </a:gridCol>
              </a:tblGrid>
              <a:tr h="417324">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tx1"/>
                          </a:solidFill>
                          <a:effectLst/>
                        </a:rPr>
                        <a:t>Counts</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tx1"/>
                          </a:solidFill>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tx1"/>
                          </a:solidFill>
                          <a:effectLst/>
                        </a:rPr>
                        <a:t>Not</a:t>
                      </a:r>
                      <a:br>
                        <a:rPr kumimoji="0" lang="en-US" sz="1800" u="none" strike="noStrike" cap="none" normalizeH="0" baseline="0" dirty="0">
                          <a:ln>
                            <a:noFill/>
                          </a:ln>
                          <a:solidFill>
                            <a:schemeClr val="tx1"/>
                          </a:solidFill>
                          <a:effectLst/>
                        </a:rPr>
                      </a:br>
                      <a:r>
                        <a:rPr kumimoji="0" lang="en-US" sz="1800" u="none" strike="noStrike" cap="none" normalizeH="0" baseline="0" dirty="0">
                          <a:ln>
                            <a:noFill/>
                          </a:ln>
                          <a:solidFill>
                            <a:schemeClr val="tx1"/>
                          </a:solidFill>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tx1"/>
                          </a:solidFill>
                          <a:effectLst/>
                        </a:rPr>
                        <a:t>Total</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0"/>
                  </a:ext>
                </a:extLst>
              </a:tr>
              <a:tr h="319949">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Men</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180</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60</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240</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1"/>
                  </a:ext>
                </a:extLst>
              </a:tr>
              <a:tr h="319949">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Women</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64</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16</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80</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2"/>
                  </a:ext>
                </a:extLst>
              </a:tr>
              <a:tr h="319949">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Total</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244</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76</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320</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3"/>
                  </a:ext>
                </a:extLst>
              </a:tr>
            </a:tbl>
          </a:graphicData>
        </a:graphic>
      </p:graphicFrame>
      <p:graphicFrame>
        <p:nvGraphicFramePr>
          <p:cNvPr id="11" name="Group 43" descr="Business School: Percents, Accepted, Not accepted"/>
          <p:cNvGraphicFramePr>
            <a:graphicFrameLocks noGrp="1"/>
          </p:cNvGraphicFramePr>
          <p:nvPr>
            <p:extLst>
              <p:ext uri="{D42A27DB-BD31-4B8C-83A1-F6EECF244321}">
                <p14:modId xmlns:p14="http://schemas.microsoft.com/office/powerpoint/2010/main" val="1294754190"/>
              </p:ext>
            </p:extLst>
          </p:nvPr>
        </p:nvGraphicFramePr>
        <p:xfrm>
          <a:off x="4876799" y="2407443"/>
          <a:ext cx="3540369" cy="1796663"/>
        </p:xfrm>
        <a:graphic>
          <a:graphicData uri="http://schemas.openxmlformats.org/drawingml/2006/table">
            <a:tbl>
              <a:tblPr firstRow="1">
                <a:tableStyleId>{35758FB7-9AC5-4552-8A53-C91805E547FA}</a:tableStyleId>
              </a:tblPr>
              <a:tblGrid>
                <a:gridCol w="1017347">
                  <a:extLst>
                    <a:ext uri="{9D8B030D-6E8A-4147-A177-3AD203B41FA5}">
                      <a16:colId xmlns:a16="http://schemas.microsoft.com/office/drawing/2014/main" xmlns="" val="20000"/>
                    </a:ext>
                  </a:extLst>
                </a:gridCol>
                <a:gridCol w="1261511">
                  <a:extLst>
                    <a:ext uri="{9D8B030D-6E8A-4147-A177-3AD203B41FA5}">
                      <a16:colId xmlns:a16="http://schemas.microsoft.com/office/drawing/2014/main" xmlns="" val="20001"/>
                    </a:ext>
                  </a:extLst>
                </a:gridCol>
                <a:gridCol w="1261511">
                  <a:extLst>
                    <a:ext uri="{9D8B030D-6E8A-4147-A177-3AD203B41FA5}">
                      <a16:colId xmlns:a16="http://schemas.microsoft.com/office/drawing/2014/main" xmlns="" val="20002"/>
                    </a:ext>
                  </a:extLst>
                </a:gridCol>
              </a:tblGrid>
              <a:tr h="709209">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Percents</a:t>
                      </a:r>
                      <a:endParaRPr kumimoji="0" lang="en-US" sz="1800" b="0" i="1"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Accepted</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Not</a:t>
                      </a:r>
                      <a:br>
                        <a:rPr kumimoji="0" lang="en-US" sz="1800" u="none" strike="noStrike" cap="none" normalizeH="0" baseline="0" dirty="0">
                          <a:ln>
                            <a:noFill/>
                          </a:ln>
                          <a:solidFill>
                            <a:schemeClr val="bg1"/>
                          </a:solidFill>
                          <a:effectLst/>
                        </a:rPr>
                      </a:br>
                      <a:r>
                        <a:rPr kumimoji="0" lang="en-US" sz="1800" u="none" strike="noStrike" cap="none" normalizeH="0" baseline="0" dirty="0">
                          <a:ln>
                            <a:noFill/>
                          </a:ln>
                          <a:solidFill>
                            <a:schemeClr val="bg1"/>
                          </a:solidFill>
                          <a:effectLst/>
                        </a:rPr>
                        <a:t>accepted</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0"/>
                  </a:ext>
                </a:extLst>
              </a:tr>
              <a:tr h="54372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Men</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15%</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85%</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1"/>
                  </a:ext>
                </a:extLst>
              </a:tr>
              <a:tr h="543727">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1" u="none" strike="noStrike" cap="none" normalizeH="0" baseline="0" dirty="0">
                          <a:ln>
                            <a:noFill/>
                          </a:ln>
                          <a:solidFill>
                            <a:schemeClr val="bg1"/>
                          </a:solidFill>
                          <a:effectLst/>
                        </a:rPr>
                        <a:t>Women</a:t>
                      </a:r>
                      <a:endParaRPr kumimoji="0" lang="en-US" sz="1800" b="1"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b="1" u="none" strike="noStrike" cap="none" normalizeH="0" baseline="0" dirty="0">
                          <a:ln>
                            <a:noFill/>
                          </a:ln>
                          <a:solidFill>
                            <a:schemeClr val="bg1"/>
                          </a:solidFill>
                          <a:effectLst/>
                        </a:rPr>
                        <a:t>20%</a:t>
                      </a:r>
                      <a:endParaRPr kumimoji="0" lang="en-US" sz="1800" b="1"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bg1"/>
                          </a:solidFill>
                          <a:effectLst/>
                        </a:rPr>
                        <a:t>80%</a:t>
                      </a:r>
                      <a:endParaRPr kumimoji="0" lang="en-US" sz="1800" b="0" i="0" u="none" strike="noStrike" cap="none" normalizeH="0" baseline="0" dirty="0">
                        <a:ln>
                          <a:noFill/>
                        </a:ln>
                        <a:solidFill>
                          <a:schemeClr val="bg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2"/>
                  </a:ext>
                </a:extLst>
              </a:tr>
            </a:tbl>
          </a:graphicData>
        </a:graphic>
      </p:graphicFrame>
      <p:graphicFrame>
        <p:nvGraphicFramePr>
          <p:cNvPr id="18" name="Group 42" descr="Art School: Percents, Accepted, Not accepted"/>
          <p:cNvGraphicFramePr>
            <a:graphicFrameLocks noGrp="1"/>
          </p:cNvGraphicFramePr>
          <p:nvPr>
            <p:extLst>
              <p:ext uri="{D42A27DB-BD31-4B8C-83A1-F6EECF244321}">
                <p14:modId xmlns:p14="http://schemas.microsoft.com/office/powerpoint/2010/main" val="825033300"/>
              </p:ext>
            </p:extLst>
          </p:nvPr>
        </p:nvGraphicFramePr>
        <p:xfrm>
          <a:off x="4876800" y="4920936"/>
          <a:ext cx="3786554" cy="1569447"/>
        </p:xfrm>
        <a:graphic>
          <a:graphicData uri="http://schemas.openxmlformats.org/drawingml/2006/table">
            <a:tbl>
              <a:tblPr firstRow="1">
                <a:tableStyleId>{284E427A-3D55-4303-BF80-6455036E1DE7}</a:tableStyleId>
              </a:tblPr>
              <a:tblGrid>
                <a:gridCol w="1088090">
                  <a:extLst>
                    <a:ext uri="{9D8B030D-6E8A-4147-A177-3AD203B41FA5}">
                      <a16:colId xmlns:a16="http://schemas.microsoft.com/office/drawing/2014/main" xmlns="" val="20000"/>
                    </a:ext>
                  </a:extLst>
                </a:gridCol>
                <a:gridCol w="1349232">
                  <a:extLst>
                    <a:ext uri="{9D8B030D-6E8A-4147-A177-3AD203B41FA5}">
                      <a16:colId xmlns:a16="http://schemas.microsoft.com/office/drawing/2014/main" xmlns="" val="20001"/>
                    </a:ext>
                  </a:extLst>
                </a:gridCol>
                <a:gridCol w="1349232">
                  <a:extLst>
                    <a:ext uri="{9D8B030D-6E8A-4147-A177-3AD203B41FA5}">
                      <a16:colId xmlns:a16="http://schemas.microsoft.com/office/drawing/2014/main" xmlns="" val="20002"/>
                    </a:ext>
                  </a:extLst>
                </a:gridCol>
              </a:tblGrid>
              <a:tr h="732269">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tx1"/>
                          </a:solidFill>
                          <a:effectLst/>
                        </a:rPr>
                        <a:t>Percents</a:t>
                      </a:r>
                      <a:endParaRPr kumimoji="0" lang="en-US" sz="1800" b="0" i="1"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tx1"/>
                          </a:solidFill>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solidFill>
                            <a:schemeClr val="tx1"/>
                          </a:solidFill>
                          <a:effectLst/>
                        </a:rPr>
                        <a:t>Not</a:t>
                      </a:r>
                      <a:br>
                        <a:rPr kumimoji="0" lang="en-US" sz="1800" u="none" strike="noStrike" cap="none" normalizeH="0" baseline="0" dirty="0">
                          <a:ln>
                            <a:noFill/>
                          </a:ln>
                          <a:solidFill>
                            <a:schemeClr val="tx1"/>
                          </a:solidFill>
                          <a:effectLst/>
                        </a:rPr>
                      </a:br>
                      <a:r>
                        <a:rPr kumimoji="0" lang="en-US" sz="1800" u="none" strike="noStrike" cap="none" normalizeH="0" baseline="0" dirty="0">
                          <a:ln>
                            <a:noFill/>
                          </a:ln>
                          <a:solidFill>
                            <a:schemeClr val="tx1"/>
                          </a:solidFill>
                          <a:effectLst/>
                        </a:rPr>
                        <a:t>accepted</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0"/>
                  </a:ext>
                </a:extLst>
              </a:tr>
              <a:tr h="418589">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Men</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75%</a:t>
                      </a:r>
                      <a:endParaRPr kumimoji="0" lang="en-US" sz="1800" b="0" i="0" u="none" strike="noStrike" cap="none" normalizeH="0" baseline="0" dirty="0">
                        <a:ln>
                          <a:noFill/>
                        </a:ln>
                        <a:solidFill>
                          <a:schemeClr val="tx2"/>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25%</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1"/>
                  </a:ext>
                </a:extLst>
              </a:tr>
              <a:tr h="418589">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Women</a:t>
                      </a:r>
                      <a:endParaRPr kumimoji="0" lang="en-US" sz="1800" b="1"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80%</a:t>
                      </a:r>
                      <a:endParaRPr kumimoji="0" lang="en-US" sz="1800" b="1" i="0" u="none" strike="noStrike" cap="none" normalizeH="0" baseline="0" dirty="0">
                        <a:ln>
                          <a:noFill/>
                        </a:ln>
                        <a:solidFill>
                          <a:schemeClr val="tx2"/>
                        </a:solidFill>
                        <a:effectLst/>
                        <a:latin typeface="Arial" charset="0"/>
                        <a:ea typeface="ＭＳ Ｐゴシック" charset="0"/>
                      </a:endParaRPr>
                    </a:p>
                  </a:txBody>
                  <a:tcPr marL="0" marR="0" marT="0" marB="0" anchor="ctr" anchorCtr="1" horzOverflow="overflow"/>
                </a:tc>
                <a:tc>
                  <a:txBody>
                    <a:bodyPr/>
                    <a:lstStyle/>
                    <a:p>
                      <a:pPr marL="0" marR="0" lvl="0" indent="0" algn="ctr" defTabSz="914400" rtl="0" eaLnBrk="0" fontAlgn="base" latinLnBrk="0" hangingPunct="0">
                        <a:lnSpc>
                          <a:spcPct val="100000"/>
                        </a:lnSpc>
                        <a:spcBef>
                          <a:spcPct val="20000"/>
                        </a:spcBef>
                        <a:spcAft>
                          <a:spcPct val="0"/>
                        </a:spcAft>
                        <a:buClr>
                          <a:schemeClr val="tx2"/>
                        </a:buClr>
                        <a:buSzPct val="75000"/>
                        <a:buFont typeface="Monotype Sorts" charset="0"/>
                        <a:buNone/>
                        <a:tabLst/>
                      </a:pPr>
                      <a:r>
                        <a:rPr kumimoji="0" lang="en-US" sz="1800" u="none" strike="noStrike" cap="none" normalizeH="0" baseline="0" dirty="0">
                          <a:ln>
                            <a:noFill/>
                          </a:ln>
                          <a:effectLst/>
                        </a:rPr>
                        <a:t>20%</a:t>
                      </a:r>
                      <a:endParaRPr kumimoji="0" lang="en-US" sz="1800" b="0" i="0" u="none" strike="noStrike" cap="none" normalizeH="0" baseline="0" dirty="0">
                        <a:ln>
                          <a:noFill/>
                        </a:ln>
                        <a:solidFill>
                          <a:schemeClr val="tx1"/>
                        </a:solidFill>
                        <a:effectLst/>
                        <a:latin typeface="Arial" charset="0"/>
                        <a:ea typeface="ＭＳ Ｐゴシック" charset="0"/>
                      </a:endParaRPr>
                    </a:p>
                  </a:txBody>
                  <a:tcPr marL="0" marR="0" marT="0" marB="0" anchor="ctr" anchorCtr="1" horzOverflow="overflow"/>
                </a:tc>
                <a:extLst>
                  <a:ext uri="{0D108BD9-81ED-4DB2-BD59-A6C34878D82A}">
                    <a16:rowId xmlns:a16="http://schemas.microsoft.com/office/drawing/2014/main" xmlns="" val="10002"/>
                  </a:ext>
                </a:extLst>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Simpson</a:t>
            </a:r>
            <a:r>
              <a:rPr lang="en-US" altLang="en-US" dirty="0">
                <a:solidFill>
                  <a:schemeClr val="accent1"/>
                </a:solidFill>
              </a:rPr>
              <a:t>’</a:t>
            </a:r>
            <a:r>
              <a:rPr lang="en-US" dirty="0">
                <a:solidFill>
                  <a:schemeClr val="accent1"/>
                </a:solidFill>
              </a:rPr>
              <a:t>s Paradox 4</a:t>
            </a:r>
            <a:endParaRPr lang="en-US" dirty="0"/>
          </a:p>
        </p:txBody>
      </p:sp>
      <p:sp>
        <p:nvSpPr>
          <p:cNvPr id="69634"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382BB137-B3AC-43DD-A798-A56BCE67AE52}" type="slidenum">
              <a:rPr lang="en-US" sz="1200">
                <a:solidFill>
                  <a:schemeClr val="accent1"/>
                </a:solidFill>
              </a:rPr>
              <a:pPr>
                <a:lnSpc>
                  <a:spcPct val="80000"/>
                </a:lnSpc>
              </a:pPr>
              <a:t>47</a:t>
            </a:fld>
            <a:endParaRPr lang="en-US" sz="1200">
              <a:solidFill>
                <a:schemeClr val="accent1"/>
              </a:solidFill>
            </a:endParaRPr>
          </a:p>
        </p:txBody>
      </p:sp>
      <p:sp>
        <p:nvSpPr>
          <p:cNvPr id="69635" name="Rectangle 3"/>
          <p:cNvSpPr txBox="1">
            <a:spLocks noChangeArrowheads="1"/>
          </p:cNvSpPr>
          <p:nvPr/>
        </p:nvSpPr>
        <p:spPr bwMode="auto">
          <a:xfrm>
            <a:off x="174624" y="1290479"/>
            <a:ext cx="8534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19088" indent="-319088">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eaLnBrk="1" hangingPunct="1">
              <a:spcBef>
                <a:spcPct val="40000"/>
              </a:spcBef>
              <a:buClr>
                <a:srgbClr val="800000"/>
              </a:buClr>
              <a:buSzPct val="60000"/>
              <a:buFont typeface="Wingdings" pitchFamily="2" charset="2"/>
              <a:buChar char="ü"/>
            </a:pPr>
            <a:r>
              <a:rPr lang="en-US" sz="2000" b="1" dirty="0"/>
              <a:t>Lurking variable:</a:t>
            </a:r>
            <a:r>
              <a:rPr lang="en-US" sz="2000" dirty="0"/>
              <a:t>  </a:t>
            </a:r>
            <a:r>
              <a:rPr lang="en-US" sz="2000" dirty="0">
                <a:solidFill>
                  <a:srgbClr val="000000"/>
                </a:solidFill>
              </a:rPr>
              <a:t>Applications were split between the Business School (240) and the Art School (320).</a:t>
            </a:r>
          </a:p>
        </p:txBody>
      </p:sp>
      <p:sp>
        <p:nvSpPr>
          <p:cNvPr id="69636" name="Rectangle 1"/>
          <p:cNvSpPr>
            <a:spLocks noChangeArrowheads="1"/>
          </p:cNvSpPr>
          <p:nvPr/>
        </p:nvSpPr>
        <p:spPr bwMode="auto">
          <a:xfrm>
            <a:off x="415130" y="2335371"/>
            <a:ext cx="8053387"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sz="2000" b="1" dirty="0"/>
              <a:t>Within </a:t>
            </a:r>
            <a:r>
              <a:rPr lang="en-US" sz="2000" b="1" dirty="0">
                <a:solidFill>
                  <a:srgbClr val="000000"/>
                </a:solidFill>
              </a:rPr>
              <a:t>each </a:t>
            </a:r>
            <a:r>
              <a:rPr lang="en-US" sz="2000" b="1" dirty="0"/>
              <a:t>school, a higher percentage of women were accepted than of men.</a:t>
            </a:r>
            <a:br>
              <a:rPr lang="en-US" sz="2000" b="1" dirty="0"/>
            </a:br>
            <a:endParaRPr lang="en-US" sz="2000" b="1" dirty="0"/>
          </a:p>
          <a:p>
            <a:pPr eaLnBrk="1" hangingPunct="1"/>
            <a:r>
              <a:rPr lang="en-US" sz="2000" dirty="0"/>
              <a:t>There is </a:t>
            </a:r>
            <a:r>
              <a:rPr lang="en-US" sz="2000" dirty="0">
                <a:solidFill>
                  <a:srgbClr val="000000"/>
                </a:solidFill>
              </a:rPr>
              <a:t>not </a:t>
            </a:r>
            <a:r>
              <a:rPr lang="en-US" sz="2000" dirty="0"/>
              <a:t>any discrimination against women!</a:t>
            </a:r>
          </a:p>
          <a:p>
            <a:pPr eaLnBrk="1" hangingPunct="1">
              <a:spcBef>
                <a:spcPct val="40000"/>
              </a:spcBef>
            </a:pPr>
            <a:r>
              <a:rPr lang="en-US" sz="2000" dirty="0"/>
              <a:t>This is an example of </a:t>
            </a:r>
            <a:r>
              <a:rPr lang="en-US" sz="2000" b="1" dirty="0"/>
              <a:t>Simpson</a:t>
            </a:r>
            <a:r>
              <a:rPr lang="en-US" altLang="en-US" sz="2000" b="1" dirty="0"/>
              <a:t>’</a:t>
            </a:r>
            <a:r>
              <a:rPr lang="en-US" altLang="ja-JP" sz="2000" b="1" dirty="0"/>
              <a:t>s paradox.</a:t>
            </a:r>
            <a:r>
              <a:rPr lang="en-US" altLang="ja-JP" sz="2000" dirty="0"/>
              <a:t>  </a:t>
            </a:r>
          </a:p>
          <a:p>
            <a:pPr algn="just" eaLnBrk="1" hangingPunct="1">
              <a:spcBef>
                <a:spcPct val="40000"/>
              </a:spcBef>
            </a:pPr>
            <a:r>
              <a:rPr lang="en-US" sz="2000" dirty="0"/>
              <a:t>When the lurking variable (Type of School: Business or Art) is ignored, the data seem to suggest discrimination against women.</a:t>
            </a:r>
          </a:p>
          <a:p>
            <a:pPr algn="just" eaLnBrk="1" hangingPunct="1">
              <a:spcBef>
                <a:spcPct val="40000"/>
              </a:spcBef>
            </a:pPr>
            <a:r>
              <a:rPr lang="en-US" sz="2000" dirty="0"/>
              <a:t>However, when the type of school is considered, the association is reversed and suggests discrimination against men.</a:t>
            </a:r>
          </a:p>
        </p:txBody>
      </p:sp>
    </p:spTree>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2"/>
          <p:cNvSpPr>
            <a:spLocks noGrp="1"/>
          </p:cNvSpPr>
          <p:nvPr>
            <p:ph type="title"/>
          </p:nvPr>
        </p:nvSpPr>
        <p:spPr>
          <a:xfrm>
            <a:off x="457199" y="474784"/>
            <a:ext cx="7297615" cy="1143000"/>
          </a:xfrm>
        </p:spPr>
        <p:txBody>
          <a:bodyPr anchor="t"/>
          <a:lstStyle/>
          <a:p>
            <a:pPr eaLnBrk="1" hangingPunct="1"/>
            <a:r>
              <a:rPr lang="en-US" b="1" dirty="0">
                <a:solidFill>
                  <a:schemeClr val="accent1"/>
                </a:solidFill>
                <a:ea typeface="ＭＳ Ｐゴシック" pitchFamily="34" charset="-128"/>
              </a:rPr>
              <a:t>2.7 The Question of Causation</a:t>
            </a:r>
          </a:p>
        </p:txBody>
      </p:sp>
      <p:sp>
        <p:nvSpPr>
          <p:cNvPr id="70659" name="Text Placeholder 3"/>
          <p:cNvSpPr>
            <a:spLocks noGrp="1"/>
          </p:cNvSpPr>
          <p:nvPr>
            <p:ph idx="1"/>
          </p:nvPr>
        </p:nvSpPr>
        <p:spPr/>
        <p:txBody>
          <a:bodyPr/>
          <a:lstStyle/>
          <a:p>
            <a:pPr eaLnBrk="1" hangingPunct="1"/>
            <a:r>
              <a:rPr lang="en-US" sz="2400" dirty="0">
                <a:solidFill>
                  <a:srgbClr val="073779"/>
                </a:solidFill>
                <a:ea typeface="ＭＳ Ｐゴシック" pitchFamily="34" charset="-128"/>
              </a:rPr>
              <a:t>Explaining association</a:t>
            </a:r>
          </a:p>
          <a:p>
            <a:pPr eaLnBrk="1" hangingPunct="1"/>
            <a:r>
              <a:rPr lang="en-US" sz="2400" dirty="0">
                <a:solidFill>
                  <a:srgbClr val="073779"/>
                </a:solidFill>
                <a:ea typeface="ＭＳ Ｐゴシック" pitchFamily="34" charset="-128"/>
              </a:rPr>
              <a:t>Causation</a:t>
            </a:r>
          </a:p>
          <a:p>
            <a:pPr eaLnBrk="1" hangingPunct="1"/>
            <a:r>
              <a:rPr lang="en-US" sz="2400" dirty="0">
                <a:solidFill>
                  <a:srgbClr val="073779"/>
                </a:solidFill>
                <a:ea typeface="ＭＳ Ｐゴシック" pitchFamily="34" charset="-128"/>
              </a:rPr>
              <a:t>Common response</a:t>
            </a:r>
          </a:p>
          <a:p>
            <a:pPr eaLnBrk="1" hangingPunct="1"/>
            <a:r>
              <a:rPr lang="en-US" sz="2400" dirty="0">
                <a:solidFill>
                  <a:srgbClr val="073779"/>
                </a:solidFill>
                <a:ea typeface="ＭＳ Ｐゴシック" pitchFamily="34" charset="-128"/>
              </a:rPr>
              <a:t>Confounding</a:t>
            </a:r>
          </a:p>
          <a:p>
            <a:pPr eaLnBrk="1" hangingPunct="1"/>
            <a:r>
              <a:rPr lang="en-US" sz="2400" dirty="0">
                <a:solidFill>
                  <a:srgbClr val="073779"/>
                </a:solidFill>
                <a:ea typeface="ＭＳ Ｐゴシック" pitchFamily="34" charset="-128"/>
              </a:rPr>
              <a:t>Establishing causation</a:t>
            </a:r>
          </a:p>
          <a:p>
            <a:pPr eaLnBrk="1" hangingPunct="1"/>
            <a:endParaRPr lang="en-US" sz="2400" dirty="0">
              <a:solidFill>
                <a:srgbClr val="073779"/>
              </a:solidFill>
              <a:ea typeface="ＭＳ Ｐゴシック" pitchFamily="34" charset="-128"/>
            </a:endParaRPr>
          </a:p>
        </p:txBody>
      </p:sp>
      <p:sp>
        <p:nvSpPr>
          <p:cNvPr id="70660" name="Slide Number Placeholder 8"/>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307501FE-A9CB-4818-82D8-3BE2AE861699}" type="slidenum">
              <a:rPr lang="en-US">
                <a:solidFill>
                  <a:schemeClr val="accent1"/>
                </a:solidFill>
              </a:rPr>
              <a:pPr/>
              <a:t>48</a:t>
            </a:fld>
            <a:endParaRPr lang="en-US">
              <a:solidFill>
                <a:schemeClr val="accent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Explaining Association: Causation</a:t>
            </a:r>
            <a:endParaRPr lang="en-US" dirty="0"/>
          </a:p>
        </p:txBody>
      </p:sp>
      <p:sp>
        <p:nvSpPr>
          <p:cNvPr id="71685" name="Slide Number Placeholder 8"/>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7BC897F9-819D-4B45-AFD3-706AF429DB2B}" type="slidenum">
              <a:rPr lang="en-US">
                <a:solidFill>
                  <a:schemeClr val="accent1"/>
                </a:solidFill>
              </a:rPr>
              <a:pPr/>
              <a:t>49</a:t>
            </a:fld>
            <a:endParaRPr lang="en-US">
              <a:solidFill>
                <a:schemeClr val="accent1"/>
              </a:solidFill>
            </a:endParaRPr>
          </a:p>
        </p:txBody>
      </p:sp>
      <p:sp>
        <p:nvSpPr>
          <p:cNvPr id="71682" name="Rectangle 3"/>
          <p:cNvSpPr>
            <a:spLocks noGrp="1" noChangeArrowheads="1"/>
          </p:cNvSpPr>
          <p:nvPr>
            <p:ph type="body" idx="4294967295"/>
          </p:nvPr>
        </p:nvSpPr>
        <p:spPr>
          <a:xfrm>
            <a:off x="174624" y="1036025"/>
            <a:ext cx="8588376" cy="2678996"/>
          </a:xfrm>
        </p:spPr>
        <p:txBody>
          <a:bodyPr/>
          <a:lstStyle/>
          <a:p>
            <a:pPr algn="ctr" eaLnBrk="1" hangingPunct="1">
              <a:lnSpc>
                <a:spcPct val="120000"/>
              </a:lnSpc>
              <a:buFont typeface="Wingdings 2" pitchFamily="18" charset="2"/>
              <a:buNone/>
            </a:pPr>
            <a:r>
              <a:rPr lang="en-US" b="1" dirty="0">
                <a:solidFill>
                  <a:schemeClr val="tx1"/>
                </a:solidFill>
                <a:highlight>
                  <a:srgbClr val="FFFF00"/>
                </a:highlight>
                <a:ea typeface="ＭＳ Ｐゴシック" pitchFamily="34" charset="-128"/>
              </a:rPr>
              <a:t>Association, however strong, does NOT imply causation.</a:t>
            </a:r>
            <a:r>
              <a:rPr lang="en-US" b="1" dirty="0">
                <a:solidFill>
                  <a:schemeClr val="tx1"/>
                </a:solidFill>
                <a:ea typeface="ＭＳ Ｐゴシック" pitchFamily="34" charset="-128"/>
              </a:rPr>
              <a:t> </a:t>
            </a:r>
          </a:p>
          <a:p>
            <a:pPr eaLnBrk="1" hangingPunct="1">
              <a:lnSpc>
                <a:spcPct val="120000"/>
              </a:lnSpc>
              <a:buFont typeface="Wingdings 2" pitchFamily="18" charset="2"/>
              <a:buNone/>
            </a:pPr>
            <a:r>
              <a:rPr lang="en-US" i="1" dirty="0">
                <a:solidFill>
                  <a:srgbClr val="000000"/>
                </a:solidFill>
                <a:ea typeface="ＭＳ Ｐゴシック" pitchFamily="34" charset="-128"/>
              </a:rPr>
              <a:t>Some possible explanations for an observed association: </a:t>
            </a:r>
          </a:p>
          <a:p>
            <a:pPr marL="0" indent="0" eaLnBrk="1" hangingPunct="1">
              <a:lnSpc>
                <a:spcPct val="120000"/>
              </a:lnSpc>
              <a:buFont typeface="Wingdings 2" pitchFamily="18" charset="2"/>
              <a:buNone/>
            </a:pPr>
            <a:r>
              <a:rPr lang="en-US" dirty="0">
                <a:solidFill>
                  <a:srgbClr val="000000"/>
                </a:solidFill>
                <a:ea typeface="ＭＳ Ｐゴシック" pitchFamily="34" charset="-128"/>
              </a:rPr>
              <a:t>The </a:t>
            </a:r>
            <a:r>
              <a:rPr lang="en-US" i="1" dirty="0">
                <a:solidFill>
                  <a:schemeClr val="tx1"/>
                </a:solidFill>
                <a:ea typeface="ＭＳ Ｐゴシック" pitchFamily="34" charset="-128"/>
              </a:rPr>
              <a:t>dashed lines </a:t>
            </a:r>
            <a:r>
              <a:rPr lang="en-US" dirty="0">
                <a:solidFill>
                  <a:schemeClr val="tx1"/>
                </a:solidFill>
                <a:ea typeface="ＭＳ Ｐゴシック" pitchFamily="34" charset="-128"/>
              </a:rPr>
              <a:t>show an association. </a:t>
            </a:r>
          </a:p>
          <a:p>
            <a:pPr marL="0" indent="0" eaLnBrk="1" hangingPunct="1">
              <a:lnSpc>
                <a:spcPct val="120000"/>
              </a:lnSpc>
              <a:spcBef>
                <a:spcPts val="0"/>
              </a:spcBef>
              <a:buFont typeface="Wingdings 2" pitchFamily="18" charset="2"/>
              <a:buNone/>
            </a:pPr>
            <a:r>
              <a:rPr lang="en-US" dirty="0">
                <a:solidFill>
                  <a:schemeClr val="tx1"/>
                </a:solidFill>
                <a:ea typeface="ＭＳ Ｐゴシック" pitchFamily="34" charset="-128"/>
              </a:rPr>
              <a:t>The solid arrows show a cause-and-effect link. </a:t>
            </a:r>
          </a:p>
          <a:p>
            <a:pPr indent="228600" eaLnBrk="1" hangingPunct="1">
              <a:lnSpc>
                <a:spcPct val="120000"/>
              </a:lnSpc>
              <a:spcBef>
                <a:spcPts val="0"/>
              </a:spcBef>
              <a:tabLst>
                <a:tab pos="581025" algn="l"/>
              </a:tabLst>
            </a:pPr>
            <a:r>
              <a:rPr lang="en-US" i="1" dirty="0">
                <a:solidFill>
                  <a:schemeClr val="tx1"/>
                </a:solidFill>
                <a:ea typeface="ＭＳ Ｐゴシック" pitchFamily="34" charset="-128"/>
              </a:rPr>
              <a:t>  x</a:t>
            </a:r>
            <a:r>
              <a:rPr lang="en-US" dirty="0">
                <a:solidFill>
                  <a:schemeClr val="tx1"/>
                </a:solidFill>
                <a:ea typeface="ＭＳ Ｐゴシック" pitchFamily="34" charset="-128"/>
              </a:rPr>
              <a:t> is an explanatory </a:t>
            </a:r>
            <a:r>
              <a:rPr lang="en-US" dirty="0">
                <a:solidFill>
                  <a:srgbClr val="000000"/>
                </a:solidFill>
                <a:ea typeface="ＭＳ Ｐゴシック" pitchFamily="34" charset="-128"/>
              </a:rPr>
              <a:t>variable, </a:t>
            </a:r>
            <a:r>
              <a:rPr lang="en-US" i="1" dirty="0">
                <a:solidFill>
                  <a:srgbClr val="000000"/>
                </a:solidFill>
                <a:ea typeface="ＭＳ Ｐゴシック" pitchFamily="34" charset="-128"/>
              </a:rPr>
              <a:t>y</a:t>
            </a:r>
            <a:r>
              <a:rPr lang="en-US" dirty="0">
                <a:solidFill>
                  <a:srgbClr val="000000"/>
                </a:solidFill>
                <a:ea typeface="ＭＳ Ｐゴシック" pitchFamily="34" charset="-128"/>
              </a:rPr>
              <a:t> is a response variable, and </a:t>
            </a:r>
            <a:r>
              <a:rPr lang="en-US" i="1" dirty="0">
                <a:solidFill>
                  <a:srgbClr val="000000"/>
                </a:solidFill>
                <a:ea typeface="ＭＳ Ｐゴシック" pitchFamily="34" charset="-128"/>
              </a:rPr>
              <a:t>z</a:t>
            </a:r>
            <a:r>
              <a:rPr lang="en-US" dirty="0">
                <a:solidFill>
                  <a:srgbClr val="000000"/>
                </a:solidFill>
                <a:ea typeface="ＭＳ Ｐゴシック" pitchFamily="34" charset="-128"/>
              </a:rPr>
              <a:t> is a lurking variable. </a:t>
            </a:r>
          </a:p>
          <a:p>
            <a:pPr eaLnBrk="1" hangingPunct="1">
              <a:lnSpc>
                <a:spcPct val="120000"/>
              </a:lnSpc>
              <a:buFont typeface="Wingdings 2" pitchFamily="18" charset="2"/>
              <a:buNone/>
            </a:pPr>
            <a:endParaRPr lang="en-US" sz="1800" dirty="0">
              <a:solidFill>
                <a:srgbClr val="000000"/>
              </a:solidFill>
              <a:ea typeface="ＭＳ Ｐゴシック" pitchFamily="34" charset="-128"/>
            </a:endParaRPr>
          </a:p>
          <a:p>
            <a:pPr eaLnBrk="1" hangingPunct="1">
              <a:buFont typeface="Wingdings 2" pitchFamily="18" charset="2"/>
              <a:buNone/>
            </a:pPr>
            <a:endParaRPr lang="en-US" dirty="0">
              <a:solidFill>
                <a:srgbClr val="000000"/>
              </a:solidFill>
              <a:ea typeface="ＭＳ Ｐゴシック" pitchFamily="34" charset="-128"/>
            </a:endParaRPr>
          </a:p>
        </p:txBody>
      </p:sp>
      <p:pic>
        <p:nvPicPr>
          <p:cNvPr id="71684" name="Picture 5" descr="Three diagrams of association. a, Causation. x causes y. x and y have an association. b, common response. z causes both x and y. x and y have an association. x and z both possibly cause y. x and z, and, x and y, have associations."/>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004446" y="3819501"/>
            <a:ext cx="7389108" cy="26887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24" y="153986"/>
            <a:ext cx="7772400" cy="1143000"/>
          </a:xfrm>
        </p:spPr>
        <p:txBody>
          <a:bodyPr/>
          <a:lstStyle/>
          <a:p>
            <a:r>
              <a:rPr lang="en-US" dirty="0">
                <a:solidFill>
                  <a:schemeClr val="accent1"/>
                </a:solidFill>
              </a:rPr>
              <a:t>Explaining Association: Common Response</a:t>
            </a:r>
            <a:endParaRPr lang="en-US" dirty="0"/>
          </a:p>
        </p:txBody>
      </p:sp>
      <p:sp>
        <p:nvSpPr>
          <p:cNvPr id="72710" name="Slide Number Placeholder 8"/>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A69DD3D2-7948-4157-AB16-85F96C4A7C81}" type="slidenum">
              <a:rPr lang="en-US">
                <a:solidFill>
                  <a:schemeClr val="accent1"/>
                </a:solidFill>
              </a:rPr>
              <a:pPr/>
              <a:t>50</a:t>
            </a:fld>
            <a:endParaRPr lang="en-US">
              <a:solidFill>
                <a:schemeClr val="accent1"/>
              </a:solidFill>
            </a:endParaRPr>
          </a:p>
        </p:txBody>
      </p:sp>
      <p:sp>
        <p:nvSpPr>
          <p:cNvPr id="72708" name="Rectangle 3"/>
          <p:cNvSpPr txBox="1">
            <a:spLocks noChangeArrowheads="1"/>
          </p:cNvSpPr>
          <p:nvPr/>
        </p:nvSpPr>
        <p:spPr bwMode="auto">
          <a:xfrm>
            <a:off x="174624" y="1521802"/>
            <a:ext cx="8585200" cy="1434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gn="just" defTabSz="914400" eaLnBrk="1" hangingPunct="1">
              <a:spcBef>
                <a:spcPts val="1800"/>
              </a:spcBef>
              <a:buClr>
                <a:schemeClr val="accent1"/>
              </a:buClr>
              <a:buSzPct val="100000"/>
              <a:buFont typeface="Wingdings 2" pitchFamily="18" charset="2"/>
              <a:buNone/>
            </a:pPr>
            <a:r>
              <a:rPr lang="en-US" altLang="en-US" sz="2000" dirty="0">
                <a:solidFill>
                  <a:srgbClr val="000000"/>
                </a:solidFill>
              </a:rPr>
              <a:t>“</a:t>
            </a:r>
            <a:r>
              <a:rPr lang="en-US" sz="2000" dirty="0">
                <a:solidFill>
                  <a:srgbClr val="000000"/>
                </a:solidFill>
              </a:rPr>
              <a:t>Beware the lurking variable</a:t>
            </a:r>
            <a:r>
              <a:rPr lang="en-US" altLang="en-US" sz="2000" dirty="0">
                <a:solidFill>
                  <a:srgbClr val="000000"/>
                </a:solidFill>
              </a:rPr>
              <a:t>”</a:t>
            </a:r>
            <a:r>
              <a:rPr lang="en-US" sz="2000" dirty="0">
                <a:solidFill>
                  <a:srgbClr val="000000"/>
                </a:solidFill>
              </a:rPr>
              <a:t> is good advice when thinking about an association between two variables. The observed relationship between the variables can be explained by a lurking variable. Both </a:t>
            </a:r>
            <a:r>
              <a:rPr lang="en-US" sz="2000" i="1" dirty="0">
                <a:solidFill>
                  <a:srgbClr val="000000"/>
                </a:solidFill>
              </a:rPr>
              <a:t>x</a:t>
            </a:r>
            <a:r>
              <a:rPr lang="en-US" sz="2000" dirty="0">
                <a:solidFill>
                  <a:srgbClr val="000000"/>
                </a:solidFill>
              </a:rPr>
              <a:t> and </a:t>
            </a:r>
            <a:r>
              <a:rPr lang="en-US" sz="2000" i="1" dirty="0">
                <a:solidFill>
                  <a:srgbClr val="000000"/>
                </a:solidFill>
              </a:rPr>
              <a:t>y</a:t>
            </a:r>
            <a:r>
              <a:rPr lang="en-US" sz="2000" dirty="0">
                <a:solidFill>
                  <a:srgbClr val="000000"/>
                </a:solidFill>
              </a:rPr>
              <a:t> may change in response to changes in </a:t>
            </a:r>
            <a:r>
              <a:rPr lang="en-US" sz="2000" i="1" dirty="0">
                <a:solidFill>
                  <a:srgbClr val="000000"/>
                </a:solidFill>
              </a:rPr>
              <a:t>z</a:t>
            </a:r>
            <a:r>
              <a:rPr lang="en-US" sz="2000" dirty="0">
                <a:solidFill>
                  <a:srgbClr val="000000"/>
                </a:solidFill>
              </a:rPr>
              <a:t>.</a:t>
            </a:r>
          </a:p>
        </p:txBody>
      </p:sp>
      <p:sp>
        <p:nvSpPr>
          <p:cNvPr id="72706" name="Rectangle 3"/>
          <p:cNvSpPr>
            <a:spLocks noGrp="1" noChangeArrowheads="1"/>
          </p:cNvSpPr>
          <p:nvPr>
            <p:ph type="body" idx="4294967295"/>
          </p:nvPr>
        </p:nvSpPr>
        <p:spPr>
          <a:xfrm>
            <a:off x="174624" y="2955925"/>
            <a:ext cx="6197600" cy="3703638"/>
          </a:xfrm>
        </p:spPr>
        <p:txBody>
          <a:bodyPr/>
          <a:lstStyle/>
          <a:p>
            <a:pPr marL="0" indent="0" algn="just" eaLnBrk="1" hangingPunct="1">
              <a:buFont typeface="Wingdings 2" pitchFamily="18" charset="2"/>
              <a:buNone/>
            </a:pPr>
            <a:r>
              <a:rPr lang="en-US" sz="1800" dirty="0">
                <a:solidFill>
                  <a:srgbClr val="000000"/>
                </a:solidFill>
                <a:ea typeface="ＭＳ Ｐゴシック" pitchFamily="34" charset="-128"/>
              </a:rPr>
              <a:t>Most students who have high SAT scores (</a:t>
            </a:r>
            <a:r>
              <a:rPr lang="en-US" sz="1800" i="1" dirty="0">
                <a:solidFill>
                  <a:srgbClr val="000000"/>
                </a:solidFill>
                <a:ea typeface="ＭＳ Ｐゴシック" pitchFamily="34" charset="-128"/>
              </a:rPr>
              <a:t>x</a:t>
            </a:r>
            <a:r>
              <a:rPr lang="en-US" sz="1800" dirty="0">
                <a:solidFill>
                  <a:srgbClr val="000000"/>
                </a:solidFill>
                <a:ea typeface="ＭＳ Ｐゴシック" pitchFamily="34" charset="-128"/>
              </a:rPr>
              <a:t>) in high school have high GPAs (</a:t>
            </a:r>
            <a:r>
              <a:rPr lang="en-US" sz="1800" i="1" dirty="0">
                <a:solidFill>
                  <a:srgbClr val="000000"/>
                </a:solidFill>
                <a:ea typeface="ＭＳ Ｐゴシック" pitchFamily="34" charset="-128"/>
              </a:rPr>
              <a:t>y</a:t>
            </a:r>
            <a:r>
              <a:rPr lang="en-US" sz="1800" dirty="0">
                <a:solidFill>
                  <a:srgbClr val="000000"/>
                </a:solidFill>
                <a:ea typeface="ＭＳ Ｐゴシック" pitchFamily="34" charset="-128"/>
              </a:rPr>
              <a:t>) in their first year of college.</a:t>
            </a:r>
          </a:p>
          <a:p>
            <a:pPr marL="0" indent="0" algn="just" eaLnBrk="1" hangingPunct="1">
              <a:buFont typeface="Wingdings" pitchFamily="2" charset="2"/>
              <a:buChar char="§"/>
            </a:pPr>
            <a:r>
              <a:rPr lang="en-US" sz="1800" dirty="0">
                <a:solidFill>
                  <a:srgbClr val="000000"/>
                </a:solidFill>
                <a:ea typeface="ＭＳ Ｐゴシック" pitchFamily="34" charset="-128"/>
              </a:rPr>
              <a:t>This positive correlation can be explained as a </a:t>
            </a:r>
            <a:r>
              <a:rPr lang="en-US" sz="1800" i="1" dirty="0">
                <a:solidFill>
                  <a:srgbClr val="000000"/>
                </a:solidFill>
                <a:ea typeface="ＭＳ Ｐゴシック" pitchFamily="34" charset="-128"/>
              </a:rPr>
              <a:t>common response</a:t>
            </a:r>
            <a:r>
              <a:rPr lang="en-US" sz="1800" dirty="0">
                <a:solidFill>
                  <a:srgbClr val="000000"/>
                </a:solidFill>
                <a:ea typeface="ＭＳ Ｐゴシック" pitchFamily="34" charset="-128"/>
              </a:rPr>
              <a:t> to students</a:t>
            </a:r>
            <a:r>
              <a:rPr lang="en-US" altLang="en-US" sz="1800" dirty="0">
                <a:solidFill>
                  <a:srgbClr val="000000"/>
                </a:solidFill>
                <a:ea typeface="ＭＳ Ｐゴシック" pitchFamily="34" charset="-128"/>
              </a:rPr>
              <a:t>’</a:t>
            </a:r>
            <a:r>
              <a:rPr lang="en-US" sz="1800" dirty="0">
                <a:solidFill>
                  <a:srgbClr val="000000"/>
                </a:solidFill>
                <a:ea typeface="ＭＳ Ｐゴシック" pitchFamily="34" charset="-128"/>
              </a:rPr>
              <a:t> ability and knowledge.</a:t>
            </a:r>
          </a:p>
          <a:p>
            <a:pPr marL="0" indent="0" algn="just" eaLnBrk="1" hangingPunct="1">
              <a:buFont typeface="Wingdings" pitchFamily="2" charset="2"/>
              <a:buChar char="§"/>
            </a:pPr>
            <a:r>
              <a:rPr lang="en-US" sz="1800" dirty="0">
                <a:solidFill>
                  <a:srgbClr val="000000"/>
                </a:solidFill>
                <a:ea typeface="ＭＳ Ｐゴシック" pitchFamily="34" charset="-128"/>
              </a:rPr>
              <a:t>The observed association between </a:t>
            </a:r>
            <a:r>
              <a:rPr lang="en-US" sz="1800" i="1" dirty="0">
                <a:solidFill>
                  <a:srgbClr val="000000"/>
                </a:solidFill>
                <a:ea typeface="ＭＳ Ｐゴシック" pitchFamily="34" charset="-128"/>
              </a:rPr>
              <a:t>x</a:t>
            </a:r>
            <a:r>
              <a:rPr lang="en-US" sz="1800" dirty="0">
                <a:solidFill>
                  <a:srgbClr val="000000"/>
                </a:solidFill>
                <a:ea typeface="ＭＳ Ｐゴシック" pitchFamily="34" charset="-128"/>
              </a:rPr>
              <a:t> and </a:t>
            </a:r>
            <a:r>
              <a:rPr lang="en-US" sz="1800" i="1" dirty="0">
                <a:solidFill>
                  <a:srgbClr val="000000"/>
                </a:solidFill>
                <a:ea typeface="ＭＳ Ｐゴシック" pitchFamily="34" charset="-128"/>
              </a:rPr>
              <a:t>y</a:t>
            </a:r>
            <a:r>
              <a:rPr lang="en-US" sz="1800" dirty="0">
                <a:solidFill>
                  <a:srgbClr val="000000"/>
                </a:solidFill>
                <a:ea typeface="ＭＳ Ｐゴシック" pitchFamily="34" charset="-128"/>
              </a:rPr>
              <a:t> could be explained by a third lurking variable </a:t>
            </a:r>
            <a:r>
              <a:rPr lang="en-US" sz="1800" i="1" dirty="0">
                <a:solidFill>
                  <a:srgbClr val="000000"/>
                </a:solidFill>
                <a:ea typeface="ＭＳ Ｐゴシック" pitchFamily="34" charset="-128"/>
              </a:rPr>
              <a:t>z. </a:t>
            </a:r>
            <a:r>
              <a:rPr lang="en-US" sz="1800" dirty="0">
                <a:solidFill>
                  <a:srgbClr val="000000"/>
                </a:solidFill>
                <a:ea typeface="ＭＳ Ｐゴシック" pitchFamily="34" charset="-128"/>
              </a:rPr>
              <a:t>In this example, </a:t>
            </a:r>
            <a:r>
              <a:rPr lang="en-US" altLang="en-US" sz="1800" dirty="0">
                <a:solidFill>
                  <a:srgbClr val="000000"/>
                </a:solidFill>
                <a:ea typeface="ＭＳ Ｐゴシック" pitchFamily="34" charset="-128"/>
              </a:rPr>
              <a:t>“</a:t>
            </a:r>
            <a:r>
              <a:rPr lang="en-US" sz="1800" dirty="0">
                <a:solidFill>
                  <a:srgbClr val="000000"/>
                </a:solidFill>
                <a:ea typeface="ＭＳ Ｐゴシック" pitchFamily="34" charset="-128"/>
              </a:rPr>
              <a:t>ability and knowledge</a:t>
            </a:r>
            <a:r>
              <a:rPr lang="en-US" altLang="en-US" sz="1800" dirty="0">
                <a:solidFill>
                  <a:srgbClr val="000000"/>
                </a:solidFill>
                <a:ea typeface="ＭＳ Ｐゴシック" pitchFamily="34" charset="-128"/>
              </a:rPr>
              <a:t>”</a:t>
            </a:r>
            <a:r>
              <a:rPr lang="en-US" sz="1800" dirty="0">
                <a:solidFill>
                  <a:srgbClr val="000000"/>
                </a:solidFill>
                <a:ea typeface="ＭＳ Ｐゴシック" pitchFamily="34" charset="-128"/>
              </a:rPr>
              <a:t> is the lurking variable.</a:t>
            </a:r>
            <a:endParaRPr lang="en-US" sz="1800" i="1" dirty="0">
              <a:solidFill>
                <a:srgbClr val="000000"/>
              </a:solidFill>
              <a:ea typeface="ＭＳ Ｐゴシック" pitchFamily="34" charset="-128"/>
            </a:endParaRPr>
          </a:p>
          <a:p>
            <a:pPr marL="0" indent="0" algn="just" eaLnBrk="1" hangingPunct="1">
              <a:buFont typeface="Wingdings" pitchFamily="2" charset="2"/>
              <a:buChar char="§"/>
            </a:pPr>
            <a:r>
              <a:rPr lang="en-US" sz="1800" dirty="0">
                <a:solidFill>
                  <a:srgbClr val="000000"/>
                </a:solidFill>
                <a:ea typeface="ＭＳ Ｐゴシック" pitchFamily="34" charset="-128"/>
              </a:rPr>
              <a:t>Both </a:t>
            </a:r>
            <a:r>
              <a:rPr lang="en-US" sz="1800" i="1" dirty="0">
                <a:solidFill>
                  <a:srgbClr val="000000"/>
                </a:solidFill>
                <a:ea typeface="ＭＳ Ｐゴシック" pitchFamily="34" charset="-128"/>
              </a:rPr>
              <a:t>x</a:t>
            </a:r>
            <a:r>
              <a:rPr lang="en-US" sz="1800" dirty="0">
                <a:solidFill>
                  <a:srgbClr val="000000"/>
                </a:solidFill>
                <a:ea typeface="ＭＳ Ｐゴシック" pitchFamily="34" charset="-128"/>
              </a:rPr>
              <a:t> and </a:t>
            </a:r>
            <a:r>
              <a:rPr lang="en-US" sz="1800" i="1" dirty="0">
                <a:solidFill>
                  <a:srgbClr val="000000"/>
                </a:solidFill>
                <a:ea typeface="ＭＳ Ｐゴシック" pitchFamily="34" charset="-128"/>
              </a:rPr>
              <a:t>y</a:t>
            </a:r>
            <a:r>
              <a:rPr lang="en-US" sz="1800" dirty="0">
                <a:solidFill>
                  <a:srgbClr val="000000"/>
                </a:solidFill>
                <a:ea typeface="ＭＳ Ｐゴシック" pitchFamily="34" charset="-128"/>
              </a:rPr>
              <a:t> change in response to changes in </a:t>
            </a:r>
            <a:r>
              <a:rPr lang="en-US" sz="1800" i="1" dirty="0">
                <a:solidFill>
                  <a:srgbClr val="000000"/>
                </a:solidFill>
                <a:ea typeface="ＭＳ Ｐゴシック" pitchFamily="34" charset="-128"/>
              </a:rPr>
              <a:t>z</a:t>
            </a:r>
            <a:r>
              <a:rPr lang="en-US" sz="1800" dirty="0">
                <a:solidFill>
                  <a:srgbClr val="000000"/>
                </a:solidFill>
                <a:ea typeface="ＭＳ Ｐゴシック" pitchFamily="34" charset="-128"/>
              </a:rPr>
              <a:t>. This creates an association, even though there is no direct causal link.</a:t>
            </a:r>
          </a:p>
        </p:txBody>
      </p:sp>
      <p:pic>
        <p:nvPicPr>
          <p:cNvPr id="72709" name="Picture 5" descr="The image on the slide displays a &quot;common response&quot; figure with three variables X(explanatory), Y(response) and Z(lurking). Cause and effect link is drawn from Z to X and Z to Y and association is drawn between X and Y."/>
          <p:cNvPicPr>
            <a:picLocks noChangeAspect="1" noChangeArrowheads="1"/>
          </p:cNvPicPr>
          <p:nvPr/>
        </p:nvPicPr>
        <p:blipFill>
          <a:blip r:embed="rId3">
            <a:extLst>
              <a:ext uri="{28A0092B-C50C-407E-A947-70E740481C1C}">
                <a14:useLocalDpi xmlns:a14="http://schemas.microsoft.com/office/drawing/2010/main" val="0"/>
              </a:ext>
            </a:extLst>
          </a:blip>
          <a:srcRect l="34715" r="33897" b="8508"/>
          <a:stretch>
            <a:fillRect/>
          </a:stretch>
        </p:blipFill>
        <p:spPr bwMode="auto">
          <a:xfrm>
            <a:off x="6502400" y="3322638"/>
            <a:ext cx="2540000" cy="285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Explaining Association: Confounding</a:t>
            </a:r>
            <a:endParaRPr lang="en-US" dirty="0"/>
          </a:p>
        </p:txBody>
      </p:sp>
      <p:sp>
        <p:nvSpPr>
          <p:cNvPr id="73731" name="Slide Number Placeholder 8"/>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F2B2348A-F266-46BD-98FB-803764AC988D}" type="slidenum">
              <a:rPr lang="en-US">
                <a:solidFill>
                  <a:schemeClr val="accent1"/>
                </a:solidFill>
              </a:rPr>
              <a:pPr/>
              <a:t>51</a:t>
            </a:fld>
            <a:endParaRPr lang="en-US">
              <a:solidFill>
                <a:schemeClr val="accent1"/>
              </a:solidFill>
            </a:endParaRPr>
          </a:p>
        </p:txBody>
      </p:sp>
      <p:sp>
        <p:nvSpPr>
          <p:cNvPr id="73730" name="Rectangle 3"/>
          <p:cNvSpPr>
            <a:spLocks noGrp="1" noChangeArrowheads="1"/>
          </p:cNvSpPr>
          <p:nvPr>
            <p:ph type="body" idx="4294967295"/>
          </p:nvPr>
        </p:nvSpPr>
        <p:spPr>
          <a:xfrm>
            <a:off x="254001" y="1380966"/>
            <a:ext cx="8564562" cy="1098465"/>
          </a:xfrm>
          <a:solidFill>
            <a:srgbClr val="FFD780"/>
          </a:solidFill>
        </p:spPr>
        <p:txBody>
          <a:bodyPr/>
          <a:lstStyle/>
          <a:p>
            <a:pPr marL="0" indent="0" algn="just" eaLnBrk="1" hangingPunct="1">
              <a:buFont typeface="Wingdings 2" pitchFamily="18" charset="2"/>
              <a:buNone/>
            </a:pPr>
            <a:r>
              <a:rPr lang="en-US" dirty="0">
                <a:solidFill>
                  <a:srgbClr val="000000"/>
                </a:solidFill>
                <a:ea typeface="ＭＳ Ｐゴシック" pitchFamily="34" charset="-128"/>
              </a:rPr>
              <a:t>Two </a:t>
            </a:r>
            <a:r>
              <a:rPr lang="en-US" dirty="0">
                <a:solidFill>
                  <a:schemeClr val="tx1"/>
                </a:solidFill>
                <a:ea typeface="ＭＳ Ｐゴシック" pitchFamily="34" charset="-128"/>
              </a:rPr>
              <a:t>variables are </a:t>
            </a:r>
            <a:r>
              <a:rPr lang="en-US" b="1" dirty="0">
                <a:solidFill>
                  <a:schemeClr val="tx1"/>
                </a:solidFill>
                <a:ea typeface="ＭＳ Ｐゴシック" pitchFamily="34" charset="-128"/>
              </a:rPr>
              <a:t>confounded </a:t>
            </a:r>
            <a:r>
              <a:rPr lang="en-US" dirty="0">
                <a:solidFill>
                  <a:schemeClr val="tx1"/>
                </a:solidFill>
                <a:ea typeface="ＭＳ Ｐゴシック" pitchFamily="34" charset="-128"/>
              </a:rPr>
              <a:t>when </a:t>
            </a:r>
            <a:r>
              <a:rPr lang="en-US" dirty="0">
                <a:solidFill>
                  <a:srgbClr val="000000"/>
                </a:solidFill>
                <a:ea typeface="ＭＳ Ｐゴシック" pitchFamily="34" charset="-128"/>
              </a:rPr>
              <a:t>their effects on a response variable cannot be distinguished from each other. The confounded variables may be either explanatory variables or lurking variables.</a:t>
            </a:r>
          </a:p>
        </p:txBody>
      </p:sp>
      <p:sp>
        <p:nvSpPr>
          <p:cNvPr id="73733" name="Rectangle 5"/>
          <p:cNvSpPr>
            <a:spLocks noChangeArrowheads="1"/>
          </p:cNvSpPr>
          <p:nvPr/>
        </p:nvSpPr>
        <p:spPr bwMode="auto">
          <a:xfrm>
            <a:off x="392113" y="2935532"/>
            <a:ext cx="5358056"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176213" indent="-176213" eaLnBrk="1" hangingPunct="1">
              <a:buFont typeface="Wingdings" pitchFamily="2" charset="2"/>
              <a:buChar char="§"/>
            </a:pPr>
            <a:r>
              <a:rPr lang="en-US" sz="2000" b="1" u="sng" dirty="0">
                <a:solidFill>
                  <a:srgbClr val="002060"/>
                </a:solidFill>
              </a:rPr>
              <a:t>Example</a:t>
            </a:r>
            <a:r>
              <a:rPr lang="en-US" sz="2000" b="1" dirty="0">
                <a:solidFill>
                  <a:srgbClr val="002060"/>
                </a:solidFill>
              </a:rPr>
              <a:t>: </a:t>
            </a:r>
            <a:r>
              <a:rPr lang="en-US" sz="2000" dirty="0"/>
              <a:t>Studies have found that religious people live longer than nonreligious people.</a:t>
            </a:r>
          </a:p>
          <a:p>
            <a:pPr marL="176213" indent="-176213" eaLnBrk="1" hangingPunct="1">
              <a:buFont typeface="Wingdings" pitchFamily="2" charset="2"/>
              <a:buChar char="§"/>
            </a:pPr>
            <a:endParaRPr lang="en-US" sz="2000" dirty="0"/>
          </a:p>
          <a:p>
            <a:pPr marL="176213" indent="-176213" algn="just" eaLnBrk="1" hangingPunct="1">
              <a:buFont typeface="Wingdings" pitchFamily="2" charset="2"/>
              <a:buChar char="§"/>
            </a:pPr>
            <a:r>
              <a:rPr lang="en-US" sz="2000" dirty="0"/>
              <a:t>Religious people also take better care of themselves and are less likely to smoke or to be overweight.</a:t>
            </a:r>
          </a:p>
        </p:txBody>
      </p:sp>
      <p:pic>
        <p:nvPicPr>
          <p:cNvPr id="73734" name="Picture 5" descr="The image on the slide displays a &quot;confounding&quot; figure with three variables X(explanatory), Y(response) and Z(lurking). There is a cause and effect link pointing from X to Y and from Z to Y with a question mark symbol on both these links. Association is drawn between X and Y and X and Z."/>
          <p:cNvPicPr>
            <a:picLocks noChangeAspect="1" noChangeArrowheads="1"/>
          </p:cNvPicPr>
          <p:nvPr/>
        </p:nvPicPr>
        <p:blipFill>
          <a:blip r:embed="rId3">
            <a:extLst>
              <a:ext uri="{28A0092B-C50C-407E-A947-70E740481C1C}">
                <a14:useLocalDpi xmlns:a14="http://schemas.microsoft.com/office/drawing/2010/main" val="0"/>
              </a:ext>
            </a:extLst>
          </a:blip>
          <a:srcRect l="69353" b="8508"/>
          <a:stretch>
            <a:fillRect/>
          </a:stretch>
        </p:blipFill>
        <p:spPr bwMode="auto">
          <a:xfrm>
            <a:off x="6232525" y="3322638"/>
            <a:ext cx="2586038" cy="297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accent1"/>
                </a:solidFill>
              </a:rPr>
              <a:t>Establishing Causation</a:t>
            </a:r>
            <a:endParaRPr lang="en-US" dirty="0"/>
          </a:p>
        </p:txBody>
      </p:sp>
      <p:sp>
        <p:nvSpPr>
          <p:cNvPr id="74756" name="Slide Number Placeholder 8"/>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D2CAD7A8-6097-41D8-B98B-52CE67F6CCD8}" type="slidenum">
              <a:rPr lang="en-US">
                <a:solidFill>
                  <a:schemeClr val="accent1"/>
                </a:solidFill>
              </a:rPr>
              <a:pPr/>
              <a:t>52</a:t>
            </a:fld>
            <a:endParaRPr lang="en-US">
              <a:solidFill>
                <a:schemeClr val="accent1"/>
              </a:solidFill>
            </a:endParaRPr>
          </a:p>
        </p:txBody>
      </p:sp>
      <p:sp>
        <p:nvSpPr>
          <p:cNvPr id="74754" name="Text Box 4"/>
          <p:cNvSpPr txBox="1">
            <a:spLocks noChangeArrowheads="1"/>
          </p:cNvSpPr>
          <p:nvPr/>
        </p:nvSpPr>
        <p:spPr bwMode="auto">
          <a:xfrm>
            <a:off x="174626" y="1119310"/>
            <a:ext cx="8081962"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110000"/>
              </a:lnSpc>
              <a:spcBef>
                <a:spcPct val="25000"/>
              </a:spcBef>
              <a:spcAft>
                <a:spcPct val="35000"/>
              </a:spcAft>
            </a:pPr>
            <a:r>
              <a:rPr lang="en-US" sz="2000" dirty="0"/>
              <a:t>It appears that lung cancer is associated with smoking. </a:t>
            </a:r>
          </a:p>
          <a:p>
            <a:pPr algn="just">
              <a:lnSpc>
                <a:spcPct val="110000"/>
              </a:lnSpc>
              <a:spcAft>
                <a:spcPct val="35000"/>
              </a:spcAft>
            </a:pPr>
            <a:r>
              <a:rPr lang="en-US" sz="2000" dirty="0"/>
              <a:t>How do we know that both of these variables are not being affected by an unobserved third (lurking) variable?</a:t>
            </a:r>
          </a:p>
          <a:p>
            <a:pPr algn="just">
              <a:lnSpc>
                <a:spcPct val="110000"/>
              </a:lnSpc>
              <a:spcAft>
                <a:spcPct val="35000"/>
              </a:spcAft>
            </a:pPr>
            <a:r>
              <a:rPr lang="en-US" sz="2000" dirty="0"/>
              <a:t>For instance, what if there is a genetic predisposition that causes people both to get lung cancer </a:t>
            </a:r>
            <a:r>
              <a:rPr lang="en-US" sz="2000" i="1" dirty="0"/>
              <a:t>and</a:t>
            </a:r>
            <a:r>
              <a:rPr lang="en-US" sz="2000" dirty="0"/>
              <a:t> to become addicted to smoking, but the smoking itself does not CAUSE lung cancer? </a:t>
            </a:r>
          </a:p>
        </p:txBody>
      </p:sp>
      <p:grpSp>
        <p:nvGrpSpPr>
          <p:cNvPr id="2" name="Group 6" descr="We can evaluate the association using the following criteria"/>
          <p:cNvGrpSpPr>
            <a:grpSpLocks/>
          </p:cNvGrpSpPr>
          <p:nvPr/>
        </p:nvGrpSpPr>
        <p:grpSpPr bwMode="auto">
          <a:xfrm>
            <a:off x="325185" y="3767138"/>
            <a:ext cx="7622662" cy="2589213"/>
            <a:chOff x="1939" y="2151"/>
            <a:chExt cx="3438" cy="1631"/>
          </a:xfrm>
          <a:solidFill>
            <a:srgbClr val="EEEFD6"/>
          </a:solidFill>
        </p:grpSpPr>
        <p:sp>
          <p:nvSpPr>
            <p:cNvPr id="227335" name="Text Box 7"/>
            <p:cNvSpPr txBox="1">
              <a:spLocks noChangeArrowheads="1"/>
            </p:cNvSpPr>
            <p:nvPr/>
          </p:nvSpPr>
          <p:spPr bwMode="auto">
            <a:xfrm>
              <a:off x="1939" y="2544"/>
              <a:ext cx="3438" cy="1238"/>
            </a:xfrm>
            <a:prstGeom prst="rect">
              <a:avLst/>
            </a:prstGeom>
            <a:solidFill>
              <a:srgbClr val="FFD780"/>
            </a:solidFill>
            <a:ln w="9525">
              <a:noFill/>
              <a:miter lim="800000"/>
              <a:headEnd/>
              <a:tailEnd/>
            </a:ln>
          </p:spPr>
          <p:txBody>
            <a:bodyPr wrap="square">
              <a:spAutoFit/>
            </a:bodyPr>
            <a:lstStyle/>
            <a:p>
              <a:pPr marL="457200" indent="-457200">
                <a:lnSpc>
                  <a:spcPct val="110000"/>
                </a:lnSpc>
                <a:spcAft>
                  <a:spcPct val="15000"/>
                </a:spcAft>
                <a:buFont typeface="+mj-lt"/>
                <a:buAutoNum type="arabicPeriod"/>
                <a:defRPr/>
              </a:pPr>
              <a:r>
                <a:rPr lang="en-US" sz="2000" dirty="0">
                  <a:latin typeface="Arial" pitchFamily="-84" charset="0"/>
                  <a:ea typeface="ＭＳ Ｐゴシック" pitchFamily="-84" charset="-128"/>
                  <a:cs typeface="ＭＳ Ｐゴシック" pitchFamily="-84" charset="-128"/>
                </a:rPr>
                <a:t>The association is strong.</a:t>
              </a:r>
            </a:p>
            <a:p>
              <a:pPr marL="457200" indent="-457200">
                <a:lnSpc>
                  <a:spcPct val="110000"/>
                </a:lnSpc>
                <a:spcAft>
                  <a:spcPct val="15000"/>
                </a:spcAft>
                <a:buFont typeface="+mj-lt"/>
                <a:buAutoNum type="arabicPeriod"/>
                <a:defRPr/>
              </a:pPr>
              <a:r>
                <a:rPr lang="en-US" sz="2000" dirty="0">
                  <a:latin typeface="Arial" pitchFamily="-84" charset="0"/>
                  <a:ea typeface="ＭＳ Ｐゴシック" pitchFamily="-84" charset="-128"/>
                  <a:cs typeface="ＭＳ Ｐゴシック" pitchFamily="-84" charset="-128"/>
                </a:rPr>
                <a:t>The association is consistent.</a:t>
              </a:r>
            </a:p>
            <a:p>
              <a:pPr marL="457200" indent="-457200">
                <a:lnSpc>
                  <a:spcPct val="110000"/>
                </a:lnSpc>
                <a:spcAft>
                  <a:spcPct val="15000"/>
                </a:spcAft>
                <a:buFont typeface="+mj-lt"/>
                <a:buAutoNum type="arabicPeriod"/>
                <a:defRPr/>
              </a:pPr>
              <a:r>
                <a:rPr lang="en-US" sz="2000" dirty="0">
                  <a:latin typeface="Arial" pitchFamily="-84" charset="0"/>
                  <a:ea typeface="ＭＳ Ｐゴシック" pitchFamily="-84" charset="-128"/>
                  <a:cs typeface="ＭＳ Ｐゴシック" pitchFamily="-84" charset="-128"/>
                </a:rPr>
                <a:t>Higher doses are associated with stronger responses.</a:t>
              </a:r>
            </a:p>
            <a:p>
              <a:pPr marL="457200" indent="-457200">
                <a:lnSpc>
                  <a:spcPct val="110000"/>
                </a:lnSpc>
                <a:spcAft>
                  <a:spcPct val="15000"/>
                </a:spcAft>
                <a:buFont typeface="+mj-lt"/>
                <a:buAutoNum type="arabicPeriod"/>
                <a:defRPr/>
              </a:pPr>
              <a:r>
                <a:rPr lang="en-US" sz="2000" dirty="0">
                  <a:latin typeface="Arial" pitchFamily="-84" charset="0"/>
                  <a:ea typeface="ＭＳ Ｐゴシック" pitchFamily="-84" charset="-128"/>
                  <a:cs typeface="ＭＳ Ｐゴシック" pitchFamily="-84" charset="-128"/>
                </a:rPr>
                <a:t>The alleged cause precedes the effect.</a:t>
              </a:r>
            </a:p>
            <a:p>
              <a:pPr marL="457200" indent="-457200">
                <a:lnSpc>
                  <a:spcPct val="110000"/>
                </a:lnSpc>
                <a:spcAft>
                  <a:spcPct val="15000"/>
                </a:spcAft>
                <a:buFont typeface="+mj-lt"/>
                <a:buAutoNum type="arabicPeriod"/>
                <a:defRPr/>
              </a:pPr>
              <a:r>
                <a:rPr lang="en-US" sz="2000" dirty="0">
                  <a:latin typeface="Arial" pitchFamily="-84" charset="0"/>
                  <a:ea typeface="ＭＳ Ｐゴシック" pitchFamily="-84" charset="-128"/>
                  <a:cs typeface="ＭＳ Ｐゴシック" pitchFamily="-84" charset="-128"/>
                </a:rPr>
                <a:t>The alleged cause is plausible.</a:t>
              </a:r>
            </a:p>
          </p:txBody>
        </p:sp>
        <p:sp>
          <p:nvSpPr>
            <p:cNvPr id="227336" name="Text Box 8"/>
            <p:cNvSpPr txBox="1">
              <a:spLocks noChangeArrowheads="1"/>
            </p:cNvSpPr>
            <p:nvPr/>
          </p:nvSpPr>
          <p:spPr bwMode="auto">
            <a:xfrm>
              <a:off x="1939" y="2151"/>
              <a:ext cx="3438" cy="252"/>
            </a:xfrm>
            <a:prstGeom prst="rect">
              <a:avLst/>
            </a:prstGeom>
            <a:solidFill>
              <a:srgbClr val="FFD780"/>
            </a:solidFill>
            <a:ln w="9525">
              <a:noFill/>
              <a:miter lim="800000"/>
              <a:headEnd/>
              <a:tailEnd/>
            </a:ln>
          </p:spPr>
          <p:txBody>
            <a:bodyPr wrap="square">
              <a:spAutoFit/>
            </a:bodyPr>
            <a:lstStyle/>
            <a:p>
              <a:pPr>
                <a:defRPr/>
              </a:pPr>
              <a:r>
                <a:rPr lang="en-US" sz="2000" b="1" dirty="0">
                  <a:latin typeface="Arial" pitchFamily="-84" charset="0"/>
                  <a:ea typeface="ＭＳ Ｐゴシック" pitchFamily="-84" charset="-128"/>
                  <a:cs typeface="ＭＳ Ｐゴシック" pitchFamily="-84" charset="-128"/>
                </a:rPr>
                <a:t>We can evaluate the association using the following criteria:</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solidFill>
              </a:rPr>
              <a:t>Evidence of Causation</a:t>
            </a:r>
            <a:endParaRPr lang="en-US" dirty="0"/>
          </a:p>
        </p:txBody>
      </p:sp>
      <p:sp>
        <p:nvSpPr>
          <p:cNvPr id="75779" name="Slide Number Placeholder 5"/>
          <p:cNvSpPr>
            <a:spLocks noGrp="1"/>
          </p:cNvSpPr>
          <p:nvPr>
            <p:ph type="sldNum" sz="quarter" idx="12"/>
          </p:nvPr>
        </p:nvSpPr>
        <p:spPr bwMode="auto">
          <a:xfrm>
            <a:off x="8256588" y="360363"/>
            <a:ext cx="506412"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pPr>
              <a:lnSpc>
                <a:spcPct val="80000"/>
              </a:lnSpc>
            </a:pPr>
            <a:fld id="{15309393-FC56-409A-9676-F51C6EAE697E}" type="slidenum">
              <a:rPr lang="en-US" sz="1200">
                <a:solidFill>
                  <a:schemeClr val="accent1"/>
                </a:solidFill>
              </a:rPr>
              <a:pPr>
                <a:lnSpc>
                  <a:spcPct val="80000"/>
                </a:lnSpc>
              </a:pPr>
              <a:t>53</a:t>
            </a:fld>
            <a:endParaRPr lang="en-US" sz="1200">
              <a:solidFill>
                <a:schemeClr val="accent1"/>
              </a:solidFill>
            </a:endParaRPr>
          </a:p>
        </p:txBody>
      </p:sp>
      <p:sp>
        <p:nvSpPr>
          <p:cNvPr id="500739" name="Rectangle 3"/>
          <p:cNvSpPr>
            <a:spLocks noGrp="1" noChangeArrowheads="1"/>
          </p:cNvSpPr>
          <p:nvPr>
            <p:ph sz="quarter" idx="4294967295"/>
          </p:nvPr>
        </p:nvSpPr>
        <p:spPr>
          <a:xfrm>
            <a:off x="174624" y="1380763"/>
            <a:ext cx="8335170" cy="4887912"/>
          </a:xfrm>
          <a:solidFill>
            <a:srgbClr val="FFD780"/>
          </a:solidFill>
        </p:spPr>
        <p:txBody>
          <a:bodyPr/>
          <a:lstStyle/>
          <a:p>
            <a:pPr eaLnBrk="1" hangingPunct="1">
              <a:lnSpc>
                <a:spcPct val="85000"/>
              </a:lnSpc>
              <a:spcAft>
                <a:spcPts val="1200"/>
              </a:spcAft>
              <a:buFont typeface="Wingdings 2" pitchFamily="18" charset="2"/>
              <a:buNone/>
            </a:pPr>
            <a:r>
              <a:rPr lang="en-US" dirty="0">
                <a:solidFill>
                  <a:schemeClr val="tx1"/>
                </a:solidFill>
                <a:ea typeface="ＭＳ Ｐゴシック" pitchFamily="34" charset="-128"/>
              </a:rPr>
              <a:t>A properly conducted </a:t>
            </a:r>
            <a:r>
              <a:rPr lang="en-US" b="1" dirty="0">
                <a:solidFill>
                  <a:srgbClr val="C00000"/>
                </a:solidFill>
                <a:ea typeface="ＭＳ Ｐゴシック" pitchFamily="34" charset="-128"/>
              </a:rPr>
              <a:t>experiment</a:t>
            </a:r>
            <a:r>
              <a:rPr lang="en-US" dirty="0">
                <a:solidFill>
                  <a:schemeClr val="tx1"/>
                </a:solidFill>
                <a:ea typeface="ＭＳ Ｐゴシック" pitchFamily="34" charset="-128"/>
              </a:rPr>
              <a:t> may establish causation.</a:t>
            </a:r>
            <a:endParaRPr lang="en-US" i="1" dirty="0">
              <a:solidFill>
                <a:schemeClr val="tx1"/>
              </a:solidFill>
              <a:ea typeface="ＭＳ Ｐゴシック" pitchFamily="34" charset="-128"/>
            </a:endParaRPr>
          </a:p>
          <a:p>
            <a:pPr eaLnBrk="1" hangingPunct="1">
              <a:lnSpc>
                <a:spcPct val="85000"/>
              </a:lnSpc>
              <a:spcAft>
                <a:spcPts val="1200"/>
              </a:spcAft>
              <a:buFont typeface="Wingdings 2" pitchFamily="18" charset="2"/>
              <a:buNone/>
            </a:pPr>
            <a:r>
              <a:rPr lang="en-US" dirty="0">
                <a:solidFill>
                  <a:schemeClr val="tx1"/>
                </a:solidFill>
                <a:ea typeface="ＭＳ Ｐゴシック" pitchFamily="34" charset="-128"/>
              </a:rPr>
              <a:t>Other things to consider when we cannot do an experiment:</a:t>
            </a:r>
          </a:p>
          <a:p>
            <a:pPr lvl="1" eaLnBrk="1" hangingPunct="1">
              <a:lnSpc>
                <a:spcPct val="85000"/>
              </a:lnSpc>
              <a:spcAft>
                <a:spcPts val="1200"/>
              </a:spcAft>
              <a:buClr>
                <a:schemeClr val="accent1"/>
              </a:buClr>
            </a:pPr>
            <a:r>
              <a:rPr lang="en-US" sz="2000" dirty="0">
                <a:solidFill>
                  <a:schemeClr val="tx1"/>
                </a:solidFill>
                <a:ea typeface="ＭＳ Ｐゴシック" pitchFamily="34" charset="-128"/>
              </a:rPr>
              <a:t>The association is </a:t>
            </a:r>
            <a:r>
              <a:rPr lang="en-US" sz="2000" i="1" dirty="0">
                <a:solidFill>
                  <a:schemeClr val="tx1"/>
                </a:solidFill>
                <a:ea typeface="ＭＳ Ｐゴシック" pitchFamily="34" charset="-128"/>
              </a:rPr>
              <a:t>strong.</a:t>
            </a:r>
          </a:p>
          <a:p>
            <a:pPr lvl="1" eaLnBrk="1" hangingPunct="1">
              <a:lnSpc>
                <a:spcPct val="85000"/>
              </a:lnSpc>
              <a:spcAft>
                <a:spcPts val="1200"/>
              </a:spcAft>
              <a:buClr>
                <a:schemeClr val="accent1"/>
              </a:buClr>
            </a:pPr>
            <a:r>
              <a:rPr lang="en-US" sz="2000" dirty="0">
                <a:solidFill>
                  <a:schemeClr val="tx1"/>
                </a:solidFill>
                <a:ea typeface="ＭＳ Ｐゴシック" pitchFamily="34" charset="-128"/>
              </a:rPr>
              <a:t>The association is </a:t>
            </a:r>
            <a:r>
              <a:rPr lang="en-US" sz="2000" i="1" dirty="0">
                <a:solidFill>
                  <a:schemeClr val="tx1"/>
                </a:solidFill>
                <a:ea typeface="ＭＳ Ｐゴシック" pitchFamily="34" charset="-128"/>
              </a:rPr>
              <a:t>consistent.</a:t>
            </a:r>
          </a:p>
          <a:p>
            <a:pPr lvl="2" eaLnBrk="1" hangingPunct="1">
              <a:lnSpc>
                <a:spcPct val="85000"/>
              </a:lnSpc>
              <a:spcAft>
                <a:spcPts val="1200"/>
              </a:spcAft>
              <a:buSzPct val="75000"/>
            </a:pPr>
            <a:r>
              <a:rPr lang="en-US" sz="2000" dirty="0">
                <a:solidFill>
                  <a:schemeClr val="tx1"/>
                </a:solidFill>
                <a:ea typeface="ＭＳ Ｐゴシック" pitchFamily="34" charset="-128"/>
              </a:rPr>
              <a:t>The connection happens in </a:t>
            </a:r>
            <a:r>
              <a:rPr lang="en-US" sz="2000" i="1" dirty="0">
                <a:solidFill>
                  <a:schemeClr val="tx1"/>
                </a:solidFill>
                <a:ea typeface="ＭＳ Ｐゴシック" pitchFamily="34" charset="-128"/>
              </a:rPr>
              <a:t>repeated trials. </a:t>
            </a:r>
          </a:p>
          <a:p>
            <a:pPr lvl="2" eaLnBrk="1" hangingPunct="1">
              <a:lnSpc>
                <a:spcPct val="85000"/>
              </a:lnSpc>
              <a:spcAft>
                <a:spcPts val="1200"/>
              </a:spcAft>
              <a:buSzPct val="75000"/>
            </a:pPr>
            <a:r>
              <a:rPr lang="en-US" sz="2000" dirty="0">
                <a:solidFill>
                  <a:schemeClr val="tx1"/>
                </a:solidFill>
                <a:ea typeface="ＭＳ Ｐゴシック" pitchFamily="34" charset="-128"/>
              </a:rPr>
              <a:t>The connection happens under </a:t>
            </a:r>
            <a:r>
              <a:rPr lang="en-US" sz="2000" i="1" dirty="0">
                <a:solidFill>
                  <a:schemeClr val="tx1"/>
                </a:solidFill>
                <a:ea typeface="ＭＳ Ｐゴシック" pitchFamily="34" charset="-128"/>
              </a:rPr>
              <a:t>varying conditions.</a:t>
            </a:r>
          </a:p>
          <a:p>
            <a:pPr lvl="1" eaLnBrk="1" hangingPunct="1">
              <a:lnSpc>
                <a:spcPct val="85000"/>
              </a:lnSpc>
              <a:spcAft>
                <a:spcPts val="1200"/>
              </a:spcAft>
              <a:buClr>
                <a:schemeClr val="accent1"/>
              </a:buClr>
            </a:pPr>
            <a:r>
              <a:rPr lang="en-US" sz="2000" dirty="0">
                <a:solidFill>
                  <a:schemeClr val="tx1"/>
                </a:solidFill>
                <a:ea typeface="ＭＳ Ｐゴシック" pitchFamily="34" charset="-128"/>
              </a:rPr>
              <a:t>Higher doses are associated with stronger responses.</a:t>
            </a:r>
          </a:p>
          <a:p>
            <a:pPr lvl="1" eaLnBrk="1" hangingPunct="1">
              <a:lnSpc>
                <a:spcPct val="85000"/>
              </a:lnSpc>
              <a:spcAft>
                <a:spcPts val="1200"/>
              </a:spcAft>
              <a:buClr>
                <a:schemeClr val="accent1"/>
              </a:buClr>
            </a:pPr>
            <a:r>
              <a:rPr lang="en-US" sz="2000" dirty="0">
                <a:solidFill>
                  <a:schemeClr val="tx1"/>
                </a:solidFill>
                <a:ea typeface="ＭＳ Ｐゴシック" pitchFamily="34" charset="-128"/>
              </a:rPr>
              <a:t>The alleged cause </a:t>
            </a:r>
            <a:r>
              <a:rPr lang="en-US" sz="2000" i="1" dirty="0">
                <a:solidFill>
                  <a:schemeClr val="tx1"/>
                </a:solidFill>
                <a:ea typeface="ＭＳ Ｐゴシック" pitchFamily="34" charset="-128"/>
              </a:rPr>
              <a:t>precedes </a:t>
            </a:r>
            <a:r>
              <a:rPr lang="en-US" sz="2000" dirty="0">
                <a:solidFill>
                  <a:schemeClr val="tx1"/>
                </a:solidFill>
                <a:ea typeface="ＭＳ Ｐゴシック" pitchFamily="34" charset="-128"/>
              </a:rPr>
              <a:t>the effect in time.</a:t>
            </a:r>
          </a:p>
          <a:p>
            <a:pPr lvl="1" eaLnBrk="1" hangingPunct="1">
              <a:lnSpc>
                <a:spcPct val="85000"/>
              </a:lnSpc>
              <a:spcAft>
                <a:spcPts val="1200"/>
              </a:spcAft>
              <a:buClr>
                <a:schemeClr val="accent1"/>
              </a:buClr>
            </a:pPr>
            <a:r>
              <a:rPr lang="en-US" sz="2000" dirty="0">
                <a:solidFill>
                  <a:schemeClr val="tx1"/>
                </a:solidFill>
                <a:ea typeface="ＭＳ Ｐゴシック" pitchFamily="34" charset="-128"/>
              </a:rPr>
              <a:t>The alleged cause is </a:t>
            </a:r>
            <a:r>
              <a:rPr lang="en-US" sz="2000" b="1" i="1" dirty="0">
                <a:solidFill>
                  <a:srgbClr val="C00000"/>
                </a:solidFill>
                <a:ea typeface="ＭＳ Ｐゴシック" pitchFamily="34" charset="-128"/>
              </a:rPr>
              <a:t>plausible</a:t>
            </a:r>
            <a:r>
              <a:rPr lang="en-US" sz="2000" i="1" dirty="0">
                <a:solidFill>
                  <a:srgbClr val="C00000"/>
                </a:solidFill>
                <a:ea typeface="ＭＳ Ｐゴシック" pitchFamily="34" charset="-128"/>
              </a:rPr>
              <a:t> </a:t>
            </a:r>
            <a:r>
              <a:rPr lang="en-US" sz="2000" dirty="0">
                <a:solidFill>
                  <a:schemeClr val="tx1"/>
                </a:solidFill>
                <a:ea typeface="ＭＳ Ｐゴシック" pitchFamily="34" charset="-128"/>
              </a:rPr>
              <a:t>(reasonable explanation).</a:t>
            </a:r>
          </a:p>
        </p:txBody>
      </p:sp>
      <p:pic>
        <p:nvPicPr>
          <p:cNvPr id="75778" name="Picture 5" descr="The image on the slide displays a &quot;causation&quot; figure with two variables X(explanatory) and Y(response). A cause and effect link is directed from X to Y and association is shown between X and Y."/>
          <p:cNvPicPr>
            <a:picLocks noChangeAspect="1" noChangeArrowheads="1"/>
          </p:cNvPicPr>
          <p:nvPr/>
        </p:nvPicPr>
        <p:blipFill>
          <a:blip r:embed="rId3">
            <a:extLst>
              <a:ext uri="{28A0092B-C50C-407E-A947-70E740481C1C}">
                <a14:useLocalDpi xmlns:a14="http://schemas.microsoft.com/office/drawing/2010/main" val="0"/>
              </a:ext>
            </a:extLst>
          </a:blip>
          <a:srcRect r="70621" b="64716"/>
          <a:stretch>
            <a:fillRect/>
          </a:stretch>
        </p:blipFill>
        <p:spPr bwMode="auto">
          <a:xfrm>
            <a:off x="6030119" y="2536279"/>
            <a:ext cx="2479675" cy="1147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007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007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0073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00739">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500739">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499"/>
                                          </p:stCondLst>
                                        </p:cTn>
                                        <p:tgtEl>
                                          <p:spTgt spid="500739">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00739">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00739">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0073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9" grpId="0" build="p" bldLvl="2"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761"/>
            <a:ext cx="7649308" cy="1691640"/>
          </a:xfrm>
        </p:spPr>
        <p:txBody>
          <a:bodyPr/>
          <a:lstStyle/>
          <a:p>
            <a:r>
              <a:rPr lang="en-US" b="1" dirty="0">
                <a:solidFill>
                  <a:schemeClr val="accent1"/>
                </a:solidFill>
              </a:rPr>
              <a:t>Chapter 2</a:t>
            </a:r>
            <a:br>
              <a:rPr lang="en-US" b="1" dirty="0">
                <a:solidFill>
                  <a:schemeClr val="accent1"/>
                </a:solidFill>
              </a:rPr>
            </a:br>
            <a:r>
              <a:rPr lang="en-US" b="1" dirty="0">
                <a:solidFill>
                  <a:schemeClr val="accent1"/>
                </a:solidFill>
              </a:rPr>
              <a:t>Looking </a:t>
            </a:r>
            <a:r>
              <a:rPr lang="en-US" b="1">
                <a:solidFill>
                  <a:schemeClr val="accent1"/>
                </a:solidFill>
              </a:rPr>
              <a:t>at Data — Relationships </a:t>
            </a:r>
            <a:r>
              <a:rPr lang="en-US" b="1" dirty="0">
                <a:solidFill>
                  <a:schemeClr val="accent1"/>
                </a:solidFill>
              </a:rPr>
              <a:t>(Review)</a:t>
            </a:r>
          </a:p>
        </p:txBody>
      </p:sp>
      <p:sp>
        <p:nvSpPr>
          <p:cNvPr id="3" name="Content Placeholder 2"/>
          <p:cNvSpPr>
            <a:spLocks noGrp="1"/>
          </p:cNvSpPr>
          <p:nvPr>
            <p:ph idx="1"/>
          </p:nvPr>
        </p:nvSpPr>
        <p:spPr>
          <a:xfrm>
            <a:off x="457200" y="2209800"/>
            <a:ext cx="6508750" cy="4391297"/>
          </a:xfrm>
        </p:spPr>
        <p:txBody>
          <a:bodyPr/>
          <a:lstStyle/>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2.1 Relationships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2.2 Scatterplots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2.3 Correlation</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2.4 Least-Squares Regression</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2.5 Cautions about Correlation and Regression</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2.6 Data Analysis for Two-Way Tables</a:t>
            </a:r>
          </a:p>
          <a:p>
            <a:pPr marL="0" lvl="0" indent="0" eaLnBrk="1" hangingPunct="1">
              <a:spcBef>
                <a:spcPct val="0"/>
              </a:spcBef>
              <a:spcAft>
                <a:spcPts val="1800"/>
              </a:spcAft>
              <a:buClrTx/>
              <a:buSzTx/>
              <a:buNone/>
            </a:pPr>
            <a:r>
              <a:rPr lang="en-US" sz="2400" b="1" dirty="0">
                <a:solidFill>
                  <a:srgbClr val="073779"/>
                </a:solidFill>
                <a:latin typeface="Arial" pitchFamily="34" charset="0"/>
                <a:ea typeface="ＭＳ Ｐゴシック" pitchFamily="34" charset="-128"/>
                <a:cs typeface="+mn-cs"/>
              </a:rPr>
              <a:t>2.7 The Question of Causation</a:t>
            </a:r>
          </a:p>
        </p:txBody>
      </p:sp>
      <p:sp>
        <p:nvSpPr>
          <p:cNvPr id="76802" name="Slide Number Placeholder 11"/>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ＭＳ Ｐゴシック" pitchFamily="34" charset="-128"/>
              </a:defRPr>
            </a:lvl1pPr>
            <a:lvl2pPr marL="742950" indent="-285750">
              <a:defRPr>
                <a:solidFill>
                  <a:schemeClr val="tx1"/>
                </a:solidFill>
                <a:latin typeface="Arial" pitchFamily="34" charset="0"/>
                <a:ea typeface="ＭＳ Ｐゴシック" pitchFamily="34" charset="-128"/>
              </a:defRPr>
            </a:lvl2pPr>
            <a:lvl3pPr marL="1143000" indent="-228600">
              <a:defRPr>
                <a:solidFill>
                  <a:schemeClr val="tx1"/>
                </a:solidFill>
                <a:latin typeface="Arial" pitchFamily="34" charset="0"/>
                <a:ea typeface="ＭＳ Ｐゴシック" pitchFamily="34" charset="-128"/>
              </a:defRPr>
            </a:lvl3pPr>
            <a:lvl4pPr marL="1600200" indent="-228600">
              <a:defRPr>
                <a:solidFill>
                  <a:schemeClr val="tx1"/>
                </a:solidFill>
                <a:latin typeface="Arial" pitchFamily="34" charset="0"/>
                <a:ea typeface="ＭＳ Ｐゴシック" pitchFamily="34" charset="-128"/>
              </a:defRPr>
            </a:lvl4pPr>
            <a:lvl5pPr marL="2057400" indent="-22860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427868F9-E3C3-4601-A00C-CB5E0BA6EC2C}" type="slidenum">
              <a:rPr lang="en-US">
                <a:solidFill>
                  <a:schemeClr val="accent1"/>
                </a:solidFill>
              </a:rPr>
              <a:pPr/>
              <a:t>54</a:t>
            </a:fld>
            <a:endParaRPr lang="en-US">
              <a:solidFill>
                <a:schemeClr val="accent1"/>
              </a:solidFill>
            </a:endParaRPr>
          </a:p>
        </p:txBody>
      </p:sp>
    </p:spTree>
  </p:cSld>
  <p:clrMapOvr>
    <a:masterClrMapping/>
  </p:clrMapOvr>
</p:sld>
</file>

<file path=ppt/theme/theme1.xml><?xml version="1.0" encoding="utf-8"?>
<a:theme xmlns:a="http://schemas.openxmlformats.org/drawingml/2006/main" name="Plaza">
  <a:themeElements>
    <a:clrScheme name="Sky">
      <a:dk1>
        <a:sysClr val="windowText" lastClr="000000"/>
      </a:dk1>
      <a:lt1>
        <a:sysClr val="window" lastClr="FFFFFF"/>
      </a:lt1>
      <a:dk2>
        <a:srgbClr val="1782BF"/>
      </a:dk2>
      <a:lt2>
        <a:srgbClr val="62BCE9"/>
      </a:lt2>
      <a:accent1>
        <a:srgbClr val="073779"/>
      </a:accent1>
      <a:accent2>
        <a:srgbClr val="8FD9FB"/>
      </a:accent2>
      <a:accent3>
        <a:srgbClr val="FFCC00"/>
      </a:accent3>
      <a:accent4>
        <a:srgbClr val="EB6615"/>
      </a:accent4>
      <a:accent5>
        <a:srgbClr val="C76402"/>
      </a:accent5>
      <a:accent6>
        <a:srgbClr val="B523B4"/>
      </a:accent6>
      <a:hlink>
        <a:srgbClr val="FFDE26"/>
      </a:hlink>
      <a:folHlink>
        <a:srgbClr val="DEBE0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Plaza.thmx</Template>
  <TotalTime>2544</TotalTime>
  <Words>3634</Words>
  <Application>Microsoft Office PowerPoint</Application>
  <PresentationFormat>On-screen Show (4:3)</PresentationFormat>
  <Paragraphs>597</Paragraphs>
  <Slides>54</Slides>
  <Notes>14</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2</vt:i4>
      </vt:variant>
      <vt:variant>
        <vt:lpstr>Slide Titles</vt:lpstr>
      </vt:variant>
      <vt:variant>
        <vt:i4>54</vt:i4>
      </vt:variant>
    </vt:vector>
  </HeadingPairs>
  <TitlesOfParts>
    <vt:vector size="68" baseType="lpstr">
      <vt:lpstr>ＭＳ Ｐゴシック</vt:lpstr>
      <vt:lpstr>Arial</vt:lpstr>
      <vt:lpstr>Calibri</vt:lpstr>
      <vt:lpstr>Garamond</vt:lpstr>
      <vt:lpstr>Monotype Sorts</vt:lpstr>
      <vt:lpstr>Rockwell</vt:lpstr>
      <vt:lpstr>Symbol</vt:lpstr>
      <vt:lpstr>Tw Cen MT</vt:lpstr>
      <vt:lpstr>Wingdings</vt:lpstr>
      <vt:lpstr>Wingdings 2</vt:lpstr>
      <vt:lpstr>ヒラギノ角ゴ Pro W3</vt:lpstr>
      <vt:lpstr>Plaza</vt:lpstr>
      <vt:lpstr>Chart</vt:lpstr>
      <vt:lpstr>MathType 6.0 Equation</vt:lpstr>
      <vt:lpstr>Chapter 2 Looking at Data—Relationships  Lecture Slides</vt:lpstr>
      <vt:lpstr>Chapter 2 Looking at Data — Relationships</vt:lpstr>
      <vt:lpstr>2.1 Relationships</vt:lpstr>
      <vt:lpstr>Associations between Variables</vt:lpstr>
      <vt:lpstr>Key Characteristics of a Data Set</vt:lpstr>
      <vt:lpstr>2.2 Scatterplots</vt:lpstr>
      <vt:lpstr>Scatterplot 1</vt:lpstr>
      <vt:lpstr>Scatterplot 2</vt:lpstr>
      <vt:lpstr>Interpreting Scatterplots 1</vt:lpstr>
      <vt:lpstr>Interpreting Scatterplots 2</vt:lpstr>
      <vt:lpstr>Interpreting Scatterplots 3</vt:lpstr>
      <vt:lpstr>The Log Transformation</vt:lpstr>
      <vt:lpstr>Adding Categorical Variables to a Scatterplot </vt:lpstr>
      <vt:lpstr>Nonlinear Relationships </vt:lpstr>
      <vt:lpstr>2.3 Correlation</vt:lpstr>
      <vt:lpstr>Measuring Linear Association 1</vt:lpstr>
      <vt:lpstr>Measuring Linear Association 2</vt:lpstr>
      <vt:lpstr>Correlation</vt:lpstr>
      <vt:lpstr>Properties of Correlation</vt:lpstr>
      <vt:lpstr>Correlation Examples</vt:lpstr>
      <vt:lpstr>2.4 Least-Squares Regression</vt:lpstr>
      <vt:lpstr>Regression Line 1</vt:lpstr>
      <vt:lpstr>Regression Line 2</vt:lpstr>
      <vt:lpstr>Least-Squares Regression Line</vt:lpstr>
      <vt:lpstr>Predictions Via Regression Line</vt:lpstr>
      <vt:lpstr>Extrapolation 1</vt:lpstr>
      <vt:lpstr>Extrapolation 2</vt:lpstr>
      <vt:lpstr>Facts about Least-Squares Regression</vt:lpstr>
      <vt:lpstr>Correlation and Regression</vt:lpstr>
      <vt:lpstr>2.5 Cautions about Correlation and Regression</vt:lpstr>
      <vt:lpstr>Residuals</vt:lpstr>
      <vt:lpstr>Residual Plots</vt:lpstr>
      <vt:lpstr>Outliers and Influential Points 1</vt:lpstr>
      <vt:lpstr>Outliers and Influential Points 2</vt:lpstr>
      <vt:lpstr>Lurking Variables</vt:lpstr>
      <vt:lpstr>Cautions about Correlation and Regression</vt:lpstr>
      <vt:lpstr>2.6 Data Analysis for Two-Way Tables</vt:lpstr>
      <vt:lpstr>Categorical Variables</vt:lpstr>
      <vt:lpstr>The Two-Way Table</vt:lpstr>
      <vt:lpstr>Marginal Distribution 1</vt:lpstr>
      <vt:lpstr>Marginal Distribution 2</vt:lpstr>
      <vt:lpstr>Conditional Distribution 1</vt:lpstr>
      <vt:lpstr>Conditional Distribution 2</vt:lpstr>
      <vt:lpstr>Simpson’s Paradox 1</vt:lpstr>
      <vt:lpstr>Simpson’s Paradox 2</vt:lpstr>
      <vt:lpstr>Simpson’s Paradox 3</vt:lpstr>
      <vt:lpstr>Simpson’s Paradox 4</vt:lpstr>
      <vt:lpstr>2.7 The Question of Causation</vt:lpstr>
      <vt:lpstr>Explaining Association: Causation</vt:lpstr>
      <vt:lpstr>Explaining Association: Common Response</vt:lpstr>
      <vt:lpstr>Explaining Association: Confounding</vt:lpstr>
      <vt:lpstr>Establishing Causation</vt:lpstr>
      <vt:lpstr>Evidence of Causation</vt:lpstr>
      <vt:lpstr>Chapter 2 Looking at Data — Relationships (Review)</vt:lpstr>
    </vt:vector>
  </TitlesOfParts>
  <Company>ISD 194</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Looking at Data — Relationships</dc:title>
  <dc:creator>Jason Molesky</dc:creator>
  <cp:lastModifiedBy>Newton, Andy</cp:lastModifiedBy>
  <cp:revision>309</cp:revision>
  <dcterms:created xsi:type="dcterms:W3CDTF">2012-03-04T20:12:42Z</dcterms:created>
  <dcterms:modified xsi:type="dcterms:W3CDTF">2020-12-08T20:56:36Z</dcterms:modified>
</cp:coreProperties>
</file>