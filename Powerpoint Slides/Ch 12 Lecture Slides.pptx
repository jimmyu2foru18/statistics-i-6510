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0" r:id="rId1"/>
  </p:sldMasterIdLst>
  <p:notesMasterIdLst>
    <p:notesMasterId r:id="rId110"/>
  </p:notesMasterIdLst>
  <p:sldIdLst>
    <p:sldId id="377" r:id="rId2"/>
    <p:sldId id="258" r:id="rId3"/>
    <p:sldId id="259" r:id="rId4"/>
    <p:sldId id="264" r:id="rId5"/>
    <p:sldId id="265" r:id="rId6"/>
    <p:sldId id="266" r:id="rId7"/>
    <p:sldId id="382" r:id="rId8"/>
    <p:sldId id="383" r:id="rId9"/>
    <p:sldId id="384" r:id="rId10"/>
    <p:sldId id="269" r:id="rId11"/>
    <p:sldId id="270" r:id="rId12"/>
    <p:sldId id="271" r:id="rId13"/>
    <p:sldId id="385" r:id="rId14"/>
    <p:sldId id="275" r:id="rId15"/>
    <p:sldId id="386" r:id="rId16"/>
    <p:sldId id="387" r:id="rId17"/>
    <p:sldId id="388" r:id="rId18"/>
    <p:sldId id="389" r:id="rId19"/>
    <p:sldId id="390" r:id="rId20"/>
    <p:sldId id="391" r:id="rId21"/>
    <p:sldId id="392" r:id="rId22"/>
    <p:sldId id="393" r:id="rId23"/>
    <p:sldId id="394" r:id="rId24"/>
    <p:sldId id="395" r:id="rId25"/>
    <p:sldId id="400" r:id="rId26"/>
    <p:sldId id="396" r:id="rId27"/>
    <p:sldId id="397" r:id="rId28"/>
    <p:sldId id="398" r:id="rId29"/>
    <p:sldId id="399" r:id="rId30"/>
    <p:sldId id="401" r:id="rId31"/>
    <p:sldId id="402" r:id="rId32"/>
    <p:sldId id="403" r:id="rId33"/>
    <p:sldId id="404" r:id="rId34"/>
    <p:sldId id="405" r:id="rId35"/>
    <p:sldId id="406" r:id="rId36"/>
    <p:sldId id="407" r:id="rId37"/>
    <p:sldId id="408" r:id="rId38"/>
    <p:sldId id="409" r:id="rId39"/>
    <p:sldId id="296" r:id="rId40"/>
    <p:sldId id="297" r:id="rId41"/>
    <p:sldId id="298" r:id="rId42"/>
    <p:sldId id="299" r:id="rId43"/>
    <p:sldId id="300" r:id="rId44"/>
    <p:sldId id="410" r:id="rId45"/>
    <p:sldId id="411" r:id="rId46"/>
    <p:sldId id="412" r:id="rId47"/>
    <p:sldId id="413" r:id="rId48"/>
    <p:sldId id="414" r:id="rId49"/>
    <p:sldId id="415" r:id="rId50"/>
    <p:sldId id="306" r:id="rId51"/>
    <p:sldId id="307" r:id="rId52"/>
    <p:sldId id="308" r:id="rId53"/>
    <p:sldId id="416" r:id="rId54"/>
    <p:sldId id="417" r:id="rId55"/>
    <p:sldId id="418" r:id="rId56"/>
    <p:sldId id="419" r:id="rId57"/>
    <p:sldId id="420" r:id="rId58"/>
    <p:sldId id="421" r:id="rId59"/>
    <p:sldId id="422" r:id="rId60"/>
    <p:sldId id="423" r:id="rId61"/>
    <p:sldId id="424" r:id="rId62"/>
    <p:sldId id="425" r:id="rId63"/>
    <p:sldId id="426" r:id="rId64"/>
    <p:sldId id="427" r:id="rId65"/>
    <p:sldId id="428" r:id="rId66"/>
    <p:sldId id="429" r:id="rId67"/>
    <p:sldId id="430" r:id="rId68"/>
    <p:sldId id="431" r:id="rId69"/>
    <p:sldId id="432" r:id="rId70"/>
    <p:sldId id="329" r:id="rId71"/>
    <p:sldId id="433" r:id="rId72"/>
    <p:sldId id="434" r:id="rId73"/>
    <p:sldId id="435" r:id="rId74"/>
    <p:sldId id="436" r:id="rId75"/>
    <p:sldId id="437" r:id="rId76"/>
    <p:sldId id="438" r:id="rId77"/>
    <p:sldId id="333" r:id="rId78"/>
    <p:sldId id="334" r:id="rId79"/>
    <p:sldId id="335" r:id="rId80"/>
    <p:sldId id="439" r:id="rId81"/>
    <p:sldId id="440" r:id="rId82"/>
    <p:sldId id="441" r:id="rId83"/>
    <p:sldId id="442" r:id="rId84"/>
    <p:sldId id="443" r:id="rId85"/>
    <p:sldId id="444" r:id="rId86"/>
    <p:sldId id="445" r:id="rId87"/>
    <p:sldId id="446" r:id="rId88"/>
    <p:sldId id="447" r:id="rId89"/>
    <p:sldId id="448" r:id="rId90"/>
    <p:sldId id="449" r:id="rId91"/>
    <p:sldId id="450" r:id="rId92"/>
    <p:sldId id="451" r:id="rId93"/>
    <p:sldId id="452" r:id="rId94"/>
    <p:sldId id="453" r:id="rId95"/>
    <p:sldId id="454" r:id="rId96"/>
    <p:sldId id="455" r:id="rId97"/>
    <p:sldId id="456" r:id="rId98"/>
    <p:sldId id="457" r:id="rId99"/>
    <p:sldId id="458" r:id="rId100"/>
    <p:sldId id="459" r:id="rId101"/>
    <p:sldId id="460" r:id="rId102"/>
    <p:sldId id="461" r:id="rId103"/>
    <p:sldId id="462" r:id="rId104"/>
    <p:sldId id="463" r:id="rId105"/>
    <p:sldId id="464" r:id="rId106"/>
    <p:sldId id="465" r:id="rId107"/>
    <p:sldId id="466" r:id="rId108"/>
    <p:sldId id="467" r:id="rId10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816">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e Glascoe" initials="SG" lastIdx="2" clrIdx="0">
    <p:extLst>
      <p:ext uri="{19B8F6BF-5375-455C-9EA6-DF929625EA0E}">
        <p15:presenceInfo xmlns:p15="http://schemas.microsoft.com/office/powerpoint/2012/main" userId="811cbc21041563aa" providerId="Windows Live"/>
      </p:ext>
    </p:extLst>
  </p:cmAuthor>
  <p:cmAuthor id="2" name="Pam Trim" initials="PT" lastIdx="2" clrIdx="1">
    <p:extLst>
      <p:ext uri="{19B8F6BF-5375-455C-9EA6-DF929625EA0E}">
        <p15:presenceInfo xmlns:p15="http://schemas.microsoft.com/office/powerpoint/2012/main" userId="Pam Trim"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0020"/>
    <a:srgbClr val="333399"/>
    <a:srgbClr val="E6C127"/>
    <a:srgbClr val="FEF5E0"/>
    <a:srgbClr val="F5F9DF"/>
    <a:srgbClr val="009900"/>
    <a:srgbClr val="DEEAE8"/>
    <a:srgbClr val="0077B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84" autoAdjust="0"/>
    <p:restoredTop sz="94660"/>
  </p:normalViewPr>
  <p:slideViewPr>
    <p:cSldViewPr snapToGrid="0">
      <p:cViewPr varScale="1">
        <p:scale>
          <a:sx n="102" d="100"/>
          <a:sy n="102" d="100"/>
        </p:scale>
        <p:origin x="588" y="114"/>
      </p:cViewPr>
      <p:guideLst>
        <p:guide orient="horz" pos="816"/>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notesMaster" Target="notesMasters/notesMaster1.xml"/><Relationship Id="rId115"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65.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68.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76.wmf"/><Relationship Id="rId1" Type="http://schemas.openxmlformats.org/officeDocument/2006/relationships/image" Target="../media/image75.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77.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79.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image" Target="../media/image77.wmf"/><Relationship Id="rId1" Type="http://schemas.openxmlformats.org/officeDocument/2006/relationships/image" Target="../media/image82.w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85.wmf"/><Relationship Id="rId1" Type="http://schemas.openxmlformats.org/officeDocument/2006/relationships/image" Target="../media/image84.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8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9027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05719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1306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0767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93990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7253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38269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57168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90108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2447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20355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88885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30978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97865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36185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9523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63640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30090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55492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07693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62193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96517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60582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6775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23746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83114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45537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70822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81773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96660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36109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86328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45769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98935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68651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02588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42115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7" name="Google Shape;357;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38121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4" name="Google Shape;364;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490256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0" name="Google Shape;370;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202205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6" name="Google Shape;376;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72315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249670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041385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673379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677792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100772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483756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895802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8" name="Google Shape;428;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742357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5" name="Google Shape;435;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82357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360023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498915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259977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037858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52701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216027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411368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609581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711654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975027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480848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194647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481581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112617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166854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216964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535676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700365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7" name="Google Shape;597;p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649270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861400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818095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63011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886917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600005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880829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p7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7" name="Google Shape;627;p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705302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4" name="Google Shape;634;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715295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8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0" name="Google Shape;640;p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03853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85967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063099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194036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947388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234207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186940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39524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877334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197892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974525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136832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81441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124878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470925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384945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8" name="Google Shape;428;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88984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8" name="Google Shape;428;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454950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8" name="Google Shape;428;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395887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8" name="Google Shape;428;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0134217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8" name="Google Shape;428;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8250008"/>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8" name="Google Shape;428;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57195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8" name="Google Shape;428;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538475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020802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7825205"/>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250045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442958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439683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3726614"/>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7270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4"/>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12-</a:t>
            </a:r>
            <a:fld id="{00000000-1234-1234-1234-123412341234}" type="slidenum">
              <a:rPr lang="en-US" smtClean="0"/>
              <a:pPr/>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457200" y="1490444"/>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rgbClr val="A00020"/>
              </a:buClr>
              <a:buSzPts val="1800"/>
              <a:buChar char="•"/>
              <a:defRPr sz="2400"/>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dirty="0"/>
          </a:p>
        </p:txBody>
      </p:sp>
      <p:sp>
        <p:nvSpPr>
          <p:cNvPr id="32" name="Google Shape;32;p5"/>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12-</a:t>
            </a:r>
            <a:fld id="{00000000-1234-1234-1234-123412341234}" type="slidenum">
              <a:rPr lang="en-US" smtClean="0"/>
              <a:pPr/>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rot="5400000">
            <a:off x="4770438" y="2133600"/>
            <a:ext cx="57753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8" name="Google Shape;38;p7"/>
          <p:cNvSpPr txBox="1">
            <a:spLocks noGrp="1"/>
          </p:cNvSpPr>
          <p:nvPr>
            <p:ph type="body" idx="1"/>
          </p:nvPr>
        </p:nvSpPr>
        <p:spPr>
          <a:xfrm rot="5400000">
            <a:off x="579438" y="152401"/>
            <a:ext cx="57753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39" name="Google Shape;39;p7"/>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12-</a:t>
            </a:r>
            <a:fld id="{00000000-1234-1234-1234-123412341234}" type="slidenum">
              <a:rPr lang="en-US" smtClean="0"/>
              <a:pPr/>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2" name="Google Shape;42;p8"/>
          <p:cNvSpPr txBox="1">
            <a:spLocks noGrp="1"/>
          </p:cNvSpPr>
          <p:nvPr>
            <p:ph type="body" idx="1"/>
          </p:nvPr>
        </p:nvSpPr>
        <p:spPr>
          <a:xfrm rot="5400000">
            <a:off x="2309019" y="-3278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3" name="Google Shape;43;p8"/>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12-</a:t>
            </a:r>
            <a:fld id="{00000000-1234-1234-1234-123412341234}" type="slidenum">
              <a:rPr lang="en-US" smtClean="0"/>
              <a:pPr/>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4"/>
        <p:cNvGrpSpPr/>
        <p:nvPr/>
      </p:nvGrpSpPr>
      <p:grpSpPr>
        <a:xfrm>
          <a:off x="0" y="0"/>
          <a:ext cx="0" cy="0"/>
          <a:chOff x="0" y="0"/>
          <a:chExt cx="0" cy="0"/>
        </a:xfrm>
      </p:grpSpPr>
      <p:sp>
        <p:nvSpPr>
          <p:cNvPr id="45" name="Google Shape;45;p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6" name="Google Shape;46;p9"/>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rgbClr val="CC6600"/>
              </a:buClr>
              <a:buSzPts val="3200"/>
              <a:buFont typeface="Times New Roman"/>
              <a:buNone/>
              <a:defRPr sz="3200" b="0" i="0" u="none" strike="noStrike" cap="none">
                <a:solidFill>
                  <a:schemeClr val="dk1"/>
                </a:solidFill>
                <a:latin typeface="Times New Roman"/>
                <a:ea typeface="Times New Roman"/>
                <a:cs typeface="Times New Roman"/>
                <a:sym typeface="Times New Roman"/>
              </a:defRPr>
            </a:lvl1pPr>
            <a:lvl2pPr marR="0" lvl="1" algn="l" rtl="0">
              <a:spcBef>
                <a:spcPts val="560"/>
              </a:spcBef>
              <a:spcAft>
                <a:spcPts val="0"/>
              </a:spcAft>
              <a:buClr>
                <a:schemeClr val="accent2"/>
              </a:buClr>
              <a:buSzPts val="2800"/>
              <a:buFont typeface="Noto Sans Symbols"/>
              <a:buNone/>
              <a:defRPr sz="2800" b="0" i="0" u="none" strike="noStrike" cap="none">
                <a:solidFill>
                  <a:schemeClr val="dk1"/>
                </a:solidFill>
                <a:latin typeface="Times New Roman"/>
                <a:ea typeface="Times New Roman"/>
                <a:cs typeface="Times New Roman"/>
                <a:sym typeface="Times New Roman"/>
              </a:defRPr>
            </a:lvl2pPr>
            <a:lvl3pPr marR="0" lvl="2" algn="l" rtl="0">
              <a:spcBef>
                <a:spcPts val="480"/>
              </a:spcBef>
              <a:spcAft>
                <a:spcPts val="0"/>
              </a:spcAft>
              <a:buClr>
                <a:srgbClr val="CC6600"/>
              </a:buClr>
              <a:buSzPts val="2400"/>
              <a:buFont typeface="Times New Roman"/>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400"/>
              </a:spcBef>
              <a:spcAft>
                <a:spcPts val="0"/>
              </a:spcAft>
              <a:buClr>
                <a:schemeClr val="accent2"/>
              </a:buClr>
              <a:buSzPts val="2000"/>
              <a:buFont typeface="Noto Sans Symbols"/>
              <a:buNone/>
              <a:defRPr sz="2000" b="0" i="0" u="none" strike="noStrike" cap="none">
                <a:solidFill>
                  <a:schemeClr val="dk1"/>
                </a:solidFill>
                <a:latin typeface="Times New Roman"/>
                <a:ea typeface="Times New Roman"/>
                <a:cs typeface="Times New Roman"/>
                <a:sym typeface="Times New Roman"/>
              </a:defRPr>
            </a:lvl4pPr>
            <a:lvl5pPr marR="0" lvl="4" algn="l" rtl="0">
              <a:spcBef>
                <a:spcPts val="400"/>
              </a:spcBef>
              <a:spcAft>
                <a:spcPts val="0"/>
              </a:spcAft>
              <a:buClr>
                <a:srgbClr val="CC660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5pPr>
            <a:lvl6pPr marR="0" lvl="5" algn="l" rtl="0">
              <a:spcBef>
                <a:spcPts val="400"/>
              </a:spcBef>
              <a:spcAft>
                <a:spcPts val="0"/>
              </a:spcAft>
              <a:buClr>
                <a:srgbClr val="CC660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6pPr>
            <a:lvl7pPr marR="0" lvl="6" algn="l" rtl="0">
              <a:spcBef>
                <a:spcPts val="400"/>
              </a:spcBef>
              <a:spcAft>
                <a:spcPts val="0"/>
              </a:spcAft>
              <a:buClr>
                <a:srgbClr val="CC660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7pPr>
            <a:lvl8pPr marR="0" lvl="7" algn="l" rtl="0">
              <a:spcBef>
                <a:spcPts val="400"/>
              </a:spcBef>
              <a:spcAft>
                <a:spcPts val="0"/>
              </a:spcAft>
              <a:buClr>
                <a:srgbClr val="CC660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8pPr>
            <a:lvl9pPr marR="0" lvl="8" algn="l" rtl="0">
              <a:spcBef>
                <a:spcPts val="400"/>
              </a:spcBef>
              <a:spcAft>
                <a:spcPts val="0"/>
              </a:spcAft>
              <a:buClr>
                <a:srgbClr val="CC660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47" name="Google Shape;47;p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400"/>
              <a:buFont typeface="Times New Roman"/>
              <a:buNone/>
              <a:defRPr sz="1400"/>
            </a:lvl1pPr>
            <a:lvl2pPr marL="914400" lvl="1" indent="-228600" algn="l">
              <a:spcBef>
                <a:spcPts val="240"/>
              </a:spcBef>
              <a:spcAft>
                <a:spcPts val="0"/>
              </a:spcAft>
              <a:buSzPts val="1200"/>
              <a:buNone/>
              <a:defRPr sz="1200"/>
            </a:lvl2pPr>
            <a:lvl3pPr marL="1371600" lvl="2" indent="-228600" algn="l">
              <a:spcBef>
                <a:spcPts val="200"/>
              </a:spcBef>
              <a:spcAft>
                <a:spcPts val="0"/>
              </a:spcAft>
              <a:buSzPts val="1000"/>
              <a:buFont typeface="Times New Roman"/>
              <a:buNone/>
              <a:defRPr sz="1000"/>
            </a:lvl3pPr>
            <a:lvl4pPr marL="1828800" lvl="3" indent="-228600" algn="l">
              <a:spcBef>
                <a:spcPts val="180"/>
              </a:spcBef>
              <a:spcAft>
                <a:spcPts val="0"/>
              </a:spcAft>
              <a:buSzPts val="900"/>
              <a:buNone/>
              <a:defRPr sz="900"/>
            </a:lvl4pPr>
            <a:lvl5pPr marL="2286000" lvl="4" indent="-228600" algn="l">
              <a:spcBef>
                <a:spcPts val="180"/>
              </a:spcBef>
              <a:spcAft>
                <a:spcPts val="0"/>
              </a:spcAft>
              <a:buSzPts val="900"/>
              <a:buFont typeface="Times New Roman"/>
              <a:buNone/>
              <a:defRPr sz="900"/>
            </a:lvl5pPr>
            <a:lvl6pPr marL="2743200" lvl="5" indent="-228600" algn="l">
              <a:spcBef>
                <a:spcPts val="180"/>
              </a:spcBef>
              <a:spcAft>
                <a:spcPts val="0"/>
              </a:spcAft>
              <a:buSzPts val="900"/>
              <a:buFont typeface="Times New Roman"/>
              <a:buNone/>
              <a:defRPr sz="900"/>
            </a:lvl6pPr>
            <a:lvl7pPr marL="3200400" lvl="6" indent="-228600" algn="l">
              <a:spcBef>
                <a:spcPts val="180"/>
              </a:spcBef>
              <a:spcAft>
                <a:spcPts val="0"/>
              </a:spcAft>
              <a:buSzPts val="900"/>
              <a:buFont typeface="Times New Roman"/>
              <a:buNone/>
              <a:defRPr sz="900"/>
            </a:lvl7pPr>
            <a:lvl8pPr marL="3657600" lvl="7" indent="-228600" algn="l">
              <a:spcBef>
                <a:spcPts val="180"/>
              </a:spcBef>
              <a:spcAft>
                <a:spcPts val="0"/>
              </a:spcAft>
              <a:buSzPts val="900"/>
              <a:buFont typeface="Times New Roman"/>
              <a:buNone/>
              <a:defRPr sz="900"/>
            </a:lvl8pPr>
            <a:lvl9pPr marL="4114800" lvl="8" indent="-228600" algn="l">
              <a:spcBef>
                <a:spcPts val="180"/>
              </a:spcBef>
              <a:spcAft>
                <a:spcPts val="0"/>
              </a:spcAft>
              <a:buSzPts val="900"/>
              <a:buFont typeface="Times New Roman"/>
              <a:buNone/>
              <a:defRPr sz="900"/>
            </a:lvl9pPr>
          </a:lstStyle>
          <a:p>
            <a:endParaRPr/>
          </a:p>
        </p:txBody>
      </p:sp>
      <p:sp>
        <p:nvSpPr>
          <p:cNvPr id="48" name="Google Shape;48;p9"/>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11-</a:t>
            </a:r>
            <a:fld id="{00000000-1234-1234-1234-123412341234}" type="slidenum">
              <a:rPr lang="en-US" smtClean="0"/>
              <a:pPr/>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9"/>
        <p:cNvGrpSpPr/>
        <p:nvPr/>
      </p:nvGrpSpPr>
      <p:grpSpPr>
        <a:xfrm>
          <a:off x="0" y="0"/>
          <a:ext cx="0" cy="0"/>
          <a:chOff x="0" y="0"/>
          <a:chExt cx="0" cy="0"/>
        </a:xfrm>
      </p:grpSpPr>
      <p:sp>
        <p:nvSpPr>
          <p:cNvPr id="50" name="Google Shape;50;p1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1" name="Google Shape;51;p1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rgbClr val="A00020"/>
              </a:buClr>
              <a:buSzPts val="3200"/>
              <a:buFont typeface="Times New Roman"/>
              <a:buChar char="•"/>
              <a:defRPr sz="3200"/>
            </a:lvl1pPr>
            <a:lvl2pPr marL="914400" lvl="1" indent="-406400" algn="l">
              <a:spcBef>
                <a:spcPts val="560"/>
              </a:spcBef>
              <a:spcAft>
                <a:spcPts val="0"/>
              </a:spcAft>
              <a:buSzPts val="2800"/>
              <a:buChar char="▪"/>
              <a:defRPr sz="2800"/>
            </a:lvl2pPr>
            <a:lvl3pPr marL="1371600" lvl="2" indent="-381000" algn="l">
              <a:spcBef>
                <a:spcPts val="480"/>
              </a:spcBef>
              <a:spcAft>
                <a:spcPts val="0"/>
              </a:spcAft>
              <a:buSzPts val="2400"/>
              <a:buFont typeface="Times New Roman"/>
              <a:buChar char="•"/>
              <a:defRPr sz="2400"/>
            </a:lvl3pPr>
            <a:lvl4pPr marL="1828800" lvl="3" indent="-355600" algn="l">
              <a:spcBef>
                <a:spcPts val="400"/>
              </a:spcBef>
              <a:spcAft>
                <a:spcPts val="0"/>
              </a:spcAft>
              <a:buSzPts val="2000"/>
              <a:buChar char="▪"/>
              <a:defRPr sz="2000"/>
            </a:lvl4pPr>
            <a:lvl5pPr marL="2286000" lvl="4" indent="-355600" algn="l">
              <a:spcBef>
                <a:spcPts val="400"/>
              </a:spcBef>
              <a:spcAft>
                <a:spcPts val="0"/>
              </a:spcAft>
              <a:buSzPts val="2000"/>
              <a:buFont typeface="Times New Roman"/>
              <a:buChar char="•"/>
              <a:defRPr sz="2000"/>
            </a:lvl5pPr>
            <a:lvl6pPr marL="2743200" lvl="5" indent="-355600" algn="l">
              <a:spcBef>
                <a:spcPts val="400"/>
              </a:spcBef>
              <a:spcAft>
                <a:spcPts val="0"/>
              </a:spcAft>
              <a:buSzPts val="2000"/>
              <a:buFont typeface="Times New Roman"/>
              <a:buChar char="•"/>
              <a:defRPr sz="2000"/>
            </a:lvl6pPr>
            <a:lvl7pPr marL="3200400" lvl="6" indent="-355600" algn="l">
              <a:spcBef>
                <a:spcPts val="400"/>
              </a:spcBef>
              <a:spcAft>
                <a:spcPts val="0"/>
              </a:spcAft>
              <a:buSzPts val="2000"/>
              <a:buFont typeface="Times New Roman"/>
              <a:buChar char="•"/>
              <a:defRPr sz="2000"/>
            </a:lvl7pPr>
            <a:lvl8pPr marL="3657600" lvl="7" indent="-355600" algn="l">
              <a:spcBef>
                <a:spcPts val="400"/>
              </a:spcBef>
              <a:spcAft>
                <a:spcPts val="0"/>
              </a:spcAft>
              <a:buSzPts val="2000"/>
              <a:buFont typeface="Times New Roman"/>
              <a:buChar char="•"/>
              <a:defRPr sz="2000"/>
            </a:lvl8pPr>
            <a:lvl9pPr marL="4114800" lvl="8" indent="-355600" algn="l">
              <a:spcBef>
                <a:spcPts val="400"/>
              </a:spcBef>
              <a:spcAft>
                <a:spcPts val="0"/>
              </a:spcAft>
              <a:buSzPts val="2000"/>
              <a:buFont typeface="Times New Roman"/>
              <a:buChar char="•"/>
              <a:defRPr sz="2000"/>
            </a:lvl9pPr>
          </a:lstStyle>
          <a:p>
            <a:endParaRPr dirty="0"/>
          </a:p>
        </p:txBody>
      </p:sp>
      <p:sp>
        <p:nvSpPr>
          <p:cNvPr id="52" name="Google Shape;52;p1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400"/>
              <a:buFont typeface="Times New Roman"/>
              <a:buNone/>
              <a:defRPr sz="1400"/>
            </a:lvl1pPr>
            <a:lvl2pPr marL="914400" lvl="1" indent="-228600" algn="l">
              <a:spcBef>
                <a:spcPts val="240"/>
              </a:spcBef>
              <a:spcAft>
                <a:spcPts val="0"/>
              </a:spcAft>
              <a:buSzPts val="1200"/>
              <a:buNone/>
              <a:defRPr sz="1200"/>
            </a:lvl2pPr>
            <a:lvl3pPr marL="1371600" lvl="2" indent="-228600" algn="l">
              <a:spcBef>
                <a:spcPts val="200"/>
              </a:spcBef>
              <a:spcAft>
                <a:spcPts val="0"/>
              </a:spcAft>
              <a:buSzPts val="1000"/>
              <a:buFont typeface="Times New Roman"/>
              <a:buNone/>
              <a:defRPr sz="1000"/>
            </a:lvl3pPr>
            <a:lvl4pPr marL="1828800" lvl="3" indent="-228600" algn="l">
              <a:spcBef>
                <a:spcPts val="180"/>
              </a:spcBef>
              <a:spcAft>
                <a:spcPts val="0"/>
              </a:spcAft>
              <a:buSzPts val="900"/>
              <a:buNone/>
              <a:defRPr sz="900"/>
            </a:lvl4pPr>
            <a:lvl5pPr marL="2286000" lvl="4" indent="-228600" algn="l">
              <a:spcBef>
                <a:spcPts val="180"/>
              </a:spcBef>
              <a:spcAft>
                <a:spcPts val="0"/>
              </a:spcAft>
              <a:buSzPts val="900"/>
              <a:buFont typeface="Times New Roman"/>
              <a:buNone/>
              <a:defRPr sz="900"/>
            </a:lvl5pPr>
            <a:lvl6pPr marL="2743200" lvl="5" indent="-228600" algn="l">
              <a:spcBef>
                <a:spcPts val="180"/>
              </a:spcBef>
              <a:spcAft>
                <a:spcPts val="0"/>
              </a:spcAft>
              <a:buSzPts val="900"/>
              <a:buFont typeface="Times New Roman"/>
              <a:buNone/>
              <a:defRPr sz="900"/>
            </a:lvl6pPr>
            <a:lvl7pPr marL="3200400" lvl="6" indent="-228600" algn="l">
              <a:spcBef>
                <a:spcPts val="180"/>
              </a:spcBef>
              <a:spcAft>
                <a:spcPts val="0"/>
              </a:spcAft>
              <a:buSzPts val="900"/>
              <a:buFont typeface="Times New Roman"/>
              <a:buNone/>
              <a:defRPr sz="900"/>
            </a:lvl7pPr>
            <a:lvl8pPr marL="3657600" lvl="7" indent="-228600" algn="l">
              <a:spcBef>
                <a:spcPts val="180"/>
              </a:spcBef>
              <a:spcAft>
                <a:spcPts val="0"/>
              </a:spcAft>
              <a:buSzPts val="900"/>
              <a:buFont typeface="Times New Roman"/>
              <a:buNone/>
              <a:defRPr sz="900"/>
            </a:lvl8pPr>
            <a:lvl9pPr marL="4114800" lvl="8" indent="-228600" algn="l">
              <a:spcBef>
                <a:spcPts val="180"/>
              </a:spcBef>
              <a:spcAft>
                <a:spcPts val="0"/>
              </a:spcAft>
              <a:buSzPts val="900"/>
              <a:buFont typeface="Times New Roman"/>
              <a:buNone/>
              <a:defRPr sz="900"/>
            </a:lvl9pPr>
          </a:lstStyle>
          <a:p>
            <a:endParaRPr/>
          </a:p>
        </p:txBody>
      </p:sp>
      <p:sp>
        <p:nvSpPr>
          <p:cNvPr id="53" name="Google Shape;53;p10"/>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11-</a:t>
            </a:r>
            <a:fld id="{00000000-1234-1234-1234-123412341234}" type="slidenum">
              <a:rPr lang="en-US" smtClean="0"/>
              <a:pPr/>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4"/>
        <p:cNvGrpSpPr/>
        <p:nvPr/>
      </p:nvGrpSpPr>
      <p:grpSpPr>
        <a:xfrm>
          <a:off x="0" y="0"/>
          <a:ext cx="0" cy="0"/>
          <a:chOff x="0" y="0"/>
          <a:chExt cx="0" cy="0"/>
        </a:xfrm>
      </p:grpSpPr>
      <p:sp>
        <p:nvSpPr>
          <p:cNvPr id="55" name="Google Shape;55;p1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6" name="Google Shape;56;p1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Font typeface="Times New Roman"/>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Font typeface="Times New Roman"/>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SzPts val="1600"/>
              <a:buFont typeface="Times New Roman"/>
              <a:buNone/>
              <a:defRPr sz="1600" b="1"/>
            </a:lvl5pPr>
            <a:lvl6pPr marL="2743200" lvl="5" indent="-228600" algn="l">
              <a:spcBef>
                <a:spcPts val="320"/>
              </a:spcBef>
              <a:spcAft>
                <a:spcPts val="0"/>
              </a:spcAft>
              <a:buSzPts val="1600"/>
              <a:buFont typeface="Times New Roman"/>
              <a:buNone/>
              <a:defRPr sz="1600" b="1"/>
            </a:lvl6pPr>
            <a:lvl7pPr marL="3200400" lvl="6" indent="-228600" algn="l">
              <a:spcBef>
                <a:spcPts val="320"/>
              </a:spcBef>
              <a:spcAft>
                <a:spcPts val="0"/>
              </a:spcAft>
              <a:buSzPts val="1600"/>
              <a:buFont typeface="Times New Roman"/>
              <a:buNone/>
              <a:defRPr sz="1600" b="1"/>
            </a:lvl7pPr>
            <a:lvl8pPr marL="3657600" lvl="7" indent="-228600" algn="l">
              <a:spcBef>
                <a:spcPts val="320"/>
              </a:spcBef>
              <a:spcAft>
                <a:spcPts val="0"/>
              </a:spcAft>
              <a:buSzPts val="1600"/>
              <a:buFont typeface="Times New Roman"/>
              <a:buNone/>
              <a:defRPr sz="1600" b="1"/>
            </a:lvl8pPr>
            <a:lvl9pPr marL="4114800" lvl="8" indent="-228600" algn="l">
              <a:spcBef>
                <a:spcPts val="320"/>
              </a:spcBef>
              <a:spcAft>
                <a:spcPts val="0"/>
              </a:spcAft>
              <a:buSzPts val="1600"/>
              <a:buFont typeface="Times New Roman"/>
              <a:buNone/>
              <a:defRPr sz="1600" b="1"/>
            </a:lvl9pPr>
          </a:lstStyle>
          <a:p>
            <a:endParaRPr/>
          </a:p>
        </p:txBody>
      </p:sp>
      <p:sp>
        <p:nvSpPr>
          <p:cNvPr id="57" name="Google Shape;57;p1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Font typeface="Times New Roman"/>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Font typeface="Times New Roman"/>
              <a:buChar char="•"/>
              <a:defRPr sz="1800"/>
            </a:lvl3pPr>
            <a:lvl4pPr marL="1828800" lvl="3" indent="-330200" algn="l">
              <a:spcBef>
                <a:spcPts val="320"/>
              </a:spcBef>
              <a:spcAft>
                <a:spcPts val="0"/>
              </a:spcAft>
              <a:buSzPts val="1600"/>
              <a:buChar char="▪"/>
              <a:defRPr sz="1600"/>
            </a:lvl4pPr>
            <a:lvl5pPr marL="2286000" lvl="4" indent="-330200" algn="l">
              <a:spcBef>
                <a:spcPts val="320"/>
              </a:spcBef>
              <a:spcAft>
                <a:spcPts val="0"/>
              </a:spcAft>
              <a:buSzPts val="1600"/>
              <a:buFont typeface="Times New Roman"/>
              <a:buChar char="•"/>
              <a:defRPr sz="1600"/>
            </a:lvl5pPr>
            <a:lvl6pPr marL="2743200" lvl="5" indent="-330200" algn="l">
              <a:spcBef>
                <a:spcPts val="320"/>
              </a:spcBef>
              <a:spcAft>
                <a:spcPts val="0"/>
              </a:spcAft>
              <a:buSzPts val="1600"/>
              <a:buFont typeface="Times New Roman"/>
              <a:buChar char="•"/>
              <a:defRPr sz="1600"/>
            </a:lvl6pPr>
            <a:lvl7pPr marL="3200400" lvl="6" indent="-330200" algn="l">
              <a:spcBef>
                <a:spcPts val="320"/>
              </a:spcBef>
              <a:spcAft>
                <a:spcPts val="0"/>
              </a:spcAft>
              <a:buSzPts val="1600"/>
              <a:buFont typeface="Times New Roman"/>
              <a:buChar char="•"/>
              <a:defRPr sz="1600"/>
            </a:lvl7pPr>
            <a:lvl8pPr marL="3657600" lvl="7" indent="-330200" algn="l">
              <a:spcBef>
                <a:spcPts val="320"/>
              </a:spcBef>
              <a:spcAft>
                <a:spcPts val="0"/>
              </a:spcAft>
              <a:buSzPts val="1600"/>
              <a:buFont typeface="Times New Roman"/>
              <a:buChar char="•"/>
              <a:defRPr sz="1600"/>
            </a:lvl8pPr>
            <a:lvl9pPr marL="4114800" lvl="8" indent="-330200" algn="l">
              <a:spcBef>
                <a:spcPts val="320"/>
              </a:spcBef>
              <a:spcAft>
                <a:spcPts val="0"/>
              </a:spcAft>
              <a:buSzPts val="1600"/>
              <a:buFont typeface="Times New Roman"/>
              <a:buChar char="•"/>
              <a:defRPr sz="1600"/>
            </a:lvl9pPr>
          </a:lstStyle>
          <a:p>
            <a:endParaRPr/>
          </a:p>
        </p:txBody>
      </p:sp>
      <p:sp>
        <p:nvSpPr>
          <p:cNvPr id="58" name="Google Shape;58;p1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Font typeface="Times New Roman"/>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Font typeface="Times New Roman"/>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SzPts val="1600"/>
              <a:buFont typeface="Times New Roman"/>
              <a:buNone/>
              <a:defRPr sz="1600" b="1"/>
            </a:lvl5pPr>
            <a:lvl6pPr marL="2743200" lvl="5" indent="-228600" algn="l">
              <a:spcBef>
                <a:spcPts val="320"/>
              </a:spcBef>
              <a:spcAft>
                <a:spcPts val="0"/>
              </a:spcAft>
              <a:buSzPts val="1600"/>
              <a:buFont typeface="Times New Roman"/>
              <a:buNone/>
              <a:defRPr sz="1600" b="1"/>
            </a:lvl6pPr>
            <a:lvl7pPr marL="3200400" lvl="6" indent="-228600" algn="l">
              <a:spcBef>
                <a:spcPts val="320"/>
              </a:spcBef>
              <a:spcAft>
                <a:spcPts val="0"/>
              </a:spcAft>
              <a:buSzPts val="1600"/>
              <a:buFont typeface="Times New Roman"/>
              <a:buNone/>
              <a:defRPr sz="1600" b="1"/>
            </a:lvl7pPr>
            <a:lvl8pPr marL="3657600" lvl="7" indent="-228600" algn="l">
              <a:spcBef>
                <a:spcPts val="320"/>
              </a:spcBef>
              <a:spcAft>
                <a:spcPts val="0"/>
              </a:spcAft>
              <a:buSzPts val="1600"/>
              <a:buFont typeface="Times New Roman"/>
              <a:buNone/>
              <a:defRPr sz="1600" b="1"/>
            </a:lvl8pPr>
            <a:lvl9pPr marL="4114800" lvl="8" indent="-228600" algn="l">
              <a:spcBef>
                <a:spcPts val="320"/>
              </a:spcBef>
              <a:spcAft>
                <a:spcPts val="0"/>
              </a:spcAft>
              <a:buSzPts val="1600"/>
              <a:buFont typeface="Times New Roman"/>
              <a:buNone/>
              <a:defRPr sz="1600" b="1"/>
            </a:lvl9pPr>
          </a:lstStyle>
          <a:p>
            <a:endParaRPr/>
          </a:p>
        </p:txBody>
      </p:sp>
      <p:sp>
        <p:nvSpPr>
          <p:cNvPr id="59" name="Google Shape;59;p1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Font typeface="Times New Roman"/>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Font typeface="Times New Roman"/>
              <a:buChar char="•"/>
              <a:defRPr sz="1800"/>
            </a:lvl3pPr>
            <a:lvl4pPr marL="1828800" lvl="3" indent="-330200" algn="l">
              <a:spcBef>
                <a:spcPts val="320"/>
              </a:spcBef>
              <a:spcAft>
                <a:spcPts val="0"/>
              </a:spcAft>
              <a:buSzPts val="1600"/>
              <a:buChar char="▪"/>
              <a:defRPr sz="1600"/>
            </a:lvl4pPr>
            <a:lvl5pPr marL="2286000" lvl="4" indent="-330200" algn="l">
              <a:spcBef>
                <a:spcPts val="320"/>
              </a:spcBef>
              <a:spcAft>
                <a:spcPts val="0"/>
              </a:spcAft>
              <a:buSzPts val="1600"/>
              <a:buFont typeface="Times New Roman"/>
              <a:buChar char="•"/>
              <a:defRPr sz="1600"/>
            </a:lvl5pPr>
            <a:lvl6pPr marL="2743200" lvl="5" indent="-330200" algn="l">
              <a:spcBef>
                <a:spcPts val="320"/>
              </a:spcBef>
              <a:spcAft>
                <a:spcPts val="0"/>
              </a:spcAft>
              <a:buSzPts val="1600"/>
              <a:buFont typeface="Times New Roman"/>
              <a:buChar char="•"/>
              <a:defRPr sz="1600"/>
            </a:lvl6pPr>
            <a:lvl7pPr marL="3200400" lvl="6" indent="-330200" algn="l">
              <a:spcBef>
                <a:spcPts val="320"/>
              </a:spcBef>
              <a:spcAft>
                <a:spcPts val="0"/>
              </a:spcAft>
              <a:buSzPts val="1600"/>
              <a:buFont typeface="Times New Roman"/>
              <a:buChar char="•"/>
              <a:defRPr sz="1600"/>
            </a:lvl7pPr>
            <a:lvl8pPr marL="3657600" lvl="7" indent="-330200" algn="l">
              <a:spcBef>
                <a:spcPts val="320"/>
              </a:spcBef>
              <a:spcAft>
                <a:spcPts val="0"/>
              </a:spcAft>
              <a:buSzPts val="1600"/>
              <a:buFont typeface="Times New Roman"/>
              <a:buChar char="•"/>
              <a:defRPr sz="1600"/>
            </a:lvl8pPr>
            <a:lvl9pPr marL="4114800" lvl="8" indent="-330200" algn="l">
              <a:spcBef>
                <a:spcPts val="320"/>
              </a:spcBef>
              <a:spcAft>
                <a:spcPts val="0"/>
              </a:spcAft>
              <a:buSzPts val="1600"/>
              <a:buFont typeface="Times New Roman"/>
              <a:buChar char="•"/>
              <a:defRPr sz="1600"/>
            </a:lvl9pPr>
          </a:lstStyle>
          <a:p>
            <a:endParaRPr/>
          </a:p>
        </p:txBody>
      </p:sp>
      <p:sp>
        <p:nvSpPr>
          <p:cNvPr id="60" name="Google Shape;60;p11"/>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11-</a:t>
            </a:r>
            <a:fld id="{00000000-1234-1234-1234-123412341234}" type="slidenum">
              <a:rPr lang="en-US" smtClean="0"/>
              <a:pPr/>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1"/>
        <p:cNvGrpSpPr/>
        <p:nvPr/>
      </p:nvGrpSpPr>
      <p:grpSpPr>
        <a:xfrm>
          <a:off x="0" y="0"/>
          <a:ext cx="0" cy="0"/>
          <a:chOff x="0" y="0"/>
          <a:chExt cx="0" cy="0"/>
        </a:xfrm>
      </p:grpSpPr>
      <p:sp>
        <p:nvSpPr>
          <p:cNvPr id="62" name="Google Shape;62;p1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3" name="Google Shape;63;p12"/>
          <p:cNvSpPr txBox="1">
            <a:spLocks noGrp="1"/>
          </p:cNvSpPr>
          <p:nvPr>
            <p:ph type="body" idx="1"/>
          </p:nvPr>
        </p:nvSpPr>
        <p:spPr>
          <a:xfrm>
            <a:off x="457200" y="15240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rgbClr val="A00020"/>
              </a:buClr>
              <a:buSzPts val="2800"/>
              <a:buFont typeface="Times New Roman"/>
              <a:buChar char="•"/>
              <a:defRPr sz="2800"/>
            </a:lvl1pPr>
            <a:lvl2pPr marL="914400" lvl="1" indent="-381000" algn="l">
              <a:spcBef>
                <a:spcPts val="480"/>
              </a:spcBef>
              <a:spcAft>
                <a:spcPts val="0"/>
              </a:spcAft>
              <a:buSzPts val="2400"/>
              <a:buChar char="▪"/>
              <a:defRPr sz="2400"/>
            </a:lvl2pPr>
            <a:lvl3pPr marL="1371600" lvl="2" indent="-355600" algn="l">
              <a:spcBef>
                <a:spcPts val="400"/>
              </a:spcBef>
              <a:spcAft>
                <a:spcPts val="0"/>
              </a:spcAft>
              <a:buSzPts val="2000"/>
              <a:buFont typeface="Times New Roman"/>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SzPts val="1800"/>
              <a:buFont typeface="Times New Roman"/>
              <a:buChar char="•"/>
              <a:defRPr sz="1800"/>
            </a:lvl5pPr>
            <a:lvl6pPr marL="2743200" lvl="5" indent="-342900" algn="l">
              <a:spcBef>
                <a:spcPts val="360"/>
              </a:spcBef>
              <a:spcAft>
                <a:spcPts val="0"/>
              </a:spcAft>
              <a:buSzPts val="1800"/>
              <a:buFont typeface="Times New Roman"/>
              <a:buChar char="•"/>
              <a:defRPr sz="1800"/>
            </a:lvl6pPr>
            <a:lvl7pPr marL="3200400" lvl="6" indent="-342900" algn="l">
              <a:spcBef>
                <a:spcPts val="360"/>
              </a:spcBef>
              <a:spcAft>
                <a:spcPts val="0"/>
              </a:spcAft>
              <a:buSzPts val="1800"/>
              <a:buFont typeface="Times New Roman"/>
              <a:buChar char="•"/>
              <a:defRPr sz="1800"/>
            </a:lvl7pPr>
            <a:lvl8pPr marL="3657600" lvl="7" indent="-342900" algn="l">
              <a:spcBef>
                <a:spcPts val="360"/>
              </a:spcBef>
              <a:spcAft>
                <a:spcPts val="0"/>
              </a:spcAft>
              <a:buSzPts val="1800"/>
              <a:buFont typeface="Times New Roman"/>
              <a:buChar char="•"/>
              <a:defRPr sz="1800"/>
            </a:lvl8pPr>
            <a:lvl9pPr marL="4114800" lvl="8" indent="-342900" algn="l">
              <a:spcBef>
                <a:spcPts val="360"/>
              </a:spcBef>
              <a:spcAft>
                <a:spcPts val="0"/>
              </a:spcAft>
              <a:buSzPts val="1800"/>
              <a:buFont typeface="Times New Roman"/>
              <a:buChar char="•"/>
              <a:defRPr sz="1800"/>
            </a:lvl9pPr>
          </a:lstStyle>
          <a:p>
            <a:endParaRPr dirty="0"/>
          </a:p>
        </p:txBody>
      </p:sp>
      <p:sp>
        <p:nvSpPr>
          <p:cNvPr id="64" name="Google Shape;64;p12"/>
          <p:cNvSpPr txBox="1">
            <a:spLocks noGrp="1"/>
          </p:cNvSpPr>
          <p:nvPr>
            <p:ph type="body" idx="2"/>
          </p:nvPr>
        </p:nvSpPr>
        <p:spPr>
          <a:xfrm>
            <a:off x="4648200" y="15240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SzPts val="2800"/>
              <a:buFont typeface="Times New Roman"/>
              <a:buChar char="•"/>
              <a:defRPr sz="2800"/>
            </a:lvl1pPr>
            <a:lvl2pPr marL="914400" lvl="1" indent="-381000" algn="l">
              <a:spcBef>
                <a:spcPts val="480"/>
              </a:spcBef>
              <a:spcAft>
                <a:spcPts val="0"/>
              </a:spcAft>
              <a:buSzPts val="2400"/>
              <a:buChar char="▪"/>
              <a:defRPr sz="2400"/>
            </a:lvl2pPr>
            <a:lvl3pPr marL="1371600" lvl="2" indent="-355600" algn="l">
              <a:spcBef>
                <a:spcPts val="400"/>
              </a:spcBef>
              <a:spcAft>
                <a:spcPts val="0"/>
              </a:spcAft>
              <a:buSzPts val="2000"/>
              <a:buFont typeface="Times New Roman"/>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SzPts val="1800"/>
              <a:buFont typeface="Times New Roman"/>
              <a:buChar char="•"/>
              <a:defRPr sz="1800"/>
            </a:lvl5pPr>
            <a:lvl6pPr marL="2743200" lvl="5" indent="-342900" algn="l">
              <a:spcBef>
                <a:spcPts val="360"/>
              </a:spcBef>
              <a:spcAft>
                <a:spcPts val="0"/>
              </a:spcAft>
              <a:buSzPts val="1800"/>
              <a:buFont typeface="Times New Roman"/>
              <a:buChar char="•"/>
              <a:defRPr sz="1800"/>
            </a:lvl6pPr>
            <a:lvl7pPr marL="3200400" lvl="6" indent="-342900" algn="l">
              <a:spcBef>
                <a:spcPts val="360"/>
              </a:spcBef>
              <a:spcAft>
                <a:spcPts val="0"/>
              </a:spcAft>
              <a:buSzPts val="1800"/>
              <a:buFont typeface="Times New Roman"/>
              <a:buChar char="•"/>
              <a:defRPr sz="1800"/>
            </a:lvl7pPr>
            <a:lvl8pPr marL="3657600" lvl="7" indent="-342900" algn="l">
              <a:spcBef>
                <a:spcPts val="360"/>
              </a:spcBef>
              <a:spcAft>
                <a:spcPts val="0"/>
              </a:spcAft>
              <a:buSzPts val="1800"/>
              <a:buFont typeface="Times New Roman"/>
              <a:buChar char="•"/>
              <a:defRPr sz="1800"/>
            </a:lvl8pPr>
            <a:lvl9pPr marL="4114800" lvl="8" indent="-342900" algn="l">
              <a:spcBef>
                <a:spcPts val="360"/>
              </a:spcBef>
              <a:spcAft>
                <a:spcPts val="0"/>
              </a:spcAft>
              <a:buSzPts val="1800"/>
              <a:buFont typeface="Times New Roman"/>
              <a:buChar char="•"/>
              <a:defRPr sz="1800"/>
            </a:lvl9pPr>
          </a:lstStyle>
          <a:p>
            <a:endParaRPr/>
          </a:p>
        </p:txBody>
      </p:sp>
      <p:sp>
        <p:nvSpPr>
          <p:cNvPr id="65" name="Google Shape;65;p12"/>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11-</a:t>
            </a:r>
            <a:fld id="{00000000-1234-1234-1234-123412341234}" type="slidenum">
              <a:rPr lang="en-US" smtClean="0"/>
              <a:pPr/>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6"/>
        <p:cNvGrpSpPr/>
        <p:nvPr/>
      </p:nvGrpSpPr>
      <p:grpSpPr>
        <a:xfrm>
          <a:off x="0" y="0"/>
          <a:ext cx="0" cy="0"/>
          <a:chOff x="0" y="0"/>
          <a:chExt cx="0" cy="0"/>
        </a:xfrm>
      </p:grpSpPr>
      <p:sp>
        <p:nvSpPr>
          <p:cNvPr id="67" name="Google Shape;67;p1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1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SzPts val="2000"/>
              <a:buFont typeface="Times New Roman"/>
              <a:buNone/>
              <a:defRPr sz="2000"/>
            </a:lvl1pPr>
            <a:lvl2pPr marL="914400" lvl="1" indent="-228600" algn="l">
              <a:spcBef>
                <a:spcPts val="360"/>
              </a:spcBef>
              <a:spcAft>
                <a:spcPts val="0"/>
              </a:spcAft>
              <a:buSzPts val="1800"/>
              <a:buNone/>
              <a:defRPr sz="1800"/>
            </a:lvl2pPr>
            <a:lvl3pPr marL="1371600" lvl="2" indent="-228600" algn="l">
              <a:spcBef>
                <a:spcPts val="320"/>
              </a:spcBef>
              <a:spcAft>
                <a:spcPts val="0"/>
              </a:spcAft>
              <a:buSzPts val="1600"/>
              <a:buFont typeface="Times New Roman"/>
              <a:buNone/>
              <a:defRPr sz="1600"/>
            </a:lvl3pPr>
            <a:lvl4pPr marL="1828800" lvl="3" indent="-228600" algn="l">
              <a:spcBef>
                <a:spcPts val="280"/>
              </a:spcBef>
              <a:spcAft>
                <a:spcPts val="0"/>
              </a:spcAft>
              <a:buSzPts val="1400"/>
              <a:buNone/>
              <a:defRPr sz="1400"/>
            </a:lvl4pPr>
            <a:lvl5pPr marL="2286000" lvl="4" indent="-228600" algn="l">
              <a:spcBef>
                <a:spcPts val="280"/>
              </a:spcBef>
              <a:spcAft>
                <a:spcPts val="0"/>
              </a:spcAft>
              <a:buSzPts val="1400"/>
              <a:buFont typeface="Times New Roman"/>
              <a:buNone/>
              <a:defRPr sz="1400"/>
            </a:lvl5pPr>
            <a:lvl6pPr marL="2743200" lvl="5" indent="-228600" algn="l">
              <a:spcBef>
                <a:spcPts val="280"/>
              </a:spcBef>
              <a:spcAft>
                <a:spcPts val="0"/>
              </a:spcAft>
              <a:buSzPts val="1400"/>
              <a:buFont typeface="Times New Roman"/>
              <a:buNone/>
              <a:defRPr sz="1400"/>
            </a:lvl6pPr>
            <a:lvl7pPr marL="3200400" lvl="6" indent="-228600" algn="l">
              <a:spcBef>
                <a:spcPts val="280"/>
              </a:spcBef>
              <a:spcAft>
                <a:spcPts val="0"/>
              </a:spcAft>
              <a:buSzPts val="1400"/>
              <a:buFont typeface="Times New Roman"/>
              <a:buNone/>
              <a:defRPr sz="1400"/>
            </a:lvl7pPr>
            <a:lvl8pPr marL="3657600" lvl="7" indent="-228600" algn="l">
              <a:spcBef>
                <a:spcPts val="280"/>
              </a:spcBef>
              <a:spcAft>
                <a:spcPts val="0"/>
              </a:spcAft>
              <a:buSzPts val="1400"/>
              <a:buFont typeface="Times New Roman"/>
              <a:buNone/>
              <a:defRPr sz="1400"/>
            </a:lvl8pPr>
            <a:lvl9pPr marL="4114800" lvl="8" indent="-228600" algn="l">
              <a:spcBef>
                <a:spcPts val="280"/>
              </a:spcBef>
              <a:spcAft>
                <a:spcPts val="0"/>
              </a:spcAft>
              <a:buSzPts val="1400"/>
              <a:buFont typeface="Times New Roman"/>
              <a:buNone/>
              <a:defRPr sz="1400"/>
            </a:lvl9pPr>
          </a:lstStyle>
          <a:p>
            <a:endParaRPr/>
          </a:p>
        </p:txBody>
      </p:sp>
      <p:sp>
        <p:nvSpPr>
          <p:cNvPr id="69" name="Google Shape;69;p13"/>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12-</a:t>
            </a:r>
            <a:fld id="{00000000-1234-1234-1234-123412341234}" type="slidenum">
              <a:rPr lang="en-US" smtClean="0"/>
              <a:pPr/>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
        <p:cNvGrpSpPr/>
        <p:nvPr/>
      </p:nvGrpSpPr>
      <p:grpSpPr>
        <a:xfrm>
          <a:off x="0" y="0"/>
          <a:ext cx="0" cy="0"/>
          <a:chOff x="0" y="0"/>
          <a:chExt cx="0" cy="0"/>
        </a:xfrm>
      </p:grpSpPr>
      <p:sp>
        <p:nvSpPr>
          <p:cNvPr id="21" name="Google Shape;21;p3"/>
          <p:cNvSpPr txBox="1"/>
          <p:nvPr/>
        </p:nvSpPr>
        <p:spPr>
          <a:xfrm>
            <a:off x="0" y="6400800"/>
            <a:ext cx="9144000" cy="457200"/>
          </a:xfrm>
          <a:prstGeom prst="rect">
            <a:avLst/>
          </a:prstGeom>
          <a:solidFill>
            <a:srgbClr val="A0002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22" name="Google Shape;22;p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accent2"/>
                </a:solidFill>
                <a:latin typeface="Arial"/>
                <a:ea typeface="Arial"/>
                <a:cs typeface="Arial"/>
                <a:sym typeface="Arial"/>
              </a:defRPr>
            </a:lvl1pPr>
            <a:lvl2pPr marR="0" lvl="1" algn="ctr" rtl="0">
              <a:spcBef>
                <a:spcPts val="0"/>
              </a:spcBef>
              <a:spcAft>
                <a:spcPts val="0"/>
              </a:spcAft>
              <a:buSzPts val="1400"/>
              <a:buNone/>
              <a:defRPr sz="4400" b="0" i="0" u="none" strike="noStrike" cap="none">
                <a:solidFill>
                  <a:schemeClr val="accent2"/>
                </a:solidFill>
                <a:latin typeface="Arial"/>
                <a:ea typeface="Arial"/>
                <a:cs typeface="Arial"/>
                <a:sym typeface="Arial"/>
              </a:defRPr>
            </a:lvl2pPr>
            <a:lvl3pPr marR="0" lvl="2" algn="ctr" rtl="0">
              <a:spcBef>
                <a:spcPts val="0"/>
              </a:spcBef>
              <a:spcAft>
                <a:spcPts val="0"/>
              </a:spcAft>
              <a:buSzPts val="1400"/>
              <a:buNone/>
              <a:defRPr sz="4400" b="0" i="0" u="none" strike="noStrike" cap="none">
                <a:solidFill>
                  <a:schemeClr val="accent2"/>
                </a:solidFill>
                <a:latin typeface="Arial"/>
                <a:ea typeface="Arial"/>
                <a:cs typeface="Arial"/>
                <a:sym typeface="Arial"/>
              </a:defRPr>
            </a:lvl3pPr>
            <a:lvl4pPr marR="0" lvl="3" algn="ctr" rtl="0">
              <a:spcBef>
                <a:spcPts val="0"/>
              </a:spcBef>
              <a:spcAft>
                <a:spcPts val="0"/>
              </a:spcAft>
              <a:buSzPts val="1400"/>
              <a:buNone/>
              <a:defRPr sz="4400" b="0" i="0" u="none" strike="noStrike" cap="none">
                <a:solidFill>
                  <a:schemeClr val="accent2"/>
                </a:solidFill>
                <a:latin typeface="Arial"/>
                <a:ea typeface="Arial"/>
                <a:cs typeface="Arial"/>
                <a:sym typeface="Arial"/>
              </a:defRPr>
            </a:lvl4pPr>
            <a:lvl5pPr marR="0" lvl="4" algn="ctr" rtl="0">
              <a:spcBef>
                <a:spcPts val="0"/>
              </a:spcBef>
              <a:spcAft>
                <a:spcPts val="0"/>
              </a:spcAft>
              <a:buSzPts val="1400"/>
              <a:buNone/>
              <a:defRPr sz="4400" b="0" i="0" u="none" strike="noStrike" cap="none">
                <a:solidFill>
                  <a:schemeClr val="accent2"/>
                </a:solidFill>
                <a:latin typeface="Arial"/>
                <a:ea typeface="Arial"/>
                <a:cs typeface="Arial"/>
                <a:sym typeface="Arial"/>
              </a:defRPr>
            </a:lvl5pPr>
            <a:lvl6pPr marR="0" lvl="5" algn="ctr" rtl="0">
              <a:spcBef>
                <a:spcPts val="0"/>
              </a:spcBef>
              <a:spcAft>
                <a:spcPts val="0"/>
              </a:spcAft>
              <a:buSzPts val="1400"/>
              <a:buNone/>
              <a:defRPr sz="4400" b="0" i="0" u="none" strike="noStrike" cap="none">
                <a:solidFill>
                  <a:schemeClr val="accent2"/>
                </a:solidFill>
                <a:latin typeface="Arial"/>
                <a:ea typeface="Arial"/>
                <a:cs typeface="Arial"/>
                <a:sym typeface="Arial"/>
              </a:defRPr>
            </a:lvl6pPr>
            <a:lvl7pPr marR="0" lvl="6" algn="ctr" rtl="0">
              <a:spcBef>
                <a:spcPts val="0"/>
              </a:spcBef>
              <a:spcAft>
                <a:spcPts val="0"/>
              </a:spcAft>
              <a:buSzPts val="1400"/>
              <a:buNone/>
              <a:defRPr sz="4400" b="0" i="0" u="none" strike="noStrike" cap="none">
                <a:solidFill>
                  <a:schemeClr val="accent2"/>
                </a:solidFill>
                <a:latin typeface="Arial"/>
                <a:ea typeface="Arial"/>
                <a:cs typeface="Arial"/>
                <a:sym typeface="Arial"/>
              </a:defRPr>
            </a:lvl7pPr>
            <a:lvl8pPr marR="0" lvl="7" algn="ctr" rtl="0">
              <a:spcBef>
                <a:spcPts val="0"/>
              </a:spcBef>
              <a:spcAft>
                <a:spcPts val="0"/>
              </a:spcAft>
              <a:buSzPts val="1400"/>
              <a:buNone/>
              <a:defRPr sz="4400" b="0" i="0" u="none" strike="noStrike" cap="none">
                <a:solidFill>
                  <a:schemeClr val="accent2"/>
                </a:solidFill>
                <a:latin typeface="Arial"/>
                <a:ea typeface="Arial"/>
                <a:cs typeface="Arial"/>
                <a:sym typeface="Arial"/>
              </a:defRPr>
            </a:lvl8pPr>
            <a:lvl9pPr marR="0" lvl="8" algn="ctr" rtl="0">
              <a:spcBef>
                <a:spcPts val="0"/>
              </a:spcBef>
              <a:spcAft>
                <a:spcPts val="0"/>
              </a:spcAft>
              <a:buSzPts val="1400"/>
              <a:buNone/>
              <a:defRPr sz="4400" b="0" i="0" u="none" strike="noStrike" cap="none">
                <a:solidFill>
                  <a:schemeClr val="accent2"/>
                </a:solidFill>
                <a:latin typeface="Arial"/>
                <a:ea typeface="Arial"/>
                <a:cs typeface="Arial"/>
                <a:sym typeface="Arial"/>
              </a:defRPr>
            </a:lvl9pPr>
          </a:lstStyle>
          <a:p>
            <a:endParaRPr/>
          </a:p>
        </p:txBody>
      </p:sp>
      <p:sp>
        <p:nvSpPr>
          <p:cNvPr id="24" name="Google Shape;24;p3"/>
          <p:cNvSpPr txBox="1">
            <a:spLocks noGrp="1"/>
          </p:cNvSpPr>
          <p:nvPr>
            <p:ph type="sldNum" idx="12"/>
          </p:nvPr>
        </p:nvSpPr>
        <p:spPr>
          <a:xfrm>
            <a:off x="76200" y="6330950"/>
            <a:ext cx="914400" cy="4572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1pPr>
            <a:lvl2pPr marL="0" marR="0" lvl="1"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2pPr>
            <a:lvl3pPr marL="0" marR="0" lvl="2"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3pPr>
            <a:lvl4pPr marL="0" marR="0" lvl="3"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4pPr>
            <a:lvl5pPr marL="0" marR="0" lvl="4"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5pPr>
            <a:lvl6pPr marL="0" marR="0" lvl="5"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6pPr>
            <a:lvl7pPr marL="0" marR="0" lvl="6"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7pPr>
            <a:lvl8pPr marL="0" marR="0" lvl="7"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8pPr>
            <a:lvl9pPr marL="0" marR="0" lvl="8" indent="0" algn="r" rtl="0">
              <a:lnSpc>
                <a:spcPct val="100000"/>
              </a:lnSpc>
              <a:spcBef>
                <a:spcPts val="0"/>
              </a:spcBef>
              <a:spcAft>
                <a:spcPts val="0"/>
              </a:spcAft>
              <a:buClr>
                <a:schemeClr val="lt1"/>
              </a:buClr>
              <a:buSzPts val="1400"/>
              <a:buFont typeface="Verdana"/>
              <a:buNone/>
              <a:defRPr sz="1400" b="1" i="0" u="none">
                <a:solidFill>
                  <a:schemeClr val="lt1"/>
                </a:solidFill>
                <a:latin typeface="Verdana"/>
                <a:ea typeface="Verdana"/>
                <a:cs typeface="Verdana"/>
                <a:sym typeface="Verdana"/>
              </a:defRPr>
            </a:lvl9pPr>
          </a:lstStyle>
          <a:p>
            <a:pPr marL="0" lvl="0" indent="0" algn="r" rtl="0">
              <a:spcBef>
                <a:spcPts val="0"/>
              </a:spcBef>
              <a:spcAft>
                <a:spcPts val="0"/>
              </a:spcAft>
              <a:buNone/>
            </a:pPr>
            <a:r>
              <a:rPr lang="en-US" dirty="0"/>
              <a:t>11-</a:t>
            </a:r>
            <a:fld id="{00000000-1234-1234-1234-123412341234}" type="slidenum">
              <a:rPr lang="en-US" smtClean="0"/>
              <a:pPr/>
              <a:t>‹#›</a:t>
            </a:fld>
            <a:endParaRPr b="0" dirty="0">
              <a:solidFill>
                <a:srgbClr val="000000"/>
              </a:solidFill>
              <a:latin typeface="Arial"/>
              <a:ea typeface="Arial"/>
              <a:cs typeface="Arial"/>
              <a:sym typeface="Arial"/>
            </a:endParaRPr>
          </a:p>
        </p:txBody>
      </p:sp>
      <p:sp>
        <p:nvSpPr>
          <p:cNvPr id="25" name="Google Shape;25;p3"/>
          <p:cNvSpPr txBox="1"/>
          <p:nvPr/>
        </p:nvSpPr>
        <p:spPr>
          <a:xfrm>
            <a:off x="1447800" y="6507162"/>
            <a:ext cx="5715000" cy="27463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1200"/>
              <a:buFont typeface="Arial"/>
              <a:buNone/>
            </a:pPr>
            <a:r>
              <a:rPr lang="en-US" sz="1200" b="0" i="0" u="none" dirty="0">
                <a:solidFill>
                  <a:schemeClr val="lt1"/>
                </a:solidFill>
                <a:latin typeface="Arial"/>
                <a:ea typeface="Arial"/>
                <a:cs typeface="Arial"/>
                <a:sym typeface="Arial"/>
              </a:rPr>
              <a:t>Copyright © 2021, 2017, 2013 Pearson Education, Inc.  All Rights Reserved</a:t>
            </a:r>
            <a:endParaRPr lang="en-US" sz="1200" dirty="0"/>
          </a:p>
        </p:txBody>
      </p:sp>
      <p:pic>
        <p:nvPicPr>
          <p:cNvPr id="26" name="Google Shape;26;p3" descr="PearsonLogo_Horizontal_Blk_RGB.jpg"/>
          <p:cNvPicPr preferRelativeResize="0"/>
          <p:nvPr/>
        </p:nvPicPr>
        <p:blipFill rotWithShape="1">
          <a:blip r:embed="rId11">
            <a:alphaModFix/>
          </a:blip>
          <a:srcRect/>
          <a:stretch/>
        </p:blipFill>
        <p:spPr>
          <a:xfrm>
            <a:off x="8072437" y="6440487"/>
            <a:ext cx="842962" cy="381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25400" marR="0" lvl="0" indent="0" algn="l" rtl="0">
        <a:lnSpc>
          <a:spcPct val="100000"/>
        </a:lnSpc>
        <a:spcBef>
          <a:spcPts val="0"/>
        </a:spcBef>
        <a:spcAft>
          <a:spcPts val="0"/>
        </a:spcAft>
        <a:buClr>
          <a:srgbClr val="A00020"/>
        </a:buClr>
        <a:buFontTx/>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6.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5.w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8.emf"/><Relationship Id="rId4"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vmlDrawing" Target="../drawings/vmlDrawing3.vml"/><Relationship Id="rId5" Type="http://schemas.openxmlformats.org/officeDocument/2006/relationships/image" Target="../media/image9.wmf"/><Relationship Id="rId4" Type="http://schemas.openxmlformats.org/officeDocument/2006/relationships/oleObject" Target="../embeddings/oleObject4.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notesSlide" Target="../notesSlides/notesSlide15.xml"/><Relationship Id="rId7" Type="http://schemas.openxmlformats.org/officeDocument/2006/relationships/image" Target="../media/image11.wmf"/><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oleObject" Target="../embeddings/oleObject6.bin"/><Relationship Id="rId5" Type="http://schemas.openxmlformats.org/officeDocument/2006/relationships/image" Target="../media/image10.wmf"/><Relationship Id="rId4" Type="http://schemas.openxmlformats.org/officeDocument/2006/relationships/oleObject" Target="../embeddings/oleObject5.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vmlDrawing" Target="../drawings/vmlDrawing5.vml"/><Relationship Id="rId5" Type="http://schemas.openxmlformats.org/officeDocument/2006/relationships/image" Target="../media/image13.wmf"/><Relationship Id="rId4" Type="http://schemas.openxmlformats.org/officeDocument/2006/relationships/oleObject" Target="../embeddings/oleObject7.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image" Target="../media/image14.png"/><Relationship Id="rId5" Type="http://schemas.openxmlformats.org/officeDocument/2006/relationships/image" Target="../media/image10.wmf"/><Relationship Id="rId4" Type="http://schemas.openxmlformats.org/officeDocument/2006/relationships/oleObject" Target="../embeddings/oleObject8.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7" Type="http://schemas.openxmlformats.org/officeDocument/2006/relationships/image" Target="../media/image17.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0.bin"/><Relationship Id="rId5" Type="http://schemas.openxmlformats.org/officeDocument/2006/relationships/image" Target="../media/image16.wmf"/><Relationship Id="rId4" Type="http://schemas.openxmlformats.org/officeDocument/2006/relationships/oleObject" Target="../embeddings/oleObject9.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18.wmf"/><Relationship Id="rId5" Type="http://schemas.openxmlformats.org/officeDocument/2006/relationships/oleObject" Target="../embeddings/oleObject11.bin"/><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7" Type="http://schemas.openxmlformats.org/officeDocument/2006/relationships/image" Target="../media/image17.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13.bin"/><Relationship Id="rId5" Type="http://schemas.openxmlformats.org/officeDocument/2006/relationships/image" Target="../media/image16.wmf"/><Relationship Id="rId4" Type="http://schemas.openxmlformats.org/officeDocument/2006/relationships/oleObject" Target="../embeddings/oleObject12.bin"/></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21.png"/><Relationship Id="rId5" Type="http://schemas.openxmlformats.org/officeDocument/2006/relationships/image" Target="../media/image20.wmf"/><Relationship Id="rId4" Type="http://schemas.openxmlformats.org/officeDocument/2006/relationships/oleObject" Target="../embeddings/oleObject14.bin"/></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24.wmf"/><Relationship Id="rId4" Type="http://schemas.openxmlformats.org/officeDocument/2006/relationships/oleObject" Target="../embeddings/oleObject15.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25.wmf"/><Relationship Id="rId4" Type="http://schemas.openxmlformats.org/officeDocument/2006/relationships/oleObject" Target="../embeddings/oleObject16.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26.wmf"/><Relationship Id="rId4" Type="http://schemas.openxmlformats.org/officeDocument/2006/relationships/oleObject" Target="../embeddings/oleObject17.bin"/></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28.png"/><Relationship Id="rId5" Type="http://schemas.openxmlformats.org/officeDocument/2006/relationships/image" Target="../media/image27.wmf"/><Relationship Id="rId4" Type="http://schemas.openxmlformats.org/officeDocument/2006/relationships/oleObject" Target="../embeddings/oleObject18.bin"/></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30.png"/><Relationship Id="rId5" Type="http://schemas.openxmlformats.org/officeDocument/2006/relationships/image" Target="../media/image29.wmf"/><Relationship Id="rId4" Type="http://schemas.openxmlformats.org/officeDocument/2006/relationships/oleObject" Target="../embeddings/oleObject19.bin"/></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31.wmf"/><Relationship Id="rId4" Type="http://schemas.openxmlformats.org/officeDocument/2006/relationships/oleObject" Target="../embeddings/oleObject20.bin"/></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7" Type="http://schemas.openxmlformats.org/officeDocument/2006/relationships/image" Target="../media/image36.wmf"/><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oleObject" Target="../embeddings/oleObject22.bin"/><Relationship Id="rId5" Type="http://schemas.openxmlformats.org/officeDocument/2006/relationships/image" Target="../media/image35.wmf"/><Relationship Id="rId4" Type="http://schemas.openxmlformats.org/officeDocument/2006/relationships/oleObject" Target="../embeddings/oleObject21.bin"/></Relationships>
</file>

<file path=ppt/slides/_rels/slide4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vmlDrawing" Target="../drawings/vmlDrawing18.vml"/><Relationship Id="rId5" Type="http://schemas.openxmlformats.org/officeDocument/2006/relationships/image" Target="../media/image39.wmf"/><Relationship Id="rId4" Type="http://schemas.openxmlformats.org/officeDocument/2006/relationships/oleObject" Target="../embeddings/oleObject23.bin"/></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image" Target="../media/image40.wmf"/><Relationship Id="rId4" Type="http://schemas.openxmlformats.org/officeDocument/2006/relationships/oleObject" Target="../embeddings/oleObject24.bin"/></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xml"/><Relationship Id="rId1" Type="http://schemas.openxmlformats.org/officeDocument/2006/relationships/vmlDrawing" Target="../drawings/vmlDrawing20.vml"/><Relationship Id="rId5" Type="http://schemas.openxmlformats.org/officeDocument/2006/relationships/image" Target="../media/image41.wmf"/><Relationship Id="rId4" Type="http://schemas.openxmlformats.org/officeDocument/2006/relationships/oleObject" Target="../embeddings/oleObject25.bin"/></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xml"/><Relationship Id="rId1" Type="http://schemas.openxmlformats.org/officeDocument/2006/relationships/vmlDrawing" Target="../drawings/vmlDrawing21.vml"/><Relationship Id="rId5" Type="http://schemas.openxmlformats.org/officeDocument/2006/relationships/image" Target="../media/image42.wmf"/><Relationship Id="rId4" Type="http://schemas.openxmlformats.org/officeDocument/2006/relationships/oleObject" Target="../embeddings/oleObject26.bin"/></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xml"/><Relationship Id="rId1" Type="http://schemas.openxmlformats.org/officeDocument/2006/relationships/vmlDrawing" Target="../drawings/vmlDrawing22.vml"/><Relationship Id="rId6" Type="http://schemas.openxmlformats.org/officeDocument/2006/relationships/image" Target="../media/image44.png"/><Relationship Id="rId5" Type="http://schemas.openxmlformats.org/officeDocument/2006/relationships/image" Target="../media/image43.wmf"/><Relationship Id="rId4" Type="http://schemas.openxmlformats.org/officeDocument/2006/relationships/oleObject" Target="../embeddings/oleObject27.bin"/></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xml"/><Relationship Id="rId1" Type="http://schemas.openxmlformats.org/officeDocument/2006/relationships/vmlDrawing" Target="../drawings/vmlDrawing23.vml"/><Relationship Id="rId5" Type="http://schemas.openxmlformats.org/officeDocument/2006/relationships/image" Target="../media/image45.wmf"/><Relationship Id="rId4" Type="http://schemas.openxmlformats.org/officeDocument/2006/relationships/oleObject" Target="../embeddings/oleObject28.bin"/></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xml"/><Relationship Id="rId1" Type="http://schemas.openxmlformats.org/officeDocument/2006/relationships/vmlDrawing" Target="../drawings/vmlDrawing24.vml"/><Relationship Id="rId5" Type="http://schemas.openxmlformats.org/officeDocument/2006/relationships/image" Target="../media/image42.wmf"/><Relationship Id="rId4" Type="http://schemas.openxmlformats.org/officeDocument/2006/relationships/oleObject" Target="../embeddings/oleObject29.bin"/></Relationships>
</file>

<file path=ppt/slides/_rels/slide5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vmlDrawing" Target="../drawings/vmlDrawing25.vml"/><Relationship Id="rId5" Type="http://schemas.openxmlformats.org/officeDocument/2006/relationships/image" Target="../media/image49.wmf"/><Relationship Id="rId4" Type="http://schemas.openxmlformats.org/officeDocument/2006/relationships/oleObject" Target="../embeddings/oleObject30.bin"/></Relationships>
</file>

<file path=ppt/slides/_rels/slide64.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notesSlide" Target="../notesSlides/notesSlide64.xml"/><Relationship Id="rId7"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image" Target="../media/image52.png"/><Relationship Id="rId5" Type="http://schemas.openxmlformats.org/officeDocument/2006/relationships/image" Target="../media/image50.wmf"/><Relationship Id="rId4" Type="http://schemas.openxmlformats.org/officeDocument/2006/relationships/oleObject" Target="../embeddings/oleObject31.bin"/></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vmlDrawing" Target="../drawings/vmlDrawing27.vml"/><Relationship Id="rId5" Type="http://schemas.openxmlformats.org/officeDocument/2006/relationships/image" Target="../media/image49.wmf"/><Relationship Id="rId4" Type="http://schemas.openxmlformats.org/officeDocument/2006/relationships/oleObject" Target="../embeddings/oleObject33.bin"/></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vmlDrawing" Target="../drawings/vmlDrawing28.vml"/><Relationship Id="rId5" Type="http://schemas.openxmlformats.org/officeDocument/2006/relationships/image" Target="../media/image53.wmf"/><Relationship Id="rId4" Type="http://schemas.openxmlformats.org/officeDocument/2006/relationships/oleObject" Target="../embeddings/oleObject34.bin"/></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image" Target="../media/image55.png"/><Relationship Id="rId5" Type="http://schemas.openxmlformats.org/officeDocument/2006/relationships/image" Target="../media/image54.wmf"/><Relationship Id="rId4" Type="http://schemas.openxmlformats.org/officeDocument/2006/relationships/oleObject" Target="../embeddings/oleObject35.bin"/></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38.bin"/><Relationship Id="rId3" Type="http://schemas.openxmlformats.org/officeDocument/2006/relationships/notesSlide" Target="../notesSlides/notesSlide72.xml"/><Relationship Id="rId7" Type="http://schemas.openxmlformats.org/officeDocument/2006/relationships/image" Target="../media/image57.wmf"/><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oleObject" Target="../embeddings/oleObject37.bin"/><Relationship Id="rId5" Type="http://schemas.openxmlformats.org/officeDocument/2006/relationships/image" Target="../media/image56.wmf"/><Relationship Id="rId4" Type="http://schemas.openxmlformats.org/officeDocument/2006/relationships/oleObject" Target="../embeddings/oleObject36.bin"/><Relationship Id="rId9" Type="http://schemas.openxmlformats.org/officeDocument/2006/relationships/image" Target="../media/image58.wmf"/></Relationships>
</file>

<file path=ppt/slides/_rels/slide73.xml.rels><?xml version="1.0" encoding="UTF-8" standalone="yes"?>
<Relationships xmlns="http://schemas.openxmlformats.org/package/2006/relationships"><Relationship Id="rId8" Type="http://schemas.openxmlformats.org/officeDocument/2006/relationships/oleObject" Target="../embeddings/oleObject41.bin"/><Relationship Id="rId3" Type="http://schemas.openxmlformats.org/officeDocument/2006/relationships/notesSlide" Target="../notesSlides/notesSlide73.xml"/><Relationship Id="rId7" Type="http://schemas.openxmlformats.org/officeDocument/2006/relationships/image" Target="../media/image60.wmf"/><Relationship Id="rId2" Type="http://schemas.openxmlformats.org/officeDocument/2006/relationships/slideLayout" Target="../slideLayouts/slideLayout2.xml"/><Relationship Id="rId1" Type="http://schemas.openxmlformats.org/officeDocument/2006/relationships/vmlDrawing" Target="../drawings/vmlDrawing31.vml"/><Relationship Id="rId6" Type="http://schemas.openxmlformats.org/officeDocument/2006/relationships/oleObject" Target="../embeddings/oleObject40.bin"/><Relationship Id="rId5" Type="http://schemas.openxmlformats.org/officeDocument/2006/relationships/image" Target="../media/image59.wmf"/><Relationship Id="rId4" Type="http://schemas.openxmlformats.org/officeDocument/2006/relationships/oleObject" Target="../embeddings/oleObject39.bin"/><Relationship Id="rId9" Type="http://schemas.openxmlformats.org/officeDocument/2006/relationships/image" Target="../media/image61.wmf"/></Relationships>
</file>

<file path=ppt/slides/_rels/slide7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2.xml"/><Relationship Id="rId1" Type="http://schemas.openxmlformats.org/officeDocument/2006/relationships/vmlDrawing" Target="../drawings/vmlDrawing32.vml"/><Relationship Id="rId5" Type="http://schemas.openxmlformats.org/officeDocument/2006/relationships/image" Target="../media/image65.wmf"/><Relationship Id="rId4" Type="http://schemas.openxmlformats.org/officeDocument/2006/relationships/oleObject" Target="../embeddings/oleObject42.bin"/></Relationships>
</file>

<file path=ppt/slides/_rels/slide8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2.xml"/><Relationship Id="rId1" Type="http://schemas.openxmlformats.org/officeDocument/2006/relationships/vmlDrawing" Target="../drawings/vmlDrawing33.vml"/><Relationship Id="rId5" Type="http://schemas.openxmlformats.org/officeDocument/2006/relationships/image" Target="../media/image67.wmf"/><Relationship Id="rId4" Type="http://schemas.openxmlformats.org/officeDocument/2006/relationships/oleObject" Target="../embeddings/oleObject43.bin"/></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image" Target="../media/image69.png"/><Relationship Id="rId5" Type="http://schemas.openxmlformats.org/officeDocument/2006/relationships/image" Target="../media/image68.wmf"/><Relationship Id="rId4" Type="http://schemas.openxmlformats.org/officeDocument/2006/relationships/oleObject" Target="../embeddings/oleObject44.bin"/></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2.xml"/><Relationship Id="rId1" Type="http://schemas.openxmlformats.org/officeDocument/2006/relationships/vmlDrawing" Target="../drawings/vmlDrawing35.vml"/><Relationship Id="rId5" Type="http://schemas.openxmlformats.org/officeDocument/2006/relationships/image" Target="../media/image67.wmf"/><Relationship Id="rId4" Type="http://schemas.openxmlformats.org/officeDocument/2006/relationships/oleObject" Target="../embeddings/oleObject45.bin"/></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2.xml"/><Relationship Id="rId1" Type="http://schemas.openxmlformats.org/officeDocument/2006/relationships/vmlDrawing" Target="../drawings/vmlDrawing36.vml"/><Relationship Id="rId6" Type="http://schemas.openxmlformats.org/officeDocument/2006/relationships/image" Target="../media/image71.wmf"/><Relationship Id="rId5" Type="http://schemas.openxmlformats.org/officeDocument/2006/relationships/oleObject" Target="../embeddings/oleObject46.bin"/><Relationship Id="rId4" Type="http://schemas.openxmlformats.org/officeDocument/2006/relationships/image" Target="../media/image72.png"/></Relationships>
</file>

<file path=ppt/slides/_rels/slide9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96.xml"/><Relationship Id="rId7" Type="http://schemas.openxmlformats.org/officeDocument/2006/relationships/image" Target="../media/image76.wmf"/><Relationship Id="rId2" Type="http://schemas.openxmlformats.org/officeDocument/2006/relationships/slideLayout" Target="../slideLayouts/slideLayout2.xml"/><Relationship Id="rId1" Type="http://schemas.openxmlformats.org/officeDocument/2006/relationships/vmlDrawing" Target="../drawings/vmlDrawing37.vml"/><Relationship Id="rId6" Type="http://schemas.openxmlformats.org/officeDocument/2006/relationships/oleObject" Target="../embeddings/oleObject48.bin"/><Relationship Id="rId5" Type="http://schemas.openxmlformats.org/officeDocument/2006/relationships/image" Target="../media/image75.wmf"/><Relationship Id="rId4" Type="http://schemas.openxmlformats.org/officeDocument/2006/relationships/oleObject" Target="../embeddings/oleObject47.bin"/></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2.xml"/><Relationship Id="rId1" Type="http://schemas.openxmlformats.org/officeDocument/2006/relationships/vmlDrawing" Target="../drawings/vmlDrawing38.vml"/><Relationship Id="rId5" Type="http://schemas.openxmlformats.org/officeDocument/2006/relationships/image" Target="../media/image77.wmf"/><Relationship Id="rId4" Type="http://schemas.openxmlformats.org/officeDocument/2006/relationships/oleObject" Target="../embeddings/oleObject49.bin"/></Relationships>
</file>

<file path=ppt/slides/_rels/slide9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2.xml"/><Relationship Id="rId1" Type="http://schemas.openxmlformats.org/officeDocument/2006/relationships/vmlDrawing" Target="../drawings/vmlDrawing39.vml"/><Relationship Id="rId5" Type="http://schemas.openxmlformats.org/officeDocument/2006/relationships/image" Target="../media/image79.wmf"/><Relationship Id="rId4" Type="http://schemas.openxmlformats.org/officeDocument/2006/relationships/oleObject" Target="../embeddings/oleObject50.bin"/></Relationships>
</file>

<file path=ppt/slides/_rels/slide10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8" Type="http://schemas.openxmlformats.org/officeDocument/2006/relationships/oleObject" Target="../embeddings/oleObject53.bin"/><Relationship Id="rId3" Type="http://schemas.openxmlformats.org/officeDocument/2006/relationships/notesSlide" Target="../notesSlides/notesSlide104.xml"/><Relationship Id="rId7" Type="http://schemas.openxmlformats.org/officeDocument/2006/relationships/image" Target="../media/image77.wmf"/><Relationship Id="rId2" Type="http://schemas.openxmlformats.org/officeDocument/2006/relationships/slideLayout" Target="../slideLayouts/slideLayout2.xml"/><Relationship Id="rId1" Type="http://schemas.openxmlformats.org/officeDocument/2006/relationships/vmlDrawing" Target="../drawings/vmlDrawing40.vml"/><Relationship Id="rId6" Type="http://schemas.openxmlformats.org/officeDocument/2006/relationships/oleObject" Target="../embeddings/oleObject52.bin"/><Relationship Id="rId5" Type="http://schemas.openxmlformats.org/officeDocument/2006/relationships/image" Target="../media/image82.wmf"/><Relationship Id="rId4" Type="http://schemas.openxmlformats.org/officeDocument/2006/relationships/oleObject" Target="../embeddings/oleObject51.bin"/><Relationship Id="rId9" Type="http://schemas.openxmlformats.org/officeDocument/2006/relationships/image" Target="../media/image83.wmf"/></Relationships>
</file>

<file path=ppt/slides/_rels/slide105.xml.rels><?xml version="1.0" encoding="UTF-8" standalone="yes"?>
<Relationships xmlns="http://schemas.openxmlformats.org/package/2006/relationships"><Relationship Id="rId8" Type="http://schemas.openxmlformats.org/officeDocument/2006/relationships/image" Target="../media/image85.wmf"/><Relationship Id="rId3" Type="http://schemas.openxmlformats.org/officeDocument/2006/relationships/notesSlide" Target="../notesSlides/notesSlide105.xml"/><Relationship Id="rId7" Type="http://schemas.openxmlformats.org/officeDocument/2006/relationships/oleObject" Target="../embeddings/oleObject55.bin"/><Relationship Id="rId2" Type="http://schemas.openxmlformats.org/officeDocument/2006/relationships/slideLayout" Target="../slideLayouts/slideLayout2.xml"/><Relationship Id="rId1" Type="http://schemas.openxmlformats.org/officeDocument/2006/relationships/vmlDrawing" Target="../drawings/vmlDrawing41.vml"/><Relationship Id="rId6" Type="http://schemas.openxmlformats.org/officeDocument/2006/relationships/image" Target="../media/image86.png"/><Relationship Id="rId5" Type="http://schemas.openxmlformats.org/officeDocument/2006/relationships/image" Target="../media/image84.wmf"/><Relationship Id="rId4" Type="http://schemas.openxmlformats.org/officeDocument/2006/relationships/oleObject" Target="../embeddings/oleObject54.bin"/></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107.xml"/><Relationship Id="rId2" Type="http://schemas.openxmlformats.org/officeDocument/2006/relationships/slideLayout" Target="../slideLayouts/slideLayout2.xml"/><Relationship Id="rId1" Type="http://schemas.openxmlformats.org/officeDocument/2006/relationships/vmlDrawing" Target="../drawings/vmlDrawing42.vml"/><Relationship Id="rId6" Type="http://schemas.openxmlformats.org/officeDocument/2006/relationships/image" Target="../media/image88.png"/><Relationship Id="rId5" Type="http://schemas.openxmlformats.org/officeDocument/2006/relationships/image" Target="../media/image87.wmf"/><Relationship Id="rId4" Type="http://schemas.openxmlformats.org/officeDocument/2006/relationships/oleObject" Target="../embeddings/oleObject56.bin"/></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dirty="0">
                <a:solidFill>
                  <a:schemeClr val="lt1"/>
                </a:solidFill>
                <a:latin typeface="Verdana"/>
                <a:ea typeface="Verdana"/>
                <a:cs typeface="Verdana"/>
                <a:sym typeface="Verdana"/>
              </a:rPr>
              <a:t>12-</a:t>
            </a:r>
            <a:fld id="{00000000-1234-1234-1234-123412341234}" type="slidenum">
              <a:rPr lang="en-US" sz="1400" b="1" i="0" u="none" smtClean="0">
                <a:solidFill>
                  <a:schemeClr val="lt1"/>
                </a:solidFill>
                <a:latin typeface="Verdana"/>
                <a:ea typeface="Verdana"/>
                <a:cs typeface="Verdana"/>
                <a:sym typeface="Verdana"/>
              </a:rPr>
              <a:t>1</a:t>
            </a:fld>
            <a:endParaRPr dirty="0"/>
          </a:p>
        </p:txBody>
      </p:sp>
      <p:sp>
        <p:nvSpPr>
          <p:cNvPr id="89" name="Google Shape;89;p16"/>
          <p:cNvSpPr txBox="1"/>
          <p:nvPr/>
        </p:nvSpPr>
        <p:spPr>
          <a:xfrm>
            <a:off x="324035" y="229751"/>
            <a:ext cx="8229600" cy="1143000"/>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chemeClr val="accent2"/>
              </a:buClr>
              <a:buSzPts val="4400"/>
              <a:buFont typeface="Arial"/>
              <a:buNone/>
            </a:pPr>
            <a:r>
              <a:rPr lang="en-US" sz="4400" b="1" i="0" u="none" dirty="0">
                <a:solidFill>
                  <a:srgbClr val="333399"/>
                </a:solidFill>
                <a:latin typeface="Arial"/>
                <a:ea typeface="Arial"/>
                <a:cs typeface="Arial"/>
                <a:sym typeface="Arial"/>
              </a:rPr>
              <a:t>STATISTICS</a:t>
            </a:r>
          </a:p>
          <a:p>
            <a:pPr marL="0" marR="0" lvl="0" indent="0" rtl="0">
              <a:lnSpc>
                <a:spcPct val="100000"/>
              </a:lnSpc>
              <a:spcBef>
                <a:spcPts val="0"/>
              </a:spcBef>
              <a:spcAft>
                <a:spcPts val="0"/>
              </a:spcAft>
              <a:buClr>
                <a:schemeClr val="accent2"/>
              </a:buClr>
              <a:buSzPts val="4400"/>
              <a:buFont typeface="Arial"/>
              <a:buNone/>
            </a:pPr>
            <a:r>
              <a:rPr lang="en-US" sz="2800" b="1" dirty="0">
                <a:solidFill>
                  <a:srgbClr val="333399"/>
                </a:solidFill>
              </a:rPr>
              <a:t>INFORMED DECISIONS USING DATA</a:t>
            </a:r>
            <a:endParaRPr sz="2800" dirty="0"/>
          </a:p>
        </p:txBody>
      </p:sp>
      <p:sp>
        <p:nvSpPr>
          <p:cNvPr id="90" name="Google Shape;90;p16"/>
          <p:cNvSpPr txBox="1"/>
          <p:nvPr/>
        </p:nvSpPr>
        <p:spPr>
          <a:xfrm>
            <a:off x="4893815" y="1709606"/>
            <a:ext cx="3735280" cy="3563075"/>
          </a:xfrm>
          <a:prstGeom prst="rect">
            <a:avLst/>
          </a:prstGeom>
          <a:noFill/>
          <a:ln>
            <a:noFill/>
          </a:ln>
        </p:spPr>
        <p:txBody>
          <a:bodyPr spcFirstLastPara="1" wrap="square" lIns="91425" tIns="45700" rIns="91425" bIns="45700" anchor="t" anchorCtr="0">
            <a:noAutofit/>
          </a:bodyPr>
          <a:lstStyle/>
          <a:p>
            <a:pPr marL="609600" marR="0" lvl="0" indent="-609600" algn="l" rtl="0">
              <a:lnSpc>
                <a:spcPct val="100000"/>
              </a:lnSpc>
              <a:spcBef>
                <a:spcPts val="0"/>
              </a:spcBef>
              <a:spcAft>
                <a:spcPts val="0"/>
              </a:spcAft>
              <a:buClr>
                <a:schemeClr val="dk1"/>
              </a:buClr>
              <a:buSzPts val="3200"/>
              <a:buFont typeface="Arial"/>
              <a:buNone/>
            </a:pPr>
            <a:r>
              <a:rPr lang="en-US" sz="4000" b="1" i="0" u="none" dirty="0">
                <a:solidFill>
                  <a:srgbClr val="333399"/>
                </a:solidFill>
                <a:latin typeface="+mn-lt"/>
                <a:ea typeface="Times New Roman"/>
                <a:cs typeface="Times New Roman"/>
                <a:sym typeface="Times New Roman"/>
              </a:rPr>
              <a:t>Chapter 12</a:t>
            </a:r>
          </a:p>
          <a:p>
            <a:pPr marR="0" lvl="0" algn="l" rtl="0">
              <a:lnSpc>
                <a:spcPct val="100000"/>
              </a:lnSpc>
              <a:spcBef>
                <a:spcPts val="0"/>
              </a:spcBef>
              <a:spcAft>
                <a:spcPts val="0"/>
              </a:spcAft>
              <a:buClr>
                <a:schemeClr val="dk1"/>
              </a:buClr>
              <a:buSzPts val="3200"/>
              <a:buFont typeface="Arial"/>
              <a:buNone/>
            </a:pPr>
            <a:r>
              <a:rPr lang="en-US" sz="3600" b="1" i="0" u="none" dirty="0">
                <a:solidFill>
                  <a:srgbClr val="333399"/>
                </a:solidFill>
                <a:latin typeface="+mn-lt"/>
                <a:ea typeface="Times New Roman"/>
                <a:cs typeface="Times New Roman"/>
                <a:sym typeface="Times New Roman"/>
              </a:rPr>
              <a:t>Inference on Categorical Data</a:t>
            </a:r>
            <a:endParaRPr sz="3600" dirty="0">
              <a:solidFill>
                <a:srgbClr val="333399"/>
              </a:solidFill>
              <a:latin typeface="+mn-lt"/>
            </a:endParaRPr>
          </a:p>
        </p:txBody>
      </p:sp>
      <p:pic>
        <p:nvPicPr>
          <p:cNvPr id="5" name="Google Shape;96;p12">
            <a:extLst>
              <a:ext uri="{FF2B5EF4-FFF2-40B4-BE49-F238E27FC236}">
                <a16:creationId xmlns:a16="http://schemas.microsoft.com/office/drawing/2014/main" id="{F3856100-DDB9-4233-8C17-5D49BE833F8D}"/>
              </a:ext>
            </a:extLst>
          </p:cNvPr>
          <p:cNvPicPr preferRelativeResize="0"/>
          <p:nvPr/>
        </p:nvPicPr>
        <p:blipFill rotWithShape="1">
          <a:blip r:embed="rId3">
            <a:alphaModFix/>
          </a:blip>
          <a:srcRect/>
          <a:stretch/>
        </p:blipFill>
        <p:spPr>
          <a:xfrm>
            <a:off x="658615" y="1647462"/>
            <a:ext cx="3505012" cy="4485537"/>
          </a:xfrm>
          <a:prstGeom prst="rect">
            <a:avLst/>
          </a:prstGeom>
          <a:noFill/>
          <a:ln>
            <a:noFill/>
          </a:ln>
        </p:spPr>
      </p:pic>
    </p:spTree>
    <p:extLst>
      <p:ext uri="{BB962C8B-B14F-4D97-AF65-F5344CB8AC3E}">
        <p14:creationId xmlns:p14="http://schemas.microsoft.com/office/powerpoint/2010/main" val="3777423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dirty="0">
                <a:solidFill>
                  <a:schemeClr val="lt1"/>
                </a:solidFill>
                <a:latin typeface="Verdana"/>
                <a:ea typeface="Verdana"/>
                <a:cs typeface="Verdana"/>
                <a:sym typeface="Verdana"/>
              </a:rPr>
              <a:t>12-</a:t>
            </a:r>
            <a:fld id="{00000000-1234-1234-1234-123412341234}" type="slidenum">
              <a:rPr lang="en-US" sz="1400" b="1" i="0" u="none" smtClean="0">
                <a:solidFill>
                  <a:schemeClr val="lt1"/>
                </a:solidFill>
                <a:latin typeface="Verdana"/>
                <a:ea typeface="Verdana"/>
                <a:cs typeface="Verdana"/>
                <a:sym typeface="Verdana"/>
              </a:rPr>
              <a:t>2</a:t>
            </a:fld>
            <a:endParaRPr dirty="0"/>
          </a:p>
        </p:txBody>
      </p:sp>
      <p:sp>
        <p:nvSpPr>
          <p:cNvPr id="89" name="Google Shape;89;p16"/>
          <p:cNvSpPr txBox="1"/>
          <p:nvPr/>
        </p:nvSpPr>
        <p:spPr>
          <a:xfrm>
            <a:off x="457200" y="487362"/>
            <a:ext cx="8229600" cy="1143000"/>
          </a:xfrm>
          <a:prstGeom prst="rect">
            <a:avLst/>
          </a:prstGeom>
          <a:noFill/>
          <a:ln>
            <a:noFill/>
          </a:ln>
        </p:spPr>
        <p:txBody>
          <a:bodyPr spcFirstLastPara="1" wrap="square" lIns="91425" tIns="45700" rIns="91425" bIns="45700" anchor="ctr" anchorCtr="0">
            <a:noAutofit/>
          </a:bodyPr>
          <a:lstStyle/>
          <a:p>
            <a:pPr marL="609600" lvl="0" indent="-609600">
              <a:buClr>
                <a:schemeClr val="dk1"/>
              </a:buClr>
              <a:buSzPts val="3200"/>
            </a:pPr>
            <a:r>
              <a:rPr lang="en-US" sz="4000" b="1" dirty="0">
                <a:solidFill>
                  <a:srgbClr val="333399"/>
                </a:solidFill>
                <a:latin typeface="+mn-lt"/>
                <a:ea typeface="Times New Roman"/>
                <a:cs typeface="Times New Roman"/>
                <a:sym typeface="Times New Roman"/>
              </a:rPr>
              <a:t>12.1 </a:t>
            </a:r>
            <a:r>
              <a:rPr lang="en-US" sz="4000" b="1" dirty="0">
                <a:solidFill>
                  <a:srgbClr val="333399"/>
                </a:solidFill>
                <a:latin typeface="+mn-lt"/>
                <a:cs typeface="Times New Roman"/>
                <a:sym typeface="Times New Roman"/>
              </a:rPr>
              <a:t>Goodness-of-Fit Test</a:t>
            </a:r>
          </a:p>
          <a:p>
            <a:pPr marL="609600" lvl="0" indent="-609600">
              <a:buClr>
                <a:schemeClr val="dk1"/>
              </a:buClr>
              <a:buSzPts val="3200"/>
            </a:pPr>
            <a:r>
              <a:rPr lang="en-US" sz="4000" b="1" dirty="0">
                <a:solidFill>
                  <a:srgbClr val="A00020"/>
                </a:solidFill>
                <a:latin typeface="+mn-lt"/>
                <a:cs typeface="Times New Roman"/>
                <a:sym typeface="Times New Roman"/>
              </a:rPr>
              <a:t>Learning Objectives</a:t>
            </a:r>
            <a:endParaRPr lang="en-US" sz="4000" dirty="0">
              <a:solidFill>
                <a:srgbClr val="A00020"/>
              </a:solidFill>
              <a:latin typeface="+mn-lt"/>
            </a:endParaRPr>
          </a:p>
        </p:txBody>
      </p:sp>
      <p:sp>
        <p:nvSpPr>
          <p:cNvPr id="90" name="Google Shape;90;p16"/>
          <p:cNvSpPr txBox="1"/>
          <p:nvPr/>
        </p:nvSpPr>
        <p:spPr>
          <a:xfrm>
            <a:off x="457200" y="1630362"/>
            <a:ext cx="8229600" cy="4525962"/>
          </a:xfrm>
          <a:prstGeom prst="rect">
            <a:avLst/>
          </a:prstGeom>
          <a:noFill/>
          <a:ln>
            <a:noFill/>
          </a:ln>
        </p:spPr>
        <p:txBody>
          <a:bodyPr spcFirstLastPara="1" wrap="square" lIns="91425" tIns="45700" rIns="91425" bIns="45700" anchor="t" anchorCtr="0">
            <a:noAutofit/>
          </a:bodyPr>
          <a:lstStyle/>
          <a:p>
            <a:pPr marL="609600" marR="0" lvl="0" indent="-609600" algn="l" rtl="0">
              <a:lnSpc>
                <a:spcPct val="100000"/>
              </a:lnSpc>
              <a:spcBef>
                <a:spcPts val="0"/>
              </a:spcBef>
              <a:spcAft>
                <a:spcPts val="0"/>
              </a:spcAft>
              <a:buClr>
                <a:schemeClr val="dk1"/>
              </a:buClr>
              <a:buSzPts val="3200"/>
              <a:buFont typeface="Arial"/>
              <a:buNone/>
            </a:pPr>
            <a:endParaRPr sz="3200" b="1" i="0" u="none" dirty="0">
              <a:solidFill>
                <a:schemeClr val="dk1"/>
              </a:solidFill>
              <a:latin typeface="Times New Roman"/>
              <a:ea typeface="Times New Roman"/>
              <a:cs typeface="Times New Roman"/>
              <a:sym typeface="Times New Roman"/>
            </a:endParaRPr>
          </a:p>
          <a:p>
            <a:pPr marL="609600" lvl="0" indent="-609600">
              <a:buClr>
                <a:srgbClr val="A00020"/>
              </a:buClr>
              <a:buSzPts val="2800"/>
              <a:buFont typeface="Times New Roman"/>
              <a:buAutoNum type="arabicPeriod"/>
            </a:pPr>
            <a:r>
              <a:rPr lang="en-US" sz="2800" dirty="0">
                <a:solidFill>
                  <a:schemeClr val="dk1"/>
                </a:solidFill>
                <a:latin typeface="Times New Roman"/>
                <a:ea typeface="Times New Roman"/>
                <a:cs typeface="Times New Roman"/>
                <a:sym typeface="Times New Roman"/>
              </a:rPr>
              <a:t>Perform a goodness-of-fit test</a:t>
            </a:r>
            <a:endParaRPr lang="en-US" sz="2800" dirty="0"/>
          </a:p>
        </p:txBody>
      </p:sp>
      <p:pic>
        <p:nvPicPr>
          <p:cNvPr id="11" name="Picture 10" descr="A picture containing drawing, food&#10;&#10;Description automatically generated">
            <a:extLst>
              <a:ext uri="{FF2B5EF4-FFF2-40B4-BE49-F238E27FC236}">
                <a16:creationId xmlns:a16="http://schemas.microsoft.com/office/drawing/2014/main" id="{7FEB636F-F570-4B29-B96E-83AC5E056E88}"/>
              </a:ext>
            </a:extLst>
          </p:cNvPr>
          <p:cNvPicPr>
            <a:picLocks noChangeAspect="1"/>
          </p:cNvPicPr>
          <p:nvPr/>
        </p:nvPicPr>
        <p:blipFill>
          <a:blip r:embed="rId3"/>
          <a:stretch>
            <a:fillRect/>
          </a:stretch>
        </p:blipFill>
        <p:spPr>
          <a:xfrm>
            <a:off x="5565050" y="975531"/>
            <a:ext cx="834662" cy="84326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7" name="Rectangle 6">
            <a:extLst>
              <a:ext uri="{FF2B5EF4-FFF2-40B4-BE49-F238E27FC236}">
                <a16:creationId xmlns:a16="http://schemas.microsoft.com/office/drawing/2014/main" id="{9C51178E-5E6A-4405-86E7-5006549343F3}"/>
              </a:ext>
            </a:extLst>
          </p:cNvPr>
          <p:cNvSpPr/>
          <p:nvPr/>
        </p:nvSpPr>
        <p:spPr>
          <a:xfrm>
            <a:off x="259561" y="228600"/>
            <a:ext cx="8724183" cy="6021370"/>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Google Shape;95;p17"/>
          <p:cNvSpPr txBox="1"/>
          <p:nvPr/>
        </p:nvSpPr>
        <p:spPr>
          <a:xfrm>
            <a:off x="533400" y="228600"/>
            <a:ext cx="8077200" cy="1066800"/>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chemeClr val="accent2"/>
              </a:buClr>
              <a:buSzPts val="3200"/>
              <a:buFont typeface="Arial"/>
              <a:buNone/>
            </a:pPr>
            <a:r>
              <a:rPr lang="en-US" sz="3200" b="1" i="0" u="none" dirty="0">
                <a:solidFill>
                  <a:schemeClr val="tx1"/>
                </a:solidFill>
                <a:sym typeface="Arial"/>
              </a:rPr>
              <a:t>Characteristics of the Chi-Square Distribution</a:t>
            </a:r>
            <a:endParaRPr dirty="0">
              <a:solidFill>
                <a:schemeClr val="tx1"/>
              </a:solidFill>
            </a:endParaRPr>
          </a:p>
        </p:txBody>
      </p:sp>
      <p:sp>
        <p:nvSpPr>
          <p:cNvPr id="96" name="Google Shape;96;p17"/>
          <p:cNvSpPr txBox="1">
            <a:spLocks noGrp="1"/>
          </p:cNvSpPr>
          <p:nvPr>
            <p:ph type="body" idx="1"/>
          </p:nvPr>
        </p:nvSpPr>
        <p:spPr>
          <a:xfrm>
            <a:off x="457200" y="1223914"/>
            <a:ext cx="8229600" cy="4876800"/>
          </a:xfrm>
          <a:prstGeom prst="rect">
            <a:avLst/>
          </a:prstGeom>
          <a:noFill/>
          <a:ln>
            <a:noFill/>
          </a:ln>
        </p:spPr>
        <p:txBody>
          <a:bodyPr spcFirstLastPara="1" wrap="square" lIns="91425" tIns="45700" rIns="91425" bIns="45700" anchor="t" anchorCtr="0">
            <a:noAutofit/>
          </a:bodyPr>
          <a:lstStyle/>
          <a:p>
            <a:pPr marL="114300" indent="0">
              <a:buNone/>
            </a:pPr>
            <a:r>
              <a:rPr lang="en-US" sz="2800" b="1" dirty="0">
                <a:latin typeface="Times New Roman" panose="02020603050405020304" pitchFamily="18" charset="0"/>
                <a:cs typeface="Times New Roman" panose="02020603050405020304" pitchFamily="18" charset="0"/>
              </a:rPr>
              <a:t>1. </a:t>
            </a:r>
            <a:r>
              <a:rPr lang="en-US" sz="2800" dirty="0">
                <a:latin typeface="Times New Roman" panose="02020603050405020304" pitchFamily="18" charset="0"/>
                <a:cs typeface="Times New Roman" panose="02020603050405020304" pitchFamily="18" charset="0"/>
              </a:rPr>
              <a:t>It is not symmetric.</a:t>
            </a:r>
          </a:p>
          <a:p>
            <a:pPr marL="114300" indent="0">
              <a:buNone/>
            </a:pPr>
            <a:r>
              <a:rPr lang="en-US" sz="2800" b="1" dirty="0">
                <a:latin typeface="Times New Roman" panose="02020603050405020304" pitchFamily="18" charset="0"/>
                <a:cs typeface="Times New Roman" panose="02020603050405020304" pitchFamily="18" charset="0"/>
              </a:rPr>
              <a:t>2. </a:t>
            </a:r>
            <a:r>
              <a:rPr lang="en-US" sz="2800" dirty="0">
                <a:latin typeface="Times New Roman" panose="02020603050405020304" pitchFamily="18" charset="0"/>
                <a:cs typeface="Times New Roman" panose="02020603050405020304" pitchFamily="18" charset="0"/>
              </a:rPr>
              <a:t>Its shape depends on the degrees of freedom, just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like Student’s </a:t>
            </a:r>
            <a:r>
              <a:rPr lang="en-US" sz="2800" i="1" dirty="0">
                <a:latin typeface="Times New Roman" panose="02020603050405020304" pitchFamily="18" charset="0"/>
                <a:cs typeface="Times New Roman" panose="02020603050405020304" pitchFamily="18" charset="0"/>
              </a:rPr>
              <a:t>t</a:t>
            </a:r>
            <a:r>
              <a:rPr lang="en-US" sz="2800" dirty="0">
                <a:latin typeface="Times New Roman" panose="02020603050405020304" pitchFamily="18" charset="0"/>
                <a:cs typeface="Times New Roman" panose="02020603050405020304" pitchFamily="18" charset="0"/>
              </a:rPr>
              <a:t>-distribution.</a:t>
            </a:r>
          </a:p>
          <a:p>
            <a:pPr marL="114300" indent="0">
              <a:buNone/>
            </a:pPr>
            <a:r>
              <a:rPr lang="en-US" sz="2800" b="1" dirty="0">
                <a:latin typeface="Times New Roman" panose="02020603050405020304" pitchFamily="18" charset="0"/>
                <a:cs typeface="Times New Roman" panose="02020603050405020304" pitchFamily="18" charset="0"/>
              </a:rPr>
              <a:t>3. </a:t>
            </a:r>
            <a:r>
              <a:rPr lang="en-US" sz="2800" dirty="0">
                <a:latin typeface="Times New Roman" panose="02020603050405020304" pitchFamily="18" charset="0"/>
                <a:cs typeface="Times New Roman" panose="02020603050405020304" pitchFamily="18" charset="0"/>
              </a:rPr>
              <a:t>As the number of degrees of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freedom increases, it becomes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more symmetric, as illustrated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in the figure.</a:t>
            </a:r>
          </a:p>
          <a:p>
            <a:pPr marL="114300" indent="0">
              <a:buNone/>
            </a:pPr>
            <a:r>
              <a:rPr lang="en-US" sz="2800" b="1" dirty="0">
                <a:latin typeface="Times New Roman" panose="02020603050405020304" pitchFamily="18" charset="0"/>
                <a:cs typeface="Times New Roman" panose="02020603050405020304" pitchFamily="18" charset="0"/>
              </a:rPr>
              <a:t>4. </a:t>
            </a:r>
            <a:r>
              <a:rPr lang="en-US" sz="2800" dirty="0">
                <a:latin typeface="Times New Roman" panose="02020603050405020304" pitchFamily="18" charset="0"/>
                <a:cs typeface="Times New Roman" panose="02020603050405020304" pitchFamily="18" charset="0"/>
              </a:rPr>
              <a:t>The values of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baseline="30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are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nonnegative. That is, the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values of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baseline="30000" dirty="0">
                <a:latin typeface="Times New Roman" panose="02020603050405020304" pitchFamily="18" charset="0"/>
                <a:cs typeface="Times New Roman" panose="02020603050405020304" pitchFamily="18" charset="0"/>
              </a:rPr>
              <a:t>2 </a:t>
            </a:r>
            <a:r>
              <a:rPr lang="en-US" sz="2800" dirty="0">
                <a:latin typeface="Times New Roman" panose="02020603050405020304" pitchFamily="18" charset="0"/>
                <a:cs typeface="Times New Roman" panose="02020603050405020304" pitchFamily="18" charset="0"/>
              </a:rPr>
              <a:t>are greater than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or equal to 0.</a:t>
            </a:r>
            <a:br>
              <a:rPr lang="en-US" sz="28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endParaRPr sz="2800" b="0" i="0" u="none" dirty="0">
              <a:solidFill>
                <a:srgbClr val="FF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97" name="Google Shape;97;p17"/>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3</a:t>
            </a:fld>
            <a:endParaRPr/>
          </a:p>
        </p:txBody>
      </p:sp>
      <p:pic>
        <p:nvPicPr>
          <p:cNvPr id="3" name="Picture 2" descr="A close up of text on a white background&#10;&#10;Description automatically generated">
            <a:extLst>
              <a:ext uri="{FF2B5EF4-FFF2-40B4-BE49-F238E27FC236}">
                <a16:creationId xmlns:a16="http://schemas.microsoft.com/office/drawing/2014/main" id="{CD95943B-153E-49D2-B790-7C7F8B8D5FEC}"/>
              </a:ext>
            </a:extLst>
          </p:cNvPr>
          <p:cNvPicPr>
            <a:picLocks noChangeAspect="1"/>
          </p:cNvPicPr>
          <p:nvPr/>
        </p:nvPicPr>
        <p:blipFill>
          <a:blip r:embed="rId3"/>
          <a:stretch>
            <a:fillRect/>
          </a:stretch>
        </p:blipFill>
        <p:spPr>
          <a:xfrm>
            <a:off x="5478059" y="2443899"/>
            <a:ext cx="3357213" cy="343057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6575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6">
                                            <p:txEl>
                                              <p:pRg st="0" end="0"/>
                                            </p:txEl>
                                          </p:spTgt>
                                        </p:tgtEl>
                                        <p:attrNameLst>
                                          <p:attrName>style.visibility</p:attrName>
                                        </p:attrNameLst>
                                      </p:cBhvr>
                                      <p:to>
                                        <p:strVal val="visible"/>
                                      </p:to>
                                    </p:set>
                                    <p:animEffect transition="in" filter="fade">
                                      <p:cBhvr>
                                        <p:cTn id="7" dur="500"/>
                                        <p:tgtEl>
                                          <p:spTgt spid="9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6">
                                            <p:txEl>
                                              <p:pRg st="1" end="1"/>
                                            </p:txEl>
                                          </p:spTgt>
                                        </p:tgtEl>
                                        <p:attrNameLst>
                                          <p:attrName>style.visibility</p:attrName>
                                        </p:attrNameLst>
                                      </p:cBhvr>
                                      <p:to>
                                        <p:strVal val="visible"/>
                                      </p:to>
                                    </p:set>
                                    <p:animEffect transition="in" filter="fade">
                                      <p:cBhvr>
                                        <p:cTn id="12" dur="500"/>
                                        <p:tgtEl>
                                          <p:spTgt spid="9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6">
                                            <p:txEl>
                                              <p:pRg st="2" end="2"/>
                                            </p:txEl>
                                          </p:spTgt>
                                        </p:tgtEl>
                                        <p:attrNameLst>
                                          <p:attrName>style.visibility</p:attrName>
                                        </p:attrNameLst>
                                      </p:cBhvr>
                                      <p:to>
                                        <p:strVal val="visible"/>
                                      </p:to>
                                    </p:set>
                                    <p:animEffect transition="in" filter="fade">
                                      <p:cBhvr>
                                        <p:cTn id="17" dur="500"/>
                                        <p:tgtEl>
                                          <p:spTgt spid="96">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6">
                                            <p:txEl>
                                              <p:pRg st="3" end="3"/>
                                            </p:txEl>
                                          </p:spTgt>
                                        </p:tgtEl>
                                        <p:attrNameLst>
                                          <p:attrName>style.visibility</p:attrName>
                                        </p:attrNameLst>
                                      </p:cBhvr>
                                      <p:to>
                                        <p:strVal val="visible"/>
                                      </p:to>
                                    </p:set>
                                    <p:animEffect transition="in" filter="fade">
                                      <p:cBhvr>
                                        <p:cTn id="25" dur="500"/>
                                        <p:tgtEl>
                                          <p:spTgt spid="9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4" name="Rectangle 3">
            <a:extLst>
              <a:ext uri="{FF2B5EF4-FFF2-40B4-BE49-F238E27FC236}">
                <a16:creationId xmlns:a16="http://schemas.microsoft.com/office/drawing/2014/main" id="{CE58EAE3-D6BC-435F-B939-8DA3A4A86368}"/>
              </a:ext>
            </a:extLst>
          </p:cNvPr>
          <p:cNvSpPr/>
          <p:nvPr/>
        </p:nvSpPr>
        <p:spPr>
          <a:xfrm>
            <a:off x="293051" y="1338605"/>
            <a:ext cx="8584618" cy="3082565"/>
          </a:xfrm>
          <a:prstGeom prst="rect">
            <a:avLst/>
          </a:prstGeom>
          <a:solidFill>
            <a:srgbClr val="DEE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Google Shape;129;p22"/>
          <p:cNvSpPr txBox="1">
            <a:spLocks noGrp="1"/>
          </p:cNvSpPr>
          <p:nvPr>
            <p:ph type="body" idx="1"/>
          </p:nvPr>
        </p:nvSpPr>
        <p:spPr>
          <a:xfrm>
            <a:off x="609600" y="1646237"/>
            <a:ext cx="8001000" cy="376396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600"/>
              <a:buFont typeface="Times New Roman"/>
              <a:buNone/>
            </a:pPr>
            <a:r>
              <a:rPr lang="en-US" sz="3600" b="0" i="0" u="none" dirty="0">
                <a:solidFill>
                  <a:schemeClr val="tx1"/>
                </a:solidFill>
                <a:latin typeface="Times New Roman"/>
                <a:ea typeface="Times New Roman"/>
                <a:cs typeface="Times New Roman"/>
                <a:sym typeface="Times New Roman"/>
              </a:rPr>
              <a:t>A </a:t>
            </a:r>
            <a:r>
              <a:rPr lang="en-US" sz="3600" b="1" i="0" u="none" dirty="0">
                <a:solidFill>
                  <a:schemeClr val="tx1"/>
                </a:solidFill>
                <a:latin typeface="Times New Roman"/>
                <a:ea typeface="Times New Roman"/>
                <a:cs typeface="Times New Roman"/>
                <a:sym typeface="Times New Roman"/>
              </a:rPr>
              <a:t>goodness-of-fit</a:t>
            </a:r>
            <a:r>
              <a:rPr lang="en-US" sz="3600" b="0" i="0" u="none" dirty="0">
                <a:solidFill>
                  <a:schemeClr val="tx1"/>
                </a:solidFill>
                <a:latin typeface="Times New Roman"/>
                <a:ea typeface="Times New Roman"/>
                <a:cs typeface="Times New Roman"/>
                <a:sym typeface="Times New Roman"/>
              </a:rPr>
              <a:t> test is an inferential procedure used to determine whether a frequency distribution follows a specific distribution.</a:t>
            </a:r>
            <a:endParaRPr dirty="0">
              <a:solidFill>
                <a:schemeClr val="tx1"/>
              </a:solidFill>
            </a:endParaRPr>
          </a:p>
        </p:txBody>
      </p:sp>
      <p:sp>
        <p:nvSpPr>
          <p:cNvPr id="130" name="Google Shape;130;p22"/>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4</a:t>
            </a:fld>
            <a:endParaRPr/>
          </a:p>
        </p:txBody>
      </p:sp>
    </p:spTree>
    <p:extLst>
      <p:ext uri="{BB962C8B-B14F-4D97-AF65-F5344CB8AC3E}">
        <p14:creationId xmlns:p14="http://schemas.microsoft.com/office/powerpoint/2010/main" val="870945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6" name="Rectangle 5">
            <a:extLst>
              <a:ext uri="{FF2B5EF4-FFF2-40B4-BE49-F238E27FC236}">
                <a16:creationId xmlns:a16="http://schemas.microsoft.com/office/drawing/2014/main" id="{18D77BA7-0B4F-4EF8-8484-2E0F2CA9DB35}"/>
              </a:ext>
            </a:extLst>
          </p:cNvPr>
          <p:cNvSpPr/>
          <p:nvPr/>
        </p:nvSpPr>
        <p:spPr>
          <a:xfrm>
            <a:off x="259561" y="292231"/>
            <a:ext cx="8724183" cy="5495827"/>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Google Shape;135;p23"/>
          <p:cNvSpPr txBox="1">
            <a:spLocks noGrp="1"/>
          </p:cNvSpPr>
          <p:nvPr>
            <p:ph type="body" idx="1"/>
          </p:nvPr>
        </p:nvSpPr>
        <p:spPr>
          <a:xfrm>
            <a:off x="457200" y="381000"/>
            <a:ext cx="8229600" cy="5791200"/>
          </a:xfrm>
          <a:prstGeom prst="rect">
            <a:avLst/>
          </a:prstGeom>
          <a:noFill/>
          <a:ln>
            <a:noFill/>
          </a:ln>
        </p:spPr>
        <p:txBody>
          <a:bodyPr spcFirstLastPara="1" wrap="square" lIns="91425" tIns="45700" rIns="91425" bIns="45700" anchor="t" anchorCtr="0">
            <a:noAutofit/>
          </a:bodyPr>
          <a:lstStyle/>
          <a:p>
            <a:pPr marL="342900" lvl="0" indent="-342900" rtl="0">
              <a:lnSpc>
                <a:spcPct val="100000"/>
              </a:lnSpc>
              <a:spcBef>
                <a:spcPts val="0"/>
              </a:spcBef>
              <a:spcAft>
                <a:spcPts val="0"/>
              </a:spcAft>
              <a:buSzPts val="3200"/>
              <a:buFont typeface="Times New Roman"/>
              <a:buNone/>
            </a:pPr>
            <a:r>
              <a:rPr lang="en-US" sz="3600" b="1" i="0" u="none" dirty="0">
                <a:solidFill>
                  <a:schemeClr val="tx1"/>
                </a:solidFill>
                <a:latin typeface="+mn-lt"/>
                <a:ea typeface="Times New Roman"/>
                <a:cs typeface="Times New Roman"/>
                <a:sym typeface="Times New Roman"/>
              </a:rPr>
              <a:t>Expected Counts</a:t>
            </a:r>
            <a:endParaRPr sz="3200" b="0" i="0" u="none" dirty="0">
              <a:solidFill>
                <a:schemeClr val="tx1"/>
              </a:solidFill>
              <a:latin typeface="Times New Roman"/>
              <a:ea typeface="Times New Roman"/>
              <a:cs typeface="Times New Roman"/>
              <a:sym typeface="Times New Roman"/>
            </a:endParaRPr>
          </a:p>
          <a:p>
            <a:pPr marL="342900" lvl="0" indent="-342900" algn="l" rtl="0">
              <a:lnSpc>
                <a:spcPct val="100000"/>
              </a:lnSpc>
              <a:spcBef>
                <a:spcPts val="560"/>
              </a:spcBef>
              <a:spcAft>
                <a:spcPts val="0"/>
              </a:spcAft>
              <a:buSzPts val="2800"/>
              <a:buFont typeface="Times New Roman"/>
              <a:buNone/>
            </a:pP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Suppose that there are </a:t>
            </a:r>
            <a:r>
              <a:rPr lang="en-US" sz="2800" b="0"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n</a:t>
            </a: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independent trials of an</a:t>
            </a:r>
            <a:endParaRPr dirty="0">
              <a:solidFill>
                <a:schemeClr val="tx1"/>
              </a:solidFill>
              <a:latin typeface="Times New Roman" panose="02020603050405020304" pitchFamily="18" charset="0"/>
              <a:cs typeface="Times New Roman" panose="02020603050405020304" pitchFamily="18" charset="0"/>
            </a:endParaRPr>
          </a:p>
          <a:p>
            <a:pPr marL="342900" lvl="0" indent="-342900" algn="l" rtl="0">
              <a:lnSpc>
                <a:spcPct val="100000"/>
              </a:lnSpc>
              <a:spcBef>
                <a:spcPts val="560"/>
              </a:spcBef>
              <a:spcAft>
                <a:spcPts val="0"/>
              </a:spcAft>
              <a:buSzPts val="2800"/>
              <a:buFont typeface="Times New Roman"/>
              <a:buNone/>
            </a:pP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experiment with </a:t>
            </a:r>
            <a:r>
              <a:rPr lang="en-US" sz="2800" i="1"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mutually exclusive possible</a:t>
            </a:r>
            <a:endParaRPr dirty="0">
              <a:solidFill>
                <a:schemeClr val="tx1"/>
              </a:solidFill>
              <a:latin typeface="Times New Roman" panose="02020603050405020304" pitchFamily="18" charset="0"/>
              <a:cs typeface="Times New Roman" panose="02020603050405020304" pitchFamily="18" charset="0"/>
            </a:endParaRPr>
          </a:p>
          <a:p>
            <a:pPr marL="342900" lvl="0" indent="-342900" algn="l" rtl="0">
              <a:lnSpc>
                <a:spcPct val="100000"/>
              </a:lnSpc>
              <a:spcBef>
                <a:spcPts val="560"/>
              </a:spcBef>
              <a:spcAft>
                <a:spcPts val="0"/>
              </a:spcAft>
              <a:buSzPts val="2800"/>
              <a:buFont typeface="Times New Roman"/>
              <a:buNone/>
            </a:pP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outcomes.  Let </a:t>
            </a:r>
            <a:r>
              <a:rPr lang="en-US" sz="2800" b="0"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p</a:t>
            </a:r>
            <a:r>
              <a:rPr lang="en-US" sz="2800" b="0" i="0" u="none" baseline="-25000" dirty="0">
                <a:solidFill>
                  <a:schemeClr val="tx1"/>
                </a:solidFill>
                <a:latin typeface="Times New Roman" panose="02020603050405020304" pitchFamily="18" charset="0"/>
                <a:ea typeface="Times New Roman"/>
                <a:cs typeface="Times New Roman" panose="02020603050405020304" pitchFamily="18" charset="0"/>
                <a:sym typeface="Times New Roman"/>
              </a:rPr>
              <a:t>1</a:t>
            </a: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represent the probability of observing</a:t>
            </a:r>
            <a:endParaRPr dirty="0">
              <a:solidFill>
                <a:schemeClr val="tx1"/>
              </a:solidFill>
              <a:latin typeface="Times New Roman" panose="02020603050405020304" pitchFamily="18" charset="0"/>
              <a:cs typeface="Times New Roman" panose="02020603050405020304" pitchFamily="18" charset="0"/>
            </a:endParaRPr>
          </a:p>
          <a:p>
            <a:pPr marL="342900" lvl="0" indent="-342900" algn="l" rtl="0">
              <a:lnSpc>
                <a:spcPct val="100000"/>
              </a:lnSpc>
              <a:spcBef>
                <a:spcPts val="560"/>
              </a:spcBef>
              <a:spcAft>
                <a:spcPts val="0"/>
              </a:spcAft>
              <a:buSzPts val="2800"/>
              <a:buFont typeface="Times New Roman"/>
              <a:buNone/>
            </a:pP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the first outcome and </a:t>
            </a:r>
            <a:r>
              <a:rPr lang="en-US" sz="2800" b="0"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E</a:t>
            </a:r>
            <a:r>
              <a:rPr lang="en-US" sz="2800" b="0" i="0" u="none" baseline="-25000" dirty="0">
                <a:solidFill>
                  <a:schemeClr val="tx1"/>
                </a:solidFill>
                <a:latin typeface="Times New Roman" panose="02020603050405020304" pitchFamily="18" charset="0"/>
                <a:ea typeface="Times New Roman"/>
                <a:cs typeface="Times New Roman" panose="02020603050405020304" pitchFamily="18" charset="0"/>
                <a:sym typeface="Times New Roman"/>
              </a:rPr>
              <a:t>1</a:t>
            </a: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represent the expected count of</a:t>
            </a:r>
            <a:endParaRPr dirty="0">
              <a:solidFill>
                <a:schemeClr val="tx1"/>
              </a:solidFill>
              <a:latin typeface="Times New Roman" panose="02020603050405020304" pitchFamily="18" charset="0"/>
              <a:cs typeface="Times New Roman" panose="02020603050405020304" pitchFamily="18" charset="0"/>
            </a:endParaRPr>
          </a:p>
          <a:p>
            <a:pPr marL="342900" lvl="0" indent="-342900" algn="l" rtl="0">
              <a:lnSpc>
                <a:spcPct val="100000"/>
              </a:lnSpc>
              <a:spcBef>
                <a:spcPts val="560"/>
              </a:spcBef>
              <a:spcAft>
                <a:spcPts val="0"/>
              </a:spcAft>
              <a:buSzPts val="2800"/>
              <a:buFont typeface="Times New Roman"/>
              <a:buNone/>
            </a:pP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the first outcome;  </a:t>
            </a:r>
            <a:r>
              <a:rPr lang="en-US" sz="2800" b="0"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p</a:t>
            </a:r>
            <a:r>
              <a:rPr lang="en-US" sz="2800" b="0" i="0" u="none" baseline="-25000" dirty="0">
                <a:solidFill>
                  <a:schemeClr val="tx1"/>
                </a:solidFill>
                <a:latin typeface="Times New Roman" panose="02020603050405020304" pitchFamily="18" charset="0"/>
                <a:ea typeface="Times New Roman"/>
                <a:cs typeface="Times New Roman" panose="02020603050405020304" pitchFamily="18" charset="0"/>
                <a:sym typeface="Times New Roman"/>
              </a:rPr>
              <a:t>2</a:t>
            </a: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represent the probability of</a:t>
            </a:r>
            <a:endParaRPr dirty="0">
              <a:solidFill>
                <a:schemeClr val="tx1"/>
              </a:solidFill>
              <a:latin typeface="Times New Roman" panose="02020603050405020304" pitchFamily="18" charset="0"/>
              <a:cs typeface="Times New Roman" panose="02020603050405020304" pitchFamily="18" charset="0"/>
            </a:endParaRPr>
          </a:p>
          <a:p>
            <a:pPr marL="342900" lvl="0" indent="-342900" algn="l" rtl="0">
              <a:lnSpc>
                <a:spcPct val="100000"/>
              </a:lnSpc>
              <a:spcBef>
                <a:spcPts val="560"/>
              </a:spcBef>
              <a:spcAft>
                <a:spcPts val="0"/>
              </a:spcAft>
              <a:buSzPts val="2800"/>
              <a:buFont typeface="Times New Roman"/>
              <a:buNone/>
            </a:pP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observing the second outcome and </a:t>
            </a:r>
            <a:r>
              <a:rPr lang="en-US" sz="2800" b="0"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E</a:t>
            </a:r>
            <a:r>
              <a:rPr lang="en-US" sz="2800" b="0" i="0" u="none" baseline="-25000" dirty="0">
                <a:solidFill>
                  <a:schemeClr val="tx1"/>
                </a:solidFill>
                <a:latin typeface="Times New Roman" panose="02020603050405020304" pitchFamily="18" charset="0"/>
                <a:ea typeface="Times New Roman"/>
                <a:cs typeface="Times New Roman" panose="02020603050405020304" pitchFamily="18" charset="0"/>
                <a:sym typeface="Times New Roman"/>
              </a:rPr>
              <a:t>2</a:t>
            </a: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represent the</a:t>
            </a:r>
            <a:endParaRPr dirty="0">
              <a:solidFill>
                <a:schemeClr val="tx1"/>
              </a:solidFill>
              <a:latin typeface="Times New Roman" panose="02020603050405020304" pitchFamily="18" charset="0"/>
              <a:cs typeface="Times New Roman" panose="02020603050405020304" pitchFamily="18" charset="0"/>
            </a:endParaRPr>
          </a:p>
          <a:p>
            <a:pPr marL="342900" lvl="0" indent="-342900" algn="l" rtl="0">
              <a:lnSpc>
                <a:spcPct val="100000"/>
              </a:lnSpc>
              <a:spcBef>
                <a:spcPts val="560"/>
              </a:spcBef>
              <a:spcAft>
                <a:spcPts val="0"/>
              </a:spcAft>
              <a:buSzPts val="2800"/>
              <a:buFont typeface="Times New Roman"/>
              <a:buNone/>
            </a:pP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expected count of the second outcome; and so on.  The</a:t>
            </a:r>
            <a:endParaRPr dirty="0">
              <a:solidFill>
                <a:schemeClr val="tx1"/>
              </a:solidFill>
              <a:latin typeface="Times New Roman" panose="02020603050405020304" pitchFamily="18" charset="0"/>
              <a:cs typeface="Times New Roman" panose="02020603050405020304" pitchFamily="18" charset="0"/>
            </a:endParaRPr>
          </a:p>
          <a:p>
            <a:pPr marL="342900" lvl="0" indent="-342900" algn="l" rtl="0">
              <a:lnSpc>
                <a:spcPct val="100000"/>
              </a:lnSpc>
              <a:spcBef>
                <a:spcPts val="560"/>
              </a:spcBef>
              <a:spcAft>
                <a:spcPts val="0"/>
              </a:spcAft>
              <a:buSzPts val="2800"/>
              <a:buFont typeface="Times New Roman"/>
              <a:buNone/>
            </a:pP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expected counts for each possible outcome are given by</a:t>
            </a:r>
            <a:endParaRPr dirty="0">
              <a:solidFill>
                <a:schemeClr val="tx1"/>
              </a:solidFill>
              <a:latin typeface="Times New Roman" panose="02020603050405020304" pitchFamily="18" charset="0"/>
              <a:cs typeface="Times New Roman" panose="02020603050405020304" pitchFamily="18" charset="0"/>
            </a:endParaRPr>
          </a:p>
          <a:p>
            <a:pPr marL="342900" lvl="0" indent="-342900" algn="l" rtl="0">
              <a:lnSpc>
                <a:spcPct val="100000"/>
              </a:lnSpc>
              <a:spcBef>
                <a:spcPts val="560"/>
              </a:spcBef>
              <a:spcAft>
                <a:spcPts val="0"/>
              </a:spcAft>
              <a:buSzPts val="2800"/>
              <a:buFont typeface="Times New Roman"/>
              <a:buNone/>
            </a:pPr>
            <a:r>
              <a:rPr lang="en-US" sz="2800" b="0" i="0" u="none" dirty="0">
                <a:solidFill>
                  <a:schemeClr val="tx1"/>
                </a:solidFill>
                <a:latin typeface="Times New Roman"/>
                <a:ea typeface="Times New Roman"/>
                <a:cs typeface="Times New Roman"/>
                <a:sym typeface="Times New Roman"/>
              </a:rPr>
              <a:t>			                    for </a:t>
            </a:r>
            <a:r>
              <a:rPr lang="en-US" sz="2800" b="0" i="1" u="none" dirty="0" err="1">
                <a:solidFill>
                  <a:schemeClr val="tx1"/>
                </a:solidFill>
                <a:latin typeface="Times New Roman"/>
                <a:ea typeface="Times New Roman"/>
                <a:cs typeface="Times New Roman"/>
                <a:sym typeface="Times New Roman"/>
              </a:rPr>
              <a:t>i</a:t>
            </a:r>
            <a:r>
              <a:rPr lang="en-US" sz="2800" b="0" i="1" u="none" dirty="0">
                <a:solidFill>
                  <a:schemeClr val="tx1"/>
                </a:solidFill>
                <a:latin typeface="Times New Roman"/>
                <a:ea typeface="Times New Roman"/>
                <a:cs typeface="Times New Roman"/>
                <a:sym typeface="Times New Roman"/>
              </a:rPr>
              <a:t> </a:t>
            </a:r>
            <a:r>
              <a:rPr lang="en-US" sz="2800" b="0" i="0" u="none" dirty="0">
                <a:solidFill>
                  <a:schemeClr val="tx1"/>
                </a:solidFill>
                <a:latin typeface="Times New Roman"/>
                <a:ea typeface="Times New Roman"/>
                <a:cs typeface="Times New Roman"/>
                <a:sym typeface="Times New Roman"/>
              </a:rPr>
              <a:t>= 1, 2, …, </a:t>
            </a:r>
            <a:r>
              <a:rPr lang="en-US" sz="2800" b="0" i="1" u="none" dirty="0">
                <a:solidFill>
                  <a:schemeClr val="tx1"/>
                </a:solidFill>
                <a:latin typeface="Times New Roman"/>
                <a:ea typeface="Times New Roman"/>
                <a:cs typeface="Times New Roman"/>
                <a:sym typeface="Times New Roman"/>
              </a:rPr>
              <a:t>k</a:t>
            </a:r>
            <a:endParaRPr dirty="0">
              <a:solidFill>
                <a:schemeClr val="tx1"/>
              </a:solidFill>
            </a:endParaRPr>
          </a:p>
        </p:txBody>
      </p:sp>
      <p:sp>
        <p:nvSpPr>
          <p:cNvPr id="136" name="Google Shape;136;p23"/>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5</a:t>
            </a:fld>
            <a:endParaRPr/>
          </a:p>
        </p:txBody>
      </p:sp>
      <p:graphicFrame>
        <p:nvGraphicFramePr>
          <p:cNvPr id="2" name="Object 1">
            <a:extLst>
              <a:ext uri="{FF2B5EF4-FFF2-40B4-BE49-F238E27FC236}">
                <a16:creationId xmlns:a16="http://schemas.microsoft.com/office/drawing/2014/main" id="{08006331-F7AA-48C6-9536-FF80EA262CAD}"/>
              </a:ext>
            </a:extLst>
          </p:cNvPr>
          <p:cNvGraphicFramePr>
            <a:graphicFrameLocks noChangeAspect="1"/>
          </p:cNvGraphicFramePr>
          <p:nvPr>
            <p:extLst>
              <p:ext uri="{D42A27DB-BD31-4B8C-83A1-F6EECF244321}">
                <p14:modId xmlns:p14="http://schemas.microsoft.com/office/powerpoint/2010/main" val="2992927056"/>
              </p:ext>
            </p:extLst>
          </p:nvPr>
        </p:nvGraphicFramePr>
        <p:xfrm>
          <a:off x="2924993" y="1612917"/>
          <a:ext cx="723900" cy="317500"/>
        </p:xfrm>
        <a:graphic>
          <a:graphicData uri="http://schemas.openxmlformats.org/presentationml/2006/ole">
            <mc:AlternateContent xmlns:mc="http://schemas.openxmlformats.org/markup-compatibility/2006">
              <mc:Choice xmlns:v="urn:schemas-microsoft-com:vml" Requires="v">
                <p:oleObj spid="_x0000_s1312" name="Equation" r:id="rId4" imgW="723600" imgH="317160" progId="Equation.DSMT4">
                  <p:embed/>
                </p:oleObj>
              </mc:Choice>
              <mc:Fallback>
                <p:oleObj name="Equation" r:id="rId4" imgW="723600" imgH="317160" progId="Equation.DSMT4">
                  <p:embed/>
                  <p:pic>
                    <p:nvPicPr>
                      <p:cNvPr id="0" name=""/>
                      <p:cNvPicPr/>
                      <p:nvPr/>
                    </p:nvPicPr>
                    <p:blipFill>
                      <a:blip r:embed="rId5"/>
                      <a:stretch>
                        <a:fillRect/>
                      </a:stretch>
                    </p:blipFill>
                    <p:spPr>
                      <a:xfrm>
                        <a:off x="2924993" y="1612917"/>
                        <a:ext cx="723900" cy="317500"/>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C6718D38-61EA-4A28-9832-829604772BBE}"/>
              </a:ext>
            </a:extLst>
          </p:cNvPr>
          <p:cNvGraphicFramePr>
            <a:graphicFrameLocks noChangeAspect="1"/>
          </p:cNvGraphicFramePr>
          <p:nvPr>
            <p:extLst>
              <p:ext uri="{D42A27DB-BD31-4B8C-83A1-F6EECF244321}">
                <p14:modId xmlns:p14="http://schemas.microsoft.com/office/powerpoint/2010/main" val="1426756205"/>
              </p:ext>
            </p:extLst>
          </p:nvPr>
        </p:nvGraphicFramePr>
        <p:xfrm>
          <a:off x="2281548" y="5111063"/>
          <a:ext cx="1803400" cy="431800"/>
        </p:xfrm>
        <a:graphic>
          <a:graphicData uri="http://schemas.openxmlformats.org/presentationml/2006/ole">
            <mc:AlternateContent xmlns:mc="http://schemas.openxmlformats.org/markup-compatibility/2006">
              <mc:Choice xmlns:v="urn:schemas-microsoft-com:vml" Requires="v">
                <p:oleObj spid="_x0000_s1313" name="Equation" r:id="rId6" imgW="1803240" imgH="431640" progId="Equation.DSMT4">
                  <p:embed/>
                </p:oleObj>
              </mc:Choice>
              <mc:Fallback>
                <p:oleObj name="Equation" r:id="rId6" imgW="1803240" imgH="431640" progId="Equation.DSMT4">
                  <p:embed/>
                  <p:pic>
                    <p:nvPicPr>
                      <p:cNvPr id="0" name=""/>
                      <p:cNvPicPr/>
                      <p:nvPr/>
                    </p:nvPicPr>
                    <p:blipFill>
                      <a:blip r:embed="rId7"/>
                      <a:stretch>
                        <a:fillRect/>
                      </a:stretch>
                    </p:blipFill>
                    <p:spPr>
                      <a:xfrm>
                        <a:off x="2281548" y="5111063"/>
                        <a:ext cx="1803400" cy="431800"/>
                      </a:xfrm>
                      <a:prstGeom prst="rect">
                        <a:avLst/>
                      </a:prstGeom>
                    </p:spPr>
                  </p:pic>
                </p:oleObj>
              </mc:Fallback>
            </mc:AlternateContent>
          </a:graphicData>
        </a:graphic>
      </p:graphicFrame>
    </p:spTree>
    <p:extLst>
      <p:ext uri="{BB962C8B-B14F-4D97-AF65-F5344CB8AC3E}">
        <p14:creationId xmlns:p14="http://schemas.microsoft.com/office/powerpoint/2010/main" val="139569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6</a:t>
            </a:fld>
            <a:endParaRPr/>
          </a:p>
        </p:txBody>
      </p:sp>
      <p:sp>
        <p:nvSpPr>
          <p:cNvPr id="5" name="Google Shape;385;p59">
            <a:extLst>
              <a:ext uri="{FF2B5EF4-FFF2-40B4-BE49-F238E27FC236}">
                <a16:creationId xmlns:a16="http://schemas.microsoft.com/office/drawing/2014/main" id="{277D0A08-40DD-4044-A6CB-D65406A4A652}"/>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Finding Expected Counts</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 of 4)</a:t>
            </a:r>
            <a:endParaRPr dirty="0"/>
          </a:p>
        </p:txBody>
      </p:sp>
      <p:sp>
        <p:nvSpPr>
          <p:cNvPr id="4" name="Rectangle 3">
            <a:extLst>
              <a:ext uri="{FF2B5EF4-FFF2-40B4-BE49-F238E27FC236}">
                <a16:creationId xmlns:a16="http://schemas.microsoft.com/office/drawing/2014/main" id="{1E578722-1D5B-4C32-998F-982B090A4E53}"/>
              </a:ext>
            </a:extLst>
          </p:cNvPr>
          <p:cNvSpPr/>
          <p:nvPr/>
        </p:nvSpPr>
        <p:spPr>
          <a:xfrm>
            <a:off x="311872" y="1097355"/>
            <a:ext cx="8520258" cy="5293757"/>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One growing concern regarding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U.S. economy is the inequality in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distribution of income. The data in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Table 1 represent the distribution of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household income for various levels of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income in 2000. An economist wants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to know if the distribution of income is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changing, so she randomly selects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1500 households and obtains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household income. Find the expected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number of households at each income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level assuming that the distribution of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income has not changed since 2000.</a:t>
            </a:r>
          </a:p>
        </p:txBody>
      </p:sp>
      <p:pic>
        <p:nvPicPr>
          <p:cNvPr id="7" name="Picture 6" descr="A screenshot of a cell phone&#10;&#10;Description automatically generated">
            <a:extLst>
              <a:ext uri="{FF2B5EF4-FFF2-40B4-BE49-F238E27FC236}">
                <a16:creationId xmlns:a16="http://schemas.microsoft.com/office/drawing/2014/main" id="{40E70CD5-FD5A-41FF-B3FD-984F0E655F35}"/>
              </a:ext>
            </a:extLst>
          </p:cNvPr>
          <p:cNvPicPr>
            <a:picLocks noChangeAspect="1"/>
          </p:cNvPicPr>
          <p:nvPr/>
        </p:nvPicPr>
        <p:blipFill rotWithShape="1">
          <a:blip r:embed="rId3"/>
          <a:srcRect l="2388"/>
          <a:stretch/>
        </p:blipFill>
        <p:spPr>
          <a:xfrm>
            <a:off x="5714604" y="1285891"/>
            <a:ext cx="3117524" cy="4703930"/>
          </a:xfrm>
          <a:prstGeom prst="rect">
            <a:avLst/>
          </a:prstGeom>
        </p:spPr>
      </p:pic>
    </p:spTree>
    <p:extLst>
      <p:ext uri="{BB962C8B-B14F-4D97-AF65-F5344CB8AC3E}">
        <p14:creationId xmlns:p14="http://schemas.microsoft.com/office/powerpoint/2010/main" val="1635208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7</a:t>
            </a:fld>
            <a:endParaRPr/>
          </a:p>
        </p:txBody>
      </p:sp>
      <p:sp>
        <p:nvSpPr>
          <p:cNvPr id="5" name="Google Shape;385;p59">
            <a:extLst>
              <a:ext uri="{FF2B5EF4-FFF2-40B4-BE49-F238E27FC236}">
                <a16:creationId xmlns:a16="http://schemas.microsoft.com/office/drawing/2014/main" id="{277D0A08-40DD-4044-A6CB-D65406A4A652}"/>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Finding Expected Counts</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(2 of 4)</a:t>
            </a:r>
            <a:endParaRPr dirty="0"/>
          </a:p>
        </p:txBody>
      </p:sp>
      <p:sp>
        <p:nvSpPr>
          <p:cNvPr id="4" name="Rectangle 3">
            <a:extLst>
              <a:ext uri="{FF2B5EF4-FFF2-40B4-BE49-F238E27FC236}">
                <a16:creationId xmlns:a16="http://schemas.microsoft.com/office/drawing/2014/main" id="{1E578722-1D5B-4C32-998F-982B090A4E53}"/>
              </a:ext>
            </a:extLst>
          </p:cNvPr>
          <p:cNvSpPr/>
          <p:nvPr/>
        </p:nvSpPr>
        <p:spPr>
          <a:xfrm>
            <a:off x="311872" y="1097355"/>
            <a:ext cx="8520258" cy="3293209"/>
          </a:xfrm>
          <a:prstGeom prst="rect">
            <a:avLst/>
          </a:prstGeom>
        </p:spPr>
        <p:txBody>
          <a:bodyPr wrap="square">
            <a:spAutoFit/>
          </a:bodyPr>
          <a:lstStyle/>
          <a:p>
            <a:r>
              <a:rPr lang="en-US" sz="2600" b="1" i="1" dirty="0">
                <a:latin typeface="Times New Roman" panose="02020603050405020304" pitchFamily="18" charset="0"/>
                <a:cs typeface="Times New Roman" panose="02020603050405020304" pitchFamily="18" charset="0"/>
              </a:rPr>
              <a:t>Step 1 </a:t>
            </a:r>
            <a:r>
              <a:rPr lang="en-US" sz="2600" dirty="0">
                <a:latin typeface="Times New Roman" panose="02020603050405020304" pitchFamily="18" charset="0"/>
                <a:cs typeface="Times New Roman" panose="02020603050405020304" pitchFamily="18" charset="0"/>
              </a:rPr>
              <a:t>The probabilities are the relative frequencies from the 2000 distribution:</a:t>
            </a:r>
          </a:p>
          <a:p>
            <a:endParaRPr lang="en-US" sz="2600" dirty="0">
              <a:latin typeface="Times New Roman" panose="02020603050405020304" pitchFamily="18" charset="0"/>
              <a:cs typeface="Times New Roman" panose="02020603050405020304" pitchFamily="18" charset="0"/>
            </a:endParaRPr>
          </a:p>
          <a:p>
            <a:r>
              <a:rPr lang="en-US" sz="2600" i="1" dirty="0">
                <a:latin typeface="Times New Roman" panose="02020603050405020304" pitchFamily="18" charset="0"/>
                <a:cs typeface="Times New Roman" panose="02020603050405020304" pitchFamily="18" charset="0"/>
              </a:rPr>
              <a:t>	</a:t>
            </a:r>
            <a:r>
              <a:rPr lang="en-US" sz="2600" i="1" dirty="0" err="1">
                <a:latin typeface="Times New Roman" panose="02020603050405020304" pitchFamily="18" charset="0"/>
                <a:cs typeface="Times New Roman" panose="02020603050405020304" pitchFamily="18" charset="0"/>
              </a:rPr>
              <a:t>p</a:t>
            </a:r>
            <a:r>
              <a:rPr lang="en-US" sz="2600" baseline="-25000" dirty="0" err="1">
                <a:latin typeface="Times New Roman" panose="02020603050405020304" pitchFamily="18" charset="0"/>
                <a:cs typeface="Times New Roman" panose="02020603050405020304" pitchFamily="18" charset="0"/>
              </a:rPr>
              <a:t>under</a:t>
            </a:r>
            <a:r>
              <a:rPr lang="en-US" sz="2600" baseline="-25000" dirty="0">
                <a:latin typeface="Times New Roman" panose="02020603050405020304" pitchFamily="18" charset="0"/>
                <a:cs typeface="Times New Roman" panose="02020603050405020304" pitchFamily="18" charset="0"/>
              </a:rPr>
              <a:t> 15,000 </a:t>
            </a:r>
            <a:r>
              <a:rPr lang="en-US" sz="2600" dirty="0">
                <a:latin typeface="Times New Roman" panose="02020603050405020304" pitchFamily="18" charset="0"/>
                <a:cs typeface="Times New Roman" panose="02020603050405020304" pitchFamily="18" charset="0"/>
              </a:rPr>
              <a:t>= 0.099                  </a:t>
            </a:r>
            <a:r>
              <a:rPr lang="en-US" sz="2600" i="1" dirty="0">
                <a:latin typeface="Times New Roman" panose="02020603050405020304" pitchFamily="18" charset="0"/>
                <a:cs typeface="Times New Roman" panose="02020603050405020304" pitchFamily="18" charset="0"/>
              </a:rPr>
              <a:t>p</a:t>
            </a:r>
            <a:r>
              <a:rPr lang="en-US" sz="2600" baseline="-25000" dirty="0">
                <a:latin typeface="Times New Roman" panose="02020603050405020304" pitchFamily="18" charset="0"/>
                <a:cs typeface="Times New Roman" panose="02020603050405020304" pitchFamily="18" charset="0"/>
              </a:rPr>
              <a:t>15,000 – 24,999 </a:t>
            </a:r>
            <a:r>
              <a:rPr lang="en-US" sz="2600" dirty="0">
                <a:latin typeface="Times New Roman" panose="02020603050405020304" pitchFamily="18" charset="0"/>
                <a:cs typeface="Times New Roman" panose="02020603050405020304" pitchFamily="18" charset="0"/>
              </a:rPr>
              <a:t>= 0.098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p</a:t>
            </a:r>
            <a:r>
              <a:rPr lang="en-US" sz="2600" baseline="-25000" dirty="0">
                <a:latin typeface="Times New Roman" panose="02020603050405020304" pitchFamily="18" charset="0"/>
                <a:cs typeface="Times New Roman" panose="02020603050405020304" pitchFamily="18" charset="0"/>
              </a:rPr>
              <a:t>25,000 – 34,999 </a:t>
            </a:r>
            <a:r>
              <a:rPr lang="en-US" sz="2600" dirty="0">
                <a:latin typeface="Times New Roman" panose="02020603050405020304" pitchFamily="18" charset="0"/>
                <a:cs typeface="Times New Roman" panose="02020603050405020304" pitchFamily="18" charset="0"/>
              </a:rPr>
              <a:t>= 0.093              </a:t>
            </a:r>
            <a:r>
              <a:rPr lang="nn-NO" sz="2600" i="1" dirty="0">
                <a:latin typeface="Times New Roman" panose="02020603050405020304" pitchFamily="18" charset="0"/>
                <a:cs typeface="Times New Roman" panose="02020603050405020304" pitchFamily="18" charset="0"/>
              </a:rPr>
              <a:t>p</a:t>
            </a:r>
            <a:r>
              <a:rPr lang="nn-NO" sz="2600" baseline="-25000" dirty="0">
                <a:latin typeface="Times New Roman" panose="02020603050405020304" pitchFamily="18" charset="0"/>
                <a:cs typeface="Times New Roman" panose="02020603050405020304" pitchFamily="18" charset="0"/>
              </a:rPr>
              <a:t>35,000 </a:t>
            </a:r>
            <a:r>
              <a:rPr lang="en-US" sz="2600" baseline="-25000" dirty="0">
                <a:latin typeface="Times New Roman" panose="02020603050405020304" pitchFamily="18" charset="0"/>
                <a:cs typeface="Times New Roman" panose="02020603050405020304" pitchFamily="18" charset="0"/>
              </a:rPr>
              <a:t>–</a:t>
            </a:r>
            <a:r>
              <a:rPr lang="nn-NO" sz="2600" baseline="-25000" dirty="0">
                <a:latin typeface="Times New Roman" panose="02020603050405020304" pitchFamily="18" charset="0"/>
                <a:cs typeface="Times New Roman" panose="02020603050405020304" pitchFamily="18" charset="0"/>
              </a:rPr>
              <a:t> 49,999 </a:t>
            </a:r>
            <a:r>
              <a:rPr lang="nn-NO" sz="2600" dirty="0">
                <a:latin typeface="Times New Roman" panose="02020603050405020304" pitchFamily="18" charset="0"/>
                <a:cs typeface="Times New Roman" panose="02020603050405020304" pitchFamily="18" charset="0"/>
              </a:rPr>
              <a:t>= 0.135 </a:t>
            </a:r>
            <a:br>
              <a:rPr lang="nn-NO" sz="2600" dirty="0">
                <a:latin typeface="Times New Roman" panose="02020603050405020304" pitchFamily="18" charset="0"/>
                <a:cs typeface="Times New Roman" panose="02020603050405020304" pitchFamily="18" charset="0"/>
              </a:rPr>
            </a:br>
            <a:r>
              <a:rPr lang="nn-NO" sz="2600" dirty="0">
                <a:latin typeface="Times New Roman" panose="02020603050405020304" pitchFamily="18" charset="0"/>
                <a:cs typeface="Times New Roman" panose="02020603050405020304" pitchFamily="18" charset="0"/>
              </a:rPr>
              <a:t>	</a:t>
            </a:r>
            <a:r>
              <a:rPr lang="nn-NO" sz="2600" i="1" dirty="0">
                <a:latin typeface="Times New Roman" panose="02020603050405020304" pitchFamily="18" charset="0"/>
                <a:cs typeface="Times New Roman" panose="02020603050405020304" pitchFamily="18" charset="0"/>
              </a:rPr>
              <a:t>p</a:t>
            </a:r>
            <a:r>
              <a:rPr lang="nn-NO" sz="2600" baseline="-25000" dirty="0">
                <a:latin typeface="Times New Roman" panose="02020603050405020304" pitchFamily="18" charset="0"/>
                <a:cs typeface="Times New Roman" panose="02020603050405020304" pitchFamily="18" charset="0"/>
              </a:rPr>
              <a:t>50,000 </a:t>
            </a:r>
            <a:r>
              <a:rPr lang="en-US" sz="2600" baseline="-25000" dirty="0">
                <a:latin typeface="Times New Roman" panose="02020603050405020304" pitchFamily="18" charset="0"/>
                <a:cs typeface="Times New Roman" panose="02020603050405020304" pitchFamily="18" charset="0"/>
              </a:rPr>
              <a:t>–</a:t>
            </a:r>
            <a:r>
              <a:rPr lang="nn-NO" sz="2600" baseline="-25000" dirty="0">
                <a:latin typeface="Times New Roman" panose="02020603050405020304" pitchFamily="18" charset="0"/>
                <a:cs typeface="Times New Roman" panose="02020603050405020304" pitchFamily="18" charset="0"/>
              </a:rPr>
              <a:t> 74,999 </a:t>
            </a:r>
            <a:r>
              <a:rPr lang="nn-NO" sz="2600" dirty="0">
                <a:latin typeface="Times New Roman" panose="02020603050405020304" pitchFamily="18" charset="0"/>
                <a:cs typeface="Times New Roman" panose="02020603050405020304" pitchFamily="18" charset="0"/>
              </a:rPr>
              <a:t>= 0.179              </a:t>
            </a:r>
            <a:r>
              <a:rPr lang="nn-NO" sz="2600" i="1" dirty="0">
                <a:latin typeface="Times New Roman" panose="02020603050405020304" pitchFamily="18" charset="0"/>
                <a:cs typeface="Times New Roman" panose="02020603050405020304" pitchFamily="18" charset="0"/>
              </a:rPr>
              <a:t>p</a:t>
            </a:r>
            <a:r>
              <a:rPr lang="nn-NO" sz="2600" baseline="-25000" dirty="0">
                <a:latin typeface="Times New Roman" panose="02020603050405020304" pitchFamily="18" charset="0"/>
                <a:cs typeface="Times New Roman" panose="02020603050405020304" pitchFamily="18" charset="0"/>
              </a:rPr>
              <a:t>75,000 </a:t>
            </a:r>
            <a:r>
              <a:rPr lang="en-US" sz="2600" baseline="-25000" dirty="0">
                <a:latin typeface="Times New Roman" panose="02020603050405020304" pitchFamily="18" charset="0"/>
                <a:cs typeface="Times New Roman" panose="02020603050405020304" pitchFamily="18" charset="0"/>
              </a:rPr>
              <a:t>–</a:t>
            </a:r>
            <a:r>
              <a:rPr lang="nn-NO" sz="2600" baseline="-25000" dirty="0">
                <a:latin typeface="Times New Roman" panose="02020603050405020304" pitchFamily="18" charset="0"/>
                <a:cs typeface="Times New Roman" panose="02020603050405020304" pitchFamily="18" charset="0"/>
              </a:rPr>
              <a:t> 99,999 </a:t>
            </a:r>
            <a:r>
              <a:rPr lang="nn-NO" sz="2600" dirty="0">
                <a:latin typeface="Times New Roman" panose="02020603050405020304" pitchFamily="18" charset="0"/>
                <a:cs typeface="Times New Roman" panose="02020603050405020304" pitchFamily="18" charset="0"/>
              </a:rPr>
              <a:t>= 0.131</a:t>
            </a:r>
            <a:br>
              <a:rPr lang="nn-NO" sz="2600" dirty="0">
                <a:latin typeface="Times New Roman" panose="02020603050405020304" pitchFamily="18" charset="0"/>
                <a:cs typeface="Times New Roman" panose="02020603050405020304" pitchFamily="18" charset="0"/>
              </a:rPr>
            </a:br>
            <a:r>
              <a:rPr lang="nn-NO"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p</a:t>
            </a:r>
            <a:r>
              <a:rPr lang="en-US" sz="2600" baseline="-25000" dirty="0">
                <a:latin typeface="Times New Roman" panose="02020603050405020304" pitchFamily="18" charset="0"/>
                <a:cs typeface="Times New Roman" panose="02020603050405020304" pitchFamily="18" charset="0"/>
              </a:rPr>
              <a:t>100,000 – 149,999 </a:t>
            </a:r>
            <a:r>
              <a:rPr lang="en-US" sz="2600" dirty="0">
                <a:latin typeface="Times New Roman" panose="02020603050405020304" pitchFamily="18" charset="0"/>
                <a:cs typeface="Times New Roman" panose="02020603050405020304" pitchFamily="18" charset="0"/>
              </a:rPr>
              <a:t>= 0.149           </a:t>
            </a:r>
            <a:r>
              <a:rPr lang="en-US" sz="2600" i="1" dirty="0">
                <a:latin typeface="Times New Roman" panose="02020603050405020304" pitchFamily="18" charset="0"/>
                <a:cs typeface="Times New Roman" panose="02020603050405020304" pitchFamily="18" charset="0"/>
              </a:rPr>
              <a:t>p</a:t>
            </a:r>
            <a:r>
              <a:rPr lang="en-US" sz="2600" baseline="-25000" dirty="0">
                <a:latin typeface="Times New Roman" panose="02020603050405020304" pitchFamily="18" charset="0"/>
                <a:cs typeface="Times New Roman" panose="02020603050405020304" pitchFamily="18" charset="0"/>
              </a:rPr>
              <a:t>150,000 – 199,999 </a:t>
            </a:r>
            <a:r>
              <a:rPr lang="en-US" sz="2600" dirty="0">
                <a:latin typeface="Times New Roman" panose="02020603050405020304" pitchFamily="18" charset="0"/>
                <a:cs typeface="Times New Roman" panose="02020603050405020304" pitchFamily="18" charset="0"/>
              </a:rPr>
              <a:t>= 0.061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t>
            </a:r>
            <a:r>
              <a:rPr lang="en-US" sz="2600" i="1" dirty="0" err="1">
                <a:latin typeface="Times New Roman" panose="02020603050405020304" pitchFamily="18" charset="0"/>
                <a:cs typeface="Times New Roman" panose="02020603050405020304" pitchFamily="18" charset="0"/>
              </a:rPr>
              <a:t>p</a:t>
            </a:r>
            <a:r>
              <a:rPr lang="en-US" sz="2600" baseline="-25000" dirty="0" err="1">
                <a:latin typeface="Times New Roman" panose="02020603050405020304" pitchFamily="18" charset="0"/>
                <a:cs typeface="Times New Roman" panose="02020603050405020304" pitchFamily="18" charset="0"/>
              </a:rPr>
              <a:t>At</a:t>
            </a:r>
            <a:r>
              <a:rPr lang="en-US" sz="2600" baseline="-25000" dirty="0">
                <a:latin typeface="Times New Roman" panose="02020603050405020304" pitchFamily="18" charset="0"/>
                <a:cs typeface="Times New Roman" panose="02020603050405020304" pitchFamily="18" charset="0"/>
              </a:rPr>
              <a:t> least 200,000 </a:t>
            </a:r>
            <a:r>
              <a:rPr lang="en-US" sz="2600" dirty="0">
                <a:latin typeface="Times New Roman" panose="02020603050405020304" pitchFamily="18" charset="0"/>
                <a:cs typeface="Times New Roman" panose="02020603050405020304" pitchFamily="18" charset="0"/>
              </a:rPr>
              <a:t>= 0.055</a:t>
            </a:r>
          </a:p>
        </p:txBody>
      </p:sp>
    </p:spTree>
    <p:extLst>
      <p:ext uri="{BB962C8B-B14F-4D97-AF65-F5344CB8AC3E}">
        <p14:creationId xmlns:p14="http://schemas.microsoft.com/office/powerpoint/2010/main" val="2267897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8</a:t>
            </a:fld>
            <a:endParaRPr/>
          </a:p>
        </p:txBody>
      </p:sp>
      <p:sp>
        <p:nvSpPr>
          <p:cNvPr id="5" name="Google Shape;385;p59">
            <a:extLst>
              <a:ext uri="{FF2B5EF4-FFF2-40B4-BE49-F238E27FC236}">
                <a16:creationId xmlns:a16="http://schemas.microsoft.com/office/drawing/2014/main" id="{277D0A08-40DD-4044-A6CB-D65406A4A652}"/>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Finding Expected Counts</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(3 of 4)</a:t>
            </a:r>
            <a:endParaRPr dirty="0"/>
          </a:p>
        </p:txBody>
      </p:sp>
      <p:sp>
        <p:nvSpPr>
          <p:cNvPr id="4" name="Rectangle 3">
            <a:extLst>
              <a:ext uri="{FF2B5EF4-FFF2-40B4-BE49-F238E27FC236}">
                <a16:creationId xmlns:a16="http://schemas.microsoft.com/office/drawing/2014/main" id="{1E578722-1D5B-4C32-998F-982B090A4E53}"/>
              </a:ext>
            </a:extLst>
          </p:cNvPr>
          <p:cNvSpPr/>
          <p:nvPr/>
        </p:nvSpPr>
        <p:spPr>
          <a:xfrm>
            <a:off x="311870" y="1097355"/>
            <a:ext cx="8520258" cy="5293757"/>
          </a:xfrm>
          <a:prstGeom prst="rect">
            <a:avLst/>
          </a:prstGeom>
        </p:spPr>
        <p:txBody>
          <a:bodyPr wrap="square">
            <a:spAutoFit/>
          </a:bodyPr>
          <a:lstStyle/>
          <a:p>
            <a:r>
              <a:rPr lang="en-US" sz="2600" b="1" i="1" dirty="0">
                <a:latin typeface="Times New Roman" panose="02020603050405020304" pitchFamily="18" charset="0"/>
                <a:cs typeface="Times New Roman" panose="02020603050405020304" pitchFamily="18" charset="0"/>
              </a:rPr>
              <a:t>Step 2 </a:t>
            </a:r>
            <a:r>
              <a:rPr lang="en-US" sz="2600" dirty="0">
                <a:latin typeface="Times New Roman" panose="02020603050405020304" pitchFamily="18" charset="0"/>
                <a:cs typeface="Times New Roman" panose="02020603050405020304" pitchFamily="18" charset="0"/>
              </a:rPr>
              <a:t>The expected counts for each income are as follows:</a:t>
            </a:r>
          </a:p>
          <a:p>
            <a:r>
              <a:rPr lang="en-US" sz="2600" dirty="0">
                <a:latin typeface="Times New Roman" panose="02020603050405020304" pitchFamily="18" charset="0"/>
                <a:cs typeface="Times New Roman" panose="02020603050405020304" pitchFamily="18" charset="0"/>
              </a:rPr>
              <a:t>Expected count of under $15,000: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t>
            </a:r>
            <a:r>
              <a:rPr lang="en-US" sz="2600" i="1" dirty="0" err="1">
                <a:latin typeface="Times New Roman" panose="02020603050405020304" pitchFamily="18" charset="0"/>
                <a:cs typeface="Times New Roman" panose="02020603050405020304" pitchFamily="18" charset="0"/>
              </a:rPr>
              <a:t>np</a:t>
            </a:r>
            <a:r>
              <a:rPr lang="en-US" sz="2600" baseline="-25000" dirty="0" err="1">
                <a:latin typeface="Times New Roman" panose="02020603050405020304" pitchFamily="18" charset="0"/>
                <a:cs typeface="Times New Roman" panose="02020603050405020304" pitchFamily="18" charset="0"/>
              </a:rPr>
              <a:t>under</a:t>
            </a:r>
            <a:r>
              <a:rPr lang="en-US" sz="2600" baseline="-25000" dirty="0">
                <a:latin typeface="Times New Roman" panose="02020603050405020304" pitchFamily="18" charset="0"/>
                <a:cs typeface="Times New Roman" panose="02020603050405020304" pitchFamily="18" charset="0"/>
              </a:rPr>
              <a:t> 15,000 </a:t>
            </a:r>
            <a:r>
              <a:rPr lang="en-US" sz="2600" dirty="0">
                <a:latin typeface="Times New Roman" panose="02020603050405020304" pitchFamily="18" charset="0"/>
                <a:cs typeface="Times New Roman" panose="02020603050405020304" pitchFamily="18" charset="0"/>
              </a:rPr>
              <a:t>= 1500(0.099) = 148.5</a:t>
            </a:r>
          </a:p>
          <a:p>
            <a:r>
              <a:rPr lang="en-US" sz="2600" dirty="0">
                <a:latin typeface="Times New Roman" panose="02020603050405020304" pitchFamily="18" charset="0"/>
                <a:cs typeface="Times New Roman" panose="02020603050405020304" pitchFamily="18" charset="0"/>
              </a:rPr>
              <a:t>Expected count of $15,000 to $24,999: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np</a:t>
            </a:r>
            <a:r>
              <a:rPr lang="en-US" sz="2600" baseline="-25000" dirty="0">
                <a:latin typeface="Times New Roman" panose="02020603050405020304" pitchFamily="18" charset="0"/>
                <a:cs typeface="Times New Roman" panose="02020603050405020304" pitchFamily="18" charset="0"/>
              </a:rPr>
              <a:t>15,000 to 24,999 </a:t>
            </a:r>
            <a:r>
              <a:rPr lang="en-US" sz="2600" dirty="0">
                <a:latin typeface="Times New Roman" panose="02020603050405020304" pitchFamily="18" charset="0"/>
                <a:cs typeface="Times New Roman" panose="02020603050405020304" pitchFamily="18" charset="0"/>
              </a:rPr>
              <a:t>= 1500(0.098) = 147</a:t>
            </a:r>
          </a:p>
          <a:p>
            <a:r>
              <a:rPr lang="en-US" sz="2600" dirty="0">
                <a:latin typeface="Times New Roman" panose="02020603050405020304" pitchFamily="18" charset="0"/>
                <a:cs typeface="Times New Roman" panose="02020603050405020304" pitchFamily="18" charset="0"/>
              </a:rPr>
              <a:t>Expected count of $25,000 to $34,999: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np</a:t>
            </a:r>
            <a:r>
              <a:rPr lang="en-US" sz="2600" baseline="-25000" dirty="0">
                <a:latin typeface="Times New Roman" panose="02020603050405020304" pitchFamily="18" charset="0"/>
                <a:cs typeface="Times New Roman" panose="02020603050405020304" pitchFamily="18" charset="0"/>
              </a:rPr>
              <a:t>25,000 to 34,999 </a:t>
            </a:r>
            <a:r>
              <a:rPr lang="en-US" sz="2600" dirty="0">
                <a:latin typeface="Times New Roman" panose="02020603050405020304" pitchFamily="18" charset="0"/>
                <a:cs typeface="Times New Roman" panose="02020603050405020304" pitchFamily="18" charset="0"/>
              </a:rPr>
              <a:t>= 1500(0.093) = 139.5</a:t>
            </a:r>
          </a:p>
          <a:p>
            <a:r>
              <a:rPr lang="en-US" sz="2600" dirty="0">
                <a:latin typeface="Times New Roman" panose="02020603050405020304" pitchFamily="18" charset="0"/>
                <a:cs typeface="Times New Roman" panose="02020603050405020304" pitchFamily="18" charset="0"/>
              </a:rPr>
              <a:t>Expected count of $35,000 to $49,999: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np</a:t>
            </a:r>
            <a:r>
              <a:rPr lang="en-US" sz="2600" baseline="-25000" dirty="0">
                <a:latin typeface="Times New Roman" panose="02020603050405020304" pitchFamily="18" charset="0"/>
                <a:cs typeface="Times New Roman" panose="02020603050405020304" pitchFamily="18" charset="0"/>
              </a:rPr>
              <a:t>35,000 to 49,999 </a:t>
            </a:r>
            <a:r>
              <a:rPr lang="en-US" sz="2600" dirty="0">
                <a:latin typeface="Times New Roman" panose="02020603050405020304" pitchFamily="18" charset="0"/>
                <a:cs typeface="Times New Roman" panose="02020603050405020304" pitchFamily="18" charset="0"/>
              </a:rPr>
              <a:t>= 1500(0.135) = 202.5</a:t>
            </a:r>
          </a:p>
          <a:p>
            <a:r>
              <a:rPr lang="en-US" sz="2600" dirty="0">
                <a:latin typeface="Times New Roman" panose="02020603050405020304" pitchFamily="18" charset="0"/>
                <a:cs typeface="Times New Roman" panose="02020603050405020304" pitchFamily="18" charset="0"/>
              </a:rPr>
              <a:t>Expected count of $50,000 to $74,999: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np</a:t>
            </a:r>
            <a:r>
              <a:rPr lang="en-US" sz="2600" baseline="-25000" dirty="0">
                <a:latin typeface="Times New Roman" panose="02020603050405020304" pitchFamily="18" charset="0"/>
                <a:cs typeface="Times New Roman" panose="02020603050405020304" pitchFamily="18" charset="0"/>
              </a:rPr>
              <a:t>50,000 to 74,999 </a:t>
            </a:r>
            <a:r>
              <a:rPr lang="en-US" sz="2600" dirty="0">
                <a:latin typeface="Times New Roman" panose="02020603050405020304" pitchFamily="18" charset="0"/>
                <a:cs typeface="Times New Roman" panose="02020603050405020304" pitchFamily="18" charset="0"/>
              </a:rPr>
              <a:t>= 1500(0.179) = 268.5</a:t>
            </a:r>
          </a:p>
          <a:p>
            <a:r>
              <a:rPr lang="en-US" sz="2600" dirty="0">
                <a:latin typeface="Times New Roman" panose="02020603050405020304" pitchFamily="18" charset="0"/>
                <a:cs typeface="Times New Roman" panose="02020603050405020304" pitchFamily="18" charset="0"/>
              </a:rPr>
              <a:t>Expected count of $75,000 to $99,999: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np</a:t>
            </a:r>
            <a:r>
              <a:rPr lang="en-US" sz="2600" baseline="-25000" dirty="0">
                <a:latin typeface="Times New Roman" panose="02020603050405020304" pitchFamily="18" charset="0"/>
                <a:cs typeface="Times New Roman" panose="02020603050405020304" pitchFamily="18" charset="0"/>
              </a:rPr>
              <a:t>75,000 to 99,999 </a:t>
            </a:r>
            <a:r>
              <a:rPr lang="en-US" sz="2600" dirty="0">
                <a:latin typeface="Times New Roman" panose="02020603050405020304" pitchFamily="18" charset="0"/>
                <a:cs typeface="Times New Roman" panose="02020603050405020304" pitchFamily="18" charset="0"/>
              </a:rPr>
              <a:t>= 1500(0.131) = 196.5</a:t>
            </a:r>
          </a:p>
        </p:txBody>
      </p:sp>
    </p:spTree>
    <p:extLst>
      <p:ext uri="{BB962C8B-B14F-4D97-AF65-F5344CB8AC3E}">
        <p14:creationId xmlns:p14="http://schemas.microsoft.com/office/powerpoint/2010/main" val="263739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5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9</a:t>
            </a:fld>
            <a:endParaRPr/>
          </a:p>
        </p:txBody>
      </p:sp>
      <p:sp>
        <p:nvSpPr>
          <p:cNvPr id="5" name="Google Shape;385;p59">
            <a:extLst>
              <a:ext uri="{FF2B5EF4-FFF2-40B4-BE49-F238E27FC236}">
                <a16:creationId xmlns:a16="http://schemas.microsoft.com/office/drawing/2014/main" id="{277D0A08-40DD-4044-A6CB-D65406A4A652}"/>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Finding Expected Counts</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(4 of 4)</a:t>
            </a:r>
            <a:endParaRPr dirty="0"/>
          </a:p>
        </p:txBody>
      </p:sp>
      <p:sp>
        <p:nvSpPr>
          <p:cNvPr id="4" name="Rectangle 3">
            <a:extLst>
              <a:ext uri="{FF2B5EF4-FFF2-40B4-BE49-F238E27FC236}">
                <a16:creationId xmlns:a16="http://schemas.microsoft.com/office/drawing/2014/main" id="{1E578722-1D5B-4C32-998F-982B090A4E53}"/>
              </a:ext>
            </a:extLst>
          </p:cNvPr>
          <p:cNvSpPr/>
          <p:nvPr/>
        </p:nvSpPr>
        <p:spPr>
          <a:xfrm>
            <a:off x="311872" y="1097355"/>
            <a:ext cx="8520258" cy="4493538"/>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Expected count of $100,000 to $149, 999: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np</a:t>
            </a:r>
            <a:r>
              <a:rPr lang="en-US" sz="2600" baseline="-25000" dirty="0">
                <a:latin typeface="Times New Roman" panose="02020603050405020304" pitchFamily="18" charset="0"/>
                <a:cs typeface="Times New Roman" panose="02020603050405020304" pitchFamily="18" charset="0"/>
              </a:rPr>
              <a:t>100,000 to 149,999 </a:t>
            </a:r>
            <a:r>
              <a:rPr lang="en-US" sz="2600" dirty="0">
                <a:latin typeface="Times New Roman" panose="02020603050405020304" pitchFamily="18" charset="0"/>
                <a:cs typeface="Times New Roman" panose="02020603050405020304" pitchFamily="18" charset="0"/>
              </a:rPr>
              <a:t>= 1500(0.149) = 223.5</a:t>
            </a:r>
          </a:p>
          <a:p>
            <a:r>
              <a:rPr lang="en-US" sz="2600" dirty="0">
                <a:latin typeface="Times New Roman" panose="02020603050405020304" pitchFamily="18" charset="0"/>
                <a:cs typeface="Times New Roman" panose="02020603050405020304" pitchFamily="18" charset="0"/>
              </a:rPr>
              <a:t>Expected count of $150,000 to $199,999: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np</a:t>
            </a:r>
            <a:r>
              <a:rPr lang="en-US" sz="2600" baseline="-25000" dirty="0">
                <a:latin typeface="Times New Roman" panose="02020603050405020304" pitchFamily="18" charset="0"/>
                <a:cs typeface="Times New Roman" panose="02020603050405020304" pitchFamily="18" charset="0"/>
              </a:rPr>
              <a:t>150,000 to 199,999 </a:t>
            </a:r>
            <a:r>
              <a:rPr lang="en-US" sz="2600" dirty="0">
                <a:latin typeface="Times New Roman" panose="02020603050405020304" pitchFamily="18" charset="0"/>
                <a:cs typeface="Times New Roman" panose="02020603050405020304" pitchFamily="18" charset="0"/>
              </a:rPr>
              <a:t>= 1500(0.061) = 91.5</a:t>
            </a:r>
          </a:p>
          <a:p>
            <a:r>
              <a:rPr lang="en-US" sz="2600" dirty="0">
                <a:latin typeface="Times New Roman" panose="02020603050405020304" pitchFamily="18" charset="0"/>
                <a:cs typeface="Times New Roman" panose="02020603050405020304" pitchFamily="18" charset="0"/>
              </a:rPr>
              <a:t>Expected count of at least $200,000: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t>
            </a:r>
            <a:r>
              <a:rPr lang="en-US" sz="2600" i="1" dirty="0" err="1">
                <a:latin typeface="Times New Roman" panose="02020603050405020304" pitchFamily="18" charset="0"/>
                <a:cs typeface="Times New Roman" panose="02020603050405020304" pitchFamily="18" charset="0"/>
              </a:rPr>
              <a:t>np</a:t>
            </a:r>
            <a:r>
              <a:rPr lang="en-US" sz="2600" baseline="-25000" dirty="0" err="1">
                <a:latin typeface="Times New Roman" panose="02020603050405020304" pitchFamily="18" charset="0"/>
                <a:cs typeface="Times New Roman" panose="02020603050405020304" pitchFamily="18" charset="0"/>
              </a:rPr>
              <a:t>At</a:t>
            </a:r>
            <a:r>
              <a:rPr lang="en-US" sz="2600" baseline="-25000" dirty="0">
                <a:latin typeface="Times New Roman" panose="02020603050405020304" pitchFamily="18" charset="0"/>
                <a:cs typeface="Times New Roman" panose="02020603050405020304" pitchFamily="18" charset="0"/>
              </a:rPr>
              <a:t> least 200,000 </a:t>
            </a:r>
            <a:r>
              <a:rPr lang="en-US" sz="2600" dirty="0">
                <a:latin typeface="Times New Roman" panose="02020603050405020304" pitchFamily="18" charset="0"/>
                <a:cs typeface="Times New Roman" panose="02020603050405020304" pitchFamily="18" charset="0"/>
              </a:rPr>
              <a:t>= 1500(0.055) = 82.5</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Of the 1500 households surveyed, the economist expects to have 148.5 households that earned under $15,000, 147 that earned $15,000 to $24,999, and so on, assuming the distribution of income has not changed since 2000.</a:t>
            </a:r>
          </a:p>
        </p:txBody>
      </p:sp>
    </p:spTree>
    <p:extLst>
      <p:ext uri="{BB962C8B-B14F-4D97-AF65-F5344CB8AC3E}">
        <p14:creationId xmlns:p14="http://schemas.microsoft.com/office/powerpoint/2010/main" val="2578049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6" name="Rectangle 5">
            <a:extLst>
              <a:ext uri="{FF2B5EF4-FFF2-40B4-BE49-F238E27FC236}">
                <a16:creationId xmlns:a16="http://schemas.microsoft.com/office/drawing/2014/main" id="{D445ABE1-A81B-4571-A939-4D0B5105B93C}"/>
              </a:ext>
            </a:extLst>
          </p:cNvPr>
          <p:cNvSpPr/>
          <p:nvPr/>
        </p:nvSpPr>
        <p:spPr>
          <a:xfrm>
            <a:off x="235670" y="222250"/>
            <a:ext cx="8634953" cy="5999441"/>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Google Shape;162;p27"/>
          <p:cNvSpPr txBox="1">
            <a:spLocks noGrp="1"/>
          </p:cNvSpPr>
          <p:nvPr>
            <p:ph type="body" idx="1"/>
          </p:nvPr>
        </p:nvSpPr>
        <p:spPr>
          <a:xfrm>
            <a:off x="457200" y="228600"/>
            <a:ext cx="8229600" cy="6096000"/>
          </a:xfrm>
          <a:prstGeom prst="rect">
            <a:avLst/>
          </a:prstGeom>
          <a:noFill/>
          <a:ln>
            <a:noFill/>
          </a:ln>
        </p:spPr>
        <p:txBody>
          <a:bodyPr spcFirstLastPara="1" wrap="square" lIns="91425" tIns="45700" rIns="91425" bIns="45700" anchor="t" anchorCtr="0">
            <a:noAutofit/>
          </a:bodyPr>
          <a:lstStyle/>
          <a:p>
            <a:pPr marL="533400" lvl="0" indent="-533400" rtl="0">
              <a:lnSpc>
                <a:spcPct val="90000"/>
              </a:lnSpc>
              <a:spcBef>
                <a:spcPts val="0"/>
              </a:spcBef>
              <a:spcAft>
                <a:spcPts val="0"/>
              </a:spcAft>
              <a:buSzPts val="3200"/>
              <a:buFont typeface="Times New Roman"/>
              <a:buNone/>
            </a:pPr>
            <a:r>
              <a:rPr lang="en-US" sz="3200" b="1" i="0" u="none" dirty="0">
                <a:solidFill>
                  <a:schemeClr val="tx1"/>
                </a:solidFill>
                <a:latin typeface="+mn-lt"/>
                <a:ea typeface="Times New Roman"/>
                <a:cs typeface="Times New Roman"/>
                <a:sym typeface="Times New Roman"/>
              </a:rPr>
              <a:t>Test Statistic for Goodness-of-Fit Tests</a:t>
            </a:r>
            <a:endParaRPr sz="3200" dirty="0">
              <a:solidFill>
                <a:schemeClr val="tx1"/>
              </a:solidFill>
              <a:latin typeface="+mn-lt"/>
            </a:endParaRPr>
          </a:p>
          <a:p>
            <a:pPr marL="533400" lvl="0" indent="-533400" algn="l" rtl="0">
              <a:lnSpc>
                <a:spcPct val="80000"/>
              </a:lnSpc>
              <a:spcBef>
                <a:spcPts val="520"/>
              </a:spcBef>
              <a:spcAft>
                <a:spcPts val="0"/>
              </a:spcAft>
              <a:buSzPts val="2600"/>
              <a:buFont typeface="Times New Roman"/>
              <a:buNone/>
            </a:pPr>
            <a:r>
              <a:rPr lang="en-US" sz="2600" b="0" i="0" u="none" dirty="0">
                <a:solidFill>
                  <a:schemeClr val="tx1"/>
                </a:solidFill>
                <a:latin typeface="Times New Roman"/>
                <a:ea typeface="Times New Roman"/>
                <a:cs typeface="Times New Roman"/>
                <a:sym typeface="Times New Roman"/>
              </a:rPr>
              <a:t>Let </a:t>
            </a:r>
            <a:r>
              <a:rPr lang="en-US" sz="2600" b="0" i="1" u="none" dirty="0">
                <a:solidFill>
                  <a:schemeClr val="tx1"/>
                </a:solidFill>
                <a:latin typeface="Times New Roman"/>
                <a:ea typeface="Times New Roman"/>
                <a:cs typeface="Times New Roman"/>
                <a:sym typeface="Times New Roman"/>
              </a:rPr>
              <a:t>O</a:t>
            </a:r>
            <a:r>
              <a:rPr lang="en-US" sz="2600" b="0" i="1" u="none" baseline="-25000" dirty="0">
                <a:solidFill>
                  <a:schemeClr val="tx1"/>
                </a:solidFill>
                <a:latin typeface="Times New Roman"/>
                <a:ea typeface="Times New Roman"/>
                <a:cs typeface="Times New Roman"/>
                <a:sym typeface="Times New Roman"/>
              </a:rPr>
              <a:t>i</a:t>
            </a:r>
            <a:r>
              <a:rPr lang="en-US" sz="2600" b="0" i="1" u="none" dirty="0">
                <a:solidFill>
                  <a:schemeClr val="tx1"/>
                </a:solidFill>
                <a:latin typeface="Times New Roman"/>
                <a:ea typeface="Times New Roman"/>
                <a:cs typeface="Times New Roman"/>
                <a:sym typeface="Times New Roman"/>
              </a:rPr>
              <a:t> </a:t>
            </a:r>
            <a:r>
              <a:rPr lang="en-US" sz="2600" b="0" i="0" u="none" dirty="0">
                <a:solidFill>
                  <a:schemeClr val="tx1"/>
                </a:solidFill>
                <a:latin typeface="Times New Roman"/>
                <a:ea typeface="Times New Roman"/>
                <a:cs typeface="Times New Roman"/>
                <a:sym typeface="Times New Roman"/>
              </a:rPr>
              <a:t>represent the observed counts of category </a:t>
            </a:r>
            <a:r>
              <a:rPr lang="en-US" sz="2600" b="0" i="1" u="none" dirty="0" err="1">
                <a:solidFill>
                  <a:schemeClr val="tx1"/>
                </a:solidFill>
                <a:latin typeface="Times New Roman"/>
                <a:ea typeface="Times New Roman"/>
                <a:cs typeface="Times New Roman"/>
                <a:sym typeface="Times New Roman"/>
              </a:rPr>
              <a:t>i</a:t>
            </a:r>
            <a:r>
              <a:rPr lang="en-US" sz="2600" b="0" i="0" u="none" dirty="0">
                <a:solidFill>
                  <a:schemeClr val="tx1"/>
                </a:solidFill>
                <a:latin typeface="Times New Roman"/>
                <a:ea typeface="Times New Roman"/>
                <a:cs typeface="Times New Roman"/>
                <a:sym typeface="Times New Roman"/>
              </a:rPr>
              <a:t>, </a:t>
            </a:r>
            <a:r>
              <a:rPr lang="en-US" sz="2600" b="0" i="1" u="none" dirty="0" err="1">
                <a:solidFill>
                  <a:schemeClr val="tx1"/>
                </a:solidFill>
                <a:latin typeface="Times New Roman"/>
                <a:ea typeface="Times New Roman"/>
                <a:cs typeface="Times New Roman"/>
                <a:sym typeface="Times New Roman"/>
              </a:rPr>
              <a:t>E</a:t>
            </a:r>
            <a:r>
              <a:rPr lang="en-US" sz="2600" b="0" i="1" u="none" baseline="-25000" dirty="0" err="1">
                <a:solidFill>
                  <a:schemeClr val="tx1"/>
                </a:solidFill>
                <a:latin typeface="Times New Roman"/>
                <a:ea typeface="Times New Roman"/>
                <a:cs typeface="Times New Roman"/>
                <a:sym typeface="Times New Roman"/>
              </a:rPr>
              <a:t>i</a:t>
            </a:r>
            <a:endParaRPr dirty="0">
              <a:solidFill>
                <a:schemeClr val="tx1"/>
              </a:solidFill>
            </a:endParaRPr>
          </a:p>
          <a:p>
            <a:pPr marL="533400" lvl="0" indent="-533400" algn="l" rtl="0">
              <a:lnSpc>
                <a:spcPct val="80000"/>
              </a:lnSpc>
              <a:spcBef>
                <a:spcPts val="520"/>
              </a:spcBef>
              <a:spcAft>
                <a:spcPts val="0"/>
              </a:spcAft>
              <a:buSzPts val="2600"/>
              <a:buFont typeface="Times New Roman"/>
              <a:buNone/>
            </a:pPr>
            <a:r>
              <a:rPr lang="en-US" sz="2600" b="0" i="0" u="none" dirty="0">
                <a:solidFill>
                  <a:schemeClr val="tx1"/>
                </a:solidFill>
                <a:latin typeface="Times New Roman"/>
                <a:ea typeface="Times New Roman"/>
                <a:cs typeface="Times New Roman"/>
                <a:sym typeface="Times New Roman"/>
              </a:rPr>
              <a:t>represent the expected counts of category </a:t>
            </a:r>
            <a:r>
              <a:rPr lang="en-US" sz="2600" b="0" i="1" u="none" dirty="0" err="1">
                <a:solidFill>
                  <a:schemeClr val="tx1"/>
                </a:solidFill>
                <a:latin typeface="Times New Roman"/>
                <a:ea typeface="Times New Roman"/>
                <a:cs typeface="Times New Roman"/>
                <a:sym typeface="Times New Roman"/>
              </a:rPr>
              <a:t>i</a:t>
            </a:r>
            <a:r>
              <a:rPr lang="en-US" sz="2600" b="0" i="0" u="none" dirty="0">
                <a:solidFill>
                  <a:schemeClr val="tx1"/>
                </a:solidFill>
                <a:latin typeface="Times New Roman"/>
                <a:ea typeface="Times New Roman"/>
                <a:cs typeface="Times New Roman"/>
                <a:sym typeface="Times New Roman"/>
              </a:rPr>
              <a:t>, </a:t>
            </a:r>
            <a:r>
              <a:rPr lang="en-US" sz="2600" b="0" i="1" u="none" dirty="0">
                <a:solidFill>
                  <a:schemeClr val="tx1"/>
                </a:solidFill>
                <a:latin typeface="Times New Roman"/>
                <a:ea typeface="Times New Roman"/>
                <a:cs typeface="Times New Roman"/>
                <a:sym typeface="Times New Roman"/>
              </a:rPr>
              <a:t>k </a:t>
            </a:r>
            <a:r>
              <a:rPr lang="en-US" sz="2600" b="0" i="0" u="none" dirty="0">
                <a:solidFill>
                  <a:schemeClr val="tx1"/>
                </a:solidFill>
                <a:latin typeface="Times New Roman"/>
                <a:ea typeface="Times New Roman"/>
                <a:cs typeface="Times New Roman"/>
                <a:sym typeface="Times New Roman"/>
              </a:rPr>
              <a:t>represent</a:t>
            </a:r>
            <a:endParaRPr dirty="0">
              <a:solidFill>
                <a:schemeClr val="tx1"/>
              </a:solidFill>
            </a:endParaRPr>
          </a:p>
          <a:p>
            <a:pPr marL="533400" lvl="0" indent="-533400" algn="l" rtl="0">
              <a:lnSpc>
                <a:spcPct val="80000"/>
              </a:lnSpc>
              <a:spcBef>
                <a:spcPts val="520"/>
              </a:spcBef>
              <a:spcAft>
                <a:spcPts val="0"/>
              </a:spcAft>
              <a:buSzPts val="2600"/>
              <a:buFont typeface="Times New Roman"/>
              <a:buNone/>
            </a:pPr>
            <a:r>
              <a:rPr lang="en-US" sz="2600" b="0" i="0" u="none" dirty="0">
                <a:solidFill>
                  <a:schemeClr val="tx1"/>
                </a:solidFill>
                <a:latin typeface="Times New Roman"/>
                <a:ea typeface="Times New Roman"/>
                <a:cs typeface="Times New Roman"/>
                <a:sym typeface="Times New Roman"/>
              </a:rPr>
              <a:t>the number of categories, and </a:t>
            </a:r>
            <a:r>
              <a:rPr lang="en-US" sz="2600" b="0" i="1" u="none" dirty="0">
                <a:solidFill>
                  <a:schemeClr val="tx1"/>
                </a:solidFill>
                <a:latin typeface="Times New Roman"/>
                <a:ea typeface="Times New Roman"/>
                <a:cs typeface="Times New Roman"/>
                <a:sym typeface="Times New Roman"/>
              </a:rPr>
              <a:t>n</a:t>
            </a:r>
            <a:r>
              <a:rPr lang="en-US" sz="2600" b="0" i="0" u="none" dirty="0">
                <a:solidFill>
                  <a:schemeClr val="tx1"/>
                </a:solidFill>
                <a:latin typeface="Times New Roman"/>
                <a:ea typeface="Times New Roman"/>
                <a:cs typeface="Times New Roman"/>
                <a:sym typeface="Times New Roman"/>
              </a:rPr>
              <a:t> represent the number of</a:t>
            </a:r>
            <a:endParaRPr dirty="0">
              <a:solidFill>
                <a:schemeClr val="tx1"/>
              </a:solidFill>
            </a:endParaRPr>
          </a:p>
          <a:p>
            <a:pPr marL="533400" lvl="0" indent="-533400" algn="l" rtl="0">
              <a:lnSpc>
                <a:spcPct val="80000"/>
              </a:lnSpc>
              <a:spcBef>
                <a:spcPts val="520"/>
              </a:spcBef>
              <a:spcAft>
                <a:spcPts val="0"/>
              </a:spcAft>
              <a:buSzPts val="2600"/>
              <a:buFont typeface="Times New Roman"/>
              <a:buNone/>
            </a:pPr>
            <a:r>
              <a:rPr lang="en-US" sz="2600" b="0" i="0" u="none" dirty="0">
                <a:solidFill>
                  <a:schemeClr val="tx1"/>
                </a:solidFill>
                <a:latin typeface="Times New Roman"/>
                <a:ea typeface="Times New Roman"/>
                <a:cs typeface="Times New Roman"/>
                <a:sym typeface="Times New Roman"/>
              </a:rPr>
              <a:t>independent trials of an experiment.  Then</a:t>
            </a:r>
          </a:p>
          <a:p>
            <a:pPr marL="533400" lvl="0" indent="-533400" algn="l" rtl="0">
              <a:lnSpc>
                <a:spcPct val="80000"/>
              </a:lnSpc>
              <a:spcBef>
                <a:spcPts val="520"/>
              </a:spcBef>
              <a:spcAft>
                <a:spcPts val="0"/>
              </a:spcAft>
              <a:buSzPts val="2600"/>
              <a:buFont typeface="Times New Roman"/>
              <a:buNone/>
            </a:pPr>
            <a:endParaRPr sz="2600" b="0" i="0" u="none" dirty="0">
              <a:solidFill>
                <a:schemeClr val="tx1"/>
              </a:solidFill>
              <a:latin typeface="Times New Roman"/>
              <a:ea typeface="Times New Roman"/>
              <a:cs typeface="Times New Roman"/>
              <a:sym typeface="Times New Roman"/>
            </a:endParaRPr>
          </a:p>
          <a:p>
            <a:pPr marL="533400" lvl="0" indent="-533400" algn="l" rtl="0">
              <a:lnSpc>
                <a:spcPct val="80000"/>
              </a:lnSpc>
              <a:spcBef>
                <a:spcPts val="520"/>
              </a:spcBef>
              <a:spcAft>
                <a:spcPts val="0"/>
              </a:spcAft>
              <a:buSzPts val="2600"/>
              <a:buFont typeface="Times New Roman"/>
              <a:buNone/>
            </a:pPr>
            <a:endParaRPr sz="2600" b="0" i="0" u="none" dirty="0">
              <a:solidFill>
                <a:schemeClr val="tx1"/>
              </a:solidFill>
              <a:latin typeface="Times New Roman"/>
              <a:ea typeface="Times New Roman"/>
              <a:cs typeface="Times New Roman"/>
              <a:sym typeface="Times New Roman"/>
            </a:endParaRPr>
          </a:p>
          <a:p>
            <a:pPr marL="533400" lvl="0" indent="-533400" algn="l" rtl="0">
              <a:lnSpc>
                <a:spcPct val="80000"/>
              </a:lnSpc>
              <a:spcBef>
                <a:spcPts val="520"/>
              </a:spcBef>
              <a:spcAft>
                <a:spcPts val="0"/>
              </a:spcAft>
              <a:buSzPts val="2600"/>
              <a:buFont typeface="Times New Roman"/>
              <a:buNone/>
            </a:pPr>
            <a:endParaRPr sz="2600" b="0" i="0" u="none" dirty="0">
              <a:solidFill>
                <a:schemeClr val="tx1"/>
              </a:solidFill>
              <a:latin typeface="Times New Roman"/>
              <a:ea typeface="Times New Roman"/>
              <a:cs typeface="Times New Roman"/>
              <a:sym typeface="Times New Roman"/>
            </a:endParaRPr>
          </a:p>
          <a:p>
            <a:pPr marL="533400" lvl="0" indent="-533400" algn="l" rtl="0">
              <a:lnSpc>
                <a:spcPct val="80000"/>
              </a:lnSpc>
              <a:spcBef>
                <a:spcPts val="520"/>
              </a:spcBef>
              <a:spcAft>
                <a:spcPts val="0"/>
              </a:spcAft>
              <a:buSzPts val="2600"/>
              <a:buFont typeface="Times New Roman"/>
              <a:buNone/>
            </a:pPr>
            <a:r>
              <a:rPr lang="en-US" sz="2600" b="0" i="0" u="none" dirty="0">
                <a:solidFill>
                  <a:schemeClr val="tx1"/>
                </a:solidFill>
                <a:latin typeface="Times New Roman"/>
                <a:ea typeface="Times New Roman"/>
                <a:cs typeface="Times New Roman"/>
                <a:sym typeface="Times New Roman"/>
              </a:rPr>
              <a:t>approximately follows the chi-square distribution with</a:t>
            </a:r>
            <a:endParaRPr dirty="0">
              <a:solidFill>
                <a:schemeClr val="tx1"/>
              </a:solidFill>
            </a:endParaRPr>
          </a:p>
          <a:p>
            <a:pPr marL="533400" lvl="0" indent="-533400" algn="l" rtl="0">
              <a:lnSpc>
                <a:spcPct val="80000"/>
              </a:lnSpc>
              <a:spcBef>
                <a:spcPts val="520"/>
              </a:spcBef>
              <a:spcAft>
                <a:spcPts val="0"/>
              </a:spcAft>
              <a:buSzPts val="2600"/>
              <a:buFont typeface="Times New Roman"/>
              <a:buNone/>
            </a:pPr>
            <a:r>
              <a:rPr lang="en-US" sz="2600" b="0" i="1" u="none" dirty="0">
                <a:solidFill>
                  <a:schemeClr val="tx1"/>
                </a:solidFill>
                <a:latin typeface="Times New Roman"/>
                <a:ea typeface="Times New Roman"/>
                <a:cs typeface="Times New Roman"/>
                <a:sym typeface="Times New Roman"/>
              </a:rPr>
              <a:t>k</a:t>
            </a:r>
            <a:r>
              <a:rPr lang="en-US" sz="2600" b="0" i="0" u="none" dirty="0">
                <a:solidFill>
                  <a:schemeClr val="tx1"/>
                </a:solidFill>
                <a:latin typeface="Times New Roman"/>
                <a:ea typeface="Times New Roman"/>
                <a:cs typeface="Times New Roman"/>
                <a:sym typeface="Times New Roman"/>
              </a:rPr>
              <a:t> – 1 degrees of freedom, provided that</a:t>
            </a:r>
            <a:endParaRPr dirty="0">
              <a:solidFill>
                <a:schemeClr val="tx1"/>
              </a:solidFill>
            </a:endParaRPr>
          </a:p>
          <a:p>
            <a:pPr marL="533400" lvl="0" indent="-533400" algn="l" rtl="0">
              <a:lnSpc>
                <a:spcPct val="90000"/>
              </a:lnSpc>
              <a:spcBef>
                <a:spcPts val="520"/>
              </a:spcBef>
              <a:spcAft>
                <a:spcPts val="0"/>
              </a:spcAft>
              <a:buClrTx/>
              <a:buSzPts val="2600"/>
              <a:buFont typeface="+mj-lt"/>
              <a:buAutoNum type="arabicPeriod"/>
            </a:pPr>
            <a:r>
              <a:rPr lang="en-US" sz="2600" b="1" i="0" u="none" dirty="0">
                <a:solidFill>
                  <a:schemeClr val="tx1"/>
                </a:solidFill>
                <a:latin typeface="Times New Roman"/>
                <a:ea typeface="Times New Roman"/>
                <a:cs typeface="Times New Roman"/>
                <a:sym typeface="Times New Roman"/>
              </a:rPr>
              <a:t> </a:t>
            </a:r>
            <a:r>
              <a:rPr lang="en-US" sz="2600" b="0" i="0" u="none" dirty="0">
                <a:solidFill>
                  <a:schemeClr val="tx1"/>
                </a:solidFill>
                <a:latin typeface="Times New Roman"/>
                <a:ea typeface="Times New Roman"/>
                <a:cs typeface="Times New Roman"/>
                <a:sym typeface="Times New Roman"/>
              </a:rPr>
              <a:t>all expected frequencies are greater than or equal to 1  </a:t>
            </a:r>
            <a:br>
              <a:rPr lang="en-US" sz="2600" b="0" i="0" u="none" dirty="0">
                <a:solidFill>
                  <a:schemeClr val="tx1"/>
                </a:solidFill>
                <a:latin typeface="Times New Roman"/>
                <a:ea typeface="Times New Roman"/>
                <a:cs typeface="Times New Roman"/>
                <a:sym typeface="Times New Roman"/>
              </a:rPr>
            </a:br>
            <a:r>
              <a:rPr lang="en-US" sz="2600" b="0" i="0" u="none" dirty="0">
                <a:solidFill>
                  <a:schemeClr val="tx1"/>
                </a:solidFill>
                <a:latin typeface="Times New Roman"/>
                <a:ea typeface="Times New Roman"/>
                <a:cs typeface="Times New Roman"/>
                <a:sym typeface="Times New Roman"/>
              </a:rPr>
              <a:t> (all </a:t>
            </a:r>
            <a:r>
              <a:rPr lang="en-US" sz="2600" b="0" i="1" u="none" dirty="0" err="1">
                <a:solidFill>
                  <a:schemeClr val="tx1"/>
                </a:solidFill>
                <a:latin typeface="Times New Roman"/>
                <a:ea typeface="Times New Roman"/>
                <a:cs typeface="Times New Roman"/>
                <a:sym typeface="Times New Roman"/>
              </a:rPr>
              <a:t>E</a:t>
            </a:r>
            <a:r>
              <a:rPr lang="en-US" sz="2600" b="0" i="1" u="none" baseline="-25000" dirty="0" err="1">
                <a:solidFill>
                  <a:schemeClr val="tx1"/>
                </a:solidFill>
                <a:latin typeface="Times New Roman"/>
                <a:ea typeface="Times New Roman"/>
                <a:cs typeface="Times New Roman"/>
                <a:sym typeface="Times New Roman"/>
              </a:rPr>
              <a:t>i</a:t>
            </a:r>
            <a:r>
              <a:rPr lang="en-US" sz="2600" b="0" i="1" u="none" baseline="-25000" dirty="0">
                <a:solidFill>
                  <a:schemeClr val="tx1"/>
                </a:solidFill>
                <a:latin typeface="Times New Roman"/>
                <a:ea typeface="Times New Roman"/>
                <a:cs typeface="Times New Roman"/>
                <a:sym typeface="Times New Roman"/>
              </a:rPr>
              <a:t> </a:t>
            </a:r>
            <a:r>
              <a:rPr lang="en-US" sz="2600" b="0" i="0" u="none" dirty="0">
                <a:solidFill>
                  <a:schemeClr val="tx1"/>
                </a:solidFill>
                <a:latin typeface="Times New Roman"/>
                <a:ea typeface="Times New Roman"/>
                <a:cs typeface="Times New Roman"/>
                <a:sym typeface="Times New Roman"/>
              </a:rPr>
              <a:t>≥ 1) and</a:t>
            </a:r>
            <a:endParaRPr dirty="0">
              <a:solidFill>
                <a:schemeClr val="tx1"/>
              </a:solidFill>
            </a:endParaRPr>
          </a:p>
          <a:p>
            <a:pPr marL="533400" lvl="0" indent="-533400" algn="l" rtl="0">
              <a:lnSpc>
                <a:spcPct val="90000"/>
              </a:lnSpc>
              <a:spcBef>
                <a:spcPts val="520"/>
              </a:spcBef>
              <a:spcAft>
                <a:spcPts val="0"/>
              </a:spcAft>
              <a:buClrTx/>
              <a:buSzPts val="2600"/>
              <a:buFont typeface="+mj-lt"/>
              <a:buAutoNum type="arabicPeriod"/>
            </a:pPr>
            <a:r>
              <a:rPr lang="en-US" sz="2600" b="1" i="0" u="none" dirty="0">
                <a:solidFill>
                  <a:schemeClr val="tx1"/>
                </a:solidFill>
                <a:latin typeface="Times New Roman"/>
                <a:ea typeface="Times New Roman"/>
                <a:cs typeface="Times New Roman"/>
                <a:sym typeface="Times New Roman"/>
              </a:rPr>
              <a:t> </a:t>
            </a:r>
            <a:r>
              <a:rPr lang="en-US" sz="2600" b="0" i="0" u="none" dirty="0">
                <a:solidFill>
                  <a:schemeClr val="tx1"/>
                </a:solidFill>
                <a:latin typeface="Times New Roman"/>
                <a:ea typeface="Times New Roman"/>
                <a:cs typeface="Times New Roman"/>
                <a:sym typeface="Times New Roman"/>
              </a:rPr>
              <a:t>no more than 20% of the expected frequencies are     </a:t>
            </a:r>
            <a:br>
              <a:rPr lang="en-US" sz="2600" b="0" i="0" u="none" dirty="0">
                <a:solidFill>
                  <a:schemeClr val="tx1"/>
                </a:solidFill>
                <a:latin typeface="Times New Roman"/>
                <a:ea typeface="Times New Roman"/>
                <a:cs typeface="Times New Roman"/>
                <a:sym typeface="Times New Roman"/>
              </a:rPr>
            </a:br>
            <a:r>
              <a:rPr lang="en-US" sz="2600" b="0" i="0" u="none" dirty="0">
                <a:solidFill>
                  <a:schemeClr val="tx1"/>
                </a:solidFill>
                <a:latin typeface="Times New Roman"/>
                <a:ea typeface="Times New Roman"/>
                <a:cs typeface="Times New Roman"/>
                <a:sym typeface="Times New Roman"/>
              </a:rPr>
              <a:t> less than 5.</a:t>
            </a:r>
            <a:endParaRPr dirty="0">
              <a:solidFill>
                <a:schemeClr val="tx1"/>
              </a:solidFill>
            </a:endParaRPr>
          </a:p>
          <a:p>
            <a:pPr marL="533400" lvl="0" indent="-533400" algn="l" rtl="0">
              <a:lnSpc>
                <a:spcPct val="90000"/>
              </a:lnSpc>
              <a:spcBef>
                <a:spcPts val="520"/>
              </a:spcBef>
              <a:spcAft>
                <a:spcPts val="0"/>
              </a:spcAft>
              <a:buSzPts val="2600"/>
              <a:buFont typeface="Times New Roman"/>
              <a:buNone/>
            </a:pPr>
            <a:r>
              <a:rPr lang="en-US" sz="2600" b="1" i="0" u="none" dirty="0">
                <a:solidFill>
                  <a:schemeClr val="tx1"/>
                </a:solidFill>
                <a:latin typeface="Times New Roman"/>
                <a:ea typeface="Times New Roman"/>
                <a:cs typeface="Times New Roman"/>
                <a:sym typeface="Times New Roman"/>
              </a:rPr>
              <a:t>Note</a:t>
            </a:r>
            <a:r>
              <a:rPr lang="en-US" sz="2600" b="0" i="0" u="none" dirty="0">
                <a:solidFill>
                  <a:schemeClr val="tx1"/>
                </a:solidFill>
                <a:latin typeface="Times New Roman"/>
                <a:ea typeface="Times New Roman"/>
                <a:cs typeface="Times New Roman"/>
                <a:sym typeface="Times New Roman"/>
              </a:rPr>
              <a:t>: </a:t>
            </a:r>
            <a:r>
              <a:rPr lang="en-US" sz="2600" b="0" i="1" u="none" dirty="0" err="1">
                <a:solidFill>
                  <a:schemeClr val="tx1"/>
                </a:solidFill>
                <a:latin typeface="Times New Roman"/>
                <a:ea typeface="Times New Roman"/>
                <a:cs typeface="Times New Roman"/>
                <a:sym typeface="Times New Roman"/>
              </a:rPr>
              <a:t>E</a:t>
            </a:r>
            <a:r>
              <a:rPr lang="en-US" sz="2600" b="0" i="1" u="none" baseline="-25000" dirty="0" err="1">
                <a:solidFill>
                  <a:schemeClr val="tx1"/>
                </a:solidFill>
                <a:latin typeface="Times New Roman"/>
                <a:ea typeface="Times New Roman"/>
                <a:cs typeface="Times New Roman"/>
                <a:sym typeface="Times New Roman"/>
              </a:rPr>
              <a:t>i</a:t>
            </a:r>
            <a:r>
              <a:rPr lang="en-US" sz="2600" b="0" i="1" u="none" dirty="0">
                <a:solidFill>
                  <a:schemeClr val="tx1"/>
                </a:solidFill>
                <a:latin typeface="Times New Roman"/>
                <a:ea typeface="Times New Roman"/>
                <a:cs typeface="Times New Roman"/>
                <a:sym typeface="Times New Roman"/>
              </a:rPr>
              <a:t> = </a:t>
            </a:r>
            <a:r>
              <a:rPr lang="en-US" sz="2600" b="0" i="1" u="none" dirty="0" err="1">
                <a:solidFill>
                  <a:schemeClr val="tx1"/>
                </a:solidFill>
                <a:latin typeface="Times New Roman"/>
                <a:ea typeface="Times New Roman"/>
                <a:cs typeface="Times New Roman"/>
                <a:sym typeface="Times New Roman"/>
              </a:rPr>
              <a:t>np</a:t>
            </a:r>
            <a:r>
              <a:rPr lang="en-US" sz="2600" b="0" i="1" u="none" baseline="-25000" dirty="0" err="1">
                <a:solidFill>
                  <a:schemeClr val="tx1"/>
                </a:solidFill>
                <a:latin typeface="Times New Roman"/>
                <a:ea typeface="Times New Roman"/>
                <a:cs typeface="Times New Roman"/>
                <a:sym typeface="Times New Roman"/>
              </a:rPr>
              <a:t>i</a:t>
            </a:r>
            <a:r>
              <a:rPr lang="en-US" sz="2600" b="0" i="1" u="none" dirty="0">
                <a:solidFill>
                  <a:schemeClr val="tx1"/>
                </a:solidFill>
                <a:latin typeface="Times New Roman"/>
                <a:ea typeface="Times New Roman"/>
                <a:cs typeface="Times New Roman"/>
                <a:sym typeface="Times New Roman"/>
              </a:rPr>
              <a:t> </a:t>
            </a:r>
            <a:r>
              <a:rPr lang="en-US" sz="2600" b="0" i="0" u="none" dirty="0">
                <a:solidFill>
                  <a:schemeClr val="tx1"/>
                </a:solidFill>
                <a:latin typeface="Times New Roman"/>
                <a:ea typeface="Times New Roman"/>
                <a:cs typeface="Times New Roman"/>
                <a:sym typeface="Times New Roman"/>
              </a:rPr>
              <a:t> for </a:t>
            </a:r>
            <a:r>
              <a:rPr lang="en-US" sz="2600" b="0" i="1" u="none" dirty="0" err="1">
                <a:solidFill>
                  <a:schemeClr val="tx1"/>
                </a:solidFill>
                <a:latin typeface="Times New Roman"/>
                <a:ea typeface="Times New Roman"/>
                <a:cs typeface="Times New Roman"/>
                <a:sym typeface="Times New Roman"/>
              </a:rPr>
              <a:t>i</a:t>
            </a:r>
            <a:r>
              <a:rPr lang="en-US" sz="2600" b="0" i="1" u="none" dirty="0">
                <a:solidFill>
                  <a:schemeClr val="tx1"/>
                </a:solidFill>
                <a:latin typeface="Times New Roman"/>
                <a:ea typeface="Times New Roman"/>
                <a:cs typeface="Times New Roman"/>
                <a:sym typeface="Times New Roman"/>
              </a:rPr>
              <a:t> = </a:t>
            </a:r>
            <a:r>
              <a:rPr lang="en-US" sz="2600" b="0" i="0" u="none" dirty="0">
                <a:solidFill>
                  <a:schemeClr val="tx1"/>
                </a:solidFill>
                <a:latin typeface="Times New Roman"/>
                <a:ea typeface="Times New Roman"/>
                <a:cs typeface="Times New Roman"/>
                <a:sym typeface="Times New Roman"/>
              </a:rPr>
              <a:t>1, 2, … , </a:t>
            </a:r>
            <a:r>
              <a:rPr lang="en-US" sz="2600" b="0" i="1" u="none" dirty="0">
                <a:solidFill>
                  <a:schemeClr val="tx1"/>
                </a:solidFill>
                <a:latin typeface="Times New Roman"/>
                <a:ea typeface="Times New Roman"/>
                <a:cs typeface="Times New Roman"/>
                <a:sym typeface="Times New Roman"/>
              </a:rPr>
              <a:t>k</a:t>
            </a:r>
            <a:endParaRPr dirty="0">
              <a:solidFill>
                <a:schemeClr val="tx1"/>
              </a:solidFill>
            </a:endParaRPr>
          </a:p>
        </p:txBody>
      </p:sp>
      <p:sp>
        <p:nvSpPr>
          <p:cNvPr id="164" name="Google Shape;164;p27"/>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10</a:t>
            </a:fld>
            <a:endParaRPr/>
          </a:p>
        </p:txBody>
      </p:sp>
      <p:graphicFrame>
        <p:nvGraphicFramePr>
          <p:cNvPr id="2" name="Object 1">
            <a:extLst>
              <a:ext uri="{FF2B5EF4-FFF2-40B4-BE49-F238E27FC236}">
                <a16:creationId xmlns:a16="http://schemas.microsoft.com/office/drawing/2014/main" id="{900F169E-86B9-4EFC-891D-EC154CE9C60D}"/>
              </a:ext>
            </a:extLst>
          </p:cNvPr>
          <p:cNvGraphicFramePr>
            <a:graphicFrameLocks noChangeAspect="1"/>
          </p:cNvGraphicFramePr>
          <p:nvPr>
            <p:extLst>
              <p:ext uri="{D42A27DB-BD31-4B8C-83A1-F6EECF244321}">
                <p14:modId xmlns:p14="http://schemas.microsoft.com/office/powerpoint/2010/main" val="3866553298"/>
              </p:ext>
            </p:extLst>
          </p:nvPr>
        </p:nvGraphicFramePr>
        <p:xfrm>
          <a:off x="1683813" y="2276867"/>
          <a:ext cx="5267325" cy="1114425"/>
        </p:xfrm>
        <a:graphic>
          <a:graphicData uri="http://schemas.openxmlformats.org/presentationml/2006/ole">
            <mc:AlternateContent xmlns:mc="http://schemas.openxmlformats.org/markup-compatibility/2006">
              <mc:Choice xmlns:v="urn:schemas-microsoft-com:vml" Requires="v">
                <p:oleObj spid="_x0000_s2188" name="Equation" r:id="rId4" imgW="5267520" imgH="1114265" progId="Equation.DSMT4">
                  <p:embed/>
                </p:oleObj>
              </mc:Choice>
              <mc:Fallback>
                <p:oleObj name="Equation" r:id="rId4" imgW="5267520" imgH="1114265" progId="Equation.DSMT4">
                  <p:embed/>
                  <p:pic>
                    <p:nvPicPr>
                      <p:cNvPr id="0" name=""/>
                      <p:cNvPicPr/>
                      <p:nvPr/>
                    </p:nvPicPr>
                    <p:blipFill>
                      <a:blip r:embed="rId5"/>
                      <a:stretch>
                        <a:fillRect/>
                      </a:stretch>
                    </p:blipFill>
                    <p:spPr>
                      <a:xfrm>
                        <a:off x="1683813" y="2276867"/>
                        <a:ext cx="5267325" cy="1114425"/>
                      </a:xfrm>
                      <a:prstGeom prst="rect">
                        <a:avLst/>
                      </a:prstGeom>
                    </p:spPr>
                  </p:pic>
                </p:oleObj>
              </mc:Fallback>
            </mc:AlternateContent>
          </a:graphicData>
        </a:graphic>
      </p:graphicFrame>
    </p:spTree>
    <p:extLst>
      <p:ext uri="{BB962C8B-B14F-4D97-AF65-F5344CB8AC3E}">
        <p14:creationId xmlns:p14="http://schemas.microsoft.com/office/powerpoint/2010/main" val="2126578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2">
                                            <p:txEl>
                                              <p:pRg st="10" end="10"/>
                                            </p:txEl>
                                          </p:spTgt>
                                        </p:tgtEl>
                                        <p:attrNameLst>
                                          <p:attrName>style.visibility</p:attrName>
                                        </p:attrNameLst>
                                      </p:cBhvr>
                                      <p:to>
                                        <p:strVal val="visible"/>
                                      </p:to>
                                    </p:set>
                                    <p:animEffect transition="in" filter="fade">
                                      <p:cBhvr>
                                        <p:cTn id="7" dur="500"/>
                                        <p:tgtEl>
                                          <p:spTgt spid="162">
                                            <p:txEl>
                                              <p:pRg st="1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2">
                                            <p:txEl>
                                              <p:pRg st="11" end="11"/>
                                            </p:txEl>
                                          </p:spTgt>
                                        </p:tgtEl>
                                        <p:attrNameLst>
                                          <p:attrName>style.visibility</p:attrName>
                                        </p:attrNameLst>
                                      </p:cBhvr>
                                      <p:to>
                                        <p:strVal val="visible"/>
                                      </p:to>
                                    </p:set>
                                    <p:animEffect transition="in" filter="fade">
                                      <p:cBhvr>
                                        <p:cTn id="12" dur="500"/>
                                        <p:tgtEl>
                                          <p:spTgt spid="162">
                                            <p:txEl>
                                              <p:pRg st="11" end="1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2">
                                            <p:txEl>
                                              <p:pRg st="12" end="12"/>
                                            </p:txEl>
                                          </p:spTgt>
                                        </p:tgtEl>
                                        <p:attrNameLst>
                                          <p:attrName>style.visibility</p:attrName>
                                        </p:attrNameLst>
                                      </p:cBhvr>
                                      <p:to>
                                        <p:strVal val="visible"/>
                                      </p:to>
                                    </p:set>
                                    <p:animEffect transition="in" filter="fade">
                                      <p:cBhvr>
                                        <p:cTn id="17" dur="500"/>
                                        <p:tgtEl>
                                          <p:spTgt spid="16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8"/>
          <p:cNvSpPr txBox="1"/>
          <p:nvPr/>
        </p:nvSpPr>
        <p:spPr>
          <a:xfrm>
            <a:off x="457200" y="647307"/>
            <a:ext cx="8229600" cy="3627437"/>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rgbClr val="FF0000"/>
              </a:buClr>
              <a:buSzPts val="3600"/>
              <a:buFont typeface="Times New Roman"/>
              <a:buNone/>
            </a:pPr>
            <a:r>
              <a:rPr lang="en-US" sz="3600" b="1" i="0" u="none" dirty="0">
                <a:solidFill>
                  <a:srgbClr val="A00020"/>
                </a:solidFill>
                <a:latin typeface="+mn-lt"/>
                <a:ea typeface="Times New Roman"/>
                <a:cs typeface="Times New Roman"/>
                <a:sym typeface="Times New Roman"/>
              </a:rPr>
              <a:t>CAUTION!</a:t>
            </a:r>
            <a:endParaRPr dirty="0">
              <a:solidFill>
                <a:srgbClr val="A00020"/>
              </a:solidFill>
              <a:latin typeface="+mn-lt"/>
            </a:endParaRPr>
          </a:p>
          <a:p>
            <a:pPr marL="0" marR="0" lvl="0" indent="0" algn="ctr" rtl="0">
              <a:lnSpc>
                <a:spcPct val="100000"/>
              </a:lnSpc>
              <a:spcBef>
                <a:spcPts val="0"/>
              </a:spcBef>
              <a:spcAft>
                <a:spcPts val="0"/>
              </a:spcAft>
              <a:buClr>
                <a:schemeClr val="dk1"/>
              </a:buClr>
              <a:buSzPts val="3600"/>
              <a:buFont typeface="Arial"/>
              <a:buNone/>
            </a:pPr>
            <a:endParaRPr sz="3600" b="1" i="0" u="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3200"/>
              <a:buFont typeface="Times New Roman"/>
              <a:buNone/>
            </a:pPr>
            <a:r>
              <a:rPr lang="en-US" sz="3200" b="0" i="0" u="none" dirty="0">
                <a:solidFill>
                  <a:schemeClr val="dk1"/>
                </a:solidFill>
                <a:latin typeface="Times New Roman"/>
                <a:ea typeface="Times New Roman"/>
                <a:cs typeface="Times New Roman"/>
                <a:sym typeface="Times New Roman"/>
              </a:rPr>
              <a:t>Goodness-of-fit tests are used to test hypotheses regarding the distribution of a variable based on a single population.  If you wish to compare two or more populations, you must use the tests for homogeneity presented in another section.</a:t>
            </a:r>
            <a:endParaRPr dirty="0"/>
          </a:p>
        </p:txBody>
      </p:sp>
      <p:sp>
        <p:nvSpPr>
          <p:cNvPr id="170" name="Google Shape;170;p28"/>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11</a:t>
            </a:fld>
            <a:endParaRPr/>
          </a:p>
        </p:txBody>
      </p:sp>
    </p:spTree>
    <p:extLst>
      <p:ext uri="{BB962C8B-B14F-4D97-AF65-F5344CB8AC3E}">
        <p14:creationId xmlns:p14="http://schemas.microsoft.com/office/powerpoint/2010/main" val="72736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5" name="Rectangle 4">
            <a:extLst>
              <a:ext uri="{FF2B5EF4-FFF2-40B4-BE49-F238E27FC236}">
                <a16:creationId xmlns:a16="http://schemas.microsoft.com/office/drawing/2014/main" id="{2AD2365B-C0BC-45A7-988D-AF49F69D7115}"/>
              </a:ext>
            </a:extLst>
          </p:cNvPr>
          <p:cNvSpPr/>
          <p:nvPr/>
        </p:nvSpPr>
        <p:spPr>
          <a:xfrm>
            <a:off x="468258" y="273055"/>
            <a:ext cx="8440075" cy="5555090"/>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Google Shape;175;p29"/>
          <p:cNvSpPr txBox="1"/>
          <p:nvPr/>
        </p:nvSpPr>
        <p:spPr>
          <a:xfrm>
            <a:off x="604836" y="1748999"/>
            <a:ext cx="7929561" cy="3540125"/>
          </a:xfrm>
          <a:prstGeom prst="rect">
            <a:avLst/>
          </a:prstGeom>
          <a:noFill/>
          <a:ln>
            <a:noFill/>
          </a:ln>
        </p:spPr>
        <p:txBody>
          <a:bodyPr spcFirstLastPara="1" wrap="square" lIns="91425" tIns="45700" rIns="91425" bIns="45700" anchor="t" anchorCtr="0">
            <a:noAutofit/>
          </a:bodyPr>
          <a:lstStyle/>
          <a:p>
            <a:pPr marL="1431925" marR="0" lvl="0" indent="-1431925" algn="l" rtl="0">
              <a:lnSpc>
                <a:spcPct val="100000"/>
              </a:lnSpc>
              <a:spcBef>
                <a:spcPts val="0"/>
              </a:spcBef>
              <a:spcAft>
                <a:spcPts val="0"/>
              </a:spcAft>
              <a:buClr>
                <a:schemeClr val="accent2"/>
              </a:buClr>
              <a:buSzPts val="3200"/>
              <a:buFont typeface="Times New Roman"/>
              <a:buNone/>
            </a:pPr>
            <a:r>
              <a:rPr lang="en-US" sz="2800" b="1"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Step 1</a:t>
            </a:r>
            <a:r>
              <a:rPr lang="en-US" sz="2800" b="1" i="1" u="none" dirty="0">
                <a:solidFill>
                  <a:schemeClr val="tx1"/>
                </a:solidFill>
                <a:latin typeface="Times New Roman" panose="02020603050405020304" pitchFamily="18" charset="0"/>
                <a:cs typeface="Times New Roman" panose="02020603050405020304" pitchFamily="18" charset="0"/>
                <a:sym typeface="Arial"/>
              </a:rPr>
              <a:t> </a:t>
            </a: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Determine the null and alternative hypotheses:  </a:t>
            </a:r>
            <a:endParaRPr sz="2800" dirty="0">
              <a:solidFill>
                <a:schemeClr val="tx1"/>
              </a:solidFill>
              <a:latin typeface="Times New Roman" panose="02020603050405020304" pitchFamily="18" charset="0"/>
              <a:cs typeface="Times New Roman" panose="02020603050405020304" pitchFamily="18" charset="0"/>
            </a:endParaRPr>
          </a:p>
          <a:p>
            <a:pPr marL="1431925" lvl="0" indent="-1431925">
              <a:buClr>
                <a:schemeClr val="accent2"/>
              </a:buClr>
              <a:buSzPts val="3200"/>
            </a:pP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2800" b="0"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H</a:t>
            </a:r>
            <a:r>
              <a:rPr lang="en-US" sz="2800" b="0" i="0" u="none" baseline="-25000" dirty="0">
                <a:solidFill>
                  <a:schemeClr val="tx1"/>
                </a:solidFill>
                <a:latin typeface="Times New Roman" panose="02020603050405020304" pitchFamily="18" charset="0"/>
                <a:ea typeface="Times New Roman"/>
                <a:cs typeface="Times New Roman" panose="02020603050405020304" pitchFamily="18" charset="0"/>
                <a:sym typeface="Times New Roman"/>
              </a:rPr>
              <a:t>0</a:t>
            </a: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The random variable follows </a:t>
            </a:r>
            <a:r>
              <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rPr>
              <a:t>a certain    </a:t>
            </a:r>
            <a:br>
              <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rPr>
            </a:br>
            <a:r>
              <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distribution.</a:t>
            </a:r>
            <a:endParaRPr sz="2800" dirty="0">
              <a:solidFill>
                <a:schemeClr val="tx1"/>
              </a:solidFill>
              <a:latin typeface="Times New Roman" panose="02020603050405020304" pitchFamily="18" charset="0"/>
              <a:cs typeface="Times New Roman" panose="02020603050405020304" pitchFamily="18" charset="0"/>
            </a:endParaRPr>
          </a:p>
          <a:p>
            <a:pPr marL="1431925" marR="0" lvl="0" indent="-1431925" algn="l" rtl="0">
              <a:lnSpc>
                <a:spcPct val="100000"/>
              </a:lnSpc>
              <a:spcBef>
                <a:spcPts val="0"/>
              </a:spcBef>
              <a:spcAft>
                <a:spcPts val="0"/>
              </a:spcAft>
              <a:buClr>
                <a:schemeClr val="accent2"/>
              </a:buClr>
              <a:buSzPts val="2800"/>
              <a:buFont typeface="Times New Roman"/>
              <a:buNone/>
            </a:pP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2800" b="0"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H</a:t>
            </a:r>
            <a:r>
              <a:rPr lang="en-US" sz="2800" b="0" i="0" u="none" baseline="-25000" dirty="0">
                <a:solidFill>
                  <a:schemeClr val="tx1"/>
                </a:solidFill>
                <a:latin typeface="Times New Roman" panose="02020603050405020304" pitchFamily="18" charset="0"/>
                <a:ea typeface="Times New Roman"/>
                <a:cs typeface="Times New Roman" panose="02020603050405020304" pitchFamily="18" charset="0"/>
                <a:sym typeface="Times New Roman"/>
              </a:rPr>
              <a:t>1</a:t>
            </a: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The random variable does not follow </a:t>
            </a:r>
            <a:b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b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the distribution in the</a:t>
            </a:r>
            <a:r>
              <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null hypothesis.</a:t>
            </a:r>
          </a:p>
          <a:p>
            <a:pPr marL="1431925" marR="0" lvl="0" indent="-1431925" algn="l" rtl="0">
              <a:lnSpc>
                <a:spcPct val="100000"/>
              </a:lnSpc>
              <a:spcBef>
                <a:spcPts val="0"/>
              </a:spcBef>
              <a:spcAft>
                <a:spcPts val="0"/>
              </a:spcAft>
              <a:buClr>
                <a:schemeClr val="accent2"/>
              </a:buClr>
              <a:buSzPts val="2800"/>
              <a:buFont typeface="Times New Roman"/>
              <a:buNone/>
            </a:pPr>
            <a:endParaRPr lang="en-US" sz="2800" dirty="0">
              <a:solidFill>
                <a:schemeClr val="tx1"/>
              </a:solidFill>
              <a:latin typeface="Times New Roman" panose="02020603050405020304" pitchFamily="18" charset="0"/>
              <a:cs typeface="Times New Roman" panose="02020603050405020304" pitchFamily="18" charset="0"/>
              <a:sym typeface="Times New Roman"/>
            </a:endParaRPr>
          </a:p>
          <a:p>
            <a:r>
              <a:rPr lang="en-US" sz="2800" b="1" i="1" dirty="0">
                <a:latin typeface="Times New Roman" panose="02020603050405020304" pitchFamily="18" charset="0"/>
                <a:cs typeface="Times New Roman" panose="02020603050405020304" pitchFamily="18" charset="0"/>
              </a:rPr>
              <a:t>Step 2 </a:t>
            </a:r>
            <a:r>
              <a:rPr lang="en-US" sz="2800" dirty="0">
                <a:latin typeface="Times New Roman" panose="02020603050405020304" pitchFamily="18" charset="0"/>
                <a:cs typeface="Times New Roman" panose="02020603050405020304" pitchFamily="18" charset="0"/>
              </a:rPr>
              <a:t>Decide on a level of significance,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depending on the seriousness of making a Type I error.</a:t>
            </a:r>
            <a:endParaRPr sz="2800" dirty="0">
              <a:solidFill>
                <a:schemeClr val="tx1"/>
              </a:solidFill>
              <a:latin typeface="Times New Roman" panose="02020603050405020304" pitchFamily="18" charset="0"/>
              <a:cs typeface="Times New Roman" panose="02020603050405020304" pitchFamily="18" charset="0"/>
            </a:endParaRPr>
          </a:p>
        </p:txBody>
      </p:sp>
      <p:sp>
        <p:nvSpPr>
          <p:cNvPr id="176" name="Google Shape;176;p29"/>
          <p:cNvSpPr txBox="1"/>
          <p:nvPr/>
        </p:nvSpPr>
        <p:spPr>
          <a:xfrm>
            <a:off x="604837" y="304800"/>
            <a:ext cx="7929562" cy="1589988"/>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chemeClr val="accent2"/>
              </a:buClr>
              <a:buSzPts val="3200"/>
              <a:buFont typeface="Times New Roman"/>
              <a:buNone/>
            </a:pPr>
            <a:r>
              <a:rPr lang="en-US" sz="3200" b="1" i="0" u="none" dirty="0">
                <a:solidFill>
                  <a:schemeClr val="tx1"/>
                </a:solidFill>
                <a:latin typeface="+mn-lt"/>
                <a:ea typeface="Times New Roman"/>
                <a:cs typeface="Times New Roman" panose="02020603050405020304" pitchFamily="18" charset="0"/>
                <a:sym typeface="Times New Roman"/>
              </a:rPr>
              <a:t>The Goodness-of-Fit Test</a:t>
            </a:r>
            <a:br>
              <a:rPr lang="en-US" sz="2800" dirty="0">
                <a:solidFill>
                  <a:schemeClr val="tx1"/>
                </a:solidFill>
                <a:latin typeface="Times New Roman"/>
                <a:ea typeface="Times New Roman"/>
                <a:cs typeface="Times New Roman"/>
                <a:sym typeface="Times New Roman"/>
              </a:rPr>
            </a:b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To test the hypotheses regarding a distribution, </a:t>
            </a:r>
            <a:endParaRPr sz="2800" dirty="0">
              <a:solidFill>
                <a:schemeClr val="tx1"/>
              </a:solidFill>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chemeClr val="dk1"/>
              </a:buClr>
              <a:buSzPts val="3200"/>
              <a:buFont typeface="Times New Roman"/>
              <a:buNone/>
            </a:pP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we use the steps that follow.</a:t>
            </a:r>
            <a:endParaRPr sz="2800" dirty="0">
              <a:solidFill>
                <a:schemeClr val="tx1"/>
              </a:solidFill>
              <a:latin typeface="Times New Roman" panose="02020603050405020304" pitchFamily="18" charset="0"/>
              <a:cs typeface="Times New Roman" panose="02020603050405020304" pitchFamily="18" charset="0"/>
            </a:endParaRPr>
          </a:p>
        </p:txBody>
      </p:sp>
      <p:sp>
        <p:nvSpPr>
          <p:cNvPr id="177" name="Google Shape;177;p2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12</a:t>
            </a:fld>
            <a:endParaRPr/>
          </a:p>
        </p:txBody>
      </p:sp>
    </p:spTree>
    <p:extLst>
      <p:ext uri="{BB962C8B-B14F-4D97-AF65-F5344CB8AC3E}">
        <p14:creationId xmlns:p14="http://schemas.microsoft.com/office/powerpoint/2010/main" val="2355417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5">
                                            <p:txEl>
                                              <p:pRg st="0" end="0"/>
                                            </p:txEl>
                                          </p:spTgt>
                                        </p:tgtEl>
                                        <p:attrNameLst>
                                          <p:attrName>style.visibility</p:attrName>
                                        </p:attrNameLst>
                                      </p:cBhvr>
                                      <p:to>
                                        <p:strVal val="visible"/>
                                      </p:to>
                                    </p:set>
                                    <p:animEffect transition="in" filter="fade">
                                      <p:cBhvr>
                                        <p:cTn id="7" dur="500"/>
                                        <p:tgtEl>
                                          <p:spTgt spid="1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5">
                                            <p:txEl>
                                              <p:pRg st="1" end="1"/>
                                            </p:txEl>
                                          </p:spTgt>
                                        </p:tgtEl>
                                        <p:attrNameLst>
                                          <p:attrName>style.visibility</p:attrName>
                                        </p:attrNameLst>
                                      </p:cBhvr>
                                      <p:to>
                                        <p:strVal val="visible"/>
                                      </p:to>
                                    </p:set>
                                    <p:animEffect transition="in" filter="fade">
                                      <p:cBhvr>
                                        <p:cTn id="12" dur="500"/>
                                        <p:tgtEl>
                                          <p:spTgt spid="175">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75">
                                            <p:txEl>
                                              <p:pRg st="2" end="2"/>
                                            </p:txEl>
                                          </p:spTgt>
                                        </p:tgtEl>
                                        <p:attrNameLst>
                                          <p:attrName>style.visibility</p:attrName>
                                        </p:attrNameLst>
                                      </p:cBhvr>
                                      <p:to>
                                        <p:strVal val="visible"/>
                                      </p:to>
                                    </p:set>
                                    <p:animEffect transition="in" filter="fade">
                                      <p:cBhvr>
                                        <p:cTn id="15" dur="500"/>
                                        <p:tgtEl>
                                          <p:spTgt spid="17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75">
                                            <p:txEl>
                                              <p:pRg st="4" end="4"/>
                                            </p:txEl>
                                          </p:spTgt>
                                        </p:tgtEl>
                                        <p:attrNameLst>
                                          <p:attrName>style.visibility</p:attrName>
                                        </p:attrNameLst>
                                      </p:cBhvr>
                                      <p:to>
                                        <p:strVal val="visible"/>
                                      </p:to>
                                    </p:set>
                                    <p:animEffect transition="in" filter="fade">
                                      <p:cBhvr>
                                        <p:cTn id="20" dur="500"/>
                                        <p:tgtEl>
                                          <p:spTgt spid="17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5" name="Rectangle 4">
            <a:extLst>
              <a:ext uri="{FF2B5EF4-FFF2-40B4-BE49-F238E27FC236}">
                <a16:creationId xmlns:a16="http://schemas.microsoft.com/office/drawing/2014/main" id="{2AD2365B-C0BC-45A7-988D-AF49F69D7115}"/>
              </a:ext>
            </a:extLst>
          </p:cNvPr>
          <p:cNvSpPr/>
          <p:nvPr/>
        </p:nvSpPr>
        <p:spPr>
          <a:xfrm>
            <a:off x="468258" y="263627"/>
            <a:ext cx="8440075" cy="5873221"/>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Google Shape;176;p29"/>
          <p:cNvSpPr txBox="1"/>
          <p:nvPr/>
        </p:nvSpPr>
        <p:spPr>
          <a:xfrm>
            <a:off x="604837" y="304800"/>
            <a:ext cx="7929562" cy="1589988"/>
          </a:xfrm>
          <a:prstGeom prst="rect">
            <a:avLst/>
          </a:prstGeom>
          <a:noFill/>
          <a:ln>
            <a:noFill/>
          </a:ln>
        </p:spPr>
        <p:txBody>
          <a:bodyPr spcFirstLastPara="1" wrap="square" lIns="91425" tIns="45700" rIns="91425" bIns="45700" anchor="t" anchorCtr="0">
            <a:noAutofit/>
          </a:bodyPr>
          <a:lstStyle/>
          <a:p>
            <a:pPr lvl="1">
              <a:buClr>
                <a:schemeClr val="accent2"/>
              </a:buClr>
              <a:buSzPts val="3200"/>
            </a:pPr>
            <a:r>
              <a:rPr lang="en-US" sz="3200" b="1" i="0" u="none" dirty="0">
                <a:solidFill>
                  <a:schemeClr val="tx1"/>
                </a:solidFill>
                <a:latin typeface="+mn-lt"/>
                <a:ea typeface="Times New Roman"/>
                <a:cs typeface="Times New Roman" panose="02020603050405020304" pitchFamily="18" charset="0"/>
                <a:sym typeface="Times New Roman"/>
              </a:rPr>
              <a:t>The Goodness-of-Fit Test</a:t>
            </a:r>
            <a:br>
              <a:rPr lang="en-US" sz="2800" dirty="0">
                <a:solidFill>
                  <a:schemeClr val="tx1"/>
                </a:solidFill>
                <a:latin typeface="Times New Roman"/>
                <a:ea typeface="Times New Roman"/>
                <a:cs typeface="Times New Roman"/>
                <a:sym typeface="Times New Roman"/>
              </a:rPr>
            </a:br>
            <a:r>
              <a:rPr lang="en-US" sz="2800" b="1" i="1" dirty="0">
                <a:solidFill>
                  <a:schemeClr val="tx1"/>
                </a:solidFill>
                <a:latin typeface="Times New Roman" panose="02020603050405020304" pitchFamily="18" charset="0"/>
                <a:ea typeface="Times New Roman"/>
                <a:cs typeface="Times New Roman" panose="02020603050405020304" pitchFamily="18" charset="0"/>
                <a:sym typeface="Times New Roman"/>
              </a:rPr>
              <a:t>Step 3</a:t>
            </a:r>
            <a:endParaRPr lang="en-US" sz="2800" b="1" i="1" dirty="0">
              <a:solidFill>
                <a:schemeClr val="tx1"/>
              </a:solidFill>
              <a:latin typeface="Times New Roman" panose="02020603050405020304" pitchFamily="18" charset="0"/>
              <a:cs typeface="Times New Roman" panose="02020603050405020304" pitchFamily="18" charset="0"/>
            </a:endParaRPr>
          </a:p>
          <a:p>
            <a:pPr lvl="1">
              <a:buClr>
                <a:schemeClr val="accent2"/>
              </a:buClr>
              <a:buSzPts val="3200"/>
            </a:pPr>
            <a:r>
              <a:rPr lang="en-US" sz="2800" b="1" dirty="0">
                <a:solidFill>
                  <a:schemeClr val="tx1"/>
                </a:solidFill>
                <a:latin typeface="Times New Roman" panose="02020603050405020304" pitchFamily="18" charset="0"/>
                <a:ea typeface="Times New Roman"/>
                <a:cs typeface="Times New Roman" panose="02020603050405020304" pitchFamily="18" charset="0"/>
                <a:sym typeface="Times New Roman"/>
              </a:rPr>
              <a:t>(a)  </a:t>
            </a:r>
            <a:r>
              <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rPr>
              <a:t>Calculate the expected counts, </a:t>
            </a:r>
            <a:r>
              <a:rPr lang="en-US" sz="2800" i="1" dirty="0" err="1">
                <a:solidFill>
                  <a:schemeClr val="tx1"/>
                </a:solidFill>
                <a:latin typeface="Times New Roman" panose="02020603050405020304" pitchFamily="18" charset="0"/>
                <a:ea typeface="Times New Roman"/>
                <a:cs typeface="Times New Roman" panose="02020603050405020304" pitchFamily="18" charset="0"/>
                <a:sym typeface="Times New Roman"/>
              </a:rPr>
              <a:t>E</a:t>
            </a:r>
            <a:r>
              <a:rPr lang="en-US" sz="2800" i="1" baseline="-25000" dirty="0" err="1">
                <a:solidFill>
                  <a:schemeClr val="tx1"/>
                </a:solidFill>
                <a:latin typeface="Times New Roman" panose="02020603050405020304" pitchFamily="18" charset="0"/>
                <a:ea typeface="Times New Roman"/>
                <a:cs typeface="Times New Roman" panose="02020603050405020304" pitchFamily="18" charset="0"/>
                <a:sym typeface="Times New Roman"/>
              </a:rPr>
              <a:t>i</a:t>
            </a:r>
            <a:r>
              <a:rPr lang="en-US" sz="2800" i="1" baseline="-25000"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rPr>
              <a:t>, for each of the </a:t>
            </a:r>
            <a:br>
              <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rPr>
            </a:br>
            <a:r>
              <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2800" i="1" dirty="0">
                <a:solidFill>
                  <a:schemeClr val="tx1"/>
                </a:solidFill>
                <a:latin typeface="Times New Roman" panose="02020603050405020304" pitchFamily="18" charset="0"/>
                <a:ea typeface="Times New Roman"/>
                <a:cs typeface="Times New Roman" panose="02020603050405020304" pitchFamily="18" charset="0"/>
                <a:sym typeface="Times New Roman"/>
              </a:rPr>
              <a:t>k</a:t>
            </a:r>
            <a:r>
              <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rPr>
              <a:t> categories.  The expected counts are </a:t>
            </a:r>
            <a:r>
              <a:rPr lang="en-US" sz="2800" i="1" dirty="0" err="1">
                <a:solidFill>
                  <a:schemeClr val="tx1"/>
                </a:solidFill>
                <a:latin typeface="Times New Roman" panose="02020603050405020304" pitchFamily="18" charset="0"/>
                <a:ea typeface="Times New Roman"/>
                <a:cs typeface="Times New Roman" panose="02020603050405020304" pitchFamily="18" charset="0"/>
                <a:sym typeface="Times New Roman"/>
              </a:rPr>
              <a:t>E</a:t>
            </a:r>
            <a:r>
              <a:rPr lang="en-US" sz="2800" i="1" baseline="-25000" dirty="0" err="1">
                <a:solidFill>
                  <a:schemeClr val="tx1"/>
                </a:solidFill>
                <a:latin typeface="Times New Roman" panose="02020603050405020304" pitchFamily="18" charset="0"/>
                <a:ea typeface="Times New Roman"/>
                <a:cs typeface="Times New Roman" panose="02020603050405020304" pitchFamily="18" charset="0"/>
                <a:sym typeface="Times New Roman"/>
              </a:rPr>
              <a:t>i</a:t>
            </a:r>
            <a:r>
              <a:rPr lang="en-US" sz="2800" i="1" baseline="-25000"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2800" i="1" dirty="0" err="1">
                <a:solidFill>
                  <a:schemeClr val="tx1"/>
                </a:solidFill>
                <a:latin typeface="Times New Roman" panose="02020603050405020304" pitchFamily="18" charset="0"/>
                <a:ea typeface="Times New Roman"/>
                <a:cs typeface="Times New Roman" panose="02020603050405020304" pitchFamily="18" charset="0"/>
                <a:sym typeface="Times New Roman"/>
              </a:rPr>
              <a:t>np</a:t>
            </a:r>
            <a:r>
              <a:rPr lang="en-US" sz="2800" i="1" baseline="-25000" dirty="0" err="1">
                <a:solidFill>
                  <a:schemeClr val="tx1"/>
                </a:solidFill>
                <a:latin typeface="Times New Roman" panose="02020603050405020304" pitchFamily="18" charset="0"/>
                <a:ea typeface="Times New Roman"/>
                <a:cs typeface="Times New Roman" panose="02020603050405020304" pitchFamily="18" charset="0"/>
                <a:sym typeface="Times New Roman"/>
              </a:rPr>
              <a:t>i</a:t>
            </a:r>
            <a:r>
              <a:rPr lang="en-US" sz="2800" i="1"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rPr>
              <a:t>for </a:t>
            </a:r>
            <a:br>
              <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rPr>
            </a:br>
            <a:r>
              <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2800" i="1" dirty="0" err="1">
                <a:solidFill>
                  <a:schemeClr val="tx1"/>
                </a:solidFill>
                <a:latin typeface="Times New Roman" panose="02020603050405020304" pitchFamily="18" charset="0"/>
                <a:ea typeface="Times New Roman"/>
                <a:cs typeface="Times New Roman" panose="02020603050405020304" pitchFamily="18" charset="0"/>
                <a:sym typeface="Times New Roman"/>
              </a:rPr>
              <a:t>i</a:t>
            </a:r>
            <a:r>
              <a:rPr lang="en-US" sz="2800" i="1"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rPr>
              <a:t>= 1, 2, … , </a:t>
            </a:r>
            <a:r>
              <a:rPr lang="en-US" sz="2800" i="1" dirty="0">
                <a:solidFill>
                  <a:schemeClr val="tx1"/>
                </a:solidFill>
                <a:latin typeface="Times New Roman" panose="02020603050405020304" pitchFamily="18" charset="0"/>
                <a:ea typeface="Times New Roman"/>
                <a:cs typeface="Times New Roman" panose="02020603050405020304" pitchFamily="18" charset="0"/>
                <a:sym typeface="Times New Roman"/>
              </a:rPr>
              <a:t>k</a:t>
            </a:r>
            <a:r>
              <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rPr>
              <a:t> where </a:t>
            </a:r>
            <a:r>
              <a:rPr lang="en-US" sz="2800" i="1" dirty="0">
                <a:solidFill>
                  <a:schemeClr val="tx1"/>
                </a:solidFill>
                <a:latin typeface="Times New Roman" panose="02020603050405020304" pitchFamily="18" charset="0"/>
                <a:ea typeface="Times New Roman"/>
                <a:cs typeface="Times New Roman" panose="02020603050405020304" pitchFamily="18" charset="0"/>
                <a:sym typeface="Times New Roman"/>
              </a:rPr>
              <a:t>n</a:t>
            </a:r>
            <a:r>
              <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rPr>
              <a:t> is the number of trials and </a:t>
            </a:r>
            <a:br>
              <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rPr>
            </a:br>
            <a:r>
              <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2800" i="1" dirty="0">
                <a:solidFill>
                  <a:schemeClr val="tx1"/>
                </a:solidFill>
                <a:latin typeface="Times New Roman" panose="02020603050405020304" pitchFamily="18" charset="0"/>
                <a:ea typeface="Times New Roman"/>
                <a:cs typeface="Times New Roman" panose="02020603050405020304" pitchFamily="18" charset="0"/>
                <a:sym typeface="Times New Roman"/>
              </a:rPr>
              <a:t>p</a:t>
            </a:r>
            <a:r>
              <a:rPr lang="en-US" sz="2800" i="1" baseline="-25000" dirty="0">
                <a:solidFill>
                  <a:schemeClr val="tx1"/>
                </a:solidFill>
                <a:latin typeface="Times New Roman" panose="02020603050405020304" pitchFamily="18" charset="0"/>
                <a:ea typeface="Times New Roman"/>
                <a:cs typeface="Times New Roman" panose="02020603050405020304" pitchFamily="18" charset="0"/>
                <a:sym typeface="Times New Roman"/>
              </a:rPr>
              <a:t>i</a:t>
            </a:r>
            <a:r>
              <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rPr>
              <a:t> is the probability of the </a:t>
            </a:r>
            <a:r>
              <a:rPr lang="en-US" sz="2800" i="1" dirty="0" err="1">
                <a:solidFill>
                  <a:schemeClr val="tx1"/>
                </a:solidFill>
                <a:latin typeface="Times New Roman" panose="02020603050405020304" pitchFamily="18" charset="0"/>
                <a:ea typeface="Times New Roman"/>
                <a:cs typeface="Times New Roman" panose="02020603050405020304" pitchFamily="18" charset="0"/>
                <a:sym typeface="Times New Roman"/>
              </a:rPr>
              <a:t>i</a:t>
            </a:r>
            <a:r>
              <a:rPr lang="en-US" sz="2800" dirty="0" err="1">
                <a:solidFill>
                  <a:schemeClr val="tx1"/>
                </a:solidFill>
                <a:latin typeface="Times New Roman" panose="02020603050405020304" pitchFamily="18" charset="0"/>
                <a:ea typeface="Times New Roman"/>
                <a:cs typeface="Times New Roman" panose="02020603050405020304" pitchFamily="18" charset="0"/>
                <a:sym typeface="Times New Roman"/>
              </a:rPr>
              <a:t>th</a:t>
            </a:r>
            <a:r>
              <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rPr>
              <a:t> category, assuming </a:t>
            </a:r>
            <a:br>
              <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rPr>
            </a:br>
            <a:r>
              <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rPr>
              <a:t>       that the null hypothesis is true.</a:t>
            </a:r>
            <a:endParaRPr lang="en-US" sz="2800" dirty="0">
              <a:solidFill>
                <a:schemeClr val="tx1"/>
              </a:solidFill>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(b) </a:t>
            </a:r>
            <a:r>
              <a:rPr lang="en-US" sz="2800" dirty="0">
                <a:latin typeface="Times New Roman" panose="02020603050405020304" pitchFamily="18" charset="0"/>
                <a:cs typeface="Times New Roman" panose="02020603050405020304" pitchFamily="18" charset="0"/>
              </a:rPr>
              <a:t>Verify that the requirements for the goodness-of-</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fit test are satisfied.</a:t>
            </a:r>
          </a:p>
          <a:p>
            <a:r>
              <a:rPr lang="en-US" sz="2800" b="1" dirty="0">
                <a:latin typeface="Times New Roman" panose="02020603050405020304" pitchFamily="18" charset="0"/>
                <a:cs typeface="Times New Roman" panose="02020603050405020304" pitchFamily="18" charset="0"/>
              </a:rPr>
              <a:t>	1. </a:t>
            </a:r>
            <a:r>
              <a:rPr lang="en-US" sz="2800" dirty="0">
                <a:latin typeface="Times New Roman" panose="02020603050405020304" pitchFamily="18" charset="0"/>
                <a:cs typeface="Times New Roman" panose="02020603050405020304" pitchFamily="18" charset="0"/>
              </a:rPr>
              <a:t>All expected counts are greater than or equal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to 1 (all</a:t>
            </a:r>
          </a:p>
          <a:p>
            <a:r>
              <a:rPr lang="en-US" sz="2800" b="1" dirty="0">
                <a:latin typeface="Times New Roman" panose="02020603050405020304" pitchFamily="18" charset="0"/>
                <a:cs typeface="Times New Roman" panose="02020603050405020304" pitchFamily="18" charset="0"/>
              </a:rPr>
              <a:t>	2. </a:t>
            </a:r>
            <a:r>
              <a:rPr lang="en-US" sz="2800" dirty="0">
                <a:latin typeface="Times New Roman" panose="02020603050405020304" pitchFamily="18" charset="0"/>
                <a:cs typeface="Times New Roman" panose="02020603050405020304" pitchFamily="18" charset="0"/>
              </a:rPr>
              <a:t>No more than 20% of the expected counts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are less than 5.</a:t>
            </a:r>
            <a:endParaRPr lang="en-US" sz="2800" dirty="0">
              <a:solidFill>
                <a:schemeClr val="tx1"/>
              </a:solidFill>
              <a:latin typeface="Times New Roman" panose="02020603050405020304" pitchFamily="18" charset="0"/>
              <a:cs typeface="Times New Roman" panose="02020603050405020304" pitchFamily="18" charset="0"/>
            </a:endParaRPr>
          </a:p>
        </p:txBody>
      </p:sp>
      <p:sp>
        <p:nvSpPr>
          <p:cNvPr id="177" name="Google Shape;177;p2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13</a:t>
            </a:fld>
            <a:endParaRPr/>
          </a:p>
        </p:txBody>
      </p:sp>
      <p:graphicFrame>
        <p:nvGraphicFramePr>
          <p:cNvPr id="2" name="Object 1">
            <a:extLst>
              <a:ext uri="{FF2B5EF4-FFF2-40B4-BE49-F238E27FC236}">
                <a16:creationId xmlns:a16="http://schemas.microsoft.com/office/drawing/2014/main" id="{832C43A4-1B4D-46F2-9B58-528656B90972}"/>
              </a:ext>
            </a:extLst>
          </p:cNvPr>
          <p:cNvGraphicFramePr>
            <a:graphicFrameLocks noChangeAspect="1"/>
          </p:cNvGraphicFramePr>
          <p:nvPr>
            <p:extLst>
              <p:ext uri="{D42A27DB-BD31-4B8C-83A1-F6EECF244321}">
                <p14:modId xmlns:p14="http://schemas.microsoft.com/office/powerpoint/2010/main" val="3411301828"/>
              </p:ext>
            </p:extLst>
          </p:nvPr>
        </p:nvGraphicFramePr>
        <p:xfrm>
          <a:off x="3068098" y="4709605"/>
          <a:ext cx="1003300" cy="431800"/>
        </p:xfrm>
        <a:graphic>
          <a:graphicData uri="http://schemas.openxmlformats.org/presentationml/2006/ole">
            <mc:AlternateContent xmlns:mc="http://schemas.openxmlformats.org/markup-compatibility/2006">
              <mc:Choice xmlns:v="urn:schemas-microsoft-com:vml" Requires="v">
                <p:oleObj spid="_x0000_s3209" name="Equation" r:id="rId4" imgW="1002960" imgH="431640" progId="Equation.DSMT4">
                  <p:embed/>
                </p:oleObj>
              </mc:Choice>
              <mc:Fallback>
                <p:oleObj name="Equation" r:id="rId4" imgW="1002960" imgH="431640" progId="Equation.DSMT4">
                  <p:embed/>
                  <p:pic>
                    <p:nvPicPr>
                      <p:cNvPr id="0" name=""/>
                      <p:cNvPicPr/>
                      <p:nvPr/>
                    </p:nvPicPr>
                    <p:blipFill>
                      <a:blip r:embed="rId5"/>
                      <a:stretch>
                        <a:fillRect/>
                      </a:stretch>
                    </p:blipFill>
                    <p:spPr>
                      <a:xfrm>
                        <a:off x="3068098" y="4709605"/>
                        <a:ext cx="1003300" cy="431800"/>
                      </a:xfrm>
                      <a:prstGeom prst="rect">
                        <a:avLst/>
                      </a:prstGeom>
                    </p:spPr>
                  </p:pic>
                </p:oleObj>
              </mc:Fallback>
            </mc:AlternateContent>
          </a:graphicData>
        </a:graphic>
      </p:graphicFrame>
    </p:spTree>
    <p:extLst>
      <p:ext uri="{BB962C8B-B14F-4D97-AF65-F5344CB8AC3E}">
        <p14:creationId xmlns:p14="http://schemas.microsoft.com/office/powerpoint/2010/main" val="436695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6">
                                            <p:txEl>
                                              <p:pRg st="2" end="2"/>
                                            </p:txEl>
                                          </p:spTgt>
                                        </p:tgtEl>
                                        <p:attrNameLst>
                                          <p:attrName>style.visibility</p:attrName>
                                        </p:attrNameLst>
                                      </p:cBhvr>
                                      <p:to>
                                        <p:strVal val="visible"/>
                                      </p:to>
                                    </p:set>
                                    <p:animEffect transition="in" filter="fade">
                                      <p:cBhvr>
                                        <p:cTn id="7" dur="500"/>
                                        <p:tgtEl>
                                          <p:spTgt spid="17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6">
                                            <p:txEl>
                                              <p:pRg st="3" end="3"/>
                                            </p:txEl>
                                          </p:spTgt>
                                        </p:tgtEl>
                                        <p:attrNameLst>
                                          <p:attrName>style.visibility</p:attrName>
                                        </p:attrNameLst>
                                      </p:cBhvr>
                                      <p:to>
                                        <p:strVal val="visible"/>
                                      </p:to>
                                    </p:set>
                                    <p:animEffect transition="in" filter="fade">
                                      <p:cBhvr>
                                        <p:cTn id="12" dur="500"/>
                                        <p:tgtEl>
                                          <p:spTgt spid="176">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76">
                                            <p:txEl>
                                              <p:pRg st="4" end="4"/>
                                            </p:txEl>
                                          </p:spTgt>
                                        </p:tgtEl>
                                        <p:attrNameLst>
                                          <p:attrName>style.visibility</p:attrName>
                                        </p:attrNameLst>
                                      </p:cBhvr>
                                      <p:to>
                                        <p:strVal val="visible"/>
                                      </p:to>
                                    </p:set>
                                    <p:animEffect transition="in" filter="fade">
                                      <p:cBhvr>
                                        <p:cTn id="20" dur="500"/>
                                        <p:tgtEl>
                                          <p:spTgt spid="17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4" name="Rectangle 3">
            <a:extLst>
              <a:ext uri="{FF2B5EF4-FFF2-40B4-BE49-F238E27FC236}">
                <a16:creationId xmlns:a16="http://schemas.microsoft.com/office/drawing/2014/main" id="{BCA18674-41C8-4F59-8857-8830EB74DF78}"/>
              </a:ext>
            </a:extLst>
          </p:cNvPr>
          <p:cNvSpPr/>
          <p:nvPr/>
        </p:nvSpPr>
        <p:spPr>
          <a:xfrm>
            <a:off x="468258" y="754144"/>
            <a:ext cx="8440075" cy="3139126"/>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Google Shape;200;p33"/>
          <p:cNvSpPr txBox="1"/>
          <p:nvPr/>
        </p:nvSpPr>
        <p:spPr>
          <a:xfrm>
            <a:off x="678733" y="923826"/>
            <a:ext cx="8229600" cy="2652712"/>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rgbClr val="FF0000"/>
              </a:buClr>
              <a:buSzPts val="3600"/>
              <a:buFont typeface="Times New Roman"/>
              <a:buNone/>
            </a:pPr>
            <a:r>
              <a:rPr lang="en-US" sz="3600" b="1" i="0" u="none" dirty="0">
                <a:solidFill>
                  <a:srgbClr val="A00020"/>
                </a:solidFill>
                <a:latin typeface="+mn-lt"/>
                <a:ea typeface="Times New Roman"/>
                <a:cs typeface="Times New Roman"/>
                <a:sym typeface="Times New Roman"/>
              </a:rPr>
              <a:t>CAUTION!</a:t>
            </a:r>
            <a:endParaRPr dirty="0">
              <a:solidFill>
                <a:srgbClr val="A00020"/>
              </a:solidFill>
              <a:latin typeface="+mn-lt"/>
            </a:endParaRPr>
          </a:p>
          <a:p>
            <a:pPr marL="0" marR="0" lvl="0" indent="0" algn="ctr" rtl="0">
              <a:lnSpc>
                <a:spcPct val="100000"/>
              </a:lnSpc>
              <a:spcBef>
                <a:spcPts val="0"/>
              </a:spcBef>
              <a:spcAft>
                <a:spcPts val="0"/>
              </a:spcAft>
              <a:buClr>
                <a:schemeClr val="dk1"/>
              </a:buClr>
              <a:buSzPts val="3600"/>
              <a:buFont typeface="Arial"/>
              <a:buNone/>
            </a:pPr>
            <a:endParaRPr sz="3600" b="1" i="0" u="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3200"/>
              <a:buFont typeface="Times New Roman"/>
              <a:buNone/>
            </a:pPr>
            <a:r>
              <a:rPr lang="en-US" sz="3200" b="0" i="0" u="none" dirty="0">
                <a:solidFill>
                  <a:schemeClr val="dk1"/>
                </a:solidFill>
                <a:latin typeface="Times New Roman"/>
                <a:ea typeface="Times New Roman"/>
                <a:cs typeface="Times New Roman"/>
                <a:sym typeface="Times New Roman"/>
              </a:rPr>
              <a:t>If the requirements in Step 3(b) are not satisfied, one option is to combine two or more of the low-frequency categories into a single category.</a:t>
            </a:r>
            <a:endParaRPr dirty="0"/>
          </a:p>
        </p:txBody>
      </p:sp>
      <p:sp>
        <p:nvSpPr>
          <p:cNvPr id="201" name="Google Shape;201;p33"/>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14</a:t>
            </a:fld>
            <a:endParaRPr/>
          </a:p>
        </p:txBody>
      </p:sp>
    </p:spTree>
    <p:extLst>
      <p:ext uri="{BB962C8B-B14F-4D97-AF65-F5344CB8AC3E}">
        <p14:creationId xmlns:p14="http://schemas.microsoft.com/office/powerpoint/2010/main" val="216767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5" name="Rectangle 4">
            <a:extLst>
              <a:ext uri="{FF2B5EF4-FFF2-40B4-BE49-F238E27FC236}">
                <a16:creationId xmlns:a16="http://schemas.microsoft.com/office/drawing/2014/main" id="{2AD2365B-C0BC-45A7-988D-AF49F69D7115}"/>
              </a:ext>
            </a:extLst>
          </p:cNvPr>
          <p:cNvSpPr/>
          <p:nvPr/>
        </p:nvSpPr>
        <p:spPr>
          <a:xfrm>
            <a:off x="468258" y="263627"/>
            <a:ext cx="8440075" cy="5873221"/>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Google Shape;176;p29"/>
          <p:cNvSpPr txBox="1"/>
          <p:nvPr/>
        </p:nvSpPr>
        <p:spPr>
          <a:xfrm>
            <a:off x="604837" y="304800"/>
            <a:ext cx="7929562" cy="1589988"/>
          </a:xfrm>
          <a:prstGeom prst="rect">
            <a:avLst/>
          </a:prstGeom>
          <a:noFill/>
          <a:ln>
            <a:noFill/>
          </a:ln>
        </p:spPr>
        <p:txBody>
          <a:bodyPr spcFirstLastPara="1" wrap="square" lIns="91425" tIns="45700" rIns="91425" bIns="45700" anchor="t" anchorCtr="0">
            <a:noAutofit/>
          </a:bodyPr>
          <a:lstStyle/>
          <a:p>
            <a:r>
              <a:rPr lang="en-US" sz="3200" b="1" i="0" u="none" dirty="0">
                <a:solidFill>
                  <a:schemeClr val="tx1"/>
                </a:solidFill>
                <a:latin typeface="+mn-lt"/>
                <a:ea typeface="Times New Roman"/>
                <a:cs typeface="Times New Roman" panose="02020603050405020304" pitchFamily="18" charset="0"/>
                <a:sym typeface="Times New Roman"/>
              </a:rPr>
              <a:t>The Goodness-of-Fit Test</a:t>
            </a:r>
            <a:br>
              <a:rPr lang="en-US" sz="2800" dirty="0">
                <a:solidFill>
                  <a:schemeClr val="tx1"/>
                </a:solidFill>
                <a:latin typeface="Times New Roman"/>
                <a:ea typeface="Times New Roman"/>
                <a:cs typeface="Times New Roman"/>
                <a:sym typeface="Times New Roman"/>
              </a:rPr>
            </a:br>
            <a:r>
              <a:rPr lang="en-US" sz="2800" b="1" dirty="0">
                <a:latin typeface="+mn-lt"/>
                <a:cs typeface="Times New Roman" panose="02020603050405020304" pitchFamily="18" charset="0"/>
              </a:rPr>
              <a:t>Classical Approach</a:t>
            </a:r>
          </a:p>
          <a:p>
            <a:r>
              <a:rPr lang="en-US" sz="2800" b="1" i="1" dirty="0">
                <a:latin typeface="Times New Roman" panose="02020603050405020304" pitchFamily="18" charset="0"/>
                <a:cs typeface="Times New Roman" panose="02020603050405020304" pitchFamily="18" charset="0"/>
              </a:rPr>
              <a:t>Step 3 (continued)</a:t>
            </a:r>
          </a:p>
          <a:p>
            <a:r>
              <a:rPr lang="en-US" sz="2800" b="1" dirty="0">
                <a:latin typeface="Times New Roman" panose="02020603050405020304" pitchFamily="18" charset="0"/>
                <a:cs typeface="Times New Roman" panose="02020603050405020304" pitchFamily="18" charset="0"/>
              </a:rPr>
              <a:t>(c) </a:t>
            </a:r>
            <a:r>
              <a:rPr lang="en-US" sz="2800" dirty="0">
                <a:latin typeface="Times New Roman" panose="02020603050405020304" pitchFamily="18" charset="0"/>
                <a:cs typeface="Times New Roman" panose="02020603050405020304" pitchFamily="18" charset="0"/>
              </a:rPr>
              <a:t>Compute the </a:t>
            </a:r>
            <a:r>
              <a:rPr lang="en-US" sz="2800" b="1" dirty="0">
                <a:latin typeface="Times New Roman" panose="02020603050405020304" pitchFamily="18" charset="0"/>
                <a:cs typeface="Times New Roman" panose="02020603050405020304" pitchFamily="18" charset="0"/>
              </a:rPr>
              <a:t>test statistic</a:t>
            </a:r>
          </a:p>
          <a:p>
            <a:endParaRPr lang="en-US" sz="2800" b="1" dirty="0">
              <a:solidFill>
                <a:schemeClr val="tx1"/>
              </a:solidFill>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Note: </a:t>
            </a:r>
            <a:r>
              <a:rPr lang="en-US" sz="2800" i="1" dirty="0">
                <a:latin typeface="Times New Roman" panose="02020603050405020304" pitchFamily="18" charset="0"/>
                <a:cs typeface="Times New Roman" panose="02020603050405020304" pitchFamily="18" charset="0"/>
              </a:rPr>
              <a:t>O</a:t>
            </a:r>
            <a:r>
              <a:rPr lang="en-US" sz="2800" i="1" baseline="-25000" dirty="0">
                <a:solidFill>
                  <a:schemeClr val="tx1"/>
                </a:solidFill>
                <a:latin typeface="Times New Roman" panose="02020603050405020304" pitchFamily="18" charset="0"/>
                <a:ea typeface="Times New Roman"/>
                <a:cs typeface="Times New Roman" panose="02020603050405020304" pitchFamily="18" charset="0"/>
                <a:sym typeface="Times New Roman"/>
              </a:rPr>
              <a:t>i</a:t>
            </a:r>
            <a:r>
              <a:rPr lang="en-US" sz="2800" i="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is the observed count for the </a:t>
            </a:r>
            <a:r>
              <a:rPr lang="en-US" sz="2800" i="1" dirty="0" err="1">
                <a:latin typeface="Times New Roman" panose="02020603050405020304" pitchFamily="18" charset="0"/>
                <a:cs typeface="Times New Roman" panose="02020603050405020304" pitchFamily="18" charset="0"/>
              </a:rPr>
              <a:t>i</a:t>
            </a:r>
            <a:r>
              <a:rPr lang="en-US" sz="2800" dirty="0" err="1">
                <a:latin typeface="Times New Roman" panose="02020603050405020304" pitchFamily="18" charset="0"/>
                <a:cs typeface="Times New Roman" panose="02020603050405020304" pitchFamily="18" charset="0"/>
              </a:rPr>
              <a:t>th</a:t>
            </a:r>
            <a:r>
              <a:rPr lang="en-US" sz="2800" dirty="0">
                <a:latin typeface="Times New Roman" panose="02020603050405020304" pitchFamily="18" charset="0"/>
                <a:cs typeface="Times New Roman" panose="02020603050405020304" pitchFamily="18" charset="0"/>
              </a:rPr>
              <a:t> category.</a:t>
            </a:r>
          </a:p>
          <a:p>
            <a:endParaRPr lang="en-US" sz="2800" dirty="0">
              <a:latin typeface="Times New Roman" panose="02020603050405020304" pitchFamily="18" charset="0"/>
              <a:cs typeface="Times New Roman" panose="02020603050405020304" pitchFamily="18" charset="0"/>
            </a:endParaRPr>
          </a:p>
          <a:p>
            <a:r>
              <a:rPr lang="en-US" sz="2800" b="1" i="1" dirty="0">
                <a:latin typeface="Times New Roman" panose="02020603050405020304" pitchFamily="18" charset="0"/>
                <a:cs typeface="Times New Roman" panose="02020603050405020304" pitchFamily="18" charset="0"/>
              </a:rPr>
              <a:t>Step 4 </a:t>
            </a:r>
            <a:r>
              <a:rPr lang="en-US" sz="2800" dirty="0">
                <a:latin typeface="Times New Roman" panose="02020603050405020304" pitchFamily="18" charset="0"/>
                <a:cs typeface="Times New Roman" panose="02020603050405020304" pitchFamily="18" charset="0"/>
              </a:rPr>
              <a:t>Determine the critical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value using Table VIII. All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goodness-of-fit tests are right-</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tailed tests, so the critical value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is       with </a:t>
            </a:r>
            <a:r>
              <a:rPr lang="en-US" sz="2800" i="1" dirty="0">
                <a:latin typeface="Times New Roman" panose="02020603050405020304" pitchFamily="18" charset="0"/>
                <a:cs typeface="Times New Roman" panose="02020603050405020304" pitchFamily="18" charset="0"/>
              </a:rPr>
              <a:t>k </a:t>
            </a:r>
            <a:r>
              <a:rPr lang="en-US" sz="2800" dirty="0">
                <a:latin typeface="Times New Roman" panose="02020603050405020304" pitchFamily="18" charset="0"/>
                <a:cs typeface="Times New Roman" panose="02020603050405020304" pitchFamily="18" charset="0"/>
              </a:rPr>
              <a:t>– 1 degrees of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freedom. </a:t>
            </a:r>
          </a:p>
        </p:txBody>
      </p:sp>
      <p:sp>
        <p:nvSpPr>
          <p:cNvPr id="177" name="Google Shape;177;p2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15</a:t>
            </a:fld>
            <a:endParaRPr/>
          </a:p>
        </p:txBody>
      </p:sp>
      <p:graphicFrame>
        <p:nvGraphicFramePr>
          <p:cNvPr id="4" name="Object 3">
            <a:extLst>
              <a:ext uri="{FF2B5EF4-FFF2-40B4-BE49-F238E27FC236}">
                <a16:creationId xmlns:a16="http://schemas.microsoft.com/office/drawing/2014/main" id="{3DE78D12-90DB-40AF-BEF7-BD7EB5667197}"/>
              </a:ext>
            </a:extLst>
          </p:cNvPr>
          <p:cNvGraphicFramePr>
            <a:graphicFrameLocks noChangeAspect="1"/>
          </p:cNvGraphicFramePr>
          <p:nvPr>
            <p:extLst>
              <p:ext uri="{D42A27DB-BD31-4B8C-83A1-F6EECF244321}">
                <p14:modId xmlns:p14="http://schemas.microsoft.com/office/powerpoint/2010/main" val="2669225215"/>
              </p:ext>
            </p:extLst>
          </p:nvPr>
        </p:nvGraphicFramePr>
        <p:xfrm>
          <a:off x="5156200" y="1361388"/>
          <a:ext cx="2641600" cy="1066800"/>
        </p:xfrm>
        <a:graphic>
          <a:graphicData uri="http://schemas.openxmlformats.org/presentationml/2006/ole">
            <mc:AlternateContent xmlns:mc="http://schemas.openxmlformats.org/markup-compatibility/2006">
              <mc:Choice xmlns:v="urn:schemas-microsoft-com:vml" Requires="v">
                <p:oleObj spid="_x0000_s4367" name="Equation" r:id="rId4" imgW="2641320" imgH="1066680" progId="Equation.DSMT4">
                  <p:embed/>
                </p:oleObj>
              </mc:Choice>
              <mc:Fallback>
                <p:oleObj name="Equation" r:id="rId4" imgW="2641320" imgH="1066680" progId="Equation.DSMT4">
                  <p:embed/>
                  <p:pic>
                    <p:nvPicPr>
                      <p:cNvPr id="0" name=""/>
                      <p:cNvPicPr/>
                      <p:nvPr/>
                    </p:nvPicPr>
                    <p:blipFill>
                      <a:blip r:embed="rId5"/>
                      <a:stretch>
                        <a:fillRect/>
                      </a:stretch>
                    </p:blipFill>
                    <p:spPr>
                      <a:xfrm>
                        <a:off x="5156200" y="1361388"/>
                        <a:ext cx="2641600" cy="10668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3B6B9703-B3FF-424B-BA26-55980DFF5C9E}"/>
              </a:ext>
            </a:extLst>
          </p:cNvPr>
          <p:cNvGraphicFramePr>
            <a:graphicFrameLocks noChangeAspect="1"/>
          </p:cNvGraphicFramePr>
          <p:nvPr>
            <p:extLst>
              <p:ext uri="{D42A27DB-BD31-4B8C-83A1-F6EECF244321}">
                <p14:modId xmlns:p14="http://schemas.microsoft.com/office/powerpoint/2010/main" val="1984875667"/>
              </p:ext>
            </p:extLst>
          </p:nvPr>
        </p:nvGraphicFramePr>
        <p:xfrm>
          <a:off x="1066408" y="5073159"/>
          <a:ext cx="406400" cy="469900"/>
        </p:xfrm>
        <a:graphic>
          <a:graphicData uri="http://schemas.openxmlformats.org/presentationml/2006/ole">
            <mc:AlternateContent xmlns:mc="http://schemas.openxmlformats.org/markup-compatibility/2006">
              <mc:Choice xmlns:v="urn:schemas-microsoft-com:vml" Requires="v">
                <p:oleObj spid="_x0000_s4368" name="Equation" r:id="rId6" imgW="406080" imgH="469800" progId="Equation.DSMT4">
                  <p:embed/>
                </p:oleObj>
              </mc:Choice>
              <mc:Fallback>
                <p:oleObj name="Equation" r:id="rId6" imgW="406080" imgH="469800" progId="Equation.DSMT4">
                  <p:embed/>
                  <p:pic>
                    <p:nvPicPr>
                      <p:cNvPr id="0" name=""/>
                      <p:cNvPicPr/>
                      <p:nvPr/>
                    </p:nvPicPr>
                    <p:blipFill>
                      <a:blip r:embed="rId7"/>
                      <a:stretch>
                        <a:fillRect/>
                      </a:stretch>
                    </p:blipFill>
                    <p:spPr>
                      <a:xfrm>
                        <a:off x="1066408" y="5073159"/>
                        <a:ext cx="406400" cy="469900"/>
                      </a:xfrm>
                      <a:prstGeom prst="rect">
                        <a:avLst/>
                      </a:prstGeom>
                    </p:spPr>
                  </p:pic>
                </p:oleObj>
              </mc:Fallback>
            </mc:AlternateContent>
          </a:graphicData>
        </a:graphic>
      </p:graphicFrame>
      <p:pic>
        <p:nvPicPr>
          <p:cNvPr id="10" name="Picture 9" descr="A close up of a logo&#10;&#10;Description automatically generated">
            <a:extLst>
              <a:ext uri="{FF2B5EF4-FFF2-40B4-BE49-F238E27FC236}">
                <a16:creationId xmlns:a16="http://schemas.microsoft.com/office/drawing/2014/main" id="{CEB3E827-546D-4E55-9060-AF9170ED2162}"/>
              </a:ext>
            </a:extLst>
          </p:cNvPr>
          <p:cNvPicPr>
            <a:picLocks noChangeAspect="1"/>
          </p:cNvPicPr>
          <p:nvPr/>
        </p:nvPicPr>
        <p:blipFill>
          <a:blip r:embed="rId8"/>
          <a:stretch>
            <a:fillRect/>
          </a:stretch>
        </p:blipFill>
        <p:spPr>
          <a:xfrm>
            <a:off x="5396135" y="3337187"/>
            <a:ext cx="3398722" cy="26206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1689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6">
                                            <p:txEl>
                                              <p:pRg st="4" end="4"/>
                                            </p:txEl>
                                          </p:spTgt>
                                        </p:tgtEl>
                                        <p:attrNameLst>
                                          <p:attrName>style.visibility</p:attrName>
                                        </p:attrNameLst>
                                      </p:cBhvr>
                                      <p:to>
                                        <p:strVal val="visible"/>
                                      </p:to>
                                    </p:set>
                                    <p:animEffect transition="in" filter="fade">
                                      <p:cBhvr>
                                        <p:cTn id="7" dur="500"/>
                                        <p:tgtEl>
                                          <p:spTgt spid="176">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6">
                                            <p:txEl>
                                              <p:pRg st="6" end="6"/>
                                            </p:txEl>
                                          </p:spTgt>
                                        </p:tgtEl>
                                        <p:attrNameLst>
                                          <p:attrName>style.visibility</p:attrName>
                                        </p:attrNameLst>
                                      </p:cBhvr>
                                      <p:to>
                                        <p:strVal val="visible"/>
                                      </p:to>
                                    </p:set>
                                    <p:animEffect transition="in" filter="fade">
                                      <p:cBhvr>
                                        <p:cTn id="12" dur="500"/>
                                        <p:tgtEl>
                                          <p:spTgt spid="176">
                                            <p:txEl>
                                              <p:pRg st="6" end="6"/>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5" name="Rectangle 4">
            <a:extLst>
              <a:ext uri="{FF2B5EF4-FFF2-40B4-BE49-F238E27FC236}">
                <a16:creationId xmlns:a16="http://schemas.microsoft.com/office/drawing/2014/main" id="{2AD2365B-C0BC-45A7-988D-AF49F69D7115}"/>
              </a:ext>
            </a:extLst>
          </p:cNvPr>
          <p:cNvSpPr/>
          <p:nvPr/>
        </p:nvSpPr>
        <p:spPr>
          <a:xfrm>
            <a:off x="468258" y="263627"/>
            <a:ext cx="8440075" cy="3563655"/>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Google Shape;176;p29"/>
          <p:cNvSpPr txBox="1"/>
          <p:nvPr/>
        </p:nvSpPr>
        <p:spPr>
          <a:xfrm>
            <a:off x="604837" y="304800"/>
            <a:ext cx="7929562" cy="1589988"/>
          </a:xfrm>
          <a:prstGeom prst="rect">
            <a:avLst/>
          </a:prstGeom>
          <a:noFill/>
          <a:ln>
            <a:noFill/>
          </a:ln>
        </p:spPr>
        <p:txBody>
          <a:bodyPr spcFirstLastPara="1" wrap="square" lIns="91425" tIns="45700" rIns="91425" bIns="45700" anchor="t" anchorCtr="0">
            <a:noAutofit/>
          </a:bodyPr>
          <a:lstStyle/>
          <a:p>
            <a:r>
              <a:rPr lang="en-US" sz="3200" b="1" i="0" u="none" dirty="0">
                <a:solidFill>
                  <a:schemeClr val="tx1"/>
                </a:solidFill>
                <a:latin typeface="+mn-lt"/>
                <a:ea typeface="Times New Roman"/>
                <a:cs typeface="Times New Roman" panose="02020603050405020304" pitchFamily="18" charset="0"/>
                <a:sym typeface="Times New Roman"/>
              </a:rPr>
              <a:t>The Goodness-of-Fit Test</a:t>
            </a:r>
            <a:br>
              <a:rPr lang="en-US" sz="2800" dirty="0">
                <a:solidFill>
                  <a:schemeClr val="tx1"/>
                </a:solidFill>
                <a:latin typeface="Times New Roman"/>
                <a:ea typeface="Times New Roman"/>
                <a:cs typeface="Times New Roman"/>
                <a:sym typeface="Times New Roman"/>
              </a:rPr>
            </a:br>
            <a:r>
              <a:rPr lang="en-US" sz="2800" b="1" dirty="0">
                <a:latin typeface="+mn-lt"/>
                <a:cs typeface="Times New Roman" panose="02020603050405020304" pitchFamily="18" charset="0"/>
              </a:rPr>
              <a:t>Classical Approach</a:t>
            </a:r>
          </a:p>
          <a:p>
            <a:r>
              <a:rPr lang="en-US" sz="2800" dirty="0">
                <a:latin typeface="Times New Roman" panose="02020603050405020304" pitchFamily="18" charset="0"/>
                <a:cs typeface="Times New Roman" panose="02020603050405020304" pitchFamily="18" charset="0"/>
              </a:rPr>
              <a:t>Compare the critical value to the statistic. If          reject the null hypothesis.</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r>
              <a:rPr lang="en-US" sz="2800" b="1" i="1" dirty="0">
                <a:latin typeface="Times New Roman" panose="02020603050405020304" pitchFamily="18" charset="0"/>
                <a:cs typeface="Times New Roman" panose="02020603050405020304" pitchFamily="18" charset="0"/>
              </a:rPr>
              <a:t>Step 5 </a:t>
            </a:r>
            <a:r>
              <a:rPr lang="en-US" sz="2800" dirty="0">
                <a:latin typeface="Times New Roman" panose="02020603050405020304" pitchFamily="18" charset="0"/>
                <a:cs typeface="Times New Roman" panose="02020603050405020304" pitchFamily="18" charset="0"/>
              </a:rPr>
              <a:t>State the conclusion.</a:t>
            </a:r>
          </a:p>
        </p:txBody>
      </p:sp>
      <p:sp>
        <p:nvSpPr>
          <p:cNvPr id="177" name="Google Shape;177;p2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16</a:t>
            </a:fld>
            <a:endParaRPr/>
          </a:p>
        </p:txBody>
      </p:sp>
      <p:graphicFrame>
        <p:nvGraphicFramePr>
          <p:cNvPr id="6" name="Object 5">
            <a:extLst>
              <a:ext uri="{FF2B5EF4-FFF2-40B4-BE49-F238E27FC236}">
                <a16:creationId xmlns:a16="http://schemas.microsoft.com/office/drawing/2014/main" id="{3B6B9703-B3FF-424B-BA26-55980DFF5C9E}"/>
              </a:ext>
            </a:extLst>
          </p:cNvPr>
          <p:cNvGraphicFramePr>
            <a:graphicFrameLocks noChangeAspect="1"/>
          </p:cNvGraphicFramePr>
          <p:nvPr>
            <p:extLst>
              <p:ext uri="{D42A27DB-BD31-4B8C-83A1-F6EECF244321}">
                <p14:modId xmlns:p14="http://schemas.microsoft.com/office/powerpoint/2010/main" val="1494124829"/>
              </p:ext>
            </p:extLst>
          </p:nvPr>
        </p:nvGraphicFramePr>
        <p:xfrm>
          <a:off x="7063099" y="1198759"/>
          <a:ext cx="1270000" cy="469900"/>
        </p:xfrm>
        <a:graphic>
          <a:graphicData uri="http://schemas.openxmlformats.org/presentationml/2006/ole">
            <mc:AlternateContent xmlns:mc="http://schemas.openxmlformats.org/markup-compatibility/2006">
              <mc:Choice xmlns:v="urn:schemas-microsoft-com:vml" Requires="v">
                <p:oleObj spid="_x0000_s6279" name="Equation" r:id="rId4" imgW="1269720" imgH="469800" progId="Equation.DSMT4">
                  <p:embed/>
                </p:oleObj>
              </mc:Choice>
              <mc:Fallback>
                <p:oleObj name="Equation" r:id="rId4" imgW="1269720" imgH="469800" progId="Equation.DSMT4">
                  <p:embed/>
                  <p:pic>
                    <p:nvPicPr>
                      <p:cNvPr id="6" name="Object 5">
                        <a:extLst>
                          <a:ext uri="{FF2B5EF4-FFF2-40B4-BE49-F238E27FC236}">
                            <a16:creationId xmlns:a16="http://schemas.microsoft.com/office/drawing/2014/main" id="{3B6B9703-B3FF-424B-BA26-55980DFF5C9E}"/>
                          </a:ext>
                        </a:extLst>
                      </p:cNvPr>
                      <p:cNvPicPr/>
                      <p:nvPr/>
                    </p:nvPicPr>
                    <p:blipFill>
                      <a:blip r:embed="rId5"/>
                      <a:stretch>
                        <a:fillRect/>
                      </a:stretch>
                    </p:blipFill>
                    <p:spPr>
                      <a:xfrm>
                        <a:off x="7063099" y="1198759"/>
                        <a:ext cx="1270000" cy="469900"/>
                      </a:xfrm>
                      <a:prstGeom prst="rect">
                        <a:avLst/>
                      </a:prstGeom>
                    </p:spPr>
                  </p:pic>
                </p:oleObj>
              </mc:Fallback>
            </mc:AlternateContent>
          </a:graphicData>
        </a:graphic>
      </p:graphicFrame>
    </p:spTree>
    <p:extLst>
      <p:ext uri="{BB962C8B-B14F-4D97-AF65-F5344CB8AC3E}">
        <p14:creationId xmlns:p14="http://schemas.microsoft.com/office/powerpoint/2010/main" val="3806911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6">
                                            <p:txEl>
                                              <p:pRg st="4" end="4"/>
                                            </p:txEl>
                                          </p:spTgt>
                                        </p:tgtEl>
                                        <p:attrNameLst>
                                          <p:attrName>style.visibility</p:attrName>
                                        </p:attrNameLst>
                                      </p:cBhvr>
                                      <p:to>
                                        <p:strVal val="visible"/>
                                      </p:to>
                                    </p:set>
                                    <p:animEffect transition="in" filter="fade">
                                      <p:cBhvr>
                                        <p:cTn id="7" dur="500"/>
                                        <p:tgtEl>
                                          <p:spTgt spid="17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5" name="Rectangle 4">
            <a:extLst>
              <a:ext uri="{FF2B5EF4-FFF2-40B4-BE49-F238E27FC236}">
                <a16:creationId xmlns:a16="http://schemas.microsoft.com/office/drawing/2014/main" id="{2AD2365B-C0BC-45A7-988D-AF49F69D7115}"/>
              </a:ext>
            </a:extLst>
          </p:cNvPr>
          <p:cNvSpPr/>
          <p:nvPr/>
        </p:nvSpPr>
        <p:spPr>
          <a:xfrm>
            <a:off x="468258" y="263627"/>
            <a:ext cx="8440075" cy="5873221"/>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Google Shape;176;p29"/>
          <p:cNvSpPr txBox="1"/>
          <p:nvPr/>
        </p:nvSpPr>
        <p:spPr>
          <a:xfrm>
            <a:off x="604837" y="304800"/>
            <a:ext cx="7929562" cy="1589988"/>
          </a:xfrm>
          <a:prstGeom prst="rect">
            <a:avLst/>
          </a:prstGeom>
          <a:noFill/>
          <a:ln>
            <a:noFill/>
          </a:ln>
        </p:spPr>
        <p:txBody>
          <a:bodyPr spcFirstLastPara="1" wrap="square" lIns="91425" tIns="45700" rIns="91425" bIns="45700" anchor="t" anchorCtr="0">
            <a:noAutofit/>
          </a:bodyPr>
          <a:lstStyle/>
          <a:p>
            <a:r>
              <a:rPr lang="en-US" sz="3200" b="1" i="0" u="none" dirty="0">
                <a:solidFill>
                  <a:schemeClr val="tx1"/>
                </a:solidFill>
                <a:latin typeface="+mn-lt"/>
                <a:ea typeface="Times New Roman"/>
                <a:cs typeface="Times New Roman" panose="02020603050405020304" pitchFamily="18" charset="0"/>
                <a:sym typeface="Times New Roman"/>
              </a:rPr>
              <a:t>The Goodness-of-Fit Test</a:t>
            </a:r>
            <a:br>
              <a:rPr lang="en-US" sz="2800" dirty="0">
                <a:solidFill>
                  <a:schemeClr val="tx1"/>
                </a:solidFill>
                <a:latin typeface="Times New Roman"/>
                <a:ea typeface="Times New Roman"/>
                <a:cs typeface="Times New Roman"/>
                <a:sym typeface="Times New Roman"/>
              </a:rPr>
            </a:br>
            <a:r>
              <a:rPr lang="en-US" sz="2800" b="1" i="1" dirty="0">
                <a:latin typeface="+mn-lt"/>
                <a:cs typeface="Times New Roman" panose="02020603050405020304" pitchFamily="18" charset="0"/>
              </a:rPr>
              <a:t>P</a:t>
            </a:r>
            <a:r>
              <a:rPr lang="en-US" sz="2800" b="1" dirty="0">
                <a:latin typeface="+mn-lt"/>
                <a:cs typeface="Times New Roman" panose="02020603050405020304" pitchFamily="18" charset="0"/>
              </a:rPr>
              <a:t>-Value Approach</a:t>
            </a:r>
          </a:p>
          <a:p>
            <a:r>
              <a:rPr lang="en-US" sz="2800" b="1" i="1" dirty="0">
                <a:latin typeface="Times New Roman" panose="02020603050405020304" pitchFamily="18" charset="0"/>
                <a:cs typeface="Times New Roman" panose="02020603050405020304" pitchFamily="18" charset="0"/>
              </a:rPr>
              <a:t>By hand Step 3 (continued)</a:t>
            </a:r>
          </a:p>
          <a:p>
            <a:r>
              <a:rPr lang="en-US" sz="2800" b="1" dirty="0">
                <a:latin typeface="Times New Roman" panose="02020603050405020304" pitchFamily="18" charset="0"/>
                <a:cs typeface="Times New Roman" panose="02020603050405020304" pitchFamily="18" charset="0"/>
              </a:rPr>
              <a:t>(c) </a:t>
            </a:r>
            <a:r>
              <a:rPr lang="en-US" sz="2800" dirty="0">
                <a:latin typeface="Times New Roman" panose="02020603050405020304" pitchFamily="18" charset="0"/>
                <a:cs typeface="Times New Roman" panose="02020603050405020304" pitchFamily="18" charset="0"/>
              </a:rPr>
              <a:t>Compute the </a:t>
            </a:r>
            <a:r>
              <a:rPr lang="en-US" sz="2800" b="1" dirty="0">
                <a:latin typeface="Times New Roman" panose="02020603050405020304" pitchFamily="18" charset="0"/>
                <a:cs typeface="Times New Roman" panose="02020603050405020304" pitchFamily="18" charset="0"/>
              </a:rPr>
              <a:t>test statistic</a:t>
            </a:r>
          </a:p>
          <a:p>
            <a:endParaRPr lang="en-US" sz="2800" b="1" dirty="0">
              <a:solidFill>
                <a:schemeClr val="tx1"/>
              </a:solidFill>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Note: </a:t>
            </a:r>
            <a:r>
              <a:rPr lang="en-US" sz="2800" i="1" dirty="0">
                <a:latin typeface="Times New Roman" panose="02020603050405020304" pitchFamily="18" charset="0"/>
                <a:cs typeface="Times New Roman" panose="02020603050405020304" pitchFamily="18" charset="0"/>
              </a:rPr>
              <a:t>O</a:t>
            </a:r>
            <a:r>
              <a:rPr lang="en-US" sz="2800" i="1" baseline="-25000" dirty="0">
                <a:solidFill>
                  <a:schemeClr val="tx1"/>
                </a:solidFill>
                <a:latin typeface="Times New Roman" panose="02020603050405020304" pitchFamily="18" charset="0"/>
                <a:ea typeface="Times New Roman"/>
                <a:cs typeface="Times New Roman" panose="02020603050405020304" pitchFamily="18" charset="0"/>
                <a:sym typeface="Times New Roman"/>
              </a:rPr>
              <a:t>i</a:t>
            </a:r>
            <a:r>
              <a:rPr lang="en-US" sz="2800" i="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is the observed count for the </a:t>
            </a:r>
            <a:r>
              <a:rPr lang="en-US" sz="2800" i="1" dirty="0" err="1">
                <a:latin typeface="Times New Roman" panose="02020603050405020304" pitchFamily="18" charset="0"/>
                <a:cs typeface="Times New Roman" panose="02020603050405020304" pitchFamily="18" charset="0"/>
              </a:rPr>
              <a:t>i</a:t>
            </a:r>
            <a:r>
              <a:rPr lang="en-US" sz="2800" dirty="0" err="1">
                <a:latin typeface="Times New Roman" panose="02020603050405020304" pitchFamily="18" charset="0"/>
                <a:cs typeface="Times New Roman" panose="02020603050405020304" pitchFamily="18" charset="0"/>
              </a:rPr>
              <a:t>th</a:t>
            </a:r>
            <a:r>
              <a:rPr lang="en-US" sz="2800" dirty="0">
                <a:latin typeface="Times New Roman" panose="02020603050405020304" pitchFamily="18" charset="0"/>
                <a:cs typeface="Times New Roman" panose="02020603050405020304" pitchFamily="18" charset="0"/>
              </a:rPr>
              <a:t> category.</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(d) </a:t>
            </a:r>
            <a:r>
              <a:rPr lang="en-US" sz="2800" dirty="0">
                <a:latin typeface="Times New Roman" panose="02020603050405020304" pitchFamily="18" charset="0"/>
                <a:cs typeface="Times New Roman" panose="02020603050405020304" pitchFamily="18" charset="0"/>
              </a:rPr>
              <a:t>Use Table VIII to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approximate the </a:t>
            </a:r>
            <a:r>
              <a:rPr lang="en-US" sz="2800" i="1" dirty="0">
                <a:latin typeface="Times New Roman" panose="02020603050405020304" pitchFamily="18" charset="0"/>
                <a:cs typeface="Times New Roman" panose="02020603050405020304" pitchFamily="18" charset="0"/>
              </a:rPr>
              <a:t>P</a:t>
            </a:r>
            <a:r>
              <a:rPr lang="en-US" sz="2800" dirty="0">
                <a:latin typeface="Times New Roman" panose="02020603050405020304" pitchFamily="18" charset="0"/>
                <a:cs typeface="Times New Roman" panose="02020603050405020304" pitchFamily="18" charset="0"/>
              </a:rPr>
              <a:t>-value by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determining the area under the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chi-square distribution with </a:t>
            </a:r>
            <a:br>
              <a:rPr lang="en-US" sz="2800" dirty="0">
                <a:latin typeface="Times New Roman" panose="02020603050405020304" pitchFamily="18" charset="0"/>
                <a:cs typeface="Times New Roman" panose="02020603050405020304" pitchFamily="18" charset="0"/>
              </a:rPr>
            </a:br>
            <a:r>
              <a:rPr lang="en-US" sz="2800" i="1" dirty="0">
                <a:latin typeface="Times New Roman" panose="02020603050405020304" pitchFamily="18" charset="0"/>
                <a:cs typeface="Times New Roman" panose="02020603050405020304" pitchFamily="18" charset="0"/>
              </a:rPr>
              <a:t>k –</a:t>
            </a:r>
            <a:r>
              <a:rPr lang="en-US" sz="2800" dirty="0">
                <a:latin typeface="Times New Roman" panose="02020603050405020304" pitchFamily="18" charset="0"/>
                <a:cs typeface="Times New Roman" panose="02020603050405020304" pitchFamily="18" charset="0"/>
              </a:rPr>
              <a:t> 1 degrees of freedom to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the right of the test statistic.</a:t>
            </a:r>
          </a:p>
        </p:txBody>
      </p:sp>
      <p:sp>
        <p:nvSpPr>
          <p:cNvPr id="177" name="Google Shape;177;p2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17</a:t>
            </a:fld>
            <a:endParaRPr/>
          </a:p>
        </p:txBody>
      </p:sp>
      <p:graphicFrame>
        <p:nvGraphicFramePr>
          <p:cNvPr id="4" name="Object 3">
            <a:extLst>
              <a:ext uri="{FF2B5EF4-FFF2-40B4-BE49-F238E27FC236}">
                <a16:creationId xmlns:a16="http://schemas.microsoft.com/office/drawing/2014/main" id="{3DE78D12-90DB-40AF-BEF7-BD7EB5667197}"/>
              </a:ext>
            </a:extLst>
          </p:cNvPr>
          <p:cNvGraphicFramePr>
            <a:graphicFrameLocks noChangeAspect="1"/>
          </p:cNvGraphicFramePr>
          <p:nvPr/>
        </p:nvGraphicFramePr>
        <p:xfrm>
          <a:off x="5156200" y="1361388"/>
          <a:ext cx="2641600" cy="1066800"/>
        </p:xfrm>
        <a:graphic>
          <a:graphicData uri="http://schemas.openxmlformats.org/presentationml/2006/ole">
            <mc:AlternateContent xmlns:mc="http://schemas.openxmlformats.org/markup-compatibility/2006">
              <mc:Choice xmlns:v="urn:schemas-microsoft-com:vml" Requires="v">
                <p:oleObj spid="_x0000_s7303" name="Equation" r:id="rId4" imgW="2641320" imgH="1066680" progId="Equation.DSMT4">
                  <p:embed/>
                </p:oleObj>
              </mc:Choice>
              <mc:Fallback>
                <p:oleObj name="Equation" r:id="rId4" imgW="2641320" imgH="1066680" progId="Equation.DSMT4">
                  <p:embed/>
                  <p:pic>
                    <p:nvPicPr>
                      <p:cNvPr id="4" name="Object 3">
                        <a:extLst>
                          <a:ext uri="{FF2B5EF4-FFF2-40B4-BE49-F238E27FC236}">
                            <a16:creationId xmlns:a16="http://schemas.microsoft.com/office/drawing/2014/main" id="{3DE78D12-90DB-40AF-BEF7-BD7EB5667197}"/>
                          </a:ext>
                        </a:extLst>
                      </p:cNvPr>
                      <p:cNvPicPr/>
                      <p:nvPr/>
                    </p:nvPicPr>
                    <p:blipFill>
                      <a:blip r:embed="rId5"/>
                      <a:stretch>
                        <a:fillRect/>
                      </a:stretch>
                    </p:blipFill>
                    <p:spPr>
                      <a:xfrm>
                        <a:off x="5156200" y="1361388"/>
                        <a:ext cx="2641600" cy="1066800"/>
                      </a:xfrm>
                      <a:prstGeom prst="rect">
                        <a:avLst/>
                      </a:prstGeom>
                    </p:spPr>
                  </p:pic>
                </p:oleObj>
              </mc:Fallback>
            </mc:AlternateContent>
          </a:graphicData>
        </a:graphic>
      </p:graphicFrame>
      <p:pic>
        <p:nvPicPr>
          <p:cNvPr id="3" name="Picture 2" descr="A close up of a mans face&#10;&#10;Description automatically generated">
            <a:extLst>
              <a:ext uri="{FF2B5EF4-FFF2-40B4-BE49-F238E27FC236}">
                <a16:creationId xmlns:a16="http://schemas.microsoft.com/office/drawing/2014/main" id="{A4582226-F8B0-49EA-B4B4-C03A5D8AD790}"/>
              </a:ext>
            </a:extLst>
          </p:cNvPr>
          <p:cNvPicPr>
            <a:picLocks noChangeAspect="1"/>
          </p:cNvPicPr>
          <p:nvPr/>
        </p:nvPicPr>
        <p:blipFill>
          <a:blip r:embed="rId6"/>
          <a:stretch>
            <a:fillRect/>
          </a:stretch>
        </p:blipFill>
        <p:spPr>
          <a:xfrm>
            <a:off x="5224373" y="3325305"/>
            <a:ext cx="3451369" cy="25251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8379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6">
                                            <p:txEl>
                                              <p:pRg st="4" end="4"/>
                                            </p:txEl>
                                          </p:spTgt>
                                        </p:tgtEl>
                                        <p:attrNameLst>
                                          <p:attrName>style.visibility</p:attrName>
                                        </p:attrNameLst>
                                      </p:cBhvr>
                                      <p:to>
                                        <p:strVal val="visible"/>
                                      </p:to>
                                    </p:set>
                                    <p:animEffect transition="in" filter="fade">
                                      <p:cBhvr>
                                        <p:cTn id="7" dur="500"/>
                                        <p:tgtEl>
                                          <p:spTgt spid="176">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6">
                                            <p:txEl>
                                              <p:pRg st="6" end="6"/>
                                            </p:txEl>
                                          </p:spTgt>
                                        </p:tgtEl>
                                        <p:attrNameLst>
                                          <p:attrName>style.visibility</p:attrName>
                                        </p:attrNameLst>
                                      </p:cBhvr>
                                      <p:to>
                                        <p:strVal val="visible"/>
                                      </p:to>
                                    </p:set>
                                    <p:animEffect transition="in" filter="fade">
                                      <p:cBhvr>
                                        <p:cTn id="12" dur="500"/>
                                        <p:tgtEl>
                                          <p:spTgt spid="176">
                                            <p:txEl>
                                              <p:pRg st="6" end="6"/>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5" name="Rectangle 4">
            <a:extLst>
              <a:ext uri="{FF2B5EF4-FFF2-40B4-BE49-F238E27FC236}">
                <a16:creationId xmlns:a16="http://schemas.microsoft.com/office/drawing/2014/main" id="{2AD2365B-C0BC-45A7-988D-AF49F69D7115}"/>
              </a:ext>
            </a:extLst>
          </p:cNvPr>
          <p:cNvSpPr/>
          <p:nvPr/>
        </p:nvSpPr>
        <p:spPr>
          <a:xfrm>
            <a:off x="468258" y="263627"/>
            <a:ext cx="8440075" cy="4496909"/>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Google Shape;176;p29"/>
          <p:cNvSpPr txBox="1"/>
          <p:nvPr/>
        </p:nvSpPr>
        <p:spPr>
          <a:xfrm>
            <a:off x="604837" y="304800"/>
            <a:ext cx="7929562" cy="1589988"/>
          </a:xfrm>
          <a:prstGeom prst="rect">
            <a:avLst/>
          </a:prstGeom>
          <a:noFill/>
          <a:ln>
            <a:noFill/>
          </a:ln>
        </p:spPr>
        <p:txBody>
          <a:bodyPr spcFirstLastPara="1" wrap="square" lIns="91425" tIns="45700" rIns="91425" bIns="45700" anchor="t" anchorCtr="0">
            <a:noAutofit/>
          </a:bodyPr>
          <a:lstStyle/>
          <a:p>
            <a:r>
              <a:rPr lang="en-US" sz="3200" b="1" i="0" u="none" dirty="0">
                <a:solidFill>
                  <a:schemeClr val="tx1"/>
                </a:solidFill>
                <a:latin typeface="+mn-lt"/>
                <a:ea typeface="Times New Roman"/>
                <a:cs typeface="Times New Roman" panose="02020603050405020304" pitchFamily="18" charset="0"/>
                <a:sym typeface="Times New Roman"/>
              </a:rPr>
              <a:t>The Goodness-of-Fit Test</a:t>
            </a:r>
            <a:br>
              <a:rPr lang="en-US" sz="2800" dirty="0">
                <a:solidFill>
                  <a:schemeClr val="tx1"/>
                </a:solidFill>
                <a:latin typeface="Times New Roman"/>
                <a:ea typeface="Times New Roman"/>
                <a:cs typeface="Times New Roman"/>
                <a:sym typeface="Times New Roman"/>
              </a:rPr>
            </a:br>
            <a:r>
              <a:rPr lang="en-US" sz="2800" b="1" i="1" dirty="0">
                <a:latin typeface="+mn-lt"/>
                <a:cs typeface="Times New Roman" panose="02020603050405020304" pitchFamily="18" charset="0"/>
              </a:rPr>
              <a:t>P</a:t>
            </a:r>
            <a:r>
              <a:rPr lang="en-US" sz="2800" b="1" dirty="0">
                <a:latin typeface="+mn-lt"/>
                <a:cs typeface="Times New Roman" panose="02020603050405020304" pitchFamily="18" charset="0"/>
              </a:rPr>
              <a:t>-Value Approach</a:t>
            </a:r>
          </a:p>
          <a:p>
            <a:r>
              <a:rPr lang="en-US" sz="2800" b="1" i="1" dirty="0">
                <a:latin typeface="Times New Roman" panose="02020603050405020304" pitchFamily="18" charset="0"/>
                <a:cs typeface="Times New Roman" panose="02020603050405020304" pitchFamily="18" charset="0"/>
              </a:rPr>
              <a:t>Technology Step 3 (continued)</a:t>
            </a:r>
          </a:p>
          <a:p>
            <a:r>
              <a:rPr lang="en-US" sz="2800" b="1" dirty="0">
                <a:latin typeface="Times New Roman" panose="02020603050405020304" pitchFamily="18" charset="0"/>
                <a:cs typeface="Times New Roman" panose="02020603050405020304" pitchFamily="18" charset="0"/>
              </a:rPr>
              <a:t>(c) </a:t>
            </a:r>
            <a:r>
              <a:rPr lang="en-US" sz="2800" dirty="0">
                <a:latin typeface="Times New Roman" panose="02020603050405020304" pitchFamily="18" charset="0"/>
                <a:cs typeface="Times New Roman" panose="02020603050405020304" pitchFamily="18" charset="0"/>
              </a:rPr>
              <a:t>Use a statistical spreadsheet or calculator with</a:t>
            </a:r>
          </a:p>
          <a:p>
            <a:r>
              <a:rPr lang="en-US" sz="2800" dirty="0">
                <a:latin typeface="Times New Roman" panose="02020603050405020304" pitchFamily="18" charset="0"/>
                <a:cs typeface="Times New Roman" panose="02020603050405020304" pitchFamily="18" charset="0"/>
              </a:rPr>
              <a:t>      statistical capabilities to obtain the </a:t>
            </a:r>
            <a:r>
              <a:rPr lang="en-US" sz="2800" i="1" dirty="0">
                <a:latin typeface="Times New Roman" panose="02020603050405020304" pitchFamily="18" charset="0"/>
                <a:cs typeface="Times New Roman" panose="02020603050405020304" pitchFamily="18" charset="0"/>
              </a:rPr>
              <a:t>P</a:t>
            </a:r>
            <a:r>
              <a:rPr lang="en-US" sz="2800" dirty="0">
                <a:latin typeface="Times New Roman" panose="02020603050405020304" pitchFamily="18" charset="0"/>
                <a:cs typeface="Times New Roman" panose="02020603050405020304" pitchFamily="18" charset="0"/>
              </a:rPr>
              <a:t>-value. </a:t>
            </a:r>
          </a:p>
          <a:p>
            <a:endParaRPr lang="en-US" sz="2800" dirty="0">
              <a:latin typeface="Times New Roman" panose="02020603050405020304" pitchFamily="18" charset="0"/>
              <a:cs typeface="Times New Roman" panose="02020603050405020304" pitchFamily="18" charset="0"/>
            </a:endParaRPr>
          </a:p>
          <a:p>
            <a:r>
              <a:rPr lang="en-US" sz="2800" b="1" i="1" dirty="0">
                <a:latin typeface="Times New Roman" panose="02020603050405020304" pitchFamily="18" charset="0"/>
                <a:cs typeface="Times New Roman" panose="02020603050405020304" pitchFamily="18" charset="0"/>
              </a:rPr>
              <a:t>Step 4 </a:t>
            </a:r>
            <a:r>
              <a:rPr lang="en-US" sz="2800" dirty="0">
                <a:latin typeface="Times New Roman" panose="02020603050405020304" pitchFamily="18" charset="0"/>
                <a:cs typeface="Times New Roman" panose="02020603050405020304" pitchFamily="18" charset="0"/>
              </a:rPr>
              <a:t>If </a:t>
            </a:r>
            <a:r>
              <a:rPr lang="en-US" sz="2800" i="1" dirty="0">
                <a:latin typeface="Times New Roman" panose="02020603050405020304" pitchFamily="18" charset="0"/>
                <a:cs typeface="Times New Roman" panose="02020603050405020304" pitchFamily="18" charset="0"/>
              </a:rPr>
              <a:t>P</a:t>
            </a:r>
            <a:r>
              <a:rPr lang="en-US" sz="2800" dirty="0">
                <a:latin typeface="Times New Roman" panose="02020603050405020304" pitchFamily="18" charset="0"/>
                <a:cs typeface="Times New Roman" panose="02020603050405020304" pitchFamily="18" charset="0"/>
              </a:rPr>
              <a:t>-value &lt;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reject the null hypothesis.</a:t>
            </a:r>
          </a:p>
          <a:p>
            <a:endParaRPr lang="en-US" sz="2800" dirty="0">
              <a:latin typeface="Times New Roman" panose="02020603050405020304" pitchFamily="18" charset="0"/>
              <a:cs typeface="Times New Roman" panose="02020603050405020304" pitchFamily="18" charset="0"/>
            </a:endParaRPr>
          </a:p>
          <a:p>
            <a:r>
              <a:rPr lang="en-US" sz="2800" b="1" i="1" dirty="0">
                <a:latin typeface="Times New Roman" panose="02020603050405020304" pitchFamily="18" charset="0"/>
                <a:cs typeface="Times New Roman" panose="02020603050405020304" pitchFamily="18" charset="0"/>
              </a:rPr>
              <a:t>Step 5 </a:t>
            </a:r>
            <a:r>
              <a:rPr lang="en-US" sz="2800" dirty="0">
                <a:latin typeface="Times New Roman" panose="02020603050405020304" pitchFamily="18" charset="0"/>
                <a:cs typeface="Times New Roman" panose="02020603050405020304" pitchFamily="18" charset="0"/>
              </a:rPr>
              <a:t>State the conclusion.</a:t>
            </a:r>
          </a:p>
        </p:txBody>
      </p:sp>
      <p:sp>
        <p:nvSpPr>
          <p:cNvPr id="177" name="Google Shape;177;p29"/>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18</a:t>
            </a:fld>
            <a:endParaRPr/>
          </a:p>
        </p:txBody>
      </p:sp>
    </p:spTree>
    <p:extLst>
      <p:ext uri="{BB962C8B-B14F-4D97-AF65-F5344CB8AC3E}">
        <p14:creationId xmlns:p14="http://schemas.microsoft.com/office/powerpoint/2010/main" val="1353101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6">
                                            <p:txEl>
                                              <p:pRg st="5" end="5"/>
                                            </p:txEl>
                                          </p:spTgt>
                                        </p:tgtEl>
                                        <p:attrNameLst>
                                          <p:attrName>style.visibility</p:attrName>
                                        </p:attrNameLst>
                                      </p:cBhvr>
                                      <p:to>
                                        <p:strVal val="visible"/>
                                      </p:to>
                                    </p:set>
                                    <p:animEffect transition="in" filter="fade">
                                      <p:cBhvr>
                                        <p:cTn id="7" dur="500"/>
                                        <p:tgtEl>
                                          <p:spTgt spid="176">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6">
                                            <p:txEl>
                                              <p:pRg st="7" end="7"/>
                                            </p:txEl>
                                          </p:spTgt>
                                        </p:tgtEl>
                                        <p:attrNameLst>
                                          <p:attrName>style.visibility</p:attrName>
                                        </p:attrNameLst>
                                      </p:cBhvr>
                                      <p:to>
                                        <p:strVal val="visible"/>
                                      </p:to>
                                    </p:set>
                                    <p:animEffect transition="in" filter="fade">
                                      <p:cBhvr>
                                        <p:cTn id="12" dur="500"/>
                                        <p:tgtEl>
                                          <p:spTgt spid="17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19</a:t>
            </a:fld>
            <a:endParaRPr/>
          </a:p>
        </p:txBody>
      </p:sp>
      <p:sp>
        <p:nvSpPr>
          <p:cNvPr id="5" name="Google Shape;385;p59">
            <a:extLst>
              <a:ext uri="{FF2B5EF4-FFF2-40B4-BE49-F238E27FC236}">
                <a16:creationId xmlns:a16="http://schemas.microsoft.com/office/drawing/2014/main" id="{277D0A08-40DD-4044-A6CB-D65406A4A652}"/>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Conducting a Goodness-of-Fit Test</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 of 11)</a:t>
            </a:r>
            <a:endParaRPr dirty="0"/>
          </a:p>
        </p:txBody>
      </p:sp>
      <p:sp>
        <p:nvSpPr>
          <p:cNvPr id="4" name="Rectangle 3">
            <a:extLst>
              <a:ext uri="{FF2B5EF4-FFF2-40B4-BE49-F238E27FC236}">
                <a16:creationId xmlns:a16="http://schemas.microsoft.com/office/drawing/2014/main" id="{1E578722-1D5B-4C32-998F-982B090A4E53}"/>
              </a:ext>
            </a:extLst>
          </p:cNvPr>
          <p:cNvSpPr/>
          <p:nvPr/>
        </p:nvSpPr>
        <p:spPr>
          <a:xfrm>
            <a:off x="311870" y="1097355"/>
            <a:ext cx="8520258" cy="5262979"/>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One growing concern regarding the U.S. economy is the inequality in the distribution of income. An economist wants to know if the distribution of income is changing, so she randomly selects 1500 households and obtains the household income shown in Table 2, which is shown on the next slide. Table 2 also contains the expected counts under the assumption the distribution has not changed since 2000 (obtained in a previous example). Does the evidence suggest that the distribution of income has changed since 2000 at the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 0.05 level of significance? </a:t>
            </a:r>
          </a:p>
          <a:p>
            <a:r>
              <a:rPr lang="en-US" sz="2800" b="1" dirty="0">
                <a:latin typeface="Times New Roman" panose="02020603050405020304" pitchFamily="18" charset="0"/>
                <a:cs typeface="Times New Roman" panose="02020603050405020304" pitchFamily="18" charset="0"/>
              </a:rPr>
              <a:t>Note: </a:t>
            </a:r>
            <a:r>
              <a:rPr lang="en-US" sz="2800" dirty="0">
                <a:latin typeface="Times New Roman" panose="02020603050405020304" pitchFamily="18" charset="0"/>
                <a:cs typeface="Times New Roman" panose="02020603050405020304" pitchFamily="18" charset="0"/>
              </a:rPr>
              <a:t>The data in Table 2 is based on the 2017 Current Population Survey and has been adjusted for inflation.</a:t>
            </a:r>
          </a:p>
        </p:txBody>
      </p:sp>
    </p:spTree>
    <p:extLst>
      <p:ext uri="{BB962C8B-B14F-4D97-AF65-F5344CB8AC3E}">
        <p14:creationId xmlns:p14="http://schemas.microsoft.com/office/powerpoint/2010/main" val="104775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20</a:t>
            </a:fld>
            <a:endParaRPr/>
          </a:p>
        </p:txBody>
      </p:sp>
      <p:sp>
        <p:nvSpPr>
          <p:cNvPr id="5" name="Google Shape;385;p59">
            <a:extLst>
              <a:ext uri="{FF2B5EF4-FFF2-40B4-BE49-F238E27FC236}">
                <a16:creationId xmlns:a16="http://schemas.microsoft.com/office/drawing/2014/main" id="{277D0A08-40DD-4044-A6CB-D65406A4A652}"/>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Conducting a Goodness-of-Fit Test</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(2 of 11)</a:t>
            </a:r>
            <a:endParaRPr dirty="0"/>
          </a:p>
        </p:txBody>
      </p:sp>
      <p:pic>
        <p:nvPicPr>
          <p:cNvPr id="7" name="Picture 6" descr="A screenshot of a cell phone&#10;&#10;Description automatically generated">
            <a:extLst>
              <a:ext uri="{FF2B5EF4-FFF2-40B4-BE49-F238E27FC236}">
                <a16:creationId xmlns:a16="http://schemas.microsoft.com/office/drawing/2014/main" id="{05D2FCC4-2614-4C4D-90EC-708B5C7CA340}"/>
              </a:ext>
            </a:extLst>
          </p:cNvPr>
          <p:cNvPicPr>
            <a:picLocks noChangeAspect="1"/>
          </p:cNvPicPr>
          <p:nvPr/>
        </p:nvPicPr>
        <p:blipFill>
          <a:blip r:embed="rId3"/>
          <a:stretch>
            <a:fillRect/>
          </a:stretch>
        </p:blipFill>
        <p:spPr>
          <a:xfrm>
            <a:off x="674503" y="1217584"/>
            <a:ext cx="7479681" cy="4739944"/>
          </a:xfrm>
          <a:prstGeom prst="rect">
            <a:avLst/>
          </a:prstGeom>
        </p:spPr>
      </p:pic>
    </p:spTree>
    <p:extLst>
      <p:ext uri="{BB962C8B-B14F-4D97-AF65-F5344CB8AC3E}">
        <p14:creationId xmlns:p14="http://schemas.microsoft.com/office/powerpoint/2010/main" val="2147599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21</a:t>
            </a:fld>
            <a:endParaRPr/>
          </a:p>
        </p:txBody>
      </p:sp>
      <p:sp>
        <p:nvSpPr>
          <p:cNvPr id="5" name="Google Shape;385;p59">
            <a:extLst>
              <a:ext uri="{FF2B5EF4-FFF2-40B4-BE49-F238E27FC236}">
                <a16:creationId xmlns:a16="http://schemas.microsoft.com/office/drawing/2014/main" id="{277D0A08-40DD-4044-A6CB-D65406A4A652}"/>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Conducting a Goodness-of-Fit Test</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(3 of 11)</a:t>
            </a:r>
            <a:endParaRPr dirty="0"/>
          </a:p>
        </p:txBody>
      </p:sp>
      <p:sp>
        <p:nvSpPr>
          <p:cNvPr id="4" name="Rectangle 3">
            <a:extLst>
              <a:ext uri="{FF2B5EF4-FFF2-40B4-BE49-F238E27FC236}">
                <a16:creationId xmlns:a16="http://schemas.microsoft.com/office/drawing/2014/main" id="{1E578722-1D5B-4C32-998F-982B090A4E53}"/>
              </a:ext>
            </a:extLst>
          </p:cNvPr>
          <p:cNvSpPr/>
          <p:nvPr/>
        </p:nvSpPr>
        <p:spPr>
          <a:xfrm>
            <a:off x="311870" y="1097355"/>
            <a:ext cx="8520258" cy="4093428"/>
          </a:xfrm>
          <a:prstGeom prst="rect">
            <a:avLst/>
          </a:prstGeom>
        </p:spPr>
        <p:txBody>
          <a:bodyPr wrap="square">
            <a:spAutoFit/>
          </a:bodyPr>
          <a:lstStyle/>
          <a:p>
            <a:r>
              <a:rPr lang="en-US" sz="2600" b="1" i="1" dirty="0">
                <a:latin typeface="Times New Roman" panose="02020603050405020304" pitchFamily="18" charset="0"/>
                <a:cs typeface="Times New Roman" panose="02020603050405020304" pitchFamily="18" charset="0"/>
              </a:rPr>
              <a:t>Step 1 </a:t>
            </a:r>
            <a:r>
              <a:rPr lang="en-US" sz="2600" dirty="0">
                <a:latin typeface="Times New Roman" panose="02020603050405020304" pitchFamily="18" charset="0"/>
                <a:cs typeface="Times New Roman" panose="02020603050405020304" pitchFamily="18" charset="0"/>
              </a:rPr>
              <a:t>The null hypothesis is always a statement of “no difference.” Here, that means there is no difference in the distribution of income between 2000 and today. We are looking for the sample evidence (sample data) to show that the distribution is different today.</a:t>
            </a:r>
          </a:p>
          <a:p>
            <a:endParaRPr lang="en-US" sz="2600" dirty="0">
              <a:latin typeface="Times New Roman" panose="02020603050405020304" pitchFamily="18" charset="0"/>
              <a:cs typeface="Times New Roman" panose="02020603050405020304" pitchFamily="18" charset="0"/>
            </a:endParaRPr>
          </a:p>
          <a:p>
            <a:r>
              <a:rPr lang="en-US" sz="2600" i="1" dirty="0">
                <a:latin typeface="Times New Roman" panose="02020603050405020304" pitchFamily="18" charset="0"/>
                <a:cs typeface="Times New Roman" panose="02020603050405020304" pitchFamily="18" charset="0"/>
              </a:rPr>
              <a:t>H</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The distribution of household income in the United States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is the same today as it was in 2000.</a:t>
            </a:r>
          </a:p>
          <a:p>
            <a:r>
              <a:rPr lang="en-US" sz="2600" i="1" dirty="0">
                <a:latin typeface="Times New Roman" panose="02020603050405020304" pitchFamily="18" charset="0"/>
                <a:cs typeface="Times New Roman" panose="02020603050405020304" pitchFamily="18" charset="0"/>
              </a:rPr>
              <a:t>H</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The distribution of household income in the United States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is different today from what it was in 2000.</a:t>
            </a:r>
          </a:p>
        </p:txBody>
      </p:sp>
    </p:spTree>
    <p:extLst>
      <p:ext uri="{BB962C8B-B14F-4D97-AF65-F5344CB8AC3E}">
        <p14:creationId xmlns:p14="http://schemas.microsoft.com/office/powerpoint/2010/main" val="360671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22</a:t>
            </a:fld>
            <a:endParaRPr/>
          </a:p>
        </p:txBody>
      </p:sp>
      <p:sp>
        <p:nvSpPr>
          <p:cNvPr id="5" name="Google Shape;385;p59">
            <a:extLst>
              <a:ext uri="{FF2B5EF4-FFF2-40B4-BE49-F238E27FC236}">
                <a16:creationId xmlns:a16="http://schemas.microsoft.com/office/drawing/2014/main" id="{277D0A08-40DD-4044-A6CB-D65406A4A652}"/>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Conducting a Goodness-of-Fit Test</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(4 of 11)</a:t>
            </a:r>
            <a:endParaRPr dirty="0"/>
          </a:p>
        </p:txBody>
      </p:sp>
      <p:sp>
        <p:nvSpPr>
          <p:cNvPr id="4" name="Rectangle 3">
            <a:extLst>
              <a:ext uri="{FF2B5EF4-FFF2-40B4-BE49-F238E27FC236}">
                <a16:creationId xmlns:a16="http://schemas.microsoft.com/office/drawing/2014/main" id="{1E578722-1D5B-4C32-998F-982B090A4E53}"/>
              </a:ext>
            </a:extLst>
          </p:cNvPr>
          <p:cNvSpPr/>
          <p:nvPr/>
        </p:nvSpPr>
        <p:spPr>
          <a:xfrm>
            <a:off x="311870" y="1097355"/>
            <a:ext cx="8520258" cy="2893100"/>
          </a:xfrm>
          <a:prstGeom prst="rect">
            <a:avLst/>
          </a:prstGeom>
        </p:spPr>
        <p:txBody>
          <a:bodyPr wrap="square">
            <a:spAutoFit/>
          </a:bodyPr>
          <a:lstStyle/>
          <a:p>
            <a:r>
              <a:rPr lang="en-US" sz="2600" b="1" i="1" dirty="0">
                <a:latin typeface="Times New Roman" panose="02020603050405020304" pitchFamily="18" charset="0"/>
                <a:cs typeface="Times New Roman" panose="02020603050405020304" pitchFamily="18" charset="0"/>
              </a:rPr>
              <a:t>Step 2 </a:t>
            </a:r>
            <a:r>
              <a:rPr lang="en-US" sz="2600" dirty="0">
                <a:latin typeface="Times New Roman" panose="02020603050405020304" pitchFamily="18" charset="0"/>
                <a:cs typeface="Times New Roman" panose="02020603050405020304" pitchFamily="18" charset="0"/>
              </a:rPr>
              <a:t>The level of significance is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0.05.</a:t>
            </a:r>
          </a:p>
          <a:p>
            <a:endParaRPr lang="en-US" sz="2600" b="1" i="1"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3</a:t>
            </a:r>
          </a:p>
          <a:p>
            <a:r>
              <a:rPr lang="en-US" sz="2600" b="1" dirty="0">
                <a:latin typeface="Times New Roman" panose="02020603050405020304" pitchFamily="18" charset="0"/>
                <a:cs typeface="Times New Roman" panose="02020603050405020304" pitchFamily="18" charset="0"/>
              </a:rPr>
              <a:t>(a) </a:t>
            </a:r>
            <a:r>
              <a:rPr lang="en-US" sz="2600" dirty="0">
                <a:latin typeface="Times New Roman" panose="02020603050405020304" pitchFamily="18" charset="0"/>
                <a:cs typeface="Times New Roman" panose="02020603050405020304" pitchFamily="18" charset="0"/>
              </a:rPr>
              <a:t>We computed the expected counts in a previous example.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The observed and expected counts are in Table 2.</a:t>
            </a:r>
          </a:p>
          <a:p>
            <a:r>
              <a:rPr lang="en-US" sz="2600" b="1" dirty="0">
                <a:latin typeface="Times New Roman" panose="02020603050405020304" pitchFamily="18" charset="0"/>
                <a:cs typeface="Times New Roman" panose="02020603050405020304" pitchFamily="18" charset="0"/>
              </a:rPr>
              <a:t>(b) </a:t>
            </a:r>
            <a:r>
              <a:rPr lang="en-US" sz="2600" dirty="0">
                <a:latin typeface="Times New Roman" panose="02020603050405020304" pitchFamily="18" charset="0"/>
                <a:cs typeface="Times New Roman" panose="02020603050405020304" pitchFamily="18" charset="0"/>
              </a:rPr>
              <a:t>Since all expected counts are greater than or equal to 5,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requirements for the goodness-of-fit test are satisfied.</a:t>
            </a:r>
          </a:p>
        </p:txBody>
      </p:sp>
    </p:spTree>
    <p:extLst>
      <p:ext uri="{BB962C8B-B14F-4D97-AF65-F5344CB8AC3E}">
        <p14:creationId xmlns:p14="http://schemas.microsoft.com/office/powerpoint/2010/main" val="2489472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3" end="3"/>
                                            </p:txEl>
                                          </p:spTgt>
                                        </p:tgtEl>
                                        <p:attrNameLst>
                                          <p:attrName>style.visibility</p:attrName>
                                        </p:attrNameLst>
                                      </p:cBhvr>
                                      <p:to>
                                        <p:strVal val="visible"/>
                                      </p:to>
                                    </p:set>
                                    <p:animEffect transition="in" filter="fade">
                                      <p:cBhvr>
                                        <p:cTn id="10" dur="500"/>
                                        <p:tgtEl>
                                          <p:spTgt spid="4">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animEffect transition="in" filter="fade">
                                      <p:cBhvr>
                                        <p:cTn id="15"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23</a:t>
            </a:fld>
            <a:endParaRPr/>
          </a:p>
        </p:txBody>
      </p:sp>
      <p:sp>
        <p:nvSpPr>
          <p:cNvPr id="5" name="Google Shape;385;p59">
            <a:extLst>
              <a:ext uri="{FF2B5EF4-FFF2-40B4-BE49-F238E27FC236}">
                <a16:creationId xmlns:a16="http://schemas.microsoft.com/office/drawing/2014/main" id="{277D0A08-40DD-4044-A6CB-D65406A4A652}"/>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Conducting a Goodness-of-Fit Test</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(5 of 11)</a:t>
            </a:r>
            <a:endParaRPr dirty="0"/>
          </a:p>
        </p:txBody>
      </p:sp>
      <p:sp>
        <p:nvSpPr>
          <p:cNvPr id="4" name="Rectangle 3">
            <a:extLst>
              <a:ext uri="{FF2B5EF4-FFF2-40B4-BE49-F238E27FC236}">
                <a16:creationId xmlns:a16="http://schemas.microsoft.com/office/drawing/2014/main" id="{1E578722-1D5B-4C32-998F-982B090A4E53}"/>
              </a:ext>
            </a:extLst>
          </p:cNvPr>
          <p:cNvSpPr/>
          <p:nvPr/>
        </p:nvSpPr>
        <p:spPr>
          <a:xfrm>
            <a:off x="311870" y="1097355"/>
            <a:ext cx="8520258" cy="1292662"/>
          </a:xfrm>
          <a:prstGeom prst="rect">
            <a:avLst/>
          </a:prstGeom>
        </p:spPr>
        <p:txBody>
          <a:bodyPr wrap="square">
            <a:spAutoFit/>
          </a:bodyPr>
          <a:lstStyle/>
          <a:p>
            <a:r>
              <a:rPr lang="en-US" sz="2600" b="1" dirty="0">
                <a:latin typeface="+mn-lt"/>
                <a:cs typeface="Times New Roman" panose="02020603050405020304" pitchFamily="18" charset="0"/>
              </a:rPr>
              <a:t>Classical Approach</a:t>
            </a:r>
          </a:p>
          <a:p>
            <a:r>
              <a:rPr lang="en-US" sz="2600" b="1" i="1" dirty="0">
                <a:latin typeface="Times New Roman" panose="02020603050405020304" pitchFamily="18" charset="0"/>
                <a:cs typeface="Times New Roman" panose="02020603050405020304" pitchFamily="18" charset="0"/>
              </a:rPr>
              <a:t>Step 3 (continued)</a:t>
            </a:r>
          </a:p>
          <a:p>
            <a:r>
              <a:rPr lang="en-US" sz="2600" b="1" dirty="0">
                <a:latin typeface="Times New Roman" panose="02020603050405020304" pitchFamily="18" charset="0"/>
                <a:cs typeface="Times New Roman" panose="02020603050405020304" pitchFamily="18" charset="0"/>
              </a:rPr>
              <a:t>(c) </a:t>
            </a:r>
            <a:r>
              <a:rPr lang="en-US" sz="2600" dirty="0">
                <a:latin typeface="Times New Roman" panose="02020603050405020304" pitchFamily="18" charset="0"/>
                <a:cs typeface="Times New Roman" panose="02020603050405020304" pitchFamily="18" charset="0"/>
              </a:rPr>
              <a:t>The test statistic is</a:t>
            </a:r>
          </a:p>
        </p:txBody>
      </p:sp>
      <p:graphicFrame>
        <p:nvGraphicFramePr>
          <p:cNvPr id="3" name="Object 2">
            <a:extLst>
              <a:ext uri="{FF2B5EF4-FFF2-40B4-BE49-F238E27FC236}">
                <a16:creationId xmlns:a16="http://schemas.microsoft.com/office/drawing/2014/main" id="{504A8D00-BC26-4272-A940-4357B8292CC2}"/>
              </a:ext>
            </a:extLst>
          </p:cNvPr>
          <p:cNvGraphicFramePr>
            <a:graphicFrameLocks noChangeAspect="1"/>
          </p:cNvGraphicFramePr>
          <p:nvPr>
            <p:extLst>
              <p:ext uri="{D42A27DB-BD31-4B8C-83A1-F6EECF244321}">
                <p14:modId xmlns:p14="http://schemas.microsoft.com/office/powerpoint/2010/main" val="3070811449"/>
              </p:ext>
            </p:extLst>
          </p:nvPr>
        </p:nvGraphicFramePr>
        <p:xfrm>
          <a:off x="3431357" y="1601344"/>
          <a:ext cx="2463800" cy="1003300"/>
        </p:xfrm>
        <a:graphic>
          <a:graphicData uri="http://schemas.openxmlformats.org/presentationml/2006/ole">
            <mc:AlternateContent xmlns:mc="http://schemas.openxmlformats.org/markup-compatibility/2006">
              <mc:Choice xmlns:v="urn:schemas-microsoft-com:vml" Requires="v">
                <p:oleObj spid="_x0000_s8446" name="Equation" r:id="rId4" imgW="2463480" imgH="1002960" progId="Equation.DSMT4">
                  <p:embed/>
                </p:oleObj>
              </mc:Choice>
              <mc:Fallback>
                <p:oleObj name="Equation" r:id="rId4" imgW="2463480" imgH="1002960" progId="Equation.DSMT4">
                  <p:embed/>
                  <p:pic>
                    <p:nvPicPr>
                      <p:cNvPr id="0" name=""/>
                      <p:cNvPicPr/>
                      <p:nvPr/>
                    </p:nvPicPr>
                    <p:blipFill>
                      <a:blip r:embed="rId5"/>
                      <a:stretch>
                        <a:fillRect/>
                      </a:stretch>
                    </p:blipFill>
                    <p:spPr>
                      <a:xfrm>
                        <a:off x="3431357" y="1601344"/>
                        <a:ext cx="2463800" cy="10033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C1F59EB1-D636-4AC8-A673-67E80E48ACC7}"/>
              </a:ext>
            </a:extLst>
          </p:cNvPr>
          <p:cNvGraphicFramePr>
            <a:graphicFrameLocks noChangeAspect="1"/>
          </p:cNvGraphicFramePr>
          <p:nvPr>
            <p:extLst>
              <p:ext uri="{D42A27DB-BD31-4B8C-83A1-F6EECF244321}">
                <p14:modId xmlns:p14="http://schemas.microsoft.com/office/powerpoint/2010/main" val="1023046270"/>
              </p:ext>
            </p:extLst>
          </p:nvPr>
        </p:nvGraphicFramePr>
        <p:xfrm>
          <a:off x="888999" y="2652333"/>
          <a:ext cx="7366000" cy="3416300"/>
        </p:xfrm>
        <a:graphic>
          <a:graphicData uri="http://schemas.openxmlformats.org/presentationml/2006/ole">
            <mc:AlternateContent xmlns:mc="http://schemas.openxmlformats.org/markup-compatibility/2006">
              <mc:Choice xmlns:v="urn:schemas-microsoft-com:vml" Requires="v">
                <p:oleObj spid="_x0000_s8447" name="Equation" r:id="rId6" imgW="7365960" imgH="3416040" progId="Equation.DSMT4">
                  <p:embed/>
                </p:oleObj>
              </mc:Choice>
              <mc:Fallback>
                <p:oleObj name="Equation" r:id="rId6" imgW="7365960" imgH="3416040" progId="Equation.DSMT4">
                  <p:embed/>
                  <p:pic>
                    <p:nvPicPr>
                      <p:cNvPr id="0" name=""/>
                      <p:cNvPicPr/>
                      <p:nvPr/>
                    </p:nvPicPr>
                    <p:blipFill>
                      <a:blip r:embed="rId7"/>
                      <a:stretch>
                        <a:fillRect/>
                      </a:stretch>
                    </p:blipFill>
                    <p:spPr>
                      <a:xfrm>
                        <a:off x="888999" y="2652333"/>
                        <a:ext cx="7366000" cy="3416300"/>
                      </a:xfrm>
                      <a:prstGeom prst="rect">
                        <a:avLst/>
                      </a:prstGeom>
                    </p:spPr>
                  </p:pic>
                </p:oleObj>
              </mc:Fallback>
            </mc:AlternateContent>
          </a:graphicData>
        </a:graphic>
      </p:graphicFrame>
    </p:spTree>
    <p:extLst>
      <p:ext uri="{BB962C8B-B14F-4D97-AF65-F5344CB8AC3E}">
        <p14:creationId xmlns:p14="http://schemas.microsoft.com/office/powerpoint/2010/main" val="2161250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69" y="1097355"/>
            <a:ext cx="8634167" cy="5293757"/>
          </a:xfrm>
          <a:prstGeom prst="rect">
            <a:avLst/>
          </a:prstGeom>
        </p:spPr>
        <p:txBody>
          <a:bodyPr wrap="square">
            <a:spAutoFit/>
          </a:bodyPr>
          <a:lstStyle/>
          <a:p>
            <a:r>
              <a:rPr lang="en-US" sz="2600" b="1" dirty="0">
                <a:latin typeface="+mn-lt"/>
                <a:cs typeface="Times New Roman" panose="02020603050405020304" pitchFamily="18" charset="0"/>
              </a:rPr>
              <a:t>Classical Approach</a:t>
            </a:r>
          </a:p>
          <a:p>
            <a:r>
              <a:rPr lang="en-US" sz="2600" b="1" i="1" dirty="0">
                <a:latin typeface="Times New Roman" panose="02020603050405020304" pitchFamily="18" charset="0"/>
                <a:cs typeface="Times New Roman" panose="02020603050405020304" pitchFamily="18" charset="0"/>
              </a:rPr>
              <a:t>Step 4 </a:t>
            </a:r>
            <a:r>
              <a:rPr lang="en-US" sz="2600" dirty="0">
                <a:latin typeface="Times New Roman" panose="02020603050405020304" pitchFamily="18" charset="0"/>
                <a:cs typeface="Times New Roman" panose="02020603050405020304" pitchFamily="18" charset="0"/>
              </a:rPr>
              <a:t>There are </a:t>
            </a:r>
            <a:r>
              <a:rPr lang="en-US" sz="2600" i="1" dirty="0">
                <a:latin typeface="Times New Roman" panose="02020603050405020304" pitchFamily="18" charset="0"/>
                <a:cs typeface="Times New Roman" panose="02020603050405020304" pitchFamily="18" charset="0"/>
              </a:rPr>
              <a:t>k </a:t>
            </a:r>
            <a:r>
              <a:rPr lang="en-US" sz="2600" dirty="0">
                <a:latin typeface="Times New Roman" panose="02020603050405020304" pitchFamily="18" charset="0"/>
                <a:cs typeface="Times New Roman" panose="02020603050405020304" pitchFamily="18" charset="0"/>
              </a:rPr>
              <a:t>= 9 categories, so we find the critical value using 9 – 1 = 8 degrees of freedom. The critical value is</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Because the test statistic, 20.693, is greater than the critical value, 15.507, we reject the null hypothesis.</a:t>
            </a:r>
          </a:p>
        </p:txBody>
      </p:sp>
      <p:pic>
        <p:nvPicPr>
          <p:cNvPr id="8" name="Picture 7" descr="A close up of a piece of paper&#10;&#10;Description automatically generated">
            <a:extLst>
              <a:ext uri="{FF2B5EF4-FFF2-40B4-BE49-F238E27FC236}">
                <a16:creationId xmlns:a16="http://schemas.microsoft.com/office/drawing/2014/main" id="{5F2274C6-61FB-41DD-8778-7EDF689E456D}"/>
              </a:ext>
            </a:extLst>
          </p:cNvPr>
          <p:cNvPicPr>
            <a:picLocks noChangeAspect="1"/>
          </p:cNvPicPr>
          <p:nvPr/>
        </p:nvPicPr>
        <p:blipFill>
          <a:blip r:embed="rId4"/>
          <a:stretch>
            <a:fillRect/>
          </a:stretch>
        </p:blipFill>
        <p:spPr>
          <a:xfrm>
            <a:off x="3083741" y="2500112"/>
            <a:ext cx="3969926" cy="2808712"/>
          </a:xfrm>
          <a:prstGeom prst="rect">
            <a:avLst/>
          </a:prstGeom>
        </p:spPr>
      </p:pic>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24</a:t>
            </a:fld>
            <a:endParaRPr/>
          </a:p>
        </p:txBody>
      </p:sp>
      <p:sp>
        <p:nvSpPr>
          <p:cNvPr id="5" name="Google Shape;385;p59">
            <a:extLst>
              <a:ext uri="{FF2B5EF4-FFF2-40B4-BE49-F238E27FC236}">
                <a16:creationId xmlns:a16="http://schemas.microsoft.com/office/drawing/2014/main" id="{277D0A08-40DD-4044-A6CB-D65406A4A652}"/>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Conducting a Goodness-of-Fit Test</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(6 of 11)</a:t>
            </a:r>
            <a:endParaRPr dirty="0"/>
          </a:p>
        </p:txBody>
      </p:sp>
      <p:graphicFrame>
        <p:nvGraphicFramePr>
          <p:cNvPr id="2" name="Object 1">
            <a:extLst>
              <a:ext uri="{FF2B5EF4-FFF2-40B4-BE49-F238E27FC236}">
                <a16:creationId xmlns:a16="http://schemas.microsoft.com/office/drawing/2014/main" id="{D5BE5C70-DF0D-44AF-9783-B03579F82C08}"/>
              </a:ext>
            </a:extLst>
          </p:cNvPr>
          <p:cNvGraphicFramePr>
            <a:graphicFrameLocks noChangeAspect="1"/>
          </p:cNvGraphicFramePr>
          <p:nvPr>
            <p:extLst>
              <p:ext uri="{D42A27DB-BD31-4B8C-83A1-F6EECF244321}">
                <p14:modId xmlns:p14="http://schemas.microsoft.com/office/powerpoint/2010/main" val="2424242773"/>
              </p:ext>
            </p:extLst>
          </p:nvPr>
        </p:nvGraphicFramePr>
        <p:xfrm>
          <a:off x="389896" y="2277862"/>
          <a:ext cx="1866900" cy="444500"/>
        </p:xfrm>
        <a:graphic>
          <a:graphicData uri="http://schemas.openxmlformats.org/presentationml/2006/ole">
            <mc:AlternateContent xmlns:mc="http://schemas.openxmlformats.org/markup-compatibility/2006">
              <mc:Choice xmlns:v="urn:schemas-microsoft-com:vml" Requires="v">
                <p:oleObj spid="_x0000_s9343" name="Equation" r:id="rId5" imgW="1866600" imgH="444240" progId="Equation.DSMT4">
                  <p:embed/>
                </p:oleObj>
              </mc:Choice>
              <mc:Fallback>
                <p:oleObj name="Equation" r:id="rId5" imgW="1866600" imgH="444240" progId="Equation.DSMT4">
                  <p:embed/>
                  <p:pic>
                    <p:nvPicPr>
                      <p:cNvPr id="0" name=""/>
                      <p:cNvPicPr/>
                      <p:nvPr/>
                    </p:nvPicPr>
                    <p:blipFill>
                      <a:blip r:embed="rId6"/>
                      <a:stretch>
                        <a:fillRect/>
                      </a:stretch>
                    </p:blipFill>
                    <p:spPr>
                      <a:xfrm>
                        <a:off x="389896" y="2277862"/>
                        <a:ext cx="1866900" cy="444500"/>
                      </a:xfrm>
                      <a:prstGeom prst="rect">
                        <a:avLst/>
                      </a:prstGeom>
                    </p:spPr>
                  </p:pic>
                </p:oleObj>
              </mc:Fallback>
            </mc:AlternateContent>
          </a:graphicData>
        </a:graphic>
      </p:graphicFrame>
    </p:spTree>
    <p:extLst>
      <p:ext uri="{BB962C8B-B14F-4D97-AF65-F5344CB8AC3E}">
        <p14:creationId xmlns:p14="http://schemas.microsoft.com/office/powerpoint/2010/main" val="1869349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0" end="10"/>
                                            </p:txEl>
                                          </p:spTgt>
                                        </p:tgtEl>
                                        <p:attrNameLst>
                                          <p:attrName>style.visibility</p:attrName>
                                        </p:attrNameLst>
                                      </p:cBhvr>
                                      <p:to>
                                        <p:strVal val="visible"/>
                                      </p:to>
                                    </p:set>
                                    <p:animEffect transition="in" filter="fade">
                                      <p:cBhvr>
                                        <p:cTn id="12"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25</a:t>
            </a:fld>
            <a:endParaRPr/>
          </a:p>
        </p:txBody>
      </p:sp>
      <p:sp>
        <p:nvSpPr>
          <p:cNvPr id="5" name="Google Shape;385;p59">
            <a:extLst>
              <a:ext uri="{FF2B5EF4-FFF2-40B4-BE49-F238E27FC236}">
                <a16:creationId xmlns:a16="http://schemas.microsoft.com/office/drawing/2014/main" id="{277D0A08-40DD-4044-A6CB-D65406A4A652}"/>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Conducting a Goodness-of-Fit Test</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(7 of 11)</a:t>
            </a:r>
            <a:endParaRPr dirty="0"/>
          </a:p>
        </p:txBody>
      </p:sp>
      <p:sp>
        <p:nvSpPr>
          <p:cNvPr id="4" name="Rectangle 3">
            <a:extLst>
              <a:ext uri="{FF2B5EF4-FFF2-40B4-BE49-F238E27FC236}">
                <a16:creationId xmlns:a16="http://schemas.microsoft.com/office/drawing/2014/main" id="{1E578722-1D5B-4C32-998F-982B090A4E53}"/>
              </a:ext>
            </a:extLst>
          </p:cNvPr>
          <p:cNvSpPr/>
          <p:nvPr/>
        </p:nvSpPr>
        <p:spPr>
          <a:xfrm>
            <a:off x="311869" y="1097355"/>
            <a:ext cx="8634167" cy="2092881"/>
          </a:xfrm>
          <a:prstGeom prst="rect">
            <a:avLst/>
          </a:prstGeom>
        </p:spPr>
        <p:txBody>
          <a:bodyPr wrap="square">
            <a:spAutoFit/>
          </a:bodyPr>
          <a:lstStyle/>
          <a:p>
            <a:r>
              <a:rPr lang="en-US" sz="2600" b="1" dirty="0">
                <a:latin typeface="+mn-lt"/>
                <a:cs typeface="Times New Roman" panose="02020603050405020304" pitchFamily="18" charset="0"/>
              </a:rPr>
              <a:t>Classical Approach</a:t>
            </a:r>
          </a:p>
          <a:p>
            <a:r>
              <a:rPr lang="en-US" sz="2600" b="1" i="1" dirty="0">
                <a:latin typeface="Times New Roman" panose="02020603050405020304" pitchFamily="18" charset="0"/>
                <a:cs typeface="Times New Roman" panose="02020603050405020304" pitchFamily="18" charset="0"/>
              </a:rPr>
              <a:t>Step 5 </a:t>
            </a:r>
            <a:r>
              <a:rPr lang="en-US" sz="2600" dirty="0">
                <a:latin typeface="Times New Roman" panose="02020603050405020304" pitchFamily="18" charset="0"/>
                <a:cs typeface="Times New Roman" panose="02020603050405020304" pitchFamily="18" charset="0"/>
              </a:rPr>
              <a:t>The sample evidence suggests there is sufficient evidence at the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0.05 level of significance to conclude the distribution of income in the United States is different today than it was in 2000.</a:t>
            </a:r>
          </a:p>
        </p:txBody>
      </p:sp>
    </p:spTree>
    <p:extLst>
      <p:ext uri="{BB962C8B-B14F-4D97-AF65-F5344CB8AC3E}">
        <p14:creationId xmlns:p14="http://schemas.microsoft.com/office/powerpoint/2010/main" val="2768626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26</a:t>
            </a:fld>
            <a:endParaRPr/>
          </a:p>
        </p:txBody>
      </p:sp>
      <p:sp>
        <p:nvSpPr>
          <p:cNvPr id="5" name="Google Shape;385;p59">
            <a:extLst>
              <a:ext uri="{FF2B5EF4-FFF2-40B4-BE49-F238E27FC236}">
                <a16:creationId xmlns:a16="http://schemas.microsoft.com/office/drawing/2014/main" id="{277D0A08-40DD-4044-A6CB-D65406A4A652}"/>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Conducting a Goodness-of-Fit Test</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(8 of 11)</a:t>
            </a:r>
            <a:endParaRPr dirty="0"/>
          </a:p>
        </p:txBody>
      </p:sp>
      <p:sp>
        <p:nvSpPr>
          <p:cNvPr id="4" name="Rectangle 3">
            <a:extLst>
              <a:ext uri="{FF2B5EF4-FFF2-40B4-BE49-F238E27FC236}">
                <a16:creationId xmlns:a16="http://schemas.microsoft.com/office/drawing/2014/main" id="{1E578722-1D5B-4C32-998F-982B090A4E53}"/>
              </a:ext>
            </a:extLst>
          </p:cNvPr>
          <p:cNvSpPr/>
          <p:nvPr/>
        </p:nvSpPr>
        <p:spPr>
          <a:xfrm>
            <a:off x="311870" y="1097355"/>
            <a:ext cx="8520258" cy="1292662"/>
          </a:xfrm>
          <a:prstGeom prst="rect">
            <a:avLst/>
          </a:prstGeom>
        </p:spPr>
        <p:txBody>
          <a:bodyPr wrap="square">
            <a:spAutoFit/>
          </a:bodyPr>
          <a:lstStyle/>
          <a:p>
            <a:r>
              <a:rPr lang="en-US" sz="2600" b="1" i="1" dirty="0">
                <a:latin typeface="+mn-lt"/>
                <a:cs typeface="Times New Roman" panose="02020603050405020304" pitchFamily="18" charset="0"/>
              </a:rPr>
              <a:t>P</a:t>
            </a:r>
            <a:r>
              <a:rPr lang="en-US" sz="2600" b="1" dirty="0">
                <a:latin typeface="+mn-lt"/>
                <a:cs typeface="Times New Roman" panose="02020603050405020304" pitchFamily="18" charset="0"/>
              </a:rPr>
              <a:t>-Value Approach</a:t>
            </a:r>
          </a:p>
          <a:p>
            <a:r>
              <a:rPr lang="en-US" sz="2600" b="1" i="1" dirty="0">
                <a:latin typeface="Times New Roman" panose="02020603050405020304" pitchFamily="18" charset="0"/>
                <a:cs typeface="Times New Roman" panose="02020603050405020304" pitchFamily="18" charset="0"/>
              </a:rPr>
              <a:t>By Hand Step 3 (continued)</a:t>
            </a:r>
          </a:p>
          <a:p>
            <a:r>
              <a:rPr lang="en-US" sz="2600" b="1" dirty="0">
                <a:latin typeface="Times New Roman" panose="02020603050405020304" pitchFamily="18" charset="0"/>
                <a:cs typeface="Times New Roman" panose="02020603050405020304" pitchFamily="18" charset="0"/>
              </a:rPr>
              <a:t>(c) </a:t>
            </a:r>
            <a:r>
              <a:rPr lang="en-US" sz="2600" dirty="0">
                <a:latin typeface="Times New Roman" panose="02020603050405020304" pitchFamily="18" charset="0"/>
                <a:cs typeface="Times New Roman" panose="02020603050405020304" pitchFamily="18" charset="0"/>
              </a:rPr>
              <a:t>The test statistic is</a:t>
            </a:r>
          </a:p>
        </p:txBody>
      </p:sp>
      <p:graphicFrame>
        <p:nvGraphicFramePr>
          <p:cNvPr id="3" name="Object 2">
            <a:extLst>
              <a:ext uri="{FF2B5EF4-FFF2-40B4-BE49-F238E27FC236}">
                <a16:creationId xmlns:a16="http://schemas.microsoft.com/office/drawing/2014/main" id="{504A8D00-BC26-4272-A940-4357B8292CC2}"/>
              </a:ext>
            </a:extLst>
          </p:cNvPr>
          <p:cNvGraphicFramePr>
            <a:graphicFrameLocks noChangeAspect="1"/>
          </p:cNvGraphicFramePr>
          <p:nvPr/>
        </p:nvGraphicFramePr>
        <p:xfrm>
          <a:off x="3431357" y="1601344"/>
          <a:ext cx="2463800" cy="1003300"/>
        </p:xfrm>
        <a:graphic>
          <a:graphicData uri="http://schemas.openxmlformats.org/presentationml/2006/ole">
            <mc:AlternateContent xmlns:mc="http://schemas.openxmlformats.org/markup-compatibility/2006">
              <mc:Choice xmlns:v="urn:schemas-microsoft-com:vml" Requires="v">
                <p:oleObj spid="_x0000_s10490" name="Equation" r:id="rId4" imgW="2463480" imgH="1002960" progId="Equation.DSMT4">
                  <p:embed/>
                </p:oleObj>
              </mc:Choice>
              <mc:Fallback>
                <p:oleObj name="Equation" r:id="rId4" imgW="2463480" imgH="1002960" progId="Equation.DSMT4">
                  <p:embed/>
                  <p:pic>
                    <p:nvPicPr>
                      <p:cNvPr id="3" name="Object 2">
                        <a:extLst>
                          <a:ext uri="{FF2B5EF4-FFF2-40B4-BE49-F238E27FC236}">
                            <a16:creationId xmlns:a16="http://schemas.microsoft.com/office/drawing/2014/main" id="{504A8D00-BC26-4272-A940-4357B8292CC2}"/>
                          </a:ext>
                        </a:extLst>
                      </p:cNvPr>
                      <p:cNvPicPr/>
                      <p:nvPr/>
                    </p:nvPicPr>
                    <p:blipFill>
                      <a:blip r:embed="rId5"/>
                      <a:stretch>
                        <a:fillRect/>
                      </a:stretch>
                    </p:blipFill>
                    <p:spPr>
                      <a:xfrm>
                        <a:off x="3431357" y="1601344"/>
                        <a:ext cx="2463800" cy="10033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C1F59EB1-D636-4AC8-A673-67E80E48ACC7}"/>
              </a:ext>
            </a:extLst>
          </p:cNvPr>
          <p:cNvGraphicFramePr>
            <a:graphicFrameLocks noChangeAspect="1"/>
          </p:cNvGraphicFramePr>
          <p:nvPr/>
        </p:nvGraphicFramePr>
        <p:xfrm>
          <a:off x="888999" y="2661206"/>
          <a:ext cx="7366000" cy="3416300"/>
        </p:xfrm>
        <a:graphic>
          <a:graphicData uri="http://schemas.openxmlformats.org/presentationml/2006/ole">
            <mc:AlternateContent xmlns:mc="http://schemas.openxmlformats.org/markup-compatibility/2006">
              <mc:Choice xmlns:v="urn:schemas-microsoft-com:vml" Requires="v">
                <p:oleObj spid="_x0000_s10491" name="Equation" r:id="rId6" imgW="7365960" imgH="3416040" progId="Equation.DSMT4">
                  <p:embed/>
                </p:oleObj>
              </mc:Choice>
              <mc:Fallback>
                <p:oleObj name="Equation" r:id="rId6" imgW="7365960" imgH="3416040" progId="Equation.DSMT4">
                  <p:embed/>
                  <p:pic>
                    <p:nvPicPr>
                      <p:cNvPr id="6" name="Object 5">
                        <a:extLst>
                          <a:ext uri="{FF2B5EF4-FFF2-40B4-BE49-F238E27FC236}">
                            <a16:creationId xmlns:a16="http://schemas.microsoft.com/office/drawing/2014/main" id="{C1F59EB1-D636-4AC8-A673-67E80E48ACC7}"/>
                          </a:ext>
                        </a:extLst>
                      </p:cNvPr>
                      <p:cNvPicPr/>
                      <p:nvPr/>
                    </p:nvPicPr>
                    <p:blipFill>
                      <a:blip r:embed="rId7"/>
                      <a:stretch>
                        <a:fillRect/>
                      </a:stretch>
                    </p:blipFill>
                    <p:spPr>
                      <a:xfrm>
                        <a:off x="888999" y="2661206"/>
                        <a:ext cx="7366000" cy="3416300"/>
                      </a:xfrm>
                      <a:prstGeom prst="rect">
                        <a:avLst/>
                      </a:prstGeom>
                    </p:spPr>
                  </p:pic>
                </p:oleObj>
              </mc:Fallback>
            </mc:AlternateContent>
          </a:graphicData>
        </a:graphic>
      </p:graphicFrame>
    </p:spTree>
    <p:extLst>
      <p:ext uri="{BB962C8B-B14F-4D97-AF65-F5344CB8AC3E}">
        <p14:creationId xmlns:p14="http://schemas.microsoft.com/office/powerpoint/2010/main" val="778017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5293757"/>
          </a:xfrm>
          <a:prstGeom prst="rect">
            <a:avLst/>
          </a:prstGeom>
        </p:spPr>
        <p:txBody>
          <a:bodyPr wrap="square">
            <a:spAutoFit/>
          </a:bodyPr>
          <a:lstStyle/>
          <a:p>
            <a:r>
              <a:rPr lang="en-US" sz="2600" b="1" i="1" dirty="0">
                <a:latin typeface="+mn-lt"/>
                <a:cs typeface="Times New Roman" panose="02020603050405020304" pitchFamily="18" charset="0"/>
              </a:rPr>
              <a:t>P</a:t>
            </a:r>
            <a:r>
              <a:rPr lang="en-US" sz="2600" b="1" dirty="0">
                <a:latin typeface="+mn-lt"/>
                <a:cs typeface="Times New Roman" panose="02020603050405020304" pitchFamily="18" charset="0"/>
              </a:rPr>
              <a:t>-Value Approach</a:t>
            </a:r>
          </a:p>
          <a:p>
            <a:r>
              <a:rPr lang="en-US" sz="2600" b="1" dirty="0">
                <a:latin typeface="Times New Roman" panose="02020603050405020304" pitchFamily="18" charset="0"/>
                <a:cs typeface="Times New Roman" panose="02020603050405020304" pitchFamily="18" charset="0"/>
              </a:rPr>
              <a:t>(d) </a:t>
            </a:r>
            <a:r>
              <a:rPr lang="en-US" sz="2600" dirty="0">
                <a:latin typeface="Times New Roman" panose="02020603050405020304" pitchFamily="18" charset="0"/>
                <a:cs typeface="Times New Roman" panose="02020603050405020304" pitchFamily="18" charset="0"/>
              </a:rPr>
              <a:t>There are </a:t>
            </a:r>
            <a:r>
              <a:rPr lang="en-US" sz="2600" i="1" dirty="0">
                <a:latin typeface="Times New Roman" panose="02020603050405020304" pitchFamily="18" charset="0"/>
                <a:cs typeface="Times New Roman" panose="02020603050405020304" pitchFamily="18" charset="0"/>
              </a:rPr>
              <a:t>k </a:t>
            </a:r>
            <a:r>
              <a:rPr lang="en-US" sz="2600" dirty="0">
                <a:latin typeface="Times New Roman" panose="02020603050405020304" pitchFamily="18" charset="0"/>
                <a:cs typeface="Times New Roman" panose="02020603050405020304" pitchFamily="18" charset="0"/>
              </a:rPr>
              <a:t>= 9 categories.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is the area under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the chi-square distribution with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9 – 1 = 8 degrees of freedom to</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the right of</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Using Table VIII, find the row that corresponds to 8 degrees of freedom. The value of 20.693 lies between 20.090, which corresponds to an area to the right of 0.01, and 21.955, which corresponds to an area to the right of 0.005. Therefore,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is between 0.005 and 0.01.</a:t>
            </a:r>
          </a:p>
          <a:p>
            <a:r>
              <a:rPr lang="en-US" sz="2600" dirty="0">
                <a:latin typeface="Times New Roman" panose="02020603050405020304" pitchFamily="18" charset="0"/>
                <a:cs typeface="Times New Roman" panose="02020603050405020304" pitchFamily="18" charset="0"/>
              </a:rPr>
              <a:t>So, 0.005 &lt;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&lt; 0.01. </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dirty="0">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27</a:t>
            </a:fld>
            <a:endParaRPr dirty="0"/>
          </a:p>
        </p:txBody>
      </p:sp>
      <p:sp>
        <p:nvSpPr>
          <p:cNvPr id="5" name="Google Shape;385;p59">
            <a:extLst>
              <a:ext uri="{FF2B5EF4-FFF2-40B4-BE49-F238E27FC236}">
                <a16:creationId xmlns:a16="http://schemas.microsoft.com/office/drawing/2014/main" id="{277D0A08-40DD-4044-A6CB-D65406A4A652}"/>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Conducting a Goodness-of-Fit Test</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(9 of 11)</a:t>
            </a:r>
            <a:endParaRPr dirty="0"/>
          </a:p>
        </p:txBody>
      </p:sp>
      <p:graphicFrame>
        <p:nvGraphicFramePr>
          <p:cNvPr id="2" name="Object 1">
            <a:extLst>
              <a:ext uri="{FF2B5EF4-FFF2-40B4-BE49-F238E27FC236}">
                <a16:creationId xmlns:a16="http://schemas.microsoft.com/office/drawing/2014/main" id="{D5BE5C70-DF0D-44AF-9783-B03579F82C08}"/>
              </a:ext>
            </a:extLst>
          </p:cNvPr>
          <p:cNvGraphicFramePr>
            <a:graphicFrameLocks noChangeAspect="1"/>
          </p:cNvGraphicFramePr>
          <p:nvPr>
            <p:extLst>
              <p:ext uri="{D42A27DB-BD31-4B8C-83A1-F6EECF244321}">
                <p14:modId xmlns:p14="http://schemas.microsoft.com/office/powerpoint/2010/main" val="3697611681"/>
              </p:ext>
            </p:extLst>
          </p:nvPr>
        </p:nvGraphicFramePr>
        <p:xfrm>
          <a:off x="2044340" y="3071616"/>
          <a:ext cx="1701800" cy="444500"/>
        </p:xfrm>
        <a:graphic>
          <a:graphicData uri="http://schemas.openxmlformats.org/presentationml/2006/ole">
            <mc:AlternateContent xmlns:mc="http://schemas.openxmlformats.org/markup-compatibility/2006">
              <mc:Choice xmlns:v="urn:schemas-microsoft-com:vml" Requires="v">
                <p:oleObj spid="_x0000_s11390" name="Equation" r:id="rId4" imgW="1701720" imgH="444240" progId="Equation.DSMT4">
                  <p:embed/>
                </p:oleObj>
              </mc:Choice>
              <mc:Fallback>
                <p:oleObj name="Equation" r:id="rId4" imgW="1701720" imgH="444240" progId="Equation.DSMT4">
                  <p:embed/>
                  <p:pic>
                    <p:nvPicPr>
                      <p:cNvPr id="2" name="Object 1">
                        <a:extLst>
                          <a:ext uri="{FF2B5EF4-FFF2-40B4-BE49-F238E27FC236}">
                            <a16:creationId xmlns:a16="http://schemas.microsoft.com/office/drawing/2014/main" id="{D5BE5C70-DF0D-44AF-9783-B03579F82C08}"/>
                          </a:ext>
                        </a:extLst>
                      </p:cNvPr>
                      <p:cNvPicPr/>
                      <p:nvPr/>
                    </p:nvPicPr>
                    <p:blipFill>
                      <a:blip r:embed="rId5"/>
                      <a:stretch>
                        <a:fillRect/>
                      </a:stretch>
                    </p:blipFill>
                    <p:spPr>
                      <a:xfrm>
                        <a:off x="2044340" y="3071616"/>
                        <a:ext cx="1701800" cy="444500"/>
                      </a:xfrm>
                      <a:prstGeom prst="rect">
                        <a:avLst/>
                      </a:prstGeom>
                    </p:spPr>
                  </p:pic>
                </p:oleObj>
              </mc:Fallback>
            </mc:AlternateContent>
          </a:graphicData>
        </a:graphic>
      </p:graphicFrame>
      <p:pic>
        <p:nvPicPr>
          <p:cNvPr id="6" name="Picture 5" descr="A close up of a logo&#10;&#10;Description automatically generated">
            <a:extLst>
              <a:ext uri="{FF2B5EF4-FFF2-40B4-BE49-F238E27FC236}">
                <a16:creationId xmlns:a16="http://schemas.microsoft.com/office/drawing/2014/main" id="{FC3240FB-5EBC-41AF-BA43-93C4A6D9AB92}"/>
              </a:ext>
            </a:extLst>
          </p:cNvPr>
          <p:cNvPicPr>
            <a:picLocks noChangeAspect="1"/>
          </p:cNvPicPr>
          <p:nvPr/>
        </p:nvPicPr>
        <p:blipFill>
          <a:blip r:embed="rId6"/>
          <a:stretch>
            <a:fillRect/>
          </a:stretch>
        </p:blipFill>
        <p:spPr>
          <a:xfrm>
            <a:off x="4635026" y="1156767"/>
            <a:ext cx="4197104" cy="2811786"/>
          </a:xfrm>
          <a:prstGeom prst="rect">
            <a:avLst/>
          </a:prstGeom>
        </p:spPr>
      </p:pic>
    </p:spTree>
    <p:extLst>
      <p:ext uri="{BB962C8B-B14F-4D97-AF65-F5344CB8AC3E}">
        <p14:creationId xmlns:p14="http://schemas.microsoft.com/office/powerpoint/2010/main" val="4103274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5293757"/>
          </a:xfrm>
          <a:prstGeom prst="rect">
            <a:avLst/>
          </a:prstGeom>
        </p:spPr>
        <p:txBody>
          <a:bodyPr wrap="square">
            <a:spAutoFit/>
          </a:bodyPr>
          <a:lstStyle/>
          <a:p>
            <a:r>
              <a:rPr lang="en-US" sz="2600" b="1" i="1" dirty="0">
                <a:latin typeface="+mn-lt"/>
                <a:cs typeface="Times New Roman" panose="02020603050405020304" pitchFamily="18" charset="0"/>
              </a:rPr>
              <a:t>P</a:t>
            </a:r>
            <a:r>
              <a:rPr lang="en-US" sz="2600" b="1" dirty="0">
                <a:latin typeface="+mn-lt"/>
                <a:cs typeface="Times New Roman" panose="02020603050405020304" pitchFamily="18" charset="0"/>
              </a:rPr>
              <a:t>-Value Approach</a:t>
            </a:r>
          </a:p>
          <a:p>
            <a:r>
              <a:rPr lang="en-US" sz="2600" b="1" i="1" dirty="0">
                <a:latin typeface="Times New Roman" panose="02020603050405020304" pitchFamily="18" charset="0"/>
                <a:cs typeface="Times New Roman" panose="02020603050405020304" pitchFamily="18" charset="0"/>
              </a:rPr>
              <a:t>Technology Step 3 (continued)</a:t>
            </a:r>
          </a:p>
          <a:p>
            <a:r>
              <a:rPr lang="en-US" sz="2600" b="1" dirty="0">
                <a:latin typeface="Times New Roman" panose="02020603050405020304" pitchFamily="18" charset="0"/>
                <a:cs typeface="Times New Roman" panose="02020603050405020304" pitchFamily="18" charset="0"/>
              </a:rPr>
              <a:t>(c) </a:t>
            </a:r>
            <a:r>
              <a:rPr lang="en-US" sz="2600" dirty="0">
                <a:latin typeface="Times New Roman" panose="02020603050405020304" pitchFamily="18" charset="0"/>
                <a:cs typeface="Times New Roman" panose="02020603050405020304" pitchFamily="18" charset="0"/>
              </a:rPr>
              <a:t>The figure shows the result of the Goodness-of-Fit test</a:t>
            </a:r>
          </a:p>
          <a:p>
            <a:r>
              <a:rPr lang="en-US" sz="2600" dirty="0">
                <a:latin typeface="Times New Roman" panose="02020603050405020304" pitchFamily="18" charset="0"/>
                <a:cs typeface="Times New Roman" panose="02020603050405020304" pitchFamily="18" charset="0"/>
              </a:rPr>
              <a:t>      from StatCrunch.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is reported as 0.008.</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4 </a:t>
            </a:r>
            <a:r>
              <a:rPr lang="en-US" sz="2600" dirty="0">
                <a:latin typeface="Times New Roman" panose="02020603050405020304" pitchFamily="18" charset="0"/>
                <a:cs typeface="Times New Roman" panose="02020603050405020304" pitchFamily="18" charset="0"/>
              </a:rPr>
              <a:t>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of 0.008 means that </a:t>
            </a:r>
            <a:r>
              <a:rPr lang="en-US" sz="2600" i="1" dirty="0">
                <a:latin typeface="Times New Roman" panose="02020603050405020304" pitchFamily="18" charset="0"/>
                <a:cs typeface="Times New Roman" panose="02020603050405020304" pitchFamily="18" charset="0"/>
              </a:rPr>
              <a:t>if </a:t>
            </a:r>
            <a:r>
              <a:rPr lang="en-US" sz="2600" dirty="0">
                <a:latin typeface="Times New Roman" panose="02020603050405020304" pitchFamily="18" charset="0"/>
                <a:cs typeface="Times New Roman" panose="02020603050405020304" pitchFamily="18" charset="0"/>
              </a:rPr>
              <a:t>the null hypothesis “the distribution of income is the same today as in 2000” is true, we would expect about 8 samples in 1000 to yield the results at least as extreme as those we obtained. </a:t>
            </a:r>
            <a:endParaRPr lang="en-US" sz="2600" b="1" i="1" dirty="0">
              <a:latin typeface="Times New Roman" panose="02020603050405020304" pitchFamily="18" charset="0"/>
              <a:cs typeface="Times New Roman" panose="02020603050405020304" pitchFamily="18" charset="0"/>
            </a:endParaRPr>
          </a:p>
        </p:txBody>
      </p:sp>
      <p:sp>
        <p:nvSpPr>
          <p:cNvPr id="143" name="Google Shape;143;p24"/>
          <p:cNvSpPr txBox="1"/>
          <p:nvPr/>
        </p:nvSpPr>
        <p:spPr>
          <a:xfrm>
            <a:off x="0" y="6362307"/>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28</a:t>
            </a:fld>
            <a:endParaRPr/>
          </a:p>
        </p:txBody>
      </p:sp>
      <p:sp>
        <p:nvSpPr>
          <p:cNvPr id="5" name="Google Shape;385;p59">
            <a:extLst>
              <a:ext uri="{FF2B5EF4-FFF2-40B4-BE49-F238E27FC236}">
                <a16:creationId xmlns:a16="http://schemas.microsoft.com/office/drawing/2014/main" id="{277D0A08-40DD-4044-A6CB-D65406A4A652}"/>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Conducting a Goodness-of-Fit Test</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(10 of 11)</a:t>
            </a:r>
            <a:endParaRPr dirty="0"/>
          </a:p>
        </p:txBody>
      </p:sp>
      <p:pic>
        <p:nvPicPr>
          <p:cNvPr id="7" name="Picture 6" descr="A screenshot of a cell phone&#10;&#10;Description automatically generated">
            <a:extLst>
              <a:ext uri="{FF2B5EF4-FFF2-40B4-BE49-F238E27FC236}">
                <a16:creationId xmlns:a16="http://schemas.microsoft.com/office/drawing/2014/main" id="{AC773426-4325-4D5E-90D0-0B44E12F4707}"/>
              </a:ext>
            </a:extLst>
          </p:cNvPr>
          <p:cNvPicPr>
            <a:picLocks noChangeAspect="1"/>
          </p:cNvPicPr>
          <p:nvPr/>
        </p:nvPicPr>
        <p:blipFill>
          <a:blip r:embed="rId3"/>
          <a:stretch>
            <a:fillRect/>
          </a:stretch>
        </p:blipFill>
        <p:spPr>
          <a:xfrm>
            <a:off x="2459520" y="3037171"/>
            <a:ext cx="3753619" cy="138531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916831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9" end="9"/>
                                            </p:txEl>
                                          </p:spTgt>
                                        </p:tgtEl>
                                        <p:attrNameLst>
                                          <p:attrName>style.visibility</p:attrName>
                                        </p:attrNameLst>
                                      </p:cBhvr>
                                      <p:to>
                                        <p:strVal val="visible"/>
                                      </p:to>
                                    </p:set>
                                    <p:animEffect transition="in" filter="fade">
                                      <p:cBhvr>
                                        <p:cTn id="7"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4093428"/>
          </a:xfrm>
          <a:prstGeom prst="rect">
            <a:avLst/>
          </a:prstGeom>
        </p:spPr>
        <p:txBody>
          <a:bodyPr wrap="square">
            <a:spAutoFit/>
          </a:bodyPr>
          <a:lstStyle/>
          <a:p>
            <a:r>
              <a:rPr lang="en-US" sz="2600" b="1" i="1" dirty="0">
                <a:latin typeface="+mn-lt"/>
                <a:cs typeface="Times New Roman" panose="02020603050405020304" pitchFamily="18" charset="0"/>
              </a:rPr>
              <a:t>P</a:t>
            </a:r>
            <a:r>
              <a:rPr lang="en-US" sz="2600" b="1" dirty="0">
                <a:latin typeface="+mn-lt"/>
                <a:cs typeface="Times New Roman" panose="02020603050405020304" pitchFamily="18" charset="0"/>
              </a:rPr>
              <a:t>-Value Approach</a:t>
            </a:r>
          </a:p>
          <a:p>
            <a:r>
              <a:rPr lang="en-US" sz="2600" dirty="0">
                <a:latin typeface="Times New Roman" panose="02020603050405020304" pitchFamily="18" charset="0"/>
                <a:cs typeface="Times New Roman" panose="02020603050405020304" pitchFamily="18" charset="0"/>
              </a:rPr>
              <a:t>The observed results are unusual under the assumption the null hypothesis is true. Because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is less than the level of significance (Tech: 0.008 &lt; 0.05), we reject the null hypothesis.</a:t>
            </a:r>
          </a:p>
          <a:p>
            <a:endParaRPr lang="en-US" sz="2600" b="1" i="1"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5 </a:t>
            </a:r>
            <a:r>
              <a:rPr lang="en-US" sz="2600" dirty="0">
                <a:latin typeface="Times New Roman" panose="02020603050405020304" pitchFamily="18" charset="0"/>
                <a:cs typeface="Times New Roman" panose="02020603050405020304" pitchFamily="18" charset="0"/>
              </a:rPr>
              <a:t>The sample evidence suggests there is sufficient evidence at the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0.05 level of significance to conclude the distribution of income in the United States is different today than it was in 2000.</a:t>
            </a:r>
            <a:endParaRPr lang="en-US" sz="2600" b="1" i="1" dirty="0">
              <a:latin typeface="Times New Roman" panose="02020603050405020304" pitchFamily="18" charset="0"/>
              <a:cs typeface="Times New Roman" panose="02020603050405020304" pitchFamily="18" charset="0"/>
            </a:endParaRPr>
          </a:p>
          <a:p>
            <a:endParaRPr lang="en-US" sz="2600" b="1" i="1" dirty="0">
              <a:latin typeface="Times New Roman" panose="02020603050405020304" pitchFamily="18" charset="0"/>
              <a:cs typeface="Times New Roman" panose="02020603050405020304" pitchFamily="18" charset="0"/>
            </a:endParaRPr>
          </a:p>
        </p:txBody>
      </p:sp>
      <p:sp>
        <p:nvSpPr>
          <p:cNvPr id="143" name="Google Shape;143;p24"/>
          <p:cNvSpPr txBox="1"/>
          <p:nvPr/>
        </p:nvSpPr>
        <p:spPr>
          <a:xfrm>
            <a:off x="0" y="6362307"/>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29</a:t>
            </a:fld>
            <a:endParaRPr/>
          </a:p>
        </p:txBody>
      </p:sp>
      <p:sp>
        <p:nvSpPr>
          <p:cNvPr id="5" name="Google Shape;385;p59">
            <a:extLst>
              <a:ext uri="{FF2B5EF4-FFF2-40B4-BE49-F238E27FC236}">
                <a16:creationId xmlns:a16="http://schemas.microsoft.com/office/drawing/2014/main" id="{277D0A08-40DD-4044-A6CB-D65406A4A652}"/>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Conducting a Goodness-of-Fit Test</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(11 of 11)</a:t>
            </a:r>
            <a:endParaRPr dirty="0"/>
          </a:p>
        </p:txBody>
      </p:sp>
    </p:spTree>
    <p:extLst>
      <p:ext uri="{BB962C8B-B14F-4D97-AF65-F5344CB8AC3E}">
        <p14:creationId xmlns:p14="http://schemas.microsoft.com/office/powerpoint/2010/main" val="1909594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5262979"/>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An obstetrician wants to know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whether the proportion of children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born on each day of the week is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the same. She randomly selects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500 birth records and obtains the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data shown in Table 3 (based on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data obtained from </a:t>
            </a:r>
            <a:r>
              <a:rPr lang="en-US" sz="2800" i="1" dirty="0">
                <a:latin typeface="Times New Roman" panose="02020603050405020304" pitchFamily="18" charset="0"/>
                <a:cs typeface="Times New Roman" panose="02020603050405020304" pitchFamily="18" charset="0"/>
              </a:rPr>
              <a:t>Vital Statistics </a:t>
            </a:r>
            <a:br>
              <a:rPr lang="en-US" sz="2800" i="1" dirty="0">
                <a:latin typeface="Times New Roman" panose="02020603050405020304" pitchFamily="18" charset="0"/>
                <a:cs typeface="Times New Roman" panose="02020603050405020304" pitchFamily="18" charset="0"/>
              </a:rPr>
            </a:br>
            <a:r>
              <a:rPr lang="en-US" sz="2800" i="1" dirty="0">
                <a:latin typeface="Times New Roman" panose="02020603050405020304" pitchFamily="18" charset="0"/>
                <a:cs typeface="Times New Roman" panose="02020603050405020304" pitchFamily="18" charset="0"/>
              </a:rPr>
              <a:t>of the United States</a:t>
            </a:r>
            <a:r>
              <a:rPr lang="en-US" sz="2800" dirty="0">
                <a:latin typeface="Times New Roman" panose="02020603050405020304" pitchFamily="18" charset="0"/>
                <a:cs typeface="Times New Roman" panose="02020603050405020304" pitchFamily="18" charset="0"/>
              </a:rPr>
              <a:t>, 2016).</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Is there reason to believe that the day on which a child is born does not occur with equal frequency at the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 0.01 level of significance?</a:t>
            </a:r>
            <a:endParaRPr lang="en-US" sz="2800" b="1" i="1" dirty="0">
              <a:latin typeface="Times New Roman" panose="02020603050405020304" pitchFamily="18" charset="0"/>
              <a:cs typeface="Times New Roman" panose="02020603050405020304" pitchFamily="18" charset="0"/>
            </a:endParaRPr>
          </a:p>
        </p:txBody>
      </p:sp>
      <p:sp>
        <p:nvSpPr>
          <p:cNvPr id="143" name="Google Shape;143;p24"/>
          <p:cNvSpPr txBox="1"/>
          <p:nvPr/>
        </p:nvSpPr>
        <p:spPr>
          <a:xfrm>
            <a:off x="0" y="6362307"/>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30</a:t>
            </a:fld>
            <a:endParaRPr/>
          </a:p>
        </p:txBody>
      </p:sp>
      <p:sp>
        <p:nvSpPr>
          <p:cNvPr id="5" name="Google Shape;385;p59">
            <a:extLst>
              <a:ext uri="{FF2B5EF4-FFF2-40B4-BE49-F238E27FC236}">
                <a16:creationId xmlns:a16="http://schemas.microsoft.com/office/drawing/2014/main" id="{277D0A08-40DD-4044-A6CB-D65406A4A652}"/>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Conducting a Goodness-of-Fit Test</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 of 8)</a:t>
            </a:r>
            <a:endParaRPr dirty="0"/>
          </a:p>
        </p:txBody>
      </p:sp>
      <p:pic>
        <p:nvPicPr>
          <p:cNvPr id="3" name="Picture 2" descr="A screenshot of a cell phone&#10;&#10;Description automatically generated">
            <a:extLst>
              <a:ext uri="{FF2B5EF4-FFF2-40B4-BE49-F238E27FC236}">
                <a16:creationId xmlns:a16="http://schemas.microsoft.com/office/drawing/2014/main" id="{014324D0-7AA5-4369-9E49-34D0380C0C9E}"/>
              </a:ext>
            </a:extLst>
          </p:cNvPr>
          <p:cNvPicPr>
            <a:picLocks noChangeAspect="1"/>
          </p:cNvPicPr>
          <p:nvPr/>
        </p:nvPicPr>
        <p:blipFill>
          <a:blip r:embed="rId3"/>
          <a:stretch>
            <a:fillRect/>
          </a:stretch>
        </p:blipFill>
        <p:spPr>
          <a:xfrm>
            <a:off x="5429704" y="1170798"/>
            <a:ext cx="3488443" cy="3383287"/>
          </a:xfrm>
          <a:prstGeom prst="rect">
            <a:avLst/>
          </a:prstGeom>
        </p:spPr>
      </p:pic>
    </p:spTree>
    <p:extLst>
      <p:ext uri="{BB962C8B-B14F-4D97-AF65-F5344CB8AC3E}">
        <p14:creationId xmlns:p14="http://schemas.microsoft.com/office/powerpoint/2010/main" val="1768856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4093428"/>
          </a:xfrm>
          <a:prstGeom prst="rect">
            <a:avLst/>
          </a:prstGeom>
        </p:spPr>
        <p:txBody>
          <a:bodyPr wrap="square">
            <a:spAutoFit/>
          </a:bodyPr>
          <a:lstStyle/>
          <a:p>
            <a:r>
              <a:rPr lang="en-US" sz="2600" b="1" i="1" dirty="0">
                <a:latin typeface="Times New Roman" panose="02020603050405020304" pitchFamily="18" charset="0"/>
                <a:cs typeface="Times New Roman" panose="02020603050405020304" pitchFamily="18" charset="0"/>
              </a:rPr>
              <a:t>Step 1 </a:t>
            </a:r>
            <a:r>
              <a:rPr lang="en-US" sz="2600" dirty="0">
                <a:latin typeface="Times New Roman" panose="02020603050405020304" pitchFamily="18" charset="0"/>
                <a:cs typeface="Times New Roman" panose="02020603050405020304" pitchFamily="18" charset="0"/>
              </a:rPr>
              <a:t>The null hypothesis is a statement of “no difference,” so we assume that the day on which a child is born occurs with equal frequency. If 1 represents Sunday, 2 represents Monday, and so on, we have</a:t>
            </a:r>
          </a:p>
          <a:p>
            <a:r>
              <a:rPr lang="en-US" sz="2600" i="1" dirty="0">
                <a:latin typeface="Times New Roman" panose="02020603050405020304" pitchFamily="18" charset="0"/>
                <a:cs typeface="Times New Roman" panose="02020603050405020304" pitchFamily="18" charset="0"/>
              </a:rPr>
              <a:t>	H</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p</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rPr>
              <a:t>p</a:t>
            </a:r>
            <a:r>
              <a:rPr lang="en-US" sz="2600" baseline="-25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rPr>
              <a:t>p</a:t>
            </a:r>
            <a:r>
              <a:rPr lang="en-US" sz="2600" baseline="-25000" dirty="0">
                <a:latin typeface="Times New Roman" panose="02020603050405020304" pitchFamily="18" charset="0"/>
                <a:cs typeface="Times New Roman" panose="02020603050405020304" pitchFamily="18" charset="0"/>
              </a:rPr>
              <a:t>3</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rPr>
              <a:t>p</a:t>
            </a:r>
            <a:r>
              <a:rPr lang="en-US" sz="2600" baseline="-25000" dirty="0">
                <a:latin typeface="Times New Roman" panose="02020603050405020304" pitchFamily="18" charset="0"/>
                <a:cs typeface="Times New Roman" panose="02020603050405020304" pitchFamily="18" charset="0"/>
              </a:rPr>
              <a:t>4</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rPr>
              <a:t>p</a:t>
            </a:r>
            <a:r>
              <a:rPr lang="en-US" sz="2600" baseline="-25000" dirty="0">
                <a:latin typeface="Times New Roman" panose="02020603050405020304" pitchFamily="18" charset="0"/>
                <a:cs typeface="Times New Roman" panose="02020603050405020304" pitchFamily="18" charset="0"/>
              </a:rPr>
              <a:t>5</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rPr>
              <a:t>p</a:t>
            </a:r>
            <a:r>
              <a:rPr lang="en-US" sz="2600" baseline="-25000" dirty="0">
                <a:latin typeface="Times New Roman" panose="02020603050405020304" pitchFamily="18" charset="0"/>
                <a:cs typeface="Times New Roman" panose="02020603050405020304" pitchFamily="18" charset="0"/>
              </a:rPr>
              <a:t>6</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rPr>
              <a:t>p</a:t>
            </a:r>
            <a:r>
              <a:rPr lang="en-US" sz="2600" baseline="-25000" dirty="0">
                <a:latin typeface="Times New Roman" panose="02020603050405020304" pitchFamily="18" charset="0"/>
                <a:cs typeface="Times New Roman" panose="02020603050405020304" pitchFamily="18" charset="0"/>
              </a:rPr>
              <a:t>7</a:t>
            </a:r>
            <a:r>
              <a:rPr lang="en-US" sz="2600" dirty="0">
                <a:latin typeface="Times New Roman" panose="02020603050405020304" pitchFamily="18" charset="0"/>
                <a:cs typeface="Times New Roman" panose="02020603050405020304" pitchFamily="18" charset="0"/>
              </a:rPr>
              <a:t> =</a:t>
            </a:r>
          </a:p>
          <a:p>
            <a:endParaRPr lang="en-US" sz="2600" i="1" dirty="0">
              <a:latin typeface="Times New Roman" panose="02020603050405020304" pitchFamily="18" charset="0"/>
              <a:cs typeface="Times New Roman" panose="02020603050405020304" pitchFamily="18" charset="0"/>
            </a:endParaRPr>
          </a:p>
          <a:p>
            <a:r>
              <a:rPr lang="en-US" sz="2600" i="1" dirty="0">
                <a:latin typeface="Times New Roman" panose="02020603050405020304" pitchFamily="18" charset="0"/>
                <a:cs typeface="Times New Roman" panose="02020603050405020304" pitchFamily="18" charset="0"/>
              </a:rPr>
              <a:t>	H</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At least one of the proportions is different from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others.</a:t>
            </a:r>
          </a:p>
          <a:p>
            <a:endParaRPr lang="en-US" sz="2600" b="1" i="1"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2 </a:t>
            </a:r>
            <a:r>
              <a:rPr lang="en-US" sz="2600" dirty="0">
                <a:latin typeface="Times New Roman" panose="02020603050405020304" pitchFamily="18" charset="0"/>
                <a:cs typeface="Times New Roman" panose="02020603050405020304" pitchFamily="18" charset="0"/>
              </a:rPr>
              <a:t>The level of significance is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0.01.</a:t>
            </a:r>
            <a:endParaRPr lang="en-US" sz="2600" b="1" i="1" dirty="0">
              <a:latin typeface="Times New Roman" panose="02020603050405020304" pitchFamily="18" charset="0"/>
              <a:cs typeface="Times New Roman" panose="02020603050405020304" pitchFamily="18" charset="0"/>
            </a:endParaRPr>
          </a:p>
        </p:txBody>
      </p:sp>
      <p:sp>
        <p:nvSpPr>
          <p:cNvPr id="143" name="Google Shape;143;p24"/>
          <p:cNvSpPr txBox="1"/>
          <p:nvPr/>
        </p:nvSpPr>
        <p:spPr>
          <a:xfrm>
            <a:off x="0" y="6362307"/>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31</a:t>
            </a:fld>
            <a:endParaRPr/>
          </a:p>
        </p:txBody>
      </p:sp>
      <p:sp>
        <p:nvSpPr>
          <p:cNvPr id="5" name="Google Shape;385;p59">
            <a:extLst>
              <a:ext uri="{FF2B5EF4-FFF2-40B4-BE49-F238E27FC236}">
                <a16:creationId xmlns:a16="http://schemas.microsoft.com/office/drawing/2014/main" id="{277D0A08-40DD-4044-A6CB-D65406A4A652}"/>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Conducting a Goodness-of-Fit Test</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(2 of 8)</a:t>
            </a:r>
            <a:endParaRPr dirty="0"/>
          </a:p>
        </p:txBody>
      </p:sp>
      <p:graphicFrame>
        <p:nvGraphicFramePr>
          <p:cNvPr id="2" name="Object 1">
            <a:extLst>
              <a:ext uri="{FF2B5EF4-FFF2-40B4-BE49-F238E27FC236}">
                <a16:creationId xmlns:a16="http://schemas.microsoft.com/office/drawing/2014/main" id="{65D41480-EC1A-486D-894E-5D47C78D692A}"/>
              </a:ext>
            </a:extLst>
          </p:cNvPr>
          <p:cNvGraphicFramePr>
            <a:graphicFrameLocks noChangeAspect="1"/>
          </p:cNvGraphicFramePr>
          <p:nvPr>
            <p:extLst>
              <p:ext uri="{D42A27DB-BD31-4B8C-83A1-F6EECF244321}">
                <p14:modId xmlns:p14="http://schemas.microsoft.com/office/powerpoint/2010/main" val="1229704587"/>
              </p:ext>
            </p:extLst>
          </p:nvPr>
        </p:nvGraphicFramePr>
        <p:xfrm>
          <a:off x="6195375" y="2550314"/>
          <a:ext cx="254000" cy="787400"/>
        </p:xfrm>
        <a:graphic>
          <a:graphicData uri="http://schemas.openxmlformats.org/presentationml/2006/ole">
            <mc:AlternateContent xmlns:mc="http://schemas.openxmlformats.org/markup-compatibility/2006">
              <mc:Choice xmlns:v="urn:schemas-microsoft-com:vml" Requires="v">
                <p:oleObj spid="_x0000_s12406" name="Equation" r:id="rId4" imgW="253800" imgH="787320" progId="Equation.DSMT4">
                  <p:embed/>
                </p:oleObj>
              </mc:Choice>
              <mc:Fallback>
                <p:oleObj name="Equation" r:id="rId4" imgW="253800" imgH="787320" progId="Equation.DSMT4">
                  <p:embed/>
                  <p:pic>
                    <p:nvPicPr>
                      <p:cNvPr id="0" name=""/>
                      <p:cNvPicPr/>
                      <p:nvPr/>
                    </p:nvPicPr>
                    <p:blipFill>
                      <a:blip r:embed="rId5"/>
                      <a:stretch>
                        <a:fillRect/>
                      </a:stretch>
                    </p:blipFill>
                    <p:spPr>
                      <a:xfrm>
                        <a:off x="6195375" y="2550314"/>
                        <a:ext cx="254000" cy="787400"/>
                      </a:xfrm>
                      <a:prstGeom prst="rect">
                        <a:avLst/>
                      </a:prstGeom>
                    </p:spPr>
                  </p:pic>
                </p:oleObj>
              </mc:Fallback>
            </mc:AlternateContent>
          </a:graphicData>
        </a:graphic>
      </p:graphicFrame>
    </p:spTree>
    <p:extLst>
      <p:ext uri="{BB962C8B-B14F-4D97-AF65-F5344CB8AC3E}">
        <p14:creationId xmlns:p14="http://schemas.microsoft.com/office/powerpoint/2010/main" val="706857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3" end="3"/>
                                            </p:txEl>
                                          </p:spTgt>
                                        </p:tgtEl>
                                        <p:attrNameLst>
                                          <p:attrName>style.visibility</p:attrName>
                                        </p:attrNameLst>
                                      </p:cBhvr>
                                      <p:to>
                                        <p:strVal val="visible"/>
                                      </p:to>
                                    </p:set>
                                    <p:animEffect transition="in" filter="fade">
                                      <p:cBhvr>
                                        <p:cTn id="10" dur="500"/>
                                        <p:tgtEl>
                                          <p:spTgt spid="4">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xEl>
                                              <p:pRg st="5" end="5"/>
                                            </p:txEl>
                                          </p:spTgt>
                                        </p:tgtEl>
                                        <p:attrNameLst>
                                          <p:attrName>style.visibility</p:attrName>
                                        </p:attrNameLst>
                                      </p:cBhvr>
                                      <p:to>
                                        <p:strVal val="visible"/>
                                      </p:to>
                                    </p:set>
                                    <p:animEffect transition="in" filter="fade">
                                      <p:cBhvr>
                                        <p:cTn id="18"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3693319"/>
          </a:xfrm>
          <a:prstGeom prst="rect">
            <a:avLst/>
          </a:prstGeom>
        </p:spPr>
        <p:txBody>
          <a:bodyPr wrap="square">
            <a:spAutoFit/>
          </a:bodyPr>
          <a:lstStyle/>
          <a:p>
            <a:r>
              <a:rPr lang="en-US" sz="2600" b="1" i="1" dirty="0">
                <a:latin typeface="Times New Roman" panose="02020603050405020304" pitchFamily="18" charset="0"/>
                <a:cs typeface="Times New Roman" panose="02020603050405020304" pitchFamily="18" charset="0"/>
              </a:rPr>
              <a:t>Step 3</a:t>
            </a:r>
          </a:p>
          <a:p>
            <a:r>
              <a:rPr lang="en-US" sz="2600" b="1" dirty="0">
                <a:latin typeface="Times New Roman" panose="02020603050405020304" pitchFamily="18" charset="0"/>
                <a:cs typeface="Times New Roman" panose="02020603050405020304" pitchFamily="18" charset="0"/>
              </a:rPr>
              <a:t>(a) </a:t>
            </a:r>
            <a:r>
              <a:rPr lang="en-US" sz="2600" dirty="0">
                <a:latin typeface="Times New Roman" panose="02020603050405020304" pitchFamily="18" charset="0"/>
                <a:cs typeface="Times New Roman" panose="02020603050405020304" pitchFamily="18" charset="0"/>
              </a:rPr>
              <a:t>The expected count for each category (day of the week),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assuming the null hypothesis is true, is</a:t>
            </a:r>
          </a:p>
          <a:p>
            <a:endParaRPr lang="en-US" sz="2600" b="1" i="1" dirty="0">
              <a:latin typeface="Times New Roman" panose="02020603050405020304" pitchFamily="18" charset="0"/>
              <a:cs typeface="Times New Roman" panose="02020603050405020304" pitchFamily="18" charset="0"/>
            </a:endParaRPr>
          </a:p>
          <a:p>
            <a:endParaRPr lang="en-US" sz="2600" b="1" i="1" dirty="0">
              <a:latin typeface="Times New Roman" panose="02020603050405020304" pitchFamily="18" charset="0"/>
              <a:cs typeface="Times New Roman" panose="02020603050405020304" pitchFamily="18" charset="0"/>
            </a:endParaRPr>
          </a:p>
          <a:p>
            <a:endParaRPr lang="en-US" sz="2600" b="1" i="1" dirty="0">
              <a:latin typeface="Times New Roman" panose="02020603050405020304" pitchFamily="18" charset="0"/>
              <a:cs typeface="Times New Roman" panose="02020603050405020304" pitchFamily="18" charset="0"/>
            </a:endParaRPr>
          </a:p>
          <a:p>
            <a:endParaRPr lang="en-US" sz="2600" b="1" i="1"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(b) </a:t>
            </a:r>
            <a:r>
              <a:rPr lang="en-US" sz="2600" dirty="0">
                <a:latin typeface="Times New Roman" panose="02020603050405020304" pitchFamily="18" charset="0"/>
                <a:cs typeface="Times New Roman" panose="02020603050405020304" pitchFamily="18" charset="0"/>
              </a:rPr>
              <a:t>Since all expected counts are greater than or equal to 5,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requirements for the goodness-of-fit test are satisfied.</a:t>
            </a:r>
            <a:endParaRPr lang="en-US" sz="2600" b="1" i="1" dirty="0">
              <a:latin typeface="Times New Roman" panose="02020603050405020304" pitchFamily="18" charset="0"/>
              <a:cs typeface="Times New Roman" panose="02020603050405020304" pitchFamily="18" charset="0"/>
            </a:endParaRPr>
          </a:p>
        </p:txBody>
      </p:sp>
      <p:sp>
        <p:nvSpPr>
          <p:cNvPr id="143" name="Google Shape;143;p24"/>
          <p:cNvSpPr txBox="1"/>
          <p:nvPr/>
        </p:nvSpPr>
        <p:spPr>
          <a:xfrm>
            <a:off x="0" y="6362307"/>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32</a:t>
            </a:fld>
            <a:endParaRPr/>
          </a:p>
        </p:txBody>
      </p:sp>
      <p:sp>
        <p:nvSpPr>
          <p:cNvPr id="5" name="Google Shape;385;p59">
            <a:extLst>
              <a:ext uri="{FF2B5EF4-FFF2-40B4-BE49-F238E27FC236}">
                <a16:creationId xmlns:a16="http://schemas.microsoft.com/office/drawing/2014/main" id="{277D0A08-40DD-4044-A6CB-D65406A4A652}"/>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Conducting a Goodness-of-Fit Test</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(3 of 8)</a:t>
            </a:r>
            <a:endParaRPr dirty="0"/>
          </a:p>
        </p:txBody>
      </p:sp>
      <p:graphicFrame>
        <p:nvGraphicFramePr>
          <p:cNvPr id="2" name="Object 1">
            <a:extLst>
              <a:ext uri="{FF2B5EF4-FFF2-40B4-BE49-F238E27FC236}">
                <a16:creationId xmlns:a16="http://schemas.microsoft.com/office/drawing/2014/main" id="{65D41480-EC1A-486D-894E-5D47C78D692A}"/>
              </a:ext>
            </a:extLst>
          </p:cNvPr>
          <p:cNvGraphicFramePr>
            <a:graphicFrameLocks noChangeAspect="1"/>
          </p:cNvGraphicFramePr>
          <p:nvPr>
            <p:extLst>
              <p:ext uri="{D42A27DB-BD31-4B8C-83A1-F6EECF244321}">
                <p14:modId xmlns:p14="http://schemas.microsoft.com/office/powerpoint/2010/main" val="2893338041"/>
              </p:ext>
            </p:extLst>
          </p:nvPr>
        </p:nvGraphicFramePr>
        <p:xfrm>
          <a:off x="3195605" y="2486221"/>
          <a:ext cx="1993900" cy="876300"/>
        </p:xfrm>
        <a:graphic>
          <a:graphicData uri="http://schemas.openxmlformats.org/presentationml/2006/ole">
            <mc:AlternateContent xmlns:mc="http://schemas.openxmlformats.org/markup-compatibility/2006">
              <mc:Choice xmlns:v="urn:schemas-microsoft-com:vml" Requires="v">
                <p:oleObj spid="_x0000_s13429" name="Equation" r:id="rId4" imgW="1993680" imgH="876240" progId="Equation.DSMT4">
                  <p:embed/>
                </p:oleObj>
              </mc:Choice>
              <mc:Fallback>
                <p:oleObj name="Equation" r:id="rId4" imgW="1993680" imgH="876240" progId="Equation.DSMT4">
                  <p:embed/>
                  <p:pic>
                    <p:nvPicPr>
                      <p:cNvPr id="2" name="Object 1">
                        <a:extLst>
                          <a:ext uri="{FF2B5EF4-FFF2-40B4-BE49-F238E27FC236}">
                            <a16:creationId xmlns:a16="http://schemas.microsoft.com/office/drawing/2014/main" id="{65D41480-EC1A-486D-894E-5D47C78D692A}"/>
                          </a:ext>
                        </a:extLst>
                      </p:cNvPr>
                      <p:cNvPicPr/>
                      <p:nvPr/>
                    </p:nvPicPr>
                    <p:blipFill>
                      <a:blip r:embed="rId5"/>
                      <a:stretch>
                        <a:fillRect/>
                      </a:stretch>
                    </p:blipFill>
                    <p:spPr>
                      <a:xfrm>
                        <a:off x="3195605" y="2486221"/>
                        <a:ext cx="1993900" cy="876300"/>
                      </a:xfrm>
                      <a:prstGeom prst="rect">
                        <a:avLst/>
                      </a:prstGeom>
                    </p:spPr>
                  </p:pic>
                </p:oleObj>
              </mc:Fallback>
            </mc:AlternateContent>
          </a:graphicData>
        </a:graphic>
      </p:graphicFrame>
    </p:spTree>
    <p:extLst>
      <p:ext uri="{BB962C8B-B14F-4D97-AF65-F5344CB8AC3E}">
        <p14:creationId xmlns:p14="http://schemas.microsoft.com/office/powerpoint/2010/main" val="553748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animEffect transition="in" filter="fade">
                                      <p:cBhvr>
                                        <p:cTn id="7"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492443"/>
          </a:xfrm>
          <a:prstGeom prst="rect">
            <a:avLst/>
          </a:prstGeom>
        </p:spPr>
        <p:txBody>
          <a:bodyPr wrap="square">
            <a:spAutoFit/>
          </a:bodyPr>
          <a:lstStyle/>
          <a:p>
            <a:r>
              <a:rPr lang="en-US" sz="2600" b="1" dirty="0">
                <a:latin typeface="Times New Roman" panose="02020603050405020304" pitchFamily="18" charset="0"/>
                <a:cs typeface="Times New Roman" panose="02020603050405020304" pitchFamily="18" charset="0"/>
              </a:rPr>
              <a:t>(c) </a:t>
            </a:r>
            <a:r>
              <a:rPr lang="en-US" sz="2600" dirty="0">
                <a:latin typeface="Times New Roman" panose="02020603050405020304" pitchFamily="18" charset="0"/>
                <a:cs typeface="Times New Roman" panose="02020603050405020304" pitchFamily="18" charset="0"/>
              </a:rPr>
              <a:t>The test statistic is</a:t>
            </a:r>
            <a:endParaRPr lang="en-US" sz="2600" b="1" i="1" dirty="0">
              <a:latin typeface="Times New Roman" panose="02020603050405020304" pitchFamily="18" charset="0"/>
              <a:cs typeface="Times New Roman" panose="02020603050405020304" pitchFamily="18" charset="0"/>
            </a:endParaRPr>
          </a:p>
        </p:txBody>
      </p:sp>
      <p:sp>
        <p:nvSpPr>
          <p:cNvPr id="143" name="Google Shape;143;p24"/>
          <p:cNvSpPr txBox="1"/>
          <p:nvPr/>
        </p:nvSpPr>
        <p:spPr>
          <a:xfrm>
            <a:off x="0" y="6362307"/>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33</a:t>
            </a:fld>
            <a:endParaRPr/>
          </a:p>
        </p:txBody>
      </p:sp>
      <p:sp>
        <p:nvSpPr>
          <p:cNvPr id="5" name="Google Shape;385;p59">
            <a:extLst>
              <a:ext uri="{FF2B5EF4-FFF2-40B4-BE49-F238E27FC236}">
                <a16:creationId xmlns:a16="http://schemas.microsoft.com/office/drawing/2014/main" id="{277D0A08-40DD-4044-A6CB-D65406A4A652}"/>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Conducting a Goodness-of-Fit Test</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(4 of 8)</a:t>
            </a:r>
            <a:endParaRPr dirty="0"/>
          </a:p>
        </p:txBody>
      </p:sp>
      <p:graphicFrame>
        <p:nvGraphicFramePr>
          <p:cNvPr id="6" name="Object 5">
            <a:extLst>
              <a:ext uri="{FF2B5EF4-FFF2-40B4-BE49-F238E27FC236}">
                <a16:creationId xmlns:a16="http://schemas.microsoft.com/office/drawing/2014/main" id="{F689E734-966E-4A3D-9EF3-C5790899D206}"/>
              </a:ext>
            </a:extLst>
          </p:cNvPr>
          <p:cNvGraphicFramePr>
            <a:graphicFrameLocks noChangeAspect="1"/>
          </p:cNvGraphicFramePr>
          <p:nvPr>
            <p:extLst>
              <p:ext uri="{D42A27DB-BD31-4B8C-83A1-F6EECF244321}">
                <p14:modId xmlns:p14="http://schemas.microsoft.com/office/powerpoint/2010/main" val="2665688115"/>
              </p:ext>
            </p:extLst>
          </p:nvPr>
        </p:nvGraphicFramePr>
        <p:xfrm>
          <a:off x="1086587" y="1589798"/>
          <a:ext cx="7289800" cy="3416300"/>
        </p:xfrm>
        <a:graphic>
          <a:graphicData uri="http://schemas.openxmlformats.org/presentationml/2006/ole">
            <mc:AlternateContent xmlns:mc="http://schemas.openxmlformats.org/markup-compatibility/2006">
              <mc:Choice xmlns:v="urn:schemas-microsoft-com:vml" Requires="v">
                <p:oleObj spid="_x0000_s14453" name="Equation" r:id="rId4" imgW="7289640" imgH="3416040" progId="Equation.DSMT4">
                  <p:embed/>
                </p:oleObj>
              </mc:Choice>
              <mc:Fallback>
                <p:oleObj name="Equation" r:id="rId4" imgW="7289640" imgH="3416040" progId="Equation.DSMT4">
                  <p:embed/>
                  <p:pic>
                    <p:nvPicPr>
                      <p:cNvPr id="6" name="Object 5">
                        <a:extLst>
                          <a:ext uri="{FF2B5EF4-FFF2-40B4-BE49-F238E27FC236}">
                            <a16:creationId xmlns:a16="http://schemas.microsoft.com/office/drawing/2014/main" id="{C1F59EB1-D636-4AC8-A673-67E80E48ACC7}"/>
                          </a:ext>
                        </a:extLst>
                      </p:cNvPr>
                      <p:cNvPicPr/>
                      <p:nvPr/>
                    </p:nvPicPr>
                    <p:blipFill>
                      <a:blip r:embed="rId5"/>
                      <a:stretch>
                        <a:fillRect/>
                      </a:stretch>
                    </p:blipFill>
                    <p:spPr>
                      <a:xfrm>
                        <a:off x="1086587" y="1589798"/>
                        <a:ext cx="7289800" cy="3416300"/>
                      </a:xfrm>
                      <a:prstGeom prst="rect">
                        <a:avLst/>
                      </a:prstGeom>
                    </p:spPr>
                  </p:pic>
                </p:oleObj>
              </mc:Fallback>
            </mc:AlternateContent>
          </a:graphicData>
        </a:graphic>
      </p:graphicFrame>
    </p:spTree>
    <p:extLst>
      <p:ext uri="{BB962C8B-B14F-4D97-AF65-F5344CB8AC3E}">
        <p14:creationId xmlns:p14="http://schemas.microsoft.com/office/powerpoint/2010/main" val="2950419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69" y="1097355"/>
            <a:ext cx="8634167" cy="5293757"/>
          </a:xfrm>
          <a:prstGeom prst="rect">
            <a:avLst/>
          </a:prstGeom>
        </p:spPr>
        <p:txBody>
          <a:bodyPr wrap="square">
            <a:spAutoFit/>
          </a:bodyPr>
          <a:lstStyle/>
          <a:p>
            <a:r>
              <a:rPr lang="en-US" sz="2600" b="1" dirty="0">
                <a:latin typeface="+mn-lt"/>
                <a:cs typeface="Times New Roman" panose="02020603050405020304" pitchFamily="18" charset="0"/>
              </a:rPr>
              <a:t>Classical Approach</a:t>
            </a:r>
          </a:p>
          <a:p>
            <a:r>
              <a:rPr lang="en-US" sz="2600" b="1" i="1" dirty="0">
                <a:latin typeface="Times New Roman" panose="02020603050405020304" pitchFamily="18" charset="0"/>
                <a:cs typeface="Times New Roman" panose="02020603050405020304" pitchFamily="18" charset="0"/>
              </a:rPr>
              <a:t>Step 4 </a:t>
            </a:r>
            <a:r>
              <a:rPr lang="en-US" sz="2600" dirty="0">
                <a:latin typeface="Times New Roman" panose="02020603050405020304" pitchFamily="18" charset="0"/>
                <a:cs typeface="Times New Roman" panose="02020603050405020304" pitchFamily="18" charset="0"/>
              </a:rPr>
              <a:t>There are </a:t>
            </a:r>
            <a:r>
              <a:rPr lang="en-US" sz="2600" i="1" dirty="0">
                <a:latin typeface="Times New Roman" panose="02020603050405020304" pitchFamily="18" charset="0"/>
                <a:cs typeface="Times New Roman" panose="02020603050405020304" pitchFamily="18" charset="0"/>
              </a:rPr>
              <a:t>k </a:t>
            </a:r>
            <a:r>
              <a:rPr lang="en-US" sz="2600" dirty="0">
                <a:latin typeface="Times New Roman" panose="02020603050405020304" pitchFamily="18" charset="0"/>
                <a:cs typeface="Times New Roman" panose="02020603050405020304" pitchFamily="18" charset="0"/>
              </a:rPr>
              <a:t>= 7 categories, so we find the critical value using 7 – 1 = 6 degrees of freedom. The critical value is</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Because the test statistic, 19.568, is greater than the critical value, 16.812, we reject the null hypothesis.</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34</a:t>
            </a:fld>
            <a:endParaRPr/>
          </a:p>
        </p:txBody>
      </p:sp>
      <p:graphicFrame>
        <p:nvGraphicFramePr>
          <p:cNvPr id="2" name="Object 1">
            <a:extLst>
              <a:ext uri="{FF2B5EF4-FFF2-40B4-BE49-F238E27FC236}">
                <a16:creationId xmlns:a16="http://schemas.microsoft.com/office/drawing/2014/main" id="{D5BE5C70-DF0D-44AF-9783-B03579F82C08}"/>
              </a:ext>
            </a:extLst>
          </p:cNvPr>
          <p:cNvGraphicFramePr>
            <a:graphicFrameLocks noChangeAspect="1"/>
          </p:cNvGraphicFramePr>
          <p:nvPr>
            <p:extLst>
              <p:ext uri="{D42A27DB-BD31-4B8C-83A1-F6EECF244321}">
                <p14:modId xmlns:p14="http://schemas.microsoft.com/office/powerpoint/2010/main" val="3289363636"/>
              </p:ext>
            </p:extLst>
          </p:nvPr>
        </p:nvGraphicFramePr>
        <p:xfrm>
          <a:off x="389896" y="2277862"/>
          <a:ext cx="1866900" cy="444500"/>
        </p:xfrm>
        <a:graphic>
          <a:graphicData uri="http://schemas.openxmlformats.org/presentationml/2006/ole">
            <mc:AlternateContent xmlns:mc="http://schemas.openxmlformats.org/markup-compatibility/2006">
              <mc:Choice xmlns:v="urn:schemas-microsoft-com:vml" Requires="v">
                <p:oleObj spid="_x0000_s15477" name="Equation" r:id="rId4" imgW="1866600" imgH="444240" progId="Equation.DSMT4">
                  <p:embed/>
                </p:oleObj>
              </mc:Choice>
              <mc:Fallback>
                <p:oleObj name="Equation" r:id="rId4" imgW="1866600" imgH="444240" progId="Equation.DSMT4">
                  <p:embed/>
                  <p:pic>
                    <p:nvPicPr>
                      <p:cNvPr id="2" name="Object 1">
                        <a:extLst>
                          <a:ext uri="{FF2B5EF4-FFF2-40B4-BE49-F238E27FC236}">
                            <a16:creationId xmlns:a16="http://schemas.microsoft.com/office/drawing/2014/main" id="{D5BE5C70-DF0D-44AF-9783-B03579F82C08}"/>
                          </a:ext>
                        </a:extLst>
                      </p:cNvPr>
                      <p:cNvPicPr/>
                      <p:nvPr/>
                    </p:nvPicPr>
                    <p:blipFill>
                      <a:blip r:embed="rId5"/>
                      <a:stretch>
                        <a:fillRect/>
                      </a:stretch>
                    </p:blipFill>
                    <p:spPr>
                      <a:xfrm>
                        <a:off x="389896" y="2277862"/>
                        <a:ext cx="1866900" cy="444500"/>
                      </a:xfrm>
                      <a:prstGeom prst="rect">
                        <a:avLst/>
                      </a:prstGeom>
                    </p:spPr>
                  </p:pic>
                </p:oleObj>
              </mc:Fallback>
            </mc:AlternateContent>
          </a:graphicData>
        </a:graphic>
      </p:graphicFrame>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Conducting a Goodness-of-Fit Test</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(5 of 8)</a:t>
            </a:r>
            <a:endParaRPr dirty="0"/>
          </a:p>
        </p:txBody>
      </p:sp>
      <p:pic>
        <p:nvPicPr>
          <p:cNvPr id="6" name="Picture 5" descr="A screenshot of a cell phone&#10;&#10;Description automatically generated">
            <a:extLst>
              <a:ext uri="{FF2B5EF4-FFF2-40B4-BE49-F238E27FC236}">
                <a16:creationId xmlns:a16="http://schemas.microsoft.com/office/drawing/2014/main" id="{411F7066-455C-4052-A218-64E1BB4D3AB7}"/>
              </a:ext>
            </a:extLst>
          </p:cNvPr>
          <p:cNvPicPr>
            <a:picLocks noChangeAspect="1"/>
          </p:cNvPicPr>
          <p:nvPr/>
        </p:nvPicPr>
        <p:blipFill>
          <a:blip r:embed="rId6"/>
          <a:stretch>
            <a:fillRect/>
          </a:stretch>
        </p:blipFill>
        <p:spPr>
          <a:xfrm>
            <a:off x="2633867" y="2396714"/>
            <a:ext cx="4160528" cy="3044958"/>
          </a:xfrm>
          <a:prstGeom prst="rect">
            <a:avLst/>
          </a:prstGeom>
        </p:spPr>
      </p:pic>
    </p:spTree>
    <p:extLst>
      <p:ext uri="{BB962C8B-B14F-4D97-AF65-F5344CB8AC3E}">
        <p14:creationId xmlns:p14="http://schemas.microsoft.com/office/powerpoint/2010/main" val="2176076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0" end="10"/>
                                            </p:txEl>
                                          </p:spTgt>
                                        </p:tgtEl>
                                        <p:attrNameLst>
                                          <p:attrName>style.visibility</p:attrName>
                                        </p:attrNameLst>
                                      </p:cBhvr>
                                      <p:to>
                                        <p:strVal val="visible"/>
                                      </p:to>
                                    </p:set>
                                    <p:animEffect transition="in" filter="fade">
                                      <p:cBhvr>
                                        <p:cTn id="12"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69" y="1097355"/>
            <a:ext cx="8634167" cy="1692771"/>
          </a:xfrm>
          <a:prstGeom prst="rect">
            <a:avLst/>
          </a:prstGeom>
        </p:spPr>
        <p:txBody>
          <a:bodyPr wrap="square">
            <a:spAutoFit/>
          </a:bodyPr>
          <a:lstStyle/>
          <a:p>
            <a:r>
              <a:rPr lang="en-US" sz="2600" b="1" dirty="0">
                <a:latin typeface="+mn-lt"/>
                <a:cs typeface="Times New Roman" panose="02020603050405020304" pitchFamily="18" charset="0"/>
              </a:rPr>
              <a:t>Classical Approach</a:t>
            </a:r>
          </a:p>
          <a:p>
            <a:r>
              <a:rPr lang="en-US" sz="2600" b="1" i="1" dirty="0">
                <a:latin typeface="Times New Roman" panose="02020603050405020304" pitchFamily="18" charset="0"/>
                <a:cs typeface="Times New Roman" panose="02020603050405020304" pitchFamily="18" charset="0"/>
              </a:rPr>
              <a:t>Step 5 </a:t>
            </a:r>
            <a:r>
              <a:rPr lang="en-US" sz="2600" dirty="0">
                <a:latin typeface="Times New Roman" panose="02020603050405020304" pitchFamily="18" charset="0"/>
                <a:cs typeface="Times New Roman" panose="02020603050405020304" pitchFamily="18" charset="0"/>
              </a:rPr>
              <a:t>There is sufficient evidence at the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0.01 level of significance to reject the belief that the day of the week on which a child is born occurs with equal frequency.</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35</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Conducting a Goodness-of-Fit Test</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(6 of 8)</a:t>
            </a:r>
            <a:endParaRPr dirty="0"/>
          </a:p>
        </p:txBody>
      </p:sp>
    </p:spTree>
    <p:extLst>
      <p:ext uri="{BB962C8B-B14F-4D97-AF65-F5344CB8AC3E}">
        <p14:creationId xmlns:p14="http://schemas.microsoft.com/office/powerpoint/2010/main" val="103140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69" y="1097355"/>
            <a:ext cx="8634167" cy="5293757"/>
          </a:xfrm>
          <a:prstGeom prst="rect">
            <a:avLst/>
          </a:prstGeom>
        </p:spPr>
        <p:txBody>
          <a:bodyPr wrap="square">
            <a:spAutoFit/>
          </a:bodyPr>
          <a:lstStyle/>
          <a:p>
            <a:r>
              <a:rPr lang="en-US" sz="2600" b="1" i="1" dirty="0">
                <a:latin typeface="+mn-lt"/>
                <a:cs typeface="Times New Roman" panose="02020603050405020304" pitchFamily="18" charset="0"/>
              </a:rPr>
              <a:t>P</a:t>
            </a:r>
            <a:r>
              <a:rPr lang="en-US" sz="2600" b="1" dirty="0">
                <a:latin typeface="+mn-lt"/>
                <a:cs typeface="Times New Roman" panose="02020603050405020304" pitchFamily="18" charset="0"/>
              </a:rPr>
              <a:t>-Value Approach</a:t>
            </a:r>
          </a:p>
          <a:p>
            <a:r>
              <a:rPr lang="en-US" sz="2600" b="1" i="1" dirty="0">
                <a:latin typeface="Times New Roman" panose="02020603050405020304" pitchFamily="18" charset="0"/>
                <a:cs typeface="Times New Roman" panose="02020603050405020304" pitchFamily="18" charset="0"/>
              </a:rPr>
              <a:t>Step 3 (continued)  </a:t>
            </a:r>
            <a:r>
              <a:rPr lang="en-US" sz="2600" dirty="0">
                <a:latin typeface="Times New Roman" panose="02020603050405020304" pitchFamily="18" charset="0"/>
                <a:cs typeface="Times New Roman" panose="02020603050405020304" pitchFamily="18" charset="0"/>
              </a:rPr>
              <a:t>There are </a:t>
            </a:r>
            <a:br>
              <a:rPr lang="en-US" sz="2600" dirty="0">
                <a:latin typeface="Times New Roman" panose="02020603050405020304" pitchFamily="18" charset="0"/>
                <a:cs typeface="Times New Roman" panose="02020603050405020304" pitchFamily="18" charset="0"/>
              </a:rPr>
            </a:br>
            <a:r>
              <a:rPr lang="en-US" sz="2600" i="1" dirty="0">
                <a:latin typeface="Times New Roman" panose="02020603050405020304" pitchFamily="18" charset="0"/>
                <a:cs typeface="Times New Roman" panose="02020603050405020304" pitchFamily="18" charset="0"/>
              </a:rPr>
              <a:t>k </a:t>
            </a:r>
            <a:r>
              <a:rPr lang="en-US" sz="2600" dirty="0">
                <a:latin typeface="Times New Roman" panose="02020603050405020304" pitchFamily="18" charset="0"/>
                <a:cs typeface="Times New Roman" panose="02020603050405020304" pitchFamily="18" charset="0"/>
              </a:rPr>
              <a:t>= 7 categories.  The P-value is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the area under the chi-square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distribution with 7 – 1 = 6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degrees of freedom to the right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of</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Using Table VIII, we find the row that corresponds to 6 degrees of freedom. The value of 19.568 is greater than 18.548, which has an area under the chi-square distribution of 0.005 to the right, so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is less than 0.005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&lt; 0.005). Using technology, the exact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is 0.0033.</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36</a:t>
            </a:fld>
            <a:endParaRPr/>
          </a:p>
        </p:txBody>
      </p:sp>
      <p:graphicFrame>
        <p:nvGraphicFramePr>
          <p:cNvPr id="2" name="Object 1">
            <a:extLst>
              <a:ext uri="{FF2B5EF4-FFF2-40B4-BE49-F238E27FC236}">
                <a16:creationId xmlns:a16="http://schemas.microsoft.com/office/drawing/2014/main" id="{D5BE5C70-DF0D-44AF-9783-B03579F82C08}"/>
              </a:ext>
            </a:extLst>
          </p:cNvPr>
          <p:cNvGraphicFramePr>
            <a:graphicFrameLocks noChangeAspect="1"/>
          </p:cNvGraphicFramePr>
          <p:nvPr>
            <p:extLst>
              <p:ext uri="{D42A27DB-BD31-4B8C-83A1-F6EECF244321}">
                <p14:modId xmlns:p14="http://schemas.microsoft.com/office/powerpoint/2010/main" val="3266002083"/>
              </p:ext>
            </p:extLst>
          </p:nvPr>
        </p:nvGraphicFramePr>
        <p:xfrm>
          <a:off x="800693" y="3491902"/>
          <a:ext cx="1663700" cy="444500"/>
        </p:xfrm>
        <a:graphic>
          <a:graphicData uri="http://schemas.openxmlformats.org/presentationml/2006/ole">
            <mc:AlternateContent xmlns:mc="http://schemas.openxmlformats.org/markup-compatibility/2006">
              <mc:Choice xmlns:v="urn:schemas-microsoft-com:vml" Requires="v">
                <p:oleObj spid="_x0000_s16500" name="Equation" r:id="rId4" imgW="1663560" imgH="444240" progId="Equation.DSMT4">
                  <p:embed/>
                </p:oleObj>
              </mc:Choice>
              <mc:Fallback>
                <p:oleObj name="Equation" r:id="rId4" imgW="1663560" imgH="444240" progId="Equation.DSMT4">
                  <p:embed/>
                  <p:pic>
                    <p:nvPicPr>
                      <p:cNvPr id="2" name="Object 1">
                        <a:extLst>
                          <a:ext uri="{FF2B5EF4-FFF2-40B4-BE49-F238E27FC236}">
                            <a16:creationId xmlns:a16="http://schemas.microsoft.com/office/drawing/2014/main" id="{D5BE5C70-DF0D-44AF-9783-B03579F82C08}"/>
                          </a:ext>
                        </a:extLst>
                      </p:cNvPr>
                      <p:cNvPicPr/>
                      <p:nvPr/>
                    </p:nvPicPr>
                    <p:blipFill>
                      <a:blip r:embed="rId5"/>
                      <a:stretch>
                        <a:fillRect/>
                      </a:stretch>
                    </p:blipFill>
                    <p:spPr>
                      <a:xfrm>
                        <a:off x="800693" y="3491902"/>
                        <a:ext cx="1663700" cy="444500"/>
                      </a:xfrm>
                      <a:prstGeom prst="rect">
                        <a:avLst/>
                      </a:prstGeom>
                    </p:spPr>
                  </p:pic>
                </p:oleObj>
              </mc:Fallback>
            </mc:AlternateContent>
          </a:graphicData>
        </a:graphic>
      </p:graphicFrame>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Conducting a Goodness-of-Fit Test</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(7 of 8)</a:t>
            </a:r>
            <a:endParaRPr dirty="0"/>
          </a:p>
        </p:txBody>
      </p:sp>
      <p:pic>
        <p:nvPicPr>
          <p:cNvPr id="5" name="Picture 4" descr="A screenshot of a cell phone&#10;&#10;Description automatically generated">
            <a:extLst>
              <a:ext uri="{FF2B5EF4-FFF2-40B4-BE49-F238E27FC236}">
                <a16:creationId xmlns:a16="http://schemas.microsoft.com/office/drawing/2014/main" id="{4F0EB635-265A-4704-A3BB-89F493AEFCC0}"/>
              </a:ext>
            </a:extLst>
          </p:cNvPr>
          <p:cNvPicPr>
            <a:picLocks noChangeAspect="1"/>
          </p:cNvPicPr>
          <p:nvPr/>
        </p:nvPicPr>
        <p:blipFill>
          <a:blip r:embed="rId6"/>
          <a:stretch>
            <a:fillRect/>
          </a:stretch>
        </p:blipFill>
        <p:spPr>
          <a:xfrm>
            <a:off x="4854088" y="1441354"/>
            <a:ext cx="4091948" cy="2788926"/>
          </a:xfrm>
          <a:prstGeom prst="rect">
            <a:avLst/>
          </a:prstGeom>
        </p:spPr>
      </p:pic>
    </p:spTree>
    <p:extLst>
      <p:ext uri="{BB962C8B-B14F-4D97-AF65-F5344CB8AC3E}">
        <p14:creationId xmlns:p14="http://schemas.microsoft.com/office/powerpoint/2010/main" val="3151634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2893100"/>
          </a:xfrm>
          <a:prstGeom prst="rect">
            <a:avLst/>
          </a:prstGeom>
        </p:spPr>
        <p:txBody>
          <a:bodyPr wrap="square">
            <a:spAutoFit/>
          </a:bodyPr>
          <a:lstStyle/>
          <a:p>
            <a:r>
              <a:rPr lang="en-US" sz="2600" b="1" i="1" dirty="0">
                <a:latin typeface="+mn-lt"/>
                <a:cs typeface="Times New Roman" panose="02020603050405020304" pitchFamily="18" charset="0"/>
              </a:rPr>
              <a:t>P</a:t>
            </a:r>
            <a:r>
              <a:rPr lang="en-US" sz="2600" b="1" dirty="0">
                <a:latin typeface="+mn-lt"/>
                <a:cs typeface="Times New Roman" panose="02020603050405020304" pitchFamily="18" charset="0"/>
              </a:rPr>
              <a:t>-Value Approach</a:t>
            </a:r>
          </a:p>
          <a:p>
            <a:r>
              <a:rPr lang="en-US" sz="2600" b="1" i="1" dirty="0">
                <a:latin typeface="Times New Roman" panose="02020603050405020304" pitchFamily="18" charset="0"/>
                <a:cs typeface="Times New Roman" panose="02020603050405020304" pitchFamily="18" charset="0"/>
              </a:rPr>
              <a:t>Step 4 </a:t>
            </a:r>
            <a:r>
              <a:rPr lang="en-US" sz="2600" dirty="0">
                <a:latin typeface="Times New Roman" panose="02020603050405020304" pitchFamily="18" charset="0"/>
                <a:cs typeface="Times New Roman" panose="02020603050405020304" pitchFamily="18" charset="0"/>
              </a:rPr>
              <a:t>Because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is less than the level of significance,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0.01, we reject the null hypothesis.</a:t>
            </a:r>
          </a:p>
          <a:p>
            <a:endParaRPr lang="en-US" sz="2600"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5 </a:t>
            </a:r>
            <a:r>
              <a:rPr lang="en-US" sz="2600" dirty="0">
                <a:latin typeface="Times New Roman" panose="02020603050405020304" pitchFamily="18" charset="0"/>
                <a:cs typeface="Times New Roman" panose="02020603050405020304" pitchFamily="18" charset="0"/>
              </a:rPr>
              <a:t>There is sufficient evidence at the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0.01 level of significance to reject the belief that the day of the week on which a child is born occurs with equal frequency.</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37</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Conducting a Goodness-of-Fit Test</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(8 of 8)</a:t>
            </a:r>
            <a:endParaRPr dirty="0"/>
          </a:p>
        </p:txBody>
      </p:sp>
    </p:spTree>
    <p:extLst>
      <p:ext uri="{BB962C8B-B14F-4D97-AF65-F5344CB8AC3E}">
        <p14:creationId xmlns:p14="http://schemas.microsoft.com/office/powerpoint/2010/main" val="2555077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dirty="0">
                <a:solidFill>
                  <a:schemeClr val="lt1"/>
                </a:solidFill>
                <a:latin typeface="Verdana"/>
                <a:ea typeface="Verdana"/>
                <a:cs typeface="Verdana"/>
                <a:sym typeface="Verdana"/>
              </a:rPr>
              <a:t>12-</a:t>
            </a:r>
            <a:fld id="{00000000-1234-1234-1234-123412341234}" type="slidenum">
              <a:rPr lang="en-US" sz="1400" b="1" i="0" u="none" smtClean="0">
                <a:solidFill>
                  <a:schemeClr val="lt1"/>
                </a:solidFill>
                <a:latin typeface="Verdana"/>
                <a:ea typeface="Verdana"/>
                <a:cs typeface="Verdana"/>
                <a:sym typeface="Verdana"/>
              </a:rPr>
              <a:t>38</a:t>
            </a:fld>
            <a:endParaRPr dirty="0"/>
          </a:p>
        </p:txBody>
      </p:sp>
      <p:sp>
        <p:nvSpPr>
          <p:cNvPr id="89" name="Google Shape;89;p16"/>
          <p:cNvSpPr txBox="1"/>
          <p:nvPr/>
        </p:nvSpPr>
        <p:spPr>
          <a:xfrm>
            <a:off x="457200" y="814707"/>
            <a:ext cx="8229600" cy="1143000"/>
          </a:xfrm>
          <a:prstGeom prst="rect">
            <a:avLst/>
          </a:prstGeom>
          <a:noFill/>
          <a:ln>
            <a:noFill/>
          </a:ln>
        </p:spPr>
        <p:txBody>
          <a:bodyPr spcFirstLastPara="1" wrap="square" lIns="91425" tIns="45700" rIns="91425" bIns="45700" anchor="ctr" anchorCtr="0">
            <a:noAutofit/>
          </a:bodyPr>
          <a:lstStyle/>
          <a:p>
            <a:pPr marL="609600" lvl="0" indent="-609600">
              <a:buClr>
                <a:schemeClr val="dk1"/>
              </a:buClr>
              <a:buSzPts val="3200"/>
            </a:pPr>
            <a:r>
              <a:rPr lang="en-US" sz="4000" b="1" dirty="0">
                <a:solidFill>
                  <a:srgbClr val="333399"/>
                </a:solidFill>
                <a:latin typeface="+mn-lt"/>
                <a:ea typeface="Times New Roman"/>
                <a:cs typeface="Times New Roman"/>
                <a:sym typeface="Times New Roman"/>
              </a:rPr>
              <a:t>12.2 </a:t>
            </a:r>
            <a:r>
              <a:rPr lang="en-US" sz="4000" b="1" dirty="0">
                <a:solidFill>
                  <a:srgbClr val="333399"/>
                </a:solidFill>
                <a:latin typeface="+mn-lt"/>
                <a:cs typeface="Times New Roman"/>
                <a:sym typeface="Times New Roman"/>
              </a:rPr>
              <a:t>Tests for Independence and </a:t>
            </a:r>
            <a:br>
              <a:rPr lang="en-US" sz="4000" b="1" dirty="0">
                <a:solidFill>
                  <a:srgbClr val="333399"/>
                </a:solidFill>
                <a:latin typeface="+mn-lt"/>
                <a:cs typeface="Times New Roman"/>
                <a:sym typeface="Times New Roman"/>
              </a:rPr>
            </a:br>
            <a:r>
              <a:rPr lang="en-US" sz="4000" b="1" dirty="0">
                <a:solidFill>
                  <a:srgbClr val="333399"/>
                </a:solidFill>
                <a:latin typeface="+mn-lt"/>
                <a:cs typeface="Times New Roman"/>
                <a:sym typeface="Times New Roman"/>
              </a:rPr>
              <a:t>    the Homogeneity of </a:t>
            </a:r>
            <a:br>
              <a:rPr lang="en-US" sz="4000" b="1" dirty="0">
                <a:solidFill>
                  <a:srgbClr val="333399"/>
                </a:solidFill>
                <a:latin typeface="+mn-lt"/>
                <a:cs typeface="Times New Roman"/>
                <a:sym typeface="Times New Roman"/>
              </a:rPr>
            </a:br>
            <a:r>
              <a:rPr lang="en-US" sz="4000" b="1" dirty="0">
                <a:solidFill>
                  <a:srgbClr val="333399"/>
                </a:solidFill>
                <a:latin typeface="+mn-lt"/>
                <a:cs typeface="Times New Roman"/>
                <a:sym typeface="Times New Roman"/>
              </a:rPr>
              <a:t>    Proportions</a:t>
            </a:r>
          </a:p>
          <a:p>
            <a:pPr marL="609600" lvl="0" indent="-609600">
              <a:buClr>
                <a:schemeClr val="dk1"/>
              </a:buClr>
              <a:buSzPts val="3200"/>
            </a:pPr>
            <a:r>
              <a:rPr lang="en-US" sz="4000" b="1" dirty="0">
                <a:solidFill>
                  <a:srgbClr val="A00020"/>
                </a:solidFill>
                <a:latin typeface="+mn-lt"/>
                <a:cs typeface="Times New Roman"/>
                <a:sym typeface="Times New Roman"/>
              </a:rPr>
              <a:t>Learning Objectives</a:t>
            </a:r>
            <a:endParaRPr lang="en-US" sz="4000" dirty="0">
              <a:solidFill>
                <a:srgbClr val="A00020"/>
              </a:solidFill>
              <a:latin typeface="+mn-lt"/>
            </a:endParaRPr>
          </a:p>
        </p:txBody>
      </p:sp>
      <p:sp>
        <p:nvSpPr>
          <p:cNvPr id="90" name="Google Shape;90;p16"/>
          <p:cNvSpPr txBox="1"/>
          <p:nvPr/>
        </p:nvSpPr>
        <p:spPr>
          <a:xfrm>
            <a:off x="533400" y="2446017"/>
            <a:ext cx="8229600" cy="3597276"/>
          </a:xfrm>
          <a:prstGeom prst="rect">
            <a:avLst/>
          </a:prstGeom>
          <a:noFill/>
          <a:ln>
            <a:noFill/>
          </a:ln>
        </p:spPr>
        <p:txBody>
          <a:bodyPr spcFirstLastPara="1" wrap="square" lIns="91425" tIns="45700" rIns="91425" bIns="45700" anchor="t" anchorCtr="0">
            <a:noAutofit/>
          </a:bodyPr>
          <a:lstStyle/>
          <a:p>
            <a:pPr marL="609600" marR="0" lvl="0" indent="-609600" algn="l" rtl="0">
              <a:lnSpc>
                <a:spcPct val="100000"/>
              </a:lnSpc>
              <a:spcBef>
                <a:spcPts val="0"/>
              </a:spcBef>
              <a:spcAft>
                <a:spcPts val="0"/>
              </a:spcAft>
              <a:buClr>
                <a:schemeClr val="dk1"/>
              </a:buClr>
              <a:buSzPts val="3200"/>
              <a:buFont typeface="Arial"/>
              <a:buNone/>
            </a:pPr>
            <a:endParaRPr sz="3200" b="1" i="0" u="none" dirty="0">
              <a:solidFill>
                <a:schemeClr val="dk1"/>
              </a:solidFill>
              <a:latin typeface="Times New Roman"/>
              <a:ea typeface="Times New Roman"/>
              <a:cs typeface="Times New Roman"/>
              <a:sym typeface="Times New Roman"/>
            </a:endParaRPr>
          </a:p>
          <a:p>
            <a:pPr marL="609600" lvl="0" indent="-609600">
              <a:buClr>
                <a:srgbClr val="A00020"/>
              </a:buClr>
              <a:buSzPts val="3200"/>
              <a:buFont typeface="Times New Roman"/>
              <a:buAutoNum type="arabicPeriod"/>
            </a:pPr>
            <a:r>
              <a:rPr lang="en-US" sz="2800" dirty="0">
                <a:solidFill>
                  <a:schemeClr val="dk1"/>
                </a:solidFill>
                <a:latin typeface="Times New Roman"/>
                <a:ea typeface="Times New Roman"/>
                <a:cs typeface="Times New Roman"/>
                <a:sym typeface="Times New Roman"/>
              </a:rPr>
              <a:t>Perform a test for independence</a:t>
            </a:r>
            <a:endParaRPr lang="en-US" sz="2800" dirty="0"/>
          </a:p>
          <a:p>
            <a:pPr marL="609600" lvl="0" indent="-609600">
              <a:spcBef>
                <a:spcPts val="640"/>
              </a:spcBef>
              <a:buClr>
                <a:srgbClr val="A00020"/>
              </a:buClr>
              <a:buSzPts val="3200"/>
              <a:buFont typeface="Times New Roman"/>
              <a:buAutoNum type="arabicPeriod"/>
            </a:pPr>
            <a:r>
              <a:rPr lang="en-US" sz="2800" dirty="0">
                <a:solidFill>
                  <a:schemeClr val="dk1"/>
                </a:solidFill>
                <a:latin typeface="Times New Roman"/>
                <a:ea typeface="Times New Roman"/>
                <a:cs typeface="Times New Roman"/>
                <a:sym typeface="Times New Roman"/>
              </a:rPr>
              <a:t>Perform a test for homogeneity of proportions</a:t>
            </a:r>
            <a:endParaRPr lang="en-US" sz="2800" dirty="0"/>
          </a:p>
        </p:txBody>
      </p:sp>
      <p:pic>
        <p:nvPicPr>
          <p:cNvPr id="11" name="Picture 10" descr="A picture containing drawing, food&#10;&#10;Description automatically generated">
            <a:extLst>
              <a:ext uri="{FF2B5EF4-FFF2-40B4-BE49-F238E27FC236}">
                <a16:creationId xmlns:a16="http://schemas.microsoft.com/office/drawing/2014/main" id="{7FEB636F-F570-4B29-B96E-83AC5E056E88}"/>
              </a:ext>
            </a:extLst>
          </p:cNvPr>
          <p:cNvPicPr>
            <a:picLocks noChangeAspect="1"/>
          </p:cNvPicPr>
          <p:nvPr/>
        </p:nvPicPr>
        <p:blipFill>
          <a:blip r:embed="rId3"/>
          <a:stretch>
            <a:fillRect/>
          </a:stretch>
        </p:blipFill>
        <p:spPr>
          <a:xfrm>
            <a:off x="5489635" y="1957707"/>
            <a:ext cx="834662" cy="843267"/>
          </a:xfrm>
          <a:prstGeom prst="rect">
            <a:avLst/>
          </a:prstGeom>
        </p:spPr>
      </p:pic>
    </p:spTree>
    <p:extLst>
      <p:ext uri="{BB962C8B-B14F-4D97-AF65-F5344CB8AC3E}">
        <p14:creationId xmlns:p14="http://schemas.microsoft.com/office/powerpoint/2010/main" val="4240329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5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a:solidFill>
                  <a:schemeClr val="accent2"/>
                </a:solidFill>
                <a:latin typeface="Arial"/>
                <a:ea typeface="Arial"/>
                <a:cs typeface="Arial"/>
                <a:sym typeface="Arial"/>
              </a:rPr>
              <a:t>Objective 1</a:t>
            </a:r>
            <a:endParaRPr/>
          </a:p>
        </p:txBody>
      </p:sp>
      <p:sp>
        <p:nvSpPr>
          <p:cNvPr id="360" name="Google Shape;360;p54"/>
          <p:cNvSpPr txBox="1">
            <a:spLocks noGrp="1"/>
          </p:cNvSpPr>
          <p:nvPr>
            <p:ph type="body" idx="1"/>
          </p:nvPr>
        </p:nvSpPr>
        <p:spPr>
          <a:xfrm>
            <a:off x="457200" y="1646237"/>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Perform a Test for Independence</a:t>
            </a:r>
            <a:endParaRPr dirty="0"/>
          </a:p>
        </p:txBody>
      </p:sp>
      <p:sp>
        <p:nvSpPr>
          <p:cNvPr id="361" name="Google Shape;361;p5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39</a:t>
            </a:fld>
            <a:endParaRPr/>
          </a:p>
        </p:txBody>
      </p:sp>
    </p:spTree>
    <p:extLst>
      <p:ext uri="{BB962C8B-B14F-4D97-AF65-F5344CB8AC3E}">
        <p14:creationId xmlns:p14="http://schemas.microsoft.com/office/powerpoint/2010/main" val="550856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4" name="Rectangle 3">
            <a:extLst>
              <a:ext uri="{FF2B5EF4-FFF2-40B4-BE49-F238E27FC236}">
                <a16:creationId xmlns:a16="http://schemas.microsoft.com/office/drawing/2014/main" id="{0C25FBA9-4ADF-41FD-B7BD-05046DD7459F}"/>
              </a:ext>
            </a:extLst>
          </p:cNvPr>
          <p:cNvSpPr/>
          <p:nvPr/>
        </p:nvSpPr>
        <p:spPr>
          <a:xfrm>
            <a:off x="355891" y="810704"/>
            <a:ext cx="8584618" cy="4883085"/>
          </a:xfrm>
          <a:prstGeom prst="rect">
            <a:avLst/>
          </a:prstGeom>
          <a:solidFill>
            <a:srgbClr val="DEE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 name="Google Shape;366;p55"/>
          <p:cNvSpPr txBox="1"/>
          <p:nvPr/>
        </p:nvSpPr>
        <p:spPr>
          <a:xfrm>
            <a:off x="653984" y="992807"/>
            <a:ext cx="7988431" cy="39909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200"/>
              <a:buFont typeface="Times New Roman"/>
              <a:buNone/>
            </a:pPr>
            <a:r>
              <a:rPr lang="en-US" sz="3200" b="0" i="0" u="none" dirty="0">
                <a:solidFill>
                  <a:schemeClr val="tx1"/>
                </a:solidFill>
                <a:latin typeface="Times New Roman"/>
                <a:ea typeface="Times New Roman"/>
                <a:cs typeface="Times New Roman"/>
                <a:sym typeface="Times New Roman"/>
              </a:rPr>
              <a:t>The</a:t>
            </a:r>
            <a:r>
              <a:rPr lang="en-US" sz="3200" b="1" i="0" u="none" dirty="0">
                <a:solidFill>
                  <a:schemeClr val="tx1"/>
                </a:solidFill>
                <a:latin typeface="Times New Roman"/>
                <a:ea typeface="Times New Roman"/>
                <a:cs typeface="Times New Roman"/>
                <a:sym typeface="Times New Roman"/>
              </a:rPr>
              <a:t> chi-square test for independence</a:t>
            </a:r>
            <a:r>
              <a:rPr lang="en-US" sz="3200" b="0" i="0" u="none" dirty="0">
                <a:solidFill>
                  <a:schemeClr val="tx1"/>
                </a:solidFill>
                <a:latin typeface="Times New Roman"/>
                <a:ea typeface="Times New Roman"/>
                <a:cs typeface="Times New Roman"/>
                <a:sym typeface="Times New Roman"/>
              </a:rPr>
              <a:t> is used to determine whether there is an association between a row variable and column variable in a contingency table constructed from sample data.  </a:t>
            </a:r>
          </a:p>
          <a:p>
            <a:pPr marL="457200" marR="0" lvl="0" indent="-457200" algn="l" rtl="0">
              <a:lnSpc>
                <a:spcPct val="100000"/>
              </a:lnSpc>
              <a:spcBef>
                <a:spcPts val="0"/>
              </a:spcBef>
              <a:spcAft>
                <a:spcPts val="0"/>
              </a:spcAft>
              <a:buClrTx/>
              <a:buSzPts val="3200"/>
              <a:buFont typeface="Arial" panose="020B0604020202020204" pitchFamily="34" charset="0"/>
              <a:buChar char="•"/>
            </a:pPr>
            <a:r>
              <a:rPr lang="en-US" sz="3200" b="0" i="0" u="none" dirty="0">
                <a:solidFill>
                  <a:schemeClr val="tx1"/>
                </a:solidFill>
                <a:latin typeface="Times New Roman"/>
                <a:ea typeface="Times New Roman"/>
                <a:cs typeface="Times New Roman"/>
                <a:sym typeface="Times New Roman"/>
              </a:rPr>
              <a:t>The null hypothesis is that the variables are not associated, or independent.</a:t>
            </a:r>
          </a:p>
          <a:p>
            <a:pPr marL="457200" marR="0" lvl="0" indent="-457200" algn="l" rtl="0">
              <a:lnSpc>
                <a:spcPct val="100000"/>
              </a:lnSpc>
              <a:spcBef>
                <a:spcPts val="0"/>
              </a:spcBef>
              <a:spcAft>
                <a:spcPts val="0"/>
              </a:spcAft>
              <a:buClrTx/>
              <a:buSzPts val="3200"/>
              <a:buFont typeface="Arial" panose="020B0604020202020204" pitchFamily="34" charset="0"/>
              <a:buChar char="•"/>
            </a:pPr>
            <a:r>
              <a:rPr lang="en-US" sz="3200" b="0" i="0" u="none" dirty="0">
                <a:solidFill>
                  <a:schemeClr val="tx1"/>
                </a:solidFill>
                <a:latin typeface="Times New Roman"/>
                <a:ea typeface="Times New Roman"/>
                <a:cs typeface="Times New Roman"/>
                <a:sym typeface="Times New Roman"/>
              </a:rPr>
              <a:t>The alternative hypothesis is that the variables are associated, or dependent.</a:t>
            </a:r>
            <a:endParaRPr sz="3200" dirty="0">
              <a:solidFill>
                <a:schemeClr val="tx1"/>
              </a:solidFill>
            </a:endParaRPr>
          </a:p>
        </p:txBody>
      </p:sp>
      <p:sp>
        <p:nvSpPr>
          <p:cNvPr id="367" name="Google Shape;367;p55"/>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40</a:t>
            </a:fld>
            <a:endParaRPr/>
          </a:p>
        </p:txBody>
      </p:sp>
    </p:spTree>
    <p:extLst>
      <p:ext uri="{BB962C8B-B14F-4D97-AF65-F5344CB8AC3E}">
        <p14:creationId xmlns:p14="http://schemas.microsoft.com/office/powerpoint/2010/main" val="882203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6">
                                            <p:txEl>
                                              <p:pRg st="1" end="1"/>
                                            </p:txEl>
                                          </p:spTgt>
                                        </p:tgtEl>
                                        <p:attrNameLst>
                                          <p:attrName>style.visibility</p:attrName>
                                        </p:attrNameLst>
                                      </p:cBhvr>
                                      <p:to>
                                        <p:strVal val="visible"/>
                                      </p:to>
                                    </p:set>
                                    <p:animEffect transition="in" filter="fade">
                                      <p:cBhvr>
                                        <p:cTn id="7" dur="500"/>
                                        <p:tgtEl>
                                          <p:spTgt spid="36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6">
                                            <p:txEl>
                                              <p:pRg st="2" end="2"/>
                                            </p:txEl>
                                          </p:spTgt>
                                        </p:tgtEl>
                                        <p:attrNameLst>
                                          <p:attrName>style.visibility</p:attrName>
                                        </p:attrNameLst>
                                      </p:cBhvr>
                                      <p:to>
                                        <p:strVal val="visible"/>
                                      </p:to>
                                    </p:set>
                                    <p:animEffect transition="in" filter="fade">
                                      <p:cBhvr>
                                        <p:cTn id="12" dur="500"/>
                                        <p:tgtEl>
                                          <p:spTgt spid="36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56"/>
          <p:cNvSpPr txBox="1">
            <a:spLocks noGrp="1"/>
          </p:cNvSpPr>
          <p:nvPr>
            <p:ph type="body" idx="1"/>
          </p:nvPr>
        </p:nvSpPr>
        <p:spPr>
          <a:xfrm>
            <a:off x="869622" y="674801"/>
            <a:ext cx="7404755" cy="4830762"/>
          </a:xfrm>
          <a:prstGeom prst="rect">
            <a:avLst/>
          </a:prstGeom>
          <a:noFill/>
          <a:ln>
            <a:noFill/>
          </a:ln>
        </p:spPr>
        <p:txBody>
          <a:bodyPr spcFirstLastPara="1" wrap="square" lIns="91425" tIns="45700" rIns="91425" bIns="45700" anchor="t" anchorCtr="0">
            <a:noAutofit/>
          </a:bodyPr>
          <a:lstStyle/>
          <a:p>
            <a:pPr marL="342900" lvl="0" indent="-342900" algn="ctr" rtl="0">
              <a:lnSpc>
                <a:spcPct val="100000"/>
              </a:lnSpc>
              <a:spcBef>
                <a:spcPts val="640"/>
              </a:spcBef>
              <a:spcAft>
                <a:spcPts val="0"/>
              </a:spcAft>
              <a:buSzPts val="3200"/>
              <a:buFont typeface="Times New Roman"/>
              <a:buNone/>
            </a:pPr>
            <a:endParaRPr sz="3200" b="0" i="0" u="none" dirty="0">
              <a:solidFill>
                <a:schemeClr val="accent2"/>
              </a:solidFill>
              <a:latin typeface="Times New Roman"/>
              <a:ea typeface="Times New Roman"/>
              <a:cs typeface="Times New Roman"/>
              <a:sym typeface="Times New Roman"/>
            </a:endParaRPr>
          </a:p>
          <a:p>
            <a:pPr marL="342900" lvl="0" indent="-342900" algn="l" rtl="0">
              <a:lnSpc>
                <a:spcPct val="100000"/>
              </a:lnSpc>
              <a:spcBef>
                <a:spcPts val="640"/>
              </a:spcBef>
              <a:spcAft>
                <a:spcPts val="0"/>
              </a:spcAft>
              <a:buSzPts val="3200"/>
              <a:buFont typeface="Times New Roman"/>
              <a:buNone/>
            </a:pPr>
            <a:r>
              <a:rPr lang="en-US" sz="3200" b="0" i="0" u="none" dirty="0">
                <a:solidFill>
                  <a:schemeClr val="dk1"/>
                </a:solidFill>
                <a:latin typeface="Times New Roman"/>
                <a:ea typeface="Times New Roman"/>
                <a:cs typeface="Times New Roman"/>
                <a:sym typeface="Times New Roman"/>
              </a:rPr>
              <a:t>In a chi-square independence test, the null</a:t>
            </a:r>
            <a:endParaRPr dirty="0"/>
          </a:p>
          <a:p>
            <a:pPr marL="342900" lvl="0" indent="-342900" algn="l" rtl="0">
              <a:lnSpc>
                <a:spcPct val="100000"/>
              </a:lnSpc>
              <a:spcBef>
                <a:spcPts val="640"/>
              </a:spcBef>
              <a:spcAft>
                <a:spcPts val="0"/>
              </a:spcAft>
              <a:buSzPts val="3200"/>
              <a:buFont typeface="Times New Roman"/>
              <a:buNone/>
            </a:pPr>
            <a:r>
              <a:rPr lang="en-US" sz="3200" b="0" i="0" u="none" dirty="0">
                <a:solidFill>
                  <a:schemeClr val="dk1"/>
                </a:solidFill>
                <a:latin typeface="Times New Roman"/>
                <a:ea typeface="Times New Roman"/>
                <a:cs typeface="Times New Roman"/>
                <a:sym typeface="Times New Roman"/>
              </a:rPr>
              <a:t>hypothesis is always</a:t>
            </a:r>
            <a:endParaRPr dirty="0"/>
          </a:p>
          <a:p>
            <a:pPr marL="342900" lvl="0" indent="-342900" algn="l" rtl="0">
              <a:lnSpc>
                <a:spcPct val="140000"/>
              </a:lnSpc>
              <a:spcBef>
                <a:spcPts val="640"/>
              </a:spcBef>
              <a:spcAft>
                <a:spcPts val="0"/>
              </a:spcAft>
              <a:buSzPts val="3200"/>
              <a:buFont typeface="Times New Roman"/>
              <a:buNone/>
            </a:pPr>
            <a:r>
              <a:rPr lang="en-US" sz="3200" b="0" i="0" u="none" dirty="0">
                <a:solidFill>
                  <a:schemeClr val="dk1"/>
                </a:solidFill>
                <a:latin typeface="Times New Roman"/>
                <a:ea typeface="Times New Roman"/>
                <a:cs typeface="Times New Roman"/>
                <a:sym typeface="Times New Roman"/>
              </a:rPr>
              <a:t>	</a:t>
            </a:r>
            <a:r>
              <a:rPr lang="en-US" sz="3200" b="0" i="1" u="none" dirty="0">
                <a:solidFill>
                  <a:schemeClr val="dk1"/>
                </a:solidFill>
                <a:latin typeface="Times New Roman"/>
                <a:ea typeface="Times New Roman"/>
                <a:cs typeface="Times New Roman"/>
                <a:sym typeface="Times New Roman"/>
              </a:rPr>
              <a:t>H</a:t>
            </a:r>
            <a:r>
              <a:rPr lang="en-US" sz="3200" b="0" i="0" u="none" baseline="-25000" dirty="0">
                <a:solidFill>
                  <a:schemeClr val="dk1"/>
                </a:solidFill>
                <a:latin typeface="Times New Roman"/>
                <a:ea typeface="Times New Roman"/>
                <a:cs typeface="Times New Roman"/>
                <a:sym typeface="Times New Roman"/>
              </a:rPr>
              <a:t>0</a:t>
            </a:r>
            <a:r>
              <a:rPr lang="en-US" sz="3200" b="0" i="0" u="none" dirty="0">
                <a:solidFill>
                  <a:schemeClr val="dk1"/>
                </a:solidFill>
                <a:latin typeface="Times New Roman"/>
                <a:ea typeface="Times New Roman"/>
                <a:cs typeface="Times New Roman"/>
                <a:sym typeface="Times New Roman"/>
              </a:rPr>
              <a:t>:  The variables are independent</a:t>
            </a:r>
            <a:endParaRPr dirty="0"/>
          </a:p>
          <a:p>
            <a:pPr marL="342900" lvl="0" indent="-342900" algn="l" rtl="0">
              <a:lnSpc>
                <a:spcPct val="140000"/>
              </a:lnSpc>
              <a:spcBef>
                <a:spcPts val="640"/>
              </a:spcBef>
              <a:spcAft>
                <a:spcPts val="0"/>
              </a:spcAft>
              <a:buSzPts val="3200"/>
              <a:buFont typeface="Times New Roman"/>
              <a:buNone/>
            </a:pPr>
            <a:r>
              <a:rPr lang="en-US" sz="3200" b="0" i="0" u="none" dirty="0">
                <a:solidFill>
                  <a:schemeClr val="dk1"/>
                </a:solidFill>
                <a:latin typeface="Times New Roman"/>
                <a:ea typeface="Times New Roman"/>
                <a:cs typeface="Times New Roman"/>
                <a:sym typeface="Times New Roman"/>
              </a:rPr>
              <a:t>The alternative hypothesis is always</a:t>
            </a:r>
            <a:endParaRPr dirty="0"/>
          </a:p>
          <a:p>
            <a:pPr marL="342900" lvl="0" indent="-342900" algn="l" rtl="0">
              <a:lnSpc>
                <a:spcPct val="140000"/>
              </a:lnSpc>
              <a:spcBef>
                <a:spcPts val="640"/>
              </a:spcBef>
              <a:spcAft>
                <a:spcPts val="0"/>
              </a:spcAft>
              <a:buSzPts val="3200"/>
              <a:buFont typeface="Times New Roman"/>
              <a:buNone/>
            </a:pPr>
            <a:r>
              <a:rPr lang="en-US" sz="3200" b="0" i="0" u="none" dirty="0">
                <a:solidFill>
                  <a:schemeClr val="dk1"/>
                </a:solidFill>
                <a:latin typeface="Times New Roman"/>
                <a:ea typeface="Times New Roman"/>
                <a:cs typeface="Times New Roman"/>
                <a:sym typeface="Times New Roman"/>
              </a:rPr>
              <a:t>	</a:t>
            </a:r>
            <a:r>
              <a:rPr lang="en-US" sz="3200" b="0" i="1" u="none" dirty="0">
                <a:solidFill>
                  <a:schemeClr val="dk1"/>
                </a:solidFill>
                <a:latin typeface="Times New Roman"/>
                <a:ea typeface="Times New Roman"/>
                <a:cs typeface="Times New Roman"/>
                <a:sym typeface="Times New Roman"/>
              </a:rPr>
              <a:t>H</a:t>
            </a:r>
            <a:r>
              <a:rPr lang="en-US" sz="3200" b="0" i="0" u="none" baseline="-25000" dirty="0">
                <a:solidFill>
                  <a:schemeClr val="dk1"/>
                </a:solidFill>
                <a:latin typeface="Times New Roman"/>
                <a:ea typeface="Times New Roman"/>
                <a:cs typeface="Times New Roman"/>
                <a:sym typeface="Times New Roman"/>
              </a:rPr>
              <a:t>1</a:t>
            </a:r>
            <a:r>
              <a:rPr lang="en-US" sz="3200" b="0" i="0" u="none" dirty="0">
                <a:solidFill>
                  <a:schemeClr val="dk1"/>
                </a:solidFill>
                <a:latin typeface="Times New Roman"/>
                <a:ea typeface="Times New Roman"/>
                <a:cs typeface="Times New Roman"/>
                <a:sym typeface="Times New Roman"/>
              </a:rPr>
              <a:t>:  The variables are not independent</a:t>
            </a:r>
            <a:endParaRPr dirty="0"/>
          </a:p>
        </p:txBody>
      </p:sp>
      <p:sp>
        <p:nvSpPr>
          <p:cNvPr id="373" name="Google Shape;373;p5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41</a:t>
            </a:fld>
            <a:endParaRPr/>
          </a:p>
        </p:txBody>
      </p:sp>
    </p:spTree>
    <p:extLst>
      <p:ext uri="{BB962C8B-B14F-4D97-AF65-F5344CB8AC3E}">
        <p14:creationId xmlns:p14="http://schemas.microsoft.com/office/powerpoint/2010/main" val="3261127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2">
                                            <p:txEl>
                                              <p:pRg st="4" end="4"/>
                                            </p:txEl>
                                          </p:spTgt>
                                        </p:tgtEl>
                                        <p:attrNameLst>
                                          <p:attrName>style.visibility</p:attrName>
                                        </p:attrNameLst>
                                      </p:cBhvr>
                                      <p:to>
                                        <p:strVal val="visible"/>
                                      </p:to>
                                    </p:set>
                                    <p:animEffect transition="in" filter="fade">
                                      <p:cBhvr>
                                        <p:cTn id="7" dur="500"/>
                                        <p:tgtEl>
                                          <p:spTgt spid="372">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72">
                                            <p:txEl>
                                              <p:pRg st="5" end="5"/>
                                            </p:txEl>
                                          </p:spTgt>
                                        </p:tgtEl>
                                        <p:attrNameLst>
                                          <p:attrName>style.visibility</p:attrName>
                                        </p:attrNameLst>
                                      </p:cBhvr>
                                      <p:to>
                                        <p:strVal val="visible"/>
                                      </p:to>
                                    </p:set>
                                    <p:animEffect transition="in" filter="fade">
                                      <p:cBhvr>
                                        <p:cTn id="10" dur="500"/>
                                        <p:tgtEl>
                                          <p:spTgt spid="37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57"/>
          <p:cNvSpPr txBox="1">
            <a:spLocks noGrp="1"/>
          </p:cNvSpPr>
          <p:nvPr>
            <p:ph type="body" idx="1"/>
          </p:nvPr>
        </p:nvSpPr>
        <p:spPr>
          <a:xfrm>
            <a:off x="381000" y="1371600"/>
            <a:ext cx="8229600" cy="437356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200"/>
              <a:buFont typeface="Times New Roman"/>
              <a:buNone/>
            </a:pPr>
            <a:r>
              <a:rPr lang="en-US" sz="3200" b="0" i="0" u="none" dirty="0">
                <a:solidFill>
                  <a:schemeClr val="dk1"/>
                </a:solidFill>
                <a:latin typeface="Times New Roman"/>
                <a:ea typeface="Times New Roman"/>
                <a:cs typeface="Times New Roman"/>
                <a:sym typeface="Times New Roman"/>
              </a:rPr>
              <a:t>The idea behind testing these types of claims is to compare actual counts to the counts we would expect if the null hypothesis were true (if the variables are independent).  If a significant difference between the actual counts and expected counts exists, we would take this as evidence against the null hypothesis.</a:t>
            </a:r>
            <a:endParaRPr dirty="0"/>
          </a:p>
        </p:txBody>
      </p:sp>
      <p:sp>
        <p:nvSpPr>
          <p:cNvPr id="379" name="Google Shape;379;p57"/>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42</a:t>
            </a:fld>
            <a:endParaRPr/>
          </a:p>
        </p:txBody>
      </p:sp>
    </p:spTree>
    <p:extLst>
      <p:ext uri="{BB962C8B-B14F-4D97-AF65-F5344CB8AC3E}">
        <p14:creationId xmlns:p14="http://schemas.microsoft.com/office/powerpoint/2010/main" val="403913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58"/>
          <p:cNvSpPr txBox="1">
            <a:spLocks noGrp="1"/>
          </p:cNvSpPr>
          <p:nvPr>
            <p:ph type="body" idx="1"/>
          </p:nvPr>
        </p:nvSpPr>
        <p:spPr>
          <a:xfrm>
            <a:off x="533400" y="299775"/>
            <a:ext cx="8077200" cy="5135562"/>
          </a:xfrm>
          <a:prstGeom prst="rect">
            <a:avLst/>
          </a:prstGeom>
          <a:noFill/>
          <a:ln>
            <a:noFill/>
          </a:ln>
        </p:spPr>
        <p:txBody>
          <a:bodyPr spcFirstLastPara="1" wrap="square" lIns="91425" tIns="45700" rIns="91425" bIns="45700" anchor="t" anchorCtr="0">
            <a:noAutofit/>
          </a:bodyPr>
          <a:lstStyle/>
          <a:p>
            <a:pPr marL="114300" indent="0">
              <a:buNone/>
            </a:pPr>
            <a:r>
              <a:rPr lang="en-US" sz="2800" dirty="0">
                <a:latin typeface="Times New Roman" panose="02020603050405020304" pitchFamily="18" charset="0"/>
                <a:cs typeface="Times New Roman" panose="02020603050405020304" pitchFamily="18" charset="0"/>
              </a:rPr>
              <a:t>To obtain the </a:t>
            </a:r>
            <a:r>
              <a:rPr lang="en-US" sz="2800" b="1" dirty="0">
                <a:latin typeface="Times New Roman" panose="02020603050405020304" pitchFamily="18" charset="0"/>
                <a:cs typeface="Times New Roman" panose="02020603050405020304" pitchFamily="18" charset="0"/>
              </a:rPr>
              <a:t>expected counts</a:t>
            </a:r>
            <a:r>
              <a:rPr lang="en-US" sz="2800" dirty="0">
                <a:latin typeface="Times New Roman" panose="02020603050405020304" pitchFamily="18" charset="0"/>
                <a:cs typeface="Times New Roman" panose="02020603050405020304" pitchFamily="18" charset="0"/>
              </a:rPr>
              <a:t>, compute the number of observations expected within each cell under the assumption of independence (the statement in the null hypothesis is true).</a:t>
            </a:r>
          </a:p>
          <a:p>
            <a:pPr marL="114300" indent="0">
              <a:buNone/>
            </a:pPr>
            <a:endParaRPr lang="en-US" sz="1200" dirty="0">
              <a:latin typeface="Times New Roman" panose="02020603050405020304" pitchFamily="18" charset="0"/>
              <a:cs typeface="Times New Roman" panose="02020603050405020304" pitchFamily="18" charset="0"/>
            </a:endParaRPr>
          </a:p>
          <a:p>
            <a:pPr marL="114300" indent="0">
              <a:buNone/>
            </a:pPr>
            <a: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If two events are independent, then</a:t>
            </a:r>
            <a:endParaRPr sz="2800" dirty="0">
              <a:latin typeface="Times New Roman" panose="02020603050405020304" pitchFamily="18" charset="0"/>
              <a:cs typeface="Times New Roman" panose="02020603050405020304" pitchFamily="18" charset="0"/>
            </a:endParaRPr>
          </a:p>
          <a:p>
            <a:pPr marL="342900" lvl="0" indent="-342900" algn="l" rtl="0">
              <a:lnSpc>
                <a:spcPct val="90000"/>
              </a:lnSpc>
              <a:spcBef>
                <a:spcPts val="640"/>
              </a:spcBef>
              <a:spcAft>
                <a:spcPts val="0"/>
              </a:spcAft>
              <a:buSzPts val="3200"/>
              <a:buFont typeface="Times New Roman"/>
              <a:buNone/>
            </a:pPr>
            <a: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a:t>
            </a:r>
          </a:p>
          <a:p>
            <a:pPr marL="0" lvl="0" indent="0" algn="l" rtl="0">
              <a:lnSpc>
                <a:spcPct val="90000"/>
              </a:lnSpc>
              <a:spcBef>
                <a:spcPts val="640"/>
              </a:spcBef>
              <a:spcAft>
                <a:spcPts val="0"/>
              </a:spcAft>
              <a:buSzPts val="3200"/>
              <a:buFont typeface="Times New Roman"/>
              <a:buNone/>
            </a:pPr>
            <a:endPar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lvl="0" indent="0" algn="l" rtl="0">
              <a:lnSpc>
                <a:spcPct val="90000"/>
              </a:lnSpc>
              <a:spcBef>
                <a:spcPts val="640"/>
              </a:spcBef>
              <a:spcAft>
                <a:spcPts val="0"/>
              </a:spcAft>
              <a:buSzPts val="3200"/>
              <a:buFont typeface="Times New Roman"/>
              <a:buNone/>
            </a:pPr>
            <a: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We can use the Multiplication Principle for Independent Events to obtain the expected proportion of observations within each cell under the assumption of independence and multiply this result by </a:t>
            </a:r>
            <a:r>
              <a:rPr lang="en-US" sz="2800" b="0" i="1" u="none" dirty="0">
                <a:solidFill>
                  <a:schemeClr val="dk1"/>
                </a:solidFill>
                <a:latin typeface="Times New Roman" panose="02020603050405020304" pitchFamily="18" charset="0"/>
                <a:ea typeface="Times New Roman"/>
                <a:cs typeface="Times New Roman" panose="02020603050405020304" pitchFamily="18" charset="0"/>
                <a:sym typeface="Times New Roman"/>
              </a:rPr>
              <a:t>n</a:t>
            </a:r>
            <a:r>
              <a:rPr lang="en-US" sz="2800" b="0" i="0" u="none" dirty="0">
                <a:solidFill>
                  <a:schemeClr val="dk1"/>
                </a:solidFill>
                <a:latin typeface="Times New Roman" panose="02020603050405020304" pitchFamily="18" charset="0"/>
                <a:ea typeface="Times New Roman"/>
                <a:cs typeface="Times New Roman" panose="02020603050405020304" pitchFamily="18" charset="0"/>
                <a:sym typeface="Times New Roman"/>
              </a:rPr>
              <a:t>, the sample size, in order to obtain the expected count within each cell.</a:t>
            </a:r>
            <a:endParaRPr sz="2800" dirty="0">
              <a:latin typeface="Times New Roman" panose="02020603050405020304" pitchFamily="18" charset="0"/>
              <a:cs typeface="Times New Roman" panose="02020603050405020304" pitchFamily="18" charset="0"/>
            </a:endParaRPr>
          </a:p>
        </p:txBody>
      </p:sp>
      <p:sp>
        <p:nvSpPr>
          <p:cNvPr id="385" name="Google Shape;385;p58"/>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43</a:t>
            </a:fld>
            <a:endParaRPr/>
          </a:p>
        </p:txBody>
      </p:sp>
      <p:graphicFrame>
        <p:nvGraphicFramePr>
          <p:cNvPr id="2" name="Object 1">
            <a:extLst>
              <a:ext uri="{FF2B5EF4-FFF2-40B4-BE49-F238E27FC236}">
                <a16:creationId xmlns:a16="http://schemas.microsoft.com/office/drawing/2014/main" id="{F9F730E6-6B57-43D3-B9CE-D66A024D5144}"/>
              </a:ext>
            </a:extLst>
          </p:cNvPr>
          <p:cNvGraphicFramePr>
            <a:graphicFrameLocks noChangeAspect="1"/>
          </p:cNvGraphicFramePr>
          <p:nvPr>
            <p:extLst>
              <p:ext uri="{D42A27DB-BD31-4B8C-83A1-F6EECF244321}">
                <p14:modId xmlns:p14="http://schemas.microsoft.com/office/powerpoint/2010/main" val="3319656878"/>
              </p:ext>
            </p:extLst>
          </p:nvPr>
        </p:nvGraphicFramePr>
        <p:xfrm>
          <a:off x="2243039" y="3035300"/>
          <a:ext cx="3822700" cy="393700"/>
        </p:xfrm>
        <a:graphic>
          <a:graphicData uri="http://schemas.openxmlformats.org/presentationml/2006/ole">
            <mc:AlternateContent xmlns:mc="http://schemas.openxmlformats.org/markup-compatibility/2006">
              <mc:Choice xmlns:v="urn:schemas-microsoft-com:vml" Requires="v">
                <p:oleObj spid="_x0000_s17509" name="Equation" r:id="rId4" imgW="3822480" imgH="393480" progId="Equation.DSMT4">
                  <p:embed/>
                </p:oleObj>
              </mc:Choice>
              <mc:Fallback>
                <p:oleObj name="Equation" r:id="rId4" imgW="3822480" imgH="393480" progId="Equation.DSMT4">
                  <p:embed/>
                  <p:pic>
                    <p:nvPicPr>
                      <p:cNvPr id="0" name=""/>
                      <p:cNvPicPr/>
                      <p:nvPr/>
                    </p:nvPicPr>
                    <p:blipFill>
                      <a:blip r:embed="rId5"/>
                      <a:stretch>
                        <a:fillRect/>
                      </a:stretch>
                    </p:blipFill>
                    <p:spPr>
                      <a:xfrm>
                        <a:off x="2243039" y="3035300"/>
                        <a:ext cx="3822700" cy="393700"/>
                      </a:xfrm>
                      <a:prstGeom prst="rect">
                        <a:avLst/>
                      </a:prstGeom>
                    </p:spPr>
                  </p:pic>
                </p:oleObj>
              </mc:Fallback>
            </mc:AlternateContent>
          </a:graphicData>
        </a:graphic>
      </p:graphicFrame>
    </p:spTree>
    <p:extLst>
      <p:ext uri="{BB962C8B-B14F-4D97-AF65-F5344CB8AC3E}">
        <p14:creationId xmlns:p14="http://schemas.microsoft.com/office/powerpoint/2010/main" val="199293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4">
                                            <p:txEl>
                                              <p:pRg st="2" end="2"/>
                                            </p:txEl>
                                          </p:spTgt>
                                        </p:tgtEl>
                                        <p:attrNameLst>
                                          <p:attrName>style.visibility</p:attrName>
                                        </p:attrNameLst>
                                      </p:cBhvr>
                                      <p:to>
                                        <p:strVal val="visible"/>
                                      </p:to>
                                    </p:set>
                                    <p:animEffect transition="in" filter="fade">
                                      <p:cBhvr>
                                        <p:cTn id="7" dur="500"/>
                                        <p:tgtEl>
                                          <p:spTgt spid="384">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84">
                                            <p:txEl>
                                              <p:pRg st="3" end="3"/>
                                            </p:txEl>
                                          </p:spTgt>
                                        </p:tgtEl>
                                        <p:attrNameLst>
                                          <p:attrName>style.visibility</p:attrName>
                                        </p:attrNameLst>
                                      </p:cBhvr>
                                      <p:to>
                                        <p:strVal val="visible"/>
                                      </p:to>
                                    </p:set>
                                    <p:animEffect transition="in" filter="fade">
                                      <p:cBhvr>
                                        <p:cTn id="10" dur="500"/>
                                        <p:tgtEl>
                                          <p:spTgt spid="384">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84">
                                            <p:txEl>
                                              <p:pRg st="5" end="5"/>
                                            </p:txEl>
                                          </p:spTgt>
                                        </p:tgtEl>
                                        <p:attrNameLst>
                                          <p:attrName>style.visibility</p:attrName>
                                        </p:attrNameLst>
                                      </p:cBhvr>
                                      <p:to>
                                        <p:strVal val="visible"/>
                                      </p:to>
                                    </p:set>
                                    <p:animEffect transition="in" filter="fade">
                                      <p:cBhvr>
                                        <p:cTn id="18" dur="500"/>
                                        <p:tgtEl>
                                          <p:spTgt spid="38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2677656"/>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Is there a relationship between marital status and happiness? The data in Table 4 show the marital status and happiness of individuals who participated in the General Social Survey. Compute the expected counts within each cell, assuming that marital status and happiness are independent.</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44</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Determining the Expected Counts in a</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 of 6)                           </a:t>
            </a:r>
            <a:r>
              <a:rPr lang="en-US" sz="2400" i="1" dirty="0">
                <a:solidFill>
                  <a:schemeClr val="dk1"/>
                </a:solidFill>
              </a:rPr>
              <a:t>Test for Independence </a:t>
            </a:r>
            <a:endParaRPr i="1" dirty="0"/>
          </a:p>
        </p:txBody>
      </p:sp>
      <p:pic>
        <p:nvPicPr>
          <p:cNvPr id="3" name="Picture 2" descr="A screenshot of a cell phone&#10;&#10;Description automatically generated">
            <a:extLst>
              <a:ext uri="{FF2B5EF4-FFF2-40B4-BE49-F238E27FC236}">
                <a16:creationId xmlns:a16="http://schemas.microsoft.com/office/drawing/2014/main" id="{9CC9F799-CB98-4976-808A-74D97B56DC93}"/>
              </a:ext>
            </a:extLst>
          </p:cNvPr>
          <p:cNvPicPr>
            <a:picLocks noChangeAspect="1"/>
          </p:cNvPicPr>
          <p:nvPr/>
        </p:nvPicPr>
        <p:blipFill>
          <a:blip r:embed="rId3"/>
          <a:stretch>
            <a:fillRect/>
          </a:stretch>
        </p:blipFill>
        <p:spPr>
          <a:xfrm>
            <a:off x="1091913" y="3671428"/>
            <a:ext cx="7074079" cy="2659522"/>
          </a:xfrm>
          <a:prstGeom prst="rect">
            <a:avLst/>
          </a:prstGeom>
        </p:spPr>
      </p:pic>
    </p:spTree>
    <p:extLst>
      <p:ext uri="{BB962C8B-B14F-4D97-AF65-F5344CB8AC3E}">
        <p14:creationId xmlns:p14="http://schemas.microsoft.com/office/powerpoint/2010/main" val="2330322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3293209"/>
          </a:xfrm>
          <a:prstGeom prst="rect">
            <a:avLst/>
          </a:prstGeom>
        </p:spPr>
        <p:txBody>
          <a:bodyPr wrap="square">
            <a:spAutoFit/>
          </a:bodyPr>
          <a:lstStyle/>
          <a:p>
            <a:r>
              <a:rPr lang="en-US" sz="2600" b="1" i="1" dirty="0">
                <a:latin typeface="Times New Roman" panose="02020603050405020304" pitchFamily="18" charset="0"/>
                <a:cs typeface="Times New Roman" panose="02020603050405020304" pitchFamily="18" charset="0"/>
              </a:rPr>
              <a:t>Step 1 </a:t>
            </a:r>
            <a:r>
              <a:rPr lang="en-US" sz="2600" dirty="0">
                <a:latin typeface="Times New Roman" panose="02020603050405020304" pitchFamily="18" charset="0"/>
                <a:cs typeface="Times New Roman" panose="02020603050405020304" pitchFamily="18" charset="0"/>
              </a:rPr>
              <a:t>The row totals (blue) and column totals (red) are presented in Table 5.</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45</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Determining the Expected Counts in a</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(2 of 6)                           </a:t>
            </a:r>
            <a:r>
              <a:rPr lang="en-US" sz="2400" i="1" dirty="0">
                <a:solidFill>
                  <a:schemeClr val="dk1"/>
                </a:solidFill>
              </a:rPr>
              <a:t>Test for Independence </a:t>
            </a:r>
            <a:endParaRPr i="1" dirty="0"/>
          </a:p>
        </p:txBody>
      </p:sp>
      <p:pic>
        <p:nvPicPr>
          <p:cNvPr id="5" name="Picture 4" descr="A screenshot of a cell phone&#10;&#10;Description automatically generated">
            <a:extLst>
              <a:ext uri="{FF2B5EF4-FFF2-40B4-BE49-F238E27FC236}">
                <a16:creationId xmlns:a16="http://schemas.microsoft.com/office/drawing/2014/main" id="{BF76C4B9-67E6-46B7-97CE-2F629E6A57FE}"/>
              </a:ext>
            </a:extLst>
          </p:cNvPr>
          <p:cNvPicPr>
            <a:picLocks noChangeAspect="1"/>
          </p:cNvPicPr>
          <p:nvPr/>
        </p:nvPicPr>
        <p:blipFill>
          <a:blip r:embed="rId3"/>
          <a:stretch>
            <a:fillRect/>
          </a:stretch>
        </p:blipFill>
        <p:spPr>
          <a:xfrm>
            <a:off x="311870" y="2372363"/>
            <a:ext cx="8598371" cy="2095942"/>
          </a:xfrm>
          <a:prstGeom prst="rect">
            <a:avLst/>
          </a:prstGeom>
        </p:spPr>
      </p:pic>
    </p:spTree>
    <p:extLst>
      <p:ext uri="{BB962C8B-B14F-4D97-AF65-F5344CB8AC3E}">
        <p14:creationId xmlns:p14="http://schemas.microsoft.com/office/powerpoint/2010/main" val="1870361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1292662"/>
          </a:xfrm>
          <a:prstGeom prst="rect">
            <a:avLst/>
          </a:prstGeom>
        </p:spPr>
        <p:txBody>
          <a:bodyPr wrap="square">
            <a:spAutoFit/>
          </a:bodyPr>
          <a:lstStyle/>
          <a:p>
            <a:r>
              <a:rPr lang="en-US" sz="2600" b="1" i="1" dirty="0">
                <a:latin typeface="Times New Roman" panose="02020603050405020304" pitchFamily="18" charset="0"/>
                <a:cs typeface="Times New Roman" panose="02020603050405020304" pitchFamily="18" charset="0"/>
              </a:rPr>
              <a:t>Step 2 </a:t>
            </a:r>
            <a:r>
              <a:rPr lang="en-US" sz="2600" dirty="0">
                <a:latin typeface="Times New Roman" panose="02020603050405020304" pitchFamily="18" charset="0"/>
                <a:cs typeface="Times New Roman" panose="02020603050405020304" pitchFamily="18" charset="0"/>
              </a:rPr>
              <a:t>The relative marginal frequencies for the row variable (happiness) and column variable (marital status) are presented in Table 6.</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46</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Determining the Expected Counts in a</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(3 of 6)                           </a:t>
            </a:r>
            <a:r>
              <a:rPr lang="en-US" sz="2400" i="1" dirty="0">
                <a:solidFill>
                  <a:schemeClr val="dk1"/>
                </a:solidFill>
              </a:rPr>
              <a:t>Test for Independence </a:t>
            </a:r>
            <a:endParaRPr i="1" dirty="0"/>
          </a:p>
        </p:txBody>
      </p:sp>
      <p:pic>
        <p:nvPicPr>
          <p:cNvPr id="8" name="Picture 7" descr="A screenshot of a cell phone&#10;&#10;Description automatically generated">
            <a:extLst>
              <a:ext uri="{FF2B5EF4-FFF2-40B4-BE49-F238E27FC236}">
                <a16:creationId xmlns:a16="http://schemas.microsoft.com/office/drawing/2014/main" id="{999891A0-1521-4ACC-9427-9E3E276C0D10}"/>
              </a:ext>
            </a:extLst>
          </p:cNvPr>
          <p:cNvPicPr>
            <a:picLocks noChangeAspect="1"/>
          </p:cNvPicPr>
          <p:nvPr/>
        </p:nvPicPr>
        <p:blipFill>
          <a:blip r:embed="rId3"/>
          <a:stretch>
            <a:fillRect/>
          </a:stretch>
        </p:blipFill>
        <p:spPr>
          <a:xfrm>
            <a:off x="368431" y="2724368"/>
            <a:ext cx="8417250" cy="2448545"/>
          </a:xfrm>
          <a:prstGeom prst="rect">
            <a:avLst/>
          </a:prstGeom>
        </p:spPr>
      </p:pic>
    </p:spTree>
    <p:extLst>
      <p:ext uri="{BB962C8B-B14F-4D97-AF65-F5344CB8AC3E}">
        <p14:creationId xmlns:p14="http://schemas.microsoft.com/office/powerpoint/2010/main" val="1195423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1692771"/>
          </a:xfrm>
          <a:prstGeom prst="rect">
            <a:avLst/>
          </a:prstGeom>
        </p:spPr>
        <p:txBody>
          <a:bodyPr wrap="square">
            <a:spAutoFit/>
          </a:bodyPr>
          <a:lstStyle/>
          <a:p>
            <a:r>
              <a:rPr lang="en-US" sz="2600" b="1" i="1" dirty="0">
                <a:latin typeface="Times New Roman" panose="02020603050405020304" pitchFamily="18" charset="0"/>
                <a:cs typeface="Times New Roman" panose="02020603050405020304" pitchFamily="18" charset="0"/>
              </a:rPr>
              <a:t>Step 3 </a:t>
            </a:r>
            <a:r>
              <a:rPr lang="en-US" sz="2600" dirty="0">
                <a:latin typeface="Times New Roman" panose="02020603050405020304" pitchFamily="18" charset="0"/>
                <a:cs typeface="Times New Roman" panose="02020603050405020304" pitchFamily="18" charset="0"/>
              </a:rPr>
              <a:t>Assume the variables are independent and use the Multiplication Rule for Independent Events to compute the expected proportions for each cell. For example, the proportion of individuals who are “very happy” and “married” would be</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47</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Determining the Expected Counts in a</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(4 of 6)                           </a:t>
            </a:r>
            <a:r>
              <a:rPr lang="en-US" sz="2400" i="1" dirty="0">
                <a:solidFill>
                  <a:schemeClr val="dk1"/>
                </a:solidFill>
              </a:rPr>
              <a:t>Test for Independence </a:t>
            </a:r>
            <a:endParaRPr i="1" dirty="0"/>
          </a:p>
        </p:txBody>
      </p:sp>
      <p:graphicFrame>
        <p:nvGraphicFramePr>
          <p:cNvPr id="2" name="Object 1">
            <a:extLst>
              <a:ext uri="{FF2B5EF4-FFF2-40B4-BE49-F238E27FC236}">
                <a16:creationId xmlns:a16="http://schemas.microsoft.com/office/drawing/2014/main" id="{8245E284-C8E6-4D92-BC92-890958DF14BA}"/>
              </a:ext>
            </a:extLst>
          </p:cNvPr>
          <p:cNvGraphicFramePr>
            <a:graphicFrameLocks noChangeAspect="1"/>
          </p:cNvGraphicFramePr>
          <p:nvPr>
            <p:extLst>
              <p:ext uri="{D42A27DB-BD31-4B8C-83A1-F6EECF244321}">
                <p14:modId xmlns:p14="http://schemas.microsoft.com/office/powerpoint/2010/main" val="1253462825"/>
              </p:ext>
            </p:extLst>
          </p:nvPr>
        </p:nvGraphicFramePr>
        <p:xfrm>
          <a:off x="837021" y="2952750"/>
          <a:ext cx="7772400" cy="952500"/>
        </p:xfrm>
        <a:graphic>
          <a:graphicData uri="http://schemas.openxmlformats.org/presentationml/2006/ole">
            <mc:AlternateContent xmlns:mc="http://schemas.openxmlformats.org/markup-compatibility/2006">
              <mc:Choice xmlns:v="urn:schemas-microsoft-com:vml" Requires="v">
                <p:oleObj spid="_x0000_s18626" name="Equation" r:id="rId4" imgW="7772400" imgH="952200" progId="Equation.DSMT4">
                  <p:embed/>
                </p:oleObj>
              </mc:Choice>
              <mc:Fallback>
                <p:oleObj name="Equation" r:id="rId4" imgW="7772400" imgH="952200" progId="Equation.DSMT4">
                  <p:embed/>
                  <p:pic>
                    <p:nvPicPr>
                      <p:cNvPr id="0" name=""/>
                      <p:cNvPicPr/>
                      <p:nvPr/>
                    </p:nvPicPr>
                    <p:blipFill>
                      <a:blip r:embed="rId5"/>
                      <a:stretch>
                        <a:fillRect/>
                      </a:stretch>
                    </p:blipFill>
                    <p:spPr>
                      <a:xfrm>
                        <a:off x="837021" y="2952750"/>
                        <a:ext cx="7772400" cy="952500"/>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A29851B3-C0A7-4A67-A3D7-7855101168D7}"/>
              </a:ext>
            </a:extLst>
          </p:cNvPr>
          <p:cNvGraphicFramePr>
            <a:graphicFrameLocks noChangeAspect="1"/>
          </p:cNvGraphicFramePr>
          <p:nvPr>
            <p:extLst>
              <p:ext uri="{D42A27DB-BD31-4B8C-83A1-F6EECF244321}">
                <p14:modId xmlns:p14="http://schemas.microsoft.com/office/powerpoint/2010/main" val="4261356310"/>
              </p:ext>
            </p:extLst>
          </p:nvPr>
        </p:nvGraphicFramePr>
        <p:xfrm>
          <a:off x="4412139" y="4067874"/>
          <a:ext cx="2387600" cy="1282700"/>
        </p:xfrm>
        <a:graphic>
          <a:graphicData uri="http://schemas.openxmlformats.org/presentationml/2006/ole">
            <mc:AlternateContent xmlns:mc="http://schemas.openxmlformats.org/markup-compatibility/2006">
              <mc:Choice xmlns:v="urn:schemas-microsoft-com:vml" Requires="v">
                <p:oleObj spid="_x0000_s18627" name="Equation" r:id="rId6" imgW="2387520" imgH="1282680" progId="Equation.DSMT4">
                  <p:embed/>
                </p:oleObj>
              </mc:Choice>
              <mc:Fallback>
                <p:oleObj name="Equation" r:id="rId6" imgW="2387520" imgH="1282680" progId="Equation.DSMT4">
                  <p:embed/>
                  <p:pic>
                    <p:nvPicPr>
                      <p:cNvPr id="0" name=""/>
                      <p:cNvPicPr/>
                      <p:nvPr/>
                    </p:nvPicPr>
                    <p:blipFill>
                      <a:blip r:embed="rId7"/>
                      <a:stretch>
                        <a:fillRect/>
                      </a:stretch>
                    </p:blipFill>
                    <p:spPr>
                      <a:xfrm>
                        <a:off x="4412139" y="4067874"/>
                        <a:ext cx="2387600" cy="1282700"/>
                      </a:xfrm>
                      <a:prstGeom prst="rect">
                        <a:avLst/>
                      </a:prstGeom>
                    </p:spPr>
                  </p:pic>
                </p:oleObj>
              </mc:Fallback>
            </mc:AlternateContent>
          </a:graphicData>
        </a:graphic>
      </p:graphicFrame>
    </p:spTree>
    <p:extLst>
      <p:ext uri="{BB962C8B-B14F-4D97-AF65-F5344CB8AC3E}">
        <p14:creationId xmlns:p14="http://schemas.microsoft.com/office/powerpoint/2010/main" val="2600240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2893100"/>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Table 7 shows the expected proportion in each cell, assuming independence.</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48</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Determining the Expected Counts in a</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(5 of 6)                           </a:t>
            </a:r>
            <a:r>
              <a:rPr lang="en-US" sz="2400" i="1" dirty="0">
                <a:solidFill>
                  <a:schemeClr val="dk1"/>
                </a:solidFill>
              </a:rPr>
              <a:t>Test for Independence </a:t>
            </a:r>
            <a:endParaRPr i="1" dirty="0"/>
          </a:p>
        </p:txBody>
      </p:sp>
      <p:pic>
        <p:nvPicPr>
          <p:cNvPr id="6" name="Picture 5" descr="A screenshot of a cell phone&#10;&#10;Description automatically generated">
            <a:extLst>
              <a:ext uri="{FF2B5EF4-FFF2-40B4-BE49-F238E27FC236}">
                <a16:creationId xmlns:a16="http://schemas.microsoft.com/office/drawing/2014/main" id="{CE993F6B-59B3-4DB7-ADB8-12A27A74BFCE}"/>
              </a:ext>
            </a:extLst>
          </p:cNvPr>
          <p:cNvPicPr>
            <a:picLocks noChangeAspect="1"/>
          </p:cNvPicPr>
          <p:nvPr/>
        </p:nvPicPr>
        <p:blipFill>
          <a:blip r:embed="rId3"/>
          <a:stretch>
            <a:fillRect/>
          </a:stretch>
        </p:blipFill>
        <p:spPr>
          <a:xfrm>
            <a:off x="289581" y="2124799"/>
            <a:ext cx="8542549" cy="1865656"/>
          </a:xfrm>
          <a:prstGeom prst="rect">
            <a:avLst/>
          </a:prstGeom>
        </p:spPr>
      </p:pic>
    </p:spTree>
    <p:extLst>
      <p:ext uri="{BB962C8B-B14F-4D97-AF65-F5344CB8AC3E}">
        <p14:creationId xmlns:p14="http://schemas.microsoft.com/office/powerpoint/2010/main" val="3954617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4893647"/>
          </a:xfrm>
          <a:prstGeom prst="rect">
            <a:avLst/>
          </a:prstGeom>
        </p:spPr>
        <p:txBody>
          <a:bodyPr wrap="square">
            <a:spAutoFit/>
          </a:bodyPr>
          <a:lstStyle/>
          <a:p>
            <a:r>
              <a:rPr lang="en-US" sz="2600" b="1" i="1" dirty="0">
                <a:latin typeface="Times New Roman" panose="02020603050405020304" pitchFamily="18" charset="0"/>
                <a:cs typeface="Times New Roman" panose="02020603050405020304" pitchFamily="18" charset="0"/>
              </a:rPr>
              <a:t>Step 4 </a:t>
            </a:r>
            <a:r>
              <a:rPr lang="en-US" sz="2600" dirty="0">
                <a:latin typeface="Times New Roman" panose="02020603050405020304" pitchFamily="18" charset="0"/>
                <a:cs typeface="Times New Roman" panose="02020603050405020304" pitchFamily="18" charset="0"/>
              </a:rPr>
              <a:t>Multiply the expected proportions in Table 7 by 2985, the sample size, to obtain the expected counts. See Table 8.</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If happiness and marital status are independent, we would expect a random sample of 2985 individuals to contain about 435 who are “very happy” and “married.”</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49</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Determining the Expected Counts in a</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(6 of 6)                           </a:t>
            </a:r>
            <a:r>
              <a:rPr lang="en-US" sz="2400" i="1" dirty="0">
                <a:solidFill>
                  <a:schemeClr val="dk1"/>
                </a:solidFill>
              </a:rPr>
              <a:t>Test for Independence </a:t>
            </a:r>
            <a:endParaRPr i="1" dirty="0"/>
          </a:p>
        </p:txBody>
      </p:sp>
      <p:pic>
        <p:nvPicPr>
          <p:cNvPr id="9" name="Picture 8" descr="A screenshot of a cell phone&#10;&#10;Description automatically generated">
            <a:extLst>
              <a:ext uri="{FF2B5EF4-FFF2-40B4-BE49-F238E27FC236}">
                <a16:creationId xmlns:a16="http://schemas.microsoft.com/office/drawing/2014/main" id="{AD015691-6D21-446C-BAEA-05AA8EC6C0C1}"/>
              </a:ext>
            </a:extLst>
          </p:cNvPr>
          <p:cNvPicPr>
            <a:picLocks noChangeAspect="1"/>
          </p:cNvPicPr>
          <p:nvPr/>
        </p:nvPicPr>
        <p:blipFill>
          <a:blip r:embed="rId3"/>
          <a:stretch>
            <a:fillRect/>
          </a:stretch>
        </p:blipFill>
        <p:spPr>
          <a:xfrm>
            <a:off x="311870" y="2150068"/>
            <a:ext cx="8439296" cy="1975009"/>
          </a:xfrm>
          <a:prstGeom prst="rect">
            <a:avLst/>
          </a:prstGeom>
        </p:spPr>
      </p:pic>
    </p:spTree>
    <p:extLst>
      <p:ext uri="{BB962C8B-B14F-4D97-AF65-F5344CB8AC3E}">
        <p14:creationId xmlns:p14="http://schemas.microsoft.com/office/powerpoint/2010/main" val="3379438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animEffect transition="in" filter="fade">
                                      <p:cBhvr>
                                        <p:cTn id="7"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7" name="Rectangle 6">
            <a:extLst>
              <a:ext uri="{FF2B5EF4-FFF2-40B4-BE49-F238E27FC236}">
                <a16:creationId xmlns:a16="http://schemas.microsoft.com/office/drawing/2014/main" id="{18EB4442-9708-43EA-B2CE-63D79D313E77}"/>
              </a:ext>
            </a:extLst>
          </p:cNvPr>
          <p:cNvSpPr/>
          <p:nvPr/>
        </p:nvSpPr>
        <p:spPr>
          <a:xfrm>
            <a:off x="225271" y="396402"/>
            <a:ext cx="8537729" cy="5287962"/>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Google Shape;430;p64"/>
          <p:cNvSpPr txBox="1">
            <a:spLocks noGrp="1"/>
          </p:cNvSpPr>
          <p:nvPr>
            <p:ph type="body" idx="1"/>
          </p:nvPr>
        </p:nvSpPr>
        <p:spPr>
          <a:xfrm>
            <a:off x="609600" y="546067"/>
            <a:ext cx="8077200" cy="5287962"/>
          </a:xfrm>
          <a:prstGeom prst="rect">
            <a:avLst/>
          </a:prstGeom>
          <a:noFill/>
          <a:ln>
            <a:noFill/>
          </a:ln>
        </p:spPr>
        <p:txBody>
          <a:bodyPr spcFirstLastPara="1" wrap="square" lIns="91425" tIns="45700" rIns="91425" bIns="45700" anchor="t" anchorCtr="0">
            <a:noAutofit/>
          </a:bodyPr>
          <a:lstStyle/>
          <a:p>
            <a:pPr marL="0" lvl="0" indent="0" rtl="0">
              <a:lnSpc>
                <a:spcPct val="100000"/>
              </a:lnSpc>
              <a:spcBef>
                <a:spcPts val="0"/>
              </a:spcBef>
              <a:spcAft>
                <a:spcPts val="0"/>
              </a:spcAft>
              <a:buSzPts val="3200"/>
              <a:buFont typeface="Arial"/>
              <a:buNone/>
            </a:pPr>
            <a:r>
              <a:rPr lang="en-US" sz="3200" b="1" i="0" u="none" dirty="0">
                <a:solidFill>
                  <a:schemeClr val="tx1"/>
                </a:solidFill>
                <a:sym typeface="Arial"/>
              </a:rPr>
              <a:t>Expected Frequencies in a Chi-Square Test for Independence</a:t>
            </a:r>
            <a:endParaRPr sz="3200" dirty="0">
              <a:solidFill>
                <a:schemeClr val="tx1"/>
              </a:solidFill>
            </a:endParaRPr>
          </a:p>
          <a:p>
            <a:pPr marL="0" lvl="0" indent="0" algn="ctr" rtl="0">
              <a:lnSpc>
                <a:spcPct val="100000"/>
              </a:lnSpc>
              <a:spcBef>
                <a:spcPts val="640"/>
              </a:spcBef>
              <a:spcAft>
                <a:spcPts val="0"/>
              </a:spcAft>
              <a:buSzPts val="3200"/>
              <a:buFont typeface="Times New Roman"/>
              <a:buNone/>
            </a:pPr>
            <a:endParaRPr sz="1200" b="1" i="0" u="none" dirty="0">
              <a:solidFill>
                <a:schemeClr val="tx1"/>
              </a:solidFill>
              <a:latin typeface="Arial"/>
              <a:ea typeface="Arial"/>
              <a:cs typeface="Arial"/>
              <a:sym typeface="Arial"/>
            </a:endParaRPr>
          </a:p>
          <a:p>
            <a:pPr marL="0" lvl="0" indent="0" algn="l" rtl="0">
              <a:lnSpc>
                <a:spcPct val="100000"/>
              </a:lnSpc>
              <a:spcBef>
                <a:spcPts val="640"/>
              </a:spcBef>
              <a:spcAft>
                <a:spcPts val="0"/>
              </a:spcAft>
              <a:buSzPts val="3200"/>
              <a:buFont typeface="Times New Roman"/>
              <a:buNone/>
            </a:pPr>
            <a:r>
              <a:rPr lang="en-US" sz="32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To find the expected frequencies in a cell when performing a chi-square independence test, multiply the cell’s row total by its column total and divide this result by the table total.  That is,</a:t>
            </a:r>
            <a:endParaRPr dirty="0">
              <a:solidFill>
                <a:schemeClr val="tx1"/>
              </a:solidFill>
              <a:latin typeface="Times New Roman" panose="02020603050405020304" pitchFamily="18" charset="0"/>
              <a:cs typeface="Times New Roman" panose="02020603050405020304" pitchFamily="18" charset="0"/>
            </a:endParaRPr>
          </a:p>
          <a:p>
            <a:pPr marL="0" lvl="0" indent="0" algn="l" rtl="0">
              <a:spcBef>
                <a:spcPts val="640"/>
              </a:spcBef>
              <a:spcAft>
                <a:spcPts val="0"/>
              </a:spcAft>
              <a:buSzPts val="3200"/>
              <a:buFont typeface="Times New Roman"/>
              <a:buNone/>
            </a:pPr>
            <a:endParaRPr sz="3200" b="0" i="0" u="none" dirty="0">
              <a:solidFill>
                <a:schemeClr val="tx1"/>
              </a:solidFill>
              <a:latin typeface="Times New Roman"/>
              <a:ea typeface="Times New Roman"/>
              <a:cs typeface="Times New Roman"/>
              <a:sym typeface="Times New Roman"/>
            </a:endParaRPr>
          </a:p>
        </p:txBody>
      </p:sp>
      <p:sp>
        <p:nvSpPr>
          <p:cNvPr id="432" name="Google Shape;432;p6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50</a:t>
            </a:fld>
            <a:endParaRPr/>
          </a:p>
        </p:txBody>
      </p:sp>
      <p:graphicFrame>
        <p:nvGraphicFramePr>
          <p:cNvPr id="2" name="Object 1">
            <a:extLst>
              <a:ext uri="{FF2B5EF4-FFF2-40B4-BE49-F238E27FC236}">
                <a16:creationId xmlns:a16="http://schemas.microsoft.com/office/drawing/2014/main" id="{86E1E52D-340E-49A7-922D-744367771BE8}"/>
              </a:ext>
            </a:extLst>
          </p:cNvPr>
          <p:cNvGraphicFramePr>
            <a:graphicFrameLocks noChangeAspect="1"/>
          </p:cNvGraphicFramePr>
          <p:nvPr>
            <p:extLst>
              <p:ext uri="{D42A27DB-BD31-4B8C-83A1-F6EECF244321}">
                <p14:modId xmlns:p14="http://schemas.microsoft.com/office/powerpoint/2010/main" val="570725612"/>
              </p:ext>
            </p:extLst>
          </p:nvPr>
        </p:nvGraphicFramePr>
        <p:xfrm>
          <a:off x="658043" y="4299983"/>
          <a:ext cx="6832600" cy="838200"/>
        </p:xfrm>
        <a:graphic>
          <a:graphicData uri="http://schemas.openxmlformats.org/presentationml/2006/ole">
            <mc:AlternateContent xmlns:mc="http://schemas.openxmlformats.org/markup-compatibility/2006">
              <mc:Choice xmlns:v="urn:schemas-microsoft-com:vml" Requires="v">
                <p:oleObj spid="_x0000_s19551" name="Equation" r:id="rId4" imgW="6832440" imgH="838080" progId="Equation.DSMT4">
                  <p:embed/>
                </p:oleObj>
              </mc:Choice>
              <mc:Fallback>
                <p:oleObj name="Equation" r:id="rId4" imgW="6832440" imgH="838080" progId="Equation.DSMT4">
                  <p:embed/>
                  <p:pic>
                    <p:nvPicPr>
                      <p:cNvPr id="0" name=""/>
                      <p:cNvPicPr/>
                      <p:nvPr/>
                    </p:nvPicPr>
                    <p:blipFill>
                      <a:blip r:embed="rId5"/>
                      <a:stretch>
                        <a:fillRect/>
                      </a:stretch>
                    </p:blipFill>
                    <p:spPr>
                      <a:xfrm>
                        <a:off x="658043" y="4299983"/>
                        <a:ext cx="6832600" cy="838200"/>
                      </a:xfrm>
                      <a:prstGeom prst="rect">
                        <a:avLst/>
                      </a:prstGeom>
                    </p:spPr>
                  </p:pic>
                </p:oleObj>
              </mc:Fallback>
            </mc:AlternateContent>
          </a:graphicData>
        </a:graphic>
      </p:graphicFrame>
      <p:sp>
        <p:nvSpPr>
          <p:cNvPr id="3" name="TextBox 2">
            <a:extLst>
              <a:ext uri="{FF2B5EF4-FFF2-40B4-BE49-F238E27FC236}">
                <a16:creationId xmlns:a16="http://schemas.microsoft.com/office/drawing/2014/main" id="{5A6CF2AE-0472-4294-B000-CB34AC3B5C22}"/>
              </a:ext>
            </a:extLst>
          </p:cNvPr>
          <p:cNvSpPr txBox="1"/>
          <p:nvPr/>
        </p:nvSpPr>
        <p:spPr>
          <a:xfrm>
            <a:off x="7887541" y="4503639"/>
            <a:ext cx="518475" cy="430887"/>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(1)</a:t>
            </a:r>
          </a:p>
        </p:txBody>
      </p:sp>
    </p:spTree>
    <p:extLst>
      <p:ext uri="{BB962C8B-B14F-4D97-AF65-F5344CB8AC3E}">
        <p14:creationId xmlns:p14="http://schemas.microsoft.com/office/powerpoint/2010/main" val="2242997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6" name="Rectangle 5">
            <a:extLst>
              <a:ext uri="{FF2B5EF4-FFF2-40B4-BE49-F238E27FC236}">
                <a16:creationId xmlns:a16="http://schemas.microsoft.com/office/drawing/2014/main" id="{158A89FF-3973-4432-98E3-5FD1C5437905}"/>
              </a:ext>
            </a:extLst>
          </p:cNvPr>
          <p:cNvSpPr/>
          <p:nvPr/>
        </p:nvSpPr>
        <p:spPr>
          <a:xfrm>
            <a:off x="225271" y="396401"/>
            <a:ext cx="8537729" cy="5627327"/>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Google Shape;437;p65"/>
          <p:cNvSpPr txBox="1">
            <a:spLocks noGrp="1"/>
          </p:cNvSpPr>
          <p:nvPr>
            <p:ph type="body" idx="1"/>
          </p:nvPr>
        </p:nvSpPr>
        <p:spPr>
          <a:xfrm>
            <a:off x="457200" y="492553"/>
            <a:ext cx="8229600" cy="5867400"/>
          </a:xfrm>
          <a:prstGeom prst="rect">
            <a:avLst/>
          </a:prstGeom>
          <a:noFill/>
          <a:ln>
            <a:noFill/>
          </a:ln>
        </p:spPr>
        <p:txBody>
          <a:bodyPr spcFirstLastPara="1" wrap="square" lIns="91425" tIns="45700" rIns="91425" bIns="45700" anchor="t" anchorCtr="0">
            <a:noAutofit/>
          </a:bodyPr>
          <a:lstStyle/>
          <a:p>
            <a:pPr marL="0" lvl="0" indent="0" rtl="0">
              <a:lnSpc>
                <a:spcPct val="90000"/>
              </a:lnSpc>
              <a:spcBef>
                <a:spcPts val="0"/>
              </a:spcBef>
              <a:spcAft>
                <a:spcPts val="0"/>
              </a:spcAft>
              <a:buSzPts val="3200"/>
              <a:buFont typeface="Arial"/>
              <a:buNone/>
            </a:pPr>
            <a:r>
              <a:rPr lang="en-US" sz="3200" b="1" i="0" u="none" dirty="0">
                <a:solidFill>
                  <a:schemeClr val="tx1"/>
                </a:solidFill>
                <a:sym typeface="Arial"/>
              </a:rPr>
              <a:t>Test Statistic for the Test of Independence</a:t>
            </a:r>
            <a:endParaRPr sz="3200" dirty="0">
              <a:solidFill>
                <a:schemeClr val="tx1"/>
              </a:solidFill>
            </a:endParaRPr>
          </a:p>
          <a:p>
            <a:pPr marL="0" lvl="0" indent="0" algn="ctr" rtl="0">
              <a:lnSpc>
                <a:spcPct val="90000"/>
              </a:lnSpc>
              <a:spcBef>
                <a:spcPts val="400"/>
              </a:spcBef>
              <a:spcAft>
                <a:spcPts val="0"/>
              </a:spcAft>
              <a:buSzPts val="2000"/>
              <a:buFont typeface="Times New Roman"/>
              <a:buNone/>
            </a:pPr>
            <a:endParaRPr sz="800" b="1" i="0" u="none" dirty="0">
              <a:solidFill>
                <a:schemeClr val="tx1"/>
              </a:solidFill>
              <a:latin typeface="Arial"/>
              <a:ea typeface="Arial"/>
              <a:cs typeface="Arial"/>
              <a:sym typeface="Arial"/>
            </a:endParaRPr>
          </a:p>
          <a:p>
            <a:pPr marL="0" lvl="0" indent="0" algn="l" rtl="0">
              <a:lnSpc>
                <a:spcPct val="90000"/>
              </a:lnSpc>
              <a:spcBef>
                <a:spcPts val="520"/>
              </a:spcBef>
              <a:spcAft>
                <a:spcPts val="0"/>
              </a:spcAft>
              <a:buSzPts val="2600"/>
              <a:buFont typeface="Times New Roman"/>
              <a:buNone/>
            </a:pPr>
            <a:r>
              <a:rPr lang="en-US" sz="26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Let </a:t>
            </a:r>
            <a:r>
              <a:rPr lang="en-US" sz="2600" b="0"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O</a:t>
            </a:r>
            <a:r>
              <a:rPr lang="en-US" sz="2600" b="0" i="1" u="none" baseline="-25000" dirty="0">
                <a:solidFill>
                  <a:schemeClr val="tx1"/>
                </a:solidFill>
                <a:latin typeface="Times New Roman" panose="02020603050405020304" pitchFamily="18" charset="0"/>
                <a:ea typeface="Times New Roman"/>
                <a:cs typeface="Times New Roman" panose="02020603050405020304" pitchFamily="18" charset="0"/>
                <a:sym typeface="Times New Roman"/>
              </a:rPr>
              <a:t>i</a:t>
            </a:r>
            <a:r>
              <a:rPr lang="en-US" sz="26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represent the observed number of counts in the</a:t>
            </a:r>
            <a:endParaRPr sz="2600" dirty="0">
              <a:solidFill>
                <a:schemeClr val="tx1"/>
              </a:solidFill>
              <a:latin typeface="Times New Roman" panose="02020603050405020304" pitchFamily="18" charset="0"/>
              <a:cs typeface="Times New Roman" panose="02020603050405020304" pitchFamily="18" charset="0"/>
            </a:endParaRPr>
          </a:p>
          <a:p>
            <a:pPr marL="0" lvl="0" indent="0" algn="l" rtl="0">
              <a:lnSpc>
                <a:spcPct val="90000"/>
              </a:lnSpc>
              <a:spcBef>
                <a:spcPts val="520"/>
              </a:spcBef>
              <a:spcAft>
                <a:spcPts val="0"/>
              </a:spcAft>
              <a:buSzPts val="2600"/>
              <a:buFont typeface="Times New Roman"/>
              <a:buNone/>
            </a:pPr>
            <a:r>
              <a:rPr lang="en-US" sz="2600" b="0" i="1" u="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i</a:t>
            </a:r>
            <a:r>
              <a:rPr lang="en-US" sz="2600" b="0" i="0" u="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th</a:t>
            </a:r>
            <a:r>
              <a:rPr lang="en-US" sz="26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cell and </a:t>
            </a:r>
            <a:r>
              <a:rPr lang="en-US" sz="2600" b="0" i="1" u="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E</a:t>
            </a:r>
            <a:r>
              <a:rPr lang="en-US" sz="2600" b="0" i="1" u="none" baseline="-25000" dirty="0" err="1">
                <a:solidFill>
                  <a:schemeClr val="tx1"/>
                </a:solidFill>
                <a:latin typeface="Times New Roman" panose="02020603050405020304" pitchFamily="18" charset="0"/>
                <a:ea typeface="Times New Roman"/>
                <a:cs typeface="Times New Roman" panose="02020603050405020304" pitchFamily="18" charset="0"/>
                <a:sym typeface="Times New Roman"/>
              </a:rPr>
              <a:t>i</a:t>
            </a:r>
            <a:r>
              <a:rPr lang="en-US" sz="26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represent the expected number of counts</a:t>
            </a:r>
            <a:endParaRPr sz="2600" dirty="0">
              <a:solidFill>
                <a:schemeClr val="tx1"/>
              </a:solidFill>
              <a:latin typeface="Times New Roman" panose="02020603050405020304" pitchFamily="18" charset="0"/>
              <a:cs typeface="Times New Roman" panose="02020603050405020304" pitchFamily="18" charset="0"/>
            </a:endParaRPr>
          </a:p>
          <a:p>
            <a:pPr marL="0" lvl="0" indent="0" algn="l" rtl="0">
              <a:lnSpc>
                <a:spcPct val="90000"/>
              </a:lnSpc>
              <a:spcBef>
                <a:spcPts val="520"/>
              </a:spcBef>
              <a:spcAft>
                <a:spcPts val="0"/>
              </a:spcAft>
              <a:buSzPts val="2600"/>
              <a:buFont typeface="Times New Roman"/>
              <a:buNone/>
            </a:pPr>
            <a:r>
              <a:rPr lang="en-US" sz="26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in the </a:t>
            </a:r>
            <a:r>
              <a:rPr lang="en-US" sz="2600" b="0" i="1" u="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i</a:t>
            </a:r>
            <a:r>
              <a:rPr lang="en-US" sz="2600" b="0" i="0" u="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th</a:t>
            </a:r>
            <a:r>
              <a:rPr lang="en-US" sz="26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cell.  Then</a:t>
            </a:r>
            <a:endParaRPr sz="2600" dirty="0">
              <a:solidFill>
                <a:schemeClr val="tx1"/>
              </a:solidFill>
              <a:latin typeface="Times New Roman" panose="02020603050405020304" pitchFamily="18" charset="0"/>
              <a:cs typeface="Times New Roman" panose="02020603050405020304" pitchFamily="18" charset="0"/>
            </a:endParaRPr>
          </a:p>
          <a:p>
            <a:pPr marL="0" lvl="0" indent="0" algn="l" rtl="0">
              <a:lnSpc>
                <a:spcPct val="90000"/>
              </a:lnSpc>
              <a:spcBef>
                <a:spcPts val="520"/>
              </a:spcBef>
              <a:spcAft>
                <a:spcPts val="0"/>
              </a:spcAft>
              <a:buSzPts val="2600"/>
              <a:buFont typeface="Times New Roman"/>
              <a:buNone/>
            </a:pPr>
            <a:endParaRPr sz="2600" b="0" i="0" u="none" dirty="0">
              <a:solidFill>
                <a:schemeClr val="tx1"/>
              </a:solidFill>
              <a:latin typeface="Times New Roman"/>
              <a:ea typeface="Times New Roman"/>
              <a:cs typeface="Times New Roman"/>
              <a:sym typeface="Times New Roman"/>
            </a:endParaRPr>
          </a:p>
          <a:p>
            <a:pPr marL="0" lvl="0" indent="0" algn="l" rtl="0">
              <a:lnSpc>
                <a:spcPct val="90000"/>
              </a:lnSpc>
              <a:spcBef>
                <a:spcPts val="520"/>
              </a:spcBef>
              <a:spcAft>
                <a:spcPts val="0"/>
              </a:spcAft>
              <a:buSzPts val="2600"/>
              <a:buFont typeface="Times New Roman"/>
              <a:buNone/>
            </a:pPr>
            <a:endParaRPr sz="2600" b="0" i="0" u="none" dirty="0">
              <a:solidFill>
                <a:schemeClr val="tx1"/>
              </a:solidFill>
              <a:latin typeface="Times New Roman"/>
              <a:ea typeface="Times New Roman"/>
              <a:cs typeface="Times New Roman"/>
              <a:sym typeface="Times New Roman"/>
            </a:endParaRPr>
          </a:p>
          <a:p>
            <a:pPr marL="0" lvl="0" indent="0" algn="l" rtl="0">
              <a:lnSpc>
                <a:spcPct val="90000"/>
              </a:lnSpc>
              <a:spcBef>
                <a:spcPts val="520"/>
              </a:spcBef>
              <a:spcAft>
                <a:spcPts val="0"/>
              </a:spcAft>
              <a:buSzPts val="2600"/>
              <a:buFont typeface="Times New Roman"/>
              <a:buNone/>
            </a:pPr>
            <a:r>
              <a:rPr lang="en-US" sz="26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approximately follows the chi-square distribution with </a:t>
            </a:r>
            <a:r>
              <a:rPr lang="en-US" sz="2600" dirty="0">
                <a:solidFill>
                  <a:schemeClr val="tx1"/>
                </a:solidFill>
                <a:latin typeface="Times New Roman" panose="02020603050405020304" pitchFamily="18" charset="0"/>
                <a:ea typeface="Times New Roman"/>
                <a:cs typeface="Times New Roman" panose="02020603050405020304" pitchFamily="18" charset="0"/>
              </a:rPr>
              <a:t> </a:t>
            </a:r>
            <a:br>
              <a:rPr lang="en-US" sz="2600" dirty="0">
                <a:solidFill>
                  <a:schemeClr val="tx1"/>
                </a:solidFill>
                <a:latin typeface="Times New Roman" panose="02020603050405020304" pitchFamily="18" charset="0"/>
                <a:ea typeface="Times New Roman"/>
                <a:cs typeface="Times New Roman" panose="02020603050405020304" pitchFamily="18" charset="0"/>
              </a:rPr>
            </a:br>
            <a:r>
              <a:rPr lang="en-US" sz="26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a:t>
            </a:r>
            <a:r>
              <a:rPr lang="en-US" sz="2600" b="0"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r</a:t>
            </a:r>
            <a:r>
              <a:rPr lang="en-US" sz="26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 1)(</a:t>
            </a:r>
            <a:r>
              <a:rPr lang="en-US" sz="2600" b="0"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c</a:t>
            </a:r>
            <a:r>
              <a:rPr lang="en-US" sz="26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 1) degrees of freedom, where </a:t>
            </a:r>
            <a:r>
              <a:rPr lang="en-US" sz="2600" b="0"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r</a:t>
            </a:r>
            <a:r>
              <a:rPr lang="en-US" sz="26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is the number of rows and </a:t>
            </a:r>
            <a:r>
              <a:rPr lang="en-US" sz="2600" b="0"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c</a:t>
            </a:r>
            <a:r>
              <a:rPr lang="en-US" sz="26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is the number of columns in the contingency table, provided that (1) all expected frequencies are greater than or equal to 1 and (2) no more than 20% of the expected</a:t>
            </a:r>
            <a:r>
              <a:rPr lang="en-US" sz="2600" dirty="0">
                <a:solidFill>
                  <a:schemeClr val="tx1"/>
                </a:solidFill>
                <a:latin typeface="Times New Roman" panose="02020603050405020304" pitchFamily="18" charset="0"/>
                <a:ea typeface="Times New Roman"/>
                <a:cs typeface="Times New Roman" panose="02020603050405020304" pitchFamily="18" charset="0"/>
              </a:rPr>
              <a:t> </a:t>
            </a:r>
            <a:r>
              <a:rPr lang="en-US" sz="26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frequencies are less than 5.</a:t>
            </a:r>
            <a:endParaRPr sz="2600" dirty="0">
              <a:solidFill>
                <a:schemeClr val="tx1"/>
              </a:solidFill>
              <a:latin typeface="Times New Roman" panose="02020603050405020304" pitchFamily="18" charset="0"/>
              <a:cs typeface="Times New Roman" panose="02020603050405020304" pitchFamily="18" charset="0"/>
            </a:endParaRPr>
          </a:p>
        </p:txBody>
      </p:sp>
      <p:sp>
        <p:nvSpPr>
          <p:cNvPr id="439" name="Google Shape;439;p65"/>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51</a:t>
            </a:fld>
            <a:endParaRPr/>
          </a:p>
        </p:txBody>
      </p:sp>
      <p:graphicFrame>
        <p:nvGraphicFramePr>
          <p:cNvPr id="2" name="Object 1">
            <a:extLst>
              <a:ext uri="{FF2B5EF4-FFF2-40B4-BE49-F238E27FC236}">
                <a16:creationId xmlns:a16="http://schemas.microsoft.com/office/drawing/2014/main" id="{F1505EB6-30EC-4AC8-928F-0D17D6E51434}"/>
              </a:ext>
            </a:extLst>
          </p:cNvPr>
          <p:cNvGraphicFramePr>
            <a:graphicFrameLocks noChangeAspect="1"/>
          </p:cNvGraphicFramePr>
          <p:nvPr>
            <p:extLst>
              <p:ext uri="{D42A27DB-BD31-4B8C-83A1-F6EECF244321}">
                <p14:modId xmlns:p14="http://schemas.microsoft.com/office/powerpoint/2010/main" val="2460546031"/>
              </p:ext>
            </p:extLst>
          </p:nvPr>
        </p:nvGraphicFramePr>
        <p:xfrm>
          <a:off x="3262235" y="2708414"/>
          <a:ext cx="2463800" cy="1003300"/>
        </p:xfrm>
        <a:graphic>
          <a:graphicData uri="http://schemas.openxmlformats.org/presentationml/2006/ole">
            <mc:AlternateContent xmlns:mc="http://schemas.openxmlformats.org/markup-compatibility/2006">
              <mc:Choice xmlns:v="urn:schemas-microsoft-com:vml" Requires="v">
                <p:oleObj spid="_x0000_s20574" name="Equation" r:id="rId4" imgW="2463480" imgH="1002960" progId="Equation.DSMT4">
                  <p:embed/>
                </p:oleObj>
              </mc:Choice>
              <mc:Fallback>
                <p:oleObj name="Equation" r:id="rId4" imgW="2463480" imgH="1002960" progId="Equation.DSMT4">
                  <p:embed/>
                  <p:pic>
                    <p:nvPicPr>
                      <p:cNvPr id="0" name=""/>
                      <p:cNvPicPr/>
                      <p:nvPr/>
                    </p:nvPicPr>
                    <p:blipFill>
                      <a:blip r:embed="rId5"/>
                      <a:stretch>
                        <a:fillRect/>
                      </a:stretch>
                    </p:blipFill>
                    <p:spPr>
                      <a:xfrm>
                        <a:off x="3262235" y="2708414"/>
                        <a:ext cx="2463800" cy="1003300"/>
                      </a:xfrm>
                      <a:prstGeom prst="rect">
                        <a:avLst/>
                      </a:prstGeom>
                    </p:spPr>
                  </p:pic>
                </p:oleObj>
              </mc:Fallback>
            </mc:AlternateContent>
          </a:graphicData>
        </a:graphic>
      </p:graphicFrame>
    </p:spTree>
    <p:extLst>
      <p:ext uri="{BB962C8B-B14F-4D97-AF65-F5344CB8AC3E}">
        <p14:creationId xmlns:p14="http://schemas.microsoft.com/office/powerpoint/2010/main" val="875149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5" name="Rectangle 4">
            <a:extLst>
              <a:ext uri="{FF2B5EF4-FFF2-40B4-BE49-F238E27FC236}">
                <a16:creationId xmlns:a16="http://schemas.microsoft.com/office/drawing/2014/main" id="{E743D85D-FF42-415E-923B-113664A5C168}"/>
              </a:ext>
            </a:extLst>
          </p:cNvPr>
          <p:cNvSpPr/>
          <p:nvPr/>
        </p:nvSpPr>
        <p:spPr>
          <a:xfrm>
            <a:off x="225271" y="235671"/>
            <a:ext cx="8537729" cy="5788058"/>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 name="Google Shape;444;p66"/>
          <p:cNvSpPr txBox="1"/>
          <p:nvPr/>
        </p:nvSpPr>
        <p:spPr>
          <a:xfrm>
            <a:off x="378619" y="2328420"/>
            <a:ext cx="7920873" cy="3459637"/>
          </a:xfrm>
          <a:prstGeom prst="rect">
            <a:avLst/>
          </a:prstGeom>
          <a:noFill/>
          <a:ln>
            <a:noFill/>
          </a:ln>
        </p:spPr>
        <p:txBody>
          <a:bodyPr spcFirstLastPara="1" wrap="square" lIns="91425" tIns="45700" rIns="91425" bIns="45700" anchor="t" anchorCtr="0">
            <a:noAutofit/>
          </a:bodyPr>
          <a:lstStyle/>
          <a:p>
            <a:pPr marR="0" lvl="0" algn="l" rtl="0">
              <a:lnSpc>
                <a:spcPct val="100000"/>
              </a:lnSpc>
              <a:spcBef>
                <a:spcPts val="0"/>
              </a:spcBef>
              <a:spcAft>
                <a:spcPts val="0"/>
              </a:spcAft>
              <a:buClr>
                <a:schemeClr val="accent2"/>
              </a:buClr>
              <a:buSzPts val="3200"/>
              <a:buFont typeface="Times New Roman"/>
              <a:buNone/>
            </a:pPr>
            <a:r>
              <a:rPr lang="en-US" sz="2800" b="1"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Step 1</a:t>
            </a:r>
            <a:r>
              <a:rPr lang="en-US" sz="2800" b="1" i="1" u="none" dirty="0">
                <a:solidFill>
                  <a:schemeClr val="tx1"/>
                </a:solidFill>
                <a:latin typeface="Times New Roman" panose="02020603050405020304" pitchFamily="18" charset="0"/>
                <a:cs typeface="Times New Roman" panose="02020603050405020304" pitchFamily="18" charset="0"/>
                <a:sym typeface="Arial"/>
              </a:rPr>
              <a:t>  </a:t>
            </a: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Determine the null and alternative hypotheses.  </a:t>
            </a:r>
            <a:endParaRPr sz="2800" dirty="0">
              <a:solidFill>
                <a:schemeClr val="tx1"/>
              </a:solidFill>
              <a:latin typeface="Times New Roman" panose="02020603050405020304" pitchFamily="18" charset="0"/>
              <a:cs typeface="Times New Roman" panose="02020603050405020304" pitchFamily="18" charset="0"/>
            </a:endParaRPr>
          </a:p>
          <a:p>
            <a:pPr marR="0" lvl="0" algn="l" rtl="0">
              <a:lnSpc>
                <a:spcPct val="100000"/>
              </a:lnSpc>
              <a:spcBef>
                <a:spcPts val="0"/>
              </a:spcBef>
              <a:spcAft>
                <a:spcPts val="0"/>
              </a:spcAft>
              <a:buClr>
                <a:schemeClr val="accent2"/>
              </a:buClr>
              <a:buSzPts val="3200"/>
              <a:buFont typeface="Times New Roman"/>
              <a:buNone/>
            </a:pPr>
            <a:r>
              <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2800" b="0"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H</a:t>
            </a:r>
            <a:r>
              <a:rPr lang="en-US" sz="2800" b="0" i="0" u="none" baseline="-25000" dirty="0">
                <a:solidFill>
                  <a:schemeClr val="tx1"/>
                </a:solidFill>
                <a:latin typeface="Times New Roman" panose="02020603050405020304" pitchFamily="18" charset="0"/>
                <a:ea typeface="Times New Roman"/>
                <a:cs typeface="Times New Roman" panose="02020603050405020304" pitchFamily="18" charset="0"/>
                <a:sym typeface="Times New Roman"/>
              </a:rPr>
              <a:t>0</a:t>
            </a: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The row variable and column variables </a:t>
            </a:r>
            <a:b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b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are independent.</a:t>
            </a:r>
            <a:endParaRPr sz="2800" dirty="0">
              <a:solidFill>
                <a:schemeClr val="tx1"/>
              </a:solidFill>
              <a:latin typeface="Times New Roman" panose="02020603050405020304" pitchFamily="18" charset="0"/>
              <a:cs typeface="Times New Roman" panose="02020603050405020304" pitchFamily="18" charset="0"/>
            </a:endParaRPr>
          </a:p>
          <a:p>
            <a:pPr marR="0" lvl="0" algn="l" rtl="0">
              <a:lnSpc>
                <a:spcPct val="100000"/>
              </a:lnSpc>
              <a:spcBef>
                <a:spcPts val="0"/>
              </a:spcBef>
              <a:spcAft>
                <a:spcPts val="0"/>
              </a:spcAft>
              <a:buClr>
                <a:schemeClr val="accent2"/>
              </a:buClr>
              <a:buSzPts val="2800"/>
              <a:buFont typeface="Times New Roman"/>
              <a:buNone/>
            </a:pPr>
            <a:r>
              <a:rPr lang="en-US" sz="2800"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2800" b="0" i="1" u="none" dirty="0">
                <a:solidFill>
                  <a:schemeClr val="tx1"/>
                </a:solidFill>
                <a:latin typeface="Times New Roman" panose="02020603050405020304" pitchFamily="18" charset="0"/>
                <a:ea typeface="Times New Roman"/>
                <a:cs typeface="Times New Roman" panose="02020603050405020304" pitchFamily="18" charset="0"/>
                <a:sym typeface="Times New Roman"/>
              </a:rPr>
              <a:t>H</a:t>
            </a:r>
            <a:r>
              <a:rPr lang="en-US" sz="2800" b="0" i="0" u="none" baseline="-25000" dirty="0">
                <a:solidFill>
                  <a:schemeClr val="tx1"/>
                </a:solidFill>
                <a:latin typeface="Times New Roman" panose="02020603050405020304" pitchFamily="18" charset="0"/>
                <a:ea typeface="Times New Roman"/>
                <a:cs typeface="Times New Roman" panose="02020603050405020304" pitchFamily="18" charset="0"/>
                <a:sym typeface="Times New Roman"/>
              </a:rPr>
              <a:t>1</a:t>
            </a: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The row variable and column variables </a:t>
            </a:r>
            <a:b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b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           are dependent.</a:t>
            </a:r>
          </a:p>
          <a:p>
            <a:pPr marR="0" lvl="0" algn="l" rtl="0">
              <a:lnSpc>
                <a:spcPct val="100000"/>
              </a:lnSpc>
              <a:spcBef>
                <a:spcPts val="0"/>
              </a:spcBef>
              <a:spcAft>
                <a:spcPts val="0"/>
              </a:spcAft>
              <a:buClr>
                <a:schemeClr val="accent2"/>
              </a:buClr>
              <a:buSzPts val="2800"/>
              <a:buFont typeface="Times New Roman"/>
              <a:buNone/>
            </a:pPr>
            <a:endParaRPr lang="en-US" sz="2800" dirty="0">
              <a:solidFill>
                <a:schemeClr val="tx1"/>
              </a:solidFill>
              <a:latin typeface="Times New Roman" panose="02020603050405020304" pitchFamily="18" charset="0"/>
              <a:cs typeface="Times New Roman" panose="02020603050405020304" pitchFamily="18" charset="0"/>
              <a:sym typeface="Times New Roman"/>
            </a:endParaRPr>
          </a:p>
          <a:p>
            <a:r>
              <a:rPr lang="en-US" sz="2800" b="1" i="1" dirty="0">
                <a:latin typeface="Times New Roman" panose="02020603050405020304" pitchFamily="18" charset="0"/>
                <a:cs typeface="Times New Roman" panose="02020603050405020304" pitchFamily="18" charset="0"/>
              </a:rPr>
              <a:t>Step 2  </a:t>
            </a:r>
            <a:r>
              <a:rPr lang="en-US" sz="2800" dirty="0">
                <a:latin typeface="Times New Roman" panose="02020603050405020304" pitchFamily="18" charset="0"/>
                <a:cs typeface="Times New Roman" panose="02020603050405020304" pitchFamily="18" charset="0"/>
              </a:rPr>
              <a:t>Choose a level of significance,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depending on the seriousness of making a Type I error.</a:t>
            </a:r>
            <a:endParaRPr sz="2800" dirty="0">
              <a:solidFill>
                <a:schemeClr val="tx1"/>
              </a:solidFill>
              <a:latin typeface="Times New Roman" panose="02020603050405020304" pitchFamily="18" charset="0"/>
              <a:cs typeface="Times New Roman" panose="02020603050405020304" pitchFamily="18" charset="0"/>
            </a:endParaRPr>
          </a:p>
        </p:txBody>
      </p:sp>
      <p:sp>
        <p:nvSpPr>
          <p:cNvPr id="445" name="Google Shape;445;p66"/>
          <p:cNvSpPr txBox="1"/>
          <p:nvPr/>
        </p:nvSpPr>
        <p:spPr>
          <a:xfrm>
            <a:off x="378619" y="313883"/>
            <a:ext cx="8386762" cy="2250208"/>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chemeClr val="accent2"/>
              </a:buClr>
              <a:buSzPts val="3200"/>
              <a:buFont typeface="Arial"/>
              <a:buNone/>
            </a:pPr>
            <a:r>
              <a:rPr lang="en-US" sz="3200" b="1" i="0" u="none" dirty="0">
                <a:solidFill>
                  <a:schemeClr val="tx1"/>
                </a:solidFill>
                <a:sym typeface="Arial"/>
              </a:rPr>
              <a:t>Chi-Square Test for Independence</a:t>
            </a:r>
            <a:endParaRPr sz="3200" dirty="0">
              <a:solidFill>
                <a:schemeClr val="tx1"/>
              </a:solidFill>
            </a:endParaRPr>
          </a:p>
          <a:p>
            <a:pPr marL="0" marR="0" lvl="0" indent="0" algn="ctr" rtl="0">
              <a:lnSpc>
                <a:spcPct val="100000"/>
              </a:lnSpc>
              <a:spcBef>
                <a:spcPts val="0"/>
              </a:spcBef>
              <a:spcAft>
                <a:spcPts val="0"/>
              </a:spcAft>
              <a:buClr>
                <a:schemeClr val="dk1"/>
              </a:buClr>
              <a:buSzPts val="2000"/>
              <a:buFont typeface="Arial"/>
              <a:buNone/>
            </a:pPr>
            <a:endParaRPr sz="1200" b="1" i="0" u="none" dirty="0">
              <a:solidFill>
                <a:schemeClr val="tx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3200"/>
              <a:buFont typeface="Times New Roman"/>
              <a:buNone/>
            </a:pPr>
            <a:r>
              <a:rPr lang="en-US"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rPr>
              <a:t>To test the hypothesis regarding the association between (or independence of) two variables in a contingency table, we use the steps that follow:</a:t>
            </a:r>
            <a:endParaRPr sz="2800" dirty="0">
              <a:solidFill>
                <a:schemeClr val="tx1"/>
              </a:solidFill>
              <a:latin typeface="Times New Roman" panose="02020603050405020304" pitchFamily="18" charset="0"/>
              <a:cs typeface="Times New Roman" panose="02020603050405020304" pitchFamily="18" charset="0"/>
            </a:endParaRPr>
          </a:p>
        </p:txBody>
      </p:sp>
      <p:sp>
        <p:nvSpPr>
          <p:cNvPr id="446" name="Google Shape;446;p6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52</a:t>
            </a:fld>
            <a:endParaRPr/>
          </a:p>
        </p:txBody>
      </p:sp>
    </p:spTree>
    <p:extLst>
      <p:ext uri="{BB962C8B-B14F-4D97-AF65-F5344CB8AC3E}">
        <p14:creationId xmlns:p14="http://schemas.microsoft.com/office/powerpoint/2010/main" val="344033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4">
                                            <p:txEl>
                                              <p:pRg st="0" end="0"/>
                                            </p:txEl>
                                          </p:spTgt>
                                        </p:tgtEl>
                                        <p:attrNameLst>
                                          <p:attrName>style.visibility</p:attrName>
                                        </p:attrNameLst>
                                      </p:cBhvr>
                                      <p:to>
                                        <p:strVal val="visible"/>
                                      </p:to>
                                    </p:set>
                                    <p:animEffect transition="in" filter="fade">
                                      <p:cBhvr>
                                        <p:cTn id="7" dur="500"/>
                                        <p:tgtEl>
                                          <p:spTgt spid="44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44">
                                            <p:txEl>
                                              <p:pRg st="1" end="1"/>
                                            </p:txEl>
                                          </p:spTgt>
                                        </p:tgtEl>
                                        <p:attrNameLst>
                                          <p:attrName>style.visibility</p:attrName>
                                        </p:attrNameLst>
                                      </p:cBhvr>
                                      <p:to>
                                        <p:strVal val="visible"/>
                                      </p:to>
                                    </p:set>
                                    <p:animEffect transition="in" filter="fade">
                                      <p:cBhvr>
                                        <p:cTn id="10" dur="500"/>
                                        <p:tgtEl>
                                          <p:spTgt spid="44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44">
                                            <p:txEl>
                                              <p:pRg st="2" end="2"/>
                                            </p:txEl>
                                          </p:spTgt>
                                        </p:tgtEl>
                                        <p:attrNameLst>
                                          <p:attrName>style.visibility</p:attrName>
                                        </p:attrNameLst>
                                      </p:cBhvr>
                                      <p:to>
                                        <p:strVal val="visible"/>
                                      </p:to>
                                    </p:set>
                                    <p:animEffect transition="in" filter="fade">
                                      <p:cBhvr>
                                        <p:cTn id="13" dur="500"/>
                                        <p:tgtEl>
                                          <p:spTgt spid="44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44">
                                            <p:txEl>
                                              <p:pRg st="4" end="4"/>
                                            </p:txEl>
                                          </p:spTgt>
                                        </p:tgtEl>
                                        <p:attrNameLst>
                                          <p:attrName>style.visibility</p:attrName>
                                        </p:attrNameLst>
                                      </p:cBhvr>
                                      <p:to>
                                        <p:strVal val="visible"/>
                                      </p:to>
                                    </p:set>
                                    <p:animEffect transition="in" filter="fade">
                                      <p:cBhvr>
                                        <p:cTn id="18" dur="500"/>
                                        <p:tgtEl>
                                          <p:spTgt spid="44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5" name="Rectangle 4">
            <a:extLst>
              <a:ext uri="{FF2B5EF4-FFF2-40B4-BE49-F238E27FC236}">
                <a16:creationId xmlns:a16="http://schemas.microsoft.com/office/drawing/2014/main" id="{E743D85D-FF42-415E-923B-113664A5C168}"/>
              </a:ext>
            </a:extLst>
          </p:cNvPr>
          <p:cNvSpPr/>
          <p:nvPr/>
        </p:nvSpPr>
        <p:spPr>
          <a:xfrm>
            <a:off x="227652" y="256791"/>
            <a:ext cx="8537729" cy="5342731"/>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Google Shape;445;p66"/>
          <p:cNvSpPr txBox="1"/>
          <p:nvPr/>
        </p:nvSpPr>
        <p:spPr>
          <a:xfrm>
            <a:off x="378619" y="313883"/>
            <a:ext cx="8386762" cy="5134810"/>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chemeClr val="accent2"/>
              </a:buClr>
              <a:buSzPts val="3200"/>
              <a:buFont typeface="Arial"/>
              <a:buNone/>
            </a:pPr>
            <a:r>
              <a:rPr lang="en-US" sz="3200" b="1" i="0" u="none" dirty="0">
                <a:solidFill>
                  <a:schemeClr val="tx1"/>
                </a:solidFill>
                <a:sym typeface="Arial"/>
              </a:rPr>
              <a:t>Chi-Square Test for Independence</a:t>
            </a:r>
            <a:endParaRPr sz="3200" dirty="0">
              <a:solidFill>
                <a:schemeClr val="tx1"/>
              </a:solidFill>
            </a:endParaRPr>
          </a:p>
          <a:p>
            <a:pPr marL="0" marR="0" lvl="0" indent="0" algn="ctr" rtl="0">
              <a:lnSpc>
                <a:spcPct val="100000"/>
              </a:lnSpc>
              <a:spcBef>
                <a:spcPts val="0"/>
              </a:spcBef>
              <a:spcAft>
                <a:spcPts val="0"/>
              </a:spcAft>
              <a:buClr>
                <a:schemeClr val="dk1"/>
              </a:buClr>
              <a:buSzPts val="2000"/>
              <a:buFont typeface="Arial"/>
              <a:buNone/>
            </a:pPr>
            <a:endParaRPr sz="1200" b="1" i="0" u="none" dirty="0">
              <a:solidFill>
                <a:schemeClr val="tx1"/>
              </a:solidFill>
              <a:latin typeface="Arial"/>
              <a:ea typeface="Arial"/>
              <a:cs typeface="Arial"/>
              <a:sym typeface="Arial"/>
            </a:endParaRPr>
          </a:p>
          <a:p>
            <a:r>
              <a:rPr lang="en-US" sz="2800" b="1" i="1" dirty="0">
                <a:latin typeface="Times New Roman" panose="02020603050405020304" pitchFamily="18" charset="0"/>
                <a:cs typeface="Times New Roman" panose="02020603050405020304" pitchFamily="18" charset="0"/>
              </a:rPr>
              <a:t>Step 3</a:t>
            </a:r>
          </a:p>
          <a:p>
            <a:r>
              <a:rPr lang="en-US" sz="2800" b="1" dirty="0">
                <a:latin typeface="Times New Roman" panose="02020603050405020304" pitchFamily="18" charset="0"/>
                <a:cs typeface="Times New Roman" panose="02020603050405020304" pitchFamily="18" charset="0"/>
              </a:rPr>
              <a:t>(a) </a:t>
            </a:r>
            <a:r>
              <a:rPr lang="en-US" sz="2800" dirty="0">
                <a:latin typeface="Times New Roman" panose="02020603050405020304" pitchFamily="18" charset="0"/>
                <a:cs typeface="Times New Roman" panose="02020603050405020304" pitchFamily="18" charset="0"/>
              </a:rPr>
              <a:t>Calculate the expected frequencies (counts) for each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cell in the contingency table using Formula (1).</a:t>
            </a:r>
          </a:p>
          <a:p>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(b) </a:t>
            </a:r>
            <a:r>
              <a:rPr lang="en-US" sz="2800" dirty="0">
                <a:latin typeface="Times New Roman" panose="02020603050405020304" pitchFamily="18" charset="0"/>
                <a:cs typeface="Times New Roman" panose="02020603050405020304" pitchFamily="18" charset="0"/>
              </a:rPr>
              <a:t>Verify that the requirements for the chi-square test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for independence are satisfied:</a:t>
            </a:r>
          </a:p>
          <a:p>
            <a:r>
              <a:rPr lang="en-US" sz="2800" b="1" dirty="0">
                <a:latin typeface="Times New Roman" panose="02020603050405020304" pitchFamily="18" charset="0"/>
                <a:cs typeface="Times New Roman" panose="02020603050405020304" pitchFamily="18" charset="0"/>
              </a:rPr>
              <a:t>           1. </a:t>
            </a:r>
            <a:r>
              <a:rPr lang="en-US" sz="2800" dirty="0">
                <a:latin typeface="Times New Roman" panose="02020603050405020304" pitchFamily="18" charset="0"/>
                <a:cs typeface="Times New Roman" panose="02020603050405020304" pitchFamily="18" charset="0"/>
              </a:rPr>
              <a:t>All expected frequencies are greater than or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equal to 1 </a:t>
            </a:r>
          </a:p>
          <a:p>
            <a:r>
              <a:rPr lang="en-US" sz="2800" b="1" dirty="0">
                <a:latin typeface="Times New Roman" panose="02020603050405020304" pitchFamily="18" charset="0"/>
                <a:cs typeface="Times New Roman" panose="02020603050405020304" pitchFamily="18" charset="0"/>
              </a:rPr>
              <a:t>           2. </a:t>
            </a:r>
            <a:r>
              <a:rPr lang="en-US" sz="2800" dirty="0">
                <a:latin typeface="Times New Roman" panose="02020603050405020304" pitchFamily="18" charset="0"/>
                <a:cs typeface="Times New Roman" panose="02020603050405020304" pitchFamily="18" charset="0"/>
              </a:rPr>
              <a:t>No more than 20% of the expected frequencies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are less than 5.</a:t>
            </a:r>
            <a:endParaRPr sz="2800" dirty="0">
              <a:solidFill>
                <a:schemeClr val="tx1"/>
              </a:solidFill>
              <a:latin typeface="Times New Roman" panose="02020603050405020304" pitchFamily="18" charset="0"/>
              <a:cs typeface="Times New Roman" panose="02020603050405020304" pitchFamily="18" charset="0"/>
            </a:endParaRPr>
          </a:p>
        </p:txBody>
      </p:sp>
      <p:sp>
        <p:nvSpPr>
          <p:cNvPr id="446" name="Google Shape;446;p6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53</a:t>
            </a:fld>
            <a:endParaRPr/>
          </a:p>
        </p:txBody>
      </p:sp>
      <p:graphicFrame>
        <p:nvGraphicFramePr>
          <p:cNvPr id="2" name="Object 1">
            <a:extLst>
              <a:ext uri="{FF2B5EF4-FFF2-40B4-BE49-F238E27FC236}">
                <a16:creationId xmlns:a16="http://schemas.microsoft.com/office/drawing/2014/main" id="{E33D6DFB-B0F9-4187-9E5E-1374159715E3}"/>
              </a:ext>
            </a:extLst>
          </p:cNvPr>
          <p:cNvGraphicFramePr>
            <a:graphicFrameLocks noChangeAspect="1"/>
          </p:cNvGraphicFramePr>
          <p:nvPr>
            <p:extLst>
              <p:ext uri="{D42A27DB-BD31-4B8C-83A1-F6EECF244321}">
                <p14:modId xmlns:p14="http://schemas.microsoft.com/office/powerpoint/2010/main" val="35937959"/>
              </p:ext>
            </p:extLst>
          </p:nvPr>
        </p:nvGraphicFramePr>
        <p:xfrm>
          <a:off x="3322949" y="4021448"/>
          <a:ext cx="1549400" cy="431800"/>
        </p:xfrm>
        <a:graphic>
          <a:graphicData uri="http://schemas.openxmlformats.org/presentationml/2006/ole">
            <mc:AlternateContent xmlns:mc="http://schemas.openxmlformats.org/markup-compatibility/2006">
              <mc:Choice xmlns:v="urn:schemas-microsoft-com:vml" Requires="v">
                <p:oleObj spid="_x0000_s21594" name="Equation" r:id="rId4" imgW="1549080" imgH="431640" progId="Equation.DSMT4">
                  <p:embed/>
                </p:oleObj>
              </mc:Choice>
              <mc:Fallback>
                <p:oleObj name="Equation" r:id="rId4" imgW="1549080" imgH="431640" progId="Equation.DSMT4">
                  <p:embed/>
                  <p:pic>
                    <p:nvPicPr>
                      <p:cNvPr id="0" name=""/>
                      <p:cNvPicPr/>
                      <p:nvPr/>
                    </p:nvPicPr>
                    <p:blipFill>
                      <a:blip r:embed="rId5"/>
                      <a:stretch>
                        <a:fillRect/>
                      </a:stretch>
                    </p:blipFill>
                    <p:spPr>
                      <a:xfrm>
                        <a:off x="3322949" y="4021448"/>
                        <a:ext cx="1549400" cy="431800"/>
                      </a:xfrm>
                      <a:prstGeom prst="rect">
                        <a:avLst/>
                      </a:prstGeom>
                    </p:spPr>
                  </p:pic>
                </p:oleObj>
              </mc:Fallback>
            </mc:AlternateContent>
          </a:graphicData>
        </a:graphic>
      </p:graphicFrame>
    </p:spTree>
    <p:extLst>
      <p:ext uri="{BB962C8B-B14F-4D97-AF65-F5344CB8AC3E}">
        <p14:creationId xmlns:p14="http://schemas.microsoft.com/office/powerpoint/2010/main" val="735950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5">
                                            <p:txEl>
                                              <p:pRg st="5" end="5"/>
                                            </p:txEl>
                                          </p:spTgt>
                                        </p:tgtEl>
                                        <p:attrNameLst>
                                          <p:attrName>style.visibility</p:attrName>
                                        </p:attrNameLst>
                                      </p:cBhvr>
                                      <p:to>
                                        <p:strVal val="visible"/>
                                      </p:to>
                                    </p:set>
                                    <p:animEffect transition="in" filter="fade">
                                      <p:cBhvr>
                                        <p:cTn id="7" dur="500"/>
                                        <p:tgtEl>
                                          <p:spTgt spid="445">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5">
                                            <p:txEl>
                                              <p:pRg st="6" end="6"/>
                                            </p:txEl>
                                          </p:spTgt>
                                        </p:tgtEl>
                                        <p:attrNameLst>
                                          <p:attrName>style.visibility</p:attrName>
                                        </p:attrNameLst>
                                      </p:cBhvr>
                                      <p:to>
                                        <p:strVal val="visible"/>
                                      </p:to>
                                    </p:set>
                                    <p:animEffect transition="in" filter="fade">
                                      <p:cBhvr>
                                        <p:cTn id="12" dur="500"/>
                                        <p:tgtEl>
                                          <p:spTgt spid="445">
                                            <p:txEl>
                                              <p:pRg st="6" end="6"/>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45">
                                            <p:txEl>
                                              <p:pRg st="7" end="7"/>
                                            </p:txEl>
                                          </p:spTgt>
                                        </p:tgtEl>
                                        <p:attrNameLst>
                                          <p:attrName>style.visibility</p:attrName>
                                        </p:attrNameLst>
                                      </p:cBhvr>
                                      <p:to>
                                        <p:strVal val="visible"/>
                                      </p:to>
                                    </p:set>
                                    <p:animEffect transition="in" filter="fade">
                                      <p:cBhvr>
                                        <p:cTn id="20" dur="500"/>
                                        <p:tgtEl>
                                          <p:spTgt spid="44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5" name="Rectangle 4">
            <a:extLst>
              <a:ext uri="{FF2B5EF4-FFF2-40B4-BE49-F238E27FC236}">
                <a16:creationId xmlns:a16="http://schemas.microsoft.com/office/drawing/2014/main" id="{E743D85D-FF42-415E-923B-113664A5C168}"/>
              </a:ext>
            </a:extLst>
          </p:cNvPr>
          <p:cNvSpPr/>
          <p:nvPr/>
        </p:nvSpPr>
        <p:spPr>
          <a:xfrm>
            <a:off x="227652" y="256792"/>
            <a:ext cx="8537729" cy="4890244"/>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Google Shape;445;p66"/>
          <p:cNvSpPr txBox="1"/>
          <p:nvPr/>
        </p:nvSpPr>
        <p:spPr>
          <a:xfrm>
            <a:off x="378619" y="313883"/>
            <a:ext cx="8386762" cy="5134810"/>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chemeClr val="accent2"/>
              </a:buClr>
              <a:buSzPts val="3200"/>
              <a:buFont typeface="Arial"/>
              <a:buNone/>
            </a:pPr>
            <a:r>
              <a:rPr lang="en-US" sz="3200" b="1" i="0" u="none" dirty="0">
                <a:solidFill>
                  <a:schemeClr val="tx1"/>
                </a:solidFill>
                <a:sym typeface="Arial"/>
              </a:rPr>
              <a:t>Chi-Square Test for Independence</a:t>
            </a:r>
            <a:endParaRPr sz="3200" dirty="0">
              <a:solidFill>
                <a:schemeClr val="tx1"/>
              </a:solidFill>
            </a:endParaRPr>
          </a:p>
          <a:p>
            <a:pPr marL="0" marR="0" lvl="0" indent="0" algn="ctr" rtl="0">
              <a:lnSpc>
                <a:spcPct val="100000"/>
              </a:lnSpc>
              <a:spcBef>
                <a:spcPts val="0"/>
              </a:spcBef>
              <a:spcAft>
                <a:spcPts val="0"/>
              </a:spcAft>
              <a:buClr>
                <a:schemeClr val="dk1"/>
              </a:buClr>
              <a:buSzPts val="2000"/>
              <a:buFont typeface="Arial"/>
              <a:buNone/>
            </a:pPr>
            <a:endParaRPr sz="1200" b="1" i="0" u="none" dirty="0">
              <a:solidFill>
                <a:schemeClr val="tx1"/>
              </a:solidFill>
              <a:latin typeface="Arial"/>
              <a:ea typeface="Arial"/>
              <a:cs typeface="Arial"/>
              <a:sym typeface="Arial"/>
            </a:endParaRPr>
          </a:p>
          <a:p>
            <a:r>
              <a:rPr lang="en-US" sz="2800" b="1" dirty="0">
                <a:latin typeface="+mn-lt"/>
                <a:cs typeface="Times New Roman" panose="02020603050405020304" pitchFamily="18" charset="0"/>
              </a:rPr>
              <a:t>Classical Approach</a:t>
            </a:r>
          </a:p>
          <a:p>
            <a:r>
              <a:rPr lang="en-US" sz="2800" b="1" i="1" dirty="0">
                <a:latin typeface="Times New Roman" panose="02020603050405020304" pitchFamily="18" charset="0"/>
                <a:cs typeface="Times New Roman" panose="02020603050405020304" pitchFamily="18" charset="0"/>
              </a:rPr>
              <a:t>Step 3 (continued)</a:t>
            </a:r>
          </a:p>
          <a:p>
            <a:r>
              <a:rPr lang="en-US" sz="2800" b="1" dirty="0">
                <a:latin typeface="Times New Roman" panose="02020603050405020304" pitchFamily="18" charset="0"/>
                <a:cs typeface="Times New Roman" panose="02020603050405020304" pitchFamily="18" charset="0"/>
              </a:rPr>
              <a:t>(c) </a:t>
            </a:r>
            <a:r>
              <a:rPr lang="en-US" sz="2800" dirty="0">
                <a:latin typeface="Times New Roman" panose="02020603050405020304" pitchFamily="18" charset="0"/>
                <a:cs typeface="Times New Roman" panose="02020603050405020304" pitchFamily="18" charset="0"/>
              </a:rPr>
              <a:t>Compute the </a:t>
            </a:r>
            <a:r>
              <a:rPr lang="en-US" sz="2800" b="1" dirty="0">
                <a:latin typeface="Times New Roman" panose="02020603050405020304" pitchFamily="18" charset="0"/>
                <a:cs typeface="Times New Roman" panose="02020603050405020304" pitchFamily="18" charset="0"/>
              </a:rPr>
              <a:t>test statistic</a:t>
            </a: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Note: </a:t>
            </a:r>
            <a:r>
              <a:rPr lang="en-US" sz="2800" i="1" dirty="0">
                <a:latin typeface="Times New Roman" panose="02020603050405020304" pitchFamily="18" charset="0"/>
                <a:cs typeface="Times New Roman" panose="02020603050405020304" pitchFamily="18" charset="0"/>
              </a:rPr>
              <a:t>O</a:t>
            </a:r>
            <a:r>
              <a:rPr lang="en-US" sz="2800" i="1" baseline="-25000" dirty="0">
                <a:latin typeface="Times New Roman" panose="02020603050405020304" pitchFamily="18" charset="0"/>
                <a:cs typeface="Times New Roman" panose="02020603050405020304" pitchFamily="18" charset="0"/>
              </a:rPr>
              <a:t>i</a:t>
            </a:r>
            <a:r>
              <a:rPr lang="en-US" sz="2800" i="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is the observed frequency for the </a:t>
            </a:r>
            <a:r>
              <a:rPr lang="en-US" sz="2800" i="1" dirty="0" err="1">
                <a:latin typeface="Times New Roman" panose="02020603050405020304" pitchFamily="18" charset="0"/>
                <a:cs typeface="Times New Roman" panose="02020603050405020304" pitchFamily="18" charset="0"/>
              </a:rPr>
              <a:t>i</a:t>
            </a:r>
            <a:r>
              <a:rPr lang="en-US" sz="2800" dirty="0" err="1">
                <a:latin typeface="Times New Roman" panose="02020603050405020304" pitchFamily="18" charset="0"/>
                <a:cs typeface="Times New Roman" panose="02020603050405020304" pitchFamily="18" charset="0"/>
              </a:rPr>
              <a:t>th</a:t>
            </a:r>
            <a:r>
              <a:rPr lang="en-US" sz="2800" dirty="0">
                <a:latin typeface="Times New Roman" panose="02020603050405020304" pitchFamily="18" charset="0"/>
                <a:cs typeface="Times New Roman" panose="02020603050405020304" pitchFamily="18" charset="0"/>
              </a:rPr>
              <a:t> cell.</a:t>
            </a:r>
            <a:endParaRPr sz="2800" dirty="0">
              <a:solidFill>
                <a:schemeClr val="tx1"/>
              </a:solidFill>
              <a:latin typeface="Times New Roman" panose="02020603050405020304" pitchFamily="18" charset="0"/>
              <a:cs typeface="Times New Roman" panose="02020603050405020304" pitchFamily="18" charset="0"/>
            </a:endParaRPr>
          </a:p>
        </p:txBody>
      </p:sp>
      <p:sp>
        <p:nvSpPr>
          <p:cNvPr id="446" name="Google Shape;446;p6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54</a:t>
            </a:fld>
            <a:endParaRPr/>
          </a:p>
        </p:txBody>
      </p:sp>
      <p:graphicFrame>
        <p:nvGraphicFramePr>
          <p:cNvPr id="3" name="Object 2">
            <a:extLst>
              <a:ext uri="{FF2B5EF4-FFF2-40B4-BE49-F238E27FC236}">
                <a16:creationId xmlns:a16="http://schemas.microsoft.com/office/drawing/2014/main" id="{C0ADCF6F-E9CD-42FA-B3A0-6BD011808207}"/>
              </a:ext>
            </a:extLst>
          </p:cNvPr>
          <p:cNvGraphicFramePr>
            <a:graphicFrameLocks noChangeAspect="1"/>
          </p:cNvGraphicFramePr>
          <p:nvPr>
            <p:extLst>
              <p:ext uri="{D42A27DB-BD31-4B8C-83A1-F6EECF244321}">
                <p14:modId xmlns:p14="http://schemas.microsoft.com/office/powerpoint/2010/main" val="3825941320"/>
              </p:ext>
            </p:extLst>
          </p:nvPr>
        </p:nvGraphicFramePr>
        <p:xfrm>
          <a:off x="2591325" y="2461967"/>
          <a:ext cx="2641600" cy="1066800"/>
        </p:xfrm>
        <a:graphic>
          <a:graphicData uri="http://schemas.openxmlformats.org/presentationml/2006/ole">
            <mc:AlternateContent xmlns:mc="http://schemas.openxmlformats.org/markup-compatibility/2006">
              <mc:Choice xmlns:v="urn:schemas-microsoft-com:vml" Requires="v">
                <p:oleObj spid="_x0000_s22617" name="Equation" r:id="rId4" imgW="2641320" imgH="1066680" progId="Equation.DSMT4">
                  <p:embed/>
                </p:oleObj>
              </mc:Choice>
              <mc:Fallback>
                <p:oleObj name="Equation" r:id="rId4" imgW="2641320" imgH="1066680" progId="Equation.DSMT4">
                  <p:embed/>
                  <p:pic>
                    <p:nvPicPr>
                      <p:cNvPr id="0" name=""/>
                      <p:cNvPicPr/>
                      <p:nvPr/>
                    </p:nvPicPr>
                    <p:blipFill>
                      <a:blip r:embed="rId5"/>
                      <a:stretch>
                        <a:fillRect/>
                      </a:stretch>
                    </p:blipFill>
                    <p:spPr>
                      <a:xfrm>
                        <a:off x="2591325" y="2461967"/>
                        <a:ext cx="2641600" cy="1066800"/>
                      </a:xfrm>
                      <a:prstGeom prst="rect">
                        <a:avLst/>
                      </a:prstGeom>
                    </p:spPr>
                  </p:pic>
                </p:oleObj>
              </mc:Fallback>
            </mc:AlternateContent>
          </a:graphicData>
        </a:graphic>
      </p:graphicFrame>
    </p:spTree>
    <p:extLst>
      <p:ext uri="{BB962C8B-B14F-4D97-AF65-F5344CB8AC3E}">
        <p14:creationId xmlns:p14="http://schemas.microsoft.com/office/powerpoint/2010/main" val="1024121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5">
                                            <p:txEl>
                                              <p:pRg st="9" end="9"/>
                                            </p:txEl>
                                          </p:spTgt>
                                        </p:tgtEl>
                                        <p:attrNameLst>
                                          <p:attrName>style.visibility</p:attrName>
                                        </p:attrNameLst>
                                      </p:cBhvr>
                                      <p:to>
                                        <p:strVal val="visible"/>
                                      </p:to>
                                    </p:set>
                                    <p:animEffect transition="in" filter="fade">
                                      <p:cBhvr>
                                        <p:cTn id="7" dur="500"/>
                                        <p:tgtEl>
                                          <p:spTgt spid="44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5" name="Rectangle 4">
            <a:extLst>
              <a:ext uri="{FF2B5EF4-FFF2-40B4-BE49-F238E27FC236}">
                <a16:creationId xmlns:a16="http://schemas.microsoft.com/office/drawing/2014/main" id="{E743D85D-FF42-415E-923B-113664A5C168}"/>
              </a:ext>
            </a:extLst>
          </p:cNvPr>
          <p:cNvSpPr/>
          <p:nvPr/>
        </p:nvSpPr>
        <p:spPr>
          <a:xfrm>
            <a:off x="227652" y="256791"/>
            <a:ext cx="8537729" cy="5719803"/>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Google Shape;445;p66"/>
          <p:cNvSpPr txBox="1"/>
          <p:nvPr/>
        </p:nvSpPr>
        <p:spPr>
          <a:xfrm>
            <a:off x="378619" y="313883"/>
            <a:ext cx="8386762" cy="5134810"/>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chemeClr val="accent2"/>
              </a:buClr>
              <a:buSzPts val="3200"/>
              <a:buFont typeface="Arial"/>
              <a:buNone/>
            </a:pPr>
            <a:r>
              <a:rPr lang="en-US" sz="3200" b="1" i="0" u="none" dirty="0">
                <a:solidFill>
                  <a:schemeClr val="tx1"/>
                </a:solidFill>
                <a:sym typeface="Arial"/>
              </a:rPr>
              <a:t>Chi-Square Test for Independence</a:t>
            </a:r>
            <a:endParaRPr sz="3200" dirty="0">
              <a:solidFill>
                <a:schemeClr val="tx1"/>
              </a:solidFill>
            </a:endParaRPr>
          </a:p>
          <a:p>
            <a:pPr marL="0" marR="0" lvl="0" indent="0" algn="ctr" rtl="0">
              <a:lnSpc>
                <a:spcPct val="100000"/>
              </a:lnSpc>
              <a:spcBef>
                <a:spcPts val="0"/>
              </a:spcBef>
              <a:spcAft>
                <a:spcPts val="0"/>
              </a:spcAft>
              <a:buClr>
                <a:schemeClr val="dk1"/>
              </a:buClr>
              <a:buSzPts val="2000"/>
              <a:buFont typeface="Arial"/>
              <a:buNone/>
            </a:pPr>
            <a:endParaRPr sz="1200" b="1" i="0" u="none" dirty="0">
              <a:solidFill>
                <a:schemeClr val="tx1"/>
              </a:solidFill>
              <a:latin typeface="Arial"/>
              <a:ea typeface="Arial"/>
              <a:cs typeface="Arial"/>
              <a:sym typeface="Arial"/>
            </a:endParaRPr>
          </a:p>
          <a:p>
            <a:r>
              <a:rPr lang="en-US" sz="2800" b="1" dirty="0">
                <a:latin typeface="+mn-lt"/>
                <a:cs typeface="Times New Roman" panose="02020603050405020304" pitchFamily="18" charset="0"/>
              </a:rPr>
              <a:t>Classical Approach</a:t>
            </a:r>
          </a:p>
          <a:p>
            <a:r>
              <a:rPr lang="en-US" sz="2800" b="1" i="1" dirty="0">
                <a:latin typeface="Times New Roman" panose="02020603050405020304" pitchFamily="18" charset="0"/>
                <a:cs typeface="Times New Roman" panose="02020603050405020304" pitchFamily="18" charset="0"/>
              </a:rPr>
              <a:t>Step 4 </a:t>
            </a:r>
            <a:r>
              <a:rPr lang="en-US" sz="2800" dirty="0">
                <a:latin typeface="Times New Roman" panose="02020603050405020304" pitchFamily="18" charset="0"/>
                <a:cs typeface="Times New Roman" panose="02020603050405020304" pitchFamily="18" charset="0"/>
              </a:rPr>
              <a:t>Determine the critical value using Table VIII.</a:t>
            </a:r>
          </a:p>
          <a:p>
            <a:r>
              <a:rPr lang="en-US" sz="2800" dirty="0">
                <a:latin typeface="Times New Roman" panose="02020603050405020304" pitchFamily="18" charset="0"/>
                <a:cs typeface="Times New Roman" panose="02020603050405020304" pitchFamily="18" charset="0"/>
              </a:rPr>
              <a:t>All chi-square tests for independence are right-tailed</a:t>
            </a:r>
          </a:p>
          <a:p>
            <a:r>
              <a:rPr lang="en-US" sz="2800" dirty="0">
                <a:latin typeface="Times New Roman" panose="02020603050405020304" pitchFamily="18" charset="0"/>
                <a:cs typeface="Times New Roman" panose="02020603050405020304" pitchFamily="18" charset="0"/>
              </a:rPr>
              <a:t>tests, so the critical value is      with (</a:t>
            </a:r>
            <a:r>
              <a:rPr lang="en-US" sz="2800" i="1" dirty="0">
                <a:latin typeface="Times New Roman" panose="02020603050405020304" pitchFamily="18" charset="0"/>
                <a:cs typeface="Times New Roman" panose="02020603050405020304" pitchFamily="18" charset="0"/>
              </a:rPr>
              <a:t>r </a:t>
            </a:r>
            <a:r>
              <a:rPr lang="en-US" sz="2800" dirty="0">
                <a:latin typeface="Times New Roman" panose="02020603050405020304" pitchFamily="18" charset="0"/>
                <a:cs typeface="Times New Roman" panose="02020603050405020304" pitchFamily="18" charset="0"/>
              </a:rPr>
              <a:t>–</a:t>
            </a:r>
            <a:r>
              <a:rPr lang="en-US" sz="2800" i="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1)(</a:t>
            </a:r>
            <a:r>
              <a:rPr lang="en-US" sz="2800" i="1" dirty="0">
                <a:latin typeface="Times New Roman" panose="02020603050405020304" pitchFamily="18" charset="0"/>
                <a:cs typeface="Times New Roman" panose="02020603050405020304" pitchFamily="18" charset="0"/>
              </a:rPr>
              <a:t>c </a:t>
            </a:r>
            <a:r>
              <a:rPr lang="en-US" sz="2800" dirty="0">
                <a:latin typeface="Times New Roman" panose="02020603050405020304" pitchFamily="18" charset="0"/>
                <a:cs typeface="Times New Roman" panose="02020603050405020304" pitchFamily="18" charset="0"/>
              </a:rPr>
              <a:t>– 1) degrees of freedom, where </a:t>
            </a:r>
            <a:r>
              <a:rPr lang="en-US" sz="2800" i="1" dirty="0">
                <a:latin typeface="Times New Roman" panose="02020603050405020304" pitchFamily="18" charset="0"/>
                <a:cs typeface="Times New Roman" panose="02020603050405020304" pitchFamily="18" charset="0"/>
              </a:rPr>
              <a:t>r </a:t>
            </a:r>
            <a:r>
              <a:rPr lang="en-US" sz="2800" dirty="0">
                <a:latin typeface="Times New Roman" panose="02020603050405020304" pitchFamily="18" charset="0"/>
                <a:cs typeface="Times New Roman" panose="02020603050405020304" pitchFamily="18" charset="0"/>
              </a:rPr>
              <a:t>is the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number of rows and </a:t>
            </a:r>
            <a:r>
              <a:rPr lang="en-US" sz="2800" i="1" dirty="0">
                <a:latin typeface="Times New Roman" panose="02020603050405020304" pitchFamily="18" charset="0"/>
                <a:cs typeface="Times New Roman" panose="02020603050405020304" pitchFamily="18" charset="0"/>
              </a:rPr>
              <a:t>c </a:t>
            </a:r>
            <a:r>
              <a:rPr lang="en-US" sz="2800" dirty="0">
                <a:latin typeface="Times New Roman" panose="02020603050405020304" pitchFamily="18" charset="0"/>
                <a:cs typeface="Times New Roman" panose="02020603050405020304" pitchFamily="18" charset="0"/>
              </a:rPr>
              <a:t>is the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number of columns in the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contingency table. </a:t>
            </a:r>
          </a:p>
        </p:txBody>
      </p:sp>
      <p:sp>
        <p:nvSpPr>
          <p:cNvPr id="446" name="Google Shape;446;p6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55</a:t>
            </a:fld>
            <a:endParaRPr/>
          </a:p>
        </p:txBody>
      </p:sp>
      <p:graphicFrame>
        <p:nvGraphicFramePr>
          <p:cNvPr id="2" name="Object 1">
            <a:extLst>
              <a:ext uri="{FF2B5EF4-FFF2-40B4-BE49-F238E27FC236}">
                <a16:creationId xmlns:a16="http://schemas.microsoft.com/office/drawing/2014/main" id="{8CB3E317-4B09-46B1-B74E-DCA88FFF3A52}"/>
              </a:ext>
            </a:extLst>
          </p:cNvPr>
          <p:cNvGraphicFramePr>
            <a:graphicFrameLocks noChangeAspect="1"/>
          </p:cNvGraphicFramePr>
          <p:nvPr>
            <p:extLst>
              <p:ext uri="{D42A27DB-BD31-4B8C-83A1-F6EECF244321}">
                <p14:modId xmlns:p14="http://schemas.microsoft.com/office/powerpoint/2010/main" val="2647045485"/>
              </p:ext>
            </p:extLst>
          </p:nvPr>
        </p:nvGraphicFramePr>
        <p:xfrm>
          <a:off x="4464892" y="2245118"/>
          <a:ext cx="406400" cy="469900"/>
        </p:xfrm>
        <a:graphic>
          <a:graphicData uri="http://schemas.openxmlformats.org/presentationml/2006/ole">
            <mc:AlternateContent xmlns:mc="http://schemas.openxmlformats.org/markup-compatibility/2006">
              <mc:Choice xmlns:v="urn:schemas-microsoft-com:vml" Requires="v">
                <p:oleObj spid="_x0000_s23642" name="Equation" r:id="rId4" imgW="406080" imgH="469800" progId="Equation.DSMT4">
                  <p:embed/>
                </p:oleObj>
              </mc:Choice>
              <mc:Fallback>
                <p:oleObj name="Equation" r:id="rId4" imgW="406080" imgH="469800" progId="Equation.DSMT4">
                  <p:embed/>
                  <p:pic>
                    <p:nvPicPr>
                      <p:cNvPr id="0" name=""/>
                      <p:cNvPicPr/>
                      <p:nvPr/>
                    </p:nvPicPr>
                    <p:blipFill>
                      <a:blip r:embed="rId5"/>
                      <a:stretch>
                        <a:fillRect/>
                      </a:stretch>
                    </p:blipFill>
                    <p:spPr>
                      <a:xfrm>
                        <a:off x="4464892" y="2245118"/>
                        <a:ext cx="406400" cy="469900"/>
                      </a:xfrm>
                      <a:prstGeom prst="rect">
                        <a:avLst/>
                      </a:prstGeom>
                    </p:spPr>
                  </p:pic>
                </p:oleObj>
              </mc:Fallback>
            </mc:AlternateContent>
          </a:graphicData>
        </a:graphic>
      </p:graphicFrame>
      <p:pic>
        <p:nvPicPr>
          <p:cNvPr id="6" name="Picture 5" descr="A close up of a logo&#10;&#10;Description automatically generated">
            <a:extLst>
              <a:ext uri="{FF2B5EF4-FFF2-40B4-BE49-F238E27FC236}">
                <a16:creationId xmlns:a16="http://schemas.microsoft.com/office/drawing/2014/main" id="{C0D3DB87-2435-457C-AD3A-35D937D21ABB}"/>
              </a:ext>
            </a:extLst>
          </p:cNvPr>
          <p:cNvPicPr>
            <a:picLocks noChangeAspect="1"/>
          </p:cNvPicPr>
          <p:nvPr/>
        </p:nvPicPr>
        <p:blipFill>
          <a:blip r:embed="rId6"/>
          <a:stretch>
            <a:fillRect/>
          </a:stretch>
        </p:blipFill>
        <p:spPr>
          <a:xfrm>
            <a:off x="4871292" y="3045677"/>
            <a:ext cx="3515193" cy="27423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18711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5" name="Rectangle 4">
            <a:extLst>
              <a:ext uri="{FF2B5EF4-FFF2-40B4-BE49-F238E27FC236}">
                <a16:creationId xmlns:a16="http://schemas.microsoft.com/office/drawing/2014/main" id="{E743D85D-FF42-415E-923B-113664A5C168}"/>
              </a:ext>
            </a:extLst>
          </p:cNvPr>
          <p:cNvSpPr/>
          <p:nvPr/>
        </p:nvSpPr>
        <p:spPr>
          <a:xfrm>
            <a:off x="227652" y="256792"/>
            <a:ext cx="8537729" cy="3994698"/>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Google Shape;445;p66"/>
          <p:cNvSpPr txBox="1"/>
          <p:nvPr/>
        </p:nvSpPr>
        <p:spPr>
          <a:xfrm>
            <a:off x="378619" y="313883"/>
            <a:ext cx="8386762" cy="339085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chemeClr val="accent2"/>
              </a:buClr>
              <a:buSzPts val="3200"/>
              <a:buFont typeface="Arial"/>
              <a:buNone/>
            </a:pPr>
            <a:r>
              <a:rPr lang="en-US" sz="3200" b="1" i="0" u="none" dirty="0">
                <a:solidFill>
                  <a:schemeClr val="tx1"/>
                </a:solidFill>
                <a:sym typeface="Arial"/>
              </a:rPr>
              <a:t>Chi-Square Test for Independence</a:t>
            </a:r>
            <a:endParaRPr sz="3200" dirty="0">
              <a:solidFill>
                <a:schemeClr val="tx1"/>
              </a:solidFill>
            </a:endParaRPr>
          </a:p>
          <a:p>
            <a:pPr marL="0" marR="0" lvl="0" indent="0" algn="ctr" rtl="0">
              <a:lnSpc>
                <a:spcPct val="100000"/>
              </a:lnSpc>
              <a:spcBef>
                <a:spcPts val="0"/>
              </a:spcBef>
              <a:spcAft>
                <a:spcPts val="0"/>
              </a:spcAft>
              <a:buClr>
                <a:schemeClr val="dk1"/>
              </a:buClr>
              <a:buSzPts val="2000"/>
              <a:buFont typeface="Arial"/>
              <a:buNone/>
            </a:pPr>
            <a:endParaRPr sz="1200" b="1" i="0" u="none" dirty="0">
              <a:solidFill>
                <a:schemeClr val="tx1"/>
              </a:solidFill>
              <a:latin typeface="Arial"/>
              <a:ea typeface="Arial"/>
              <a:cs typeface="Arial"/>
              <a:sym typeface="Arial"/>
            </a:endParaRPr>
          </a:p>
          <a:p>
            <a:r>
              <a:rPr lang="en-US" sz="2800" b="1" dirty="0">
                <a:latin typeface="+mn-lt"/>
                <a:cs typeface="Times New Roman" panose="02020603050405020304" pitchFamily="18" charset="0"/>
              </a:rPr>
              <a:t>Classical Approach</a:t>
            </a:r>
          </a:p>
          <a:p>
            <a:r>
              <a:rPr lang="en-US" sz="2800" dirty="0">
                <a:latin typeface="Times New Roman" panose="02020603050405020304" pitchFamily="18" charset="0"/>
                <a:cs typeface="Times New Roman" panose="02020603050405020304" pitchFamily="18" charset="0"/>
              </a:rPr>
              <a:t>Compare the critical value to the test statistic. If</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reject the null hypothesis.</a:t>
            </a:r>
          </a:p>
          <a:p>
            <a:endParaRPr lang="en-US" sz="2800" dirty="0">
              <a:latin typeface="Times New Roman" panose="02020603050405020304" pitchFamily="18" charset="0"/>
              <a:cs typeface="Times New Roman" panose="02020603050405020304" pitchFamily="18" charset="0"/>
            </a:endParaRPr>
          </a:p>
          <a:p>
            <a:endParaRPr lang="en-US" sz="2800" b="1" i="1" dirty="0">
              <a:latin typeface="Times New Roman" panose="02020603050405020304" pitchFamily="18" charset="0"/>
              <a:cs typeface="Times New Roman" panose="02020603050405020304" pitchFamily="18" charset="0"/>
            </a:endParaRPr>
          </a:p>
          <a:p>
            <a:r>
              <a:rPr lang="en-US" sz="2800" b="1" i="1" dirty="0">
                <a:latin typeface="Times New Roman" panose="02020603050405020304" pitchFamily="18" charset="0"/>
                <a:cs typeface="Times New Roman" panose="02020603050405020304" pitchFamily="18" charset="0"/>
              </a:rPr>
              <a:t>Step 5 </a:t>
            </a:r>
            <a:r>
              <a:rPr lang="en-US" sz="2800" dirty="0">
                <a:latin typeface="Times New Roman" panose="02020603050405020304" pitchFamily="18" charset="0"/>
                <a:cs typeface="Times New Roman" panose="02020603050405020304" pitchFamily="18" charset="0"/>
              </a:rPr>
              <a:t>State the conclusion.</a:t>
            </a:r>
          </a:p>
        </p:txBody>
      </p:sp>
      <p:sp>
        <p:nvSpPr>
          <p:cNvPr id="446" name="Google Shape;446;p6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56</a:t>
            </a:fld>
            <a:endParaRPr/>
          </a:p>
        </p:txBody>
      </p:sp>
      <p:graphicFrame>
        <p:nvGraphicFramePr>
          <p:cNvPr id="2" name="Object 1">
            <a:extLst>
              <a:ext uri="{FF2B5EF4-FFF2-40B4-BE49-F238E27FC236}">
                <a16:creationId xmlns:a16="http://schemas.microsoft.com/office/drawing/2014/main" id="{8CB3E317-4B09-46B1-B74E-DCA88FFF3A52}"/>
              </a:ext>
            </a:extLst>
          </p:cNvPr>
          <p:cNvGraphicFramePr>
            <a:graphicFrameLocks noChangeAspect="1"/>
          </p:cNvGraphicFramePr>
          <p:nvPr>
            <p:extLst>
              <p:ext uri="{D42A27DB-BD31-4B8C-83A1-F6EECF244321}">
                <p14:modId xmlns:p14="http://schemas.microsoft.com/office/powerpoint/2010/main" val="1409491136"/>
              </p:ext>
            </p:extLst>
          </p:nvPr>
        </p:nvGraphicFramePr>
        <p:xfrm>
          <a:off x="533400" y="1867651"/>
          <a:ext cx="1270000" cy="469900"/>
        </p:xfrm>
        <a:graphic>
          <a:graphicData uri="http://schemas.openxmlformats.org/presentationml/2006/ole">
            <mc:AlternateContent xmlns:mc="http://schemas.openxmlformats.org/markup-compatibility/2006">
              <mc:Choice xmlns:v="urn:schemas-microsoft-com:vml" Requires="v">
                <p:oleObj spid="_x0000_s24663" name="Equation" r:id="rId4" imgW="1269720" imgH="469800" progId="Equation.DSMT4">
                  <p:embed/>
                </p:oleObj>
              </mc:Choice>
              <mc:Fallback>
                <p:oleObj name="Equation" r:id="rId4" imgW="1269720" imgH="469800" progId="Equation.DSMT4">
                  <p:embed/>
                  <p:pic>
                    <p:nvPicPr>
                      <p:cNvPr id="2" name="Object 1">
                        <a:extLst>
                          <a:ext uri="{FF2B5EF4-FFF2-40B4-BE49-F238E27FC236}">
                            <a16:creationId xmlns:a16="http://schemas.microsoft.com/office/drawing/2014/main" id="{8CB3E317-4B09-46B1-B74E-DCA88FFF3A52}"/>
                          </a:ext>
                        </a:extLst>
                      </p:cNvPr>
                      <p:cNvPicPr/>
                      <p:nvPr/>
                    </p:nvPicPr>
                    <p:blipFill>
                      <a:blip r:embed="rId5"/>
                      <a:stretch>
                        <a:fillRect/>
                      </a:stretch>
                    </p:blipFill>
                    <p:spPr>
                      <a:xfrm>
                        <a:off x="533400" y="1867651"/>
                        <a:ext cx="1270000" cy="469900"/>
                      </a:xfrm>
                      <a:prstGeom prst="rect">
                        <a:avLst/>
                      </a:prstGeom>
                    </p:spPr>
                  </p:pic>
                </p:oleObj>
              </mc:Fallback>
            </mc:AlternateContent>
          </a:graphicData>
        </a:graphic>
      </p:graphicFrame>
    </p:spTree>
    <p:extLst>
      <p:ext uri="{BB962C8B-B14F-4D97-AF65-F5344CB8AC3E}">
        <p14:creationId xmlns:p14="http://schemas.microsoft.com/office/powerpoint/2010/main" val="3049940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5">
                                            <p:txEl>
                                              <p:pRg st="6" end="6"/>
                                            </p:txEl>
                                          </p:spTgt>
                                        </p:tgtEl>
                                        <p:attrNameLst>
                                          <p:attrName>style.visibility</p:attrName>
                                        </p:attrNameLst>
                                      </p:cBhvr>
                                      <p:to>
                                        <p:strVal val="visible"/>
                                      </p:to>
                                    </p:set>
                                    <p:animEffect transition="in" filter="fade">
                                      <p:cBhvr>
                                        <p:cTn id="7" dur="500"/>
                                        <p:tgtEl>
                                          <p:spTgt spid="44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5" name="Rectangle 4">
            <a:extLst>
              <a:ext uri="{FF2B5EF4-FFF2-40B4-BE49-F238E27FC236}">
                <a16:creationId xmlns:a16="http://schemas.microsoft.com/office/drawing/2014/main" id="{E743D85D-FF42-415E-923B-113664A5C168}"/>
              </a:ext>
            </a:extLst>
          </p:cNvPr>
          <p:cNvSpPr/>
          <p:nvPr/>
        </p:nvSpPr>
        <p:spPr>
          <a:xfrm>
            <a:off x="227652" y="256792"/>
            <a:ext cx="8537729" cy="4720562"/>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Google Shape;445;p66"/>
          <p:cNvSpPr txBox="1"/>
          <p:nvPr/>
        </p:nvSpPr>
        <p:spPr>
          <a:xfrm>
            <a:off x="378619" y="313883"/>
            <a:ext cx="8386762" cy="5134810"/>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chemeClr val="accent2"/>
              </a:buClr>
              <a:buSzPts val="3200"/>
              <a:buFont typeface="Arial"/>
              <a:buNone/>
            </a:pPr>
            <a:r>
              <a:rPr lang="en-US" sz="3200" b="1" i="0" u="none" dirty="0">
                <a:solidFill>
                  <a:schemeClr val="tx1"/>
                </a:solidFill>
                <a:sym typeface="Arial"/>
              </a:rPr>
              <a:t>Chi-Square Test for Independence</a:t>
            </a:r>
            <a:endParaRPr sz="3200" dirty="0">
              <a:solidFill>
                <a:schemeClr val="tx1"/>
              </a:solidFill>
            </a:endParaRPr>
          </a:p>
          <a:p>
            <a:pPr marL="0" marR="0" lvl="0" indent="0" algn="ctr" rtl="0">
              <a:lnSpc>
                <a:spcPct val="100000"/>
              </a:lnSpc>
              <a:spcBef>
                <a:spcPts val="0"/>
              </a:spcBef>
              <a:spcAft>
                <a:spcPts val="0"/>
              </a:spcAft>
              <a:buClr>
                <a:schemeClr val="dk1"/>
              </a:buClr>
              <a:buSzPts val="2000"/>
              <a:buFont typeface="Arial"/>
              <a:buNone/>
            </a:pPr>
            <a:endParaRPr sz="1200" b="1" i="0" u="none" dirty="0">
              <a:solidFill>
                <a:schemeClr val="tx1"/>
              </a:solidFill>
              <a:latin typeface="Arial"/>
              <a:ea typeface="Arial"/>
              <a:cs typeface="Arial"/>
              <a:sym typeface="Arial"/>
            </a:endParaRPr>
          </a:p>
          <a:p>
            <a:r>
              <a:rPr lang="en-US" sz="2800" b="1" i="1" dirty="0">
                <a:latin typeface="+mn-lt"/>
                <a:cs typeface="Times New Roman" panose="02020603050405020304" pitchFamily="18" charset="0"/>
              </a:rPr>
              <a:t>P</a:t>
            </a:r>
            <a:r>
              <a:rPr lang="en-US" sz="2800" b="1" dirty="0">
                <a:latin typeface="+mn-lt"/>
                <a:cs typeface="Times New Roman" panose="02020603050405020304" pitchFamily="18" charset="0"/>
              </a:rPr>
              <a:t>-Value Approach</a:t>
            </a:r>
          </a:p>
          <a:p>
            <a:r>
              <a:rPr lang="en-US" sz="2800" b="1" i="1" dirty="0">
                <a:latin typeface="Times New Roman" panose="02020603050405020304" pitchFamily="18" charset="0"/>
                <a:cs typeface="Times New Roman" panose="02020603050405020304" pitchFamily="18" charset="0"/>
              </a:rPr>
              <a:t>Step 3 (continued)</a:t>
            </a:r>
          </a:p>
          <a:p>
            <a:r>
              <a:rPr lang="en-US" sz="2800" b="1" dirty="0">
                <a:latin typeface="Times New Roman" panose="02020603050405020304" pitchFamily="18" charset="0"/>
                <a:cs typeface="Times New Roman" panose="02020603050405020304" pitchFamily="18" charset="0"/>
              </a:rPr>
              <a:t>(c) </a:t>
            </a:r>
            <a:r>
              <a:rPr lang="en-US" sz="2800" dirty="0">
                <a:latin typeface="Times New Roman" panose="02020603050405020304" pitchFamily="18" charset="0"/>
                <a:cs typeface="Times New Roman" panose="02020603050405020304" pitchFamily="18" charset="0"/>
              </a:rPr>
              <a:t>Compute the </a:t>
            </a:r>
            <a:r>
              <a:rPr lang="en-US" sz="2800" b="1" dirty="0">
                <a:latin typeface="Times New Roman" panose="02020603050405020304" pitchFamily="18" charset="0"/>
                <a:cs typeface="Times New Roman" panose="02020603050405020304" pitchFamily="18" charset="0"/>
              </a:rPr>
              <a:t>test statistic</a:t>
            </a: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Note: </a:t>
            </a:r>
            <a:r>
              <a:rPr lang="en-US" sz="2800" i="1" dirty="0">
                <a:latin typeface="Times New Roman" panose="02020603050405020304" pitchFamily="18" charset="0"/>
                <a:cs typeface="Times New Roman" panose="02020603050405020304" pitchFamily="18" charset="0"/>
              </a:rPr>
              <a:t>O</a:t>
            </a:r>
            <a:r>
              <a:rPr lang="en-US" sz="2800" i="1" baseline="-25000" dirty="0">
                <a:latin typeface="Times New Roman" panose="02020603050405020304" pitchFamily="18" charset="0"/>
                <a:cs typeface="Times New Roman" panose="02020603050405020304" pitchFamily="18" charset="0"/>
              </a:rPr>
              <a:t>i</a:t>
            </a:r>
            <a:r>
              <a:rPr lang="en-US" sz="2800" i="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is the observed frequency for the </a:t>
            </a:r>
            <a:r>
              <a:rPr lang="en-US" sz="2800" i="1" dirty="0" err="1">
                <a:latin typeface="Times New Roman" panose="02020603050405020304" pitchFamily="18" charset="0"/>
                <a:cs typeface="Times New Roman" panose="02020603050405020304" pitchFamily="18" charset="0"/>
              </a:rPr>
              <a:t>i</a:t>
            </a:r>
            <a:r>
              <a:rPr lang="en-US" sz="2800" dirty="0" err="1">
                <a:latin typeface="Times New Roman" panose="02020603050405020304" pitchFamily="18" charset="0"/>
                <a:cs typeface="Times New Roman" panose="02020603050405020304" pitchFamily="18" charset="0"/>
              </a:rPr>
              <a:t>th</a:t>
            </a:r>
            <a:r>
              <a:rPr lang="en-US" sz="2800" dirty="0">
                <a:latin typeface="Times New Roman" panose="02020603050405020304" pitchFamily="18" charset="0"/>
                <a:cs typeface="Times New Roman" panose="02020603050405020304" pitchFamily="18" charset="0"/>
              </a:rPr>
              <a:t> cell.</a:t>
            </a:r>
            <a:endParaRPr sz="2800" dirty="0">
              <a:solidFill>
                <a:schemeClr val="tx1"/>
              </a:solidFill>
              <a:latin typeface="Times New Roman" panose="02020603050405020304" pitchFamily="18" charset="0"/>
              <a:cs typeface="Times New Roman" panose="02020603050405020304" pitchFamily="18" charset="0"/>
            </a:endParaRPr>
          </a:p>
        </p:txBody>
      </p:sp>
      <p:sp>
        <p:nvSpPr>
          <p:cNvPr id="446" name="Google Shape;446;p6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57</a:t>
            </a:fld>
            <a:endParaRPr/>
          </a:p>
        </p:txBody>
      </p:sp>
      <p:graphicFrame>
        <p:nvGraphicFramePr>
          <p:cNvPr id="3" name="Object 2">
            <a:extLst>
              <a:ext uri="{FF2B5EF4-FFF2-40B4-BE49-F238E27FC236}">
                <a16:creationId xmlns:a16="http://schemas.microsoft.com/office/drawing/2014/main" id="{C0ADCF6F-E9CD-42FA-B3A0-6BD011808207}"/>
              </a:ext>
            </a:extLst>
          </p:cNvPr>
          <p:cNvGraphicFramePr>
            <a:graphicFrameLocks noChangeAspect="1"/>
          </p:cNvGraphicFramePr>
          <p:nvPr/>
        </p:nvGraphicFramePr>
        <p:xfrm>
          <a:off x="2327374" y="2509101"/>
          <a:ext cx="2641600" cy="1066800"/>
        </p:xfrm>
        <a:graphic>
          <a:graphicData uri="http://schemas.openxmlformats.org/presentationml/2006/ole">
            <mc:AlternateContent xmlns:mc="http://schemas.openxmlformats.org/markup-compatibility/2006">
              <mc:Choice xmlns:v="urn:schemas-microsoft-com:vml" Requires="v">
                <p:oleObj spid="_x0000_s25686" name="Equation" r:id="rId4" imgW="2641320" imgH="1066680" progId="Equation.DSMT4">
                  <p:embed/>
                </p:oleObj>
              </mc:Choice>
              <mc:Fallback>
                <p:oleObj name="Equation" r:id="rId4" imgW="2641320" imgH="1066680" progId="Equation.DSMT4">
                  <p:embed/>
                  <p:pic>
                    <p:nvPicPr>
                      <p:cNvPr id="3" name="Object 2">
                        <a:extLst>
                          <a:ext uri="{FF2B5EF4-FFF2-40B4-BE49-F238E27FC236}">
                            <a16:creationId xmlns:a16="http://schemas.microsoft.com/office/drawing/2014/main" id="{C0ADCF6F-E9CD-42FA-B3A0-6BD011808207}"/>
                          </a:ext>
                        </a:extLst>
                      </p:cNvPr>
                      <p:cNvPicPr/>
                      <p:nvPr/>
                    </p:nvPicPr>
                    <p:blipFill>
                      <a:blip r:embed="rId5"/>
                      <a:stretch>
                        <a:fillRect/>
                      </a:stretch>
                    </p:blipFill>
                    <p:spPr>
                      <a:xfrm>
                        <a:off x="2327374" y="2509101"/>
                        <a:ext cx="2641600" cy="1066800"/>
                      </a:xfrm>
                      <a:prstGeom prst="rect">
                        <a:avLst/>
                      </a:prstGeom>
                    </p:spPr>
                  </p:pic>
                </p:oleObj>
              </mc:Fallback>
            </mc:AlternateContent>
          </a:graphicData>
        </a:graphic>
      </p:graphicFrame>
    </p:spTree>
    <p:extLst>
      <p:ext uri="{BB962C8B-B14F-4D97-AF65-F5344CB8AC3E}">
        <p14:creationId xmlns:p14="http://schemas.microsoft.com/office/powerpoint/2010/main" val="1434690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5">
                                            <p:txEl>
                                              <p:pRg st="9" end="9"/>
                                            </p:txEl>
                                          </p:spTgt>
                                        </p:tgtEl>
                                        <p:attrNameLst>
                                          <p:attrName>style.visibility</p:attrName>
                                        </p:attrNameLst>
                                      </p:cBhvr>
                                      <p:to>
                                        <p:strVal val="visible"/>
                                      </p:to>
                                    </p:set>
                                    <p:animEffect transition="in" filter="fade">
                                      <p:cBhvr>
                                        <p:cTn id="7" dur="500"/>
                                        <p:tgtEl>
                                          <p:spTgt spid="44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9" name="Rectangle 8">
            <a:extLst>
              <a:ext uri="{FF2B5EF4-FFF2-40B4-BE49-F238E27FC236}">
                <a16:creationId xmlns:a16="http://schemas.microsoft.com/office/drawing/2014/main" id="{A7DF9A50-5236-416E-809F-FDE50E62CAF3}"/>
              </a:ext>
            </a:extLst>
          </p:cNvPr>
          <p:cNvSpPr/>
          <p:nvPr/>
        </p:nvSpPr>
        <p:spPr>
          <a:xfrm>
            <a:off x="227652" y="256791"/>
            <a:ext cx="8537729" cy="5936619"/>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Google Shape;445;p66"/>
          <p:cNvSpPr txBox="1"/>
          <p:nvPr/>
        </p:nvSpPr>
        <p:spPr>
          <a:xfrm>
            <a:off x="378619" y="294499"/>
            <a:ext cx="8386762" cy="5134810"/>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chemeClr val="accent2"/>
              </a:buClr>
              <a:buSzPts val="3200"/>
              <a:buFont typeface="Arial"/>
              <a:buNone/>
            </a:pPr>
            <a:r>
              <a:rPr lang="en-US" sz="3200" b="1" i="0" u="none" dirty="0">
                <a:solidFill>
                  <a:schemeClr val="tx1"/>
                </a:solidFill>
                <a:sym typeface="Arial"/>
              </a:rPr>
              <a:t>Chi-Square Test for Independence</a:t>
            </a:r>
            <a:endParaRPr sz="3200" dirty="0">
              <a:solidFill>
                <a:schemeClr val="tx1"/>
              </a:solidFill>
            </a:endParaRPr>
          </a:p>
          <a:p>
            <a:pPr marL="0" marR="0" lvl="0" indent="0" algn="ctr" rtl="0">
              <a:lnSpc>
                <a:spcPct val="100000"/>
              </a:lnSpc>
              <a:spcBef>
                <a:spcPts val="0"/>
              </a:spcBef>
              <a:spcAft>
                <a:spcPts val="0"/>
              </a:spcAft>
              <a:buClr>
                <a:schemeClr val="dk1"/>
              </a:buClr>
              <a:buSzPts val="2000"/>
              <a:buFont typeface="Arial"/>
              <a:buNone/>
            </a:pPr>
            <a:endParaRPr sz="1200" b="1" i="0" u="none" dirty="0">
              <a:solidFill>
                <a:schemeClr val="tx1"/>
              </a:solidFill>
              <a:latin typeface="Arial"/>
              <a:ea typeface="Arial"/>
              <a:cs typeface="Arial"/>
              <a:sym typeface="Arial"/>
            </a:endParaRPr>
          </a:p>
          <a:p>
            <a:r>
              <a:rPr lang="en-US" sz="2800" b="1" i="1" dirty="0">
                <a:latin typeface="+mn-lt"/>
                <a:cs typeface="Times New Roman" panose="02020603050405020304" pitchFamily="18" charset="0"/>
              </a:rPr>
              <a:t>P</a:t>
            </a:r>
            <a:r>
              <a:rPr lang="en-US" sz="2800" b="1" dirty="0">
                <a:latin typeface="+mn-lt"/>
                <a:cs typeface="Times New Roman" panose="02020603050405020304" pitchFamily="18" charset="0"/>
              </a:rPr>
              <a:t>-Value Approach</a:t>
            </a:r>
          </a:p>
          <a:p>
            <a:r>
              <a:rPr lang="en-US" sz="2800" b="1" dirty="0">
                <a:latin typeface="Times New Roman" panose="02020603050405020304" pitchFamily="18" charset="0"/>
                <a:cs typeface="Times New Roman" panose="02020603050405020304" pitchFamily="18" charset="0"/>
              </a:rPr>
              <a:t>(d) </a:t>
            </a:r>
            <a:r>
              <a:rPr lang="en-US" sz="2800" dirty="0">
                <a:latin typeface="Times New Roman" panose="02020603050405020304" pitchFamily="18" charset="0"/>
                <a:cs typeface="Times New Roman" panose="02020603050405020304" pitchFamily="18" charset="0"/>
              </a:rPr>
              <a:t>Use Table VIII to determine an approximate </a:t>
            </a:r>
            <a:r>
              <a:rPr lang="en-US" sz="2800" i="1" dirty="0">
                <a:latin typeface="Times New Roman" panose="02020603050405020304" pitchFamily="18" charset="0"/>
                <a:cs typeface="Times New Roman" panose="02020603050405020304" pitchFamily="18" charset="0"/>
              </a:rPr>
              <a:t>P</a:t>
            </a:r>
            <a:r>
              <a:rPr lang="en-US" sz="2800" dirty="0">
                <a:latin typeface="Times New Roman" panose="02020603050405020304" pitchFamily="18" charset="0"/>
                <a:cs typeface="Times New Roman" panose="02020603050405020304" pitchFamily="18" charset="0"/>
              </a:rPr>
              <a:t>-value by determining the area under the chi-square distribution with (</a:t>
            </a:r>
            <a:r>
              <a:rPr lang="en-US" sz="2800" i="1" dirty="0">
                <a:latin typeface="Times New Roman" panose="02020603050405020304" pitchFamily="18" charset="0"/>
                <a:cs typeface="Times New Roman" panose="02020603050405020304" pitchFamily="18" charset="0"/>
              </a:rPr>
              <a:t>r </a:t>
            </a:r>
            <a:r>
              <a:rPr lang="en-US" sz="2800" dirty="0">
                <a:latin typeface="Times New Roman" panose="02020603050405020304" pitchFamily="18" charset="0"/>
                <a:cs typeface="Times New Roman" panose="02020603050405020304" pitchFamily="18" charset="0"/>
              </a:rPr>
              <a:t>–</a:t>
            </a:r>
            <a:r>
              <a:rPr lang="en-US" sz="2800" i="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1)(</a:t>
            </a:r>
            <a:r>
              <a:rPr lang="en-US" sz="2800" i="1" dirty="0">
                <a:latin typeface="Times New Roman" panose="02020603050405020304" pitchFamily="18" charset="0"/>
                <a:cs typeface="Times New Roman" panose="02020603050405020304" pitchFamily="18" charset="0"/>
              </a:rPr>
              <a:t>c </a:t>
            </a:r>
            <a:r>
              <a:rPr lang="en-US" sz="2800" dirty="0">
                <a:latin typeface="Times New Roman" panose="02020603050405020304" pitchFamily="18" charset="0"/>
                <a:cs typeface="Times New Roman" panose="02020603050405020304" pitchFamily="18" charset="0"/>
              </a:rPr>
              <a:t>– 1) degrees of freedom to the right of the test statistic, where </a:t>
            </a:r>
            <a:r>
              <a:rPr lang="en-US" sz="2800" i="1" dirty="0">
                <a:latin typeface="Times New Roman" panose="02020603050405020304" pitchFamily="18" charset="0"/>
                <a:cs typeface="Times New Roman" panose="02020603050405020304" pitchFamily="18" charset="0"/>
              </a:rPr>
              <a:t>r </a:t>
            </a:r>
            <a:r>
              <a:rPr lang="en-US" sz="2800" dirty="0">
                <a:latin typeface="Times New Roman" panose="02020603050405020304" pitchFamily="18" charset="0"/>
                <a:cs typeface="Times New Roman" panose="02020603050405020304" pitchFamily="18" charset="0"/>
              </a:rPr>
              <a:t>is the number of rows and </a:t>
            </a:r>
            <a:r>
              <a:rPr lang="en-US" sz="2800" i="1" dirty="0">
                <a:latin typeface="Times New Roman" panose="02020603050405020304" pitchFamily="18" charset="0"/>
                <a:cs typeface="Times New Roman" panose="02020603050405020304" pitchFamily="18" charset="0"/>
              </a:rPr>
              <a:t>c </a:t>
            </a:r>
            <a:r>
              <a:rPr lang="en-US" sz="2800" dirty="0">
                <a:latin typeface="Times New Roman" panose="02020603050405020304" pitchFamily="18" charset="0"/>
                <a:cs typeface="Times New Roman" panose="02020603050405020304" pitchFamily="18" charset="0"/>
              </a:rPr>
              <a:t>is the number of columns in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the contingency table.</a:t>
            </a:r>
          </a:p>
        </p:txBody>
      </p:sp>
      <p:sp>
        <p:nvSpPr>
          <p:cNvPr id="446" name="Google Shape;446;p6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58</a:t>
            </a:fld>
            <a:endParaRPr/>
          </a:p>
        </p:txBody>
      </p:sp>
      <p:pic>
        <p:nvPicPr>
          <p:cNvPr id="4" name="Picture 3" descr="A close up of a mans face&#10;&#10;Description automatically generated">
            <a:extLst>
              <a:ext uri="{FF2B5EF4-FFF2-40B4-BE49-F238E27FC236}">
                <a16:creationId xmlns:a16="http://schemas.microsoft.com/office/drawing/2014/main" id="{9075CB18-EDCB-4913-A665-07703B7743C3}"/>
              </a:ext>
            </a:extLst>
          </p:cNvPr>
          <p:cNvPicPr>
            <a:picLocks noChangeAspect="1"/>
          </p:cNvPicPr>
          <p:nvPr/>
        </p:nvPicPr>
        <p:blipFill>
          <a:blip r:embed="rId3"/>
          <a:stretch>
            <a:fillRect/>
          </a:stretch>
        </p:blipFill>
        <p:spPr>
          <a:xfrm>
            <a:off x="4402320" y="3237449"/>
            <a:ext cx="4103642" cy="26996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81079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9" name="Rectangle 8">
            <a:extLst>
              <a:ext uri="{FF2B5EF4-FFF2-40B4-BE49-F238E27FC236}">
                <a16:creationId xmlns:a16="http://schemas.microsoft.com/office/drawing/2014/main" id="{A7DF9A50-5236-416E-809F-FDE50E62CAF3}"/>
              </a:ext>
            </a:extLst>
          </p:cNvPr>
          <p:cNvSpPr/>
          <p:nvPr/>
        </p:nvSpPr>
        <p:spPr>
          <a:xfrm>
            <a:off x="227652" y="256791"/>
            <a:ext cx="8537729" cy="5399291"/>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Google Shape;445;p66"/>
          <p:cNvSpPr txBox="1"/>
          <p:nvPr/>
        </p:nvSpPr>
        <p:spPr>
          <a:xfrm>
            <a:off x="378619" y="275645"/>
            <a:ext cx="8386762" cy="5134810"/>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chemeClr val="accent2"/>
              </a:buClr>
              <a:buSzPts val="3200"/>
              <a:buFont typeface="Arial"/>
              <a:buNone/>
            </a:pPr>
            <a:r>
              <a:rPr lang="en-US" sz="3200" b="1" i="0" u="none" dirty="0">
                <a:solidFill>
                  <a:schemeClr val="tx1"/>
                </a:solidFill>
                <a:sym typeface="Arial"/>
              </a:rPr>
              <a:t>Chi-Square Test for Independence</a:t>
            </a:r>
            <a:endParaRPr sz="3200" dirty="0">
              <a:solidFill>
                <a:schemeClr val="tx1"/>
              </a:solidFill>
            </a:endParaRPr>
          </a:p>
          <a:p>
            <a:pPr marL="0" marR="0" lvl="0" indent="0" algn="ctr" rtl="0">
              <a:lnSpc>
                <a:spcPct val="100000"/>
              </a:lnSpc>
              <a:spcBef>
                <a:spcPts val="0"/>
              </a:spcBef>
              <a:spcAft>
                <a:spcPts val="0"/>
              </a:spcAft>
              <a:buClr>
                <a:schemeClr val="dk1"/>
              </a:buClr>
              <a:buSzPts val="2000"/>
              <a:buFont typeface="Arial"/>
              <a:buNone/>
            </a:pPr>
            <a:endParaRPr sz="1200" b="1" i="0" u="none" dirty="0">
              <a:solidFill>
                <a:schemeClr val="tx1"/>
              </a:solidFill>
              <a:latin typeface="Arial"/>
              <a:ea typeface="Arial"/>
              <a:cs typeface="Arial"/>
              <a:sym typeface="Arial"/>
            </a:endParaRPr>
          </a:p>
          <a:p>
            <a:r>
              <a:rPr lang="en-US" sz="2800" b="1" i="1" dirty="0">
                <a:latin typeface="+mn-lt"/>
                <a:cs typeface="Times New Roman" panose="02020603050405020304" pitchFamily="18" charset="0"/>
              </a:rPr>
              <a:t>P</a:t>
            </a:r>
            <a:r>
              <a:rPr lang="en-US" sz="2800" b="1" dirty="0">
                <a:latin typeface="+mn-lt"/>
                <a:cs typeface="Times New Roman" panose="02020603050405020304" pitchFamily="18" charset="0"/>
              </a:rPr>
              <a:t>-Value Approach</a:t>
            </a:r>
          </a:p>
          <a:p>
            <a:r>
              <a:rPr lang="en-US" sz="2800" b="1" i="1" dirty="0">
                <a:latin typeface="Times New Roman" panose="02020603050405020304" pitchFamily="18" charset="0"/>
                <a:cs typeface="Times New Roman" panose="02020603050405020304" pitchFamily="18" charset="0"/>
              </a:rPr>
              <a:t>Technology Step 3 (continued)</a:t>
            </a:r>
          </a:p>
          <a:p>
            <a:r>
              <a:rPr lang="en-US" sz="2800" b="1" dirty="0">
                <a:latin typeface="Times New Roman" panose="02020603050405020304" pitchFamily="18" charset="0"/>
                <a:cs typeface="Times New Roman" panose="02020603050405020304" pitchFamily="18" charset="0"/>
              </a:rPr>
              <a:t>(c) </a:t>
            </a:r>
            <a:r>
              <a:rPr lang="en-US" sz="2800" dirty="0">
                <a:latin typeface="Times New Roman" panose="02020603050405020304" pitchFamily="18" charset="0"/>
                <a:cs typeface="Times New Roman" panose="02020603050405020304" pitchFamily="18" charset="0"/>
              </a:rPr>
              <a:t>Use a statistical spreadsheet or calculator with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statistical capabilities to obtain the </a:t>
            </a:r>
            <a:r>
              <a:rPr lang="en-US" sz="2800" i="1" dirty="0">
                <a:latin typeface="Times New Roman" panose="02020603050405020304" pitchFamily="18" charset="0"/>
                <a:cs typeface="Times New Roman" panose="02020603050405020304" pitchFamily="18" charset="0"/>
              </a:rPr>
              <a:t>P</a:t>
            </a:r>
            <a:r>
              <a:rPr lang="en-US" sz="2800" dirty="0">
                <a:latin typeface="Times New Roman" panose="02020603050405020304" pitchFamily="18" charset="0"/>
                <a:cs typeface="Times New Roman" panose="02020603050405020304" pitchFamily="18" charset="0"/>
              </a:rPr>
              <a:t>-value. </a:t>
            </a:r>
          </a:p>
          <a:p>
            <a:endParaRPr lang="en-US" sz="2800" b="1" i="1" dirty="0">
              <a:latin typeface="Times New Roman" panose="02020603050405020304" pitchFamily="18" charset="0"/>
              <a:cs typeface="Times New Roman" panose="02020603050405020304" pitchFamily="18" charset="0"/>
            </a:endParaRPr>
          </a:p>
          <a:p>
            <a:endParaRPr lang="en-US" sz="2800" b="1" i="1" dirty="0">
              <a:latin typeface="Times New Roman" panose="02020603050405020304" pitchFamily="18" charset="0"/>
              <a:cs typeface="Times New Roman" panose="02020603050405020304" pitchFamily="18" charset="0"/>
            </a:endParaRPr>
          </a:p>
          <a:p>
            <a:r>
              <a:rPr lang="en-US" sz="2800" b="1" i="1" dirty="0">
                <a:latin typeface="Times New Roman" panose="02020603050405020304" pitchFamily="18" charset="0"/>
                <a:cs typeface="Times New Roman" panose="02020603050405020304" pitchFamily="18" charset="0"/>
              </a:rPr>
              <a:t>Step 4 </a:t>
            </a:r>
            <a:r>
              <a:rPr lang="en-US" sz="2800" dirty="0">
                <a:latin typeface="Times New Roman" panose="02020603050405020304" pitchFamily="18" charset="0"/>
                <a:cs typeface="Times New Roman" panose="02020603050405020304" pitchFamily="18" charset="0"/>
              </a:rPr>
              <a:t>If </a:t>
            </a:r>
            <a:r>
              <a:rPr lang="en-US" sz="2800" i="1" dirty="0">
                <a:latin typeface="Times New Roman" panose="02020603050405020304" pitchFamily="18" charset="0"/>
                <a:cs typeface="Times New Roman" panose="02020603050405020304" pitchFamily="18" charset="0"/>
              </a:rPr>
              <a:t>P</a:t>
            </a:r>
            <a:r>
              <a:rPr lang="en-US" sz="2800" dirty="0">
                <a:latin typeface="Times New Roman" panose="02020603050405020304" pitchFamily="18" charset="0"/>
                <a:cs typeface="Times New Roman" panose="02020603050405020304" pitchFamily="18" charset="0"/>
              </a:rPr>
              <a:t>-value &lt;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reject the null hypothesis.</a:t>
            </a:r>
          </a:p>
          <a:p>
            <a:endParaRPr lang="en-US" sz="2800" dirty="0">
              <a:latin typeface="Times New Roman" panose="02020603050405020304" pitchFamily="18" charset="0"/>
              <a:cs typeface="Times New Roman" panose="02020603050405020304" pitchFamily="18" charset="0"/>
            </a:endParaRPr>
          </a:p>
          <a:p>
            <a:endParaRPr lang="en-US" sz="2800" b="1" i="1" dirty="0">
              <a:latin typeface="Times New Roman" panose="02020603050405020304" pitchFamily="18" charset="0"/>
              <a:cs typeface="Times New Roman" panose="02020603050405020304" pitchFamily="18" charset="0"/>
            </a:endParaRPr>
          </a:p>
          <a:p>
            <a:r>
              <a:rPr lang="en-US" sz="2800" b="1" i="1" dirty="0">
                <a:latin typeface="Times New Roman" panose="02020603050405020304" pitchFamily="18" charset="0"/>
                <a:cs typeface="Times New Roman" panose="02020603050405020304" pitchFamily="18" charset="0"/>
              </a:rPr>
              <a:t>Step 5 </a:t>
            </a:r>
            <a:r>
              <a:rPr lang="en-US" sz="2800" dirty="0">
                <a:latin typeface="Times New Roman" panose="02020603050405020304" pitchFamily="18" charset="0"/>
                <a:cs typeface="Times New Roman" panose="02020603050405020304" pitchFamily="18" charset="0"/>
              </a:rPr>
              <a:t>State the conclusion.</a:t>
            </a:r>
          </a:p>
        </p:txBody>
      </p:sp>
      <p:sp>
        <p:nvSpPr>
          <p:cNvPr id="446" name="Google Shape;446;p6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59</a:t>
            </a:fld>
            <a:endParaRPr/>
          </a:p>
        </p:txBody>
      </p:sp>
    </p:spTree>
    <p:extLst>
      <p:ext uri="{BB962C8B-B14F-4D97-AF65-F5344CB8AC3E}">
        <p14:creationId xmlns:p14="http://schemas.microsoft.com/office/powerpoint/2010/main" val="3802230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5">
                                            <p:txEl>
                                              <p:pRg st="7" end="7"/>
                                            </p:txEl>
                                          </p:spTgt>
                                        </p:tgtEl>
                                        <p:attrNameLst>
                                          <p:attrName>style.visibility</p:attrName>
                                        </p:attrNameLst>
                                      </p:cBhvr>
                                      <p:to>
                                        <p:strVal val="visible"/>
                                      </p:to>
                                    </p:set>
                                    <p:animEffect transition="in" filter="fade">
                                      <p:cBhvr>
                                        <p:cTn id="7" dur="500"/>
                                        <p:tgtEl>
                                          <p:spTgt spid="445">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5">
                                            <p:txEl>
                                              <p:pRg st="10" end="10"/>
                                            </p:txEl>
                                          </p:spTgt>
                                        </p:tgtEl>
                                        <p:attrNameLst>
                                          <p:attrName>style.visibility</p:attrName>
                                        </p:attrNameLst>
                                      </p:cBhvr>
                                      <p:to>
                                        <p:strVal val="visible"/>
                                      </p:to>
                                    </p:set>
                                    <p:animEffect transition="in" filter="fade">
                                      <p:cBhvr>
                                        <p:cTn id="12" dur="500"/>
                                        <p:tgtEl>
                                          <p:spTgt spid="44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1815882"/>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Does one’s happiness depend on one’s marital status? We present the data from a previous example in Table 9 to answer this question. Use the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 0.05 level of significance.</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60</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Performing a Chi-Square Test for </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 of 10)                              </a:t>
            </a:r>
            <a:r>
              <a:rPr lang="en-US" sz="2400" i="1" dirty="0">
                <a:solidFill>
                  <a:schemeClr val="dk1"/>
                </a:solidFill>
              </a:rPr>
              <a:t>Independence </a:t>
            </a:r>
            <a:endParaRPr i="1" dirty="0"/>
          </a:p>
        </p:txBody>
      </p:sp>
      <p:pic>
        <p:nvPicPr>
          <p:cNvPr id="3" name="Picture 2" descr="A screenshot of a cell phone&#10;&#10;Description automatically generated">
            <a:extLst>
              <a:ext uri="{FF2B5EF4-FFF2-40B4-BE49-F238E27FC236}">
                <a16:creationId xmlns:a16="http://schemas.microsoft.com/office/drawing/2014/main" id="{7E612B33-B461-41F7-9E84-3D755ED5C925}"/>
              </a:ext>
            </a:extLst>
          </p:cNvPr>
          <p:cNvPicPr>
            <a:picLocks noChangeAspect="1"/>
          </p:cNvPicPr>
          <p:nvPr/>
        </p:nvPicPr>
        <p:blipFill>
          <a:blip r:embed="rId3"/>
          <a:stretch>
            <a:fillRect/>
          </a:stretch>
        </p:blipFill>
        <p:spPr>
          <a:xfrm>
            <a:off x="311870" y="3024572"/>
            <a:ext cx="8319444" cy="2065902"/>
          </a:xfrm>
          <a:prstGeom prst="rect">
            <a:avLst/>
          </a:prstGeom>
        </p:spPr>
      </p:pic>
    </p:spTree>
    <p:extLst>
      <p:ext uri="{BB962C8B-B14F-4D97-AF65-F5344CB8AC3E}">
        <p14:creationId xmlns:p14="http://schemas.microsoft.com/office/powerpoint/2010/main" val="2139584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3693319"/>
          </a:xfrm>
          <a:prstGeom prst="rect">
            <a:avLst/>
          </a:prstGeom>
        </p:spPr>
        <p:txBody>
          <a:bodyPr wrap="square">
            <a:spAutoFit/>
          </a:bodyPr>
          <a:lstStyle/>
          <a:p>
            <a:r>
              <a:rPr lang="en-US" sz="2600" b="1" i="1" dirty="0">
                <a:latin typeface="Times New Roman" panose="02020603050405020304" pitchFamily="18" charset="0"/>
                <a:cs typeface="Times New Roman" panose="02020603050405020304" pitchFamily="18" charset="0"/>
              </a:rPr>
              <a:t>Step 1 </a:t>
            </a:r>
            <a:r>
              <a:rPr lang="en-US" sz="2600" dirty="0">
                <a:latin typeface="Times New Roman" panose="02020603050405020304" pitchFamily="18" charset="0"/>
                <a:cs typeface="Times New Roman" panose="02020603050405020304" pitchFamily="18" charset="0"/>
              </a:rPr>
              <a:t>We want to determine whether happiness and marital status are dependent or independent. The null hypothesis is a statement of “no effect,” so we state the hypotheses as follows:</a:t>
            </a:r>
          </a:p>
          <a:p>
            <a:endParaRPr lang="en-US" sz="2600" i="1" dirty="0">
              <a:latin typeface="Times New Roman" panose="02020603050405020304" pitchFamily="18" charset="0"/>
              <a:cs typeface="Times New Roman" panose="02020603050405020304" pitchFamily="18" charset="0"/>
            </a:endParaRPr>
          </a:p>
          <a:p>
            <a:r>
              <a:rPr lang="en-US" sz="2600" i="1" dirty="0">
                <a:latin typeface="Times New Roman" panose="02020603050405020304" pitchFamily="18" charset="0"/>
                <a:cs typeface="Times New Roman" panose="02020603050405020304" pitchFamily="18" charset="0"/>
              </a:rPr>
              <a:t>  H</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Happiness and marital status are independent (not related)</a:t>
            </a:r>
          </a:p>
          <a:p>
            <a:r>
              <a:rPr lang="en-US" sz="2600" i="1" dirty="0">
                <a:latin typeface="Times New Roman" panose="02020603050405020304" pitchFamily="18" charset="0"/>
                <a:cs typeface="Times New Roman" panose="02020603050405020304" pitchFamily="18" charset="0"/>
              </a:rPr>
              <a:t>  H</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Happiness and marital status are dependent (related)</a:t>
            </a:r>
          </a:p>
          <a:p>
            <a:endParaRPr lang="en-US" sz="2600" b="1" i="1" dirty="0">
              <a:latin typeface="Times New Roman" panose="02020603050405020304" pitchFamily="18" charset="0"/>
              <a:cs typeface="Times New Roman" panose="02020603050405020304" pitchFamily="18" charset="0"/>
            </a:endParaRPr>
          </a:p>
          <a:p>
            <a:endParaRPr lang="en-US" sz="2600" b="1" i="1"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2 </a:t>
            </a:r>
            <a:r>
              <a:rPr lang="en-US" sz="2600" dirty="0">
                <a:latin typeface="Times New Roman" panose="02020603050405020304" pitchFamily="18" charset="0"/>
                <a:cs typeface="Times New Roman" panose="02020603050405020304" pitchFamily="18" charset="0"/>
              </a:rPr>
              <a:t>The level of significance is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0.05.</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61</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Performing a Chi-Square Test for </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(2 of 10)                              </a:t>
            </a:r>
            <a:r>
              <a:rPr lang="en-US" sz="2400" i="1" dirty="0">
                <a:solidFill>
                  <a:schemeClr val="dk1"/>
                </a:solidFill>
              </a:rPr>
              <a:t>Independence </a:t>
            </a:r>
            <a:endParaRPr i="1" dirty="0"/>
          </a:p>
        </p:txBody>
      </p:sp>
    </p:spTree>
    <p:extLst>
      <p:ext uri="{BB962C8B-B14F-4D97-AF65-F5344CB8AC3E}">
        <p14:creationId xmlns:p14="http://schemas.microsoft.com/office/powerpoint/2010/main" val="595756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3" end="3"/>
                                            </p:txEl>
                                          </p:spTgt>
                                        </p:tgtEl>
                                        <p:attrNameLst>
                                          <p:attrName>style.visibility</p:attrName>
                                        </p:attrNameLst>
                                      </p:cBhvr>
                                      <p:to>
                                        <p:strVal val="visible"/>
                                      </p:to>
                                    </p:set>
                                    <p:animEffect transition="in" filter="fade">
                                      <p:cBhvr>
                                        <p:cTn id="10" dur="500"/>
                                        <p:tgtEl>
                                          <p:spTgt spid="4">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animEffect transition="in" filter="fade">
                                      <p:cBhvr>
                                        <p:cTn id="15"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5293757"/>
          </a:xfrm>
          <a:prstGeom prst="rect">
            <a:avLst/>
          </a:prstGeom>
        </p:spPr>
        <p:txBody>
          <a:bodyPr wrap="square">
            <a:spAutoFit/>
          </a:bodyPr>
          <a:lstStyle/>
          <a:p>
            <a:r>
              <a:rPr lang="en-US" sz="2600" b="1" i="1" dirty="0">
                <a:latin typeface="Times New Roman" panose="02020603050405020304" pitchFamily="18" charset="0"/>
                <a:cs typeface="Times New Roman" panose="02020603050405020304" pitchFamily="18" charset="0"/>
              </a:rPr>
              <a:t>Step 3</a:t>
            </a:r>
          </a:p>
          <a:p>
            <a:r>
              <a:rPr lang="en-US" sz="2600" b="1" dirty="0">
                <a:latin typeface="Times New Roman" panose="02020603050405020304" pitchFamily="18" charset="0"/>
                <a:cs typeface="Times New Roman" panose="02020603050405020304" pitchFamily="18" charset="0"/>
              </a:rPr>
              <a:t>(a) </a:t>
            </a:r>
            <a:r>
              <a:rPr lang="en-US" sz="2600" dirty="0">
                <a:latin typeface="Times New Roman" panose="02020603050405020304" pitchFamily="18" charset="0"/>
                <a:cs typeface="Times New Roman" panose="02020603050405020304" pitchFamily="18" charset="0"/>
              </a:rPr>
              <a:t>The expected frequencies were determined in a previous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example. Table 10 shows the observed frequencies, with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expected frequencies in parentheses.</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(b) </a:t>
            </a:r>
            <a:r>
              <a:rPr lang="en-US" sz="2600" dirty="0">
                <a:latin typeface="Times New Roman" panose="02020603050405020304" pitchFamily="18" charset="0"/>
                <a:cs typeface="Times New Roman" panose="02020603050405020304" pitchFamily="18" charset="0"/>
              </a:rPr>
              <a:t>Since none of the expected frequencies are less than 5,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requirements for the goodness-of-fit test are satisfied.</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62</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Performing a Chi-Square Test for </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(3 of 10)                              </a:t>
            </a:r>
            <a:r>
              <a:rPr lang="en-US" sz="2400" i="1" dirty="0">
                <a:solidFill>
                  <a:schemeClr val="dk1"/>
                </a:solidFill>
              </a:rPr>
              <a:t>Independence </a:t>
            </a:r>
            <a:endParaRPr i="1" dirty="0"/>
          </a:p>
        </p:txBody>
      </p:sp>
      <p:pic>
        <p:nvPicPr>
          <p:cNvPr id="3" name="Picture 2" descr="A screenshot of a cell phone&#10;&#10;Description automatically generated">
            <a:extLst>
              <a:ext uri="{FF2B5EF4-FFF2-40B4-BE49-F238E27FC236}">
                <a16:creationId xmlns:a16="http://schemas.microsoft.com/office/drawing/2014/main" id="{1F6DDE75-3F47-4047-A797-9AD8B44B9E47}"/>
              </a:ext>
            </a:extLst>
          </p:cNvPr>
          <p:cNvPicPr>
            <a:picLocks noChangeAspect="1"/>
          </p:cNvPicPr>
          <p:nvPr/>
        </p:nvPicPr>
        <p:blipFill>
          <a:blip r:embed="rId3"/>
          <a:stretch>
            <a:fillRect/>
          </a:stretch>
        </p:blipFill>
        <p:spPr>
          <a:xfrm>
            <a:off x="533400" y="2748824"/>
            <a:ext cx="8050491" cy="2638102"/>
          </a:xfrm>
          <a:prstGeom prst="rect">
            <a:avLst/>
          </a:prstGeom>
        </p:spPr>
      </p:pic>
    </p:spTree>
    <p:extLst>
      <p:ext uri="{BB962C8B-B14F-4D97-AF65-F5344CB8AC3E}">
        <p14:creationId xmlns:p14="http://schemas.microsoft.com/office/powerpoint/2010/main" val="617960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9" end="9"/>
                                            </p:txEl>
                                          </p:spTgt>
                                        </p:tgtEl>
                                        <p:attrNameLst>
                                          <p:attrName>style.visibility</p:attrName>
                                        </p:attrNameLst>
                                      </p:cBhvr>
                                      <p:to>
                                        <p:strVal val="visible"/>
                                      </p:to>
                                    </p:set>
                                    <p:animEffect transition="in" filter="fade">
                                      <p:cBhvr>
                                        <p:cTn id="7"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1292662"/>
          </a:xfrm>
          <a:prstGeom prst="rect">
            <a:avLst/>
          </a:prstGeom>
        </p:spPr>
        <p:txBody>
          <a:bodyPr wrap="square">
            <a:spAutoFit/>
          </a:bodyPr>
          <a:lstStyle/>
          <a:p>
            <a:r>
              <a:rPr lang="en-US" sz="2600" b="1" dirty="0"/>
              <a:t>Classical Approach</a:t>
            </a:r>
          </a:p>
          <a:p>
            <a:r>
              <a:rPr lang="en-US" sz="2600" b="1" i="1" dirty="0">
                <a:latin typeface="Times New Roman" panose="02020603050405020304" pitchFamily="18" charset="0"/>
                <a:cs typeface="Times New Roman" panose="02020603050405020304" pitchFamily="18" charset="0"/>
              </a:rPr>
              <a:t>Step 3 (continued)</a:t>
            </a:r>
          </a:p>
          <a:p>
            <a:r>
              <a:rPr lang="en-US" sz="2600" b="1" dirty="0">
                <a:latin typeface="Times New Roman" panose="02020603050405020304" pitchFamily="18" charset="0"/>
                <a:cs typeface="Times New Roman" panose="02020603050405020304" pitchFamily="18" charset="0"/>
              </a:rPr>
              <a:t>(c)</a:t>
            </a:r>
            <a:endParaRPr lang="en-US" sz="2600" dirty="0">
              <a:latin typeface="Times New Roman" panose="02020603050405020304" pitchFamily="18" charset="0"/>
              <a:cs typeface="Times New Roman" panose="02020603050405020304" pitchFamily="18" charset="0"/>
            </a:endParaRP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63</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Performing a Chi-Square Test for </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(4 of 10)                              </a:t>
            </a:r>
            <a:r>
              <a:rPr lang="en-US" sz="2400" i="1" dirty="0">
                <a:solidFill>
                  <a:schemeClr val="dk1"/>
                </a:solidFill>
              </a:rPr>
              <a:t>Independence </a:t>
            </a:r>
            <a:endParaRPr i="1" dirty="0"/>
          </a:p>
        </p:txBody>
      </p:sp>
      <p:graphicFrame>
        <p:nvGraphicFramePr>
          <p:cNvPr id="2" name="Object 1">
            <a:extLst>
              <a:ext uri="{FF2B5EF4-FFF2-40B4-BE49-F238E27FC236}">
                <a16:creationId xmlns:a16="http://schemas.microsoft.com/office/drawing/2014/main" id="{11CD48FB-9466-42AD-82D9-2804FB85D1B9}"/>
              </a:ext>
            </a:extLst>
          </p:cNvPr>
          <p:cNvGraphicFramePr>
            <a:graphicFrameLocks noChangeAspect="1"/>
          </p:cNvGraphicFramePr>
          <p:nvPr>
            <p:extLst>
              <p:ext uri="{D42A27DB-BD31-4B8C-83A1-F6EECF244321}">
                <p14:modId xmlns:p14="http://schemas.microsoft.com/office/powerpoint/2010/main" val="3537536947"/>
              </p:ext>
            </p:extLst>
          </p:nvPr>
        </p:nvGraphicFramePr>
        <p:xfrm>
          <a:off x="603053" y="2507653"/>
          <a:ext cx="8051800" cy="2413000"/>
        </p:xfrm>
        <a:graphic>
          <a:graphicData uri="http://schemas.openxmlformats.org/presentationml/2006/ole">
            <mc:AlternateContent xmlns:mc="http://schemas.openxmlformats.org/markup-compatibility/2006">
              <mc:Choice xmlns:v="urn:schemas-microsoft-com:vml" Requires="v">
                <p:oleObj spid="_x0000_s26698" name="Equation" r:id="rId4" imgW="8051760" imgH="2412720" progId="Equation.DSMT4">
                  <p:embed/>
                </p:oleObj>
              </mc:Choice>
              <mc:Fallback>
                <p:oleObj name="Equation" r:id="rId4" imgW="8051760" imgH="2412720" progId="Equation.DSMT4">
                  <p:embed/>
                  <p:pic>
                    <p:nvPicPr>
                      <p:cNvPr id="0" name=""/>
                      <p:cNvPicPr/>
                      <p:nvPr/>
                    </p:nvPicPr>
                    <p:blipFill>
                      <a:blip r:embed="rId5"/>
                      <a:stretch>
                        <a:fillRect/>
                      </a:stretch>
                    </p:blipFill>
                    <p:spPr>
                      <a:xfrm>
                        <a:off x="603053" y="2507653"/>
                        <a:ext cx="8051800" cy="2413000"/>
                      </a:xfrm>
                      <a:prstGeom prst="rect">
                        <a:avLst/>
                      </a:prstGeom>
                    </p:spPr>
                  </p:pic>
                </p:oleObj>
              </mc:Fallback>
            </mc:AlternateContent>
          </a:graphicData>
        </a:graphic>
      </p:graphicFrame>
    </p:spTree>
    <p:extLst>
      <p:ext uri="{BB962C8B-B14F-4D97-AF65-F5344CB8AC3E}">
        <p14:creationId xmlns:p14="http://schemas.microsoft.com/office/powerpoint/2010/main" val="3147064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5293757"/>
          </a:xfrm>
          <a:prstGeom prst="rect">
            <a:avLst/>
          </a:prstGeom>
        </p:spPr>
        <p:txBody>
          <a:bodyPr wrap="square">
            <a:spAutoFit/>
          </a:bodyPr>
          <a:lstStyle/>
          <a:p>
            <a:r>
              <a:rPr lang="en-US" sz="2600" b="1" dirty="0"/>
              <a:t>Classical Approach</a:t>
            </a:r>
          </a:p>
          <a:p>
            <a:r>
              <a:rPr lang="en-US" sz="2600" b="1" i="1" dirty="0">
                <a:latin typeface="Times New Roman" panose="02020603050405020304" pitchFamily="18" charset="0"/>
                <a:cs typeface="Times New Roman" panose="02020603050405020304" pitchFamily="18" charset="0"/>
              </a:rPr>
              <a:t>Step 4 </a:t>
            </a:r>
            <a:r>
              <a:rPr lang="en-US" sz="2600" dirty="0">
                <a:latin typeface="Times New Roman" panose="02020603050405020304" pitchFamily="18" charset="0"/>
                <a:cs typeface="Times New Roman" panose="02020603050405020304" pitchFamily="18" charset="0"/>
              </a:rPr>
              <a:t>There are </a:t>
            </a:r>
            <a:r>
              <a:rPr lang="en-US" sz="2600" i="1" dirty="0">
                <a:latin typeface="Times New Roman" panose="02020603050405020304" pitchFamily="18" charset="0"/>
                <a:cs typeface="Times New Roman" panose="02020603050405020304" pitchFamily="18" charset="0"/>
              </a:rPr>
              <a:t>r </a:t>
            </a:r>
            <a:r>
              <a:rPr lang="en-US" sz="2600" dirty="0">
                <a:latin typeface="Times New Roman" panose="02020603050405020304" pitchFamily="18" charset="0"/>
                <a:cs typeface="Times New Roman" panose="02020603050405020304" pitchFamily="18" charset="0"/>
              </a:rPr>
              <a:t>= 3 rows and </a:t>
            </a:r>
            <a:r>
              <a:rPr lang="en-US" sz="2600" i="1" dirty="0">
                <a:latin typeface="Times New Roman" panose="02020603050405020304" pitchFamily="18" charset="0"/>
                <a:cs typeface="Times New Roman" panose="02020603050405020304" pitchFamily="18" charset="0"/>
              </a:rPr>
              <a:t>c </a:t>
            </a:r>
            <a:r>
              <a:rPr lang="en-US" sz="2600" dirty="0">
                <a:latin typeface="Times New Roman" panose="02020603050405020304" pitchFamily="18" charset="0"/>
                <a:cs typeface="Times New Roman" panose="02020603050405020304" pitchFamily="18" charset="0"/>
              </a:rPr>
              <a:t>= 4 columns. The critical value is                        using (</a:t>
            </a:r>
            <a:r>
              <a:rPr lang="en-US" sz="2600" i="1" dirty="0">
                <a:latin typeface="Times New Roman" panose="02020603050405020304" pitchFamily="18" charset="0"/>
                <a:cs typeface="Times New Roman" panose="02020603050405020304" pitchFamily="18" charset="0"/>
              </a:rPr>
              <a:t>r</a:t>
            </a:r>
            <a:r>
              <a:rPr lang="en-US" sz="2600" dirty="0">
                <a:latin typeface="Times New Roman" panose="02020603050405020304" pitchFamily="18" charset="0"/>
                <a:cs typeface="Times New Roman" panose="02020603050405020304" pitchFamily="18" charset="0"/>
              </a:rPr>
              <a:t> – 1)(</a:t>
            </a:r>
            <a:r>
              <a:rPr lang="en-US" sz="2600" i="1" dirty="0">
                <a:latin typeface="Times New Roman" panose="02020603050405020304" pitchFamily="18" charset="0"/>
                <a:cs typeface="Times New Roman" panose="02020603050405020304" pitchFamily="18" charset="0"/>
              </a:rPr>
              <a:t>c</a:t>
            </a:r>
            <a:r>
              <a:rPr lang="en-US" sz="2600" dirty="0">
                <a:latin typeface="Times New Roman" panose="02020603050405020304" pitchFamily="18" charset="0"/>
                <a:cs typeface="Times New Roman" panose="02020603050405020304" pitchFamily="18" charset="0"/>
              </a:rPr>
              <a:t> – 1) = (3 – 1)(4 – 1) = 6     degrees of freedom</a:t>
            </a:r>
            <a:r>
              <a:rPr lang="en-US" dirty="0"/>
              <a:t>.</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Because the test statistic, 224.116, is greater than the critical value,                        we reject the null hypothesis.</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64</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Performing a Chi-Square Test for </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(5 of 10)                              </a:t>
            </a:r>
            <a:r>
              <a:rPr lang="en-US" sz="2400" i="1" dirty="0">
                <a:solidFill>
                  <a:schemeClr val="dk1"/>
                </a:solidFill>
              </a:rPr>
              <a:t>Independence </a:t>
            </a:r>
            <a:endParaRPr i="1" dirty="0"/>
          </a:p>
        </p:txBody>
      </p:sp>
      <p:graphicFrame>
        <p:nvGraphicFramePr>
          <p:cNvPr id="5" name="Object 4">
            <a:extLst>
              <a:ext uri="{FF2B5EF4-FFF2-40B4-BE49-F238E27FC236}">
                <a16:creationId xmlns:a16="http://schemas.microsoft.com/office/drawing/2014/main" id="{3F053904-F93A-45A0-939D-A902F21DD5E6}"/>
              </a:ext>
            </a:extLst>
          </p:cNvPr>
          <p:cNvGraphicFramePr>
            <a:graphicFrameLocks noChangeAspect="1"/>
          </p:cNvGraphicFramePr>
          <p:nvPr>
            <p:extLst>
              <p:ext uri="{D42A27DB-BD31-4B8C-83A1-F6EECF244321}">
                <p14:modId xmlns:p14="http://schemas.microsoft.com/office/powerpoint/2010/main" val="3222001731"/>
              </p:ext>
            </p:extLst>
          </p:nvPr>
        </p:nvGraphicFramePr>
        <p:xfrm>
          <a:off x="1492775" y="1933356"/>
          <a:ext cx="1816100" cy="444500"/>
        </p:xfrm>
        <a:graphic>
          <a:graphicData uri="http://schemas.openxmlformats.org/presentationml/2006/ole">
            <mc:AlternateContent xmlns:mc="http://schemas.openxmlformats.org/markup-compatibility/2006">
              <mc:Choice xmlns:v="urn:schemas-microsoft-com:vml" Requires="v">
                <p:oleObj spid="_x0000_s27792" name="Equation" r:id="rId4" imgW="1815840" imgH="444240" progId="Equation.DSMT4">
                  <p:embed/>
                </p:oleObj>
              </mc:Choice>
              <mc:Fallback>
                <p:oleObj name="Equation" r:id="rId4" imgW="1815840" imgH="444240" progId="Equation.DSMT4">
                  <p:embed/>
                  <p:pic>
                    <p:nvPicPr>
                      <p:cNvPr id="0" name=""/>
                      <p:cNvPicPr/>
                      <p:nvPr/>
                    </p:nvPicPr>
                    <p:blipFill>
                      <a:blip r:embed="rId5"/>
                      <a:stretch>
                        <a:fillRect/>
                      </a:stretch>
                    </p:blipFill>
                    <p:spPr>
                      <a:xfrm>
                        <a:off x="1492775" y="1933356"/>
                        <a:ext cx="1816100" cy="444500"/>
                      </a:xfrm>
                      <a:prstGeom prst="rect">
                        <a:avLst/>
                      </a:prstGeom>
                    </p:spPr>
                  </p:pic>
                </p:oleObj>
              </mc:Fallback>
            </mc:AlternateContent>
          </a:graphicData>
        </a:graphic>
      </p:graphicFrame>
      <p:pic>
        <p:nvPicPr>
          <p:cNvPr id="8" name="Picture 7" descr="A close up of a logo&#10;&#10;Description automatically generated">
            <a:extLst>
              <a:ext uri="{FF2B5EF4-FFF2-40B4-BE49-F238E27FC236}">
                <a16:creationId xmlns:a16="http://schemas.microsoft.com/office/drawing/2014/main" id="{CD5E8377-FA6B-4795-8440-C3AC4C8C0397}"/>
              </a:ext>
            </a:extLst>
          </p:cNvPr>
          <p:cNvPicPr>
            <a:picLocks noChangeAspect="1"/>
          </p:cNvPicPr>
          <p:nvPr/>
        </p:nvPicPr>
        <p:blipFill>
          <a:blip r:embed="rId6"/>
          <a:stretch>
            <a:fillRect/>
          </a:stretch>
        </p:blipFill>
        <p:spPr>
          <a:xfrm>
            <a:off x="3191121" y="2605450"/>
            <a:ext cx="4014224" cy="2711201"/>
          </a:xfrm>
          <a:prstGeom prst="rect">
            <a:avLst/>
          </a:prstGeom>
        </p:spPr>
      </p:pic>
      <p:graphicFrame>
        <p:nvGraphicFramePr>
          <p:cNvPr id="9" name="Object 8">
            <a:extLst>
              <a:ext uri="{FF2B5EF4-FFF2-40B4-BE49-F238E27FC236}">
                <a16:creationId xmlns:a16="http://schemas.microsoft.com/office/drawing/2014/main" id="{CA6DD0DB-9911-48E2-99D7-9A0106B64BE8}"/>
              </a:ext>
            </a:extLst>
          </p:cNvPr>
          <p:cNvGraphicFramePr>
            <a:graphicFrameLocks noChangeAspect="1"/>
          </p:cNvGraphicFramePr>
          <p:nvPr>
            <p:extLst>
              <p:ext uri="{D42A27DB-BD31-4B8C-83A1-F6EECF244321}">
                <p14:modId xmlns:p14="http://schemas.microsoft.com/office/powerpoint/2010/main" val="722327570"/>
              </p:ext>
            </p:extLst>
          </p:nvPr>
        </p:nvGraphicFramePr>
        <p:xfrm>
          <a:off x="1251686" y="5857013"/>
          <a:ext cx="1892300" cy="444500"/>
        </p:xfrm>
        <a:graphic>
          <a:graphicData uri="http://schemas.openxmlformats.org/presentationml/2006/ole">
            <mc:AlternateContent xmlns:mc="http://schemas.openxmlformats.org/markup-compatibility/2006">
              <mc:Choice xmlns:v="urn:schemas-microsoft-com:vml" Requires="v">
                <p:oleObj spid="_x0000_s27793" name="Equation" r:id="rId7" imgW="1892160" imgH="444240" progId="Equation.DSMT4">
                  <p:embed/>
                </p:oleObj>
              </mc:Choice>
              <mc:Fallback>
                <p:oleObj name="Equation" r:id="rId7" imgW="1892160" imgH="444240" progId="Equation.DSMT4">
                  <p:embed/>
                  <p:pic>
                    <p:nvPicPr>
                      <p:cNvPr id="0" name=""/>
                      <p:cNvPicPr/>
                      <p:nvPr/>
                    </p:nvPicPr>
                    <p:blipFill>
                      <a:blip r:embed="rId8"/>
                      <a:stretch>
                        <a:fillRect/>
                      </a:stretch>
                    </p:blipFill>
                    <p:spPr>
                      <a:xfrm>
                        <a:off x="1251686" y="5857013"/>
                        <a:ext cx="1892300" cy="444500"/>
                      </a:xfrm>
                      <a:prstGeom prst="rect">
                        <a:avLst/>
                      </a:prstGeom>
                    </p:spPr>
                  </p:pic>
                </p:oleObj>
              </mc:Fallback>
            </mc:AlternateContent>
          </a:graphicData>
        </a:graphic>
      </p:graphicFrame>
    </p:spTree>
    <p:extLst>
      <p:ext uri="{BB962C8B-B14F-4D97-AF65-F5344CB8AC3E}">
        <p14:creationId xmlns:p14="http://schemas.microsoft.com/office/powerpoint/2010/main" val="4046008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9" end="9"/>
                                            </p:txEl>
                                          </p:spTgt>
                                        </p:tgtEl>
                                        <p:attrNameLst>
                                          <p:attrName>style.visibility</p:attrName>
                                        </p:attrNameLst>
                                      </p:cBhvr>
                                      <p:to>
                                        <p:strVal val="visible"/>
                                      </p:to>
                                    </p:set>
                                    <p:animEffect transition="in" filter="fade">
                                      <p:cBhvr>
                                        <p:cTn id="7" dur="500"/>
                                        <p:tgtEl>
                                          <p:spTgt spid="4">
                                            <p:txEl>
                                              <p:pRg st="9" end="9"/>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2092881"/>
          </a:xfrm>
          <a:prstGeom prst="rect">
            <a:avLst/>
          </a:prstGeom>
        </p:spPr>
        <p:txBody>
          <a:bodyPr wrap="square">
            <a:spAutoFit/>
          </a:bodyPr>
          <a:lstStyle/>
          <a:p>
            <a:r>
              <a:rPr lang="en-US" sz="2600" b="1" dirty="0"/>
              <a:t>Classical Approach</a:t>
            </a:r>
          </a:p>
          <a:p>
            <a:r>
              <a:rPr lang="en-US" sz="2600" b="1" i="1" dirty="0">
                <a:latin typeface="Times New Roman" panose="02020603050405020304" pitchFamily="18" charset="0"/>
                <a:cs typeface="Times New Roman" panose="02020603050405020304" pitchFamily="18" charset="0"/>
              </a:rPr>
              <a:t>Step 5 </a:t>
            </a:r>
            <a:r>
              <a:rPr lang="en-US" sz="2600" dirty="0">
                <a:latin typeface="Times New Roman" panose="02020603050405020304" pitchFamily="18" charset="0"/>
                <a:cs typeface="Times New Roman" panose="02020603050405020304" pitchFamily="18" charset="0"/>
              </a:rPr>
              <a:t>The data suggest there is sufficient evidence, at the </a:t>
            </a:r>
            <a:br>
              <a:rPr lang="en-US" sz="2600" dirty="0">
                <a:latin typeface="Times New Roman" panose="02020603050405020304" pitchFamily="18" charset="0"/>
                <a:cs typeface="Times New Roman" panose="02020603050405020304" pitchFamily="18" charset="0"/>
              </a:rPr>
            </a:b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0.05 level of significance, to conclude that happiness and marital status are dependent. We conclude that happiness and marital status are associated with each other.</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65</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Performing a Chi-Square Test for </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(6 of 10)                              </a:t>
            </a:r>
            <a:r>
              <a:rPr lang="en-US" sz="2400" i="1" dirty="0">
                <a:solidFill>
                  <a:schemeClr val="dk1"/>
                </a:solidFill>
              </a:rPr>
              <a:t>Independence </a:t>
            </a:r>
            <a:endParaRPr i="1" dirty="0"/>
          </a:p>
        </p:txBody>
      </p:sp>
    </p:spTree>
    <p:extLst>
      <p:ext uri="{BB962C8B-B14F-4D97-AF65-F5344CB8AC3E}">
        <p14:creationId xmlns:p14="http://schemas.microsoft.com/office/powerpoint/2010/main" val="201273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1292662"/>
          </a:xfrm>
          <a:prstGeom prst="rect">
            <a:avLst/>
          </a:prstGeom>
        </p:spPr>
        <p:txBody>
          <a:bodyPr wrap="square">
            <a:spAutoFit/>
          </a:bodyPr>
          <a:lstStyle/>
          <a:p>
            <a:r>
              <a:rPr lang="en-US" sz="2600" b="1" i="1" dirty="0"/>
              <a:t>P</a:t>
            </a:r>
            <a:r>
              <a:rPr lang="en-US" sz="2600" b="1" dirty="0"/>
              <a:t>-Value Approach</a:t>
            </a:r>
          </a:p>
          <a:p>
            <a:r>
              <a:rPr lang="en-US" sz="2600" b="1" i="1" dirty="0">
                <a:latin typeface="Times New Roman" panose="02020603050405020304" pitchFamily="18" charset="0"/>
                <a:cs typeface="Times New Roman" panose="02020603050405020304" pitchFamily="18" charset="0"/>
              </a:rPr>
              <a:t>By Hand Step 3 (continued)</a:t>
            </a:r>
          </a:p>
          <a:p>
            <a:r>
              <a:rPr lang="en-US" sz="2600" b="1" dirty="0">
                <a:latin typeface="Times New Roman" panose="02020603050405020304" pitchFamily="18" charset="0"/>
                <a:cs typeface="Times New Roman" panose="02020603050405020304" pitchFamily="18" charset="0"/>
              </a:rPr>
              <a:t>(c)</a:t>
            </a:r>
            <a:endParaRPr lang="en-US" sz="2600" dirty="0">
              <a:latin typeface="Times New Roman" panose="02020603050405020304" pitchFamily="18" charset="0"/>
              <a:cs typeface="Times New Roman" panose="02020603050405020304" pitchFamily="18" charset="0"/>
            </a:endParaRP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66</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Performing a Chi-Square Test for </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(7 of 10)                              </a:t>
            </a:r>
            <a:r>
              <a:rPr lang="en-US" sz="2400" i="1" dirty="0">
                <a:solidFill>
                  <a:schemeClr val="dk1"/>
                </a:solidFill>
              </a:rPr>
              <a:t>Independence </a:t>
            </a:r>
            <a:endParaRPr i="1" dirty="0"/>
          </a:p>
        </p:txBody>
      </p:sp>
      <p:graphicFrame>
        <p:nvGraphicFramePr>
          <p:cNvPr id="2" name="Object 1">
            <a:extLst>
              <a:ext uri="{FF2B5EF4-FFF2-40B4-BE49-F238E27FC236}">
                <a16:creationId xmlns:a16="http://schemas.microsoft.com/office/drawing/2014/main" id="{11CD48FB-9466-42AD-82D9-2804FB85D1B9}"/>
              </a:ext>
            </a:extLst>
          </p:cNvPr>
          <p:cNvGraphicFramePr>
            <a:graphicFrameLocks noChangeAspect="1"/>
          </p:cNvGraphicFramePr>
          <p:nvPr>
            <p:extLst>
              <p:ext uri="{D42A27DB-BD31-4B8C-83A1-F6EECF244321}">
                <p14:modId xmlns:p14="http://schemas.microsoft.com/office/powerpoint/2010/main" val="2871919233"/>
              </p:ext>
            </p:extLst>
          </p:nvPr>
        </p:nvGraphicFramePr>
        <p:xfrm>
          <a:off x="546100" y="2507653"/>
          <a:ext cx="8051800" cy="2413000"/>
        </p:xfrm>
        <a:graphic>
          <a:graphicData uri="http://schemas.openxmlformats.org/presentationml/2006/ole">
            <mc:AlternateContent xmlns:mc="http://schemas.openxmlformats.org/markup-compatibility/2006">
              <mc:Choice xmlns:v="urn:schemas-microsoft-com:vml" Requires="v">
                <p:oleObj spid="_x0000_s28744" name="Equation" r:id="rId4" imgW="8051760" imgH="2412720" progId="Equation.DSMT4">
                  <p:embed/>
                </p:oleObj>
              </mc:Choice>
              <mc:Fallback>
                <p:oleObj name="Equation" r:id="rId4" imgW="8051760" imgH="2412720" progId="Equation.DSMT4">
                  <p:embed/>
                  <p:pic>
                    <p:nvPicPr>
                      <p:cNvPr id="2" name="Object 1">
                        <a:extLst>
                          <a:ext uri="{FF2B5EF4-FFF2-40B4-BE49-F238E27FC236}">
                            <a16:creationId xmlns:a16="http://schemas.microsoft.com/office/drawing/2014/main" id="{11CD48FB-9466-42AD-82D9-2804FB85D1B9}"/>
                          </a:ext>
                        </a:extLst>
                      </p:cNvPr>
                      <p:cNvPicPr/>
                      <p:nvPr/>
                    </p:nvPicPr>
                    <p:blipFill>
                      <a:blip r:embed="rId5"/>
                      <a:stretch>
                        <a:fillRect/>
                      </a:stretch>
                    </p:blipFill>
                    <p:spPr>
                      <a:xfrm>
                        <a:off x="546100" y="2507653"/>
                        <a:ext cx="8051800" cy="2413000"/>
                      </a:xfrm>
                      <a:prstGeom prst="rect">
                        <a:avLst/>
                      </a:prstGeom>
                    </p:spPr>
                  </p:pic>
                </p:oleObj>
              </mc:Fallback>
            </mc:AlternateContent>
          </a:graphicData>
        </a:graphic>
      </p:graphicFrame>
    </p:spTree>
    <p:extLst>
      <p:ext uri="{BB962C8B-B14F-4D97-AF65-F5344CB8AC3E}">
        <p14:creationId xmlns:p14="http://schemas.microsoft.com/office/powerpoint/2010/main" val="3835321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4893647"/>
          </a:xfrm>
          <a:prstGeom prst="rect">
            <a:avLst/>
          </a:prstGeom>
        </p:spPr>
        <p:txBody>
          <a:bodyPr wrap="square">
            <a:spAutoFit/>
          </a:bodyPr>
          <a:lstStyle/>
          <a:p>
            <a:r>
              <a:rPr lang="en-US" sz="2600" b="1" i="1" dirty="0"/>
              <a:t>P</a:t>
            </a:r>
            <a:r>
              <a:rPr lang="en-US" sz="2600" b="1" dirty="0"/>
              <a:t>-Value Approach</a:t>
            </a:r>
          </a:p>
          <a:p>
            <a:r>
              <a:rPr lang="en-US" sz="2600" b="1" dirty="0">
                <a:latin typeface="Times New Roman" panose="02020603050405020304" pitchFamily="18" charset="0"/>
                <a:cs typeface="Times New Roman" panose="02020603050405020304" pitchFamily="18" charset="0"/>
              </a:rPr>
              <a:t>(d) </a:t>
            </a:r>
            <a:r>
              <a:rPr lang="en-US" sz="2600" dirty="0">
                <a:latin typeface="Times New Roman" panose="02020603050405020304" pitchFamily="18" charset="0"/>
                <a:cs typeface="Times New Roman" panose="02020603050405020304" pitchFamily="18" charset="0"/>
              </a:rPr>
              <a:t>There are </a:t>
            </a:r>
            <a:r>
              <a:rPr lang="en-US" sz="2600" i="1" dirty="0">
                <a:latin typeface="Times New Roman" panose="02020603050405020304" pitchFamily="18" charset="0"/>
                <a:cs typeface="Times New Roman" panose="02020603050405020304" pitchFamily="18" charset="0"/>
              </a:rPr>
              <a:t>r </a:t>
            </a:r>
            <a:r>
              <a:rPr lang="en-US" sz="2600" dirty="0">
                <a:latin typeface="Times New Roman" panose="02020603050405020304" pitchFamily="18" charset="0"/>
                <a:cs typeface="Times New Roman" panose="02020603050405020304" pitchFamily="18" charset="0"/>
              </a:rPr>
              <a:t>= 3 rows and </a:t>
            </a:r>
            <a:r>
              <a:rPr lang="en-US" sz="2600" i="1" dirty="0">
                <a:latin typeface="Times New Roman" panose="02020603050405020304" pitchFamily="18" charset="0"/>
                <a:cs typeface="Times New Roman" panose="02020603050405020304" pitchFamily="18" charset="0"/>
              </a:rPr>
              <a:t>c </a:t>
            </a:r>
            <a:r>
              <a:rPr lang="en-US" sz="2600" dirty="0">
                <a:latin typeface="Times New Roman" panose="02020603050405020304" pitchFamily="18" charset="0"/>
                <a:cs typeface="Times New Roman" panose="02020603050405020304" pitchFamily="18" charset="0"/>
              </a:rPr>
              <a:t>= 4 columns, so we find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using (</a:t>
            </a:r>
            <a:r>
              <a:rPr lang="en-US" sz="2600" i="1" dirty="0">
                <a:latin typeface="Times New Roman" panose="02020603050405020304" pitchFamily="18" charset="0"/>
                <a:cs typeface="Times New Roman" panose="02020603050405020304" pitchFamily="18" charset="0"/>
              </a:rPr>
              <a:t>r</a:t>
            </a:r>
            <a:r>
              <a:rPr lang="en-US" sz="2600" dirty="0">
                <a:latin typeface="Times New Roman" panose="02020603050405020304" pitchFamily="18" charset="0"/>
                <a:cs typeface="Times New Roman" panose="02020603050405020304" pitchFamily="18" charset="0"/>
              </a:rPr>
              <a:t> – 1)(</a:t>
            </a:r>
            <a:r>
              <a:rPr lang="en-US" sz="2600" i="1" dirty="0">
                <a:latin typeface="Times New Roman" panose="02020603050405020304" pitchFamily="18" charset="0"/>
                <a:cs typeface="Times New Roman" panose="02020603050405020304" pitchFamily="18" charset="0"/>
              </a:rPr>
              <a:t>c</a:t>
            </a:r>
            <a:r>
              <a:rPr lang="en-US" sz="2600" dirty="0">
                <a:latin typeface="Times New Roman" panose="02020603050405020304" pitchFamily="18" charset="0"/>
                <a:cs typeface="Times New Roman" panose="02020603050405020304" pitchFamily="18" charset="0"/>
              </a:rPr>
              <a:t> – 1) = (3 – 1)(4 – 1) = 6 degrees of freedom.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is the area under the chi-square distribution with 6 degrees of freedom to the right of</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Using Table VIII, we find the row that corresponds to 6 degrees of freedom. The value of 224.116 is greater than 18.548. The area under the chi-square distribution to the right of 18.548 is 0.005. Because 224.116 is greater than 18.548,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is less than 0.005, so we have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&lt; 0.005.</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67</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Performing a Chi-Square Test for </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(8 of 10)                              </a:t>
            </a:r>
            <a:r>
              <a:rPr lang="en-US" sz="2400" i="1" dirty="0">
                <a:solidFill>
                  <a:schemeClr val="dk1"/>
                </a:solidFill>
              </a:rPr>
              <a:t>Independence </a:t>
            </a:r>
            <a:endParaRPr i="1" dirty="0"/>
          </a:p>
        </p:txBody>
      </p:sp>
      <p:graphicFrame>
        <p:nvGraphicFramePr>
          <p:cNvPr id="5" name="Object 4">
            <a:extLst>
              <a:ext uri="{FF2B5EF4-FFF2-40B4-BE49-F238E27FC236}">
                <a16:creationId xmlns:a16="http://schemas.microsoft.com/office/drawing/2014/main" id="{3F053904-F93A-45A0-939D-A902F21DD5E6}"/>
              </a:ext>
            </a:extLst>
          </p:cNvPr>
          <p:cNvGraphicFramePr>
            <a:graphicFrameLocks noChangeAspect="1"/>
          </p:cNvGraphicFramePr>
          <p:nvPr>
            <p:extLst>
              <p:ext uri="{D42A27DB-BD31-4B8C-83A1-F6EECF244321}">
                <p14:modId xmlns:p14="http://schemas.microsoft.com/office/powerpoint/2010/main" val="541274993"/>
              </p:ext>
            </p:extLst>
          </p:nvPr>
        </p:nvGraphicFramePr>
        <p:xfrm>
          <a:off x="365371" y="3047403"/>
          <a:ext cx="1879600" cy="444500"/>
        </p:xfrm>
        <a:graphic>
          <a:graphicData uri="http://schemas.openxmlformats.org/presentationml/2006/ole">
            <mc:AlternateContent xmlns:mc="http://schemas.openxmlformats.org/markup-compatibility/2006">
              <mc:Choice xmlns:v="urn:schemas-microsoft-com:vml" Requires="v">
                <p:oleObj spid="_x0000_s29768" name="Equation" r:id="rId4" imgW="1879560" imgH="444240" progId="Equation.DSMT4">
                  <p:embed/>
                </p:oleObj>
              </mc:Choice>
              <mc:Fallback>
                <p:oleObj name="Equation" r:id="rId4" imgW="1879560" imgH="444240" progId="Equation.DSMT4">
                  <p:embed/>
                  <p:pic>
                    <p:nvPicPr>
                      <p:cNvPr id="5" name="Object 4">
                        <a:extLst>
                          <a:ext uri="{FF2B5EF4-FFF2-40B4-BE49-F238E27FC236}">
                            <a16:creationId xmlns:a16="http://schemas.microsoft.com/office/drawing/2014/main" id="{3F053904-F93A-45A0-939D-A902F21DD5E6}"/>
                          </a:ext>
                        </a:extLst>
                      </p:cNvPr>
                      <p:cNvPicPr/>
                      <p:nvPr/>
                    </p:nvPicPr>
                    <p:blipFill>
                      <a:blip r:embed="rId5"/>
                      <a:stretch>
                        <a:fillRect/>
                      </a:stretch>
                    </p:blipFill>
                    <p:spPr>
                      <a:xfrm>
                        <a:off x="365371" y="3047403"/>
                        <a:ext cx="1879600" cy="444500"/>
                      </a:xfrm>
                      <a:prstGeom prst="rect">
                        <a:avLst/>
                      </a:prstGeom>
                    </p:spPr>
                  </p:pic>
                </p:oleObj>
              </mc:Fallback>
            </mc:AlternateContent>
          </a:graphicData>
        </a:graphic>
      </p:graphicFrame>
    </p:spTree>
    <p:extLst>
      <p:ext uri="{BB962C8B-B14F-4D97-AF65-F5344CB8AC3E}">
        <p14:creationId xmlns:p14="http://schemas.microsoft.com/office/powerpoint/2010/main" val="1853606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2092881"/>
          </a:xfrm>
          <a:prstGeom prst="rect">
            <a:avLst/>
          </a:prstGeom>
        </p:spPr>
        <p:txBody>
          <a:bodyPr wrap="square">
            <a:spAutoFit/>
          </a:bodyPr>
          <a:lstStyle/>
          <a:p>
            <a:r>
              <a:rPr lang="en-US" sz="2600" b="1" i="1" dirty="0"/>
              <a:t>P</a:t>
            </a:r>
            <a:r>
              <a:rPr lang="en-US" sz="2600" b="1" dirty="0"/>
              <a:t>-Value Approach</a:t>
            </a:r>
          </a:p>
          <a:p>
            <a:r>
              <a:rPr lang="en-US" sz="2600" b="1" i="1" dirty="0">
                <a:latin typeface="Times New Roman" panose="02020603050405020304" pitchFamily="18" charset="0"/>
                <a:cs typeface="Times New Roman" panose="02020603050405020304" pitchFamily="18" charset="0"/>
              </a:rPr>
              <a:t>Technology Step 3 (continued)</a:t>
            </a:r>
          </a:p>
          <a:p>
            <a:r>
              <a:rPr lang="en-US" sz="2600" b="1" dirty="0">
                <a:latin typeface="Times New Roman" panose="02020603050405020304" pitchFamily="18" charset="0"/>
                <a:cs typeface="Times New Roman" panose="02020603050405020304" pitchFamily="18" charset="0"/>
              </a:rPr>
              <a:t>(c) </a:t>
            </a:r>
            <a:r>
              <a:rPr lang="en-US" sz="2600" dirty="0">
                <a:latin typeface="Times New Roman" panose="02020603050405020304" pitchFamily="18" charset="0"/>
                <a:cs typeface="Times New Roman" panose="02020603050405020304" pitchFamily="18" charset="0"/>
              </a:rPr>
              <a:t>The figure shows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obtained from a TI-84 Plus C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graphing calculator using the Calculate feature.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is reported as                     which is very close to 0.</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68</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Performing a Chi-Square Test for </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(9 of 10)                              </a:t>
            </a:r>
            <a:r>
              <a:rPr lang="en-US" sz="2400" i="1" dirty="0">
                <a:solidFill>
                  <a:schemeClr val="dk1"/>
                </a:solidFill>
              </a:rPr>
              <a:t>Independence </a:t>
            </a:r>
            <a:endParaRPr i="1" dirty="0"/>
          </a:p>
        </p:txBody>
      </p:sp>
      <p:graphicFrame>
        <p:nvGraphicFramePr>
          <p:cNvPr id="2" name="Object 1">
            <a:extLst>
              <a:ext uri="{FF2B5EF4-FFF2-40B4-BE49-F238E27FC236}">
                <a16:creationId xmlns:a16="http://schemas.microsoft.com/office/drawing/2014/main" id="{C2268A40-96A3-4B3A-9E0E-A3029A3232D5}"/>
              </a:ext>
            </a:extLst>
          </p:cNvPr>
          <p:cNvGraphicFramePr>
            <a:graphicFrameLocks noChangeAspect="1"/>
          </p:cNvGraphicFramePr>
          <p:nvPr>
            <p:extLst>
              <p:ext uri="{D42A27DB-BD31-4B8C-83A1-F6EECF244321}">
                <p14:modId xmlns:p14="http://schemas.microsoft.com/office/powerpoint/2010/main" val="2358623253"/>
              </p:ext>
            </p:extLst>
          </p:nvPr>
        </p:nvGraphicFramePr>
        <p:xfrm>
          <a:off x="2747913" y="2733428"/>
          <a:ext cx="1549400" cy="419100"/>
        </p:xfrm>
        <a:graphic>
          <a:graphicData uri="http://schemas.openxmlformats.org/presentationml/2006/ole">
            <mc:AlternateContent xmlns:mc="http://schemas.openxmlformats.org/markup-compatibility/2006">
              <mc:Choice xmlns:v="urn:schemas-microsoft-com:vml" Requires="v">
                <p:oleObj spid="_x0000_s30792" name="Equation" r:id="rId4" imgW="1549080" imgH="419040" progId="Equation.DSMT4">
                  <p:embed/>
                </p:oleObj>
              </mc:Choice>
              <mc:Fallback>
                <p:oleObj name="Equation" r:id="rId4" imgW="1549080" imgH="419040" progId="Equation.DSMT4">
                  <p:embed/>
                  <p:pic>
                    <p:nvPicPr>
                      <p:cNvPr id="0" name=""/>
                      <p:cNvPicPr/>
                      <p:nvPr/>
                    </p:nvPicPr>
                    <p:blipFill>
                      <a:blip r:embed="rId5"/>
                      <a:stretch>
                        <a:fillRect/>
                      </a:stretch>
                    </p:blipFill>
                    <p:spPr>
                      <a:xfrm>
                        <a:off x="2747913" y="2733428"/>
                        <a:ext cx="1549400" cy="419100"/>
                      </a:xfrm>
                      <a:prstGeom prst="rect">
                        <a:avLst/>
                      </a:prstGeom>
                    </p:spPr>
                  </p:pic>
                </p:oleObj>
              </mc:Fallback>
            </mc:AlternateContent>
          </a:graphicData>
        </a:graphic>
      </p:graphicFrame>
      <p:pic>
        <p:nvPicPr>
          <p:cNvPr id="5" name="Picture 4" descr="A screenshot of a cell phone&#10;&#10;Description automatically generated">
            <a:extLst>
              <a:ext uri="{FF2B5EF4-FFF2-40B4-BE49-F238E27FC236}">
                <a16:creationId xmlns:a16="http://schemas.microsoft.com/office/drawing/2014/main" id="{386CCD53-D32F-4C02-B3A4-FFAC4443D3AA}"/>
              </a:ext>
            </a:extLst>
          </p:cNvPr>
          <p:cNvPicPr>
            <a:picLocks noChangeAspect="1"/>
          </p:cNvPicPr>
          <p:nvPr/>
        </p:nvPicPr>
        <p:blipFill>
          <a:blip r:embed="rId6"/>
          <a:stretch>
            <a:fillRect/>
          </a:stretch>
        </p:blipFill>
        <p:spPr>
          <a:xfrm>
            <a:off x="3290918" y="3348135"/>
            <a:ext cx="2958090" cy="2240284"/>
          </a:xfrm>
          <a:prstGeom prst="rect">
            <a:avLst/>
          </a:prstGeom>
        </p:spPr>
      </p:pic>
    </p:spTree>
    <p:extLst>
      <p:ext uri="{BB962C8B-B14F-4D97-AF65-F5344CB8AC3E}">
        <p14:creationId xmlns:p14="http://schemas.microsoft.com/office/powerpoint/2010/main" val="3119873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3293209"/>
          </a:xfrm>
          <a:prstGeom prst="rect">
            <a:avLst/>
          </a:prstGeom>
        </p:spPr>
        <p:txBody>
          <a:bodyPr wrap="square">
            <a:spAutoFit/>
          </a:bodyPr>
          <a:lstStyle/>
          <a:p>
            <a:r>
              <a:rPr lang="en-US" sz="2600" b="1" i="1" dirty="0"/>
              <a:t>P</a:t>
            </a:r>
            <a:r>
              <a:rPr lang="en-US" sz="2600" b="1" dirty="0"/>
              <a:t>-Value Approach</a:t>
            </a:r>
          </a:p>
          <a:p>
            <a:r>
              <a:rPr lang="en-US" sz="2600" b="1" i="1" dirty="0">
                <a:latin typeface="Times New Roman" panose="02020603050405020304" pitchFamily="18" charset="0"/>
                <a:cs typeface="Times New Roman" panose="02020603050405020304" pitchFamily="18" charset="0"/>
              </a:rPr>
              <a:t>Step 4 </a:t>
            </a:r>
            <a:r>
              <a:rPr lang="en-US" sz="2600" dirty="0">
                <a:latin typeface="Times New Roman" panose="02020603050405020304" pitchFamily="18" charset="0"/>
                <a:cs typeface="Times New Roman" panose="02020603050405020304" pitchFamily="18" charset="0"/>
              </a:rPr>
              <a:t>Because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is less than the level of significance, we reject the null hypothesis.</a:t>
            </a:r>
          </a:p>
          <a:p>
            <a:endParaRPr lang="en-US" sz="2600"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5 </a:t>
            </a:r>
            <a:r>
              <a:rPr lang="en-US" sz="2600" dirty="0">
                <a:latin typeface="Times New Roman" panose="02020603050405020304" pitchFamily="18" charset="0"/>
                <a:cs typeface="Times New Roman" panose="02020603050405020304" pitchFamily="18" charset="0"/>
              </a:rPr>
              <a:t>The data suggest there is sufficient evidence, at the </a:t>
            </a:r>
            <a:br>
              <a:rPr lang="en-US" sz="2600" dirty="0">
                <a:latin typeface="Times New Roman" panose="02020603050405020304" pitchFamily="18" charset="0"/>
                <a:cs typeface="Times New Roman" panose="02020603050405020304" pitchFamily="18" charset="0"/>
              </a:rPr>
            </a:b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0.05 level of significance, to conclude that happiness and marital status are dependent. We conclude that happiness and marital status are associated with each other.</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69</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Performing a Chi-Square Test for </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(10 of 10)                              </a:t>
            </a:r>
            <a:r>
              <a:rPr lang="en-US" sz="2400" i="1" dirty="0">
                <a:solidFill>
                  <a:schemeClr val="dk1"/>
                </a:solidFill>
              </a:rPr>
              <a:t>Independence </a:t>
            </a:r>
            <a:endParaRPr i="1" dirty="0"/>
          </a:p>
        </p:txBody>
      </p:sp>
    </p:spTree>
    <p:extLst>
      <p:ext uri="{BB962C8B-B14F-4D97-AF65-F5344CB8AC3E}">
        <p14:creationId xmlns:p14="http://schemas.microsoft.com/office/powerpoint/2010/main" val="2531806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87"/>
          <p:cNvSpPr txBox="1">
            <a:spLocks noGrp="1"/>
          </p:cNvSpPr>
          <p:nvPr>
            <p:ph type="body" idx="1"/>
          </p:nvPr>
        </p:nvSpPr>
        <p:spPr>
          <a:xfrm>
            <a:off x="381000" y="1371600"/>
            <a:ext cx="8229600" cy="4373562"/>
          </a:xfrm>
          <a:prstGeom prst="rect">
            <a:avLst/>
          </a:prstGeom>
          <a:noFill/>
          <a:ln>
            <a:noFill/>
          </a:ln>
        </p:spPr>
        <p:txBody>
          <a:bodyPr spcFirstLastPara="1" wrap="square" lIns="91425" tIns="45700" rIns="91425" bIns="45700" anchor="t" anchorCtr="0">
            <a:noAutofit/>
          </a:bodyPr>
          <a:lstStyle/>
          <a:p>
            <a:pPr marL="114300" indent="0">
              <a:buNone/>
            </a:pPr>
            <a:r>
              <a:rPr lang="en-US" sz="3200" dirty="0">
                <a:latin typeface="Times New Roman" panose="02020603050405020304" pitchFamily="18" charset="0"/>
                <a:cs typeface="Times New Roman" panose="02020603050405020304" pitchFamily="18" charset="0"/>
              </a:rPr>
              <a:t>To see the association between happiness and marital status, draw a bar graph of the conditional distribution of happiness by marital status. Recall that a conditional distribution lists the relative frequency of each category of a variable, given a specific value of the other variable in a contingency table.</a:t>
            </a:r>
            <a:endParaRPr sz="3200" dirty="0">
              <a:latin typeface="Times New Roman" panose="02020603050405020304" pitchFamily="18" charset="0"/>
              <a:cs typeface="Times New Roman" panose="02020603050405020304" pitchFamily="18" charset="0"/>
            </a:endParaRPr>
          </a:p>
        </p:txBody>
      </p:sp>
      <p:sp>
        <p:nvSpPr>
          <p:cNvPr id="600" name="Google Shape;600;p87"/>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70</a:t>
            </a:fld>
            <a:endParaRPr/>
          </a:p>
        </p:txBody>
      </p:sp>
    </p:spTree>
    <p:extLst>
      <p:ext uri="{BB962C8B-B14F-4D97-AF65-F5344CB8AC3E}">
        <p14:creationId xmlns:p14="http://schemas.microsoft.com/office/powerpoint/2010/main" val="1207828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1815882"/>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Find the conditional distribution of happiness by marital status for the data in Table 9. Then draw a bar graph that represents the conditional distribution of happiness by marital status.</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71</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Constructing a Conditional Distribution</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 of 6)                                </a:t>
            </a:r>
            <a:r>
              <a:rPr lang="en-US" sz="2400" i="1" dirty="0">
                <a:solidFill>
                  <a:schemeClr val="dk1"/>
                </a:solidFill>
              </a:rPr>
              <a:t>and Bar Graph </a:t>
            </a:r>
            <a:endParaRPr i="1" dirty="0"/>
          </a:p>
        </p:txBody>
      </p:sp>
      <p:pic>
        <p:nvPicPr>
          <p:cNvPr id="3" name="Picture 2" descr="A screenshot of a cell phone&#10;&#10;Description automatically generated">
            <a:extLst>
              <a:ext uri="{FF2B5EF4-FFF2-40B4-BE49-F238E27FC236}">
                <a16:creationId xmlns:a16="http://schemas.microsoft.com/office/drawing/2014/main" id="{8688E80C-7BCC-4A2A-AFE2-E82D28952580}"/>
              </a:ext>
            </a:extLst>
          </p:cNvPr>
          <p:cNvPicPr>
            <a:picLocks noChangeAspect="1"/>
          </p:cNvPicPr>
          <p:nvPr/>
        </p:nvPicPr>
        <p:blipFill>
          <a:blip r:embed="rId3"/>
          <a:stretch>
            <a:fillRect/>
          </a:stretch>
        </p:blipFill>
        <p:spPr>
          <a:xfrm>
            <a:off x="407316" y="3057242"/>
            <a:ext cx="8520260" cy="2115770"/>
          </a:xfrm>
          <a:prstGeom prst="rect">
            <a:avLst/>
          </a:prstGeom>
        </p:spPr>
      </p:pic>
    </p:spTree>
    <p:extLst>
      <p:ext uri="{BB962C8B-B14F-4D97-AF65-F5344CB8AC3E}">
        <p14:creationId xmlns:p14="http://schemas.microsoft.com/office/powerpoint/2010/main" val="3566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4493538"/>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Start with the individuals who are “married.” The relative frequency with which we observe an individual who is “very happy,” given that the individual is “married,” is            </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relative frequency with which we observe an individual who is “pretty happy,” given that the individual is “married,” is</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relative frequency with which we observe an individual who is “not too happy,” given that the individual is “married,” is</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72</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Constructing a Conditional Distribution</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(2 of 6)                                </a:t>
            </a:r>
            <a:r>
              <a:rPr lang="en-US" sz="2400" i="1" dirty="0">
                <a:solidFill>
                  <a:schemeClr val="dk1"/>
                </a:solidFill>
              </a:rPr>
              <a:t>and Bar Graph </a:t>
            </a:r>
            <a:endParaRPr i="1" dirty="0"/>
          </a:p>
        </p:txBody>
      </p:sp>
      <p:graphicFrame>
        <p:nvGraphicFramePr>
          <p:cNvPr id="2" name="Object 1">
            <a:extLst>
              <a:ext uri="{FF2B5EF4-FFF2-40B4-BE49-F238E27FC236}">
                <a16:creationId xmlns:a16="http://schemas.microsoft.com/office/drawing/2014/main" id="{76D30803-0825-4C1C-900A-80B56EA54047}"/>
              </a:ext>
            </a:extLst>
          </p:cNvPr>
          <p:cNvGraphicFramePr>
            <a:graphicFrameLocks noChangeAspect="1"/>
          </p:cNvGraphicFramePr>
          <p:nvPr>
            <p:extLst>
              <p:ext uri="{D42A27DB-BD31-4B8C-83A1-F6EECF244321}">
                <p14:modId xmlns:p14="http://schemas.microsoft.com/office/powerpoint/2010/main" val="3450199848"/>
              </p:ext>
            </p:extLst>
          </p:nvPr>
        </p:nvGraphicFramePr>
        <p:xfrm>
          <a:off x="6876656" y="1974752"/>
          <a:ext cx="1587500" cy="419100"/>
        </p:xfrm>
        <a:graphic>
          <a:graphicData uri="http://schemas.openxmlformats.org/presentationml/2006/ole">
            <mc:AlternateContent xmlns:mc="http://schemas.openxmlformats.org/markup-compatibility/2006">
              <mc:Choice xmlns:v="urn:schemas-microsoft-com:vml" Requires="v">
                <p:oleObj spid="_x0000_s31938" name="Equation" r:id="rId4" imgW="1587240" imgH="419040" progId="Equation.DSMT4">
                  <p:embed/>
                </p:oleObj>
              </mc:Choice>
              <mc:Fallback>
                <p:oleObj name="Equation" r:id="rId4" imgW="1587240" imgH="419040" progId="Equation.DSMT4">
                  <p:embed/>
                  <p:pic>
                    <p:nvPicPr>
                      <p:cNvPr id="0" name=""/>
                      <p:cNvPicPr/>
                      <p:nvPr/>
                    </p:nvPicPr>
                    <p:blipFill>
                      <a:blip r:embed="rId5"/>
                      <a:stretch>
                        <a:fillRect/>
                      </a:stretch>
                    </p:blipFill>
                    <p:spPr>
                      <a:xfrm>
                        <a:off x="6876656" y="1974752"/>
                        <a:ext cx="1587500" cy="41910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44B17E6C-2DBA-412E-8A51-3AF39417100C}"/>
              </a:ext>
            </a:extLst>
          </p:cNvPr>
          <p:cNvGraphicFramePr>
            <a:graphicFrameLocks noChangeAspect="1"/>
          </p:cNvGraphicFramePr>
          <p:nvPr>
            <p:extLst>
              <p:ext uri="{D42A27DB-BD31-4B8C-83A1-F6EECF244321}">
                <p14:modId xmlns:p14="http://schemas.microsoft.com/office/powerpoint/2010/main" val="68215138"/>
              </p:ext>
            </p:extLst>
          </p:nvPr>
        </p:nvGraphicFramePr>
        <p:xfrm>
          <a:off x="403225" y="3505200"/>
          <a:ext cx="1587500" cy="419100"/>
        </p:xfrm>
        <a:graphic>
          <a:graphicData uri="http://schemas.openxmlformats.org/presentationml/2006/ole">
            <mc:AlternateContent xmlns:mc="http://schemas.openxmlformats.org/markup-compatibility/2006">
              <mc:Choice xmlns:v="urn:schemas-microsoft-com:vml" Requires="v">
                <p:oleObj spid="_x0000_s31939" name="Equation" r:id="rId6" imgW="1587240" imgH="419040" progId="Equation.DSMT4">
                  <p:embed/>
                </p:oleObj>
              </mc:Choice>
              <mc:Fallback>
                <p:oleObj name="Equation" r:id="rId6" imgW="1587240" imgH="419040" progId="Equation.DSMT4">
                  <p:embed/>
                  <p:pic>
                    <p:nvPicPr>
                      <p:cNvPr id="0" name=""/>
                      <p:cNvPicPr/>
                      <p:nvPr/>
                    </p:nvPicPr>
                    <p:blipFill>
                      <a:blip r:embed="rId7"/>
                      <a:stretch>
                        <a:fillRect/>
                      </a:stretch>
                    </p:blipFill>
                    <p:spPr>
                      <a:xfrm>
                        <a:off x="403225" y="3505200"/>
                        <a:ext cx="1587500" cy="4191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DE0F6A00-0B61-4C56-A6A7-28B964709D65}"/>
              </a:ext>
            </a:extLst>
          </p:cNvPr>
          <p:cNvGraphicFramePr>
            <a:graphicFrameLocks noChangeAspect="1"/>
          </p:cNvGraphicFramePr>
          <p:nvPr>
            <p:extLst>
              <p:ext uri="{D42A27DB-BD31-4B8C-83A1-F6EECF244321}">
                <p14:modId xmlns:p14="http://schemas.microsoft.com/office/powerpoint/2010/main" val="1406792695"/>
              </p:ext>
            </p:extLst>
          </p:nvPr>
        </p:nvGraphicFramePr>
        <p:xfrm>
          <a:off x="648584" y="5134085"/>
          <a:ext cx="1587500" cy="419100"/>
        </p:xfrm>
        <a:graphic>
          <a:graphicData uri="http://schemas.openxmlformats.org/presentationml/2006/ole">
            <mc:AlternateContent xmlns:mc="http://schemas.openxmlformats.org/markup-compatibility/2006">
              <mc:Choice xmlns:v="urn:schemas-microsoft-com:vml" Requires="v">
                <p:oleObj spid="_x0000_s31940" name="Equation" r:id="rId8" imgW="1587240" imgH="419040" progId="Equation.DSMT4">
                  <p:embed/>
                </p:oleObj>
              </mc:Choice>
              <mc:Fallback>
                <p:oleObj name="Equation" r:id="rId8" imgW="1587240" imgH="419040" progId="Equation.DSMT4">
                  <p:embed/>
                  <p:pic>
                    <p:nvPicPr>
                      <p:cNvPr id="0" name=""/>
                      <p:cNvPicPr/>
                      <p:nvPr/>
                    </p:nvPicPr>
                    <p:blipFill>
                      <a:blip r:embed="rId9"/>
                      <a:stretch>
                        <a:fillRect/>
                      </a:stretch>
                    </p:blipFill>
                    <p:spPr>
                      <a:xfrm>
                        <a:off x="648584" y="5134085"/>
                        <a:ext cx="1587500" cy="419100"/>
                      </a:xfrm>
                      <a:prstGeom prst="rect">
                        <a:avLst/>
                      </a:prstGeom>
                    </p:spPr>
                  </p:pic>
                </p:oleObj>
              </mc:Fallback>
            </mc:AlternateContent>
          </a:graphicData>
        </a:graphic>
      </p:graphicFrame>
    </p:spTree>
    <p:extLst>
      <p:ext uri="{BB962C8B-B14F-4D97-AF65-F5344CB8AC3E}">
        <p14:creationId xmlns:p14="http://schemas.microsoft.com/office/powerpoint/2010/main" val="345835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animEffect transition="in" filter="fade">
                                      <p:cBhvr>
                                        <p:cTn id="15" dur="500"/>
                                        <p:tgtEl>
                                          <p:spTgt spid="4">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4893647"/>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Now compute the relative frequency for each level of happiness, given that the individual is “widowed.” The relative frequency with which we observe an individual who is “very happy,” given that the individual is “widowed,” is</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relative frequency with which we observe an individual who is “pretty happy,” given that the individual is “widowed,” is</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relative frequency with which we observe an individual who is “not too happy,” given that the individual is “widowed,” is</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73</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Constructing a Conditional Distribution</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(3 of 6)                                </a:t>
            </a:r>
            <a:r>
              <a:rPr lang="en-US" sz="2400" i="1" dirty="0">
                <a:solidFill>
                  <a:schemeClr val="dk1"/>
                </a:solidFill>
              </a:rPr>
              <a:t>and Bar Graph </a:t>
            </a:r>
            <a:endParaRPr i="1" dirty="0"/>
          </a:p>
        </p:txBody>
      </p:sp>
      <p:graphicFrame>
        <p:nvGraphicFramePr>
          <p:cNvPr id="2" name="Object 1">
            <a:extLst>
              <a:ext uri="{FF2B5EF4-FFF2-40B4-BE49-F238E27FC236}">
                <a16:creationId xmlns:a16="http://schemas.microsoft.com/office/drawing/2014/main" id="{76D30803-0825-4C1C-900A-80B56EA54047}"/>
              </a:ext>
            </a:extLst>
          </p:cNvPr>
          <p:cNvGraphicFramePr>
            <a:graphicFrameLocks noChangeAspect="1"/>
          </p:cNvGraphicFramePr>
          <p:nvPr>
            <p:extLst>
              <p:ext uri="{D42A27DB-BD31-4B8C-83A1-F6EECF244321}">
                <p14:modId xmlns:p14="http://schemas.microsoft.com/office/powerpoint/2010/main" val="4116703367"/>
              </p:ext>
            </p:extLst>
          </p:nvPr>
        </p:nvGraphicFramePr>
        <p:xfrm>
          <a:off x="7094145" y="2331170"/>
          <a:ext cx="1511300" cy="419100"/>
        </p:xfrm>
        <a:graphic>
          <a:graphicData uri="http://schemas.openxmlformats.org/presentationml/2006/ole">
            <mc:AlternateContent xmlns:mc="http://schemas.openxmlformats.org/markup-compatibility/2006">
              <mc:Choice xmlns:v="urn:schemas-microsoft-com:vml" Requires="v">
                <p:oleObj spid="_x0000_s32962" name="Equation" r:id="rId4" imgW="1511280" imgH="419040" progId="Equation.DSMT4">
                  <p:embed/>
                </p:oleObj>
              </mc:Choice>
              <mc:Fallback>
                <p:oleObj name="Equation" r:id="rId4" imgW="1511280" imgH="419040" progId="Equation.DSMT4">
                  <p:embed/>
                  <p:pic>
                    <p:nvPicPr>
                      <p:cNvPr id="2" name="Object 1">
                        <a:extLst>
                          <a:ext uri="{FF2B5EF4-FFF2-40B4-BE49-F238E27FC236}">
                            <a16:creationId xmlns:a16="http://schemas.microsoft.com/office/drawing/2014/main" id="{76D30803-0825-4C1C-900A-80B56EA54047}"/>
                          </a:ext>
                        </a:extLst>
                      </p:cNvPr>
                      <p:cNvPicPr/>
                      <p:nvPr/>
                    </p:nvPicPr>
                    <p:blipFill>
                      <a:blip r:embed="rId5"/>
                      <a:stretch>
                        <a:fillRect/>
                      </a:stretch>
                    </p:blipFill>
                    <p:spPr>
                      <a:xfrm>
                        <a:off x="7094145" y="2331170"/>
                        <a:ext cx="1511300" cy="419100"/>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D81C54B7-49F6-4AFE-8BED-EF9A22D86711}"/>
              </a:ext>
            </a:extLst>
          </p:cNvPr>
          <p:cNvGraphicFramePr>
            <a:graphicFrameLocks noChangeAspect="1"/>
          </p:cNvGraphicFramePr>
          <p:nvPr>
            <p:extLst>
              <p:ext uri="{D42A27DB-BD31-4B8C-83A1-F6EECF244321}">
                <p14:modId xmlns:p14="http://schemas.microsoft.com/office/powerpoint/2010/main" val="68309681"/>
              </p:ext>
            </p:extLst>
          </p:nvPr>
        </p:nvGraphicFramePr>
        <p:xfrm>
          <a:off x="667911" y="3925366"/>
          <a:ext cx="1511300" cy="419100"/>
        </p:xfrm>
        <a:graphic>
          <a:graphicData uri="http://schemas.openxmlformats.org/presentationml/2006/ole">
            <mc:AlternateContent xmlns:mc="http://schemas.openxmlformats.org/markup-compatibility/2006">
              <mc:Choice xmlns:v="urn:schemas-microsoft-com:vml" Requires="v">
                <p:oleObj spid="_x0000_s32963" name="Equation" r:id="rId6" imgW="1511280" imgH="419040" progId="Equation.DSMT4">
                  <p:embed/>
                </p:oleObj>
              </mc:Choice>
              <mc:Fallback>
                <p:oleObj name="Equation" r:id="rId6" imgW="1511280" imgH="419040" progId="Equation.DSMT4">
                  <p:embed/>
                  <p:pic>
                    <p:nvPicPr>
                      <p:cNvPr id="0" name=""/>
                      <p:cNvPicPr/>
                      <p:nvPr/>
                    </p:nvPicPr>
                    <p:blipFill>
                      <a:blip r:embed="rId7"/>
                      <a:stretch>
                        <a:fillRect/>
                      </a:stretch>
                    </p:blipFill>
                    <p:spPr>
                      <a:xfrm>
                        <a:off x="667911" y="3925366"/>
                        <a:ext cx="1511300" cy="4191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B064245A-FAF3-4406-9CEE-CCE8491BFB8F}"/>
              </a:ext>
            </a:extLst>
          </p:cNvPr>
          <p:cNvGraphicFramePr>
            <a:graphicFrameLocks noChangeAspect="1"/>
          </p:cNvGraphicFramePr>
          <p:nvPr>
            <p:extLst>
              <p:ext uri="{D42A27DB-BD31-4B8C-83A1-F6EECF244321}">
                <p14:modId xmlns:p14="http://schemas.microsoft.com/office/powerpoint/2010/main" val="2444803038"/>
              </p:ext>
            </p:extLst>
          </p:nvPr>
        </p:nvGraphicFramePr>
        <p:xfrm>
          <a:off x="705732" y="5532326"/>
          <a:ext cx="1511300" cy="419100"/>
        </p:xfrm>
        <a:graphic>
          <a:graphicData uri="http://schemas.openxmlformats.org/presentationml/2006/ole">
            <mc:AlternateContent xmlns:mc="http://schemas.openxmlformats.org/markup-compatibility/2006">
              <mc:Choice xmlns:v="urn:schemas-microsoft-com:vml" Requires="v">
                <p:oleObj spid="_x0000_s32964" name="Equation" r:id="rId8" imgW="1511280" imgH="419040" progId="Equation.DSMT4">
                  <p:embed/>
                </p:oleObj>
              </mc:Choice>
              <mc:Fallback>
                <p:oleObj name="Equation" r:id="rId8" imgW="1511280" imgH="419040" progId="Equation.DSMT4">
                  <p:embed/>
                  <p:pic>
                    <p:nvPicPr>
                      <p:cNvPr id="0" name=""/>
                      <p:cNvPicPr/>
                      <p:nvPr/>
                    </p:nvPicPr>
                    <p:blipFill>
                      <a:blip r:embed="rId9"/>
                      <a:stretch>
                        <a:fillRect/>
                      </a:stretch>
                    </p:blipFill>
                    <p:spPr>
                      <a:xfrm>
                        <a:off x="705732" y="5532326"/>
                        <a:ext cx="1511300" cy="419100"/>
                      </a:xfrm>
                      <a:prstGeom prst="rect">
                        <a:avLst/>
                      </a:prstGeom>
                    </p:spPr>
                  </p:pic>
                </p:oleObj>
              </mc:Fallback>
            </mc:AlternateContent>
          </a:graphicData>
        </a:graphic>
      </p:graphicFrame>
    </p:spTree>
    <p:extLst>
      <p:ext uri="{BB962C8B-B14F-4D97-AF65-F5344CB8AC3E}">
        <p14:creationId xmlns:p14="http://schemas.microsoft.com/office/powerpoint/2010/main" val="3534171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animEffect transition="in" filter="fade">
                                      <p:cBhvr>
                                        <p:cTn id="15" dur="500"/>
                                        <p:tgtEl>
                                          <p:spTgt spid="4">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892552"/>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We repeat the process for “divorced/separated” and “never married” and obtain Table 11.</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74</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Constructing a Conditional Distribution</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(4 of 6)                                </a:t>
            </a:r>
            <a:r>
              <a:rPr lang="en-US" sz="2400" i="1" dirty="0">
                <a:solidFill>
                  <a:schemeClr val="dk1"/>
                </a:solidFill>
              </a:rPr>
              <a:t>and Bar Graph </a:t>
            </a:r>
            <a:endParaRPr i="1" dirty="0"/>
          </a:p>
        </p:txBody>
      </p:sp>
      <p:pic>
        <p:nvPicPr>
          <p:cNvPr id="6" name="Picture 5" descr="A screenshot of a cell phone&#10;&#10;Description automatically generated">
            <a:extLst>
              <a:ext uri="{FF2B5EF4-FFF2-40B4-BE49-F238E27FC236}">
                <a16:creationId xmlns:a16="http://schemas.microsoft.com/office/drawing/2014/main" id="{88A0EBE4-AB79-4F23-9F6D-4613A7D8FAFB}"/>
              </a:ext>
            </a:extLst>
          </p:cNvPr>
          <p:cNvPicPr>
            <a:picLocks noChangeAspect="1"/>
          </p:cNvPicPr>
          <p:nvPr/>
        </p:nvPicPr>
        <p:blipFill>
          <a:blip r:embed="rId3"/>
          <a:stretch>
            <a:fillRect/>
          </a:stretch>
        </p:blipFill>
        <p:spPr>
          <a:xfrm>
            <a:off x="311870" y="2117203"/>
            <a:ext cx="8342722" cy="2985775"/>
          </a:xfrm>
          <a:prstGeom prst="rect">
            <a:avLst/>
          </a:prstGeom>
        </p:spPr>
      </p:pic>
    </p:spTree>
    <p:extLst>
      <p:ext uri="{BB962C8B-B14F-4D97-AF65-F5344CB8AC3E}">
        <p14:creationId xmlns:p14="http://schemas.microsoft.com/office/powerpoint/2010/main" val="3846813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11870" y="1097355"/>
            <a:ext cx="8634167" cy="5293757"/>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From the conditional distribution by marital status, the association between happiness and marital status should be apparent. The proportion of individuals who are “very happy” is highest in the “married” category. In addition, the proportion of individuals who are “not too happy” is lowest in the “married” category.</a:t>
            </a:r>
          </a:p>
          <a:p>
            <a:r>
              <a:rPr lang="en-US" sz="2600" dirty="0">
                <a:latin typeface="Times New Roman" panose="02020603050405020304" pitchFamily="18" charset="0"/>
                <a:cs typeface="Times New Roman" panose="02020603050405020304" pitchFamily="18" charset="0"/>
              </a:rPr>
              <a:t>The figure on the next slide shows the graph of the conditional distribution. The blue bars represent the proportion of individuals who are “Very Happy” for each marital status, the green bars represent the proportion of individuals who are “Pretty Happy” for each marital status, and the orange bars represent the proportion of individuals who are “Not Too Happy” for each marital status. </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75</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Constructing a Conditional Distribution</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(5 of 6)                                </a:t>
            </a:r>
            <a:r>
              <a:rPr lang="en-US" sz="2400" i="1" dirty="0">
                <a:solidFill>
                  <a:schemeClr val="dk1"/>
                </a:solidFill>
              </a:rPr>
              <a:t>and Bar Graph </a:t>
            </a:r>
            <a:endParaRPr i="1" dirty="0"/>
          </a:p>
        </p:txBody>
      </p:sp>
    </p:spTree>
    <p:extLst>
      <p:ext uri="{BB962C8B-B14F-4D97-AF65-F5344CB8AC3E}">
        <p14:creationId xmlns:p14="http://schemas.microsoft.com/office/powerpoint/2010/main" val="547061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77858" y="1097355"/>
            <a:ext cx="8634167" cy="5293757"/>
          </a:xfrm>
          <a:prstGeom prst="rect">
            <a:avLst/>
          </a:prstGeom>
        </p:spPr>
        <p:txBody>
          <a:bodyPr wrap="square">
            <a:spAutoFit/>
          </a:bodyPr>
          <a:lstStyle/>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From the bar graph, it is clear that a higher proportion of married individuals are “very happy” compared with the other categories of marital status.</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76</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Constructing a Conditional Distribution</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(6 of 6)                                </a:t>
            </a:r>
            <a:r>
              <a:rPr lang="en-US" sz="2400" i="1" dirty="0">
                <a:solidFill>
                  <a:schemeClr val="dk1"/>
                </a:solidFill>
              </a:rPr>
              <a:t>and Bar Graph </a:t>
            </a:r>
            <a:endParaRPr i="1" dirty="0"/>
          </a:p>
        </p:txBody>
      </p:sp>
      <p:pic>
        <p:nvPicPr>
          <p:cNvPr id="6" name="Picture 5" descr="A screenshot of a cell phone&#10;&#10;Description automatically generated">
            <a:extLst>
              <a:ext uri="{FF2B5EF4-FFF2-40B4-BE49-F238E27FC236}">
                <a16:creationId xmlns:a16="http://schemas.microsoft.com/office/drawing/2014/main" id="{22237D25-ADB3-4475-9A2C-F506D7B225D4}"/>
              </a:ext>
            </a:extLst>
          </p:cNvPr>
          <p:cNvPicPr>
            <a:picLocks noChangeAspect="1"/>
          </p:cNvPicPr>
          <p:nvPr/>
        </p:nvPicPr>
        <p:blipFill>
          <a:blip r:embed="rId3"/>
          <a:stretch>
            <a:fillRect/>
          </a:stretch>
        </p:blipFill>
        <p:spPr>
          <a:xfrm>
            <a:off x="1190225" y="1229369"/>
            <a:ext cx="6763550" cy="37648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49703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0" end="10"/>
                                            </p:txEl>
                                          </p:spTgt>
                                        </p:tgtEl>
                                        <p:attrNameLst>
                                          <p:attrName>style.visibility</p:attrName>
                                        </p:attrNameLst>
                                      </p:cBhvr>
                                      <p:to>
                                        <p:strVal val="visible"/>
                                      </p:to>
                                    </p:set>
                                    <p:animEffect transition="in" filter="fade">
                                      <p:cBhvr>
                                        <p:cTn id="7"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9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accent2"/>
              </a:buClr>
              <a:buSzPts val="4400"/>
              <a:buFont typeface="Arial"/>
              <a:buNone/>
            </a:pPr>
            <a:r>
              <a:rPr lang="en-US" sz="4400" b="1" i="0" u="none" dirty="0">
                <a:solidFill>
                  <a:schemeClr val="accent2"/>
                </a:solidFill>
                <a:latin typeface="Arial"/>
                <a:ea typeface="Arial"/>
                <a:cs typeface="Arial"/>
                <a:sym typeface="Arial"/>
              </a:rPr>
              <a:t>Objective 2</a:t>
            </a:r>
            <a:endParaRPr dirty="0"/>
          </a:p>
        </p:txBody>
      </p:sp>
      <p:sp>
        <p:nvSpPr>
          <p:cNvPr id="630" name="Google Shape;630;p91"/>
          <p:cNvSpPr txBox="1">
            <a:spLocks noGrp="1"/>
          </p:cNvSpPr>
          <p:nvPr>
            <p:ph type="body" idx="1"/>
          </p:nvPr>
        </p:nvSpPr>
        <p:spPr>
          <a:xfrm>
            <a:off x="457200" y="1676400"/>
            <a:ext cx="8229600" cy="4525962"/>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SzPts val="3200"/>
              <a:buFont typeface="Times New Roman"/>
              <a:buChar char="•"/>
            </a:pPr>
            <a:r>
              <a:rPr lang="en-US" sz="3200" b="0" i="0" u="none" dirty="0">
                <a:solidFill>
                  <a:schemeClr val="dk1"/>
                </a:solidFill>
                <a:latin typeface="Times New Roman"/>
                <a:ea typeface="Times New Roman"/>
                <a:cs typeface="Times New Roman"/>
                <a:sym typeface="Times New Roman"/>
              </a:rPr>
              <a:t>Perform a Test for Homogeneity of Proportions</a:t>
            </a:r>
            <a:endParaRPr dirty="0"/>
          </a:p>
        </p:txBody>
      </p:sp>
      <p:sp>
        <p:nvSpPr>
          <p:cNvPr id="631" name="Google Shape;631;p91"/>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77</a:t>
            </a:fld>
            <a:endParaRPr/>
          </a:p>
        </p:txBody>
      </p:sp>
    </p:spTree>
    <p:extLst>
      <p:ext uri="{BB962C8B-B14F-4D97-AF65-F5344CB8AC3E}">
        <p14:creationId xmlns:p14="http://schemas.microsoft.com/office/powerpoint/2010/main" val="4191879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4" name="Rectangle 3">
            <a:extLst>
              <a:ext uri="{FF2B5EF4-FFF2-40B4-BE49-F238E27FC236}">
                <a16:creationId xmlns:a16="http://schemas.microsoft.com/office/drawing/2014/main" id="{45905D99-17A9-41E8-A729-A3AD5E91A839}"/>
              </a:ext>
            </a:extLst>
          </p:cNvPr>
          <p:cNvSpPr/>
          <p:nvPr/>
        </p:nvSpPr>
        <p:spPr>
          <a:xfrm>
            <a:off x="650449" y="1451728"/>
            <a:ext cx="7786541" cy="2534345"/>
          </a:xfrm>
          <a:prstGeom prst="rect">
            <a:avLst/>
          </a:prstGeom>
          <a:solidFill>
            <a:srgbClr val="DEE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6" name="Google Shape;636;p92"/>
          <p:cNvSpPr txBox="1"/>
          <p:nvPr/>
        </p:nvSpPr>
        <p:spPr>
          <a:xfrm>
            <a:off x="1066800" y="1676400"/>
            <a:ext cx="7010400" cy="20415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200"/>
              <a:buFont typeface="Times New Roman"/>
              <a:buNone/>
            </a:pPr>
            <a:r>
              <a:rPr lang="en-US" sz="3200" b="0" i="0" u="none" dirty="0">
                <a:solidFill>
                  <a:schemeClr val="tx1"/>
                </a:solidFill>
                <a:latin typeface="Times New Roman"/>
                <a:ea typeface="Times New Roman"/>
                <a:cs typeface="Times New Roman"/>
                <a:sym typeface="Times New Roman"/>
              </a:rPr>
              <a:t>In a</a:t>
            </a:r>
            <a:r>
              <a:rPr lang="en-US" sz="3200" b="1" i="0" u="none" dirty="0">
                <a:solidFill>
                  <a:schemeClr val="tx1"/>
                </a:solidFill>
                <a:latin typeface="Times New Roman"/>
                <a:ea typeface="Times New Roman"/>
                <a:cs typeface="Times New Roman"/>
                <a:sym typeface="Times New Roman"/>
              </a:rPr>
              <a:t> chi-square test for homogeneity of proportions,</a:t>
            </a:r>
            <a:r>
              <a:rPr lang="en-US" sz="3200" b="0" i="0" u="none" dirty="0">
                <a:solidFill>
                  <a:schemeClr val="tx1"/>
                </a:solidFill>
                <a:latin typeface="Times New Roman"/>
                <a:ea typeface="Times New Roman"/>
                <a:cs typeface="Times New Roman"/>
                <a:sym typeface="Times New Roman"/>
              </a:rPr>
              <a:t> we test whether different populations have the same proportion of individuals with some characteristic.</a:t>
            </a:r>
            <a:endParaRPr dirty="0">
              <a:solidFill>
                <a:schemeClr val="tx1"/>
              </a:solidFill>
            </a:endParaRPr>
          </a:p>
        </p:txBody>
      </p:sp>
      <p:sp>
        <p:nvSpPr>
          <p:cNvPr id="637" name="Google Shape;637;p92"/>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78</a:t>
            </a:fld>
            <a:endParaRPr/>
          </a:p>
        </p:txBody>
      </p:sp>
    </p:spTree>
    <p:extLst>
      <p:ext uri="{BB962C8B-B14F-4D97-AF65-F5344CB8AC3E}">
        <p14:creationId xmlns:p14="http://schemas.microsoft.com/office/powerpoint/2010/main" val="135071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4" name="Rectangle 3">
            <a:extLst>
              <a:ext uri="{FF2B5EF4-FFF2-40B4-BE49-F238E27FC236}">
                <a16:creationId xmlns:a16="http://schemas.microsoft.com/office/drawing/2014/main" id="{5B481300-CADC-474D-AAC6-548F16CDEE29}"/>
              </a:ext>
            </a:extLst>
          </p:cNvPr>
          <p:cNvSpPr/>
          <p:nvPr/>
        </p:nvSpPr>
        <p:spPr>
          <a:xfrm>
            <a:off x="876691" y="1451728"/>
            <a:ext cx="7286921" cy="2432116"/>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2" name="Google Shape;642;p93"/>
          <p:cNvSpPr txBox="1">
            <a:spLocks noGrp="1"/>
          </p:cNvSpPr>
          <p:nvPr>
            <p:ph type="body" idx="1"/>
          </p:nvPr>
        </p:nvSpPr>
        <p:spPr>
          <a:xfrm>
            <a:off x="1292258" y="1781665"/>
            <a:ext cx="6975050" cy="197020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720"/>
              </a:spcBef>
              <a:spcAft>
                <a:spcPts val="0"/>
              </a:spcAft>
              <a:buSzPts val="3600"/>
              <a:buFont typeface="Times New Roman"/>
              <a:buNone/>
            </a:pPr>
            <a:r>
              <a:rPr lang="en-US" sz="3200" b="0" i="0" u="none" dirty="0">
                <a:solidFill>
                  <a:schemeClr val="dk1"/>
                </a:solidFill>
                <a:latin typeface="Times New Roman"/>
                <a:ea typeface="Times New Roman"/>
                <a:cs typeface="Times New Roman"/>
                <a:sym typeface="Times New Roman"/>
              </a:rPr>
              <a:t>The procedures for performing a test of homogeneity are identical to those for a test of independence.</a:t>
            </a:r>
            <a:endParaRPr sz="3200" dirty="0"/>
          </a:p>
        </p:txBody>
      </p:sp>
      <p:sp>
        <p:nvSpPr>
          <p:cNvPr id="643" name="Google Shape;643;p93"/>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79</a:t>
            </a:fld>
            <a:endParaRPr/>
          </a:p>
        </p:txBody>
      </p:sp>
    </p:spTree>
    <p:extLst>
      <p:ext uri="{BB962C8B-B14F-4D97-AF65-F5344CB8AC3E}">
        <p14:creationId xmlns:p14="http://schemas.microsoft.com/office/powerpoint/2010/main" val="421250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77858" y="1097355"/>
            <a:ext cx="8634167" cy="4893647"/>
          </a:xfrm>
          <a:prstGeom prst="rect">
            <a:avLst/>
          </a:prstGeom>
        </p:spPr>
        <p:txBody>
          <a:bodyPr wrap="square">
            <a:spAutoFit/>
          </a:bodyPr>
          <a:lstStyle/>
          <a:p>
            <a:r>
              <a:rPr lang="en-US" sz="2600" dirty="0">
                <a:latin typeface="Times New Roman" panose="02020603050405020304" pitchFamily="18" charset="0"/>
                <a:cs typeface="Times New Roman" panose="02020603050405020304" pitchFamily="18" charset="0"/>
              </a:rPr>
              <a:t>Zocor is a drug manufactured by Merck and Co. that is meant to reduce the level of LDL (bad) cholesterol and increase the level of HDL (good) cholesterol. In clinical trials of the drug, patients were randomly divided into three groups. Group 1 received Zocor; group 2 received a placebo; group 3 received cholestyramine, a cholesterol-lowering drug that is currently available. Table 12 on the next slide contains the number of patients in each group who did and did not experience abdominal pain as a side effect.</a:t>
            </a:r>
          </a:p>
          <a:p>
            <a:r>
              <a:rPr lang="en-US" sz="2600" dirty="0">
                <a:latin typeface="Times New Roman" panose="02020603050405020304" pitchFamily="18" charset="0"/>
                <a:cs typeface="Times New Roman" panose="02020603050405020304" pitchFamily="18" charset="0"/>
              </a:rPr>
              <a:t>Is there evidence to indicate that the proportion of subjects in each group who experienced abdominal pain is different at the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0.01 level of significance?</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80</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Test for Homogeneity of Proportions</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 of 13)</a:t>
            </a:r>
            <a:endParaRPr i="1" dirty="0"/>
          </a:p>
        </p:txBody>
      </p:sp>
    </p:spTree>
    <p:extLst>
      <p:ext uri="{BB962C8B-B14F-4D97-AF65-F5344CB8AC3E}">
        <p14:creationId xmlns:p14="http://schemas.microsoft.com/office/powerpoint/2010/main" val="1615606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77858" y="1097355"/>
            <a:ext cx="8634167" cy="5293757"/>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 </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1 </a:t>
            </a:r>
            <a:r>
              <a:rPr lang="en-US" sz="2600" dirty="0">
                <a:latin typeface="Times New Roman" panose="02020603050405020304" pitchFamily="18" charset="0"/>
                <a:cs typeface="Times New Roman" panose="02020603050405020304" pitchFamily="18" charset="0"/>
              </a:rPr>
              <a:t>The null hypothesis is a statement of “no difference,” so the proportion of subjects in each group who experienced abdominal pain are equal. We state the hypotheses as follows:</a:t>
            </a:r>
          </a:p>
          <a:p>
            <a:r>
              <a:rPr lang="en-US" sz="2600" i="1" dirty="0">
                <a:latin typeface="Times New Roman" panose="02020603050405020304" pitchFamily="18" charset="0"/>
                <a:cs typeface="Times New Roman" panose="02020603050405020304" pitchFamily="18" charset="0"/>
              </a:rPr>
              <a:t>  H</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p</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rPr>
              <a:t>p</a:t>
            </a:r>
            <a:r>
              <a:rPr lang="en-US" sz="2600" baseline="-25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rPr>
              <a:t>p</a:t>
            </a:r>
            <a:r>
              <a:rPr lang="en-US" sz="2600" baseline="-25000" dirty="0">
                <a:latin typeface="Times New Roman" panose="02020603050405020304" pitchFamily="18" charset="0"/>
                <a:cs typeface="Times New Roman" panose="02020603050405020304" pitchFamily="18" charset="0"/>
              </a:rPr>
              <a:t>3</a:t>
            </a:r>
          </a:p>
          <a:p>
            <a:r>
              <a:rPr lang="en-US" sz="2600" i="1" dirty="0">
                <a:latin typeface="Times New Roman" panose="02020603050405020304" pitchFamily="18" charset="0"/>
                <a:cs typeface="Times New Roman" panose="02020603050405020304" pitchFamily="18" charset="0"/>
              </a:rPr>
              <a:t>  H</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At least one of the proportions is different from the others.</a:t>
            </a:r>
          </a:p>
          <a:p>
            <a:r>
              <a:rPr lang="en-US" sz="2600" dirty="0">
                <a:latin typeface="Times New Roman" panose="02020603050405020304" pitchFamily="18" charset="0"/>
                <a:cs typeface="Times New Roman" panose="02020603050405020304" pitchFamily="18" charset="0"/>
              </a:rPr>
              <a:t>Here, </a:t>
            </a:r>
            <a:r>
              <a:rPr lang="en-US" sz="2600" i="1" dirty="0">
                <a:latin typeface="Times New Roman" panose="02020603050405020304" pitchFamily="18" charset="0"/>
                <a:cs typeface="Times New Roman" panose="02020603050405020304" pitchFamily="18" charset="0"/>
              </a:rPr>
              <a:t>p</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p</a:t>
            </a:r>
            <a:r>
              <a:rPr lang="en-US" sz="2600" baseline="-25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 and </a:t>
            </a:r>
            <a:r>
              <a:rPr lang="en-US" sz="2600" i="1" dirty="0">
                <a:latin typeface="Times New Roman" panose="02020603050405020304" pitchFamily="18" charset="0"/>
                <a:cs typeface="Times New Roman" panose="02020603050405020304" pitchFamily="18" charset="0"/>
              </a:rPr>
              <a:t>p</a:t>
            </a:r>
            <a:r>
              <a:rPr lang="en-US" sz="2600" baseline="-25000" dirty="0">
                <a:latin typeface="Times New Roman" panose="02020603050405020304" pitchFamily="18" charset="0"/>
                <a:cs typeface="Times New Roman" panose="02020603050405020304" pitchFamily="18" charset="0"/>
              </a:rPr>
              <a:t>3</a:t>
            </a:r>
            <a:r>
              <a:rPr lang="en-US" sz="2600" dirty="0">
                <a:latin typeface="Times New Roman" panose="02020603050405020304" pitchFamily="18" charset="0"/>
                <a:cs typeface="Times New Roman" panose="02020603050405020304" pitchFamily="18" charset="0"/>
              </a:rPr>
              <a:t> are the proportions in groups 1, 2, and 3, respectively.</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81</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Test for Homogeneity of Proportions</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(2 of 13)</a:t>
            </a:r>
            <a:endParaRPr i="1" dirty="0"/>
          </a:p>
        </p:txBody>
      </p:sp>
      <p:pic>
        <p:nvPicPr>
          <p:cNvPr id="3" name="Picture 2" descr="A screenshot of a cell phone&#10;&#10;Description automatically generated">
            <a:extLst>
              <a:ext uri="{FF2B5EF4-FFF2-40B4-BE49-F238E27FC236}">
                <a16:creationId xmlns:a16="http://schemas.microsoft.com/office/drawing/2014/main" id="{23C26112-6100-4389-9E62-648F74305CE4}"/>
              </a:ext>
            </a:extLst>
          </p:cNvPr>
          <p:cNvPicPr>
            <a:picLocks noChangeAspect="1"/>
          </p:cNvPicPr>
          <p:nvPr/>
        </p:nvPicPr>
        <p:blipFill>
          <a:blip r:embed="rId3"/>
          <a:stretch>
            <a:fillRect/>
          </a:stretch>
        </p:blipFill>
        <p:spPr>
          <a:xfrm>
            <a:off x="311870" y="1097355"/>
            <a:ext cx="8418136" cy="2351949"/>
          </a:xfrm>
          <a:prstGeom prst="rect">
            <a:avLst/>
          </a:prstGeom>
        </p:spPr>
      </p:pic>
    </p:spTree>
    <p:extLst>
      <p:ext uri="{BB962C8B-B14F-4D97-AF65-F5344CB8AC3E}">
        <p14:creationId xmlns:p14="http://schemas.microsoft.com/office/powerpoint/2010/main" val="3973116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500"/>
                                        <p:tgtEl>
                                          <p:spTgt spid="4">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8" end="8"/>
                                            </p:txEl>
                                          </p:spTgt>
                                        </p:tgtEl>
                                        <p:attrNameLst>
                                          <p:attrName>style.visibility</p:attrName>
                                        </p:attrNameLst>
                                      </p:cBhvr>
                                      <p:to>
                                        <p:strVal val="visible"/>
                                      </p:to>
                                    </p:set>
                                    <p:animEffect transition="in" filter="fade">
                                      <p:cBhvr>
                                        <p:cTn id="12" dur="500"/>
                                        <p:tgtEl>
                                          <p:spTgt spid="4">
                                            <p:txEl>
                                              <p:pRg st="8" end="8"/>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9" end="9"/>
                                            </p:txEl>
                                          </p:spTgt>
                                        </p:tgtEl>
                                        <p:attrNameLst>
                                          <p:attrName>style.visibility</p:attrName>
                                        </p:attrNameLst>
                                      </p:cBhvr>
                                      <p:to>
                                        <p:strVal val="visible"/>
                                      </p:to>
                                    </p:set>
                                    <p:animEffect transition="in" filter="fade">
                                      <p:cBhvr>
                                        <p:cTn id="15" dur="500"/>
                                        <p:tgtEl>
                                          <p:spTgt spid="4">
                                            <p:txEl>
                                              <p:pRg st="9" end="9"/>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xEl>
                                              <p:pRg st="10" end="10"/>
                                            </p:txEl>
                                          </p:spTgt>
                                        </p:tgtEl>
                                        <p:attrNameLst>
                                          <p:attrName>style.visibility</p:attrName>
                                        </p:attrNameLst>
                                      </p:cBhvr>
                                      <p:to>
                                        <p:strVal val="visible"/>
                                      </p:to>
                                    </p:set>
                                    <p:animEffect transition="in" filter="fade">
                                      <p:cBhvr>
                                        <p:cTn id="20"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77858" y="1097355"/>
            <a:ext cx="8634167" cy="5262979"/>
          </a:xfrm>
          <a:prstGeom prst="rect">
            <a:avLst/>
          </a:prstGeom>
        </p:spPr>
        <p:txBody>
          <a:bodyPr wrap="square">
            <a:spAutoFit/>
          </a:bodyPr>
          <a:lstStyle/>
          <a:p>
            <a:r>
              <a:rPr lang="en-US" sz="2600" b="1" i="1" dirty="0">
                <a:latin typeface="Times New Roman" panose="02020603050405020304" pitchFamily="18" charset="0"/>
                <a:cs typeface="Times New Roman" panose="02020603050405020304" pitchFamily="18" charset="0"/>
              </a:rPr>
              <a:t>Step 2 </a:t>
            </a:r>
            <a:r>
              <a:rPr lang="en-US" sz="2600" dirty="0">
                <a:latin typeface="Times New Roman" panose="02020603050405020304" pitchFamily="18" charset="0"/>
                <a:cs typeface="Times New Roman" panose="02020603050405020304" pitchFamily="18" charset="0"/>
              </a:rPr>
              <a:t>The level of significance is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0.01.</a:t>
            </a:r>
          </a:p>
          <a:p>
            <a:endParaRPr lang="en-US" sz="1200"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3</a:t>
            </a:r>
          </a:p>
          <a:p>
            <a:r>
              <a:rPr lang="en-US" sz="2600" b="1" dirty="0">
                <a:latin typeface="Times New Roman" panose="02020603050405020304" pitchFamily="18" charset="0"/>
                <a:cs typeface="Times New Roman" panose="02020603050405020304" pitchFamily="18" charset="0"/>
              </a:rPr>
              <a:t>(a) </a:t>
            </a:r>
            <a:r>
              <a:rPr lang="en-US" sz="2600" dirty="0">
                <a:latin typeface="Times New Roman" panose="02020603050405020304" pitchFamily="18" charset="0"/>
                <a:cs typeface="Times New Roman" panose="02020603050405020304" pitchFamily="18" charset="0"/>
              </a:rPr>
              <a:t>The expected frequency of subjects who experienced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abdominal pain in group 1 is the product of the row total of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individuals who experienced abdominal pain and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column total of individuals in group 1, divided by the total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number of subjects in the study. So</a:t>
            </a:r>
          </a:p>
          <a:p>
            <a:endParaRPr lang="en-US" sz="26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Table 13 on the next slide contains the row and column totals, the observed frequencies, and the expected frequencies (in parentheses).</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82</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Test for Homogeneity of Proportions</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(3 of 13)</a:t>
            </a:r>
            <a:endParaRPr i="1" dirty="0"/>
          </a:p>
        </p:txBody>
      </p:sp>
      <p:graphicFrame>
        <p:nvGraphicFramePr>
          <p:cNvPr id="2" name="Object 1">
            <a:extLst>
              <a:ext uri="{FF2B5EF4-FFF2-40B4-BE49-F238E27FC236}">
                <a16:creationId xmlns:a16="http://schemas.microsoft.com/office/drawing/2014/main" id="{813C428C-B778-409E-8257-FC4503316F42}"/>
              </a:ext>
            </a:extLst>
          </p:cNvPr>
          <p:cNvGraphicFramePr>
            <a:graphicFrameLocks noChangeAspect="1"/>
          </p:cNvGraphicFramePr>
          <p:nvPr>
            <p:extLst>
              <p:ext uri="{D42A27DB-BD31-4B8C-83A1-F6EECF244321}">
                <p14:modId xmlns:p14="http://schemas.microsoft.com/office/powerpoint/2010/main" val="862884028"/>
              </p:ext>
            </p:extLst>
          </p:nvPr>
        </p:nvGraphicFramePr>
        <p:xfrm>
          <a:off x="2906991" y="4251388"/>
          <a:ext cx="2971800" cy="787400"/>
        </p:xfrm>
        <a:graphic>
          <a:graphicData uri="http://schemas.openxmlformats.org/presentationml/2006/ole">
            <mc:AlternateContent xmlns:mc="http://schemas.openxmlformats.org/markup-compatibility/2006">
              <mc:Choice xmlns:v="urn:schemas-microsoft-com:vml" Requires="v">
                <p:oleObj spid="_x0000_s33847" name="Equation" r:id="rId4" imgW="2971800" imgH="787320" progId="Equation.DSMT4">
                  <p:embed/>
                </p:oleObj>
              </mc:Choice>
              <mc:Fallback>
                <p:oleObj name="Equation" r:id="rId4" imgW="2971800" imgH="787320" progId="Equation.DSMT4">
                  <p:embed/>
                  <p:pic>
                    <p:nvPicPr>
                      <p:cNvPr id="0" name=""/>
                      <p:cNvPicPr/>
                      <p:nvPr/>
                    </p:nvPicPr>
                    <p:blipFill>
                      <a:blip r:embed="rId5"/>
                      <a:stretch>
                        <a:fillRect/>
                      </a:stretch>
                    </p:blipFill>
                    <p:spPr>
                      <a:xfrm>
                        <a:off x="2906991" y="4251388"/>
                        <a:ext cx="2971800" cy="787400"/>
                      </a:xfrm>
                      <a:prstGeom prst="rect">
                        <a:avLst/>
                      </a:prstGeom>
                    </p:spPr>
                  </p:pic>
                </p:oleObj>
              </mc:Fallback>
            </mc:AlternateContent>
          </a:graphicData>
        </a:graphic>
      </p:graphicFrame>
    </p:spTree>
    <p:extLst>
      <p:ext uri="{BB962C8B-B14F-4D97-AF65-F5344CB8AC3E}">
        <p14:creationId xmlns:p14="http://schemas.microsoft.com/office/powerpoint/2010/main" val="3422153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3" end="3"/>
                                            </p:txEl>
                                          </p:spTgt>
                                        </p:tgtEl>
                                        <p:attrNameLst>
                                          <p:attrName>style.visibility</p:attrName>
                                        </p:attrNameLst>
                                      </p:cBhvr>
                                      <p:to>
                                        <p:strVal val="visible"/>
                                      </p:to>
                                    </p:set>
                                    <p:animEffect transition="in" filter="fade">
                                      <p:cBhvr>
                                        <p:cTn id="10" dur="500"/>
                                        <p:tgtEl>
                                          <p:spTgt spid="4">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xEl>
                                              <p:pRg st="7" end="7"/>
                                            </p:txEl>
                                          </p:spTgt>
                                        </p:tgtEl>
                                        <p:attrNameLst>
                                          <p:attrName>style.visibility</p:attrName>
                                        </p:attrNameLst>
                                      </p:cBhvr>
                                      <p:to>
                                        <p:strVal val="visible"/>
                                      </p:to>
                                    </p:set>
                                    <p:animEffect transition="in" filter="fade">
                                      <p:cBhvr>
                                        <p:cTn id="18"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77858" y="1097355"/>
            <a:ext cx="8634167" cy="4493538"/>
          </a:xfrm>
          <a:prstGeom prst="rect">
            <a:avLst/>
          </a:prstGeom>
        </p:spPr>
        <p:txBody>
          <a:bodyPr wrap="square">
            <a:spAutoFit/>
          </a:bodyPr>
          <a:lstStyle/>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2600" b="1"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(b) </a:t>
            </a:r>
            <a:r>
              <a:rPr lang="en-US" sz="2600" dirty="0">
                <a:latin typeface="Times New Roman" panose="02020603050405020304" pitchFamily="18" charset="0"/>
                <a:cs typeface="Times New Roman" panose="02020603050405020304" pitchFamily="18" charset="0"/>
              </a:rPr>
              <a:t>Since none of the expected frequencies are less than 5,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requirements for the test of homogeneity of proportions are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satisfied.</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83</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Test for Homogeneity of Proportions</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(4 of 13)</a:t>
            </a:r>
            <a:endParaRPr i="1" dirty="0"/>
          </a:p>
        </p:txBody>
      </p:sp>
      <p:pic>
        <p:nvPicPr>
          <p:cNvPr id="5" name="Picture 4" descr="A screenshot of a cell phone&#10;&#10;Description automatically generated">
            <a:extLst>
              <a:ext uri="{FF2B5EF4-FFF2-40B4-BE49-F238E27FC236}">
                <a16:creationId xmlns:a16="http://schemas.microsoft.com/office/drawing/2014/main" id="{1CF0CF5F-E75B-42F6-A6AE-84BE2FD952E8}"/>
              </a:ext>
            </a:extLst>
          </p:cNvPr>
          <p:cNvPicPr>
            <a:picLocks noChangeAspect="1"/>
          </p:cNvPicPr>
          <p:nvPr/>
        </p:nvPicPr>
        <p:blipFill>
          <a:blip r:embed="rId3"/>
          <a:stretch>
            <a:fillRect/>
          </a:stretch>
        </p:blipFill>
        <p:spPr>
          <a:xfrm>
            <a:off x="277319" y="1201049"/>
            <a:ext cx="8641934" cy="2805343"/>
          </a:xfrm>
          <a:prstGeom prst="rect">
            <a:avLst/>
          </a:prstGeom>
        </p:spPr>
      </p:pic>
    </p:spTree>
    <p:extLst>
      <p:ext uri="{BB962C8B-B14F-4D97-AF65-F5344CB8AC3E}">
        <p14:creationId xmlns:p14="http://schemas.microsoft.com/office/powerpoint/2010/main" val="1732189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4" end="14"/>
                                            </p:txEl>
                                          </p:spTgt>
                                        </p:tgtEl>
                                        <p:attrNameLst>
                                          <p:attrName>style.visibility</p:attrName>
                                        </p:attrNameLst>
                                      </p:cBhvr>
                                      <p:to>
                                        <p:strVal val="visible"/>
                                      </p:to>
                                    </p:set>
                                    <p:animEffect transition="in" filter="fade">
                                      <p:cBhvr>
                                        <p:cTn id="7" dur="500"/>
                                        <p:tgtEl>
                                          <p:spTgt spid="4">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77858" y="1097355"/>
            <a:ext cx="8634167" cy="1292662"/>
          </a:xfrm>
          <a:prstGeom prst="rect">
            <a:avLst/>
          </a:prstGeom>
        </p:spPr>
        <p:txBody>
          <a:bodyPr wrap="square">
            <a:spAutoFit/>
          </a:bodyPr>
          <a:lstStyle/>
          <a:p>
            <a:r>
              <a:rPr lang="en-US" sz="2600" b="1" dirty="0"/>
              <a:t>Classical Approach</a:t>
            </a:r>
          </a:p>
          <a:p>
            <a:r>
              <a:rPr lang="en-US" sz="2600" b="1" i="1" dirty="0">
                <a:latin typeface="Times New Roman" panose="02020603050405020304" pitchFamily="18" charset="0"/>
                <a:cs typeface="Times New Roman" panose="02020603050405020304" pitchFamily="18" charset="0"/>
              </a:rPr>
              <a:t>Step 3 (continued)</a:t>
            </a:r>
          </a:p>
          <a:p>
            <a:r>
              <a:rPr lang="en-US" sz="2600" b="1" dirty="0">
                <a:latin typeface="Times New Roman" panose="02020603050405020304" pitchFamily="18" charset="0"/>
                <a:cs typeface="Times New Roman" panose="02020603050405020304" pitchFamily="18" charset="0"/>
              </a:rPr>
              <a:t>(c) </a:t>
            </a:r>
            <a:r>
              <a:rPr lang="en-US" sz="2600" dirty="0">
                <a:latin typeface="Times New Roman" panose="02020603050405020304" pitchFamily="18" charset="0"/>
                <a:cs typeface="Times New Roman" panose="02020603050405020304" pitchFamily="18" charset="0"/>
              </a:rPr>
              <a:t>The test statistic is</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84</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Test for Homogeneity of Proportions</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(5 of 13)</a:t>
            </a:r>
            <a:endParaRPr i="1" dirty="0"/>
          </a:p>
        </p:txBody>
      </p:sp>
      <p:graphicFrame>
        <p:nvGraphicFramePr>
          <p:cNvPr id="2" name="Object 1">
            <a:extLst>
              <a:ext uri="{FF2B5EF4-FFF2-40B4-BE49-F238E27FC236}">
                <a16:creationId xmlns:a16="http://schemas.microsoft.com/office/drawing/2014/main" id="{D5913D22-3AB2-4583-AF55-552902E2C11E}"/>
              </a:ext>
            </a:extLst>
          </p:cNvPr>
          <p:cNvGraphicFramePr>
            <a:graphicFrameLocks noChangeAspect="1"/>
          </p:cNvGraphicFramePr>
          <p:nvPr>
            <p:extLst>
              <p:ext uri="{D42A27DB-BD31-4B8C-83A1-F6EECF244321}">
                <p14:modId xmlns:p14="http://schemas.microsoft.com/office/powerpoint/2010/main" val="563887630"/>
              </p:ext>
            </p:extLst>
          </p:nvPr>
        </p:nvGraphicFramePr>
        <p:xfrm>
          <a:off x="279400" y="2507652"/>
          <a:ext cx="8585200" cy="2413000"/>
        </p:xfrm>
        <a:graphic>
          <a:graphicData uri="http://schemas.openxmlformats.org/presentationml/2006/ole">
            <mc:AlternateContent xmlns:mc="http://schemas.openxmlformats.org/markup-compatibility/2006">
              <mc:Choice xmlns:v="urn:schemas-microsoft-com:vml" Requires="v">
                <p:oleObj spid="_x0000_s34871" name="Equation" r:id="rId4" imgW="8584920" imgH="2412720" progId="Equation.DSMT4">
                  <p:embed/>
                </p:oleObj>
              </mc:Choice>
              <mc:Fallback>
                <p:oleObj name="Equation" r:id="rId4" imgW="8584920" imgH="2412720" progId="Equation.DSMT4">
                  <p:embed/>
                  <p:pic>
                    <p:nvPicPr>
                      <p:cNvPr id="0" name=""/>
                      <p:cNvPicPr/>
                      <p:nvPr/>
                    </p:nvPicPr>
                    <p:blipFill>
                      <a:blip r:embed="rId5"/>
                      <a:stretch>
                        <a:fillRect/>
                      </a:stretch>
                    </p:blipFill>
                    <p:spPr>
                      <a:xfrm>
                        <a:off x="279400" y="2507652"/>
                        <a:ext cx="8585200" cy="2413000"/>
                      </a:xfrm>
                      <a:prstGeom prst="rect">
                        <a:avLst/>
                      </a:prstGeom>
                    </p:spPr>
                  </p:pic>
                </p:oleObj>
              </mc:Fallback>
            </mc:AlternateContent>
          </a:graphicData>
        </a:graphic>
      </p:graphicFrame>
    </p:spTree>
    <p:extLst>
      <p:ext uri="{BB962C8B-B14F-4D97-AF65-F5344CB8AC3E}">
        <p14:creationId xmlns:p14="http://schemas.microsoft.com/office/powerpoint/2010/main" val="816414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77858" y="1097355"/>
            <a:ext cx="8634167" cy="5293757"/>
          </a:xfrm>
          <a:prstGeom prst="rect">
            <a:avLst/>
          </a:prstGeom>
        </p:spPr>
        <p:txBody>
          <a:bodyPr wrap="square">
            <a:spAutoFit/>
          </a:bodyPr>
          <a:lstStyle/>
          <a:p>
            <a:r>
              <a:rPr lang="en-US" sz="2600" b="1" dirty="0"/>
              <a:t>Classical Approach</a:t>
            </a:r>
          </a:p>
          <a:p>
            <a:r>
              <a:rPr lang="en-US" sz="2600" b="1" i="1" dirty="0">
                <a:latin typeface="Times New Roman" panose="02020603050405020304" pitchFamily="18" charset="0"/>
                <a:cs typeface="Times New Roman" panose="02020603050405020304" pitchFamily="18" charset="0"/>
              </a:rPr>
              <a:t>Step 4 </a:t>
            </a:r>
            <a:r>
              <a:rPr lang="en-US" sz="2600" dirty="0">
                <a:latin typeface="Times New Roman" panose="02020603050405020304" pitchFamily="18" charset="0"/>
                <a:cs typeface="Times New Roman" panose="02020603050405020304" pitchFamily="18" charset="0"/>
              </a:rPr>
              <a:t>There are </a:t>
            </a:r>
            <a:r>
              <a:rPr lang="en-US" sz="2600" i="1" dirty="0">
                <a:latin typeface="Times New Roman" panose="02020603050405020304" pitchFamily="18" charset="0"/>
                <a:cs typeface="Times New Roman" panose="02020603050405020304" pitchFamily="18" charset="0"/>
              </a:rPr>
              <a:t>r </a:t>
            </a:r>
            <a:r>
              <a:rPr lang="en-US" sz="2600" dirty="0">
                <a:latin typeface="Times New Roman" panose="02020603050405020304" pitchFamily="18" charset="0"/>
                <a:cs typeface="Times New Roman" panose="02020603050405020304" pitchFamily="18" charset="0"/>
              </a:rPr>
              <a:t>= 2 rows and </a:t>
            </a:r>
            <a:r>
              <a:rPr lang="en-US" sz="2600" i="1" dirty="0">
                <a:latin typeface="Times New Roman" panose="02020603050405020304" pitchFamily="18" charset="0"/>
                <a:cs typeface="Times New Roman" panose="02020603050405020304" pitchFamily="18" charset="0"/>
              </a:rPr>
              <a:t>c </a:t>
            </a:r>
            <a:r>
              <a:rPr lang="en-US" sz="2600" dirty="0">
                <a:latin typeface="Times New Roman" panose="02020603050405020304" pitchFamily="18" charset="0"/>
                <a:cs typeface="Times New Roman" panose="02020603050405020304" pitchFamily="18" charset="0"/>
              </a:rPr>
              <a:t>= 3 columns, so we</a:t>
            </a:r>
          </a:p>
          <a:p>
            <a:r>
              <a:rPr lang="en-US" sz="2600" dirty="0">
                <a:latin typeface="Times New Roman" panose="02020603050405020304" pitchFamily="18" charset="0"/>
                <a:cs typeface="Times New Roman" panose="02020603050405020304" pitchFamily="18" charset="0"/>
              </a:rPr>
              <a:t>find the critical value using (2 – 1)(3 – 1) = 2 degrees of</a:t>
            </a:r>
          </a:p>
          <a:p>
            <a:r>
              <a:rPr lang="en-US" sz="2600" dirty="0">
                <a:latin typeface="Times New Roman" panose="02020603050405020304" pitchFamily="18" charset="0"/>
                <a:cs typeface="Times New Roman" panose="02020603050405020304" pitchFamily="18" charset="0"/>
              </a:rPr>
              <a:t>freedom. The critical value is</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Because the test statistic, 14.707, is greater than the critical value, 9.210, we reject the null hypothesis</a:t>
            </a:r>
            <a:r>
              <a:rPr lang="en-US" dirty="0"/>
              <a:t>.</a:t>
            </a:r>
            <a:r>
              <a:rPr lang="en-US" sz="2600" dirty="0">
                <a:latin typeface="Times New Roman" panose="02020603050405020304" pitchFamily="18" charset="0"/>
                <a:cs typeface="Times New Roman" panose="02020603050405020304" pitchFamily="18" charset="0"/>
              </a:rPr>
              <a:t>  </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85</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Test for Homogeneity of Proportions</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(6 of 13)</a:t>
            </a:r>
            <a:endParaRPr i="1" dirty="0"/>
          </a:p>
        </p:txBody>
      </p:sp>
      <p:graphicFrame>
        <p:nvGraphicFramePr>
          <p:cNvPr id="3" name="Object 2">
            <a:extLst>
              <a:ext uri="{FF2B5EF4-FFF2-40B4-BE49-F238E27FC236}">
                <a16:creationId xmlns:a16="http://schemas.microsoft.com/office/drawing/2014/main" id="{09182C49-15A7-426A-809A-9D05CF9BF4A3}"/>
              </a:ext>
            </a:extLst>
          </p:cNvPr>
          <p:cNvGraphicFramePr>
            <a:graphicFrameLocks noChangeAspect="1"/>
          </p:cNvGraphicFramePr>
          <p:nvPr>
            <p:extLst>
              <p:ext uri="{D42A27DB-BD31-4B8C-83A1-F6EECF244321}">
                <p14:modId xmlns:p14="http://schemas.microsoft.com/office/powerpoint/2010/main" val="137285715"/>
              </p:ext>
            </p:extLst>
          </p:nvPr>
        </p:nvGraphicFramePr>
        <p:xfrm>
          <a:off x="4387129" y="2298699"/>
          <a:ext cx="1727200" cy="444500"/>
        </p:xfrm>
        <a:graphic>
          <a:graphicData uri="http://schemas.openxmlformats.org/presentationml/2006/ole">
            <mc:AlternateContent xmlns:mc="http://schemas.openxmlformats.org/markup-compatibility/2006">
              <mc:Choice xmlns:v="urn:schemas-microsoft-com:vml" Requires="v">
                <p:oleObj spid="_x0000_s35893" name="Equation" r:id="rId4" imgW="1726920" imgH="444240" progId="Equation.DSMT4">
                  <p:embed/>
                </p:oleObj>
              </mc:Choice>
              <mc:Fallback>
                <p:oleObj name="Equation" r:id="rId4" imgW="1726920" imgH="444240" progId="Equation.DSMT4">
                  <p:embed/>
                  <p:pic>
                    <p:nvPicPr>
                      <p:cNvPr id="0" name=""/>
                      <p:cNvPicPr/>
                      <p:nvPr/>
                    </p:nvPicPr>
                    <p:blipFill>
                      <a:blip r:embed="rId5"/>
                      <a:stretch>
                        <a:fillRect/>
                      </a:stretch>
                    </p:blipFill>
                    <p:spPr>
                      <a:xfrm>
                        <a:off x="4387129" y="2298699"/>
                        <a:ext cx="1727200" cy="444500"/>
                      </a:xfrm>
                      <a:prstGeom prst="rect">
                        <a:avLst/>
                      </a:prstGeom>
                    </p:spPr>
                  </p:pic>
                </p:oleObj>
              </mc:Fallback>
            </mc:AlternateContent>
          </a:graphicData>
        </a:graphic>
      </p:graphicFrame>
      <p:pic>
        <p:nvPicPr>
          <p:cNvPr id="9" name="Picture 8" descr="A close up of a logo&#10;&#10;Description automatically generated">
            <a:extLst>
              <a:ext uri="{FF2B5EF4-FFF2-40B4-BE49-F238E27FC236}">
                <a16:creationId xmlns:a16="http://schemas.microsoft.com/office/drawing/2014/main" id="{27E7386E-79CD-4701-9E66-5F5683B90883}"/>
              </a:ext>
            </a:extLst>
          </p:cNvPr>
          <p:cNvPicPr>
            <a:picLocks noChangeAspect="1"/>
          </p:cNvPicPr>
          <p:nvPr/>
        </p:nvPicPr>
        <p:blipFill>
          <a:blip r:embed="rId6"/>
          <a:stretch>
            <a:fillRect/>
          </a:stretch>
        </p:blipFill>
        <p:spPr>
          <a:xfrm>
            <a:off x="2364581" y="2743199"/>
            <a:ext cx="3844810" cy="2708159"/>
          </a:xfrm>
          <a:prstGeom prst="rect">
            <a:avLst/>
          </a:prstGeom>
        </p:spPr>
      </p:pic>
    </p:spTree>
    <p:extLst>
      <p:ext uri="{BB962C8B-B14F-4D97-AF65-F5344CB8AC3E}">
        <p14:creationId xmlns:p14="http://schemas.microsoft.com/office/powerpoint/2010/main" val="472039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1" end="11"/>
                                            </p:txEl>
                                          </p:spTgt>
                                        </p:tgtEl>
                                        <p:attrNameLst>
                                          <p:attrName>style.visibility</p:attrName>
                                        </p:attrNameLst>
                                      </p:cBhvr>
                                      <p:to>
                                        <p:strVal val="visible"/>
                                      </p:to>
                                    </p:set>
                                    <p:animEffect transition="in" filter="fade">
                                      <p:cBhvr>
                                        <p:cTn id="7" dur="5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77858" y="1097355"/>
            <a:ext cx="8634167" cy="4493538"/>
          </a:xfrm>
          <a:prstGeom prst="rect">
            <a:avLst/>
          </a:prstGeom>
        </p:spPr>
        <p:txBody>
          <a:bodyPr wrap="square">
            <a:spAutoFit/>
          </a:bodyPr>
          <a:lstStyle/>
          <a:p>
            <a:r>
              <a:rPr lang="en-US" sz="2600" b="1" dirty="0"/>
              <a:t>Classical Approach</a:t>
            </a:r>
          </a:p>
          <a:p>
            <a:r>
              <a:rPr lang="en-US" sz="2600" b="1" i="1" dirty="0">
                <a:latin typeface="Times New Roman" panose="02020603050405020304" pitchFamily="18" charset="0"/>
                <a:cs typeface="Times New Roman" panose="02020603050405020304" pitchFamily="18" charset="0"/>
              </a:rPr>
              <a:t>Step 5 </a:t>
            </a:r>
            <a:r>
              <a:rPr lang="en-US" sz="2600" dirty="0">
                <a:latin typeface="Times New Roman" panose="02020603050405020304" pitchFamily="18" charset="0"/>
                <a:cs typeface="Times New Roman" panose="02020603050405020304" pitchFamily="18" charset="0"/>
              </a:rPr>
              <a:t>The data suggest that there is sufficient evidence at the </a:t>
            </a:r>
            <a:br>
              <a:rPr lang="en-US" sz="2600" dirty="0">
                <a:latin typeface="Times New Roman" panose="02020603050405020304" pitchFamily="18" charset="0"/>
                <a:cs typeface="Times New Roman" panose="02020603050405020304" pitchFamily="18" charset="0"/>
              </a:rPr>
            </a:b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0.01 level of significance to reject the null hypothesis that the proportion of subjects in each group who experience abdominal pain are equal. We conclude that at least one of the three groups experiences abdominal pain at a rate that is different from the other two groups.</a:t>
            </a:r>
          </a:p>
          <a:p>
            <a:r>
              <a:rPr lang="en-US" sz="2600" dirty="0">
                <a:latin typeface="Times New Roman" panose="02020603050405020304" pitchFamily="18" charset="0"/>
                <a:cs typeface="Times New Roman" panose="02020603050405020304" pitchFamily="18" charset="0"/>
              </a:rPr>
              <a:t>The figure on the next slide shows the conditional bar graph by treatment. From the graph, it is apparent that a higher proportion of patients taking cholestyramine experience abdominal pain as a side effect.</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86</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Test for Homogeneity of Proportions</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(7 of 13)</a:t>
            </a:r>
            <a:endParaRPr i="1" dirty="0"/>
          </a:p>
        </p:txBody>
      </p:sp>
    </p:spTree>
    <p:extLst>
      <p:ext uri="{BB962C8B-B14F-4D97-AF65-F5344CB8AC3E}">
        <p14:creationId xmlns:p14="http://schemas.microsoft.com/office/powerpoint/2010/main" val="2364888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77858" y="1097355"/>
            <a:ext cx="8634167" cy="492443"/>
          </a:xfrm>
          <a:prstGeom prst="rect">
            <a:avLst/>
          </a:prstGeom>
        </p:spPr>
        <p:txBody>
          <a:bodyPr wrap="square">
            <a:spAutoFit/>
          </a:bodyPr>
          <a:lstStyle/>
          <a:p>
            <a:r>
              <a:rPr lang="en-US" sz="2600" b="1" dirty="0"/>
              <a:t>Classical Approach</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87</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Test for Homogeneity of Proportions</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(8 of 13)</a:t>
            </a:r>
            <a:endParaRPr i="1" dirty="0"/>
          </a:p>
        </p:txBody>
      </p:sp>
      <p:pic>
        <p:nvPicPr>
          <p:cNvPr id="6" name="Picture 5" descr="A screenshot of a cell phone&#10;&#10;Description automatically generated">
            <a:extLst>
              <a:ext uri="{FF2B5EF4-FFF2-40B4-BE49-F238E27FC236}">
                <a16:creationId xmlns:a16="http://schemas.microsoft.com/office/drawing/2014/main" id="{3C6B7FC5-7855-4DB8-84AE-865D6D92AD9B}"/>
              </a:ext>
            </a:extLst>
          </p:cNvPr>
          <p:cNvPicPr>
            <a:picLocks noChangeAspect="1"/>
          </p:cNvPicPr>
          <p:nvPr/>
        </p:nvPicPr>
        <p:blipFill>
          <a:blip r:embed="rId3"/>
          <a:stretch>
            <a:fillRect/>
          </a:stretch>
        </p:blipFill>
        <p:spPr>
          <a:xfrm>
            <a:off x="1391593" y="1589798"/>
            <a:ext cx="7059182" cy="4809754"/>
          </a:xfrm>
          <a:prstGeom prst="rect">
            <a:avLst/>
          </a:prstGeom>
        </p:spPr>
      </p:pic>
    </p:spTree>
    <p:extLst>
      <p:ext uri="{BB962C8B-B14F-4D97-AF65-F5344CB8AC3E}">
        <p14:creationId xmlns:p14="http://schemas.microsoft.com/office/powerpoint/2010/main" val="2049858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77858" y="1097355"/>
            <a:ext cx="8634167" cy="1292662"/>
          </a:xfrm>
          <a:prstGeom prst="rect">
            <a:avLst/>
          </a:prstGeom>
        </p:spPr>
        <p:txBody>
          <a:bodyPr wrap="square">
            <a:spAutoFit/>
          </a:bodyPr>
          <a:lstStyle/>
          <a:p>
            <a:r>
              <a:rPr lang="en-US" sz="2600" b="1" i="1" dirty="0"/>
              <a:t>P</a:t>
            </a:r>
            <a:r>
              <a:rPr lang="en-US" sz="2600" b="1" dirty="0"/>
              <a:t>-Value Approach</a:t>
            </a:r>
          </a:p>
          <a:p>
            <a:r>
              <a:rPr lang="en-US" sz="2600" b="1" i="1" dirty="0">
                <a:latin typeface="Times New Roman" panose="02020603050405020304" pitchFamily="18" charset="0"/>
                <a:cs typeface="Times New Roman" panose="02020603050405020304" pitchFamily="18" charset="0"/>
              </a:rPr>
              <a:t>By Hand Step 3 (continued)</a:t>
            </a:r>
          </a:p>
          <a:p>
            <a:r>
              <a:rPr lang="en-US" sz="2600" b="1" dirty="0">
                <a:latin typeface="Times New Roman" panose="02020603050405020304" pitchFamily="18" charset="0"/>
                <a:cs typeface="Times New Roman" panose="02020603050405020304" pitchFamily="18" charset="0"/>
              </a:rPr>
              <a:t>(c) </a:t>
            </a:r>
            <a:r>
              <a:rPr lang="en-US" sz="2600" dirty="0">
                <a:latin typeface="Times New Roman" panose="02020603050405020304" pitchFamily="18" charset="0"/>
                <a:cs typeface="Times New Roman" panose="02020603050405020304" pitchFamily="18" charset="0"/>
              </a:rPr>
              <a:t>The test statistic is</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88</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Test for Homogeneity of Proportions</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(9 of 13)</a:t>
            </a:r>
            <a:endParaRPr i="1" dirty="0"/>
          </a:p>
        </p:txBody>
      </p:sp>
      <p:graphicFrame>
        <p:nvGraphicFramePr>
          <p:cNvPr id="2" name="Object 1">
            <a:extLst>
              <a:ext uri="{FF2B5EF4-FFF2-40B4-BE49-F238E27FC236}">
                <a16:creationId xmlns:a16="http://schemas.microsoft.com/office/drawing/2014/main" id="{D5913D22-3AB2-4583-AF55-552902E2C11E}"/>
              </a:ext>
            </a:extLst>
          </p:cNvPr>
          <p:cNvGraphicFramePr>
            <a:graphicFrameLocks noChangeAspect="1"/>
          </p:cNvGraphicFramePr>
          <p:nvPr/>
        </p:nvGraphicFramePr>
        <p:xfrm>
          <a:off x="279400" y="2507652"/>
          <a:ext cx="8585200" cy="2413000"/>
        </p:xfrm>
        <a:graphic>
          <a:graphicData uri="http://schemas.openxmlformats.org/presentationml/2006/ole">
            <mc:AlternateContent xmlns:mc="http://schemas.openxmlformats.org/markup-compatibility/2006">
              <mc:Choice xmlns:v="urn:schemas-microsoft-com:vml" Requires="v">
                <p:oleObj spid="_x0000_s36913" name="Equation" r:id="rId4" imgW="8584920" imgH="2412720" progId="Equation.DSMT4">
                  <p:embed/>
                </p:oleObj>
              </mc:Choice>
              <mc:Fallback>
                <p:oleObj name="Equation" r:id="rId4" imgW="8584920" imgH="2412720" progId="Equation.DSMT4">
                  <p:embed/>
                  <p:pic>
                    <p:nvPicPr>
                      <p:cNvPr id="2" name="Object 1">
                        <a:extLst>
                          <a:ext uri="{FF2B5EF4-FFF2-40B4-BE49-F238E27FC236}">
                            <a16:creationId xmlns:a16="http://schemas.microsoft.com/office/drawing/2014/main" id="{D5913D22-3AB2-4583-AF55-552902E2C11E}"/>
                          </a:ext>
                        </a:extLst>
                      </p:cNvPr>
                      <p:cNvPicPr/>
                      <p:nvPr/>
                    </p:nvPicPr>
                    <p:blipFill>
                      <a:blip r:embed="rId5"/>
                      <a:stretch>
                        <a:fillRect/>
                      </a:stretch>
                    </p:blipFill>
                    <p:spPr>
                      <a:xfrm>
                        <a:off x="279400" y="2507652"/>
                        <a:ext cx="8585200" cy="2413000"/>
                      </a:xfrm>
                      <a:prstGeom prst="rect">
                        <a:avLst/>
                      </a:prstGeom>
                    </p:spPr>
                  </p:pic>
                </p:oleObj>
              </mc:Fallback>
            </mc:AlternateContent>
          </a:graphicData>
        </a:graphic>
      </p:graphicFrame>
    </p:spTree>
    <p:extLst>
      <p:ext uri="{BB962C8B-B14F-4D97-AF65-F5344CB8AC3E}">
        <p14:creationId xmlns:p14="http://schemas.microsoft.com/office/powerpoint/2010/main" val="670241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5" name="Picture 4" descr="A close up of a mans face&#10;&#10;Description automatically generated">
            <a:extLst>
              <a:ext uri="{FF2B5EF4-FFF2-40B4-BE49-F238E27FC236}">
                <a16:creationId xmlns:a16="http://schemas.microsoft.com/office/drawing/2014/main" id="{CDE3F10B-5019-41A6-9447-8C2E87006F4D}"/>
              </a:ext>
            </a:extLst>
          </p:cNvPr>
          <p:cNvPicPr>
            <a:picLocks noChangeAspect="1"/>
          </p:cNvPicPr>
          <p:nvPr/>
        </p:nvPicPr>
        <p:blipFill>
          <a:blip r:embed="rId4"/>
          <a:stretch>
            <a:fillRect/>
          </a:stretch>
        </p:blipFill>
        <p:spPr>
          <a:xfrm>
            <a:off x="4753898" y="1319538"/>
            <a:ext cx="4078232" cy="2729489"/>
          </a:xfrm>
          <a:prstGeom prst="rect">
            <a:avLst/>
          </a:prstGeom>
        </p:spPr>
      </p:pic>
      <p:sp>
        <p:nvSpPr>
          <p:cNvPr id="4" name="Rectangle 3">
            <a:extLst>
              <a:ext uri="{FF2B5EF4-FFF2-40B4-BE49-F238E27FC236}">
                <a16:creationId xmlns:a16="http://schemas.microsoft.com/office/drawing/2014/main" id="{1E578722-1D5B-4C32-998F-982B090A4E53}"/>
              </a:ext>
            </a:extLst>
          </p:cNvPr>
          <p:cNvSpPr/>
          <p:nvPr/>
        </p:nvSpPr>
        <p:spPr>
          <a:xfrm>
            <a:off x="377858" y="1097355"/>
            <a:ext cx="8634167" cy="8894743"/>
          </a:xfrm>
          <a:prstGeom prst="rect">
            <a:avLst/>
          </a:prstGeom>
        </p:spPr>
        <p:txBody>
          <a:bodyPr wrap="square">
            <a:spAutoFit/>
          </a:bodyPr>
          <a:lstStyle/>
          <a:p>
            <a:r>
              <a:rPr lang="en-US" sz="2600" b="1" i="1" dirty="0"/>
              <a:t>P</a:t>
            </a:r>
            <a:r>
              <a:rPr lang="en-US" sz="2600" b="1" dirty="0"/>
              <a:t>-Value Approach</a:t>
            </a:r>
          </a:p>
          <a:p>
            <a:r>
              <a:rPr lang="en-US" sz="2600" b="1" dirty="0">
                <a:latin typeface="Times New Roman" panose="02020603050405020304" pitchFamily="18" charset="0"/>
                <a:cs typeface="Times New Roman" panose="02020603050405020304" pitchFamily="18" charset="0"/>
              </a:rPr>
              <a:t>(c) </a:t>
            </a:r>
            <a:r>
              <a:rPr lang="en-US" sz="2600" dirty="0">
                <a:latin typeface="Times New Roman" panose="02020603050405020304" pitchFamily="18" charset="0"/>
                <a:cs typeface="Times New Roman" panose="02020603050405020304" pitchFamily="18" charset="0"/>
              </a:rPr>
              <a:t>There are </a:t>
            </a:r>
            <a:r>
              <a:rPr lang="en-US" sz="2600" i="1" dirty="0">
                <a:latin typeface="Times New Roman" panose="02020603050405020304" pitchFamily="18" charset="0"/>
                <a:cs typeface="Times New Roman" panose="02020603050405020304" pitchFamily="18" charset="0"/>
              </a:rPr>
              <a:t>r </a:t>
            </a:r>
            <a:r>
              <a:rPr lang="en-US" sz="2600" dirty="0">
                <a:latin typeface="Times New Roman" panose="02020603050405020304" pitchFamily="18" charset="0"/>
                <a:cs typeface="Times New Roman" panose="02020603050405020304" pitchFamily="18" charset="0"/>
              </a:rPr>
              <a:t>= 2 rows and </a:t>
            </a:r>
            <a:br>
              <a:rPr lang="en-US" sz="2600" dirty="0">
                <a:latin typeface="Times New Roman" panose="02020603050405020304" pitchFamily="18" charset="0"/>
                <a:cs typeface="Times New Roman" panose="02020603050405020304" pitchFamily="18" charset="0"/>
              </a:rPr>
            </a:br>
            <a:r>
              <a:rPr lang="en-US" sz="2600" i="1" dirty="0">
                <a:latin typeface="Times New Roman" panose="02020603050405020304" pitchFamily="18" charset="0"/>
                <a:cs typeface="Times New Roman" panose="02020603050405020304" pitchFamily="18" charset="0"/>
              </a:rPr>
              <a:t>c </a:t>
            </a:r>
            <a:r>
              <a:rPr lang="en-US" sz="2600" dirty="0">
                <a:latin typeface="Times New Roman" panose="02020603050405020304" pitchFamily="18" charset="0"/>
                <a:cs typeface="Times New Roman" panose="02020603050405020304" pitchFamily="18" charset="0"/>
              </a:rPr>
              <a:t>= 3 columns, so we find the </a:t>
            </a:r>
            <a:br>
              <a:rPr lang="en-US" sz="2600" dirty="0">
                <a:latin typeface="Times New Roman" panose="02020603050405020304" pitchFamily="18" charset="0"/>
                <a:cs typeface="Times New Roman" panose="02020603050405020304" pitchFamily="18" charset="0"/>
              </a:rPr>
            </a:b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using (2 – 1)(3 – 1) = 2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degrees of freedom. The </a:t>
            </a:r>
            <a:br>
              <a:rPr lang="en-US" sz="2600" dirty="0">
                <a:latin typeface="Times New Roman" panose="02020603050405020304" pitchFamily="18" charset="0"/>
                <a:cs typeface="Times New Roman" panose="02020603050405020304" pitchFamily="18" charset="0"/>
              </a:rPr>
            </a:b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is the area under the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chi-square distribution with 2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degrees of freedom to the right of</a:t>
            </a:r>
          </a:p>
          <a:p>
            <a:endParaRPr lang="en-US" sz="8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Using Table VIII, in the row corresponding to 2 degrees of freedom, the area under the chi-square distribution with 2 degrees of freedom, to the right of 10.597, is 0.005. Because 14.707 is greater than 10.597,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is less than 0.005.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So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&lt; 0.005.</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89</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Test for Homogeneity of Proportions</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(10 of 13)</a:t>
            </a:r>
            <a:endParaRPr i="1" dirty="0"/>
          </a:p>
        </p:txBody>
      </p:sp>
      <p:graphicFrame>
        <p:nvGraphicFramePr>
          <p:cNvPr id="3" name="Object 2">
            <a:extLst>
              <a:ext uri="{FF2B5EF4-FFF2-40B4-BE49-F238E27FC236}">
                <a16:creationId xmlns:a16="http://schemas.microsoft.com/office/drawing/2014/main" id="{09182C49-15A7-426A-809A-9D05CF9BF4A3}"/>
              </a:ext>
            </a:extLst>
          </p:cNvPr>
          <p:cNvGraphicFramePr>
            <a:graphicFrameLocks noChangeAspect="1"/>
          </p:cNvGraphicFramePr>
          <p:nvPr>
            <p:extLst>
              <p:ext uri="{D42A27DB-BD31-4B8C-83A1-F6EECF244321}">
                <p14:modId xmlns:p14="http://schemas.microsoft.com/office/powerpoint/2010/main" val="2708411698"/>
              </p:ext>
            </p:extLst>
          </p:nvPr>
        </p:nvGraphicFramePr>
        <p:xfrm>
          <a:off x="5013441" y="3846640"/>
          <a:ext cx="1663700" cy="444500"/>
        </p:xfrm>
        <a:graphic>
          <a:graphicData uri="http://schemas.openxmlformats.org/presentationml/2006/ole">
            <mc:AlternateContent xmlns:mc="http://schemas.openxmlformats.org/markup-compatibility/2006">
              <mc:Choice xmlns:v="urn:schemas-microsoft-com:vml" Requires="v">
                <p:oleObj spid="_x0000_s37937" name="Equation" r:id="rId5" imgW="1663560" imgH="444240" progId="Equation.DSMT4">
                  <p:embed/>
                </p:oleObj>
              </mc:Choice>
              <mc:Fallback>
                <p:oleObj name="Equation" r:id="rId5" imgW="1663560" imgH="444240" progId="Equation.DSMT4">
                  <p:embed/>
                  <p:pic>
                    <p:nvPicPr>
                      <p:cNvPr id="3" name="Object 2">
                        <a:extLst>
                          <a:ext uri="{FF2B5EF4-FFF2-40B4-BE49-F238E27FC236}">
                            <a16:creationId xmlns:a16="http://schemas.microsoft.com/office/drawing/2014/main" id="{09182C49-15A7-426A-809A-9D05CF9BF4A3}"/>
                          </a:ext>
                        </a:extLst>
                      </p:cNvPr>
                      <p:cNvPicPr/>
                      <p:nvPr/>
                    </p:nvPicPr>
                    <p:blipFill>
                      <a:blip r:embed="rId6"/>
                      <a:stretch>
                        <a:fillRect/>
                      </a:stretch>
                    </p:blipFill>
                    <p:spPr>
                      <a:xfrm>
                        <a:off x="5013441" y="3846640"/>
                        <a:ext cx="1663700" cy="444500"/>
                      </a:xfrm>
                      <a:prstGeom prst="rect">
                        <a:avLst/>
                      </a:prstGeom>
                    </p:spPr>
                  </p:pic>
                </p:oleObj>
              </mc:Fallback>
            </mc:AlternateContent>
          </a:graphicData>
        </a:graphic>
      </p:graphicFrame>
    </p:spTree>
    <p:extLst>
      <p:ext uri="{BB962C8B-B14F-4D97-AF65-F5344CB8AC3E}">
        <p14:creationId xmlns:p14="http://schemas.microsoft.com/office/powerpoint/2010/main" val="3387980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77858" y="1097355"/>
            <a:ext cx="8634167" cy="4893647"/>
          </a:xfrm>
          <a:prstGeom prst="rect">
            <a:avLst/>
          </a:prstGeom>
        </p:spPr>
        <p:txBody>
          <a:bodyPr wrap="square">
            <a:spAutoFit/>
          </a:bodyPr>
          <a:lstStyle/>
          <a:p>
            <a:r>
              <a:rPr lang="en-US" sz="2600" b="1" i="1" dirty="0"/>
              <a:t>P</a:t>
            </a:r>
            <a:r>
              <a:rPr lang="en-US" sz="2600" b="1" dirty="0"/>
              <a:t>-Value Approach</a:t>
            </a:r>
          </a:p>
          <a:p>
            <a:r>
              <a:rPr lang="en-US" sz="2600" b="1" i="1" dirty="0">
                <a:latin typeface="Times New Roman" panose="02020603050405020304" pitchFamily="18" charset="0"/>
                <a:cs typeface="Times New Roman" panose="02020603050405020304" pitchFamily="18" charset="0"/>
              </a:rPr>
              <a:t>Technology Step 3 (continued)</a:t>
            </a:r>
          </a:p>
          <a:p>
            <a:r>
              <a:rPr lang="en-US" sz="2600" b="1" dirty="0">
                <a:latin typeface="Times New Roman" panose="02020603050405020304" pitchFamily="18" charset="0"/>
                <a:cs typeface="Times New Roman" panose="02020603050405020304" pitchFamily="18" charset="0"/>
              </a:rPr>
              <a:t>(c) </a:t>
            </a:r>
            <a:r>
              <a:rPr lang="en-US" sz="2600" dirty="0">
                <a:latin typeface="Times New Roman" panose="02020603050405020304" pitchFamily="18" charset="0"/>
                <a:cs typeface="Times New Roman" panose="02020603050405020304" pitchFamily="18" charset="0"/>
              </a:rPr>
              <a:t>The figure shows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obtained from StatCrunch.</a:t>
            </a:r>
          </a:p>
          <a:p>
            <a:r>
              <a:rPr lang="en-US" sz="2600" dirty="0">
                <a:latin typeface="Times New Roman" panose="02020603050405020304" pitchFamily="18" charset="0"/>
                <a:cs typeface="Times New Roman" panose="02020603050405020304" pitchFamily="18" charset="0"/>
              </a:rPr>
              <a:t>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is reported as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0.0006.</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4 </a:t>
            </a:r>
            <a:r>
              <a:rPr lang="en-US" sz="2600" dirty="0">
                <a:latin typeface="Times New Roman" panose="02020603050405020304" pitchFamily="18" charset="0"/>
                <a:cs typeface="Times New Roman" panose="02020603050405020304" pitchFamily="18" charset="0"/>
              </a:rPr>
              <a:t>Because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is less than the level of significance,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0.01, we reject the null hypothesis.</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90</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Test for Homogeneity of Proportions</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(11 of 13)</a:t>
            </a:r>
            <a:endParaRPr i="1" dirty="0"/>
          </a:p>
        </p:txBody>
      </p:sp>
      <p:pic>
        <p:nvPicPr>
          <p:cNvPr id="6" name="Picture 5" descr="A screenshot of a cell phone&#10;&#10;Description automatically generated">
            <a:extLst>
              <a:ext uri="{FF2B5EF4-FFF2-40B4-BE49-F238E27FC236}">
                <a16:creationId xmlns:a16="http://schemas.microsoft.com/office/drawing/2014/main" id="{3B2C574E-FE87-48CF-A1CA-E2BD2A5C040A}"/>
              </a:ext>
            </a:extLst>
          </p:cNvPr>
          <p:cNvPicPr>
            <a:picLocks noChangeAspect="1"/>
          </p:cNvPicPr>
          <p:nvPr/>
        </p:nvPicPr>
        <p:blipFill>
          <a:blip r:embed="rId3"/>
          <a:stretch>
            <a:fillRect/>
          </a:stretch>
        </p:blipFill>
        <p:spPr>
          <a:xfrm>
            <a:off x="5162716" y="1184913"/>
            <a:ext cx="3603426" cy="3555908"/>
          </a:xfrm>
          <a:prstGeom prst="rect">
            <a:avLst/>
          </a:prstGeom>
        </p:spPr>
      </p:pic>
    </p:spTree>
    <p:extLst>
      <p:ext uri="{BB962C8B-B14F-4D97-AF65-F5344CB8AC3E}">
        <p14:creationId xmlns:p14="http://schemas.microsoft.com/office/powerpoint/2010/main" val="2432180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animEffect transition="in" filter="fade">
                                      <p:cBhvr>
                                        <p:cTn id="7"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77858" y="1097355"/>
            <a:ext cx="8634167" cy="4493538"/>
          </a:xfrm>
          <a:prstGeom prst="rect">
            <a:avLst/>
          </a:prstGeom>
        </p:spPr>
        <p:txBody>
          <a:bodyPr wrap="square">
            <a:spAutoFit/>
          </a:bodyPr>
          <a:lstStyle/>
          <a:p>
            <a:r>
              <a:rPr lang="en-US" sz="2600" b="1" i="1" dirty="0"/>
              <a:t>P</a:t>
            </a:r>
            <a:r>
              <a:rPr lang="en-US" sz="2600" b="1" dirty="0"/>
              <a:t>-Value Approach</a:t>
            </a:r>
          </a:p>
          <a:p>
            <a:r>
              <a:rPr lang="en-US" sz="2600" b="1" i="1" dirty="0">
                <a:latin typeface="Times New Roman" panose="02020603050405020304" pitchFamily="18" charset="0"/>
                <a:cs typeface="Times New Roman" panose="02020603050405020304" pitchFamily="18" charset="0"/>
              </a:rPr>
              <a:t>Step 5 </a:t>
            </a:r>
            <a:r>
              <a:rPr lang="en-US" sz="2600" dirty="0">
                <a:latin typeface="Times New Roman" panose="02020603050405020304" pitchFamily="18" charset="0"/>
                <a:cs typeface="Times New Roman" panose="02020603050405020304" pitchFamily="18" charset="0"/>
              </a:rPr>
              <a:t>The data suggest that there is sufficient evidence at the </a:t>
            </a:r>
            <a:br>
              <a:rPr lang="en-US" sz="2600" dirty="0">
                <a:latin typeface="Times New Roman" panose="02020603050405020304" pitchFamily="18" charset="0"/>
                <a:cs typeface="Times New Roman" panose="02020603050405020304" pitchFamily="18" charset="0"/>
              </a:rPr>
            </a:b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0.01 level of significance to reject the null hypothesis that the proportion of subjects in each group who experience abdominal pain are equal. We conclude that at least one of the three groups experiences abdominal pain at a rate that is different from the other two groups.</a:t>
            </a:r>
          </a:p>
          <a:p>
            <a:r>
              <a:rPr lang="en-US" sz="2600" dirty="0">
                <a:latin typeface="Times New Roman" panose="02020603050405020304" pitchFamily="18" charset="0"/>
                <a:cs typeface="Times New Roman" panose="02020603050405020304" pitchFamily="18" charset="0"/>
              </a:rPr>
              <a:t>The figure on the next slide shows the conditional bar graph by treatment. From the graph, it is apparent that a higher proportion of patients taking cholestyramine experience abdominal pain as a side effect.</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91</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Test for Homogeneity of Proportions</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(12 of 13)</a:t>
            </a:r>
            <a:endParaRPr i="1" dirty="0"/>
          </a:p>
        </p:txBody>
      </p:sp>
    </p:spTree>
    <p:extLst>
      <p:ext uri="{BB962C8B-B14F-4D97-AF65-F5344CB8AC3E}">
        <p14:creationId xmlns:p14="http://schemas.microsoft.com/office/powerpoint/2010/main" val="102503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77858" y="1097355"/>
            <a:ext cx="8634167" cy="492443"/>
          </a:xfrm>
          <a:prstGeom prst="rect">
            <a:avLst/>
          </a:prstGeom>
        </p:spPr>
        <p:txBody>
          <a:bodyPr wrap="square">
            <a:spAutoFit/>
          </a:bodyPr>
          <a:lstStyle/>
          <a:p>
            <a:r>
              <a:rPr lang="en-US" sz="2600" b="1" i="1" dirty="0"/>
              <a:t>P</a:t>
            </a:r>
            <a:r>
              <a:rPr lang="en-US" sz="2600" b="1" dirty="0"/>
              <a:t>-Value Approach</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92</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 Test for Homogeneity of Proportions</a:t>
            </a: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rPr>
              <a:t>(13 of 13)</a:t>
            </a:r>
            <a:endParaRPr i="1" dirty="0"/>
          </a:p>
        </p:txBody>
      </p:sp>
      <p:pic>
        <p:nvPicPr>
          <p:cNvPr id="6" name="Picture 5" descr="A screenshot of a cell phone&#10;&#10;Description automatically generated">
            <a:extLst>
              <a:ext uri="{FF2B5EF4-FFF2-40B4-BE49-F238E27FC236}">
                <a16:creationId xmlns:a16="http://schemas.microsoft.com/office/drawing/2014/main" id="{3C6B7FC5-7855-4DB8-84AE-865D6D92AD9B}"/>
              </a:ext>
            </a:extLst>
          </p:cNvPr>
          <p:cNvPicPr>
            <a:picLocks noChangeAspect="1"/>
          </p:cNvPicPr>
          <p:nvPr/>
        </p:nvPicPr>
        <p:blipFill>
          <a:blip r:embed="rId3"/>
          <a:stretch>
            <a:fillRect/>
          </a:stretch>
        </p:blipFill>
        <p:spPr>
          <a:xfrm>
            <a:off x="1391593" y="1589798"/>
            <a:ext cx="7059182" cy="4809754"/>
          </a:xfrm>
          <a:prstGeom prst="rect">
            <a:avLst/>
          </a:prstGeom>
        </p:spPr>
      </p:pic>
    </p:spTree>
    <p:extLst>
      <p:ext uri="{BB962C8B-B14F-4D97-AF65-F5344CB8AC3E}">
        <p14:creationId xmlns:p14="http://schemas.microsoft.com/office/powerpoint/2010/main" val="1795722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533400" y="918245"/>
            <a:ext cx="8313655" cy="3970318"/>
          </a:xfrm>
          <a:prstGeom prst="rect">
            <a:avLst/>
          </a:prstGeom>
        </p:spPr>
        <p:txBody>
          <a:bodyPr wrap="square">
            <a:spAutoFit/>
          </a:bodyPr>
          <a:lstStyle/>
          <a:p>
            <a:r>
              <a:rPr lang="en-US" sz="2800" b="1" dirty="0">
                <a:latin typeface="+mn-lt"/>
                <a:cs typeface="Times New Roman" panose="02020603050405020304" pitchFamily="18" charset="0"/>
              </a:rPr>
              <a:t>If Model Requirements Fail</a:t>
            </a:r>
          </a:p>
          <a:p>
            <a:r>
              <a:rPr lang="en-US" sz="2800" dirty="0">
                <a:latin typeface="Times New Roman" panose="02020603050405020304" pitchFamily="18" charset="0"/>
                <a:cs typeface="Times New Roman" panose="02020603050405020304" pitchFamily="18" charset="0"/>
              </a:rPr>
              <a:t>Recall that the requirements for performing a chi-square test are that all expected frequencies are greater than 1 and that at most 20% of the expected frequencies can be less than 5. If these requirements are not satisfied, the researcher has one of two options:</a:t>
            </a:r>
          </a:p>
          <a:p>
            <a:r>
              <a:rPr lang="en-US" sz="2800" dirty="0">
                <a:latin typeface="Times New Roman" panose="02020603050405020304" pitchFamily="18" charset="0"/>
                <a:cs typeface="Times New Roman" panose="02020603050405020304" pitchFamily="18" charset="0"/>
              </a:rPr>
              <a:t>(1) combine two or more columns (or rows) to increase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the expected frequencies or</a:t>
            </a:r>
          </a:p>
          <a:p>
            <a:r>
              <a:rPr lang="en-US" sz="2800" dirty="0">
                <a:latin typeface="Times New Roman" panose="02020603050405020304" pitchFamily="18" charset="0"/>
                <a:cs typeface="Times New Roman" panose="02020603050405020304" pitchFamily="18" charset="0"/>
              </a:rPr>
              <a:t>(2) increase the sample size.</a:t>
            </a:r>
            <a:endParaRPr lang="en-US" sz="2800" b="1" dirty="0">
              <a:latin typeface="Times New Roman" panose="02020603050405020304" pitchFamily="18" charset="0"/>
              <a:cs typeface="Times New Roman" panose="02020603050405020304" pitchFamily="18" charset="0"/>
            </a:endParaRP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93</a:t>
            </a:fld>
            <a:endParaRPr/>
          </a:p>
        </p:txBody>
      </p:sp>
    </p:spTree>
    <p:extLst>
      <p:ext uri="{BB962C8B-B14F-4D97-AF65-F5344CB8AC3E}">
        <p14:creationId xmlns:p14="http://schemas.microsoft.com/office/powerpoint/2010/main" val="1613154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dirty="0">
                <a:solidFill>
                  <a:schemeClr val="lt1"/>
                </a:solidFill>
                <a:latin typeface="Verdana"/>
                <a:ea typeface="Verdana"/>
                <a:cs typeface="Verdana"/>
                <a:sym typeface="Verdana"/>
              </a:rPr>
              <a:t>12-</a:t>
            </a:r>
            <a:fld id="{00000000-1234-1234-1234-123412341234}" type="slidenum">
              <a:rPr lang="en-US" sz="1400" b="1" i="0" u="none" smtClean="0">
                <a:solidFill>
                  <a:schemeClr val="lt1"/>
                </a:solidFill>
                <a:latin typeface="Verdana"/>
                <a:ea typeface="Verdana"/>
                <a:cs typeface="Verdana"/>
                <a:sym typeface="Verdana"/>
              </a:rPr>
              <a:t>94</a:t>
            </a:fld>
            <a:endParaRPr dirty="0"/>
          </a:p>
        </p:txBody>
      </p:sp>
      <p:sp>
        <p:nvSpPr>
          <p:cNvPr id="89" name="Google Shape;89;p16"/>
          <p:cNvSpPr txBox="1"/>
          <p:nvPr/>
        </p:nvSpPr>
        <p:spPr>
          <a:xfrm>
            <a:off x="457200" y="814707"/>
            <a:ext cx="8229600" cy="1143000"/>
          </a:xfrm>
          <a:prstGeom prst="rect">
            <a:avLst/>
          </a:prstGeom>
          <a:noFill/>
          <a:ln>
            <a:noFill/>
          </a:ln>
        </p:spPr>
        <p:txBody>
          <a:bodyPr spcFirstLastPara="1" wrap="square" lIns="91425" tIns="45700" rIns="91425" bIns="45700" anchor="ctr" anchorCtr="0">
            <a:noAutofit/>
          </a:bodyPr>
          <a:lstStyle/>
          <a:p>
            <a:pPr marL="609600" lvl="0" indent="-609600">
              <a:buClr>
                <a:schemeClr val="dk1"/>
              </a:buClr>
              <a:buSzPts val="3200"/>
            </a:pPr>
            <a:r>
              <a:rPr lang="en-US" sz="4000" b="1" dirty="0">
                <a:solidFill>
                  <a:srgbClr val="333399"/>
                </a:solidFill>
                <a:latin typeface="+mn-lt"/>
                <a:ea typeface="Times New Roman"/>
                <a:cs typeface="Times New Roman"/>
                <a:sym typeface="Times New Roman"/>
              </a:rPr>
              <a:t>12.3 </a:t>
            </a:r>
            <a:r>
              <a:rPr lang="en-US" sz="4000" b="1" dirty="0">
                <a:solidFill>
                  <a:srgbClr val="333399"/>
                </a:solidFill>
                <a:latin typeface="+mn-lt"/>
                <a:cs typeface="Times New Roman"/>
                <a:sym typeface="Times New Roman"/>
              </a:rPr>
              <a:t>Inference about Two   </a:t>
            </a:r>
            <a:br>
              <a:rPr lang="en-US" sz="4000" b="1" dirty="0">
                <a:solidFill>
                  <a:srgbClr val="333399"/>
                </a:solidFill>
                <a:latin typeface="+mn-lt"/>
                <a:cs typeface="Times New Roman"/>
                <a:sym typeface="Times New Roman"/>
              </a:rPr>
            </a:br>
            <a:r>
              <a:rPr lang="en-US" sz="4000" b="1" dirty="0">
                <a:solidFill>
                  <a:srgbClr val="333399"/>
                </a:solidFill>
                <a:latin typeface="+mn-lt"/>
                <a:cs typeface="Times New Roman"/>
                <a:sym typeface="Times New Roman"/>
              </a:rPr>
              <a:t>    Population Proportions: </a:t>
            </a:r>
            <a:br>
              <a:rPr lang="en-US" sz="4000" b="1" dirty="0">
                <a:solidFill>
                  <a:srgbClr val="333399"/>
                </a:solidFill>
                <a:latin typeface="+mn-lt"/>
                <a:cs typeface="Times New Roman"/>
                <a:sym typeface="Times New Roman"/>
              </a:rPr>
            </a:br>
            <a:r>
              <a:rPr lang="en-US" sz="4000" b="1" dirty="0">
                <a:solidFill>
                  <a:srgbClr val="333399"/>
                </a:solidFill>
                <a:latin typeface="+mn-lt"/>
                <a:cs typeface="Times New Roman"/>
                <a:sym typeface="Times New Roman"/>
              </a:rPr>
              <a:t>    Dependent Samples</a:t>
            </a:r>
          </a:p>
          <a:p>
            <a:pPr marL="609600" lvl="0" indent="-609600">
              <a:buClr>
                <a:schemeClr val="dk1"/>
              </a:buClr>
              <a:buSzPts val="3200"/>
            </a:pPr>
            <a:r>
              <a:rPr lang="en-US" sz="4000" b="1" dirty="0">
                <a:solidFill>
                  <a:srgbClr val="A00020"/>
                </a:solidFill>
                <a:latin typeface="+mn-lt"/>
                <a:cs typeface="Times New Roman"/>
                <a:sym typeface="Times New Roman"/>
              </a:rPr>
              <a:t>Learning Objectives</a:t>
            </a:r>
            <a:endParaRPr lang="en-US" sz="4000" dirty="0">
              <a:solidFill>
                <a:srgbClr val="A00020"/>
              </a:solidFill>
              <a:latin typeface="+mn-lt"/>
            </a:endParaRPr>
          </a:p>
        </p:txBody>
      </p:sp>
      <p:sp>
        <p:nvSpPr>
          <p:cNvPr id="90" name="Google Shape;90;p16"/>
          <p:cNvSpPr txBox="1"/>
          <p:nvPr/>
        </p:nvSpPr>
        <p:spPr>
          <a:xfrm>
            <a:off x="533400" y="2446017"/>
            <a:ext cx="8229600" cy="3597276"/>
          </a:xfrm>
          <a:prstGeom prst="rect">
            <a:avLst/>
          </a:prstGeom>
          <a:noFill/>
          <a:ln>
            <a:noFill/>
          </a:ln>
        </p:spPr>
        <p:txBody>
          <a:bodyPr spcFirstLastPara="1" wrap="square" lIns="91425" tIns="45700" rIns="91425" bIns="45700" anchor="t" anchorCtr="0">
            <a:noAutofit/>
          </a:bodyPr>
          <a:lstStyle/>
          <a:p>
            <a:pPr marL="609600" marR="0" lvl="0" indent="-609600" algn="l" rtl="0">
              <a:lnSpc>
                <a:spcPct val="100000"/>
              </a:lnSpc>
              <a:spcBef>
                <a:spcPts val="0"/>
              </a:spcBef>
              <a:spcAft>
                <a:spcPts val="0"/>
              </a:spcAft>
              <a:buClr>
                <a:schemeClr val="dk1"/>
              </a:buClr>
              <a:buSzPts val="3200"/>
              <a:buFont typeface="Arial"/>
              <a:buNone/>
            </a:pPr>
            <a:endParaRPr sz="3200" b="1" i="0" u="none" dirty="0">
              <a:solidFill>
                <a:schemeClr val="dk1"/>
              </a:solidFill>
              <a:latin typeface="Times New Roman"/>
              <a:ea typeface="Times New Roman"/>
              <a:cs typeface="Times New Roman"/>
              <a:sym typeface="Times New Roman"/>
            </a:endParaRPr>
          </a:p>
          <a:p>
            <a:pPr marL="609600" lvl="0" indent="-609600">
              <a:spcBef>
                <a:spcPts val="640"/>
              </a:spcBef>
              <a:buClr>
                <a:srgbClr val="A00020"/>
              </a:buClr>
              <a:buSzPts val="3200"/>
              <a:buFont typeface="Times New Roman"/>
              <a:buAutoNum type="arabicPeriod"/>
            </a:pPr>
            <a:r>
              <a:rPr lang="en-US" sz="2800" dirty="0">
                <a:latin typeface="Times New Roman" panose="02020603050405020304" pitchFamily="18" charset="0"/>
                <a:cs typeface="Times New Roman" panose="02020603050405020304" pitchFamily="18" charset="0"/>
              </a:rPr>
              <a:t>Test Hypotheses Regarding Two Proportions from Dependent Samples</a:t>
            </a:r>
          </a:p>
        </p:txBody>
      </p:sp>
      <p:pic>
        <p:nvPicPr>
          <p:cNvPr id="11" name="Picture 10" descr="A picture containing drawing, food&#10;&#10;Description automatically generated">
            <a:extLst>
              <a:ext uri="{FF2B5EF4-FFF2-40B4-BE49-F238E27FC236}">
                <a16:creationId xmlns:a16="http://schemas.microsoft.com/office/drawing/2014/main" id="{7FEB636F-F570-4B29-B96E-83AC5E056E88}"/>
              </a:ext>
            </a:extLst>
          </p:cNvPr>
          <p:cNvPicPr>
            <a:picLocks noChangeAspect="1"/>
          </p:cNvPicPr>
          <p:nvPr/>
        </p:nvPicPr>
        <p:blipFill>
          <a:blip r:embed="rId3"/>
          <a:stretch>
            <a:fillRect/>
          </a:stretch>
        </p:blipFill>
        <p:spPr>
          <a:xfrm>
            <a:off x="5489635" y="1957707"/>
            <a:ext cx="834662" cy="843267"/>
          </a:xfrm>
          <a:prstGeom prst="rect">
            <a:avLst/>
          </a:prstGeom>
        </p:spPr>
      </p:pic>
    </p:spTree>
    <p:extLst>
      <p:ext uri="{BB962C8B-B14F-4D97-AF65-F5344CB8AC3E}">
        <p14:creationId xmlns:p14="http://schemas.microsoft.com/office/powerpoint/2010/main" val="3861908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7" name="Rectangle 6">
            <a:extLst>
              <a:ext uri="{FF2B5EF4-FFF2-40B4-BE49-F238E27FC236}">
                <a16:creationId xmlns:a16="http://schemas.microsoft.com/office/drawing/2014/main" id="{18EB4442-9708-43EA-B2CE-63D79D313E77}"/>
              </a:ext>
            </a:extLst>
          </p:cNvPr>
          <p:cNvSpPr/>
          <p:nvPr/>
        </p:nvSpPr>
        <p:spPr>
          <a:xfrm>
            <a:off x="225271" y="396401"/>
            <a:ext cx="8537729" cy="5693313"/>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Google Shape;430;p64"/>
          <p:cNvSpPr txBox="1">
            <a:spLocks noGrp="1"/>
          </p:cNvSpPr>
          <p:nvPr>
            <p:ph type="body" idx="1"/>
          </p:nvPr>
        </p:nvSpPr>
        <p:spPr>
          <a:xfrm>
            <a:off x="609599" y="546067"/>
            <a:ext cx="8242169" cy="5287962"/>
          </a:xfrm>
          <a:prstGeom prst="rect">
            <a:avLst/>
          </a:prstGeom>
          <a:noFill/>
          <a:ln>
            <a:noFill/>
          </a:ln>
        </p:spPr>
        <p:txBody>
          <a:bodyPr spcFirstLastPara="1" wrap="square" lIns="91425" tIns="45700" rIns="91425" bIns="45700" anchor="t" anchorCtr="0">
            <a:noAutofit/>
          </a:bodyPr>
          <a:lstStyle/>
          <a:p>
            <a:pPr marL="0" lvl="0" indent="0" rtl="0">
              <a:lnSpc>
                <a:spcPct val="100000"/>
              </a:lnSpc>
              <a:spcBef>
                <a:spcPts val="0"/>
              </a:spcBef>
              <a:spcAft>
                <a:spcPts val="0"/>
              </a:spcAft>
              <a:buSzPts val="3200"/>
              <a:buFont typeface="Arial"/>
              <a:buNone/>
            </a:pPr>
            <a:r>
              <a:rPr lang="en-US" sz="2800" b="1" i="0" u="none" dirty="0">
                <a:solidFill>
                  <a:schemeClr val="tx1"/>
                </a:solidFill>
                <a:sym typeface="Arial"/>
              </a:rPr>
              <a:t>Testing A Hypothesis Regarding the Difference of Two Proportions: Dependent Samples</a:t>
            </a:r>
            <a:endParaRPr sz="2800" dirty="0">
              <a:solidFill>
                <a:schemeClr val="tx1"/>
              </a:solidFill>
            </a:endParaRPr>
          </a:p>
          <a:p>
            <a:pPr marL="0" lvl="0" indent="0" algn="ctr" rtl="0">
              <a:lnSpc>
                <a:spcPct val="100000"/>
              </a:lnSpc>
              <a:spcBef>
                <a:spcPts val="640"/>
              </a:spcBef>
              <a:spcAft>
                <a:spcPts val="0"/>
              </a:spcAft>
              <a:buSzPts val="3200"/>
              <a:buFont typeface="Times New Roman"/>
              <a:buNone/>
            </a:pPr>
            <a:endParaRPr sz="1200" b="1" i="0" u="none" dirty="0">
              <a:solidFill>
                <a:schemeClr val="tx1"/>
              </a:solidFill>
              <a:latin typeface="Arial"/>
              <a:ea typeface="Arial"/>
              <a:cs typeface="Arial"/>
              <a:sym typeface="Arial"/>
            </a:endParaRPr>
          </a:p>
          <a:p>
            <a:pPr marL="114300" indent="0">
              <a:buNone/>
            </a:pPr>
            <a:r>
              <a:rPr lang="en-US" sz="2800" dirty="0">
                <a:latin typeface="Times New Roman" panose="02020603050405020304" pitchFamily="18" charset="0"/>
                <a:cs typeface="Times New Roman" panose="02020603050405020304" pitchFamily="18" charset="0"/>
              </a:rPr>
              <a:t>To test hypotheses regarding two population proportions, </a:t>
            </a:r>
            <a:r>
              <a:rPr lang="en-US" sz="2800" i="1" dirty="0">
                <a:latin typeface="Times New Roman" panose="02020603050405020304" pitchFamily="18" charset="0"/>
                <a:cs typeface="Times New Roman" panose="02020603050405020304" pitchFamily="18" charset="0"/>
              </a:rPr>
              <a:t>p</a:t>
            </a:r>
            <a:r>
              <a:rPr lang="en-US" sz="2800" baseline="-25000" dirty="0">
                <a:latin typeface="Times New Roman" panose="02020603050405020304" pitchFamily="18" charset="0"/>
                <a:cs typeface="Times New Roman" panose="02020603050405020304" pitchFamily="18" charset="0"/>
              </a:rPr>
              <a:t>1</a:t>
            </a:r>
            <a:r>
              <a:rPr lang="en-US" sz="2800" dirty="0">
                <a:latin typeface="Times New Roman" panose="02020603050405020304" pitchFamily="18" charset="0"/>
                <a:cs typeface="Times New Roman" panose="02020603050405020304" pitchFamily="18" charset="0"/>
              </a:rPr>
              <a:t> and </a:t>
            </a:r>
            <a:r>
              <a:rPr lang="en-US" sz="2800" i="1" dirty="0">
                <a:latin typeface="Times New Roman" panose="02020603050405020304" pitchFamily="18" charset="0"/>
                <a:cs typeface="Times New Roman" panose="02020603050405020304" pitchFamily="18" charset="0"/>
              </a:rPr>
              <a:t>p</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 where the samples are dependent, arrange the data in a contingency table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as follows:</a:t>
            </a:r>
            <a:endParaRPr sz="2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432" name="Google Shape;432;p6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95</a:t>
            </a:fld>
            <a:endParaRPr/>
          </a:p>
        </p:txBody>
      </p:sp>
      <p:pic>
        <p:nvPicPr>
          <p:cNvPr id="5" name="Picture 4" descr="A screenshot of a cell phone&#10;&#10;Description automatically generated">
            <a:extLst>
              <a:ext uri="{FF2B5EF4-FFF2-40B4-BE49-F238E27FC236}">
                <a16:creationId xmlns:a16="http://schemas.microsoft.com/office/drawing/2014/main" id="{9378D9CC-53E1-4674-BA2C-A75C0BE67319}"/>
              </a:ext>
            </a:extLst>
          </p:cNvPr>
          <p:cNvPicPr>
            <a:picLocks noChangeAspect="1"/>
          </p:cNvPicPr>
          <p:nvPr/>
        </p:nvPicPr>
        <p:blipFill rotWithShape="1">
          <a:blip r:embed="rId3"/>
          <a:srcRect l="2022" t="2687" r="1577" b="3513"/>
          <a:stretch/>
        </p:blipFill>
        <p:spPr>
          <a:xfrm>
            <a:off x="1451729" y="4024861"/>
            <a:ext cx="5608947" cy="1705473"/>
          </a:xfrm>
          <a:prstGeom prst="rect">
            <a:avLst/>
          </a:prstGeom>
        </p:spPr>
      </p:pic>
    </p:spTree>
    <p:extLst>
      <p:ext uri="{BB962C8B-B14F-4D97-AF65-F5344CB8AC3E}">
        <p14:creationId xmlns:p14="http://schemas.microsoft.com/office/powerpoint/2010/main" val="1477949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7" name="Rectangle 6">
            <a:extLst>
              <a:ext uri="{FF2B5EF4-FFF2-40B4-BE49-F238E27FC236}">
                <a16:creationId xmlns:a16="http://schemas.microsoft.com/office/drawing/2014/main" id="{18EB4442-9708-43EA-B2CE-63D79D313E77}"/>
              </a:ext>
            </a:extLst>
          </p:cNvPr>
          <p:cNvSpPr/>
          <p:nvPr/>
        </p:nvSpPr>
        <p:spPr>
          <a:xfrm>
            <a:off x="225271" y="396401"/>
            <a:ext cx="8537729" cy="5551912"/>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Google Shape;430;p64"/>
          <p:cNvSpPr txBox="1">
            <a:spLocks noGrp="1"/>
          </p:cNvSpPr>
          <p:nvPr>
            <p:ph type="body" idx="1"/>
          </p:nvPr>
        </p:nvSpPr>
        <p:spPr>
          <a:xfrm>
            <a:off x="609599" y="546067"/>
            <a:ext cx="8242169" cy="5287962"/>
          </a:xfrm>
          <a:prstGeom prst="rect">
            <a:avLst/>
          </a:prstGeom>
          <a:noFill/>
          <a:ln>
            <a:noFill/>
          </a:ln>
        </p:spPr>
        <p:txBody>
          <a:bodyPr spcFirstLastPara="1" wrap="square" lIns="91425" tIns="45700" rIns="91425" bIns="45700" anchor="t" anchorCtr="0">
            <a:noAutofit/>
          </a:bodyPr>
          <a:lstStyle/>
          <a:p>
            <a:pPr marL="0" lvl="0" indent="0">
              <a:spcBef>
                <a:spcPts val="0"/>
              </a:spcBef>
              <a:buSzPts val="3200"/>
              <a:buNone/>
            </a:pPr>
            <a:r>
              <a:rPr lang="en-US" sz="2800" b="1" dirty="0">
                <a:solidFill>
                  <a:schemeClr val="tx1"/>
                </a:solidFill>
              </a:rPr>
              <a:t>Testing A Hypothesis Regarding the Difference of Two Proportions: Dependent Samples</a:t>
            </a:r>
            <a:endParaRPr lang="en-US" sz="2800" dirty="0">
              <a:solidFill>
                <a:schemeClr val="tx1"/>
              </a:solidFill>
            </a:endParaRPr>
          </a:p>
          <a:p>
            <a:pPr marL="0" lvl="0" indent="0" algn="ctr" rtl="0">
              <a:lnSpc>
                <a:spcPct val="100000"/>
              </a:lnSpc>
              <a:spcBef>
                <a:spcPts val="640"/>
              </a:spcBef>
              <a:spcAft>
                <a:spcPts val="0"/>
              </a:spcAft>
              <a:buSzPts val="3200"/>
              <a:buFont typeface="Times New Roman"/>
              <a:buNone/>
            </a:pPr>
            <a:endParaRPr sz="800" b="1" i="0" u="none" dirty="0">
              <a:solidFill>
                <a:schemeClr val="tx1"/>
              </a:solidFill>
              <a:latin typeface="Arial"/>
              <a:ea typeface="Arial"/>
              <a:cs typeface="Arial"/>
              <a:sym typeface="Arial"/>
            </a:endParaRPr>
          </a:p>
          <a:p>
            <a:pPr marL="114300" indent="0">
              <a:buNone/>
            </a:pPr>
            <a:r>
              <a:rPr lang="en-US" sz="2600" dirty="0">
                <a:latin typeface="Times New Roman" panose="02020603050405020304" pitchFamily="18" charset="0"/>
                <a:cs typeface="Times New Roman" panose="02020603050405020304" pitchFamily="18" charset="0"/>
              </a:rPr>
              <a:t>We can use the steps that follow provided that</a:t>
            </a:r>
          </a:p>
          <a:p>
            <a:pPr marL="114300" indent="0">
              <a:buNone/>
            </a:pPr>
            <a:r>
              <a:rPr lang="en-US" sz="2600" b="1" dirty="0">
                <a:latin typeface="Times New Roman" panose="02020603050405020304" pitchFamily="18" charset="0"/>
                <a:cs typeface="Times New Roman" panose="02020603050405020304" pitchFamily="18" charset="0"/>
              </a:rPr>
              <a:t>1. </a:t>
            </a:r>
            <a:r>
              <a:rPr lang="en-US" sz="2600" dirty="0">
                <a:latin typeface="Times New Roman" panose="02020603050405020304" pitchFamily="18" charset="0"/>
                <a:cs typeface="Times New Roman" panose="02020603050405020304" pitchFamily="18" charset="0"/>
              </a:rPr>
              <a:t>The samples are dependent and are obtained randomly.</a:t>
            </a:r>
          </a:p>
          <a:p>
            <a:pPr marL="114300" indent="0">
              <a:buNone/>
            </a:pPr>
            <a:r>
              <a:rPr lang="en-US" sz="2600" b="1" dirty="0">
                <a:latin typeface="Times New Roman" panose="02020603050405020304" pitchFamily="18" charset="0"/>
                <a:cs typeface="Times New Roman" panose="02020603050405020304" pitchFamily="18" charset="0"/>
              </a:rPr>
              <a:t>2. </a:t>
            </a:r>
            <a:r>
              <a:rPr lang="en-US" sz="2600" dirty="0">
                <a:latin typeface="Times New Roman" panose="02020603050405020304" pitchFamily="18" charset="0"/>
                <a:cs typeface="Times New Roman" panose="02020603050405020304" pitchFamily="18" charset="0"/>
              </a:rPr>
              <a:t>The total number of observations where the outcomes differ are greater than or equal to 10. That is,</a:t>
            </a:r>
          </a:p>
          <a:p>
            <a:pPr marL="114300" indent="0">
              <a:buNone/>
            </a:pPr>
            <a:endParaRPr lang="en-US" sz="8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114300" indent="0">
              <a:buNone/>
            </a:pPr>
            <a:r>
              <a:rPr lang="en-US" sz="2600" b="1" i="1" dirty="0">
                <a:latin typeface="Times New Roman" panose="02020603050405020304" pitchFamily="18" charset="0"/>
                <a:cs typeface="Times New Roman" panose="02020603050405020304" pitchFamily="18" charset="0"/>
              </a:rPr>
              <a:t>Step 1 </a:t>
            </a:r>
            <a:r>
              <a:rPr lang="en-US" sz="2600" dirty="0">
                <a:latin typeface="Times New Roman" panose="02020603050405020304" pitchFamily="18" charset="0"/>
                <a:cs typeface="Times New Roman" panose="02020603050405020304" pitchFamily="18" charset="0"/>
              </a:rPr>
              <a:t>Determine the null and alternative hypotheses.</a:t>
            </a:r>
          </a:p>
          <a:p>
            <a:pPr marL="114300" indent="0">
              <a:buNone/>
            </a:pPr>
            <a:r>
              <a:rPr lang="en-US" i="1"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H</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the proportions between the two populations are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equal (</a:t>
            </a:r>
            <a:r>
              <a:rPr lang="en-US" sz="2600" i="1" dirty="0">
                <a:latin typeface="Times New Roman" panose="02020603050405020304" pitchFamily="18" charset="0"/>
                <a:cs typeface="Times New Roman" panose="02020603050405020304" pitchFamily="18" charset="0"/>
              </a:rPr>
              <a:t>p</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 </a:t>
            </a:r>
            <a:r>
              <a:rPr lang="en-US" sz="2600" i="1" dirty="0">
                <a:latin typeface="Times New Roman" panose="02020603050405020304" pitchFamily="18" charset="0"/>
                <a:cs typeface="Times New Roman" panose="02020603050405020304" pitchFamily="18" charset="0"/>
              </a:rPr>
              <a:t>p</a:t>
            </a:r>
            <a:r>
              <a:rPr lang="en-US" sz="2600" baseline="-25000" dirty="0">
                <a:latin typeface="Times New Roman" panose="02020603050405020304" pitchFamily="18" charset="0"/>
                <a:cs typeface="Times New Roman" panose="02020603050405020304" pitchFamily="18" charset="0"/>
              </a:rPr>
              <a:t>2</a:t>
            </a:r>
            <a:r>
              <a:rPr lang="en-US" sz="2600" dirty="0">
                <a:latin typeface="Times New Roman" panose="02020603050405020304" pitchFamily="18" charset="0"/>
                <a:cs typeface="Times New Roman" panose="02020603050405020304" pitchFamily="18" charset="0"/>
              </a:rPr>
              <a:t>)</a:t>
            </a:r>
          </a:p>
          <a:p>
            <a:pPr marL="114300" indent="0">
              <a:buNone/>
            </a:pPr>
            <a:r>
              <a:rPr lang="en-US" sz="2600" i="1" dirty="0">
                <a:latin typeface="Times New Roman" panose="02020603050405020304" pitchFamily="18" charset="0"/>
                <a:cs typeface="Times New Roman" panose="02020603050405020304" pitchFamily="18" charset="0"/>
              </a:rPr>
              <a:t>            H</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the proportions between the two populations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differ </a:t>
            </a:r>
            <a:endParaRPr sz="26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432" name="Google Shape;432;p6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96</a:t>
            </a:fld>
            <a:endParaRPr/>
          </a:p>
        </p:txBody>
      </p:sp>
      <p:graphicFrame>
        <p:nvGraphicFramePr>
          <p:cNvPr id="2" name="Object 1">
            <a:extLst>
              <a:ext uri="{FF2B5EF4-FFF2-40B4-BE49-F238E27FC236}">
                <a16:creationId xmlns:a16="http://schemas.microsoft.com/office/drawing/2014/main" id="{CF178DB8-DB67-4FC7-885B-007DB7056E2D}"/>
              </a:ext>
            </a:extLst>
          </p:cNvPr>
          <p:cNvGraphicFramePr>
            <a:graphicFrameLocks noChangeAspect="1"/>
          </p:cNvGraphicFramePr>
          <p:nvPr>
            <p:extLst>
              <p:ext uri="{D42A27DB-BD31-4B8C-83A1-F6EECF244321}">
                <p14:modId xmlns:p14="http://schemas.microsoft.com/office/powerpoint/2010/main" val="2311233319"/>
              </p:ext>
            </p:extLst>
          </p:nvPr>
        </p:nvGraphicFramePr>
        <p:xfrm>
          <a:off x="6756401" y="3035300"/>
          <a:ext cx="1778000" cy="393700"/>
        </p:xfrm>
        <a:graphic>
          <a:graphicData uri="http://schemas.openxmlformats.org/presentationml/2006/ole">
            <mc:AlternateContent xmlns:mc="http://schemas.openxmlformats.org/markup-compatibility/2006">
              <mc:Choice xmlns:v="urn:schemas-microsoft-com:vml" Requires="v">
                <p:oleObj spid="_x0000_s40013" name="Equation" r:id="rId4" imgW="1777680" imgH="393480" progId="Equation.DSMT4">
                  <p:embed/>
                </p:oleObj>
              </mc:Choice>
              <mc:Fallback>
                <p:oleObj name="Equation" r:id="rId4" imgW="1777680" imgH="393480" progId="Equation.DSMT4">
                  <p:embed/>
                  <p:pic>
                    <p:nvPicPr>
                      <p:cNvPr id="0" name=""/>
                      <p:cNvPicPr/>
                      <p:nvPr/>
                    </p:nvPicPr>
                    <p:blipFill>
                      <a:blip r:embed="rId5"/>
                      <a:stretch>
                        <a:fillRect/>
                      </a:stretch>
                    </p:blipFill>
                    <p:spPr>
                      <a:xfrm>
                        <a:off x="6756401" y="3035300"/>
                        <a:ext cx="1778000" cy="393700"/>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E94C12AC-8538-4A69-81C7-E332303B50B4}"/>
              </a:ext>
            </a:extLst>
          </p:cNvPr>
          <p:cNvGraphicFramePr>
            <a:graphicFrameLocks noChangeAspect="1"/>
          </p:cNvGraphicFramePr>
          <p:nvPr>
            <p:extLst>
              <p:ext uri="{D42A27DB-BD31-4B8C-83A1-F6EECF244321}">
                <p14:modId xmlns:p14="http://schemas.microsoft.com/office/powerpoint/2010/main" val="3794092777"/>
              </p:ext>
            </p:extLst>
          </p:nvPr>
        </p:nvGraphicFramePr>
        <p:xfrm>
          <a:off x="3223051" y="5272038"/>
          <a:ext cx="1155700" cy="381000"/>
        </p:xfrm>
        <a:graphic>
          <a:graphicData uri="http://schemas.openxmlformats.org/presentationml/2006/ole">
            <mc:AlternateContent xmlns:mc="http://schemas.openxmlformats.org/markup-compatibility/2006">
              <mc:Choice xmlns:v="urn:schemas-microsoft-com:vml" Requires="v">
                <p:oleObj spid="_x0000_s40014" name="Equation" r:id="rId6" imgW="1155600" imgH="380880" progId="Equation.DSMT4">
                  <p:embed/>
                </p:oleObj>
              </mc:Choice>
              <mc:Fallback>
                <p:oleObj name="Equation" r:id="rId6" imgW="1155600" imgH="380880" progId="Equation.DSMT4">
                  <p:embed/>
                  <p:pic>
                    <p:nvPicPr>
                      <p:cNvPr id="0" name=""/>
                      <p:cNvPicPr/>
                      <p:nvPr/>
                    </p:nvPicPr>
                    <p:blipFill>
                      <a:blip r:embed="rId7"/>
                      <a:stretch>
                        <a:fillRect/>
                      </a:stretch>
                    </p:blipFill>
                    <p:spPr>
                      <a:xfrm>
                        <a:off x="3223051" y="5272038"/>
                        <a:ext cx="1155700" cy="381000"/>
                      </a:xfrm>
                      <a:prstGeom prst="rect">
                        <a:avLst/>
                      </a:prstGeom>
                    </p:spPr>
                  </p:pic>
                </p:oleObj>
              </mc:Fallback>
            </mc:AlternateContent>
          </a:graphicData>
        </a:graphic>
      </p:graphicFrame>
    </p:spTree>
    <p:extLst>
      <p:ext uri="{BB962C8B-B14F-4D97-AF65-F5344CB8AC3E}">
        <p14:creationId xmlns:p14="http://schemas.microsoft.com/office/powerpoint/2010/main" val="2786785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0">
                                            <p:txEl>
                                              <p:pRg st="3" end="3"/>
                                            </p:txEl>
                                          </p:spTgt>
                                        </p:tgtEl>
                                        <p:attrNameLst>
                                          <p:attrName>style.visibility</p:attrName>
                                        </p:attrNameLst>
                                      </p:cBhvr>
                                      <p:to>
                                        <p:strVal val="visible"/>
                                      </p:to>
                                    </p:set>
                                    <p:animEffect transition="in" filter="fade">
                                      <p:cBhvr>
                                        <p:cTn id="7" dur="500"/>
                                        <p:tgtEl>
                                          <p:spTgt spid="430">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0">
                                            <p:txEl>
                                              <p:pRg st="4" end="4"/>
                                            </p:txEl>
                                          </p:spTgt>
                                        </p:tgtEl>
                                        <p:attrNameLst>
                                          <p:attrName>style.visibility</p:attrName>
                                        </p:attrNameLst>
                                      </p:cBhvr>
                                      <p:to>
                                        <p:strVal val="visible"/>
                                      </p:to>
                                    </p:set>
                                    <p:animEffect transition="in" filter="fade">
                                      <p:cBhvr>
                                        <p:cTn id="12" dur="500"/>
                                        <p:tgtEl>
                                          <p:spTgt spid="430">
                                            <p:txEl>
                                              <p:pRg st="4" end="4"/>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30">
                                            <p:txEl>
                                              <p:pRg st="6" end="6"/>
                                            </p:txEl>
                                          </p:spTgt>
                                        </p:tgtEl>
                                        <p:attrNameLst>
                                          <p:attrName>style.visibility</p:attrName>
                                        </p:attrNameLst>
                                      </p:cBhvr>
                                      <p:to>
                                        <p:strVal val="visible"/>
                                      </p:to>
                                    </p:set>
                                    <p:animEffect transition="in" filter="fade">
                                      <p:cBhvr>
                                        <p:cTn id="20" dur="500"/>
                                        <p:tgtEl>
                                          <p:spTgt spid="430">
                                            <p:txEl>
                                              <p:pRg st="6" end="6"/>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30">
                                            <p:txEl>
                                              <p:pRg st="7" end="7"/>
                                            </p:txEl>
                                          </p:spTgt>
                                        </p:tgtEl>
                                        <p:attrNameLst>
                                          <p:attrName>style.visibility</p:attrName>
                                        </p:attrNameLst>
                                      </p:cBhvr>
                                      <p:to>
                                        <p:strVal val="visible"/>
                                      </p:to>
                                    </p:set>
                                    <p:animEffect transition="in" filter="fade">
                                      <p:cBhvr>
                                        <p:cTn id="25" dur="500"/>
                                        <p:tgtEl>
                                          <p:spTgt spid="430">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430">
                                            <p:txEl>
                                              <p:pRg st="8" end="8"/>
                                            </p:txEl>
                                          </p:spTgt>
                                        </p:tgtEl>
                                        <p:attrNameLst>
                                          <p:attrName>style.visibility</p:attrName>
                                        </p:attrNameLst>
                                      </p:cBhvr>
                                      <p:to>
                                        <p:strVal val="visible"/>
                                      </p:to>
                                    </p:set>
                                    <p:animEffect transition="in" filter="fade">
                                      <p:cBhvr>
                                        <p:cTn id="28" dur="500"/>
                                        <p:tgtEl>
                                          <p:spTgt spid="430">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7" name="Rectangle 6">
            <a:extLst>
              <a:ext uri="{FF2B5EF4-FFF2-40B4-BE49-F238E27FC236}">
                <a16:creationId xmlns:a16="http://schemas.microsoft.com/office/drawing/2014/main" id="{18EB4442-9708-43EA-B2CE-63D79D313E77}"/>
              </a:ext>
            </a:extLst>
          </p:cNvPr>
          <p:cNvSpPr/>
          <p:nvPr/>
        </p:nvSpPr>
        <p:spPr>
          <a:xfrm>
            <a:off x="225271" y="396401"/>
            <a:ext cx="8537729" cy="4571525"/>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Google Shape;430;p64"/>
          <p:cNvSpPr txBox="1">
            <a:spLocks noGrp="1"/>
          </p:cNvSpPr>
          <p:nvPr>
            <p:ph type="body" idx="1"/>
          </p:nvPr>
        </p:nvSpPr>
        <p:spPr>
          <a:xfrm>
            <a:off x="609599" y="546067"/>
            <a:ext cx="8242169" cy="5287962"/>
          </a:xfrm>
          <a:prstGeom prst="rect">
            <a:avLst/>
          </a:prstGeom>
          <a:noFill/>
          <a:ln>
            <a:noFill/>
          </a:ln>
        </p:spPr>
        <p:txBody>
          <a:bodyPr spcFirstLastPara="1" wrap="square" lIns="91425" tIns="45700" rIns="91425" bIns="45700" anchor="t" anchorCtr="0">
            <a:noAutofit/>
          </a:bodyPr>
          <a:lstStyle/>
          <a:p>
            <a:pPr marL="0" lvl="0" indent="0">
              <a:spcBef>
                <a:spcPts val="0"/>
              </a:spcBef>
              <a:buSzPts val="3200"/>
              <a:buNone/>
            </a:pPr>
            <a:r>
              <a:rPr lang="en-US" sz="2800" b="1" dirty="0">
                <a:solidFill>
                  <a:schemeClr val="tx1"/>
                </a:solidFill>
              </a:rPr>
              <a:t>Testing A Hypothesis Regarding the Difference of Two Proportions: Dependent Samples</a:t>
            </a:r>
            <a:endParaRPr lang="en-US" sz="2800" dirty="0">
              <a:solidFill>
                <a:schemeClr val="tx1"/>
              </a:solidFill>
            </a:endParaRPr>
          </a:p>
          <a:p>
            <a:pPr marL="0" lvl="0" indent="0" algn="ctr" rtl="0">
              <a:lnSpc>
                <a:spcPct val="100000"/>
              </a:lnSpc>
              <a:spcBef>
                <a:spcPts val="640"/>
              </a:spcBef>
              <a:spcAft>
                <a:spcPts val="0"/>
              </a:spcAft>
              <a:buSzPts val="3200"/>
              <a:buFont typeface="Times New Roman"/>
              <a:buNone/>
            </a:pPr>
            <a:endParaRPr sz="800" b="1" i="0" u="none" dirty="0">
              <a:solidFill>
                <a:schemeClr val="tx1"/>
              </a:solidFill>
              <a:latin typeface="Arial"/>
              <a:ea typeface="Arial"/>
              <a:cs typeface="Arial"/>
              <a:sym typeface="Arial"/>
            </a:endParaRPr>
          </a:p>
          <a:p>
            <a:pPr marL="114300" indent="0">
              <a:buNone/>
            </a:pPr>
            <a:r>
              <a:rPr lang="en-US" sz="2600" b="1" i="1" dirty="0">
                <a:latin typeface="Times New Roman" panose="02020603050405020304" pitchFamily="18" charset="0"/>
                <a:cs typeface="Times New Roman" panose="02020603050405020304" pitchFamily="18" charset="0"/>
              </a:rPr>
              <a:t>Step 2 </a:t>
            </a:r>
            <a:r>
              <a:rPr lang="en-US" sz="2600" dirty="0">
                <a:latin typeface="Times New Roman" panose="02020603050405020304" pitchFamily="18" charset="0"/>
                <a:cs typeface="Times New Roman" panose="02020603050405020304" pitchFamily="18" charset="0"/>
              </a:rPr>
              <a:t>Select a level of significance, </a:t>
            </a:r>
            <a:r>
              <a:rPr lang="en-US"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depending on the seriousness of making a Type I error.</a:t>
            </a:r>
          </a:p>
          <a:p>
            <a:pPr marL="114300" indent="0">
              <a:buNone/>
            </a:pPr>
            <a:endParaRPr lang="en-US" sz="2600" b="1" i="1" dirty="0">
              <a:latin typeface="Times New Roman" panose="02020603050405020304" pitchFamily="18" charset="0"/>
              <a:cs typeface="Times New Roman" panose="02020603050405020304" pitchFamily="18" charset="0"/>
            </a:endParaRPr>
          </a:p>
          <a:p>
            <a:pPr marL="114300" indent="0">
              <a:buNone/>
            </a:pPr>
            <a:r>
              <a:rPr lang="en-US" sz="2600" b="1" i="1" dirty="0">
                <a:latin typeface="Times New Roman" panose="02020603050405020304" pitchFamily="18" charset="0"/>
                <a:cs typeface="Times New Roman" panose="02020603050405020304" pitchFamily="18" charset="0"/>
              </a:rPr>
              <a:t>Step 3 </a:t>
            </a:r>
            <a:r>
              <a:rPr lang="en-US" sz="2600" dirty="0">
                <a:latin typeface="Times New Roman" panose="02020603050405020304" pitchFamily="18" charset="0"/>
                <a:cs typeface="Times New Roman" panose="02020603050405020304" pitchFamily="18" charset="0"/>
              </a:rPr>
              <a:t>Compute the test statistic</a:t>
            </a:r>
            <a:endParaRPr sz="26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432" name="Google Shape;432;p6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97</a:t>
            </a:fld>
            <a:endParaRPr/>
          </a:p>
        </p:txBody>
      </p:sp>
      <p:graphicFrame>
        <p:nvGraphicFramePr>
          <p:cNvPr id="8" name="Object 7">
            <a:extLst>
              <a:ext uri="{FF2B5EF4-FFF2-40B4-BE49-F238E27FC236}">
                <a16:creationId xmlns:a16="http://schemas.microsoft.com/office/drawing/2014/main" id="{A60F75A6-71B1-4B0B-9D24-27B1D9A63520}"/>
              </a:ext>
            </a:extLst>
          </p:cNvPr>
          <p:cNvGraphicFramePr>
            <a:graphicFrameLocks noChangeAspect="1"/>
          </p:cNvGraphicFramePr>
          <p:nvPr>
            <p:extLst>
              <p:ext uri="{D42A27DB-BD31-4B8C-83A1-F6EECF244321}">
                <p14:modId xmlns:p14="http://schemas.microsoft.com/office/powerpoint/2010/main" val="2224525452"/>
              </p:ext>
            </p:extLst>
          </p:nvPr>
        </p:nvGraphicFramePr>
        <p:xfrm>
          <a:off x="2962162" y="3504545"/>
          <a:ext cx="2222500" cy="977900"/>
        </p:xfrm>
        <a:graphic>
          <a:graphicData uri="http://schemas.openxmlformats.org/presentationml/2006/ole">
            <mc:AlternateContent xmlns:mc="http://schemas.openxmlformats.org/markup-compatibility/2006">
              <mc:Choice xmlns:v="urn:schemas-microsoft-com:vml" Requires="v">
                <p:oleObj spid="_x0000_s40995" name="Equation" r:id="rId4" imgW="2222280" imgH="977760" progId="Equation.DSMT4">
                  <p:embed/>
                </p:oleObj>
              </mc:Choice>
              <mc:Fallback>
                <p:oleObj name="Equation" r:id="rId4" imgW="2222280" imgH="977760" progId="Equation.DSMT4">
                  <p:embed/>
                  <p:pic>
                    <p:nvPicPr>
                      <p:cNvPr id="2" name="Object 1">
                        <a:extLst>
                          <a:ext uri="{FF2B5EF4-FFF2-40B4-BE49-F238E27FC236}">
                            <a16:creationId xmlns:a16="http://schemas.microsoft.com/office/drawing/2014/main" id="{CF178DB8-DB67-4FC7-885B-007DB7056E2D}"/>
                          </a:ext>
                        </a:extLst>
                      </p:cNvPr>
                      <p:cNvPicPr/>
                      <p:nvPr/>
                    </p:nvPicPr>
                    <p:blipFill>
                      <a:blip r:embed="rId5"/>
                      <a:stretch>
                        <a:fillRect/>
                      </a:stretch>
                    </p:blipFill>
                    <p:spPr>
                      <a:xfrm>
                        <a:off x="2962162" y="3504545"/>
                        <a:ext cx="2222500" cy="977900"/>
                      </a:xfrm>
                      <a:prstGeom prst="rect">
                        <a:avLst/>
                      </a:prstGeom>
                    </p:spPr>
                  </p:pic>
                </p:oleObj>
              </mc:Fallback>
            </mc:AlternateContent>
          </a:graphicData>
        </a:graphic>
      </p:graphicFrame>
    </p:spTree>
    <p:extLst>
      <p:ext uri="{BB962C8B-B14F-4D97-AF65-F5344CB8AC3E}">
        <p14:creationId xmlns:p14="http://schemas.microsoft.com/office/powerpoint/2010/main" val="2046438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0">
                                            <p:txEl>
                                              <p:pRg st="4" end="4"/>
                                            </p:txEl>
                                          </p:spTgt>
                                        </p:tgtEl>
                                        <p:attrNameLst>
                                          <p:attrName>style.visibility</p:attrName>
                                        </p:attrNameLst>
                                      </p:cBhvr>
                                      <p:to>
                                        <p:strVal val="visible"/>
                                      </p:to>
                                    </p:set>
                                    <p:animEffect transition="in" filter="fade">
                                      <p:cBhvr>
                                        <p:cTn id="7" dur="500"/>
                                        <p:tgtEl>
                                          <p:spTgt spid="430">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7" name="Rectangle 6">
            <a:extLst>
              <a:ext uri="{FF2B5EF4-FFF2-40B4-BE49-F238E27FC236}">
                <a16:creationId xmlns:a16="http://schemas.microsoft.com/office/drawing/2014/main" id="{18EB4442-9708-43EA-B2CE-63D79D313E77}"/>
              </a:ext>
            </a:extLst>
          </p:cNvPr>
          <p:cNvSpPr/>
          <p:nvPr/>
        </p:nvSpPr>
        <p:spPr>
          <a:xfrm>
            <a:off x="225271" y="396401"/>
            <a:ext cx="8537729" cy="5437628"/>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Google Shape;430;p64"/>
          <p:cNvSpPr txBox="1">
            <a:spLocks noGrp="1"/>
          </p:cNvSpPr>
          <p:nvPr>
            <p:ph type="body" idx="1"/>
          </p:nvPr>
        </p:nvSpPr>
        <p:spPr>
          <a:xfrm>
            <a:off x="609599" y="546067"/>
            <a:ext cx="8242169" cy="5287962"/>
          </a:xfrm>
          <a:prstGeom prst="rect">
            <a:avLst/>
          </a:prstGeom>
          <a:noFill/>
          <a:ln>
            <a:noFill/>
          </a:ln>
        </p:spPr>
        <p:txBody>
          <a:bodyPr spcFirstLastPara="1" wrap="square" lIns="91425" tIns="45700" rIns="91425" bIns="45700" anchor="t" anchorCtr="0">
            <a:noAutofit/>
          </a:bodyPr>
          <a:lstStyle/>
          <a:p>
            <a:pPr marL="0" lvl="0" indent="0">
              <a:spcBef>
                <a:spcPts val="0"/>
              </a:spcBef>
              <a:buSzPts val="3200"/>
              <a:buNone/>
            </a:pPr>
            <a:r>
              <a:rPr lang="en-US" sz="2800" b="1" dirty="0">
                <a:solidFill>
                  <a:schemeClr val="tx1"/>
                </a:solidFill>
              </a:rPr>
              <a:t>Testing A Hypothesis Regarding the Difference of Two Proportions: Dependent Samples</a:t>
            </a:r>
            <a:endParaRPr lang="en-US" sz="2800" dirty="0">
              <a:solidFill>
                <a:schemeClr val="tx1"/>
              </a:solidFill>
            </a:endParaRPr>
          </a:p>
          <a:p>
            <a:pPr marL="0" lvl="0" indent="0" algn="ctr" rtl="0">
              <a:lnSpc>
                <a:spcPct val="100000"/>
              </a:lnSpc>
              <a:spcBef>
                <a:spcPts val="640"/>
              </a:spcBef>
              <a:spcAft>
                <a:spcPts val="0"/>
              </a:spcAft>
              <a:buSzPts val="3200"/>
              <a:buFont typeface="Times New Roman"/>
              <a:buNone/>
            </a:pPr>
            <a:endParaRPr sz="800" b="1" i="0" u="none" dirty="0">
              <a:solidFill>
                <a:schemeClr val="tx1"/>
              </a:solidFill>
              <a:latin typeface="Arial"/>
              <a:ea typeface="Arial"/>
              <a:cs typeface="Arial"/>
              <a:sym typeface="Arial"/>
            </a:endParaRPr>
          </a:p>
          <a:p>
            <a:pPr marL="114300" indent="0">
              <a:buNone/>
            </a:pPr>
            <a:r>
              <a:rPr lang="en-US" sz="2600" b="1" dirty="0">
                <a:latin typeface="+mn-lt"/>
                <a:cs typeface="Times New Roman" panose="02020603050405020304" pitchFamily="18" charset="0"/>
              </a:rPr>
              <a:t>Classical Approach</a:t>
            </a:r>
          </a:p>
          <a:p>
            <a:pPr marL="114300" indent="0">
              <a:buNone/>
            </a:pPr>
            <a:r>
              <a:rPr lang="en-US" sz="2600" b="1" i="1" dirty="0">
                <a:latin typeface="Times New Roman" panose="02020603050405020304" pitchFamily="18" charset="0"/>
                <a:cs typeface="Times New Roman" panose="02020603050405020304" pitchFamily="18" charset="0"/>
              </a:rPr>
              <a:t>Step 3 (continued) </a:t>
            </a:r>
            <a:r>
              <a:rPr lang="en-US" sz="2600" dirty="0">
                <a:latin typeface="Times New Roman" panose="02020603050405020304" pitchFamily="18" charset="0"/>
                <a:cs typeface="Times New Roman" panose="02020603050405020304" pitchFamily="18" charset="0"/>
              </a:rPr>
              <a:t>Use Table VIII to determine the</a:t>
            </a:r>
          </a:p>
          <a:p>
            <a:pPr marL="114300" indent="0">
              <a:buNone/>
            </a:pPr>
            <a:r>
              <a:rPr lang="en-US" sz="2600" dirty="0">
                <a:latin typeface="Times New Roman" panose="02020603050405020304" pitchFamily="18" charset="0"/>
                <a:cs typeface="Times New Roman" panose="02020603050405020304" pitchFamily="18" charset="0"/>
              </a:rPr>
              <a:t>critical value with 1 degree of freedom.</a:t>
            </a:r>
          </a:p>
          <a:p>
            <a:pPr marL="114300" indent="0">
              <a:buNone/>
            </a:pPr>
            <a:endParaRPr lang="en-US" sz="26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114300" indent="0">
              <a:buNone/>
            </a:pPr>
            <a:endParaRPr lang="en-US" sz="26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114300" indent="0">
              <a:buNone/>
            </a:pPr>
            <a:endParaRPr lang="en-US" sz="26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114300" indent="0">
              <a:buNone/>
            </a:pPr>
            <a:endParaRPr lang="en-US" sz="26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114300" indent="0">
              <a:buNone/>
            </a:pPr>
            <a:endParaRPr lang="en-US" sz="26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114300" indent="0">
              <a:buNone/>
            </a:pPr>
            <a:endParaRPr lang="en-US" sz="26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432" name="Google Shape;432;p6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98</a:t>
            </a:fld>
            <a:endParaRPr/>
          </a:p>
        </p:txBody>
      </p:sp>
      <p:pic>
        <p:nvPicPr>
          <p:cNvPr id="5" name="Picture 4" descr="A picture containing mirror&#10;&#10;Description automatically generated">
            <a:extLst>
              <a:ext uri="{FF2B5EF4-FFF2-40B4-BE49-F238E27FC236}">
                <a16:creationId xmlns:a16="http://schemas.microsoft.com/office/drawing/2014/main" id="{703F0C95-CEF4-4E0F-B225-A30763EF6860}"/>
              </a:ext>
            </a:extLst>
          </p:cNvPr>
          <p:cNvPicPr>
            <a:picLocks noChangeAspect="1"/>
          </p:cNvPicPr>
          <p:nvPr/>
        </p:nvPicPr>
        <p:blipFill>
          <a:blip r:embed="rId3"/>
          <a:stretch>
            <a:fillRect/>
          </a:stretch>
        </p:blipFill>
        <p:spPr>
          <a:xfrm>
            <a:off x="2402441" y="3172357"/>
            <a:ext cx="4183388" cy="23545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02801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7" name="Rectangle 6">
            <a:extLst>
              <a:ext uri="{FF2B5EF4-FFF2-40B4-BE49-F238E27FC236}">
                <a16:creationId xmlns:a16="http://schemas.microsoft.com/office/drawing/2014/main" id="{18EB4442-9708-43EA-B2CE-63D79D313E77}"/>
              </a:ext>
            </a:extLst>
          </p:cNvPr>
          <p:cNvSpPr/>
          <p:nvPr/>
        </p:nvSpPr>
        <p:spPr>
          <a:xfrm>
            <a:off x="225271" y="396401"/>
            <a:ext cx="8537729" cy="3741966"/>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Google Shape;430;p64"/>
          <p:cNvSpPr txBox="1">
            <a:spLocks noGrp="1"/>
          </p:cNvSpPr>
          <p:nvPr>
            <p:ph type="body" idx="1"/>
          </p:nvPr>
        </p:nvSpPr>
        <p:spPr>
          <a:xfrm>
            <a:off x="609599" y="546067"/>
            <a:ext cx="8242169" cy="5287962"/>
          </a:xfrm>
          <a:prstGeom prst="rect">
            <a:avLst/>
          </a:prstGeom>
          <a:noFill/>
          <a:ln>
            <a:noFill/>
          </a:ln>
        </p:spPr>
        <p:txBody>
          <a:bodyPr spcFirstLastPara="1" wrap="square" lIns="91425" tIns="45700" rIns="91425" bIns="45700" anchor="t" anchorCtr="0">
            <a:noAutofit/>
          </a:bodyPr>
          <a:lstStyle/>
          <a:p>
            <a:pPr marL="0" lvl="0" indent="0">
              <a:spcBef>
                <a:spcPts val="0"/>
              </a:spcBef>
              <a:buSzPts val="3200"/>
              <a:buNone/>
            </a:pPr>
            <a:r>
              <a:rPr lang="en-US" sz="2800" b="1" dirty="0">
                <a:solidFill>
                  <a:schemeClr val="tx1"/>
                </a:solidFill>
              </a:rPr>
              <a:t>Testing A Hypothesis Regarding the Difference of Two Proportions: Dependent Samples</a:t>
            </a:r>
            <a:endParaRPr lang="en-US" sz="2800" dirty="0">
              <a:solidFill>
                <a:schemeClr val="tx1"/>
              </a:solidFill>
            </a:endParaRPr>
          </a:p>
          <a:p>
            <a:pPr marL="0" lvl="0" indent="0" algn="ctr" rtl="0">
              <a:lnSpc>
                <a:spcPct val="100000"/>
              </a:lnSpc>
              <a:spcBef>
                <a:spcPts val="640"/>
              </a:spcBef>
              <a:spcAft>
                <a:spcPts val="0"/>
              </a:spcAft>
              <a:buSzPts val="3200"/>
              <a:buFont typeface="Times New Roman"/>
              <a:buNone/>
            </a:pPr>
            <a:endParaRPr sz="800" b="1" i="0" u="none" dirty="0">
              <a:solidFill>
                <a:schemeClr val="tx1"/>
              </a:solidFill>
              <a:latin typeface="Arial"/>
              <a:ea typeface="Arial"/>
              <a:cs typeface="Arial"/>
              <a:sym typeface="Arial"/>
            </a:endParaRPr>
          </a:p>
          <a:p>
            <a:pPr marL="114300" indent="0">
              <a:buNone/>
            </a:pPr>
            <a:r>
              <a:rPr lang="en-US" sz="2600" b="1" dirty="0">
                <a:latin typeface="+mn-lt"/>
                <a:cs typeface="Times New Roman" panose="02020603050405020304" pitchFamily="18" charset="0"/>
              </a:rPr>
              <a:t>Classical Approach</a:t>
            </a:r>
          </a:p>
          <a:p>
            <a:pPr marL="114300" indent="0">
              <a:buNone/>
            </a:pPr>
            <a:r>
              <a:rPr lang="en-US" sz="2600" b="1" i="1" dirty="0">
                <a:latin typeface="Times New Roman" panose="02020603050405020304" pitchFamily="18" charset="0"/>
                <a:cs typeface="Times New Roman" panose="02020603050405020304" pitchFamily="18" charset="0"/>
              </a:rPr>
              <a:t>Step 4 </a:t>
            </a:r>
            <a:r>
              <a:rPr lang="en-US" sz="2600" dirty="0">
                <a:latin typeface="Times New Roman" panose="02020603050405020304" pitchFamily="18" charset="0"/>
                <a:cs typeface="Times New Roman" panose="02020603050405020304" pitchFamily="18" charset="0"/>
              </a:rPr>
              <a:t>If                reject the null hypothesis.</a:t>
            </a:r>
          </a:p>
          <a:p>
            <a:pPr marL="114300" indent="0">
              <a:buNone/>
            </a:pPr>
            <a:endParaRPr lang="en-US" sz="26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114300" indent="0">
              <a:buNone/>
            </a:pPr>
            <a:r>
              <a:rPr lang="en-US" sz="2600" b="1" i="1" dirty="0">
                <a:latin typeface="Times New Roman" panose="02020603050405020304" pitchFamily="18" charset="0"/>
                <a:cs typeface="Times New Roman" panose="02020603050405020304" pitchFamily="18" charset="0"/>
              </a:rPr>
              <a:t>Step 5 </a:t>
            </a:r>
            <a:r>
              <a:rPr lang="en-US" sz="2600" dirty="0">
                <a:latin typeface="Times New Roman" panose="02020603050405020304" pitchFamily="18" charset="0"/>
                <a:cs typeface="Times New Roman" panose="02020603050405020304" pitchFamily="18" charset="0"/>
              </a:rPr>
              <a:t>State the conclusion.</a:t>
            </a:r>
            <a:endParaRPr lang="en-US" sz="26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114300" indent="0">
              <a:buNone/>
            </a:pPr>
            <a:endParaRPr lang="en-US" sz="26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114300" indent="0">
              <a:buNone/>
            </a:pPr>
            <a:endParaRPr lang="en-US" sz="26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114300" indent="0">
              <a:buNone/>
            </a:pPr>
            <a:endParaRPr lang="en-US" sz="26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114300" indent="0">
              <a:buNone/>
            </a:pPr>
            <a:endParaRPr lang="en-US" sz="26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114300" indent="0">
              <a:buNone/>
            </a:pPr>
            <a:endParaRPr lang="en-US" sz="26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432" name="Google Shape;432;p6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99</a:t>
            </a:fld>
            <a:endParaRPr/>
          </a:p>
        </p:txBody>
      </p:sp>
      <p:graphicFrame>
        <p:nvGraphicFramePr>
          <p:cNvPr id="6" name="Object 5">
            <a:extLst>
              <a:ext uri="{FF2B5EF4-FFF2-40B4-BE49-F238E27FC236}">
                <a16:creationId xmlns:a16="http://schemas.microsoft.com/office/drawing/2014/main" id="{415A3898-8833-44A7-AA6D-4021F5B27100}"/>
              </a:ext>
            </a:extLst>
          </p:cNvPr>
          <p:cNvGraphicFramePr>
            <a:graphicFrameLocks noChangeAspect="1"/>
          </p:cNvGraphicFramePr>
          <p:nvPr>
            <p:extLst>
              <p:ext uri="{D42A27DB-BD31-4B8C-83A1-F6EECF244321}">
                <p14:modId xmlns:p14="http://schemas.microsoft.com/office/powerpoint/2010/main" val="542032550"/>
              </p:ext>
            </p:extLst>
          </p:nvPr>
        </p:nvGraphicFramePr>
        <p:xfrm>
          <a:off x="2031640" y="2084502"/>
          <a:ext cx="1181100" cy="444500"/>
        </p:xfrm>
        <a:graphic>
          <a:graphicData uri="http://schemas.openxmlformats.org/presentationml/2006/ole">
            <mc:AlternateContent xmlns:mc="http://schemas.openxmlformats.org/markup-compatibility/2006">
              <mc:Choice xmlns:v="urn:schemas-microsoft-com:vml" Requires="v">
                <p:oleObj spid="_x0000_s42018" name="Equation" r:id="rId4" imgW="1180800" imgH="444240" progId="Equation.DSMT4">
                  <p:embed/>
                </p:oleObj>
              </mc:Choice>
              <mc:Fallback>
                <p:oleObj name="Equation" r:id="rId4" imgW="1180800" imgH="444240" progId="Equation.DSMT4">
                  <p:embed/>
                  <p:pic>
                    <p:nvPicPr>
                      <p:cNvPr id="8" name="Object 7">
                        <a:extLst>
                          <a:ext uri="{FF2B5EF4-FFF2-40B4-BE49-F238E27FC236}">
                            <a16:creationId xmlns:a16="http://schemas.microsoft.com/office/drawing/2014/main" id="{A60F75A6-71B1-4B0B-9D24-27B1D9A63520}"/>
                          </a:ext>
                        </a:extLst>
                      </p:cNvPr>
                      <p:cNvPicPr/>
                      <p:nvPr/>
                    </p:nvPicPr>
                    <p:blipFill>
                      <a:blip r:embed="rId5"/>
                      <a:stretch>
                        <a:fillRect/>
                      </a:stretch>
                    </p:blipFill>
                    <p:spPr>
                      <a:xfrm>
                        <a:off x="2031640" y="2084502"/>
                        <a:ext cx="1181100" cy="444500"/>
                      </a:xfrm>
                      <a:prstGeom prst="rect">
                        <a:avLst/>
                      </a:prstGeom>
                    </p:spPr>
                  </p:pic>
                </p:oleObj>
              </mc:Fallback>
            </mc:AlternateContent>
          </a:graphicData>
        </a:graphic>
      </p:graphicFrame>
    </p:spTree>
    <p:extLst>
      <p:ext uri="{BB962C8B-B14F-4D97-AF65-F5344CB8AC3E}">
        <p14:creationId xmlns:p14="http://schemas.microsoft.com/office/powerpoint/2010/main" val="1938108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0">
                                            <p:txEl>
                                              <p:pRg st="5" end="5"/>
                                            </p:txEl>
                                          </p:spTgt>
                                        </p:tgtEl>
                                        <p:attrNameLst>
                                          <p:attrName>style.visibility</p:attrName>
                                        </p:attrNameLst>
                                      </p:cBhvr>
                                      <p:to>
                                        <p:strVal val="visible"/>
                                      </p:to>
                                    </p:set>
                                    <p:animEffect transition="in" filter="fade">
                                      <p:cBhvr>
                                        <p:cTn id="7" dur="500"/>
                                        <p:tgtEl>
                                          <p:spTgt spid="43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7" name="Rectangle 6">
            <a:extLst>
              <a:ext uri="{FF2B5EF4-FFF2-40B4-BE49-F238E27FC236}">
                <a16:creationId xmlns:a16="http://schemas.microsoft.com/office/drawing/2014/main" id="{18EB4442-9708-43EA-B2CE-63D79D313E77}"/>
              </a:ext>
            </a:extLst>
          </p:cNvPr>
          <p:cNvSpPr/>
          <p:nvPr/>
        </p:nvSpPr>
        <p:spPr>
          <a:xfrm>
            <a:off x="225271" y="396401"/>
            <a:ext cx="8537729" cy="5759302"/>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Google Shape;430;p64"/>
          <p:cNvSpPr txBox="1">
            <a:spLocks noGrp="1"/>
          </p:cNvSpPr>
          <p:nvPr>
            <p:ph type="body" idx="1"/>
          </p:nvPr>
        </p:nvSpPr>
        <p:spPr>
          <a:xfrm>
            <a:off x="609599" y="546067"/>
            <a:ext cx="8242169" cy="5287962"/>
          </a:xfrm>
          <a:prstGeom prst="rect">
            <a:avLst/>
          </a:prstGeom>
          <a:noFill/>
          <a:ln>
            <a:noFill/>
          </a:ln>
        </p:spPr>
        <p:txBody>
          <a:bodyPr spcFirstLastPara="1" wrap="square" lIns="91425" tIns="45700" rIns="91425" bIns="45700" anchor="t" anchorCtr="0">
            <a:noAutofit/>
          </a:bodyPr>
          <a:lstStyle/>
          <a:p>
            <a:pPr marL="0" lvl="0" indent="0">
              <a:spcBef>
                <a:spcPts val="0"/>
              </a:spcBef>
              <a:buSzPts val="3200"/>
              <a:buNone/>
            </a:pPr>
            <a:r>
              <a:rPr lang="en-US" sz="2800" b="1" dirty="0">
                <a:solidFill>
                  <a:schemeClr val="tx1"/>
                </a:solidFill>
              </a:rPr>
              <a:t>Testing A Hypothesis Regarding the Difference of Two Proportions: Dependent Samples</a:t>
            </a:r>
            <a:endParaRPr lang="en-US" sz="2800" dirty="0">
              <a:solidFill>
                <a:schemeClr val="tx1"/>
              </a:solidFill>
            </a:endParaRPr>
          </a:p>
          <a:p>
            <a:pPr marL="0" lvl="0" indent="0" algn="ctr" rtl="0">
              <a:lnSpc>
                <a:spcPct val="100000"/>
              </a:lnSpc>
              <a:spcBef>
                <a:spcPts val="640"/>
              </a:spcBef>
              <a:spcAft>
                <a:spcPts val="0"/>
              </a:spcAft>
              <a:buSzPts val="3200"/>
              <a:buFont typeface="Times New Roman"/>
              <a:buNone/>
            </a:pPr>
            <a:endParaRPr sz="800" b="1" i="0" u="none" dirty="0">
              <a:solidFill>
                <a:schemeClr val="tx1"/>
              </a:solidFill>
              <a:latin typeface="Arial"/>
              <a:ea typeface="Arial"/>
              <a:cs typeface="Arial"/>
              <a:sym typeface="Arial"/>
            </a:endParaRPr>
          </a:p>
          <a:p>
            <a:pPr marL="114300" indent="0">
              <a:buNone/>
            </a:pPr>
            <a:r>
              <a:rPr lang="en-US" sz="2600" b="1" i="1" dirty="0">
                <a:latin typeface="+mn-lt"/>
                <a:cs typeface="Times New Roman" panose="02020603050405020304" pitchFamily="18" charset="0"/>
              </a:rPr>
              <a:t>P</a:t>
            </a:r>
            <a:r>
              <a:rPr lang="en-US" sz="2600" b="1" dirty="0">
                <a:latin typeface="+mn-lt"/>
                <a:cs typeface="Times New Roman" panose="02020603050405020304" pitchFamily="18" charset="0"/>
              </a:rPr>
              <a:t>-Value Approach</a:t>
            </a:r>
          </a:p>
          <a:p>
            <a:pPr marL="114300" indent="0">
              <a:buNone/>
            </a:pPr>
            <a:r>
              <a:rPr lang="en-US" sz="2600" b="1" i="1" dirty="0">
                <a:latin typeface="Times New Roman" panose="02020603050405020304" pitchFamily="18" charset="0"/>
                <a:cs typeface="Times New Roman" panose="02020603050405020304" pitchFamily="18" charset="0"/>
              </a:rPr>
              <a:t>By Hand Step 3 (continued) </a:t>
            </a:r>
            <a:r>
              <a:rPr lang="en-US" sz="2600" dirty="0">
                <a:latin typeface="Times New Roman" panose="02020603050405020304" pitchFamily="18" charset="0"/>
                <a:cs typeface="Times New Roman" panose="02020603050405020304" pitchFamily="18" charset="0"/>
              </a:rPr>
              <a:t>Use Table VIII to determine</a:t>
            </a:r>
          </a:p>
          <a:p>
            <a:pPr marL="114300" indent="0">
              <a:buNone/>
            </a:pPr>
            <a:r>
              <a:rPr lang="en-US" sz="2600" dirty="0">
                <a:latin typeface="Times New Roman" panose="02020603050405020304" pitchFamily="18" charset="0"/>
                <a:cs typeface="Times New Roman" panose="02020603050405020304" pitchFamily="18" charset="0"/>
              </a:rPr>
              <a:t>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by determining the area under the chi-square</a:t>
            </a:r>
          </a:p>
          <a:p>
            <a:pPr marL="114300" indent="0">
              <a:buNone/>
            </a:pPr>
            <a:r>
              <a:rPr lang="en-US" sz="2600" dirty="0">
                <a:latin typeface="Times New Roman" panose="02020603050405020304" pitchFamily="18" charset="0"/>
                <a:cs typeface="Times New Roman" panose="02020603050405020304" pitchFamily="18" charset="0"/>
              </a:rPr>
              <a:t>distribution with 1 degree of freedom to the right of the test statistic.</a:t>
            </a:r>
            <a:endParaRPr lang="en-US" sz="26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114300" indent="0">
              <a:buNone/>
            </a:pPr>
            <a:endParaRPr lang="en-US" sz="26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114300" indent="0">
              <a:buNone/>
            </a:pPr>
            <a:endParaRPr lang="en-US" sz="26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114300" indent="0">
              <a:buNone/>
            </a:pPr>
            <a:endParaRPr lang="en-US" sz="26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432" name="Google Shape;432;p6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100</a:t>
            </a:fld>
            <a:endParaRPr/>
          </a:p>
        </p:txBody>
      </p:sp>
      <p:pic>
        <p:nvPicPr>
          <p:cNvPr id="3" name="Picture 2" descr="A close up of a mans face&#10;&#10;Description automatically generated">
            <a:extLst>
              <a:ext uri="{FF2B5EF4-FFF2-40B4-BE49-F238E27FC236}">
                <a16:creationId xmlns:a16="http://schemas.microsoft.com/office/drawing/2014/main" id="{F980CE45-1EA5-45B9-9FB5-7A4B15A31E66}"/>
              </a:ext>
            </a:extLst>
          </p:cNvPr>
          <p:cNvPicPr>
            <a:picLocks noChangeAspect="1"/>
          </p:cNvPicPr>
          <p:nvPr/>
        </p:nvPicPr>
        <p:blipFill>
          <a:blip r:embed="rId3"/>
          <a:stretch>
            <a:fillRect/>
          </a:stretch>
        </p:blipFill>
        <p:spPr>
          <a:xfrm>
            <a:off x="2402441" y="3593728"/>
            <a:ext cx="4183388" cy="23545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85202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7" name="Rectangle 6">
            <a:extLst>
              <a:ext uri="{FF2B5EF4-FFF2-40B4-BE49-F238E27FC236}">
                <a16:creationId xmlns:a16="http://schemas.microsoft.com/office/drawing/2014/main" id="{18EB4442-9708-43EA-B2CE-63D79D313E77}"/>
              </a:ext>
            </a:extLst>
          </p:cNvPr>
          <p:cNvSpPr/>
          <p:nvPr/>
        </p:nvSpPr>
        <p:spPr>
          <a:xfrm>
            <a:off x="225271" y="396401"/>
            <a:ext cx="8537729" cy="5287962"/>
          </a:xfrm>
          <a:prstGeom prst="rect">
            <a:avLst/>
          </a:prstGeom>
          <a:solidFill>
            <a:srgbClr val="F5F9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Google Shape;430;p64"/>
          <p:cNvSpPr txBox="1">
            <a:spLocks noGrp="1"/>
          </p:cNvSpPr>
          <p:nvPr>
            <p:ph type="body" idx="1"/>
          </p:nvPr>
        </p:nvSpPr>
        <p:spPr>
          <a:xfrm>
            <a:off x="609599" y="546067"/>
            <a:ext cx="8242169" cy="5287962"/>
          </a:xfrm>
          <a:prstGeom prst="rect">
            <a:avLst/>
          </a:prstGeom>
          <a:noFill/>
          <a:ln>
            <a:noFill/>
          </a:ln>
        </p:spPr>
        <p:txBody>
          <a:bodyPr spcFirstLastPara="1" wrap="square" lIns="91425" tIns="45700" rIns="91425" bIns="45700" anchor="t" anchorCtr="0">
            <a:noAutofit/>
          </a:bodyPr>
          <a:lstStyle/>
          <a:p>
            <a:pPr marL="0" lvl="0" indent="0">
              <a:spcBef>
                <a:spcPts val="0"/>
              </a:spcBef>
              <a:buSzPts val="3200"/>
              <a:buNone/>
            </a:pPr>
            <a:r>
              <a:rPr lang="en-US" sz="2800" b="1" dirty="0">
                <a:solidFill>
                  <a:schemeClr val="tx1"/>
                </a:solidFill>
              </a:rPr>
              <a:t>Testing A Hypothesis Regarding the Difference of Two Proportions: Dependent Samples</a:t>
            </a:r>
            <a:endParaRPr lang="en-US" sz="2800" dirty="0">
              <a:solidFill>
                <a:schemeClr val="tx1"/>
              </a:solidFill>
            </a:endParaRPr>
          </a:p>
          <a:p>
            <a:pPr marL="0" lvl="0" indent="0" algn="ctr" rtl="0">
              <a:lnSpc>
                <a:spcPct val="100000"/>
              </a:lnSpc>
              <a:spcBef>
                <a:spcPts val="640"/>
              </a:spcBef>
              <a:spcAft>
                <a:spcPts val="0"/>
              </a:spcAft>
              <a:buSzPts val="3200"/>
              <a:buFont typeface="Times New Roman"/>
              <a:buNone/>
            </a:pPr>
            <a:endParaRPr sz="800" b="1" i="0" u="none" dirty="0">
              <a:solidFill>
                <a:schemeClr val="tx1"/>
              </a:solidFill>
              <a:latin typeface="Arial"/>
              <a:ea typeface="Arial"/>
              <a:cs typeface="Arial"/>
              <a:sym typeface="Arial"/>
            </a:endParaRPr>
          </a:p>
          <a:p>
            <a:pPr marL="114300" indent="0">
              <a:buNone/>
            </a:pPr>
            <a:r>
              <a:rPr lang="en-US" sz="2600" b="1" i="1" dirty="0">
                <a:latin typeface="+mn-lt"/>
                <a:cs typeface="Times New Roman" panose="02020603050405020304" pitchFamily="18" charset="0"/>
              </a:rPr>
              <a:t>P</a:t>
            </a:r>
            <a:r>
              <a:rPr lang="en-US" sz="2600" b="1" dirty="0">
                <a:latin typeface="+mn-lt"/>
                <a:cs typeface="Times New Roman" panose="02020603050405020304" pitchFamily="18" charset="0"/>
              </a:rPr>
              <a:t>-Value Approach</a:t>
            </a:r>
          </a:p>
          <a:p>
            <a:pPr marL="114300" indent="0">
              <a:buNone/>
            </a:pPr>
            <a:r>
              <a:rPr lang="en-US" sz="2600" b="1" i="1" dirty="0">
                <a:latin typeface="Times New Roman" panose="02020603050405020304" pitchFamily="18" charset="0"/>
                <a:cs typeface="Times New Roman" panose="02020603050405020304" pitchFamily="18" charset="0"/>
              </a:rPr>
              <a:t>Technology Step 3 (continued) </a:t>
            </a:r>
            <a:r>
              <a:rPr lang="en-US" sz="2600" dirty="0">
                <a:latin typeface="Times New Roman" panose="02020603050405020304" pitchFamily="18" charset="0"/>
                <a:cs typeface="Times New Roman" panose="02020603050405020304" pitchFamily="18" charset="0"/>
              </a:rPr>
              <a:t>Use a statistical spreadsheet or calculator with statistical capabilities to obtain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a:t>
            </a:r>
          </a:p>
          <a:p>
            <a:pPr marL="114300" indent="0">
              <a:buNone/>
            </a:pPr>
            <a:endParaRPr lang="en-US" sz="26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114300" indent="0">
              <a:buNone/>
            </a:pPr>
            <a:r>
              <a:rPr lang="en-US" sz="2600" b="1" i="1" dirty="0">
                <a:latin typeface="Times New Roman" panose="02020603050405020304" pitchFamily="18" charset="0"/>
                <a:cs typeface="Times New Roman" panose="02020603050405020304" pitchFamily="18" charset="0"/>
              </a:rPr>
              <a:t>Step 4 </a:t>
            </a:r>
            <a:r>
              <a:rPr lang="en-US" sz="2600" dirty="0">
                <a:latin typeface="Times New Roman" panose="02020603050405020304" pitchFamily="18" charset="0"/>
                <a:cs typeface="Times New Roman" panose="02020603050405020304" pitchFamily="18" charset="0"/>
              </a:rPr>
              <a:t>If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&lt;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reject the null hypothesis.</a:t>
            </a:r>
          </a:p>
          <a:p>
            <a:pPr marL="114300" indent="0">
              <a:buNone/>
            </a:pPr>
            <a:endParaRPr lang="en-US" sz="26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114300" indent="0">
              <a:buNone/>
            </a:pPr>
            <a:r>
              <a:rPr lang="en-US" sz="2600" b="1" i="1" dirty="0">
                <a:latin typeface="Times New Roman" panose="02020603050405020304" pitchFamily="18" charset="0"/>
                <a:cs typeface="Times New Roman" panose="02020603050405020304" pitchFamily="18" charset="0"/>
              </a:rPr>
              <a:t>Step 5 </a:t>
            </a:r>
            <a:r>
              <a:rPr lang="en-US" sz="2600" dirty="0">
                <a:latin typeface="Times New Roman" panose="02020603050405020304" pitchFamily="18" charset="0"/>
                <a:cs typeface="Times New Roman" panose="02020603050405020304" pitchFamily="18" charset="0"/>
              </a:rPr>
              <a:t>State the conclusion.</a:t>
            </a:r>
            <a:endParaRPr lang="en-US" sz="26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114300" indent="0">
              <a:buNone/>
            </a:pPr>
            <a:endParaRPr lang="en-US" sz="2600" b="0" i="0" u="none"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114300" indent="0">
              <a:buNone/>
            </a:pPr>
            <a:endParaRPr lang="en-US" sz="26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432" name="Google Shape;432;p6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101</a:t>
            </a:fld>
            <a:endParaRPr/>
          </a:p>
        </p:txBody>
      </p:sp>
    </p:spTree>
    <p:extLst>
      <p:ext uri="{BB962C8B-B14F-4D97-AF65-F5344CB8AC3E}">
        <p14:creationId xmlns:p14="http://schemas.microsoft.com/office/powerpoint/2010/main" val="461028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0">
                                            <p:txEl>
                                              <p:pRg st="5" end="5"/>
                                            </p:txEl>
                                          </p:spTgt>
                                        </p:tgtEl>
                                        <p:attrNameLst>
                                          <p:attrName>style.visibility</p:attrName>
                                        </p:attrNameLst>
                                      </p:cBhvr>
                                      <p:to>
                                        <p:strVal val="visible"/>
                                      </p:to>
                                    </p:set>
                                    <p:animEffect transition="in" filter="fade">
                                      <p:cBhvr>
                                        <p:cTn id="7" dur="500"/>
                                        <p:tgtEl>
                                          <p:spTgt spid="430">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0">
                                            <p:txEl>
                                              <p:pRg st="7" end="7"/>
                                            </p:txEl>
                                          </p:spTgt>
                                        </p:tgtEl>
                                        <p:attrNameLst>
                                          <p:attrName>style.visibility</p:attrName>
                                        </p:attrNameLst>
                                      </p:cBhvr>
                                      <p:to>
                                        <p:strVal val="visible"/>
                                      </p:to>
                                    </p:set>
                                    <p:animEffect transition="in" filter="fade">
                                      <p:cBhvr>
                                        <p:cTn id="12" dur="500"/>
                                        <p:tgtEl>
                                          <p:spTgt spid="43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77858" y="1097355"/>
            <a:ext cx="8634167" cy="3539430"/>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A recent General Social Survey asked the following two questions of a random sample of 1492 adult Americans under the hypothetical scenario that the government suspected that a terrorist act was about to happen:</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Do you believe that the authorities should have the right to tap people’s telephone conversations?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Do you believe that the authorities should have the right to stop and search people on the street at random?</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102</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Analyzing the Difference of Two </a:t>
            </a:r>
          </a:p>
          <a:p>
            <a:pPr>
              <a:buClr>
                <a:schemeClr val="dk1"/>
              </a:buClr>
              <a:buSzPts val="2400"/>
            </a:pPr>
            <a:r>
              <a:rPr lang="en-US" sz="2400" dirty="0">
                <a:solidFill>
                  <a:schemeClr val="dk1"/>
                </a:solidFill>
              </a:rPr>
              <a:t>(1 of 7)            </a:t>
            </a:r>
            <a:r>
              <a:rPr lang="en-US" sz="2400" i="1" dirty="0">
                <a:solidFill>
                  <a:schemeClr val="dk1"/>
                </a:solidFill>
              </a:rPr>
              <a:t>Proportions from Matched-Pairs Data</a:t>
            </a:r>
          </a:p>
        </p:txBody>
      </p:sp>
    </p:spTree>
    <p:extLst>
      <p:ext uri="{BB962C8B-B14F-4D97-AF65-F5344CB8AC3E}">
        <p14:creationId xmlns:p14="http://schemas.microsoft.com/office/powerpoint/2010/main" val="3937802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77858" y="1097355"/>
            <a:ext cx="8634167" cy="3970318"/>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The results of the survey are shown in Table 15.</a:t>
            </a: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Do the proportion of people who agree with each scenario differ significantly? Use the </a:t>
            </a:r>
            <a:r>
              <a:rPr lang="en-US" sz="2800" i="1" dirty="0">
                <a:latin typeface="Times New Roman" panose="02020603050405020304" pitchFamily="18" charset="0"/>
                <a:cs typeface="Times New Roman" panose="02020603050405020304" pitchFamily="18" charset="0"/>
                <a:sym typeface="Symbol" panose="05050102010706020507" pitchFamily="18" charset="2"/>
              </a:rPr>
              <a:t></a:t>
            </a:r>
            <a:r>
              <a:rPr lang="en-US" sz="2800" dirty="0">
                <a:latin typeface="Times New Roman" panose="02020603050405020304" pitchFamily="18" charset="0"/>
                <a:cs typeface="Times New Roman" panose="02020603050405020304" pitchFamily="18" charset="0"/>
              </a:rPr>
              <a:t> = 0.05 level of significance.</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103</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Analyzing the Difference of Two </a:t>
            </a:r>
          </a:p>
          <a:p>
            <a:pPr>
              <a:buClr>
                <a:schemeClr val="dk1"/>
              </a:buClr>
              <a:buSzPts val="2400"/>
            </a:pPr>
            <a:r>
              <a:rPr lang="en-US" sz="2400" dirty="0">
                <a:solidFill>
                  <a:schemeClr val="dk1"/>
                </a:solidFill>
              </a:rPr>
              <a:t>(2 of 7)            </a:t>
            </a:r>
            <a:r>
              <a:rPr lang="en-US" sz="2400" i="1" dirty="0">
                <a:solidFill>
                  <a:schemeClr val="dk1"/>
                </a:solidFill>
              </a:rPr>
              <a:t>Proportions from Matched-Pairs Data</a:t>
            </a:r>
          </a:p>
        </p:txBody>
      </p:sp>
      <p:pic>
        <p:nvPicPr>
          <p:cNvPr id="3" name="Picture 2" descr="A screenshot of a cell phone&#10;&#10;Description automatically generated">
            <a:extLst>
              <a:ext uri="{FF2B5EF4-FFF2-40B4-BE49-F238E27FC236}">
                <a16:creationId xmlns:a16="http://schemas.microsoft.com/office/drawing/2014/main" id="{1D2865F1-8594-4787-8E6D-ACF4CBAA8723}"/>
              </a:ext>
            </a:extLst>
          </p:cNvPr>
          <p:cNvPicPr>
            <a:picLocks noChangeAspect="1"/>
          </p:cNvPicPr>
          <p:nvPr/>
        </p:nvPicPr>
        <p:blipFill>
          <a:blip r:embed="rId3"/>
          <a:stretch>
            <a:fillRect/>
          </a:stretch>
        </p:blipFill>
        <p:spPr>
          <a:xfrm>
            <a:off x="2061967" y="1737853"/>
            <a:ext cx="5020066" cy="2043688"/>
          </a:xfrm>
          <a:prstGeom prst="rect">
            <a:avLst/>
          </a:prstGeom>
        </p:spPr>
      </p:pic>
    </p:spTree>
    <p:extLst>
      <p:ext uri="{BB962C8B-B14F-4D97-AF65-F5344CB8AC3E}">
        <p14:creationId xmlns:p14="http://schemas.microsoft.com/office/powerpoint/2010/main" val="605166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77858" y="1097355"/>
            <a:ext cx="8634167" cy="3693319"/>
          </a:xfrm>
          <a:prstGeom prst="rect">
            <a:avLst/>
          </a:prstGeom>
        </p:spPr>
        <p:txBody>
          <a:bodyPr wrap="square">
            <a:spAutoFit/>
          </a:bodyPr>
          <a:lstStyle/>
          <a:p>
            <a:r>
              <a:rPr lang="en-US" sz="2600" b="1" i="1" dirty="0">
                <a:latin typeface="Times New Roman" panose="02020603050405020304" pitchFamily="18" charset="0"/>
                <a:cs typeface="Times New Roman" panose="02020603050405020304" pitchFamily="18" charset="0"/>
              </a:rPr>
              <a:t>Step 1 </a:t>
            </a:r>
            <a:r>
              <a:rPr lang="en-US" sz="2600" dirty="0">
                <a:latin typeface="Times New Roman" panose="02020603050405020304" pitchFamily="18" charset="0"/>
                <a:cs typeface="Times New Roman" panose="02020603050405020304" pitchFamily="18" charset="0"/>
              </a:rPr>
              <a:t>The hypotheses are as follows:</a:t>
            </a:r>
          </a:p>
          <a:p>
            <a:r>
              <a:rPr lang="en-US" sz="2600" i="1" dirty="0">
                <a:latin typeface="Times New Roman" panose="02020603050405020304" pitchFamily="18" charset="0"/>
                <a:cs typeface="Times New Roman" panose="02020603050405020304" pitchFamily="18" charset="0"/>
              </a:rPr>
              <a:t>            H</a:t>
            </a:r>
            <a:r>
              <a:rPr lang="en-US" sz="2600" baseline="-25000" dirty="0">
                <a:latin typeface="Times New Roman" panose="02020603050405020304" pitchFamily="18" charset="0"/>
                <a:cs typeface="Times New Roman" panose="02020603050405020304" pitchFamily="18" charset="0"/>
              </a:rPr>
              <a:t>0</a:t>
            </a:r>
            <a:r>
              <a:rPr lang="en-US" sz="2600" dirty="0">
                <a:latin typeface="Times New Roman" panose="02020603050405020304" pitchFamily="18" charset="0"/>
                <a:cs typeface="Times New Roman" panose="02020603050405020304" pitchFamily="18" charset="0"/>
              </a:rPr>
              <a:t>: the proportions between the two populations are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                   equal (</a:t>
            </a:r>
            <a:r>
              <a:rPr lang="en-US" sz="2600" i="1" dirty="0" err="1">
                <a:latin typeface="Times New Roman" panose="02020603050405020304" pitchFamily="18" charset="0"/>
                <a:cs typeface="Times New Roman" panose="02020603050405020304" pitchFamily="18" charset="0"/>
              </a:rPr>
              <a:t>p</a:t>
            </a:r>
            <a:r>
              <a:rPr lang="en-US" sz="2600" baseline="-25000" dirty="0" err="1">
                <a:latin typeface="Times New Roman" panose="02020603050405020304" pitchFamily="18" charset="0"/>
                <a:cs typeface="Times New Roman" panose="02020603050405020304" pitchFamily="18" charset="0"/>
              </a:rPr>
              <a:t>T</a:t>
            </a:r>
            <a:r>
              <a:rPr lang="en-US" sz="2600" dirty="0">
                <a:latin typeface="Times New Roman" panose="02020603050405020304" pitchFamily="18" charset="0"/>
                <a:cs typeface="Times New Roman" panose="02020603050405020304" pitchFamily="18" charset="0"/>
              </a:rPr>
              <a:t> = </a:t>
            </a:r>
            <a:r>
              <a:rPr lang="en-US" sz="2600" i="1" dirty="0" err="1">
                <a:latin typeface="Times New Roman" panose="02020603050405020304" pitchFamily="18" charset="0"/>
                <a:cs typeface="Times New Roman" panose="02020603050405020304" pitchFamily="18" charset="0"/>
              </a:rPr>
              <a:t>p</a:t>
            </a:r>
            <a:r>
              <a:rPr lang="en-US" sz="2600" baseline="-25000" dirty="0" err="1">
                <a:latin typeface="Times New Roman" panose="02020603050405020304" pitchFamily="18" charset="0"/>
                <a:cs typeface="Times New Roman" panose="02020603050405020304" pitchFamily="18" charset="0"/>
              </a:rPr>
              <a:t>R</a:t>
            </a:r>
            <a:r>
              <a:rPr lang="en-US" sz="2600" dirty="0">
                <a:latin typeface="Times New Roman" panose="02020603050405020304" pitchFamily="18" charset="0"/>
                <a:cs typeface="Times New Roman" panose="02020603050405020304" pitchFamily="18" charset="0"/>
              </a:rPr>
              <a:t>)</a:t>
            </a:r>
          </a:p>
          <a:p>
            <a:r>
              <a:rPr lang="en-US" sz="2600" i="1" dirty="0">
                <a:latin typeface="Times New Roman" panose="02020603050405020304" pitchFamily="18" charset="0"/>
                <a:cs typeface="Times New Roman" panose="02020603050405020304" pitchFamily="18" charset="0"/>
              </a:rPr>
              <a:t>            H</a:t>
            </a:r>
            <a:r>
              <a:rPr lang="en-US" sz="2600" baseline="-25000"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the proportions between the two populations differ </a:t>
            </a:r>
          </a:p>
          <a:p>
            <a:endParaRPr lang="en-US" sz="2600" b="1" i="1" dirty="0">
              <a:latin typeface="Times New Roman" panose="02020603050405020304" pitchFamily="18" charset="0"/>
              <a:cs typeface="Times New Roman" panose="02020603050405020304" pitchFamily="18" charset="0"/>
            </a:endParaRPr>
          </a:p>
          <a:p>
            <a:endParaRPr lang="en-US" sz="2600" b="1" i="1"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2 </a:t>
            </a:r>
            <a:r>
              <a:rPr lang="en-US" sz="2600" dirty="0">
                <a:latin typeface="Times New Roman" panose="02020603050405020304" pitchFamily="18" charset="0"/>
                <a:cs typeface="Times New Roman" panose="02020603050405020304" pitchFamily="18" charset="0"/>
              </a:rPr>
              <a:t>The level of significance is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0.05.</a:t>
            </a:r>
          </a:p>
          <a:p>
            <a:endParaRPr lang="en-US" sz="2600" b="1" i="1"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3 </a:t>
            </a:r>
            <a:r>
              <a:rPr lang="en-US" sz="2600" dirty="0">
                <a:latin typeface="Times New Roman" panose="02020603050405020304" pitchFamily="18" charset="0"/>
                <a:cs typeface="Times New Roman" panose="02020603050405020304" pitchFamily="18" charset="0"/>
              </a:rPr>
              <a:t>The test statistic is</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104</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Analyzing the Difference of Two </a:t>
            </a:r>
          </a:p>
          <a:p>
            <a:pPr>
              <a:buClr>
                <a:schemeClr val="dk1"/>
              </a:buClr>
              <a:buSzPts val="2400"/>
            </a:pPr>
            <a:r>
              <a:rPr lang="en-US" sz="2400" dirty="0">
                <a:solidFill>
                  <a:schemeClr val="dk1"/>
                </a:solidFill>
              </a:rPr>
              <a:t>(3 of 7)            </a:t>
            </a:r>
            <a:r>
              <a:rPr lang="en-US" sz="2400" i="1" dirty="0">
                <a:solidFill>
                  <a:schemeClr val="dk1"/>
                </a:solidFill>
              </a:rPr>
              <a:t>Proportions from Matched-Pairs Data</a:t>
            </a:r>
          </a:p>
        </p:txBody>
      </p:sp>
      <p:graphicFrame>
        <p:nvGraphicFramePr>
          <p:cNvPr id="2" name="Object 1">
            <a:extLst>
              <a:ext uri="{FF2B5EF4-FFF2-40B4-BE49-F238E27FC236}">
                <a16:creationId xmlns:a16="http://schemas.microsoft.com/office/drawing/2014/main" id="{9F739915-D123-4CBE-96FD-C9AD7CE85E8B}"/>
              </a:ext>
            </a:extLst>
          </p:cNvPr>
          <p:cNvGraphicFramePr>
            <a:graphicFrameLocks noChangeAspect="1"/>
          </p:cNvGraphicFramePr>
          <p:nvPr>
            <p:extLst>
              <p:ext uri="{D42A27DB-BD31-4B8C-83A1-F6EECF244321}">
                <p14:modId xmlns:p14="http://schemas.microsoft.com/office/powerpoint/2010/main" val="2954956573"/>
              </p:ext>
            </p:extLst>
          </p:nvPr>
        </p:nvGraphicFramePr>
        <p:xfrm>
          <a:off x="1985848" y="2743959"/>
          <a:ext cx="1257300" cy="431800"/>
        </p:xfrm>
        <a:graphic>
          <a:graphicData uri="http://schemas.openxmlformats.org/presentationml/2006/ole">
            <mc:AlternateContent xmlns:mc="http://schemas.openxmlformats.org/markup-compatibility/2006">
              <mc:Choice xmlns:v="urn:schemas-microsoft-com:vml" Requires="v">
                <p:oleObj spid="_x0000_s43085" name="Equation" r:id="rId4" imgW="1257120" imgH="431640" progId="Equation.DSMT4">
                  <p:embed/>
                </p:oleObj>
              </mc:Choice>
              <mc:Fallback>
                <p:oleObj name="Equation" r:id="rId4" imgW="1257120" imgH="431640" progId="Equation.DSMT4">
                  <p:embed/>
                  <p:pic>
                    <p:nvPicPr>
                      <p:cNvPr id="0" name=""/>
                      <p:cNvPicPr/>
                      <p:nvPr/>
                    </p:nvPicPr>
                    <p:blipFill>
                      <a:blip r:embed="rId5"/>
                      <a:stretch>
                        <a:fillRect/>
                      </a:stretch>
                    </p:blipFill>
                    <p:spPr>
                      <a:xfrm>
                        <a:off x="1985848" y="2743959"/>
                        <a:ext cx="1257300" cy="4318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C21C6CAE-855B-4CD1-A753-9908802AEE18}"/>
              </a:ext>
            </a:extLst>
          </p:cNvPr>
          <p:cNvGraphicFramePr>
            <a:graphicFrameLocks noChangeAspect="1"/>
          </p:cNvGraphicFramePr>
          <p:nvPr>
            <p:extLst>
              <p:ext uri="{D42A27DB-BD31-4B8C-83A1-F6EECF244321}">
                <p14:modId xmlns:p14="http://schemas.microsoft.com/office/powerpoint/2010/main" val="2585698619"/>
              </p:ext>
            </p:extLst>
          </p:nvPr>
        </p:nvGraphicFramePr>
        <p:xfrm>
          <a:off x="4036817" y="4013593"/>
          <a:ext cx="2222500" cy="977900"/>
        </p:xfrm>
        <a:graphic>
          <a:graphicData uri="http://schemas.openxmlformats.org/presentationml/2006/ole">
            <mc:AlternateContent xmlns:mc="http://schemas.openxmlformats.org/markup-compatibility/2006">
              <mc:Choice xmlns:v="urn:schemas-microsoft-com:vml" Requires="v">
                <p:oleObj spid="_x0000_s43086" name="Equation" r:id="rId6" imgW="2222280" imgH="977760" progId="Equation.DSMT4">
                  <p:embed/>
                </p:oleObj>
              </mc:Choice>
              <mc:Fallback>
                <p:oleObj name="Equation" r:id="rId6" imgW="2222280" imgH="977760" progId="Equation.DSMT4">
                  <p:embed/>
                  <p:pic>
                    <p:nvPicPr>
                      <p:cNvPr id="8" name="Object 7">
                        <a:extLst>
                          <a:ext uri="{FF2B5EF4-FFF2-40B4-BE49-F238E27FC236}">
                            <a16:creationId xmlns:a16="http://schemas.microsoft.com/office/drawing/2014/main" id="{A60F75A6-71B1-4B0B-9D24-27B1D9A63520}"/>
                          </a:ext>
                        </a:extLst>
                      </p:cNvPr>
                      <p:cNvPicPr/>
                      <p:nvPr/>
                    </p:nvPicPr>
                    <p:blipFill>
                      <a:blip r:embed="rId7"/>
                      <a:stretch>
                        <a:fillRect/>
                      </a:stretch>
                    </p:blipFill>
                    <p:spPr>
                      <a:xfrm>
                        <a:off x="4036817" y="4013593"/>
                        <a:ext cx="2222500" cy="97790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5E0C3358-FA00-4BEF-A9C3-6D88A0F1316E}"/>
              </a:ext>
            </a:extLst>
          </p:cNvPr>
          <p:cNvGraphicFramePr>
            <a:graphicFrameLocks noChangeAspect="1"/>
          </p:cNvGraphicFramePr>
          <p:nvPr>
            <p:extLst>
              <p:ext uri="{D42A27DB-BD31-4B8C-83A1-F6EECF244321}">
                <p14:modId xmlns:p14="http://schemas.microsoft.com/office/powerpoint/2010/main" val="929977522"/>
              </p:ext>
            </p:extLst>
          </p:nvPr>
        </p:nvGraphicFramePr>
        <p:xfrm>
          <a:off x="4572000" y="5109962"/>
          <a:ext cx="3187700" cy="901700"/>
        </p:xfrm>
        <a:graphic>
          <a:graphicData uri="http://schemas.openxmlformats.org/presentationml/2006/ole">
            <mc:AlternateContent xmlns:mc="http://schemas.openxmlformats.org/markup-compatibility/2006">
              <mc:Choice xmlns:v="urn:schemas-microsoft-com:vml" Requires="v">
                <p:oleObj spid="_x0000_s43087" name="Equation" r:id="rId8" imgW="3187440" imgH="901440" progId="Equation.DSMT4">
                  <p:embed/>
                </p:oleObj>
              </mc:Choice>
              <mc:Fallback>
                <p:oleObj name="Equation" r:id="rId8" imgW="3187440" imgH="901440" progId="Equation.DSMT4">
                  <p:embed/>
                  <p:pic>
                    <p:nvPicPr>
                      <p:cNvPr id="0" name=""/>
                      <p:cNvPicPr/>
                      <p:nvPr/>
                    </p:nvPicPr>
                    <p:blipFill>
                      <a:blip r:embed="rId9"/>
                      <a:stretch>
                        <a:fillRect/>
                      </a:stretch>
                    </p:blipFill>
                    <p:spPr>
                      <a:xfrm>
                        <a:off x="4572000" y="5109962"/>
                        <a:ext cx="3187700" cy="901700"/>
                      </a:xfrm>
                      <a:prstGeom prst="rect">
                        <a:avLst/>
                      </a:prstGeom>
                    </p:spPr>
                  </p:pic>
                </p:oleObj>
              </mc:Fallback>
            </mc:AlternateContent>
          </a:graphicData>
        </a:graphic>
      </p:graphicFrame>
    </p:spTree>
    <p:extLst>
      <p:ext uri="{BB962C8B-B14F-4D97-AF65-F5344CB8AC3E}">
        <p14:creationId xmlns:p14="http://schemas.microsoft.com/office/powerpoint/2010/main" val="627241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500"/>
                                        <p:tgtEl>
                                          <p:spTgt spid="4">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xEl>
                                              <p:pRg st="5" end="5"/>
                                            </p:txEl>
                                          </p:spTgt>
                                        </p:tgtEl>
                                        <p:attrNameLst>
                                          <p:attrName>style.visibility</p:attrName>
                                        </p:attrNameLst>
                                      </p:cBhvr>
                                      <p:to>
                                        <p:strVal val="visible"/>
                                      </p:to>
                                    </p:set>
                                    <p:animEffect transition="in" filter="fade">
                                      <p:cBhvr>
                                        <p:cTn id="18" dur="500"/>
                                        <p:tgtEl>
                                          <p:spTgt spid="4">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animEffect transition="in" filter="fade">
                                      <p:cBhvr>
                                        <p:cTn id="23" dur="500"/>
                                        <p:tgtEl>
                                          <p:spTgt spid="4">
                                            <p:txEl>
                                              <p:pRg st="7" end="7"/>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77858" y="1097355"/>
            <a:ext cx="8634167" cy="4893647"/>
          </a:xfrm>
          <a:prstGeom prst="rect">
            <a:avLst/>
          </a:prstGeom>
        </p:spPr>
        <p:txBody>
          <a:bodyPr wrap="square">
            <a:spAutoFit/>
          </a:bodyPr>
          <a:lstStyle/>
          <a:p>
            <a:r>
              <a:rPr lang="en-US" sz="2600" b="1" dirty="0"/>
              <a:t>Classical Approach</a:t>
            </a:r>
          </a:p>
          <a:p>
            <a:r>
              <a:rPr lang="en-US" sz="2600" b="1" i="1" dirty="0">
                <a:latin typeface="Times New Roman" panose="02020603050405020304" pitchFamily="18" charset="0"/>
                <a:cs typeface="Times New Roman" panose="02020603050405020304" pitchFamily="18" charset="0"/>
              </a:rPr>
              <a:t>Step 3 (continued) </a:t>
            </a:r>
            <a:r>
              <a:rPr lang="en-US" sz="2600" dirty="0">
                <a:latin typeface="Times New Roman" panose="02020603050405020304" pitchFamily="18" charset="0"/>
                <a:cs typeface="Times New Roman" panose="02020603050405020304" pitchFamily="18" charset="0"/>
              </a:rPr>
              <a:t>The critical value with an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 0.05 level of significance with 1 degree of freedom is </a:t>
            </a:r>
          </a:p>
          <a:p>
            <a:r>
              <a:rPr lang="en-US" sz="2600" dirty="0">
                <a:latin typeface="Times New Roman" panose="02020603050405020304" pitchFamily="18" charset="0"/>
                <a:cs typeface="Times New Roman" panose="02020603050405020304" pitchFamily="18" charset="0"/>
              </a:rPr>
              <a:t>The critical region is displayed in the figure.</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4 </a:t>
            </a:r>
            <a:r>
              <a:rPr lang="en-US" sz="2600" dirty="0">
                <a:latin typeface="Times New Roman" panose="02020603050405020304" pitchFamily="18" charset="0"/>
                <a:cs typeface="Times New Roman" panose="02020603050405020304" pitchFamily="18" charset="0"/>
              </a:rPr>
              <a:t>Because                  (the test statistic lies in the critical region), we reject the null hypothesis.</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105</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Analyzing the Difference of Two </a:t>
            </a:r>
          </a:p>
          <a:p>
            <a:pPr>
              <a:buClr>
                <a:schemeClr val="dk1"/>
              </a:buClr>
              <a:buSzPts val="2400"/>
            </a:pPr>
            <a:r>
              <a:rPr lang="en-US" sz="2400" dirty="0">
                <a:solidFill>
                  <a:schemeClr val="dk1"/>
                </a:solidFill>
              </a:rPr>
              <a:t>(4 of 7)            </a:t>
            </a:r>
            <a:r>
              <a:rPr lang="en-US" sz="2400" i="1" dirty="0">
                <a:solidFill>
                  <a:schemeClr val="dk1"/>
                </a:solidFill>
              </a:rPr>
              <a:t>Proportions from Matched-Pairs Data</a:t>
            </a:r>
          </a:p>
        </p:txBody>
      </p:sp>
      <p:graphicFrame>
        <p:nvGraphicFramePr>
          <p:cNvPr id="3" name="Object 2">
            <a:extLst>
              <a:ext uri="{FF2B5EF4-FFF2-40B4-BE49-F238E27FC236}">
                <a16:creationId xmlns:a16="http://schemas.microsoft.com/office/drawing/2014/main" id="{E6249CBA-7A4D-4B7C-B3AB-32559BB2CB58}"/>
              </a:ext>
            </a:extLst>
          </p:cNvPr>
          <p:cNvGraphicFramePr>
            <a:graphicFrameLocks noChangeAspect="1"/>
          </p:cNvGraphicFramePr>
          <p:nvPr>
            <p:extLst>
              <p:ext uri="{D42A27DB-BD31-4B8C-83A1-F6EECF244321}">
                <p14:modId xmlns:p14="http://schemas.microsoft.com/office/powerpoint/2010/main" val="19278135"/>
              </p:ext>
            </p:extLst>
          </p:nvPr>
        </p:nvGraphicFramePr>
        <p:xfrm>
          <a:off x="5911937" y="1893284"/>
          <a:ext cx="1739900" cy="444500"/>
        </p:xfrm>
        <a:graphic>
          <a:graphicData uri="http://schemas.openxmlformats.org/presentationml/2006/ole">
            <mc:AlternateContent xmlns:mc="http://schemas.openxmlformats.org/markup-compatibility/2006">
              <mc:Choice xmlns:v="urn:schemas-microsoft-com:vml" Requires="v">
                <p:oleObj spid="_x0000_s44082" name="Equation" r:id="rId4" imgW="1739880" imgH="444240" progId="Equation.DSMT4">
                  <p:embed/>
                </p:oleObj>
              </mc:Choice>
              <mc:Fallback>
                <p:oleObj name="Equation" r:id="rId4" imgW="1739880" imgH="444240" progId="Equation.DSMT4">
                  <p:embed/>
                  <p:pic>
                    <p:nvPicPr>
                      <p:cNvPr id="0" name=""/>
                      <p:cNvPicPr/>
                      <p:nvPr/>
                    </p:nvPicPr>
                    <p:blipFill>
                      <a:blip r:embed="rId5"/>
                      <a:stretch>
                        <a:fillRect/>
                      </a:stretch>
                    </p:blipFill>
                    <p:spPr>
                      <a:xfrm>
                        <a:off x="5911937" y="1893284"/>
                        <a:ext cx="1739900" cy="444500"/>
                      </a:xfrm>
                      <a:prstGeom prst="rect">
                        <a:avLst/>
                      </a:prstGeom>
                    </p:spPr>
                  </p:pic>
                </p:oleObj>
              </mc:Fallback>
            </mc:AlternateContent>
          </a:graphicData>
        </a:graphic>
      </p:graphicFrame>
      <p:pic>
        <p:nvPicPr>
          <p:cNvPr id="9" name="Picture 8" descr="A screenshot of a cell phone&#10;&#10;Description automatically generated">
            <a:extLst>
              <a:ext uri="{FF2B5EF4-FFF2-40B4-BE49-F238E27FC236}">
                <a16:creationId xmlns:a16="http://schemas.microsoft.com/office/drawing/2014/main" id="{CDFD681C-9CAD-436B-A4A3-31B938F7BE20}"/>
              </a:ext>
            </a:extLst>
          </p:cNvPr>
          <p:cNvPicPr>
            <a:picLocks noChangeAspect="1"/>
          </p:cNvPicPr>
          <p:nvPr/>
        </p:nvPicPr>
        <p:blipFill>
          <a:blip r:embed="rId6"/>
          <a:stretch>
            <a:fillRect/>
          </a:stretch>
        </p:blipFill>
        <p:spPr>
          <a:xfrm>
            <a:off x="2535193" y="2975165"/>
            <a:ext cx="3922784" cy="2185420"/>
          </a:xfrm>
          <a:prstGeom prst="rect">
            <a:avLst/>
          </a:prstGeom>
        </p:spPr>
      </p:pic>
      <p:graphicFrame>
        <p:nvGraphicFramePr>
          <p:cNvPr id="10" name="Object 9">
            <a:extLst>
              <a:ext uri="{FF2B5EF4-FFF2-40B4-BE49-F238E27FC236}">
                <a16:creationId xmlns:a16="http://schemas.microsoft.com/office/drawing/2014/main" id="{60CB7623-32A7-4169-A47D-FE45769D09ED}"/>
              </a:ext>
            </a:extLst>
          </p:cNvPr>
          <p:cNvGraphicFramePr>
            <a:graphicFrameLocks noChangeAspect="1"/>
          </p:cNvGraphicFramePr>
          <p:nvPr>
            <p:extLst>
              <p:ext uri="{D42A27DB-BD31-4B8C-83A1-F6EECF244321}">
                <p14:modId xmlns:p14="http://schemas.microsoft.com/office/powerpoint/2010/main" val="1229005911"/>
              </p:ext>
            </p:extLst>
          </p:nvPr>
        </p:nvGraphicFramePr>
        <p:xfrm>
          <a:off x="2607035" y="5055141"/>
          <a:ext cx="1270000" cy="444500"/>
        </p:xfrm>
        <a:graphic>
          <a:graphicData uri="http://schemas.openxmlformats.org/presentationml/2006/ole">
            <mc:AlternateContent xmlns:mc="http://schemas.openxmlformats.org/markup-compatibility/2006">
              <mc:Choice xmlns:v="urn:schemas-microsoft-com:vml" Requires="v">
                <p:oleObj spid="_x0000_s44083" name="Equation" r:id="rId7" imgW="1269720" imgH="444240" progId="Equation.DSMT4">
                  <p:embed/>
                </p:oleObj>
              </mc:Choice>
              <mc:Fallback>
                <p:oleObj name="Equation" r:id="rId7" imgW="1269720" imgH="444240" progId="Equation.DSMT4">
                  <p:embed/>
                  <p:pic>
                    <p:nvPicPr>
                      <p:cNvPr id="0" name=""/>
                      <p:cNvPicPr/>
                      <p:nvPr/>
                    </p:nvPicPr>
                    <p:blipFill>
                      <a:blip r:embed="rId8"/>
                      <a:stretch>
                        <a:fillRect/>
                      </a:stretch>
                    </p:blipFill>
                    <p:spPr>
                      <a:xfrm>
                        <a:off x="2607035" y="5055141"/>
                        <a:ext cx="1270000" cy="444500"/>
                      </a:xfrm>
                      <a:prstGeom prst="rect">
                        <a:avLst/>
                      </a:prstGeom>
                    </p:spPr>
                  </p:pic>
                </p:oleObj>
              </mc:Fallback>
            </mc:AlternateContent>
          </a:graphicData>
        </a:graphic>
      </p:graphicFrame>
    </p:spTree>
    <p:extLst>
      <p:ext uri="{BB962C8B-B14F-4D97-AF65-F5344CB8AC3E}">
        <p14:creationId xmlns:p14="http://schemas.microsoft.com/office/powerpoint/2010/main" val="1360775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9" end="9"/>
                                            </p:txEl>
                                          </p:spTgt>
                                        </p:tgtEl>
                                        <p:attrNameLst>
                                          <p:attrName>style.visibility</p:attrName>
                                        </p:attrNameLst>
                                      </p:cBhvr>
                                      <p:to>
                                        <p:strVal val="visible"/>
                                      </p:to>
                                    </p:set>
                                    <p:animEffect transition="in" filter="fade">
                                      <p:cBhvr>
                                        <p:cTn id="7" dur="500"/>
                                        <p:tgtEl>
                                          <p:spTgt spid="4">
                                            <p:txEl>
                                              <p:pRg st="9" end="9"/>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77859" y="1097355"/>
            <a:ext cx="8454272" cy="3693319"/>
          </a:xfrm>
          <a:prstGeom prst="rect">
            <a:avLst/>
          </a:prstGeom>
        </p:spPr>
        <p:txBody>
          <a:bodyPr wrap="square">
            <a:spAutoFit/>
          </a:bodyPr>
          <a:lstStyle/>
          <a:p>
            <a:r>
              <a:rPr lang="en-US" sz="2600" b="1" dirty="0"/>
              <a:t>Classical Approach</a:t>
            </a:r>
          </a:p>
          <a:p>
            <a:r>
              <a:rPr lang="en-US" sz="2600" b="1" i="1" dirty="0">
                <a:latin typeface="Times New Roman" panose="02020603050405020304" pitchFamily="18" charset="0"/>
                <a:cs typeface="Times New Roman" panose="02020603050405020304" pitchFamily="18" charset="0"/>
              </a:rPr>
              <a:t>Step 5 </a:t>
            </a:r>
            <a:r>
              <a:rPr lang="en-US" sz="2600" dirty="0">
                <a:latin typeface="Times New Roman" panose="02020603050405020304" pitchFamily="18" charset="0"/>
                <a:cs typeface="Times New Roman" panose="02020603050405020304" pitchFamily="18" charset="0"/>
              </a:rPr>
              <a:t>There is sufficient evidence to conclude that there is a difference in the proportion of adult Americans who believe it is okay to phone tap versus stopping and searching people on the street in the event that the government believed a terrorist</a:t>
            </a:r>
          </a:p>
          <a:p>
            <a:r>
              <a:rPr lang="en-US" sz="2600" dirty="0">
                <a:latin typeface="Times New Roman" panose="02020603050405020304" pitchFamily="18" charset="0"/>
                <a:cs typeface="Times New Roman" panose="02020603050405020304" pitchFamily="18" charset="0"/>
              </a:rPr>
              <a:t>plot was about to happen. In fact, looking at the sample proportions, it seems clear that more people are willing to allow phone tapping than they are to allow stopping and searching on the street.</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106</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Analyzing the Difference of Two </a:t>
            </a:r>
          </a:p>
          <a:p>
            <a:pPr>
              <a:buClr>
                <a:schemeClr val="dk1"/>
              </a:buClr>
              <a:buSzPts val="2400"/>
            </a:pPr>
            <a:r>
              <a:rPr lang="en-US" sz="2400" dirty="0">
                <a:solidFill>
                  <a:schemeClr val="dk1"/>
                </a:solidFill>
              </a:rPr>
              <a:t>(5 of 7)            </a:t>
            </a:r>
            <a:r>
              <a:rPr lang="en-US" sz="2400" i="1" dirty="0">
                <a:solidFill>
                  <a:schemeClr val="dk1"/>
                </a:solidFill>
              </a:rPr>
              <a:t>Proportions from Matched-Pairs Data</a:t>
            </a:r>
          </a:p>
        </p:txBody>
      </p:sp>
    </p:spTree>
    <p:extLst>
      <p:ext uri="{BB962C8B-B14F-4D97-AF65-F5344CB8AC3E}">
        <p14:creationId xmlns:p14="http://schemas.microsoft.com/office/powerpoint/2010/main" val="3324019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77858" y="1097355"/>
            <a:ext cx="8634167" cy="4493538"/>
          </a:xfrm>
          <a:prstGeom prst="rect">
            <a:avLst/>
          </a:prstGeom>
        </p:spPr>
        <p:txBody>
          <a:bodyPr wrap="square">
            <a:spAutoFit/>
          </a:bodyPr>
          <a:lstStyle/>
          <a:p>
            <a:r>
              <a:rPr lang="en-US" sz="2600" b="1" i="1" dirty="0"/>
              <a:t>P</a:t>
            </a:r>
            <a:r>
              <a:rPr lang="en-US" sz="2600" b="1" dirty="0"/>
              <a:t>-Value Approach</a:t>
            </a:r>
          </a:p>
          <a:p>
            <a:r>
              <a:rPr lang="en-US" sz="2600" b="1" i="1" dirty="0">
                <a:latin typeface="Times New Roman" panose="02020603050405020304" pitchFamily="18" charset="0"/>
                <a:cs typeface="Times New Roman" panose="02020603050405020304" pitchFamily="18" charset="0"/>
              </a:rPr>
              <a:t>By Hand Step 3 (continued) </a:t>
            </a:r>
            <a:r>
              <a:rPr lang="en-US" sz="2600" dirty="0">
                <a:latin typeface="Times New Roman" panose="02020603050405020304" pitchFamily="18" charset="0"/>
                <a:cs typeface="Times New Roman" panose="02020603050405020304" pitchFamily="18" charset="0"/>
              </a:rPr>
              <a:t>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is the area under the</a:t>
            </a:r>
          </a:p>
          <a:p>
            <a:r>
              <a:rPr lang="en-US" sz="2600" dirty="0">
                <a:latin typeface="Times New Roman" panose="02020603050405020304" pitchFamily="18" charset="0"/>
                <a:cs typeface="Times New Roman" panose="02020603050405020304" pitchFamily="18" charset="0"/>
              </a:rPr>
              <a:t>chi-square distribution to the right of the test statistic,  </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test statistic is so large that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&lt; 0.005.</a:t>
            </a:r>
          </a:p>
          <a:p>
            <a:endParaRPr lang="en-US" sz="2600" b="1" i="1"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Technology Step 3 (continued) </a:t>
            </a:r>
            <a:br>
              <a:rPr lang="en-US" sz="2600" b="1" i="1"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The figure shows 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obtained from StatCrunch.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The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is reported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as &lt; 0.0001.</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107</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Analyzing the Difference of Two </a:t>
            </a:r>
          </a:p>
          <a:p>
            <a:pPr>
              <a:buClr>
                <a:schemeClr val="dk1"/>
              </a:buClr>
              <a:buSzPts val="2400"/>
            </a:pPr>
            <a:r>
              <a:rPr lang="en-US" sz="2400" dirty="0">
                <a:solidFill>
                  <a:schemeClr val="dk1"/>
                </a:solidFill>
              </a:rPr>
              <a:t>(6 of 7)            </a:t>
            </a:r>
            <a:r>
              <a:rPr lang="en-US" sz="2400" i="1" dirty="0">
                <a:solidFill>
                  <a:schemeClr val="dk1"/>
                </a:solidFill>
              </a:rPr>
              <a:t>Proportions from Matched-Pairs Data</a:t>
            </a:r>
          </a:p>
        </p:txBody>
      </p:sp>
      <p:graphicFrame>
        <p:nvGraphicFramePr>
          <p:cNvPr id="10" name="Object 9">
            <a:extLst>
              <a:ext uri="{FF2B5EF4-FFF2-40B4-BE49-F238E27FC236}">
                <a16:creationId xmlns:a16="http://schemas.microsoft.com/office/drawing/2014/main" id="{60CB7623-32A7-4169-A47D-FE45769D09ED}"/>
              </a:ext>
            </a:extLst>
          </p:cNvPr>
          <p:cNvGraphicFramePr>
            <a:graphicFrameLocks noChangeAspect="1"/>
          </p:cNvGraphicFramePr>
          <p:nvPr>
            <p:extLst>
              <p:ext uri="{D42A27DB-BD31-4B8C-83A1-F6EECF244321}">
                <p14:modId xmlns:p14="http://schemas.microsoft.com/office/powerpoint/2010/main" val="4175907341"/>
              </p:ext>
            </p:extLst>
          </p:nvPr>
        </p:nvGraphicFramePr>
        <p:xfrm>
          <a:off x="533400" y="2299459"/>
          <a:ext cx="1689100" cy="444500"/>
        </p:xfrm>
        <a:graphic>
          <a:graphicData uri="http://schemas.openxmlformats.org/presentationml/2006/ole">
            <mc:AlternateContent xmlns:mc="http://schemas.openxmlformats.org/markup-compatibility/2006">
              <mc:Choice xmlns:v="urn:schemas-microsoft-com:vml" Requires="v">
                <p:oleObj spid="_x0000_s45080" name="Equation" r:id="rId4" imgW="1688760" imgH="444240" progId="Equation.DSMT4">
                  <p:embed/>
                </p:oleObj>
              </mc:Choice>
              <mc:Fallback>
                <p:oleObj name="Equation" r:id="rId4" imgW="1688760" imgH="444240" progId="Equation.DSMT4">
                  <p:embed/>
                  <p:pic>
                    <p:nvPicPr>
                      <p:cNvPr id="10" name="Object 9">
                        <a:extLst>
                          <a:ext uri="{FF2B5EF4-FFF2-40B4-BE49-F238E27FC236}">
                            <a16:creationId xmlns:a16="http://schemas.microsoft.com/office/drawing/2014/main" id="{60CB7623-32A7-4169-A47D-FE45769D09ED}"/>
                          </a:ext>
                        </a:extLst>
                      </p:cNvPr>
                      <p:cNvPicPr/>
                      <p:nvPr/>
                    </p:nvPicPr>
                    <p:blipFill>
                      <a:blip r:embed="rId5"/>
                      <a:stretch>
                        <a:fillRect/>
                      </a:stretch>
                    </p:blipFill>
                    <p:spPr>
                      <a:xfrm>
                        <a:off x="533400" y="2299459"/>
                        <a:ext cx="1689100" cy="444500"/>
                      </a:xfrm>
                      <a:prstGeom prst="rect">
                        <a:avLst/>
                      </a:prstGeom>
                    </p:spPr>
                  </p:pic>
                </p:oleObj>
              </mc:Fallback>
            </mc:AlternateContent>
          </a:graphicData>
        </a:graphic>
      </p:graphicFrame>
      <p:pic>
        <p:nvPicPr>
          <p:cNvPr id="5" name="Picture 4" descr="A screenshot of a cell phone&#10;&#10;Description automatically generated">
            <a:extLst>
              <a:ext uri="{FF2B5EF4-FFF2-40B4-BE49-F238E27FC236}">
                <a16:creationId xmlns:a16="http://schemas.microsoft.com/office/drawing/2014/main" id="{44D039CC-5AB6-485A-BBE6-8810FEE3CEC0}"/>
              </a:ext>
            </a:extLst>
          </p:cNvPr>
          <p:cNvPicPr>
            <a:picLocks noChangeAspect="1"/>
          </p:cNvPicPr>
          <p:nvPr/>
        </p:nvPicPr>
        <p:blipFill rotWithShape="1">
          <a:blip r:embed="rId6"/>
          <a:srcRect r="2331"/>
          <a:stretch/>
        </p:blipFill>
        <p:spPr>
          <a:xfrm>
            <a:off x="4760929" y="3116571"/>
            <a:ext cx="4251096" cy="3113538"/>
          </a:xfrm>
          <a:prstGeom prst="rect">
            <a:avLst/>
          </a:prstGeom>
        </p:spPr>
      </p:pic>
    </p:spTree>
    <p:extLst>
      <p:ext uri="{BB962C8B-B14F-4D97-AF65-F5344CB8AC3E}">
        <p14:creationId xmlns:p14="http://schemas.microsoft.com/office/powerpoint/2010/main" val="1060562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500"/>
                                        <p:tgtEl>
                                          <p:spTgt spid="4">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6" end="6"/>
                                            </p:txEl>
                                          </p:spTgt>
                                        </p:tgtEl>
                                        <p:attrNameLst>
                                          <p:attrName>style.visibility</p:attrName>
                                        </p:attrNameLst>
                                      </p:cBhvr>
                                      <p:to>
                                        <p:strVal val="visible"/>
                                      </p:to>
                                    </p:set>
                                    <p:animEffect transition="in" filter="fade">
                                      <p:cBhvr>
                                        <p:cTn id="12" dur="500"/>
                                        <p:tgtEl>
                                          <p:spTgt spid="4">
                                            <p:txEl>
                                              <p:pRg st="6" end="6"/>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4" name="Rectangle 3">
            <a:extLst>
              <a:ext uri="{FF2B5EF4-FFF2-40B4-BE49-F238E27FC236}">
                <a16:creationId xmlns:a16="http://schemas.microsoft.com/office/drawing/2014/main" id="{1E578722-1D5B-4C32-998F-982B090A4E53}"/>
              </a:ext>
            </a:extLst>
          </p:cNvPr>
          <p:cNvSpPr/>
          <p:nvPr/>
        </p:nvSpPr>
        <p:spPr>
          <a:xfrm>
            <a:off x="377859" y="1097355"/>
            <a:ext cx="8454272" cy="4493538"/>
          </a:xfrm>
          <a:prstGeom prst="rect">
            <a:avLst/>
          </a:prstGeom>
        </p:spPr>
        <p:txBody>
          <a:bodyPr wrap="square">
            <a:spAutoFit/>
          </a:bodyPr>
          <a:lstStyle/>
          <a:p>
            <a:r>
              <a:rPr lang="en-US" sz="2600" b="1" i="1" dirty="0"/>
              <a:t>P</a:t>
            </a:r>
            <a:r>
              <a:rPr lang="en-US" sz="2600" b="1" dirty="0"/>
              <a:t>-Value Approach</a:t>
            </a:r>
          </a:p>
          <a:p>
            <a:r>
              <a:rPr lang="en-US" sz="2600" b="1" i="1" dirty="0">
                <a:latin typeface="Times New Roman" panose="02020603050405020304" pitchFamily="18" charset="0"/>
                <a:cs typeface="Times New Roman" panose="02020603050405020304" pitchFamily="18" charset="0"/>
              </a:rPr>
              <a:t>Step 4 </a:t>
            </a:r>
            <a:r>
              <a:rPr lang="en-US" sz="2600" dirty="0">
                <a:latin typeface="Times New Roman" panose="02020603050405020304" pitchFamily="18" charset="0"/>
                <a:cs typeface="Times New Roman" panose="02020603050405020304" pitchFamily="18" charset="0"/>
              </a:rPr>
              <a:t>Because </a:t>
            </a:r>
            <a:r>
              <a:rPr lang="en-US" sz="2600" i="1" dirty="0">
                <a:latin typeface="Times New Roman" panose="02020603050405020304" pitchFamily="18" charset="0"/>
                <a:cs typeface="Times New Roman" panose="02020603050405020304" pitchFamily="18" charset="0"/>
              </a:rPr>
              <a:t>P-</a:t>
            </a:r>
            <a:r>
              <a:rPr lang="en-US" sz="2600" dirty="0">
                <a:latin typeface="Times New Roman" panose="02020603050405020304" pitchFamily="18" charset="0"/>
                <a:cs typeface="Times New Roman" panose="02020603050405020304" pitchFamily="18" charset="0"/>
              </a:rPr>
              <a:t>value &lt; </a:t>
            </a:r>
            <a:r>
              <a:rPr lang="en-US" sz="2600" i="1" dirty="0">
                <a:latin typeface="Times New Roman" panose="02020603050405020304" pitchFamily="18" charset="0"/>
                <a:cs typeface="Times New Roman" panose="02020603050405020304" pitchFamily="18" charset="0"/>
                <a:sym typeface="Symbol" panose="05050102010706020507" pitchFamily="18" charset="2"/>
              </a:rPr>
              <a:t></a:t>
            </a:r>
            <a:r>
              <a:rPr lang="en-US" sz="2600" dirty="0">
                <a:latin typeface="Times New Roman" panose="02020603050405020304" pitchFamily="18" charset="0"/>
                <a:cs typeface="Times New Roman" panose="02020603050405020304" pitchFamily="18" charset="0"/>
              </a:rPr>
              <a:t>, we reject the null hypothesis.</a:t>
            </a:r>
          </a:p>
          <a:p>
            <a:endParaRPr lang="en-US" sz="2600" b="1" i="1" dirty="0">
              <a:latin typeface="Times New Roman" panose="02020603050405020304" pitchFamily="18" charset="0"/>
              <a:cs typeface="Times New Roman" panose="02020603050405020304" pitchFamily="18" charset="0"/>
            </a:endParaRPr>
          </a:p>
          <a:p>
            <a:r>
              <a:rPr lang="en-US" sz="2600" b="1" i="1" dirty="0">
                <a:latin typeface="Times New Roman" panose="02020603050405020304" pitchFamily="18" charset="0"/>
                <a:cs typeface="Times New Roman" panose="02020603050405020304" pitchFamily="18" charset="0"/>
              </a:rPr>
              <a:t>Step 5 </a:t>
            </a:r>
            <a:r>
              <a:rPr lang="en-US" sz="2600" dirty="0">
                <a:latin typeface="Times New Roman" panose="02020603050405020304" pitchFamily="18" charset="0"/>
                <a:cs typeface="Times New Roman" panose="02020603050405020304" pitchFamily="18" charset="0"/>
              </a:rPr>
              <a:t>There is sufficient evidence to conclude that there is a difference in the proportion of adult Americans who believe it is okay to phone tap versus stopping and searching people on the street in the event that the government believed a terrorist</a:t>
            </a:r>
          </a:p>
          <a:p>
            <a:r>
              <a:rPr lang="en-US" sz="2600" dirty="0">
                <a:latin typeface="Times New Roman" panose="02020603050405020304" pitchFamily="18" charset="0"/>
                <a:cs typeface="Times New Roman" panose="02020603050405020304" pitchFamily="18" charset="0"/>
              </a:rPr>
              <a:t>plot was about to happen. In fact, looking at the sample proportions, it seems clear that more people are willing to allow phone tapping than they are to allow stopping and searching on the street.</a:t>
            </a:r>
          </a:p>
        </p:txBody>
      </p:sp>
      <p:sp>
        <p:nvSpPr>
          <p:cNvPr id="143" name="Google Shape;143;p24"/>
          <p:cNvSpPr txBox="1"/>
          <p:nvPr/>
        </p:nvSpPr>
        <p:spPr>
          <a:xfrm>
            <a:off x="76200" y="6330950"/>
            <a:ext cx="9144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400"/>
              <a:buFont typeface="Verdana"/>
              <a:buNone/>
            </a:pPr>
            <a:r>
              <a:rPr lang="en-US" sz="1400" b="1" i="0" u="none">
                <a:solidFill>
                  <a:schemeClr val="lt1"/>
                </a:solidFill>
                <a:latin typeface="Verdana"/>
                <a:ea typeface="Verdana"/>
                <a:cs typeface="Verdana"/>
                <a:sym typeface="Verdana"/>
              </a:rPr>
              <a:t>12-</a:t>
            </a:r>
            <a:fld id="{00000000-1234-1234-1234-123412341234}" type="slidenum">
              <a:rPr lang="en-US" sz="1400" b="1" i="0" u="none">
                <a:solidFill>
                  <a:schemeClr val="lt1"/>
                </a:solidFill>
                <a:latin typeface="Verdana"/>
                <a:ea typeface="Verdana"/>
                <a:cs typeface="Verdana"/>
                <a:sym typeface="Verdana"/>
              </a:rPr>
              <a:t>108</a:t>
            </a:fld>
            <a:endParaRPr/>
          </a:p>
        </p:txBody>
      </p:sp>
      <p:sp>
        <p:nvSpPr>
          <p:cNvPr id="7" name="Google Shape;385;p59">
            <a:extLst>
              <a:ext uri="{FF2B5EF4-FFF2-40B4-BE49-F238E27FC236}">
                <a16:creationId xmlns:a16="http://schemas.microsoft.com/office/drawing/2014/main" id="{CB12FBA3-A772-409B-A3DD-B803DC7811B0}"/>
              </a:ext>
            </a:extLst>
          </p:cNvPr>
          <p:cNvSpPr txBox="1"/>
          <p:nvPr/>
        </p:nvSpPr>
        <p:spPr>
          <a:xfrm>
            <a:off x="311870" y="267093"/>
            <a:ext cx="8520260" cy="830262"/>
          </a:xfrm>
          <a:prstGeom prst="rect">
            <a:avLst/>
          </a:prstGeom>
          <a:solidFill>
            <a:srgbClr val="E6C12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EXAMPLE	       </a:t>
            </a:r>
            <a:r>
              <a:rPr lang="en-US" sz="2400" b="0" i="1" u="none" dirty="0">
                <a:solidFill>
                  <a:schemeClr val="dk1"/>
                </a:solidFill>
                <a:latin typeface="Arial"/>
                <a:ea typeface="Arial"/>
                <a:cs typeface="Arial"/>
                <a:sym typeface="Arial"/>
              </a:rPr>
              <a:t>Analyzing the Difference of Two </a:t>
            </a:r>
          </a:p>
          <a:p>
            <a:pPr>
              <a:buClr>
                <a:schemeClr val="dk1"/>
              </a:buClr>
              <a:buSzPts val="2400"/>
            </a:pPr>
            <a:r>
              <a:rPr lang="en-US" sz="2400" dirty="0">
                <a:solidFill>
                  <a:schemeClr val="dk1"/>
                </a:solidFill>
              </a:rPr>
              <a:t>(7 of 7)            </a:t>
            </a:r>
            <a:r>
              <a:rPr lang="en-US" sz="2400" i="1" dirty="0">
                <a:solidFill>
                  <a:schemeClr val="dk1"/>
                </a:solidFill>
              </a:rPr>
              <a:t>Proportions from Matched-Pairs Data</a:t>
            </a:r>
          </a:p>
        </p:txBody>
      </p:sp>
    </p:spTree>
    <p:extLst>
      <p:ext uri="{BB962C8B-B14F-4D97-AF65-F5344CB8AC3E}">
        <p14:creationId xmlns:p14="http://schemas.microsoft.com/office/powerpoint/2010/main" val="2680184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4" end="4"/>
                                            </p:txEl>
                                          </p:spTgt>
                                        </p:tgtEl>
                                        <p:attrNameLst>
                                          <p:attrName>style.visibility</p:attrName>
                                        </p:attrNameLst>
                                      </p:cBhvr>
                                      <p:to>
                                        <p:strVal val="visible"/>
                                      </p:to>
                                    </p:set>
                                    <p:animEffect transition="in" filter="fade">
                                      <p:cBhvr>
                                        <p:cTn id="10"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9979</TotalTime>
  <Words>7175</Words>
  <Application>Microsoft Office PowerPoint</Application>
  <PresentationFormat>On-screen Show (4:3)</PresentationFormat>
  <Paragraphs>805</Paragraphs>
  <Slides>108</Slides>
  <Notes>108</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108</vt:i4>
      </vt:variant>
    </vt:vector>
  </HeadingPairs>
  <TitlesOfParts>
    <vt:vector size="114" baseType="lpstr">
      <vt:lpstr>Arial</vt:lpstr>
      <vt:lpstr>Noto Sans Symbols</vt:lpstr>
      <vt:lpstr>Times New Roman</vt:lpstr>
      <vt:lpstr>Verdana</vt:lpstr>
      <vt:lpstr>Default Design</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 INFORMED DECISIONS USING DATA</dc:title>
  <dc:creator>Pam Trim</dc:creator>
  <cp:lastModifiedBy>Sue Glascoe</cp:lastModifiedBy>
  <cp:revision>640</cp:revision>
  <dcterms:modified xsi:type="dcterms:W3CDTF">2019-12-27T21:00:14Z</dcterms:modified>
</cp:coreProperties>
</file>