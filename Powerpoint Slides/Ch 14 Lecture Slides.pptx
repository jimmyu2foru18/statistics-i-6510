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00"/>
  </p:notesMasterIdLst>
  <p:sldIdLst>
    <p:sldId id="377" r:id="rId2"/>
    <p:sldId id="258" r:id="rId3"/>
    <p:sldId id="378" r:id="rId4"/>
    <p:sldId id="379" r:id="rId5"/>
    <p:sldId id="380" r:id="rId6"/>
    <p:sldId id="381" r:id="rId7"/>
    <p:sldId id="259" r:id="rId8"/>
    <p:sldId id="260" r:id="rId9"/>
    <p:sldId id="382" r:id="rId10"/>
    <p:sldId id="262" r:id="rId11"/>
    <p:sldId id="263" r:id="rId12"/>
    <p:sldId id="264" r:id="rId13"/>
    <p:sldId id="265" r:id="rId14"/>
    <p:sldId id="266" r:id="rId15"/>
    <p:sldId id="396" r:id="rId16"/>
    <p:sldId id="397" r:id="rId17"/>
    <p:sldId id="398" r:id="rId18"/>
    <p:sldId id="399" r:id="rId19"/>
    <p:sldId id="272" r:id="rId20"/>
    <p:sldId id="400" r:id="rId21"/>
    <p:sldId id="401" r:id="rId22"/>
    <p:sldId id="273" r:id="rId23"/>
    <p:sldId id="402" r:id="rId24"/>
    <p:sldId id="403" r:id="rId25"/>
    <p:sldId id="276" r:id="rId26"/>
    <p:sldId id="277" r:id="rId27"/>
    <p:sldId id="404" r:id="rId28"/>
    <p:sldId id="405" r:id="rId29"/>
    <p:sldId id="406" r:id="rId30"/>
    <p:sldId id="407" r:id="rId31"/>
    <p:sldId id="408" r:id="rId32"/>
    <p:sldId id="291" r:id="rId33"/>
    <p:sldId id="409" r:id="rId34"/>
    <p:sldId id="410" r:id="rId35"/>
    <p:sldId id="411" r:id="rId36"/>
    <p:sldId id="412" r:id="rId37"/>
    <p:sldId id="413" r:id="rId38"/>
    <p:sldId id="414" r:id="rId39"/>
    <p:sldId id="415" r:id="rId40"/>
    <p:sldId id="416" r:id="rId41"/>
    <p:sldId id="417" r:id="rId42"/>
    <p:sldId id="418" r:id="rId43"/>
    <p:sldId id="419" r:id="rId44"/>
    <p:sldId id="301" r:id="rId45"/>
    <p:sldId id="302" r:id="rId46"/>
    <p:sldId id="420" r:id="rId47"/>
    <p:sldId id="421" r:id="rId48"/>
    <p:sldId id="422" r:id="rId49"/>
    <p:sldId id="423" r:id="rId50"/>
    <p:sldId id="425" r:id="rId51"/>
    <p:sldId id="424" r:id="rId52"/>
    <p:sldId id="426" r:id="rId53"/>
    <p:sldId id="309" r:id="rId54"/>
    <p:sldId id="310" r:id="rId55"/>
    <p:sldId id="311" r:id="rId56"/>
    <p:sldId id="427" r:id="rId57"/>
    <p:sldId id="428" r:id="rId58"/>
    <p:sldId id="429" r:id="rId59"/>
    <p:sldId id="430" r:id="rId60"/>
    <p:sldId id="316" r:id="rId61"/>
    <p:sldId id="431" r:id="rId62"/>
    <p:sldId id="432" r:id="rId63"/>
    <p:sldId id="433" r:id="rId64"/>
    <p:sldId id="434" r:id="rId65"/>
    <p:sldId id="435" r:id="rId66"/>
    <p:sldId id="436" r:id="rId67"/>
    <p:sldId id="437" r:id="rId68"/>
    <p:sldId id="438" r:id="rId69"/>
    <p:sldId id="325" r:id="rId70"/>
    <p:sldId id="326" r:id="rId71"/>
    <p:sldId id="327" r:id="rId72"/>
    <p:sldId id="439" r:id="rId73"/>
    <p:sldId id="328" r:id="rId74"/>
    <p:sldId id="329" r:id="rId75"/>
    <p:sldId id="440" r:id="rId76"/>
    <p:sldId id="441" r:id="rId77"/>
    <p:sldId id="334" r:id="rId78"/>
    <p:sldId id="442" r:id="rId79"/>
    <p:sldId id="443" r:id="rId80"/>
    <p:sldId id="444" r:id="rId81"/>
    <p:sldId id="445" r:id="rId82"/>
    <p:sldId id="446" r:id="rId83"/>
    <p:sldId id="447" r:id="rId84"/>
    <p:sldId id="339" r:id="rId85"/>
    <p:sldId id="448" r:id="rId86"/>
    <p:sldId id="449" r:id="rId87"/>
    <p:sldId id="346" r:id="rId88"/>
    <p:sldId id="450" r:id="rId89"/>
    <p:sldId id="347" r:id="rId90"/>
    <p:sldId id="348" r:id="rId91"/>
    <p:sldId id="349" r:id="rId92"/>
    <p:sldId id="451" r:id="rId93"/>
    <p:sldId id="452" r:id="rId94"/>
    <p:sldId id="453" r:id="rId95"/>
    <p:sldId id="353" r:id="rId96"/>
    <p:sldId id="357" r:id="rId97"/>
    <p:sldId id="354" r:id="rId98"/>
    <p:sldId id="355" r:id="rId99"/>
    <p:sldId id="356" r:id="rId100"/>
    <p:sldId id="454" r:id="rId101"/>
    <p:sldId id="455" r:id="rId102"/>
    <p:sldId id="456" r:id="rId103"/>
    <p:sldId id="458" r:id="rId104"/>
    <p:sldId id="457" r:id="rId105"/>
    <p:sldId id="361" r:id="rId106"/>
    <p:sldId id="362" r:id="rId107"/>
    <p:sldId id="459" r:id="rId108"/>
    <p:sldId id="460" r:id="rId109"/>
    <p:sldId id="461" r:id="rId110"/>
    <p:sldId id="366" r:id="rId111"/>
    <p:sldId id="462" r:id="rId112"/>
    <p:sldId id="463" r:id="rId113"/>
    <p:sldId id="464" r:id="rId114"/>
    <p:sldId id="465" r:id="rId115"/>
    <p:sldId id="466" r:id="rId116"/>
    <p:sldId id="467" r:id="rId117"/>
    <p:sldId id="468" r:id="rId118"/>
    <p:sldId id="469" r:id="rId119"/>
    <p:sldId id="470" r:id="rId120"/>
    <p:sldId id="471" r:id="rId121"/>
    <p:sldId id="472" r:id="rId122"/>
    <p:sldId id="473" r:id="rId123"/>
    <p:sldId id="474" r:id="rId124"/>
    <p:sldId id="475" r:id="rId125"/>
    <p:sldId id="476" r:id="rId126"/>
    <p:sldId id="477" r:id="rId127"/>
    <p:sldId id="478" r:id="rId128"/>
    <p:sldId id="479" r:id="rId129"/>
    <p:sldId id="480" r:id="rId130"/>
    <p:sldId id="481" r:id="rId131"/>
    <p:sldId id="482" r:id="rId132"/>
    <p:sldId id="483" r:id="rId133"/>
    <p:sldId id="484" r:id="rId134"/>
    <p:sldId id="485" r:id="rId135"/>
    <p:sldId id="486" r:id="rId136"/>
    <p:sldId id="487" r:id="rId137"/>
    <p:sldId id="488" r:id="rId138"/>
    <p:sldId id="489" r:id="rId139"/>
    <p:sldId id="490" r:id="rId140"/>
    <p:sldId id="491" r:id="rId141"/>
    <p:sldId id="492" r:id="rId142"/>
    <p:sldId id="493" r:id="rId143"/>
    <p:sldId id="494" r:id="rId144"/>
    <p:sldId id="495" r:id="rId145"/>
    <p:sldId id="496" r:id="rId146"/>
    <p:sldId id="497" r:id="rId147"/>
    <p:sldId id="498" r:id="rId148"/>
    <p:sldId id="499" r:id="rId149"/>
    <p:sldId id="500" r:id="rId150"/>
    <p:sldId id="501" r:id="rId151"/>
    <p:sldId id="502" r:id="rId152"/>
    <p:sldId id="504" r:id="rId153"/>
    <p:sldId id="503" r:id="rId154"/>
    <p:sldId id="505" r:id="rId155"/>
    <p:sldId id="507" r:id="rId156"/>
    <p:sldId id="506" r:id="rId157"/>
    <p:sldId id="508" r:id="rId158"/>
    <p:sldId id="509" r:id="rId159"/>
    <p:sldId id="510" r:id="rId160"/>
    <p:sldId id="518" r:id="rId161"/>
    <p:sldId id="517" r:id="rId162"/>
    <p:sldId id="511" r:id="rId163"/>
    <p:sldId id="512" r:id="rId164"/>
    <p:sldId id="513" r:id="rId165"/>
    <p:sldId id="514" r:id="rId166"/>
    <p:sldId id="515" r:id="rId167"/>
    <p:sldId id="516" r:id="rId168"/>
    <p:sldId id="519" r:id="rId169"/>
    <p:sldId id="520" r:id="rId170"/>
    <p:sldId id="521" r:id="rId171"/>
    <p:sldId id="522" r:id="rId172"/>
    <p:sldId id="523" r:id="rId173"/>
    <p:sldId id="524" r:id="rId174"/>
    <p:sldId id="525" r:id="rId175"/>
    <p:sldId id="526" r:id="rId176"/>
    <p:sldId id="527" r:id="rId177"/>
    <p:sldId id="528" r:id="rId178"/>
    <p:sldId id="529" r:id="rId179"/>
    <p:sldId id="530" r:id="rId180"/>
    <p:sldId id="531" r:id="rId181"/>
    <p:sldId id="532" r:id="rId182"/>
    <p:sldId id="533" r:id="rId183"/>
    <p:sldId id="534" r:id="rId184"/>
    <p:sldId id="535" r:id="rId185"/>
    <p:sldId id="536" r:id="rId186"/>
    <p:sldId id="537" r:id="rId187"/>
    <p:sldId id="538" r:id="rId188"/>
    <p:sldId id="539" r:id="rId189"/>
    <p:sldId id="540" r:id="rId190"/>
    <p:sldId id="541" r:id="rId191"/>
    <p:sldId id="542" r:id="rId192"/>
    <p:sldId id="543" r:id="rId193"/>
    <p:sldId id="544" r:id="rId194"/>
    <p:sldId id="545" r:id="rId195"/>
    <p:sldId id="546" r:id="rId196"/>
    <p:sldId id="547" r:id="rId197"/>
    <p:sldId id="548" r:id="rId198"/>
    <p:sldId id="549" r:id="rId19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e Glascoe" initials="SG" lastIdx="2" clrIdx="0">
    <p:extLst>
      <p:ext uri="{19B8F6BF-5375-455C-9EA6-DF929625EA0E}">
        <p15:presenceInfo xmlns:p15="http://schemas.microsoft.com/office/powerpoint/2012/main" userId="811cbc21041563aa" providerId="Windows Live"/>
      </p:ext>
    </p:extLst>
  </p:cmAuthor>
  <p:cmAuthor id="2" name="Pam Trim" initials="PT" lastIdx="2" clrIdx="1">
    <p:extLst>
      <p:ext uri="{19B8F6BF-5375-455C-9EA6-DF929625EA0E}">
        <p15:presenceInfo xmlns:p15="http://schemas.microsoft.com/office/powerpoint/2012/main" userId="Pam Tri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0020"/>
    <a:srgbClr val="333399"/>
    <a:srgbClr val="E6C127"/>
    <a:srgbClr val="FEF5E0"/>
    <a:srgbClr val="F5F9DF"/>
    <a:srgbClr val="009900"/>
    <a:srgbClr val="DEEAE8"/>
    <a:srgbClr val="0077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84" autoAdjust="0"/>
    <p:restoredTop sz="94660"/>
  </p:normalViewPr>
  <p:slideViewPr>
    <p:cSldViewPr snapToGrid="0">
      <p:cViewPr varScale="1">
        <p:scale>
          <a:sx n="102" d="100"/>
          <a:sy n="102" d="100"/>
        </p:scale>
        <p:origin x="588" y="114"/>
      </p:cViewPr>
      <p:guideLst>
        <p:guide orient="horz" pos="816"/>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1"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5" Type="http://schemas.openxmlformats.org/officeDocument/2006/relationships/image" Target="../media/image47.wmf"/><Relationship Id="rId4"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39.emf"/><Relationship Id="rId5" Type="http://schemas.openxmlformats.org/officeDocument/2006/relationships/image" Target="../media/image51.wmf"/><Relationship Id="rId4"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54.wmf"/><Relationship Id="rId5" Type="http://schemas.openxmlformats.org/officeDocument/2006/relationships/image" Target="../media/image55.wmf"/><Relationship Id="rId4" Type="http://schemas.openxmlformats.org/officeDocument/2006/relationships/image" Target="../media/image4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56.wmf"/><Relationship Id="rId1" Type="http://schemas.openxmlformats.org/officeDocument/2006/relationships/image" Target="../media/image39.emf"/><Relationship Id="rId5" Type="http://schemas.openxmlformats.org/officeDocument/2006/relationships/image" Target="../media/image51.wmf"/><Relationship Id="rId4" Type="http://schemas.openxmlformats.org/officeDocument/2006/relationships/image" Target="../media/image5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8.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80.wmf"/><Relationship Id="rId1" Type="http://schemas.openxmlformats.org/officeDocument/2006/relationships/image" Target="../media/image79.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1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02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0768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293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7667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0905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3172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017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0787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9780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6653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583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350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7199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34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28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6364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002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5341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2674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239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180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502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3252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6552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0886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6731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226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135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27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09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6904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71013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57172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05613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39277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30457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380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03676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393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4015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37404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84401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74330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13283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77322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43724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89125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33783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9908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39986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10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5150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76539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3870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94817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58497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14806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364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5612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87558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1539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16495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74857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10636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33914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9360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14579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64736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40579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2" name="Google Shape;622;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52301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2" name="Google Shape;622;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88283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732720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417992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9150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2623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5363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848520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70355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7547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711858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3118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12167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26137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28789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236285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22863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4" name="Google Shape;774;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1376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9740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4" name="Google Shape;774;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980569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802928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20732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45818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89626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8" name="Google Shape;808;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312623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086023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5" name="Google Shape;815;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87920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3" name="Google Shape;823;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159221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1" name="Google Shape;831;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528884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36621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229767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258132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143618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7688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6" name="Google Shape;866;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95336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7436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000440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534370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715688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138438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569811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54462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714991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697808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95505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14930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72575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740077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5038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14508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76283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04629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36015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961455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464975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319578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101036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193500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364805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606325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56542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49988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980838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2243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62233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37524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10317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360133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833291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405045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04180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919010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0713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381756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685733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18874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647172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509428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934574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5912644"/>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632349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581089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732876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447432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143918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202352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246762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10428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363972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959010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599736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60211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313105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025760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588297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875407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51498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97178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7168189"/>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2035619"/>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912594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004152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395744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12011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419381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84276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969882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867647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383575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88276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31814"/>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6757610"/>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006611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635472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6962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3420348"/>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983848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0064689"/>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2355723"/>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1735449"/>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2015218"/>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199011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59714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6628883"/>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97247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712018"/>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5818096"/>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898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rot="5400000">
            <a:off x="4770438" y="2133600"/>
            <a:ext cx="57753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7"/>
          <p:cNvSpPr txBox="1">
            <a:spLocks noGrp="1"/>
          </p:cNvSpPr>
          <p:nvPr>
            <p:ph type="body" idx="1"/>
          </p:nvPr>
        </p:nvSpPr>
        <p:spPr>
          <a:xfrm rot="5400000">
            <a:off x="579438" y="152401"/>
            <a:ext cx="57753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9" name="Google Shape;39;p7"/>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8"/>
          <p:cNvSpPr txBox="1">
            <a:spLocks noGrp="1"/>
          </p:cNvSpPr>
          <p:nvPr>
            <p:ph type="body" idx="1"/>
          </p:nvPr>
        </p:nvSpPr>
        <p:spPr>
          <a:xfrm rot="5400000">
            <a:off x="2309019" y="-3278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3" name="Google Shape;43;p8"/>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CC6600"/>
              </a:buClr>
              <a:buSzPts val="3200"/>
              <a:buFont typeface="Times New Roman"/>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accent2"/>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CC6600"/>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accent2"/>
              </a:buClr>
              <a:buSzPts val="2000"/>
              <a:buFont typeface="Noto Sans Symbols"/>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48" name="Google Shape;48;p9"/>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A00020"/>
              </a:buClr>
              <a:buSzPts val="3200"/>
              <a:buFont typeface="Times New Roman"/>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Font typeface="Times New Roman"/>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Font typeface="Times New Roman"/>
              <a:buChar char="•"/>
              <a:defRPr sz="2000"/>
            </a:lvl5pPr>
            <a:lvl6pPr marL="2743200" lvl="5" indent="-355600" algn="l">
              <a:spcBef>
                <a:spcPts val="400"/>
              </a:spcBef>
              <a:spcAft>
                <a:spcPts val="0"/>
              </a:spcAft>
              <a:buSzPts val="2000"/>
              <a:buFont typeface="Times New Roman"/>
              <a:buChar char="•"/>
              <a:defRPr sz="2000"/>
            </a:lvl6pPr>
            <a:lvl7pPr marL="3200400" lvl="6" indent="-355600" algn="l">
              <a:spcBef>
                <a:spcPts val="400"/>
              </a:spcBef>
              <a:spcAft>
                <a:spcPts val="0"/>
              </a:spcAft>
              <a:buSzPts val="2000"/>
              <a:buFont typeface="Times New Roman"/>
              <a:buChar char="•"/>
              <a:defRPr sz="2000"/>
            </a:lvl7pPr>
            <a:lvl8pPr marL="3657600" lvl="7" indent="-355600" algn="l">
              <a:spcBef>
                <a:spcPts val="400"/>
              </a:spcBef>
              <a:spcAft>
                <a:spcPts val="0"/>
              </a:spcAft>
              <a:buSzPts val="2000"/>
              <a:buFont typeface="Times New Roman"/>
              <a:buChar char="•"/>
              <a:defRPr sz="2000"/>
            </a:lvl8pPr>
            <a:lvl9pPr marL="4114800" lvl="8" indent="-355600" algn="l">
              <a:spcBef>
                <a:spcPts val="400"/>
              </a:spcBef>
              <a:spcAft>
                <a:spcPts val="0"/>
              </a:spcAft>
              <a:buSzPts val="2000"/>
              <a:buFont typeface="Times New Roman"/>
              <a:buChar char="•"/>
              <a:defRPr sz="2000"/>
            </a:lvl9pPr>
          </a:lstStyle>
          <a:p>
            <a:endParaRPr dirty="0"/>
          </a:p>
        </p:txBody>
      </p:sp>
      <p:sp>
        <p:nvSpPr>
          <p:cNvPr id="52" name="Google Shape;52;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53" name="Google Shape;53;p10"/>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7" name="Google Shape;57;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58" name="Google Shape;58;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9" name="Google Shape;59;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60" name="Google Shape;60;p11"/>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2"/>
          <p:cNvSpPr txBox="1">
            <a:spLocks noGrp="1"/>
          </p:cNvSpPr>
          <p:nvPr>
            <p:ph type="body" idx="1"/>
          </p:nvPr>
        </p:nvSpPr>
        <p:spPr>
          <a:xfrm>
            <a:off x="457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A00020"/>
              </a:buClr>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dirty="0"/>
          </a:p>
        </p:txBody>
      </p:sp>
      <p:sp>
        <p:nvSpPr>
          <p:cNvPr id="64" name="Google Shape;64;p12"/>
          <p:cNvSpPr txBox="1">
            <a:spLocks noGrp="1"/>
          </p:cNvSpPr>
          <p:nvPr>
            <p:ph type="body" idx="2"/>
          </p:nvPr>
        </p:nvSpPr>
        <p:spPr>
          <a:xfrm>
            <a:off x="4648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a:p>
        </p:txBody>
      </p:sp>
      <p:sp>
        <p:nvSpPr>
          <p:cNvPr id="65" name="Google Shape;65;p12"/>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Font typeface="Times New Roman"/>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Font typeface="Times New Roman"/>
              <a:buNone/>
              <a:defRPr sz="1600"/>
            </a:lvl3pPr>
            <a:lvl4pPr marL="1828800" lvl="3" indent="-228600" algn="l">
              <a:spcBef>
                <a:spcPts val="280"/>
              </a:spcBef>
              <a:spcAft>
                <a:spcPts val="0"/>
              </a:spcAft>
              <a:buSzPts val="1400"/>
              <a:buNone/>
              <a:defRPr sz="1400"/>
            </a:lvl4pPr>
            <a:lvl5pPr marL="2286000" lvl="4" indent="-228600" algn="l">
              <a:spcBef>
                <a:spcPts val="280"/>
              </a:spcBef>
              <a:spcAft>
                <a:spcPts val="0"/>
              </a:spcAft>
              <a:buSzPts val="1400"/>
              <a:buFont typeface="Times New Roman"/>
              <a:buNone/>
              <a:defRPr sz="1400"/>
            </a:lvl5pPr>
            <a:lvl6pPr marL="2743200" lvl="5" indent="-228600" algn="l">
              <a:spcBef>
                <a:spcPts val="280"/>
              </a:spcBef>
              <a:spcAft>
                <a:spcPts val="0"/>
              </a:spcAft>
              <a:buSzPts val="1400"/>
              <a:buFont typeface="Times New Roman"/>
              <a:buNone/>
              <a:defRPr sz="1400"/>
            </a:lvl6pPr>
            <a:lvl7pPr marL="3200400" lvl="6" indent="-228600" algn="l">
              <a:spcBef>
                <a:spcPts val="280"/>
              </a:spcBef>
              <a:spcAft>
                <a:spcPts val="0"/>
              </a:spcAft>
              <a:buSzPts val="1400"/>
              <a:buFont typeface="Times New Roman"/>
              <a:buNone/>
              <a:defRPr sz="1400"/>
            </a:lvl7pPr>
            <a:lvl8pPr marL="3657600" lvl="7" indent="-228600" algn="l">
              <a:spcBef>
                <a:spcPts val="280"/>
              </a:spcBef>
              <a:spcAft>
                <a:spcPts val="0"/>
              </a:spcAft>
              <a:buSzPts val="1400"/>
              <a:buFont typeface="Times New Roman"/>
              <a:buNone/>
              <a:defRPr sz="1400"/>
            </a:lvl8pPr>
            <a:lvl9pPr marL="4114800" lvl="8" indent="-228600" algn="l">
              <a:spcBef>
                <a:spcPts val="280"/>
              </a:spcBef>
              <a:spcAft>
                <a:spcPts val="0"/>
              </a:spcAft>
              <a:buSzPts val="1400"/>
              <a:buFont typeface="Times New Roman"/>
              <a:buNone/>
              <a:defRPr sz="1400"/>
            </a:lvl9pPr>
          </a:lstStyle>
          <a:p>
            <a:endParaRPr/>
          </a:p>
        </p:txBody>
      </p:sp>
      <p:sp>
        <p:nvSpPr>
          <p:cNvPr id="69" name="Google Shape;69;p1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0" name="Google Shape;30;p4"/>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a:t>14-</a:t>
            </a:r>
            <a:fld id="{00000000-1234-1234-1234-123412341234}" type="slidenum">
              <a:rPr lang="en-US"/>
              <a:t>‹#›</a:t>
            </a:fld>
            <a:endParaRPr/>
          </a:p>
        </p:txBody>
      </p:sp>
    </p:spTree>
    <p:extLst>
      <p:ext uri="{BB962C8B-B14F-4D97-AF65-F5344CB8AC3E}">
        <p14:creationId xmlns:p14="http://schemas.microsoft.com/office/powerpoint/2010/main" val="680612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0" y="6400800"/>
            <a:ext cx="9144000" cy="457200"/>
          </a:xfrm>
          <a:prstGeom prst="rect">
            <a:avLst/>
          </a:prstGeom>
          <a:solidFill>
            <a:srgbClr val="A00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2" name="Google Shape;22;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accent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accent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accent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accent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accent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accent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accent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accent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accent2"/>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14-</a:t>
            </a:r>
            <a:fld id="{00000000-1234-1234-1234-123412341234}" type="slidenum">
              <a:rPr lang="en-US" smtClean="0"/>
              <a:pPr/>
              <a:t>‹#›</a:t>
            </a:fld>
            <a:endParaRPr b="0" dirty="0">
              <a:solidFill>
                <a:srgbClr val="000000"/>
              </a:solidFill>
              <a:latin typeface="Arial"/>
              <a:ea typeface="Arial"/>
              <a:cs typeface="Arial"/>
              <a:sym typeface="Arial"/>
            </a:endParaRPr>
          </a:p>
        </p:txBody>
      </p:sp>
      <p:sp>
        <p:nvSpPr>
          <p:cNvPr id="25" name="Google Shape;25;p3"/>
          <p:cNvSpPr txBox="1"/>
          <p:nvPr/>
        </p:nvSpPr>
        <p:spPr>
          <a:xfrm>
            <a:off x="1447800" y="6507162"/>
            <a:ext cx="5715000" cy="2746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dirty="0">
                <a:solidFill>
                  <a:schemeClr val="lt1"/>
                </a:solidFill>
                <a:latin typeface="Arial"/>
                <a:ea typeface="Arial"/>
                <a:cs typeface="Arial"/>
                <a:sym typeface="Arial"/>
              </a:rPr>
              <a:t>Copyright © 2021, 2017, 2013 Pearson Education, Inc.  All Rights Reserved</a:t>
            </a:r>
            <a:endParaRPr lang="en-US" sz="1200" dirty="0"/>
          </a:p>
        </p:txBody>
      </p:sp>
      <p:pic>
        <p:nvPicPr>
          <p:cNvPr id="26" name="Google Shape;26;p3" descr="PearsonLogo_Horizontal_Blk_RGB.jpg"/>
          <p:cNvPicPr preferRelativeResize="0"/>
          <p:nvPr/>
        </p:nvPicPr>
        <p:blipFill rotWithShape="1">
          <a:blip r:embed="rId11">
            <a:alphaModFix/>
          </a:blip>
          <a:srcRect/>
          <a:stretch/>
        </p:blipFill>
        <p:spPr>
          <a:xfrm>
            <a:off x="8072437" y="6440487"/>
            <a:ext cx="842962" cy="381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6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25400" marR="0" lvl="0" indent="0" algn="l" rtl="0">
        <a:lnSpc>
          <a:spcPct val="100000"/>
        </a:lnSpc>
        <a:spcBef>
          <a:spcPts val="0"/>
        </a:spcBef>
        <a:spcAft>
          <a:spcPts val="0"/>
        </a:spcAft>
        <a:buClr>
          <a:srgbClr val="A00020"/>
        </a:buClr>
        <a:buFontTx/>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5.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3.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vmlDrawing" Target="../drawings/vmlDrawing5.v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15.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8.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7.wmf"/><Relationship Id="rId4"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9.xml"/><Relationship Id="rId1" Type="http://schemas.openxmlformats.org/officeDocument/2006/relationships/vmlDrawing" Target="../drawings/vmlDrawing8.vml"/><Relationship Id="rId6" Type="http://schemas.openxmlformats.org/officeDocument/2006/relationships/image" Target="../media/image23.png"/><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9.xml"/><Relationship Id="rId1" Type="http://schemas.openxmlformats.org/officeDocument/2006/relationships/vmlDrawing" Target="../drawings/vmlDrawing9.vml"/><Relationship Id="rId6" Type="http://schemas.openxmlformats.org/officeDocument/2006/relationships/image" Target="../media/image25.png"/><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27.wmf"/><Relationship Id="rId4"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29.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5.bin"/><Relationship Id="rId5" Type="http://schemas.openxmlformats.org/officeDocument/2006/relationships/image" Target="../media/image28.wmf"/><Relationship Id="rId4" Type="http://schemas.openxmlformats.org/officeDocument/2006/relationships/oleObject" Target="../embeddings/oleObject14.bin"/></Relationships>
</file>

<file path=ppt/slides/_rels/slide37.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notesSlide" Target="../notesSlides/notesSlide37.xml"/><Relationship Id="rId7"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16.bin"/><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45.xml"/><Relationship Id="rId7" Type="http://schemas.openxmlformats.org/officeDocument/2006/relationships/image" Target="../media/image37.wmf"/><Relationship Id="rId2" Type="http://schemas.openxmlformats.org/officeDocument/2006/relationships/slideLayout" Target="../slideLayouts/slideLayout9.xml"/><Relationship Id="rId1" Type="http://schemas.openxmlformats.org/officeDocument/2006/relationships/vmlDrawing" Target="../drawings/vmlDrawing13.vml"/><Relationship Id="rId6" Type="http://schemas.openxmlformats.org/officeDocument/2006/relationships/oleObject" Target="../embeddings/oleObject19.bin"/><Relationship Id="rId5" Type="http://schemas.openxmlformats.org/officeDocument/2006/relationships/image" Target="../media/image36.wmf"/><Relationship Id="rId4" Type="http://schemas.openxmlformats.org/officeDocument/2006/relationships/oleObject" Target="../embeddings/oleObject18.bin"/><Relationship Id="rId9" Type="http://schemas.openxmlformats.org/officeDocument/2006/relationships/image" Target="../media/image38.wmf"/></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vmlDrawing" Target="../drawings/vmlDrawing14.vml"/><Relationship Id="rId5" Type="http://schemas.openxmlformats.org/officeDocument/2006/relationships/image" Target="../media/image39.emf"/><Relationship Id="rId4" Type="http://schemas.openxmlformats.org/officeDocument/2006/relationships/oleObject" Target="../embeddings/oleObject21.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image" Target="../media/image41.wmf"/><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oleObject" Target="../embeddings/oleObject23.bin"/><Relationship Id="rId5" Type="http://schemas.openxmlformats.org/officeDocument/2006/relationships/image" Target="../media/image40.wmf"/><Relationship Id="rId4" Type="http://schemas.openxmlformats.org/officeDocument/2006/relationships/oleObject" Target="../embeddings/oleObject22.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47.wmf"/><Relationship Id="rId3" Type="http://schemas.openxmlformats.org/officeDocument/2006/relationships/notesSlide" Target="../notesSlides/notesSlide55.xml"/><Relationship Id="rId7" Type="http://schemas.openxmlformats.org/officeDocument/2006/relationships/image" Target="../media/image44.wmf"/><Relationship Id="rId12" Type="http://schemas.openxmlformats.org/officeDocument/2006/relationships/oleObject" Target="../embeddings/oleObject28.bin"/><Relationship Id="rId2" Type="http://schemas.openxmlformats.org/officeDocument/2006/relationships/slideLayout" Target="../slideLayouts/slideLayout9.xml"/><Relationship Id="rId1" Type="http://schemas.openxmlformats.org/officeDocument/2006/relationships/vmlDrawing" Target="../drawings/vmlDrawing16.vml"/><Relationship Id="rId6" Type="http://schemas.openxmlformats.org/officeDocument/2006/relationships/oleObject" Target="../embeddings/oleObject25.bin"/><Relationship Id="rId11" Type="http://schemas.openxmlformats.org/officeDocument/2006/relationships/image" Target="../media/image46.wmf"/><Relationship Id="rId5" Type="http://schemas.openxmlformats.org/officeDocument/2006/relationships/image" Target="../media/image43.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45.wmf"/></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51.wmf"/><Relationship Id="rId3" Type="http://schemas.openxmlformats.org/officeDocument/2006/relationships/notesSlide" Target="../notesSlides/notesSlide57.xml"/><Relationship Id="rId7" Type="http://schemas.openxmlformats.org/officeDocument/2006/relationships/image" Target="../media/image48.wmf"/><Relationship Id="rId12" Type="http://schemas.openxmlformats.org/officeDocument/2006/relationships/oleObject" Target="../embeddings/oleObject33.bin"/><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oleObject" Target="../embeddings/oleObject30.bin"/><Relationship Id="rId11" Type="http://schemas.openxmlformats.org/officeDocument/2006/relationships/image" Target="../media/image50.wmf"/><Relationship Id="rId5" Type="http://schemas.openxmlformats.org/officeDocument/2006/relationships/image" Target="../media/image39.e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9.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53.wmf"/><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oleObject" Target="../embeddings/oleObject35.bin"/><Relationship Id="rId5" Type="http://schemas.openxmlformats.org/officeDocument/2006/relationships/image" Target="../media/image52.wmf"/><Relationship Id="rId4" Type="http://schemas.openxmlformats.org/officeDocument/2006/relationships/oleObject" Target="../embeddings/oleObject34.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5.wmf"/><Relationship Id="rId3" Type="http://schemas.openxmlformats.org/officeDocument/2006/relationships/notesSlide" Target="../notesSlides/notesSlide61.xml"/><Relationship Id="rId7" Type="http://schemas.openxmlformats.org/officeDocument/2006/relationships/image" Target="../media/image43.wmf"/><Relationship Id="rId12" Type="http://schemas.openxmlformats.org/officeDocument/2006/relationships/oleObject" Target="../embeddings/oleObject40.bin"/><Relationship Id="rId2" Type="http://schemas.openxmlformats.org/officeDocument/2006/relationships/slideLayout" Target="../slideLayouts/slideLayout9.xml"/><Relationship Id="rId1" Type="http://schemas.openxmlformats.org/officeDocument/2006/relationships/vmlDrawing" Target="../drawings/vmlDrawing19.vml"/><Relationship Id="rId6" Type="http://schemas.openxmlformats.org/officeDocument/2006/relationships/oleObject" Target="../embeddings/oleObject37.bin"/><Relationship Id="rId11" Type="http://schemas.openxmlformats.org/officeDocument/2006/relationships/image" Target="../media/image45.wmf"/><Relationship Id="rId5" Type="http://schemas.openxmlformats.org/officeDocument/2006/relationships/image" Target="../media/image54.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4.w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51.wmf"/><Relationship Id="rId3" Type="http://schemas.openxmlformats.org/officeDocument/2006/relationships/notesSlide" Target="../notesSlides/notesSlide63.xml"/><Relationship Id="rId7" Type="http://schemas.openxmlformats.org/officeDocument/2006/relationships/image" Target="../media/image56.wmf"/><Relationship Id="rId12"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oleObject" Target="../embeddings/oleObject42.bin"/><Relationship Id="rId11" Type="http://schemas.openxmlformats.org/officeDocument/2006/relationships/image" Target="../media/image50.wmf"/><Relationship Id="rId5" Type="http://schemas.openxmlformats.org/officeDocument/2006/relationships/image" Target="../media/image39.e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9.wmf"/></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image" Target="../media/image58.wmf"/><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oleObject" Target="../embeddings/oleObject47.bin"/><Relationship Id="rId5" Type="http://schemas.openxmlformats.org/officeDocument/2006/relationships/image" Target="../media/image57.wmf"/><Relationship Id="rId4" Type="http://schemas.openxmlformats.org/officeDocument/2006/relationships/oleObject" Target="../embeddings/oleObject46.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7" Type="http://schemas.openxmlformats.org/officeDocument/2006/relationships/image" Target="../media/image61.wmf"/><Relationship Id="rId2" Type="http://schemas.openxmlformats.org/officeDocument/2006/relationships/slideLayout" Target="../slideLayouts/slideLayout9.xml"/><Relationship Id="rId1" Type="http://schemas.openxmlformats.org/officeDocument/2006/relationships/vmlDrawing" Target="../drawings/vmlDrawing22.vml"/><Relationship Id="rId6" Type="http://schemas.openxmlformats.org/officeDocument/2006/relationships/oleObject" Target="../embeddings/oleObject49.bin"/><Relationship Id="rId5" Type="http://schemas.openxmlformats.org/officeDocument/2006/relationships/image" Target="../media/image60.wmf"/><Relationship Id="rId4" Type="http://schemas.openxmlformats.org/officeDocument/2006/relationships/oleObject" Target="../embeddings/oleObject4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7" Type="http://schemas.openxmlformats.org/officeDocument/2006/relationships/image" Target="../media/image63.wmf"/><Relationship Id="rId2" Type="http://schemas.openxmlformats.org/officeDocument/2006/relationships/slideLayout" Target="../slideLayouts/slideLayout1.xml"/><Relationship Id="rId1" Type="http://schemas.openxmlformats.org/officeDocument/2006/relationships/vmlDrawing" Target="../drawings/vmlDrawing23.vml"/><Relationship Id="rId6" Type="http://schemas.openxmlformats.org/officeDocument/2006/relationships/oleObject" Target="../embeddings/oleObject51.bin"/><Relationship Id="rId5" Type="http://schemas.openxmlformats.org/officeDocument/2006/relationships/image" Target="../media/image62.wmf"/><Relationship Id="rId4" Type="http://schemas.openxmlformats.org/officeDocument/2006/relationships/oleObject" Target="../embeddings/oleObject50.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image" Target="../media/image66.wmf"/><Relationship Id="rId5" Type="http://schemas.openxmlformats.org/officeDocument/2006/relationships/oleObject" Target="../embeddings/oleObject52.bin"/><Relationship Id="rId4" Type="http://schemas.openxmlformats.org/officeDocument/2006/relationships/image" Target="../media/image64.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xml"/><Relationship Id="rId1" Type="http://schemas.openxmlformats.org/officeDocument/2006/relationships/vmlDrawing" Target="../drawings/vmlDrawing25.vml"/><Relationship Id="rId5" Type="http://schemas.openxmlformats.org/officeDocument/2006/relationships/image" Target="../media/image67.wmf"/><Relationship Id="rId4" Type="http://schemas.openxmlformats.org/officeDocument/2006/relationships/oleObject" Target="../embeddings/oleObject53.bin"/></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7" Type="http://schemas.openxmlformats.org/officeDocument/2006/relationships/image" Target="../media/image70.wmf"/><Relationship Id="rId2" Type="http://schemas.openxmlformats.org/officeDocument/2006/relationships/slideLayout" Target="../slideLayouts/slideLayout1.xml"/><Relationship Id="rId1" Type="http://schemas.openxmlformats.org/officeDocument/2006/relationships/vmlDrawing" Target="../drawings/vmlDrawing26.vml"/><Relationship Id="rId6" Type="http://schemas.openxmlformats.org/officeDocument/2006/relationships/oleObject" Target="../embeddings/oleObject55.bin"/><Relationship Id="rId5" Type="http://schemas.openxmlformats.org/officeDocument/2006/relationships/image" Target="../media/image69.wmf"/><Relationship Id="rId4" Type="http://schemas.openxmlformats.org/officeDocument/2006/relationships/oleObject" Target="../embeddings/oleObject54.bin"/></Relationships>
</file>

<file path=ppt/slides/_rels/slide8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xml"/><Relationship Id="rId1" Type="http://schemas.openxmlformats.org/officeDocument/2006/relationships/vmlDrawing" Target="../drawings/vmlDrawing27.vml"/><Relationship Id="rId5" Type="http://schemas.openxmlformats.org/officeDocument/2006/relationships/image" Target="../media/image72.wmf"/><Relationship Id="rId4" Type="http://schemas.openxmlformats.org/officeDocument/2006/relationships/oleObject" Target="../embeddings/oleObject56.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7" Type="http://schemas.openxmlformats.org/officeDocument/2006/relationships/image" Target="../media/image74.wmf"/><Relationship Id="rId2" Type="http://schemas.openxmlformats.org/officeDocument/2006/relationships/slideLayout" Target="../slideLayouts/slideLayout9.xml"/><Relationship Id="rId1" Type="http://schemas.openxmlformats.org/officeDocument/2006/relationships/vmlDrawing" Target="../drawings/vmlDrawing28.vml"/><Relationship Id="rId6" Type="http://schemas.openxmlformats.org/officeDocument/2006/relationships/oleObject" Target="../embeddings/oleObject58.bin"/><Relationship Id="rId5" Type="http://schemas.openxmlformats.org/officeDocument/2006/relationships/image" Target="../media/image73.wmf"/><Relationship Id="rId4" Type="http://schemas.openxmlformats.org/officeDocument/2006/relationships/oleObject" Target="../embeddings/oleObject57.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xml"/><Relationship Id="rId1" Type="http://schemas.openxmlformats.org/officeDocument/2006/relationships/vmlDrawing" Target="../drawings/vmlDrawing29.vml"/><Relationship Id="rId5" Type="http://schemas.openxmlformats.org/officeDocument/2006/relationships/image" Target="../media/image75.wmf"/><Relationship Id="rId4" Type="http://schemas.openxmlformats.org/officeDocument/2006/relationships/oleObject" Target="../embeddings/oleObject59.bin"/></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image" Target="../media/image8.png"/><Relationship Id="rId5" Type="http://schemas.openxmlformats.org/officeDocument/2006/relationships/image" Target="../media/image76.wmf"/><Relationship Id="rId4" Type="http://schemas.openxmlformats.org/officeDocument/2006/relationships/oleObject" Target="../embeddings/oleObject60.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9.xml"/><Relationship Id="rId1" Type="http://schemas.openxmlformats.org/officeDocument/2006/relationships/vmlDrawing" Target="../drawings/vmlDrawing31.vml"/><Relationship Id="rId5" Type="http://schemas.openxmlformats.org/officeDocument/2006/relationships/image" Target="../media/image77.wmf"/><Relationship Id="rId4" Type="http://schemas.openxmlformats.org/officeDocument/2006/relationships/oleObject" Target="../embeddings/oleObject61.bin"/></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9.xml"/><Relationship Id="rId1" Type="http://schemas.openxmlformats.org/officeDocument/2006/relationships/vmlDrawing" Target="../drawings/vmlDrawing32.vml"/><Relationship Id="rId5" Type="http://schemas.openxmlformats.org/officeDocument/2006/relationships/image" Target="../media/image78.emf"/><Relationship Id="rId4" Type="http://schemas.openxmlformats.org/officeDocument/2006/relationships/oleObject" Target="../embeddings/oleObject62.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notesSlide" Target="../notesSlides/notesSlide100.xml"/><Relationship Id="rId7" Type="http://schemas.openxmlformats.org/officeDocument/2006/relationships/image" Target="../media/image80.wmf"/><Relationship Id="rId2" Type="http://schemas.openxmlformats.org/officeDocument/2006/relationships/slideLayout" Target="../slideLayouts/slideLayout1.xml"/><Relationship Id="rId1" Type="http://schemas.openxmlformats.org/officeDocument/2006/relationships/vmlDrawing" Target="../drawings/vmlDrawing33.vml"/><Relationship Id="rId6" Type="http://schemas.openxmlformats.org/officeDocument/2006/relationships/oleObject" Target="../embeddings/oleObject64.bin"/><Relationship Id="rId5" Type="http://schemas.openxmlformats.org/officeDocument/2006/relationships/image" Target="../media/image79.wmf"/><Relationship Id="rId4" Type="http://schemas.openxmlformats.org/officeDocument/2006/relationships/oleObject" Target="../embeddings/oleObject63.bin"/><Relationship Id="rId9" Type="http://schemas.openxmlformats.org/officeDocument/2006/relationships/image" Target="../media/image75.wmf"/></Relationships>
</file>

<file path=ppt/slides/_rels/slide10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7" Type="http://schemas.openxmlformats.org/officeDocument/2006/relationships/image" Target="../media/image83.wmf"/><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oleObject" Target="../embeddings/oleObject67.bin"/><Relationship Id="rId5" Type="http://schemas.openxmlformats.org/officeDocument/2006/relationships/image" Target="../media/image82.wmf"/><Relationship Id="rId4" Type="http://schemas.openxmlformats.org/officeDocument/2006/relationships/oleObject" Target="../embeddings/oleObject66.bin"/></Relationships>
</file>

<file path=ppt/slides/_rels/slide10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9.xml"/><Relationship Id="rId1" Type="http://schemas.openxmlformats.org/officeDocument/2006/relationships/vmlDrawing" Target="../drawings/vmlDrawing35.vml"/><Relationship Id="rId5" Type="http://schemas.openxmlformats.org/officeDocument/2006/relationships/image" Target="../media/image88.wmf"/><Relationship Id="rId4" Type="http://schemas.openxmlformats.org/officeDocument/2006/relationships/oleObject" Target="../embeddings/oleObject68.bin"/></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38.xml"/><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1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40.xml"/><Relationship Id="rId7" Type="http://schemas.openxmlformats.org/officeDocument/2006/relationships/image" Target="../media/image97.wmf"/><Relationship Id="rId2" Type="http://schemas.openxmlformats.org/officeDocument/2006/relationships/slideLayout" Target="../slideLayouts/slideLayout1.xml"/><Relationship Id="rId1" Type="http://schemas.openxmlformats.org/officeDocument/2006/relationships/vmlDrawing" Target="../drawings/vmlDrawing36.vml"/><Relationship Id="rId6" Type="http://schemas.openxmlformats.org/officeDocument/2006/relationships/oleObject" Target="../embeddings/oleObject70.bin"/><Relationship Id="rId5" Type="http://schemas.openxmlformats.org/officeDocument/2006/relationships/image" Target="../media/image96.wmf"/><Relationship Id="rId4" Type="http://schemas.openxmlformats.org/officeDocument/2006/relationships/oleObject" Target="../embeddings/oleObject69.bin"/></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9.xml"/><Relationship Id="rId1" Type="http://schemas.openxmlformats.org/officeDocument/2006/relationships/vmlDrawing" Target="../drawings/vmlDrawing37.vml"/><Relationship Id="rId5" Type="http://schemas.openxmlformats.org/officeDocument/2006/relationships/image" Target="../media/image98.wmf"/><Relationship Id="rId4" Type="http://schemas.openxmlformats.org/officeDocument/2006/relationships/oleObject" Target="../embeddings/oleObject71.bin"/></Relationships>
</file>

<file path=ppt/slides/_rels/slide14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1.xml"/><Relationship Id="rId1" Type="http://schemas.openxmlformats.org/officeDocument/2006/relationships/vmlDrawing" Target="../drawings/vmlDrawing38.vml"/><Relationship Id="rId5" Type="http://schemas.openxmlformats.org/officeDocument/2006/relationships/image" Target="../media/image101.wmf"/><Relationship Id="rId4" Type="http://schemas.openxmlformats.org/officeDocument/2006/relationships/oleObject" Target="../embeddings/oleObject72.bin"/></Relationships>
</file>

<file path=ppt/slides/_rels/slide14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1.xml"/><Relationship Id="rId1" Type="http://schemas.openxmlformats.org/officeDocument/2006/relationships/vmlDrawing" Target="../drawings/vmlDrawing39.vml"/><Relationship Id="rId5" Type="http://schemas.openxmlformats.org/officeDocument/2006/relationships/image" Target="../media/image103.wmf"/><Relationship Id="rId4" Type="http://schemas.openxmlformats.org/officeDocument/2006/relationships/oleObject" Target="../embeddings/oleObject73.bin"/></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4.xml"/><Relationship Id="rId7" Type="http://schemas.openxmlformats.org/officeDocument/2006/relationships/image" Target="../media/image106.wmf"/><Relationship Id="rId2" Type="http://schemas.openxmlformats.org/officeDocument/2006/relationships/slideLayout" Target="../slideLayouts/slideLayout1.xml"/><Relationship Id="rId1" Type="http://schemas.openxmlformats.org/officeDocument/2006/relationships/vmlDrawing" Target="../drawings/vmlDrawing40.vml"/><Relationship Id="rId6" Type="http://schemas.openxmlformats.org/officeDocument/2006/relationships/oleObject" Target="../embeddings/oleObject75.bin"/><Relationship Id="rId5" Type="http://schemas.openxmlformats.org/officeDocument/2006/relationships/image" Target="../media/image105.wmf"/><Relationship Id="rId4" Type="http://schemas.openxmlformats.org/officeDocument/2006/relationships/oleObject" Target="../embeddings/oleObject74.bin"/></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5.xml"/><Relationship Id="rId7" Type="http://schemas.openxmlformats.org/officeDocument/2006/relationships/image" Target="../media/image108.wmf"/><Relationship Id="rId2" Type="http://schemas.openxmlformats.org/officeDocument/2006/relationships/slideLayout" Target="../slideLayouts/slideLayout1.xml"/><Relationship Id="rId1" Type="http://schemas.openxmlformats.org/officeDocument/2006/relationships/vmlDrawing" Target="../drawings/vmlDrawing41.vml"/><Relationship Id="rId6" Type="http://schemas.openxmlformats.org/officeDocument/2006/relationships/oleObject" Target="../embeddings/oleObject77.bin"/><Relationship Id="rId5" Type="http://schemas.openxmlformats.org/officeDocument/2006/relationships/image" Target="../media/image107.wmf"/><Relationship Id="rId4" Type="http://schemas.openxmlformats.org/officeDocument/2006/relationships/oleObject" Target="../embeddings/oleObject76.bin"/></Relationships>
</file>

<file path=ppt/slides/_rels/slide1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60.xml"/><Relationship Id="rId7" Type="http://schemas.openxmlformats.org/officeDocument/2006/relationships/image" Target="../media/image111.wmf"/><Relationship Id="rId2" Type="http://schemas.openxmlformats.org/officeDocument/2006/relationships/slideLayout" Target="../slideLayouts/slideLayout1.xml"/><Relationship Id="rId1" Type="http://schemas.openxmlformats.org/officeDocument/2006/relationships/vmlDrawing" Target="../drawings/vmlDrawing42.vml"/><Relationship Id="rId6" Type="http://schemas.openxmlformats.org/officeDocument/2006/relationships/oleObject" Target="../embeddings/oleObject79.bin"/><Relationship Id="rId5" Type="http://schemas.openxmlformats.org/officeDocument/2006/relationships/image" Target="../media/image110.wmf"/><Relationship Id="rId4" Type="http://schemas.openxmlformats.org/officeDocument/2006/relationships/oleObject" Target="../embeddings/oleObject78.bin"/></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1.xml"/><Relationship Id="rId1" Type="http://schemas.openxmlformats.org/officeDocument/2006/relationships/vmlDrawing" Target="../drawings/vmlDrawing43.vml"/><Relationship Id="rId5" Type="http://schemas.openxmlformats.org/officeDocument/2006/relationships/image" Target="../media/image112.wmf"/><Relationship Id="rId4" Type="http://schemas.openxmlformats.org/officeDocument/2006/relationships/oleObject" Target="../embeddings/oleObject80.bin"/></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1.xml"/><Relationship Id="rId1" Type="http://schemas.openxmlformats.org/officeDocument/2006/relationships/vmlDrawing" Target="../drawings/vmlDrawing44.vml"/><Relationship Id="rId5" Type="http://schemas.openxmlformats.org/officeDocument/2006/relationships/image" Target="../media/image114.wmf"/><Relationship Id="rId4" Type="http://schemas.openxmlformats.org/officeDocument/2006/relationships/oleObject" Target="../embeddings/oleObject81.bin"/></Relationships>
</file>

<file path=ppt/slides/_rels/slide16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xml"/><Relationship Id="rId1" Type="http://schemas.openxmlformats.org/officeDocument/2006/relationships/vmlDrawing" Target="../drawings/vmlDrawing45.vml"/><Relationship Id="rId5" Type="http://schemas.openxmlformats.org/officeDocument/2006/relationships/image" Target="../media/image116.wmf"/><Relationship Id="rId4" Type="http://schemas.openxmlformats.org/officeDocument/2006/relationships/oleObject" Target="../embeddings/oleObject82.bin"/></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9.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1.xml"/><Relationship Id="rId1" Type="http://schemas.openxmlformats.org/officeDocument/2006/relationships/vmlDrawing" Target="../drawings/vmlDrawing46.vml"/><Relationship Id="rId5" Type="http://schemas.openxmlformats.org/officeDocument/2006/relationships/image" Target="../media/image120.wmf"/><Relationship Id="rId4" Type="http://schemas.openxmlformats.org/officeDocument/2006/relationships/oleObject" Target="../embeddings/oleObject83.bin"/></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191.xml"/><Relationship Id="rId2" Type="http://schemas.openxmlformats.org/officeDocument/2006/relationships/slideLayout" Target="../slideLayouts/slideLayout1.xml"/><Relationship Id="rId1" Type="http://schemas.openxmlformats.org/officeDocument/2006/relationships/vmlDrawing" Target="../drawings/vmlDrawing47.vml"/><Relationship Id="rId5" Type="http://schemas.openxmlformats.org/officeDocument/2006/relationships/image" Target="../media/image125.wmf"/><Relationship Id="rId4" Type="http://schemas.openxmlformats.org/officeDocument/2006/relationships/oleObject" Target="../embeddings/oleObject84.bin"/></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1.xml"/><Relationship Id="rId1" Type="http://schemas.openxmlformats.org/officeDocument/2006/relationships/vmlDrawing" Target="../drawings/vmlDrawing48.vml"/><Relationship Id="rId5" Type="http://schemas.openxmlformats.org/officeDocument/2006/relationships/image" Target="../media/image127.wmf"/><Relationship Id="rId4" Type="http://schemas.openxmlformats.org/officeDocument/2006/relationships/oleObject" Target="../embeddings/oleObject85.bin"/></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1</a:t>
            </a:fld>
            <a:endParaRPr dirty="0"/>
          </a:p>
        </p:txBody>
      </p:sp>
      <p:sp>
        <p:nvSpPr>
          <p:cNvPr id="89" name="Google Shape;89;p16"/>
          <p:cNvSpPr txBox="1"/>
          <p:nvPr/>
        </p:nvSpPr>
        <p:spPr>
          <a:xfrm>
            <a:off x="324035" y="229751"/>
            <a:ext cx="8229600" cy="11430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4400"/>
              <a:buFont typeface="Arial"/>
              <a:buNone/>
            </a:pPr>
            <a:r>
              <a:rPr lang="en-US" sz="4400" b="1" i="0" u="none" dirty="0">
                <a:solidFill>
                  <a:srgbClr val="333399"/>
                </a:solidFill>
                <a:latin typeface="Arial"/>
                <a:ea typeface="Arial"/>
                <a:cs typeface="Arial"/>
                <a:sym typeface="Arial"/>
              </a:rPr>
              <a:t>STATISTICS</a:t>
            </a:r>
          </a:p>
          <a:p>
            <a:pPr marL="0" marR="0" lvl="0" indent="0" rtl="0">
              <a:lnSpc>
                <a:spcPct val="100000"/>
              </a:lnSpc>
              <a:spcBef>
                <a:spcPts val="0"/>
              </a:spcBef>
              <a:spcAft>
                <a:spcPts val="0"/>
              </a:spcAft>
              <a:buClr>
                <a:schemeClr val="accent2"/>
              </a:buClr>
              <a:buSzPts val="4400"/>
              <a:buFont typeface="Arial"/>
              <a:buNone/>
            </a:pPr>
            <a:r>
              <a:rPr lang="en-US" sz="2800" b="1" dirty="0">
                <a:solidFill>
                  <a:srgbClr val="333399"/>
                </a:solidFill>
              </a:rPr>
              <a:t>INFORMED DECISIONS USING DATA</a:t>
            </a:r>
            <a:endParaRPr sz="2800" dirty="0"/>
          </a:p>
        </p:txBody>
      </p:sp>
      <p:sp>
        <p:nvSpPr>
          <p:cNvPr id="90" name="Google Shape;90;p16"/>
          <p:cNvSpPr txBox="1"/>
          <p:nvPr/>
        </p:nvSpPr>
        <p:spPr>
          <a:xfrm>
            <a:off x="4893815" y="1709606"/>
            <a:ext cx="3735280" cy="3563075"/>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r>
              <a:rPr lang="en-US" sz="4000" b="1" i="0" u="none" dirty="0">
                <a:solidFill>
                  <a:srgbClr val="333399"/>
                </a:solidFill>
                <a:latin typeface="+mn-lt"/>
                <a:ea typeface="Times New Roman"/>
                <a:cs typeface="Times New Roman"/>
                <a:sym typeface="Times New Roman"/>
              </a:rPr>
              <a:t>Chapter 14</a:t>
            </a:r>
          </a:p>
          <a:p>
            <a:pPr marR="0" lvl="0" algn="l" rtl="0">
              <a:lnSpc>
                <a:spcPct val="100000"/>
              </a:lnSpc>
              <a:spcBef>
                <a:spcPts val="0"/>
              </a:spcBef>
              <a:spcAft>
                <a:spcPts val="0"/>
              </a:spcAft>
              <a:buClr>
                <a:schemeClr val="dk1"/>
              </a:buClr>
              <a:buSzPts val="3200"/>
              <a:buFont typeface="Arial"/>
              <a:buNone/>
            </a:pPr>
            <a:r>
              <a:rPr lang="en-US" sz="3600" b="1" i="0" u="none" dirty="0">
                <a:solidFill>
                  <a:srgbClr val="333399"/>
                </a:solidFill>
                <a:latin typeface="+mn-lt"/>
                <a:ea typeface="Times New Roman"/>
                <a:cs typeface="Times New Roman"/>
                <a:sym typeface="Times New Roman"/>
              </a:rPr>
              <a:t>Inference on the Least-Squares Regression Model and Multiple Regression </a:t>
            </a:r>
            <a:endParaRPr sz="3600" dirty="0">
              <a:solidFill>
                <a:srgbClr val="333399"/>
              </a:solidFill>
              <a:latin typeface="+mn-lt"/>
            </a:endParaRPr>
          </a:p>
        </p:txBody>
      </p:sp>
      <p:pic>
        <p:nvPicPr>
          <p:cNvPr id="5" name="Google Shape;96;p12">
            <a:extLst>
              <a:ext uri="{FF2B5EF4-FFF2-40B4-BE49-F238E27FC236}">
                <a16:creationId xmlns:a16="http://schemas.microsoft.com/office/drawing/2014/main" id="{F3856100-DDB9-4233-8C17-5D49BE833F8D}"/>
              </a:ext>
            </a:extLst>
          </p:cNvPr>
          <p:cNvPicPr preferRelativeResize="0"/>
          <p:nvPr/>
        </p:nvPicPr>
        <p:blipFill rotWithShape="1">
          <a:blip r:embed="rId3">
            <a:alphaModFix/>
          </a:blip>
          <a:srcRect/>
          <a:stretch/>
        </p:blipFill>
        <p:spPr>
          <a:xfrm>
            <a:off x="658615" y="1647462"/>
            <a:ext cx="3505012" cy="4485537"/>
          </a:xfrm>
          <a:prstGeom prst="rect">
            <a:avLst/>
          </a:prstGeom>
          <a:noFill/>
          <a:ln>
            <a:noFill/>
          </a:ln>
        </p:spPr>
      </p:pic>
    </p:spTree>
    <p:extLst>
      <p:ext uri="{BB962C8B-B14F-4D97-AF65-F5344CB8AC3E}">
        <p14:creationId xmlns:p14="http://schemas.microsoft.com/office/powerpoint/2010/main" val="377742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2</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3800" b="1" dirty="0">
                <a:solidFill>
                  <a:srgbClr val="333399"/>
                </a:solidFill>
                <a:latin typeface="+mn-lt"/>
                <a:ea typeface="Times New Roman"/>
                <a:cs typeface="Times New Roman"/>
                <a:sym typeface="Times New Roman"/>
              </a:rPr>
              <a:t>14.1 </a:t>
            </a:r>
            <a:r>
              <a:rPr lang="en-US" sz="3800" b="1" dirty="0">
                <a:solidFill>
                  <a:srgbClr val="333399"/>
                </a:solidFill>
                <a:latin typeface="+mn-lt"/>
                <a:cs typeface="Times New Roman"/>
                <a:sym typeface="Times New Roman"/>
              </a:rPr>
              <a:t>Testing the Significance of </a:t>
            </a:r>
            <a:br>
              <a:rPr lang="en-US" sz="3800" b="1" dirty="0">
                <a:solidFill>
                  <a:srgbClr val="333399"/>
                </a:solidFill>
                <a:latin typeface="+mn-lt"/>
                <a:cs typeface="Times New Roman"/>
                <a:sym typeface="Times New Roman"/>
              </a:rPr>
            </a:br>
            <a:r>
              <a:rPr lang="en-US" sz="3800" b="1" dirty="0">
                <a:solidFill>
                  <a:srgbClr val="333399"/>
                </a:solidFill>
                <a:latin typeface="+mn-lt"/>
                <a:cs typeface="Times New Roman"/>
                <a:sym typeface="Times New Roman"/>
              </a:rPr>
              <a:t>    the Least-Squares </a:t>
            </a:r>
            <a:br>
              <a:rPr lang="en-US" sz="3800" b="1" dirty="0">
                <a:solidFill>
                  <a:srgbClr val="333399"/>
                </a:solidFill>
                <a:latin typeface="+mn-lt"/>
                <a:cs typeface="Times New Roman"/>
                <a:sym typeface="Times New Roman"/>
              </a:rPr>
            </a:br>
            <a:r>
              <a:rPr lang="en-US" sz="3800" b="1" dirty="0">
                <a:solidFill>
                  <a:srgbClr val="333399"/>
                </a:solidFill>
                <a:latin typeface="+mn-lt"/>
                <a:cs typeface="Times New Roman"/>
                <a:sym typeface="Times New Roman"/>
              </a:rPr>
              <a:t>    Regression Model</a:t>
            </a:r>
          </a:p>
          <a:p>
            <a:pPr marL="609600" lvl="0" indent="-609600">
              <a:buClr>
                <a:schemeClr val="dk1"/>
              </a:buClr>
              <a:buSzPts val="3200"/>
            </a:pPr>
            <a:r>
              <a:rPr lang="en-US" sz="3800" b="1" dirty="0">
                <a:solidFill>
                  <a:srgbClr val="A00020"/>
                </a:solidFill>
                <a:latin typeface="+mn-lt"/>
                <a:cs typeface="Times New Roman"/>
                <a:sym typeface="Times New Roman"/>
              </a:rPr>
              <a:t>Learning Objectives</a:t>
            </a:r>
            <a:endParaRPr lang="en-US" sz="3800" dirty="0">
              <a:solidFill>
                <a:srgbClr val="A00020"/>
              </a:solidFill>
              <a:latin typeface="+mn-lt"/>
            </a:endParaRPr>
          </a:p>
        </p:txBody>
      </p:sp>
      <p:sp>
        <p:nvSpPr>
          <p:cNvPr id="90" name="Google Shape;90;p16"/>
          <p:cNvSpPr txBox="1"/>
          <p:nvPr/>
        </p:nvSpPr>
        <p:spPr>
          <a:xfrm>
            <a:off x="457200" y="2143586"/>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State the requirements of the least-squares regression model</a:t>
            </a:r>
            <a:endParaRPr lang="en-US" sz="2800" dirty="0"/>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Compute the standard error of the estimate</a:t>
            </a:r>
            <a:endParaRPr lang="en-US" sz="2800" dirty="0"/>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Verify that the residuals are normally distributed</a:t>
            </a:r>
            <a:endParaRPr lang="en-US" sz="2800" dirty="0"/>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Conduct inference on the slope of the least-squares regression model</a:t>
            </a:r>
            <a:endParaRPr lang="en-US" sz="2800" dirty="0"/>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Construct a confidence interval about the slope of the least-squares regression model</a:t>
            </a:r>
            <a:endParaRPr lang="en-US" sz="2800" b="1" dirty="0">
              <a:solidFill>
                <a:schemeClr val="dk1"/>
              </a:solidFill>
              <a:latin typeface="Times New Roman"/>
              <a:ea typeface="Times New Roman"/>
              <a:cs typeface="Times New Roman"/>
              <a:sym typeface="Times New Roman"/>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291673" y="1987531"/>
            <a:ext cx="834662" cy="8432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a:t>
            </a:fld>
            <a:endParaRPr dirty="0"/>
          </a:p>
        </p:txBody>
      </p:sp>
      <p:sp>
        <p:nvSpPr>
          <p:cNvPr id="115" name="Google Shape;115;p20"/>
          <p:cNvSpPr txBox="1"/>
          <p:nvPr/>
        </p:nvSpPr>
        <p:spPr>
          <a:xfrm>
            <a:off x="381000" y="406892"/>
            <a:ext cx="8305800" cy="822325"/>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1" i="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Least-Squares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4)</a:t>
            </a:r>
            <a:endParaRPr dirty="0"/>
          </a:p>
        </p:txBody>
      </p:sp>
      <p:sp>
        <p:nvSpPr>
          <p:cNvPr id="116" name="Google Shape;116;p20"/>
          <p:cNvSpPr txBox="1"/>
          <p:nvPr/>
        </p:nvSpPr>
        <p:spPr>
          <a:xfrm>
            <a:off x="381000" y="1229216"/>
            <a:ext cx="8305800" cy="4285463"/>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A family doctor is interested in examining the relationship between a patient’s age and total cholesterol (in mg/dL). He randomly selects 14 of his female patients and obtains the data presented in Table 1. </a:t>
            </a:r>
            <a:endParaRPr sz="2800" dirty="0">
              <a:latin typeface="Times New Roman" panose="02020603050405020304" pitchFamily="18" charset="0"/>
              <a:cs typeface="Times New Roman" panose="02020603050405020304" pitchFamily="18" charset="0"/>
            </a:endParaRPr>
          </a:p>
        </p:txBody>
      </p:sp>
      <p:pic>
        <p:nvPicPr>
          <p:cNvPr id="3" name="Picture 2" descr="A screenshot of a cell phone&#10;&#10;Description automatically generated">
            <a:extLst>
              <a:ext uri="{FF2B5EF4-FFF2-40B4-BE49-F238E27FC236}">
                <a16:creationId xmlns:a16="http://schemas.microsoft.com/office/drawing/2014/main" id="{CC570EDE-0C82-4858-B932-7ADE45707948}"/>
              </a:ext>
            </a:extLst>
          </p:cNvPr>
          <p:cNvPicPr>
            <a:picLocks noChangeAspect="1"/>
          </p:cNvPicPr>
          <p:nvPr/>
        </p:nvPicPr>
        <p:blipFill>
          <a:blip r:embed="rId3"/>
          <a:stretch>
            <a:fillRect/>
          </a:stretch>
        </p:blipFill>
        <p:spPr>
          <a:xfrm>
            <a:off x="1111272" y="3031373"/>
            <a:ext cx="6646988" cy="3205267"/>
          </a:xfrm>
          <a:prstGeom prst="rect">
            <a:avLst/>
          </a:prstGeom>
        </p:spPr>
      </p:pic>
    </p:spTree>
    <p:extLst>
      <p:ext uri="{BB962C8B-B14F-4D97-AF65-F5344CB8AC3E}">
        <p14:creationId xmlns:p14="http://schemas.microsoft.com/office/powerpoint/2010/main" val="242737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a:t>
            </a:fld>
            <a:endParaRPr dirty="0"/>
          </a:p>
        </p:txBody>
      </p:sp>
      <p:sp>
        <p:nvSpPr>
          <p:cNvPr id="115" name="Google Shape;115;p20"/>
          <p:cNvSpPr txBox="1"/>
          <p:nvPr/>
        </p:nvSpPr>
        <p:spPr>
          <a:xfrm>
            <a:off x="381000" y="406892"/>
            <a:ext cx="8305800" cy="822325"/>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1" i="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Least-Squares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a:t>
            </a:r>
            <a:r>
              <a:rPr lang="en-US" sz="2400" dirty="0">
                <a:solidFill>
                  <a:schemeClr val="dk1"/>
                </a:solidFill>
              </a:rPr>
              <a:t>2</a:t>
            </a:r>
            <a:r>
              <a:rPr lang="en-US" sz="2400" b="0" u="none" dirty="0">
                <a:solidFill>
                  <a:schemeClr val="dk1"/>
                </a:solidFill>
                <a:latin typeface="Arial"/>
                <a:ea typeface="Arial"/>
                <a:cs typeface="Arial"/>
                <a:sym typeface="Arial"/>
              </a:rPr>
              <a:t> of 4)</a:t>
            </a:r>
            <a:endParaRPr dirty="0"/>
          </a:p>
        </p:txBody>
      </p:sp>
      <p:sp>
        <p:nvSpPr>
          <p:cNvPr id="116" name="Google Shape;116;p20"/>
          <p:cNvSpPr txBox="1"/>
          <p:nvPr/>
        </p:nvSpPr>
        <p:spPr>
          <a:xfrm>
            <a:off x="381000" y="1229217"/>
            <a:ext cx="8305800" cy="4285463"/>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The data are based on results obtained from the National Center for Health Statistics. Draw a scatter diagram, compute the correlation coefficient, find the least squares regression equation, and determine the coefficient of determination.</a:t>
            </a:r>
          </a:p>
          <a:p>
            <a:endParaRPr lang="en-US" sz="28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Figure (a) displays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scatter diagram.</a:t>
            </a:r>
            <a:endParaRPr sz="2600" dirty="0">
              <a:latin typeface="Times New Roman" panose="02020603050405020304" pitchFamily="18" charset="0"/>
              <a:cs typeface="Times New Roman" panose="02020603050405020304" pitchFamily="18" charset="0"/>
            </a:endParaRPr>
          </a:p>
        </p:txBody>
      </p:sp>
      <p:pic>
        <p:nvPicPr>
          <p:cNvPr id="3" name="Picture 2" descr="A screenshot of a social media post&#10;&#10;Description automatically generated">
            <a:extLst>
              <a:ext uri="{FF2B5EF4-FFF2-40B4-BE49-F238E27FC236}">
                <a16:creationId xmlns:a16="http://schemas.microsoft.com/office/drawing/2014/main" id="{D3181A61-E60F-472A-83A9-17C87DA39ECC}"/>
              </a:ext>
            </a:extLst>
          </p:cNvPr>
          <p:cNvPicPr>
            <a:picLocks noChangeAspect="1"/>
          </p:cNvPicPr>
          <p:nvPr/>
        </p:nvPicPr>
        <p:blipFill>
          <a:blip r:embed="rId3"/>
          <a:stretch>
            <a:fillRect/>
          </a:stretch>
        </p:blipFill>
        <p:spPr>
          <a:xfrm>
            <a:off x="4447845" y="3429000"/>
            <a:ext cx="3121878" cy="2346256"/>
          </a:xfrm>
          <a:prstGeom prst="rect">
            <a:avLst/>
          </a:prstGeom>
        </p:spPr>
      </p:pic>
      <p:sp>
        <p:nvSpPr>
          <p:cNvPr id="4" name="TextBox 3">
            <a:extLst>
              <a:ext uri="{FF2B5EF4-FFF2-40B4-BE49-F238E27FC236}">
                <a16:creationId xmlns:a16="http://schemas.microsoft.com/office/drawing/2014/main" id="{851FF65D-E17F-4CE5-A3C5-ECF3186B90C6}"/>
              </a:ext>
            </a:extLst>
          </p:cNvPr>
          <p:cNvSpPr txBox="1"/>
          <p:nvPr/>
        </p:nvSpPr>
        <p:spPr>
          <a:xfrm>
            <a:off x="5938083" y="5707371"/>
            <a:ext cx="65044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a:t>
            </a:r>
          </a:p>
        </p:txBody>
      </p:sp>
    </p:spTree>
    <p:extLst>
      <p:ext uri="{BB962C8B-B14F-4D97-AF65-F5344CB8AC3E}">
        <p14:creationId xmlns:p14="http://schemas.microsoft.com/office/powerpoint/2010/main" val="1469810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xEl>
                                              <p:pRg st="3" end="3"/>
                                            </p:txEl>
                                          </p:spTgt>
                                        </p:tgtEl>
                                        <p:attrNameLst>
                                          <p:attrName>style.visibility</p:attrName>
                                        </p:attrNameLst>
                                      </p:cBhvr>
                                      <p:to>
                                        <p:strVal val="visible"/>
                                      </p:to>
                                    </p:set>
                                    <p:animEffect transition="in" filter="fade">
                                      <p:cBhvr>
                                        <p:cTn id="7" dur="500"/>
                                        <p:tgtEl>
                                          <p:spTgt spid="11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a:t>
            </a:fld>
            <a:endParaRPr dirty="0"/>
          </a:p>
        </p:txBody>
      </p:sp>
      <p:sp>
        <p:nvSpPr>
          <p:cNvPr id="115" name="Google Shape;115;p20"/>
          <p:cNvSpPr txBox="1"/>
          <p:nvPr/>
        </p:nvSpPr>
        <p:spPr>
          <a:xfrm>
            <a:off x="381000" y="406892"/>
            <a:ext cx="8305800" cy="822325"/>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1" i="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Least-Squares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a:t>
            </a:r>
            <a:r>
              <a:rPr lang="en-US" sz="2400" dirty="0">
                <a:solidFill>
                  <a:schemeClr val="dk1"/>
                </a:solidFill>
              </a:rPr>
              <a:t>3</a:t>
            </a:r>
            <a:r>
              <a:rPr lang="en-US" sz="2400" b="0" u="none" dirty="0">
                <a:solidFill>
                  <a:schemeClr val="dk1"/>
                </a:solidFill>
                <a:latin typeface="Arial"/>
                <a:ea typeface="Arial"/>
                <a:cs typeface="Arial"/>
                <a:sym typeface="Arial"/>
              </a:rPr>
              <a:t> of 4)</a:t>
            </a:r>
            <a:endParaRPr dirty="0"/>
          </a:p>
        </p:txBody>
      </p:sp>
      <p:sp>
        <p:nvSpPr>
          <p:cNvPr id="116" name="Google Shape;116;p20"/>
          <p:cNvSpPr txBox="1"/>
          <p:nvPr/>
        </p:nvSpPr>
        <p:spPr>
          <a:xfrm>
            <a:off x="381000" y="1229217"/>
            <a:ext cx="8305800" cy="4285463"/>
          </a:xfrm>
          <a:prstGeom prst="rect">
            <a:avLst/>
          </a:prstGeom>
          <a:noFill/>
          <a:ln>
            <a:noFill/>
          </a:ln>
        </p:spPr>
        <p:txBody>
          <a:bodyPr spcFirstLastPara="1" wrap="square" lIns="91425" tIns="45700" rIns="91425" bIns="45700" anchor="t" anchorCtr="0">
            <a:noAutofit/>
          </a:bodyPr>
          <a:lstStyle/>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Figure (b) displays the output. </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linear correlation coefficient is 0.718. The least-squares regression equation for these data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where    represents the predicted total cholesterol for a female whose age is </a:t>
            </a:r>
            <a:r>
              <a:rPr lang="en-US" sz="2600" i="1" dirty="0">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a:t>
            </a:r>
            <a:endParaRPr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51FF65D-E17F-4CE5-A3C5-ECF3186B90C6}"/>
              </a:ext>
            </a:extLst>
          </p:cNvPr>
          <p:cNvSpPr txBox="1"/>
          <p:nvPr/>
        </p:nvSpPr>
        <p:spPr>
          <a:xfrm>
            <a:off x="5903134" y="3384909"/>
            <a:ext cx="65044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(b)</a:t>
            </a:r>
          </a:p>
        </p:txBody>
      </p:sp>
      <p:pic>
        <p:nvPicPr>
          <p:cNvPr id="5" name="Picture 4" descr="A screenshot of a cell phone&#10;&#10;Description automatically generated">
            <a:extLst>
              <a:ext uri="{FF2B5EF4-FFF2-40B4-BE49-F238E27FC236}">
                <a16:creationId xmlns:a16="http://schemas.microsoft.com/office/drawing/2014/main" id="{6C95CC1C-6C7E-4A8C-9DAF-463A7F264075}"/>
              </a:ext>
            </a:extLst>
          </p:cNvPr>
          <p:cNvPicPr>
            <a:picLocks noChangeAspect="1"/>
          </p:cNvPicPr>
          <p:nvPr/>
        </p:nvPicPr>
        <p:blipFill>
          <a:blip r:embed="rId4"/>
          <a:stretch>
            <a:fillRect/>
          </a:stretch>
        </p:blipFill>
        <p:spPr>
          <a:xfrm>
            <a:off x="4861822" y="1243580"/>
            <a:ext cx="2944374" cy="2185420"/>
          </a:xfrm>
          <a:prstGeom prst="rect">
            <a:avLst/>
          </a:prstGeom>
        </p:spPr>
      </p:pic>
      <p:graphicFrame>
        <p:nvGraphicFramePr>
          <p:cNvPr id="6" name="Object 5">
            <a:extLst>
              <a:ext uri="{FF2B5EF4-FFF2-40B4-BE49-F238E27FC236}">
                <a16:creationId xmlns:a16="http://schemas.microsoft.com/office/drawing/2014/main" id="{330E1275-1663-4FC3-B2E0-8806F2DA7C6A}"/>
              </a:ext>
            </a:extLst>
          </p:cNvPr>
          <p:cNvGraphicFramePr>
            <a:graphicFrameLocks noChangeAspect="1"/>
          </p:cNvGraphicFramePr>
          <p:nvPr>
            <p:extLst>
              <p:ext uri="{D42A27DB-BD31-4B8C-83A1-F6EECF244321}">
                <p14:modId xmlns:p14="http://schemas.microsoft.com/office/powerpoint/2010/main" val="512332898"/>
              </p:ext>
            </p:extLst>
          </p:nvPr>
        </p:nvGraphicFramePr>
        <p:xfrm>
          <a:off x="5265590" y="4497764"/>
          <a:ext cx="3162300" cy="381000"/>
        </p:xfrm>
        <a:graphic>
          <a:graphicData uri="http://schemas.openxmlformats.org/presentationml/2006/ole">
            <mc:AlternateContent xmlns:mc="http://schemas.openxmlformats.org/markup-compatibility/2006">
              <mc:Choice xmlns:v="urn:schemas-microsoft-com:vml" Requires="v">
                <p:oleObj spid="_x0000_s80334" name="Equation" r:id="rId5" imgW="3162240" imgH="380880" progId="Equation.DSMT4">
                  <p:embed/>
                </p:oleObj>
              </mc:Choice>
              <mc:Fallback>
                <p:oleObj name="Equation" r:id="rId5" imgW="3162240" imgH="380880" progId="Equation.DSMT4">
                  <p:embed/>
                  <p:pic>
                    <p:nvPicPr>
                      <p:cNvPr id="0" name=""/>
                      <p:cNvPicPr/>
                      <p:nvPr/>
                    </p:nvPicPr>
                    <p:blipFill>
                      <a:blip r:embed="rId6"/>
                      <a:stretch>
                        <a:fillRect/>
                      </a:stretch>
                    </p:blipFill>
                    <p:spPr>
                      <a:xfrm>
                        <a:off x="5265590" y="4497764"/>
                        <a:ext cx="3162300" cy="381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71DEA0B-F181-4D21-878C-28EAC3E8C8F3}"/>
              </a:ext>
            </a:extLst>
          </p:cNvPr>
          <p:cNvGraphicFramePr>
            <a:graphicFrameLocks noChangeAspect="1"/>
          </p:cNvGraphicFramePr>
          <p:nvPr>
            <p:extLst>
              <p:ext uri="{D42A27DB-BD31-4B8C-83A1-F6EECF244321}">
                <p14:modId xmlns:p14="http://schemas.microsoft.com/office/powerpoint/2010/main" val="417003833"/>
              </p:ext>
            </p:extLst>
          </p:nvPr>
        </p:nvGraphicFramePr>
        <p:xfrm>
          <a:off x="1346854" y="4878764"/>
          <a:ext cx="228600" cy="381000"/>
        </p:xfrm>
        <a:graphic>
          <a:graphicData uri="http://schemas.openxmlformats.org/presentationml/2006/ole">
            <mc:AlternateContent xmlns:mc="http://schemas.openxmlformats.org/markup-compatibility/2006">
              <mc:Choice xmlns:v="urn:schemas-microsoft-com:vml" Requires="v">
                <p:oleObj spid="_x0000_s80335" name="Equation" r:id="rId7" imgW="228600" imgH="380880" progId="Equation.DSMT4">
                  <p:embed/>
                </p:oleObj>
              </mc:Choice>
              <mc:Fallback>
                <p:oleObj name="Equation" r:id="rId7" imgW="228600" imgH="380880" progId="Equation.DSMT4">
                  <p:embed/>
                  <p:pic>
                    <p:nvPicPr>
                      <p:cNvPr id="0" name=""/>
                      <p:cNvPicPr/>
                      <p:nvPr/>
                    </p:nvPicPr>
                    <p:blipFill>
                      <a:blip r:embed="rId8"/>
                      <a:stretch>
                        <a:fillRect/>
                      </a:stretch>
                    </p:blipFill>
                    <p:spPr>
                      <a:xfrm>
                        <a:off x="1346854" y="4878764"/>
                        <a:ext cx="228600" cy="381000"/>
                      </a:xfrm>
                      <a:prstGeom prst="rect">
                        <a:avLst/>
                      </a:prstGeom>
                    </p:spPr>
                  </p:pic>
                </p:oleObj>
              </mc:Fallback>
            </mc:AlternateContent>
          </a:graphicData>
        </a:graphic>
      </p:graphicFrame>
    </p:spTree>
    <p:extLst>
      <p:ext uri="{BB962C8B-B14F-4D97-AF65-F5344CB8AC3E}">
        <p14:creationId xmlns:p14="http://schemas.microsoft.com/office/powerpoint/2010/main" val="352563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xEl>
                                              <p:pRg st="7" end="7"/>
                                            </p:txEl>
                                          </p:spTgt>
                                        </p:tgtEl>
                                        <p:attrNameLst>
                                          <p:attrName>style.visibility</p:attrName>
                                        </p:attrNameLst>
                                      </p:cBhvr>
                                      <p:to>
                                        <p:strVal val="visible"/>
                                      </p:to>
                                    </p:set>
                                    <p:animEffect transition="in" filter="fade">
                                      <p:cBhvr>
                                        <p:cTn id="7" dur="500"/>
                                        <p:tgtEl>
                                          <p:spTgt spid="116">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a:t>
            </a:fld>
            <a:endParaRPr dirty="0"/>
          </a:p>
        </p:txBody>
      </p:sp>
      <p:sp>
        <p:nvSpPr>
          <p:cNvPr id="115" name="Google Shape;115;p20"/>
          <p:cNvSpPr txBox="1"/>
          <p:nvPr/>
        </p:nvSpPr>
        <p:spPr>
          <a:xfrm>
            <a:off x="381000" y="406892"/>
            <a:ext cx="8305800" cy="822325"/>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1" i="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Least-Squares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4)</a:t>
            </a:r>
            <a:endParaRPr dirty="0"/>
          </a:p>
        </p:txBody>
      </p:sp>
      <p:sp>
        <p:nvSpPr>
          <p:cNvPr id="116" name="Google Shape;116;p20"/>
          <p:cNvSpPr txBox="1"/>
          <p:nvPr/>
        </p:nvSpPr>
        <p:spPr>
          <a:xfrm>
            <a:off x="381000" y="1229217"/>
            <a:ext cx="8305800" cy="4285463"/>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coefficient of determination,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0.515, so 51.5% of the variation in total cholesterol is explained by the regression line.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Figure (c) shows a graph of the least-squares regression equation on the scatter diagram.</a:t>
            </a:r>
            <a:endParaRPr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51FF65D-E17F-4CE5-A3C5-ECF3186B90C6}"/>
              </a:ext>
            </a:extLst>
          </p:cNvPr>
          <p:cNvSpPr txBox="1"/>
          <p:nvPr/>
        </p:nvSpPr>
        <p:spPr>
          <a:xfrm>
            <a:off x="4130895" y="5826451"/>
            <a:ext cx="65044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(c)</a:t>
            </a:r>
          </a:p>
        </p:txBody>
      </p:sp>
      <p:pic>
        <p:nvPicPr>
          <p:cNvPr id="3" name="Picture 2" descr="A screenshot of a computer&#10;&#10;Description automatically generated">
            <a:extLst>
              <a:ext uri="{FF2B5EF4-FFF2-40B4-BE49-F238E27FC236}">
                <a16:creationId xmlns:a16="http://schemas.microsoft.com/office/drawing/2014/main" id="{D5101BB6-4A41-4C0E-877D-7688F263535F}"/>
              </a:ext>
            </a:extLst>
          </p:cNvPr>
          <p:cNvPicPr>
            <a:picLocks noChangeAspect="1"/>
          </p:cNvPicPr>
          <p:nvPr/>
        </p:nvPicPr>
        <p:blipFill>
          <a:blip r:embed="rId3"/>
          <a:stretch>
            <a:fillRect/>
          </a:stretch>
        </p:blipFill>
        <p:spPr>
          <a:xfrm>
            <a:off x="2873570" y="3668815"/>
            <a:ext cx="2944374" cy="2254000"/>
          </a:xfrm>
          <a:prstGeom prst="rect">
            <a:avLst/>
          </a:prstGeom>
        </p:spPr>
      </p:pic>
    </p:spTree>
    <p:extLst>
      <p:ext uri="{BB962C8B-B14F-4D97-AF65-F5344CB8AC3E}">
        <p14:creationId xmlns:p14="http://schemas.microsoft.com/office/powerpoint/2010/main" val="337955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xEl>
                                              <p:pRg st="2" end="2"/>
                                            </p:txEl>
                                          </p:spTgt>
                                        </p:tgtEl>
                                        <p:attrNameLst>
                                          <p:attrName>style.visibility</p:attrName>
                                        </p:attrNameLst>
                                      </p:cBhvr>
                                      <p:to>
                                        <p:strVal val="visible"/>
                                      </p:to>
                                    </p:set>
                                    <p:animEffect transition="in" filter="fade">
                                      <p:cBhvr>
                                        <p:cTn id="7" dur="500"/>
                                        <p:tgtEl>
                                          <p:spTgt spid="11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dirty="0">
                <a:solidFill>
                  <a:schemeClr val="accent2"/>
                </a:solidFill>
                <a:latin typeface="Arial"/>
                <a:ea typeface="Arial"/>
                <a:cs typeface="Arial"/>
                <a:sym typeface="Arial"/>
              </a:rPr>
              <a:t>Objective 1</a:t>
            </a:r>
            <a:endParaRPr dirty="0"/>
          </a:p>
        </p:txBody>
      </p:sp>
      <p:sp>
        <p:nvSpPr>
          <p:cNvPr id="96" name="Google Shape;96;p17"/>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State the Requirements of the Least-Squares Regression Model</a:t>
            </a:r>
            <a:endParaRPr dirty="0"/>
          </a:p>
        </p:txBody>
      </p:sp>
      <p:sp>
        <p:nvSpPr>
          <p:cNvPr id="97" name="Google Shape;97;p1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a:t>
            </a:fld>
            <a:endParaRPr/>
          </a:p>
        </p:txBody>
      </p:sp>
    </p:spTree>
    <p:extLst>
      <p:ext uri="{BB962C8B-B14F-4D97-AF65-F5344CB8AC3E}">
        <p14:creationId xmlns:p14="http://schemas.microsoft.com/office/powerpoint/2010/main" val="1338388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7" name="Rectangle 6">
            <a:extLst>
              <a:ext uri="{FF2B5EF4-FFF2-40B4-BE49-F238E27FC236}">
                <a16:creationId xmlns:a16="http://schemas.microsoft.com/office/drawing/2014/main" id="{BB1187E3-4CEC-4522-8810-070358EA6E6D}"/>
              </a:ext>
            </a:extLst>
          </p:cNvPr>
          <p:cNvSpPr/>
          <p:nvPr/>
        </p:nvSpPr>
        <p:spPr>
          <a:xfrm>
            <a:off x="419838" y="556182"/>
            <a:ext cx="8440075" cy="492079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Google Shape;102;p18"/>
          <p:cNvSpPr txBox="1"/>
          <p:nvPr/>
        </p:nvSpPr>
        <p:spPr>
          <a:xfrm>
            <a:off x="533400" y="664369"/>
            <a:ext cx="8077200" cy="11430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Requirement 1 for Inference on the          Least-Squares Regression Model</a:t>
            </a:r>
            <a:endParaRPr dirty="0">
              <a:solidFill>
                <a:schemeClr val="tx1"/>
              </a:solidFill>
              <a:latin typeface="+mn-lt"/>
            </a:endParaRPr>
          </a:p>
        </p:txBody>
      </p:sp>
      <p:sp>
        <p:nvSpPr>
          <p:cNvPr id="103" name="Google Shape;103;p18"/>
          <p:cNvSpPr txBox="1"/>
          <p:nvPr/>
        </p:nvSpPr>
        <p:spPr>
          <a:xfrm>
            <a:off x="533401" y="1686719"/>
            <a:ext cx="8077200" cy="3629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For any particular value of the explanatory variable </a:t>
            </a:r>
            <a:r>
              <a:rPr lang="en-US" sz="2800" b="0" i="1" u="none" dirty="0">
                <a:solidFill>
                  <a:schemeClr val="dk1"/>
                </a:solidFill>
                <a:latin typeface="Times New Roman"/>
                <a:ea typeface="Times New Roman"/>
                <a:cs typeface="Times New Roman"/>
                <a:sym typeface="Times New Roman"/>
              </a:rPr>
              <a:t>x</a:t>
            </a:r>
            <a:r>
              <a:rPr lang="en-US" sz="2800" b="0" i="0" u="none" dirty="0">
                <a:solidFill>
                  <a:schemeClr val="dk1"/>
                </a:solidFill>
                <a:latin typeface="Times New Roman"/>
                <a:ea typeface="Times New Roman"/>
                <a:cs typeface="Times New Roman"/>
                <a:sym typeface="Times New Roman"/>
              </a:rPr>
              <a:t>, the mean of the corresponding responses in the population depends linearly on </a:t>
            </a:r>
            <a:r>
              <a:rPr lang="en-US" sz="2800" b="0" i="1" u="none" dirty="0">
                <a:solidFill>
                  <a:schemeClr val="dk1"/>
                </a:solidFill>
                <a:latin typeface="Times New Roman"/>
                <a:ea typeface="Times New Roman"/>
                <a:cs typeface="Times New Roman"/>
                <a:sym typeface="Times New Roman"/>
              </a:rPr>
              <a:t>x</a:t>
            </a:r>
            <a:r>
              <a:rPr lang="en-US" sz="2800" b="0" i="0" u="none" dirty="0">
                <a:solidFill>
                  <a:schemeClr val="dk1"/>
                </a:solidFill>
                <a:latin typeface="Times New Roman"/>
                <a:ea typeface="Times New Roman"/>
                <a:cs typeface="Times New Roman"/>
                <a:sym typeface="Times New Roman"/>
              </a:rPr>
              <a:t>.  That is,</a:t>
            </a:r>
            <a:endParaRPr dirty="0"/>
          </a:p>
          <a:p>
            <a:pPr marL="0" marR="0" lvl="0" indent="0" algn="l" rtl="0">
              <a:lnSpc>
                <a:spcPct val="100000"/>
              </a:lnSpc>
              <a:spcBef>
                <a:spcPts val="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for some numbers </a:t>
            </a:r>
            <a:r>
              <a:rPr lang="en-US" sz="2800" b="0" i="1" u="none" dirty="0">
                <a:solidFill>
                  <a:schemeClr val="dk1"/>
                </a:solidFill>
                <a:latin typeface="Times New Roman"/>
                <a:ea typeface="Times New Roman"/>
                <a:cs typeface="Times New Roman"/>
                <a:sym typeface="Times New Roman"/>
              </a:rPr>
              <a:t>β</a:t>
            </a:r>
            <a:r>
              <a:rPr lang="en-US" sz="2800" b="0" i="0" u="none" baseline="-25000" dirty="0">
                <a:solidFill>
                  <a:schemeClr val="dk1"/>
                </a:solidFill>
                <a:latin typeface="Times New Roman"/>
                <a:ea typeface="Times New Roman"/>
                <a:cs typeface="Times New Roman"/>
                <a:sym typeface="Times New Roman"/>
              </a:rPr>
              <a:t>0</a:t>
            </a:r>
            <a:r>
              <a:rPr lang="en-US" sz="2800" b="0" i="0" u="none" dirty="0">
                <a:solidFill>
                  <a:schemeClr val="dk1"/>
                </a:solidFill>
                <a:latin typeface="Times New Roman"/>
                <a:ea typeface="Times New Roman"/>
                <a:cs typeface="Times New Roman"/>
                <a:sym typeface="Times New Roman"/>
              </a:rPr>
              <a:t> and</a:t>
            </a:r>
            <a:r>
              <a:rPr lang="en-US" sz="2800" b="0" i="1" u="none" dirty="0">
                <a:solidFill>
                  <a:schemeClr val="dk1"/>
                </a:solidFill>
                <a:latin typeface="Times New Roman"/>
                <a:ea typeface="Times New Roman"/>
                <a:cs typeface="Times New Roman"/>
                <a:sym typeface="Times New Roman"/>
              </a:rPr>
              <a:t> β</a:t>
            </a:r>
            <a:r>
              <a:rPr lang="en-US" sz="2800" b="0" i="0" u="none" baseline="-25000" dirty="0">
                <a:solidFill>
                  <a:schemeClr val="dk1"/>
                </a:solidFill>
                <a:latin typeface="Times New Roman"/>
                <a:ea typeface="Times New Roman"/>
                <a:cs typeface="Times New Roman"/>
                <a:sym typeface="Times New Roman"/>
              </a:rPr>
              <a:t>1</a:t>
            </a:r>
            <a:r>
              <a:rPr lang="en-US" sz="2800" b="0" i="0" u="none" dirty="0">
                <a:solidFill>
                  <a:schemeClr val="dk1"/>
                </a:solidFill>
                <a:latin typeface="Times New Roman"/>
                <a:ea typeface="Times New Roman"/>
                <a:cs typeface="Times New Roman"/>
                <a:sym typeface="Times New Roman"/>
              </a:rPr>
              <a:t>, where </a:t>
            </a:r>
            <a:r>
              <a:rPr lang="en-US" sz="2800" b="0" i="1" u="none" dirty="0" err="1">
                <a:solidFill>
                  <a:schemeClr val="dk1"/>
                </a:solidFill>
                <a:latin typeface="Times New Roman"/>
                <a:ea typeface="Times New Roman"/>
                <a:cs typeface="Times New Roman"/>
                <a:sym typeface="Times New Roman"/>
              </a:rPr>
              <a:t>μ</a:t>
            </a:r>
            <a:r>
              <a:rPr lang="en-US" sz="2800" b="0" i="1" u="none" baseline="-25000" dirty="0" err="1">
                <a:solidFill>
                  <a:schemeClr val="dk1"/>
                </a:solidFill>
                <a:latin typeface="Times New Roman"/>
                <a:ea typeface="Times New Roman"/>
                <a:cs typeface="Times New Roman"/>
                <a:sym typeface="Times New Roman"/>
              </a:rPr>
              <a:t>y|x</a:t>
            </a:r>
            <a:r>
              <a:rPr lang="en-US" sz="2800" b="0" i="0" u="none" dirty="0">
                <a:solidFill>
                  <a:schemeClr val="dk1"/>
                </a:solidFill>
                <a:latin typeface="Times New Roman"/>
                <a:ea typeface="Times New Roman"/>
                <a:cs typeface="Times New Roman"/>
                <a:sym typeface="Times New Roman"/>
              </a:rPr>
              <a:t> represents the population mean response when the value of the explanatory variable is </a:t>
            </a:r>
            <a:r>
              <a:rPr lang="en-US" sz="2800" b="0" i="1" u="none" dirty="0">
                <a:solidFill>
                  <a:schemeClr val="dk1"/>
                </a:solidFill>
                <a:latin typeface="Times New Roman"/>
                <a:ea typeface="Times New Roman"/>
                <a:cs typeface="Times New Roman"/>
                <a:sym typeface="Times New Roman"/>
              </a:rPr>
              <a:t>x</a:t>
            </a:r>
            <a:r>
              <a:rPr lang="en-US" sz="2800" b="0" i="0" u="none" dirty="0">
                <a:solidFill>
                  <a:schemeClr val="dk1"/>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 </a:t>
            </a:r>
            <a:endParaRPr dirty="0"/>
          </a:p>
        </p:txBody>
      </p:sp>
      <p:sp>
        <p:nvSpPr>
          <p:cNvPr id="104" name="Google Shape;104;p1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8</a:t>
            </a:fld>
            <a:endParaRPr/>
          </a:p>
        </p:txBody>
      </p:sp>
      <p:graphicFrame>
        <p:nvGraphicFramePr>
          <p:cNvPr id="2" name="Object 1">
            <a:extLst>
              <a:ext uri="{FF2B5EF4-FFF2-40B4-BE49-F238E27FC236}">
                <a16:creationId xmlns:a16="http://schemas.microsoft.com/office/drawing/2014/main" id="{4B3A2384-8296-4B58-80E5-F59D9140D181}"/>
              </a:ext>
            </a:extLst>
          </p:cNvPr>
          <p:cNvGraphicFramePr>
            <a:graphicFrameLocks noChangeAspect="1"/>
          </p:cNvGraphicFramePr>
          <p:nvPr>
            <p:extLst>
              <p:ext uri="{D42A27DB-BD31-4B8C-83A1-F6EECF244321}">
                <p14:modId xmlns:p14="http://schemas.microsoft.com/office/powerpoint/2010/main" val="2474361518"/>
              </p:ext>
            </p:extLst>
          </p:nvPr>
        </p:nvGraphicFramePr>
        <p:xfrm>
          <a:off x="3103858" y="3184525"/>
          <a:ext cx="2032000" cy="469900"/>
        </p:xfrm>
        <a:graphic>
          <a:graphicData uri="http://schemas.openxmlformats.org/presentationml/2006/ole">
            <mc:AlternateContent xmlns:mc="http://schemas.openxmlformats.org/markup-compatibility/2006">
              <mc:Choice xmlns:v="urn:schemas-microsoft-com:vml" Requires="v">
                <p:oleObj spid="_x0000_s81123" name="Equation" r:id="rId4" imgW="2031840" imgH="469800" progId="Equation.DSMT4">
                  <p:embed/>
                </p:oleObj>
              </mc:Choice>
              <mc:Fallback>
                <p:oleObj name="Equation" r:id="rId4" imgW="2031840" imgH="469800" progId="Equation.DSMT4">
                  <p:embed/>
                  <p:pic>
                    <p:nvPicPr>
                      <p:cNvPr id="0" name=""/>
                      <p:cNvPicPr/>
                      <p:nvPr/>
                    </p:nvPicPr>
                    <p:blipFill>
                      <a:blip r:embed="rId5"/>
                      <a:stretch>
                        <a:fillRect/>
                      </a:stretch>
                    </p:blipFill>
                    <p:spPr>
                      <a:xfrm>
                        <a:off x="3103858" y="3184525"/>
                        <a:ext cx="2032000" cy="469900"/>
                      </a:xfrm>
                      <a:prstGeom prst="rect">
                        <a:avLst/>
                      </a:prstGeom>
                    </p:spPr>
                  </p:pic>
                </p:oleObj>
              </mc:Fallback>
            </mc:AlternateContent>
          </a:graphicData>
        </a:graphic>
      </p:graphicFrame>
    </p:spTree>
    <p:extLst>
      <p:ext uri="{BB962C8B-B14F-4D97-AF65-F5344CB8AC3E}">
        <p14:creationId xmlns:p14="http://schemas.microsoft.com/office/powerpoint/2010/main" val="2451504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7" name="Rectangle 6">
            <a:extLst>
              <a:ext uri="{FF2B5EF4-FFF2-40B4-BE49-F238E27FC236}">
                <a16:creationId xmlns:a16="http://schemas.microsoft.com/office/drawing/2014/main" id="{BB1187E3-4CEC-4522-8810-070358EA6E6D}"/>
              </a:ext>
            </a:extLst>
          </p:cNvPr>
          <p:cNvSpPr/>
          <p:nvPr/>
        </p:nvSpPr>
        <p:spPr>
          <a:xfrm>
            <a:off x="419838" y="556182"/>
            <a:ext cx="8440075" cy="277148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Google Shape;102;p18"/>
          <p:cNvSpPr txBox="1"/>
          <p:nvPr/>
        </p:nvSpPr>
        <p:spPr>
          <a:xfrm>
            <a:off x="533400" y="664369"/>
            <a:ext cx="8077200" cy="11430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Requirement 2 for Inference on the          Least-Squares Regression Model</a:t>
            </a:r>
            <a:endParaRPr dirty="0">
              <a:solidFill>
                <a:schemeClr val="tx1"/>
              </a:solidFill>
              <a:latin typeface="+mn-lt"/>
            </a:endParaRPr>
          </a:p>
        </p:txBody>
      </p:sp>
      <p:sp>
        <p:nvSpPr>
          <p:cNvPr id="103" name="Google Shape;103;p18"/>
          <p:cNvSpPr txBox="1"/>
          <p:nvPr/>
        </p:nvSpPr>
        <p:spPr>
          <a:xfrm>
            <a:off x="533400" y="1807369"/>
            <a:ext cx="8077200" cy="12450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The response variable is normally distributed with mean                         and standard deviation </a:t>
            </a:r>
            <a:r>
              <a:rPr lang="en-US" sz="2800" b="0" i="1" u="none" dirty="0">
                <a:solidFill>
                  <a:schemeClr val="dk1"/>
                </a:solidFill>
                <a:latin typeface="Times New Roman"/>
                <a:ea typeface="Times New Roman"/>
                <a:cs typeface="Times New Roman"/>
                <a:sym typeface="Symbol" panose="05050102010706020507" pitchFamily="18" charset="2"/>
              </a:rPr>
              <a:t></a:t>
            </a:r>
            <a:r>
              <a:rPr lang="en-US" sz="2800" b="0" i="0" u="none" dirty="0">
                <a:solidFill>
                  <a:schemeClr val="dk1"/>
                </a:solidFill>
                <a:latin typeface="Times New Roman"/>
                <a:ea typeface="Times New Roman"/>
                <a:cs typeface="Times New Roman"/>
                <a:sym typeface="Symbol" panose="05050102010706020507" pitchFamily="18" charset="2"/>
              </a:rPr>
              <a:t>.</a:t>
            </a:r>
            <a:endParaRPr dirty="0"/>
          </a:p>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 </a:t>
            </a:r>
            <a:endParaRPr dirty="0"/>
          </a:p>
        </p:txBody>
      </p:sp>
      <p:sp>
        <p:nvSpPr>
          <p:cNvPr id="104" name="Google Shape;104;p1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a:t>
            </a:fld>
            <a:endParaRPr/>
          </a:p>
        </p:txBody>
      </p:sp>
      <p:graphicFrame>
        <p:nvGraphicFramePr>
          <p:cNvPr id="2" name="Object 1">
            <a:extLst>
              <a:ext uri="{FF2B5EF4-FFF2-40B4-BE49-F238E27FC236}">
                <a16:creationId xmlns:a16="http://schemas.microsoft.com/office/drawing/2014/main" id="{4B3A2384-8296-4B58-80E5-F59D9140D181}"/>
              </a:ext>
            </a:extLst>
          </p:cNvPr>
          <p:cNvGraphicFramePr>
            <a:graphicFrameLocks noChangeAspect="1"/>
          </p:cNvGraphicFramePr>
          <p:nvPr>
            <p:extLst>
              <p:ext uri="{D42A27DB-BD31-4B8C-83A1-F6EECF244321}">
                <p14:modId xmlns:p14="http://schemas.microsoft.com/office/powerpoint/2010/main" val="2221330511"/>
              </p:ext>
            </p:extLst>
          </p:nvPr>
        </p:nvGraphicFramePr>
        <p:xfrm>
          <a:off x="1463594" y="2336113"/>
          <a:ext cx="2032000" cy="469900"/>
        </p:xfrm>
        <a:graphic>
          <a:graphicData uri="http://schemas.openxmlformats.org/presentationml/2006/ole">
            <mc:AlternateContent xmlns:mc="http://schemas.openxmlformats.org/markup-compatibility/2006">
              <mc:Choice xmlns:v="urn:schemas-microsoft-com:vml" Requires="v">
                <p:oleObj spid="_x0000_s82145" name="Equation" r:id="rId4" imgW="2031840" imgH="469800" progId="Equation.DSMT4">
                  <p:embed/>
                </p:oleObj>
              </mc:Choice>
              <mc:Fallback>
                <p:oleObj name="Equation" r:id="rId4" imgW="2031840" imgH="469800" progId="Equation.DSMT4">
                  <p:embed/>
                  <p:pic>
                    <p:nvPicPr>
                      <p:cNvPr id="2" name="Object 1">
                        <a:extLst>
                          <a:ext uri="{FF2B5EF4-FFF2-40B4-BE49-F238E27FC236}">
                            <a16:creationId xmlns:a16="http://schemas.microsoft.com/office/drawing/2014/main" id="{4B3A2384-8296-4B58-80E5-F59D9140D181}"/>
                          </a:ext>
                        </a:extLst>
                      </p:cNvPr>
                      <p:cNvPicPr/>
                      <p:nvPr/>
                    </p:nvPicPr>
                    <p:blipFill>
                      <a:blip r:embed="rId5"/>
                      <a:stretch>
                        <a:fillRect/>
                      </a:stretch>
                    </p:blipFill>
                    <p:spPr>
                      <a:xfrm>
                        <a:off x="1463594" y="2336113"/>
                        <a:ext cx="2032000" cy="469900"/>
                      </a:xfrm>
                      <a:prstGeom prst="rect">
                        <a:avLst/>
                      </a:prstGeom>
                    </p:spPr>
                  </p:pic>
                </p:oleObj>
              </mc:Fallback>
            </mc:AlternateContent>
          </a:graphicData>
        </a:graphic>
      </p:graphicFrame>
    </p:spTree>
    <p:extLst>
      <p:ext uri="{BB962C8B-B14F-4D97-AF65-F5344CB8AC3E}">
        <p14:creationId xmlns:p14="http://schemas.microsoft.com/office/powerpoint/2010/main" val="287129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p:nvPr/>
        </p:nvSpPr>
        <p:spPr>
          <a:xfrm>
            <a:off x="533400" y="381000"/>
            <a:ext cx="7969577" cy="473775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1" u="none" dirty="0">
                <a:solidFill>
                  <a:schemeClr val="tx1"/>
                </a:solidFill>
                <a:latin typeface="+mn-lt"/>
                <a:ea typeface="Times New Roman"/>
                <a:cs typeface="Times New Roman"/>
                <a:sym typeface="Times New Roman"/>
              </a:rPr>
              <a:t>In Other Words</a:t>
            </a:r>
            <a:endParaRPr dirty="0">
              <a:solidFill>
                <a:schemeClr val="tx1"/>
              </a:solidFill>
              <a:latin typeface="+mn-lt"/>
            </a:endParaRPr>
          </a:p>
          <a:p>
            <a:pPr marL="0" marR="0" lvl="0" indent="0" algn="l" rtl="0">
              <a:lnSpc>
                <a:spcPct val="100000"/>
              </a:lnSpc>
              <a:spcBef>
                <a:spcPts val="0"/>
              </a:spcBef>
              <a:spcAft>
                <a:spcPts val="0"/>
              </a:spcAft>
              <a:buClr>
                <a:schemeClr val="dk1"/>
              </a:buClr>
              <a:buSzPts val="3200"/>
              <a:buFont typeface="Times New Roman"/>
              <a:buNone/>
            </a:pPr>
            <a:r>
              <a:rPr lang="en-US" sz="2800" b="0" i="0" u="none" dirty="0">
                <a:solidFill>
                  <a:schemeClr val="dk1"/>
                </a:solidFill>
                <a:latin typeface="Times New Roman"/>
                <a:ea typeface="Times New Roman"/>
                <a:cs typeface="Times New Roman"/>
                <a:sym typeface="Times New Roman"/>
              </a:rPr>
              <a:t>When doing inference on the least-squares regression model, we require (1) for any explanatory variable, </a:t>
            </a:r>
            <a:r>
              <a:rPr lang="en-US" sz="2800" b="0" i="1" u="none" dirty="0">
                <a:solidFill>
                  <a:schemeClr val="dk1"/>
                </a:solidFill>
                <a:latin typeface="Times New Roman"/>
                <a:ea typeface="Times New Roman"/>
                <a:cs typeface="Times New Roman"/>
                <a:sym typeface="Times New Roman"/>
              </a:rPr>
              <a:t>x</a:t>
            </a:r>
            <a:r>
              <a:rPr lang="en-US" sz="2800" b="0" i="0" u="none" dirty="0">
                <a:solidFill>
                  <a:schemeClr val="dk1"/>
                </a:solidFill>
                <a:latin typeface="Times New Roman"/>
                <a:ea typeface="Times New Roman"/>
                <a:cs typeface="Times New Roman"/>
                <a:sym typeface="Times New Roman"/>
              </a:rPr>
              <a:t>, the mean of the response variable, </a:t>
            </a:r>
            <a:r>
              <a:rPr lang="en-US" sz="2800" b="0" i="1" u="none" dirty="0">
                <a:solidFill>
                  <a:schemeClr val="dk1"/>
                </a:solidFill>
                <a:latin typeface="Times New Roman"/>
                <a:ea typeface="Times New Roman"/>
                <a:cs typeface="Times New Roman"/>
                <a:sym typeface="Times New Roman"/>
              </a:rPr>
              <a:t>y</a:t>
            </a:r>
            <a:r>
              <a:rPr lang="en-US" sz="2800" b="0" i="0" u="none" dirty="0">
                <a:solidFill>
                  <a:schemeClr val="dk1"/>
                </a:solidFill>
                <a:latin typeface="Times New Roman"/>
                <a:ea typeface="Times New Roman"/>
                <a:cs typeface="Times New Roman"/>
                <a:sym typeface="Times New Roman"/>
              </a:rPr>
              <a:t>, depends on the value of </a:t>
            </a:r>
            <a:r>
              <a:rPr lang="en-US" sz="2800" b="0" i="1" u="none" dirty="0">
                <a:solidFill>
                  <a:schemeClr val="dk1"/>
                </a:solidFill>
                <a:latin typeface="Times New Roman"/>
                <a:ea typeface="Times New Roman"/>
                <a:cs typeface="Times New Roman"/>
                <a:sym typeface="Times New Roman"/>
              </a:rPr>
              <a:t>x</a:t>
            </a:r>
            <a:r>
              <a:rPr lang="en-US" sz="2800" b="0" i="0" u="none" dirty="0">
                <a:solidFill>
                  <a:schemeClr val="dk1"/>
                </a:solidFill>
                <a:latin typeface="Times New Roman"/>
                <a:ea typeface="Times New Roman"/>
                <a:cs typeface="Times New Roman"/>
                <a:sym typeface="Times New Roman"/>
              </a:rPr>
              <a:t> through a linear equation, and (2) the response variable, </a:t>
            </a:r>
            <a:r>
              <a:rPr lang="en-US" sz="2800" b="0" i="1" u="none" dirty="0">
                <a:solidFill>
                  <a:schemeClr val="dk1"/>
                </a:solidFill>
                <a:latin typeface="Times New Roman"/>
                <a:ea typeface="Times New Roman"/>
                <a:cs typeface="Times New Roman"/>
                <a:sym typeface="Times New Roman"/>
              </a:rPr>
              <a:t>y</a:t>
            </a:r>
            <a:r>
              <a:rPr lang="en-US" sz="2800" b="0" i="0" u="none" dirty="0">
                <a:solidFill>
                  <a:schemeClr val="dk1"/>
                </a:solidFill>
                <a:latin typeface="Times New Roman"/>
                <a:ea typeface="Times New Roman"/>
                <a:cs typeface="Times New Roman"/>
                <a:sym typeface="Times New Roman"/>
              </a:rPr>
              <a:t>, is normally distributed with a constant standard deviation, </a:t>
            </a:r>
            <a:r>
              <a:rPr lang="en-US" sz="2800" b="0" i="1" u="none" dirty="0">
                <a:solidFill>
                  <a:schemeClr val="dk1"/>
                </a:solidFill>
                <a:latin typeface="Times New Roman"/>
                <a:ea typeface="Times New Roman"/>
                <a:cs typeface="Times New Roman"/>
                <a:sym typeface="Times New Roman"/>
              </a:rPr>
              <a:t>σ.  </a:t>
            </a:r>
            <a:r>
              <a:rPr lang="en-US" sz="2800" b="0" i="0" u="none" dirty="0">
                <a:solidFill>
                  <a:schemeClr val="dk1"/>
                </a:solidFill>
                <a:latin typeface="Times New Roman"/>
                <a:ea typeface="Times New Roman"/>
                <a:cs typeface="Times New Roman"/>
                <a:sym typeface="Times New Roman"/>
              </a:rPr>
              <a:t>The mean increases/decreases at a constant rate depending on the slope, while the standard deviation remains constant.</a:t>
            </a:r>
          </a:p>
          <a:p>
            <a:pPr marL="0" marR="0" lvl="0" indent="0" algn="l" rtl="0">
              <a:lnSpc>
                <a:spcPct val="100000"/>
              </a:lnSpc>
              <a:spcBef>
                <a:spcPts val="0"/>
              </a:spcBef>
              <a:spcAft>
                <a:spcPts val="0"/>
              </a:spcAft>
              <a:buClr>
                <a:schemeClr val="dk1"/>
              </a:buClr>
              <a:buSzPts val="3200"/>
              <a:buFont typeface="Times New Roman"/>
              <a:buNone/>
            </a:pPr>
            <a:endParaRPr lang="en-US" sz="2800" dirty="0">
              <a:solidFill>
                <a:schemeClr val="dk1"/>
              </a:solidFill>
              <a:latin typeface="Times New Roman"/>
              <a:cs typeface="Times New Roman"/>
              <a:sym typeface="Times New Roman"/>
            </a:endParaRPr>
          </a:p>
        </p:txBody>
      </p:sp>
      <p:sp>
        <p:nvSpPr>
          <p:cNvPr id="119" name="Google Shape;119;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10</a:t>
            </a:fld>
            <a:endParaRPr/>
          </a:p>
        </p:txBody>
      </p:sp>
    </p:spTree>
    <p:extLst>
      <p:ext uri="{BB962C8B-B14F-4D97-AF65-F5344CB8AC3E}">
        <p14:creationId xmlns:p14="http://schemas.microsoft.com/office/powerpoint/2010/main" val="31245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11</a:t>
            </a:fld>
            <a:endParaRPr/>
          </a:p>
        </p:txBody>
      </p:sp>
      <p:sp>
        <p:nvSpPr>
          <p:cNvPr id="125" name="Google Shape;125;p21"/>
          <p:cNvSpPr txBox="1"/>
          <p:nvPr/>
        </p:nvSpPr>
        <p:spPr>
          <a:xfrm>
            <a:off x="381000" y="304800"/>
            <a:ext cx="8458200" cy="25542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A large value of </a:t>
            </a:r>
            <a:r>
              <a:rPr lang="en-US" sz="3200" b="0" i="1" u="none" dirty="0">
                <a:solidFill>
                  <a:schemeClr val="dk1"/>
                </a:solidFill>
                <a:latin typeface="Times New Roman"/>
                <a:ea typeface="Times New Roman"/>
                <a:cs typeface="Times New Roman"/>
                <a:sym typeface="Times New Roman"/>
              </a:rPr>
              <a:t>σ</a:t>
            </a:r>
            <a:r>
              <a:rPr lang="en-US" sz="3200" b="0" i="0" u="none" dirty="0">
                <a:solidFill>
                  <a:schemeClr val="dk1"/>
                </a:solidFill>
                <a:latin typeface="Times New Roman"/>
                <a:ea typeface="Times New Roman"/>
                <a:cs typeface="Times New Roman"/>
                <a:sym typeface="Times New Roman"/>
              </a:rPr>
              <a:t>, the population standard deviation, indicates that the data are widely dispersed about the regression line, and a small value of </a:t>
            </a:r>
            <a:r>
              <a:rPr lang="en-US" sz="3200" b="0" i="1" u="none" dirty="0">
                <a:solidFill>
                  <a:schemeClr val="dk1"/>
                </a:solidFill>
                <a:latin typeface="Times New Roman"/>
                <a:ea typeface="Times New Roman"/>
                <a:cs typeface="Times New Roman"/>
                <a:sym typeface="Times New Roman"/>
              </a:rPr>
              <a:t>σ</a:t>
            </a:r>
            <a:r>
              <a:rPr lang="en-US" sz="3200" b="0" i="0" u="none" dirty="0">
                <a:solidFill>
                  <a:schemeClr val="dk1"/>
                </a:solidFill>
                <a:latin typeface="Times New Roman"/>
                <a:ea typeface="Times New Roman"/>
                <a:cs typeface="Times New Roman"/>
                <a:sym typeface="Times New Roman"/>
              </a:rPr>
              <a:t> indicates that the data lie fairly close to the regression line.</a:t>
            </a:r>
            <a:endParaRPr dirty="0"/>
          </a:p>
        </p:txBody>
      </p:sp>
      <p:pic>
        <p:nvPicPr>
          <p:cNvPr id="3" name="Picture 2" descr="A group of people on a map&#10;&#10;Description automatically generated">
            <a:extLst>
              <a:ext uri="{FF2B5EF4-FFF2-40B4-BE49-F238E27FC236}">
                <a16:creationId xmlns:a16="http://schemas.microsoft.com/office/drawing/2014/main" id="{F092120E-8AC3-4CDE-8D98-CED54EC27CC7}"/>
              </a:ext>
            </a:extLst>
          </p:cNvPr>
          <p:cNvPicPr>
            <a:picLocks noChangeAspect="1"/>
          </p:cNvPicPr>
          <p:nvPr/>
        </p:nvPicPr>
        <p:blipFill>
          <a:blip r:embed="rId3"/>
          <a:stretch>
            <a:fillRect/>
          </a:stretch>
        </p:blipFill>
        <p:spPr>
          <a:xfrm>
            <a:off x="673223" y="3046497"/>
            <a:ext cx="7797553" cy="3097043"/>
          </a:xfrm>
          <a:prstGeom prst="rect">
            <a:avLst/>
          </a:prstGeom>
        </p:spPr>
      </p:pic>
    </p:spTree>
    <p:extLst>
      <p:ext uri="{BB962C8B-B14F-4D97-AF65-F5344CB8AC3E}">
        <p14:creationId xmlns:p14="http://schemas.microsoft.com/office/powerpoint/2010/main" val="1249723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2" name="Rectangle 11">
            <a:extLst>
              <a:ext uri="{FF2B5EF4-FFF2-40B4-BE49-F238E27FC236}">
                <a16:creationId xmlns:a16="http://schemas.microsoft.com/office/drawing/2014/main" id="{81F62874-6520-4721-8B2D-A558A6704B6B}"/>
              </a:ext>
            </a:extLst>
          </p:cNvPr>
          <p:cNvSpPr/>
          <p:nvPr/>
        </p:nvSpPr>
        <p:spPr>
          <a:xfrm>
            <a:off x="293051" y="228600"/>
            <a:ext cx="8584618" cy="6002518"/>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oogle Shape;131;p22"/>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132" name="Google Shape;132;p22"/>
          <p:cNvSpPr txBox="1"/>
          <p:nvPr/>
        </p:nvSpPr>
        <p:spPr>
          <a:xfrm>
            <a:off x="381000" y="228600"/>
            <a:ext cx="8534400" cy="5562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000"/>
              <a:buFont typeface="Times New Roman"/>
              <a:buNone/>
            </a:pPr>
            <a:r>
              <a:rPr lang="en-US" sz="30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The </a:t>
            </a:r>
            <a:r>
              <a:rPr lang="en-US" sz="30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least-squares regression model</a:t>
            </a:r>
            <a:r>
              <a:rPr lang="en-US" sz="30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 given by</a:t>
            </a:r>
            <a:endParaRPr sz="30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000"/>
              <a:buFont typeface="Arial"/>
              <a:buNone/>
            </a:pPr>
            <a:endParaRPr sz="30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80000"/>
              </a:lnSpc>
              <a:spcBef>
                <a:spcPts val="0"/>
              </a:spcBef>
              <a:spcAft>
                <a:spcPts val="0"/>
              </a:spcAft>
              <a:buClr>
                <a:schemeClr val="accent2"/>
              </a:buClr>
              <a:buSzPts val="3000"/>
              <a:buFont typeface="Times New Roman"/>
              <a:buNone/>
            </a:pPr>
            <a:r>
              <a:rPr lang="en-US" sz="30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where</a:t>
            </a:r>
            <a:endParaRPr sz="3000" dirty="0">
              <a:solidFill>
                <a:schemeClr val="tx1"/>
              </a:solidFill>
              <a:latin typeface="Times New Roman" panose="02020603050405020304" pitchFamily="18" charset="0"/>
              <a:cs typeface="Times New Roman" panose="02020603050405020304" pitchFamily="18" charset="0"/>
            </a:endParaRPr>
          </a:p>
          <a:p>
            <a:pPr marL="338137" marR="0" lvl="1" indent="-334962" algn="l" rtl="0">
              <a:lnSpc>
                <a:spcPct val="90000"/>
              </a:lnSpc>
              <a:spcBef>
                <a:spcPts val="0"/>
              </a:spcBef>
              <a:spcAft>
                <a:spcPts val="0"/>
              </a:spcAft>
              <a:buClr>
                <a:schemeClr val="accent2"/>
              </a:buClr>
              <a:buSzPts val="3000"/>
              <a:buFont typeface="Times New Roman"/>
              <a:buNone/>
            </a:pP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3000" b="0" i="1" u="none"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y</a:t>
            </a:r>
            <a:r>
              <a:rPr lang="en-US" sz="3000" b="0" i="1" u="none" strike="noStrike" cap="none"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is the value of the response variable for the </a:t>
            </a:r>
            <a:r>
              <a:rPr lang="en-US" sz="3000" b="0" i="1" u="none"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0" u="none" strike="noStrike" cap="none" baseline="30000" dirty="0" err="1">
                <a:solidFill>
                  <a:schemeClr val="tx1"/>
                </a:solidFill>
                <a:latin typeface="Times New Roman" panose="02020603050405020304" pitchFamily="18" charset="0"/>
                <a:ea typeface="Times New Roman"/>
                <a:cs typeface="Times New Roman" panose="02020603050405020304" pitchFamily="18" charset="0"/>
                <a:sym typeface="Times New Roman"/>
              </a:rPr>
              <a:t>th</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individual</a:t>
            </a:r>
            <a:endParaRPr sz="3000" dirty="0">
              <a:solidFill>
                <a:schemeClr val="tx1"/>
              </a:solidFill>
              <a:latin typeface="Times New Roman" panose="02020603050405020304" pitchFamily="18" charset="0"/>
              <a:cs typeface="Times New Roman" panose="02020603050405020304" pitchFamily="18" charset="0"/>
            </a:endParaRPr>
          </a:p>
          <a:p>
            <a:pPr marL="338137" marR="0" lvl="1" indent="-334962" algn="l" rtl="0">
              <a:lnSpc>
                <a:spcPct val="90000"/>
              </a:lnSpc>
              <a:spcBef>
                <a:spcPts val="0"/>
              </a:spcBef>
              <a:spcAft>
                <a:spcPts val="0"/>
              </a:spcAft>
              <a:buClr>
                <a:schemeClr val="accent2"/>
              </a:buClr>
              <a:buSzPts val="3000"/>
              <a:buFont typeface="Times New Roman"/>
              <a:buNone/>
            </a:pP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x</a:t>
            </a:r>
            <a:r>
              <a:rPr lang="en-US" sz="3000" b="0" i="1" u="none" strike="noStrike" cap="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is the value of the explanatory variable for the </a:t>
            </a:r>
            <a:r>
              <a:rPr lang="en-US" sz="3000" b="0" i="1" u="none"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0" u="none" strike="noStrike" cap="none" baseline="30000" dirty="0" err="1">
                <a:solidFill>
                  <a:schemeClr val="tx1"/>
                </a:solidFill>
                <a:latin typeface="Times New Roman" panose="02020603050405020304" pitchFamily="18" charset="0"/>
                <a:ea typeface="Times New Roman"/>
                <a:cs typeface="Times New Roman" panose="02020603050405020304" pitchFamily="18" charset="0"/>
                <a:sym typeface="Times New Roman"/>
              </a:rPr>
              <a:t>th</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individual</a:t>
            </a:r>
            <a:endParaRPr sz="3000" dirty="0">
              <a:solidFill>
                <a:schemeClr val="tx1"/>
              </a:solidFill>
              <a:latin typeface="Times New Roman" panose="02020603050405020304" pitchFamily="18" charset="0"/>
              <a:cs typeface="Times New Roman" panose="02020603050405020304" pitchFamily="18" charset="0"/>
            </a:endParaRPr>
          </a:p>
          <a:p>
            <a:pPr marL="338137" marR="0" lvl="1" indent="-334962" algn="l" rtl="0">
              <a:lnSpc>
                <a:spcPct val="90000"/>
              </a:lnSpc>
              <a:spcBef>
                <a:spcPts val="0"/>
              </a:spcBef>
              <a:spcAft>
                <a:spcPts val="0"/>
              </a:spcAft>
              <a:buClr>
                <a:schemeClr val="accent2"/>
              </a:buClr>
              <a:buSzPts val="3000"/>
              <a:buFont typeface="Times New Roman"/>
              <a:buNone/>
            </a:pP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β</a:t>
            </a:r>
            <a:r>
              <a:rPr lang="en-US" sz="3000" b="0" i="0" u="none" strike="noStrike" cap="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0</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and </a:t>
            </a: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β</a:t>
            </a:r>
            <a:r>
              <a:rPr lang="en-US" sz="3000" b="0" i="0" u="none" strike="noStrike" cap="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are the parameters to be estimated based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on sample data</a:t>
            </a:r>
            <a:endParaRPr sz="3000" dirty="0">
              <a:solidFill>
                <a:schemeClr val="tx1"/>
              </a:solidFill>
              <a:latin typeface="Times New Roman" panose="02020603050405020304" pitchFamily="18" charset="0"/>
              <a:cs typeface="Times New Roman" panose="02020603050405020304" pitchFamily="18" charset="0"/>
            </a:endParaRPr>
          </a:p>
          <a:p>
            <a:pPr marL="338137" marR="0" lvl="1" indent="-334962" algn="l" rtl="0">
              <a:lnSpc>
                <a:spcPct val="90000"/>
              </a:lnSpc>
              <a:spcBef>
                <a:spcPts val="0"/>
              </a:spcBef>
              <a:spcAft>
                <a:spcPts val="0"/>
              </a:spcAft>
              <a:buClr>
                <a:schemeClr val="accent2"/>
              </a:buClr>
              <a:buSzPts val="3000"/>
              <a:buFont typeface="Times New Roman"/>
              <a:buNone/>
            </a:pP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3000" b="0" i="1" u="none"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ε</a:t>
            </a:r>
            <a:r>
              <a:rPr lang="en-US" sz="3000" b="0" i="1" u="none" strike="noStrike" cap="none"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is a random error term with mean 0 and standard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deviation              </a:t>
            </a:r>
            <a:r>
              <a:rPr lang="en-US" sz="3000" dirty="0">
                <a:solidFill>
                  <a:schemeClr val="tx1"/>
                </a:solidFill>
                <a:latin typeface="Times New Roman" panose="02020603050405020304" pitchFamily="18" charset="0"/>
                <a:ea typeface="Times New Roman"/>
                <a:cs typeface="Times New Roman" panose="02020603050405020304" pitchFamily="18" charset="0"/>
                <a:sym typeface="Times New Roman"/>
              </a:rPr>
              <a:t>;</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error terms are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independent.</a:t>
            </a:r>
            <a:endParaRPr sz="3000" dirty="0">
              <a:solidFill>
                <a:schemeClr val="tx1"/>
              </a:solidFill>
              <a:latin typeface="Times New Roman" panose="02020603050405020304" pitchFamily="18" charset="0"/>
              <a:cs typeface="Times New Roman" panose="02020603050405020304" pitchFamily="18" charset="0"/>
            </a:endParaRPr>
          </a:p>
          <a:p>
            <a:pPr marL="338137" marR="0" lvl="1" indent="-334962" algn="l" rtl="0">
              <a:lnSpc>
                <a:spcPct val="90000"/>
              </a:lnSpc>
              <a:spcBef>
                <a:spcPts val="0"/>
              </a:spcBef>
              <a:spcAft>
                <a:spcPts val="0"/>
              </a:spcAft>
              <a:buClr>
                <a:schemeClr val="accent2"/>
              </a:buClr>
              <a:buSzPts val="3000"/>
              <a:buFont typeface="Times New Roman"/>
              <a:buNone/>
            </a:pP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3000" b="0" i="1" u="none"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where </a:t>
            </a:r>
            <a:r>
              <a:rPr lang="en-US" sz="3000" b="0" i="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t>
            </a: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is the sample size (number of </a:t>
            </a:r>
            <a:b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30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ordered pairs in the data set)</a:t>
            </a:r>
            <a:endParaRPr sz="3000" dirty="0">
              <a:solidFill>
                <a:schemeClr val="tx1"/>
              </a:solidFill>
              <a:latin typeface="Times New Roman" panose="02020603050405020304" pitchFamily="18" charset="0"/>
              <a:cs typeface="Times New Roman" panose="02020603050405020304" pitchFamily="18" charset="0"/>
            </a:endParaRPr>
          </a:p>
        </p:txBody>
      </p:sp>
      <p:sp>
        <p:nvSpPr>
          <p:cNvPr id="135" name="Google Shape;135;p2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12</a:t>
            </a:fld>
            <a:endParaRPr/>
          </a:p>
        </p:txBody>
      </p:sp>
      <p:graphicFrame>
        <p:nvGraphicFramePr>
          <p:cNvPr id="3" name="Object 2">
            <a:extLst>
              <a:ext uri="{FF2B5EF4-FFF2-40B4-BE49-F238E27FC236}">
                <a16:creationId xmlns:a16="http://schemas.microsoft.com/office/drawing/2014/main" id="{1F7A7A44-4214-48C4-9C4A-00BF978B13AF}"/>
              </a:ext>
            </a:extLst>
          </p:cNvPr>
          <p:cNvGraphicFramePr>
            <a:graphicFrameLocks noChangeAspect="1"/>
          </p:cNvGraphicFramePr>
          <p:nvPr>
            <p:extLst>
              <p:ext uri="{D42A27DB-BD31-4B8C-83A1-F6EECF244321}">
                <p14:modId xmlns:p14="http://schemas.microsoft.com/office/powerpoint/2010/main" val="3829052150"/>
              </p:ext>
            </p:extLst>
          </p:nvPr>
        </p:nvGraphicFramePr>
        <p:xfrm>
          <a:off x="3108227" y="890588"/>
          <a:ext cx="2641600" cy="444500"/>
        </p:xfrm>
        <a:graphic>
          <a:graphicData uri="http://schemas.openxmlformats.org/presentationml/2006/ole">
            <mc:AlternateContent xmlns:mc="http://schemas.openxmlformats.org/markup-compatibility/2006">
              <mc:Choice xmlns:v="urn:schemas-microsoft-com:vml" Requires="v">
                <p:oleObj spid="_x0000_s83384" name="Equation" r:id="rId4" imgW="2641320" imgH="444240" progId="Equation.DSMT4">
                  <p:embed/>
                </p:oleObj>
              </mc:Choice>
              <mc:Fallback>
                <p:oleObj name="Equation" r:id="rId4" imgW="2641320" imgH="444240" progId="Equation.DSMT4">
                  <p:embed/>
                  <p:pic>
                    <p:nvPicPr>
                      <p:cNvPr id="0" name=""/>
                      <p:cNvPicPr/>
                      <p:nvPr/>
                    </p:nvPicPr>
                    <p:blipFill>
                      <a:blip r:embed="rId5"/>
                      <a:stretch>
                        <a:fillRect/>
                      </a:stretch>
                    </p:blipFill>
                    <p:spPr>
                      <a:xfrm>
                        <a:off x="3108227" y="890588"/>
                        <a:ext cx="2641600" cy="444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4138E41-0826-4B3E-80A8-9F562969A86A}"/>
              </a:ext>
            </a:extLst>
          </p:cNvPr>
          <p:cNvGraphicFramePr>
            <a:graphicFrameLocks noChangeAspect="1"/>
          </p:cNvGraphicFramePr>
          <p:nvPr>
            <p:extLst>
              <p:ext uri="{D42A27DB-BD31-4B8C-83A1-F6EECF244321}">
                <p14:modId xmlns:p14="http://schemas.microsoft.com/office/powerpoint/2010/main" val="1488907140"/>
              </p:ext>
            </p:extLst>
          </p:nvPr>
        </p:nvGraphicFramePr>
        <p:xfrm>
          <a:off x="2961392" y="4408226"/>
          <a:ext cx="1257300" cy="558800"/>
        </p:xfrm>
        <a:graphic>
          <a:graphicData uri="http://schemas.openxmlformats.org/presentationml/2006/ole">
            <mc:AlternateContent xmlns:mc="http://schemas.openxmlformats.org/markup-compatibility/2006">
              <mc:Choice xmlns:v="urn:schemas-microsoft-com:vml" Requires="v">
                <p:oleObj spid="_x0000_s83385" name="Equation" r:id="rId6" imgW="1257120" imgH="558720" progId="Equation.DSMT4">
                  <p:embed/>
                </p:oleObj>
              </mc:Choice>
              <mc:Fallback>
                <p:oleObj name="Equation" r:id="rId6" imgW="1257120" imgH="558720" progId="Equation.DSMT4">
                  <p:embed/>
                  <p:pic>
                    <p:nvPicPr>
                      <p:cNvPr id="0" name=""/>
                      <p:cNvPicPr/>
                      <p:nvPr/>
                    </p:nvPicPr>
                    <p:blipFill>
                      <a:blip r:embed="rId7"/>
                      <a:stretch>
                        <a:fillRect/>
                      </a:stretch>
                    </p:blipFill>
                    <p:spPr>
                      <a:xfrm>
                        <a:off x="2961392" y="4408226"/>
                        <a:ext cx="1257300" cy="5588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A948F1DC-27A9-4AFD-ADCD-6C982AC4ECC7}"/>
              </a:ext>
            </a:extLst>
          </p:cNvPr>
          <p:cNvSpPr txBox="1"/>
          <p:nvPr/>
        </p:nvSpPr>
        <p:spPr>
          <a:xfrm>
            <a:off x="6605831" y="858163"/>
            <a:ext cx="520833"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699591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141" name="Google Shape;141;p23"/>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Compute the Standard Error of the Estimate</a:t>
            </a:r>
            <a:endParaRPr dirty="0"/>
          </a:p>
        </p:txBody>
      </p:sp>
      <p:sp>
        <p:nvSpPr>
          <p:cNvPr id="142" name="Google Shape;142;p2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13</a:t>
            </a:fld>
            <a:endParaRPr/>
          </a:p>
        </p:txBody>
      </p:sp>
    </p:spTree>
    <p:extLst>
      <p:ext uri="{BB962C8B-B14F-4D97-AF65-F5344CB8AC3E}">
        <p14:creationId xmlns:p14="http://schemas.microsoft.com/office/powerpoint/2010/main" val="173344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7" name="Rectangle 6">
            <a:extLst>
              <a:ext uri="{FF2B5EF4-FFF2-40B4-BE49-F238E27FC236}">
                <a16:creationId xmlns:a16="http://schemas.microsoft.com/office/drawing/2014/main" id="{E2C3857C-DA12-4A93-836D-D97C89BC2C60}"/>
              </a:ext>
            </a:extLst>
          </p:cNvPr>
          <p:cNvSpPr/>
          <p:nvPr/>
        </p:nvSpPr>
        <p:spPr>
          <a:xfrm>
            <a:off x="293051" y="904972"/>
            <a:ext cx="8228780" cy="3214541"/>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Google Shape;147;p24"/>
          <p:cNvSpPr txBox="1"/>
          <p:nvPr/>
        </p:nvSpPr>
        <p:spPr>
          <a:xfrm>
            <a:off x="714408" y="1077013"/>
            <a:ext cx="7597612" cy="3352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The </a:t>
            </a:r>
            <a:r>
              <a:rPr lang="en-US" sz="32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standard error of the estimate</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s</a:t>
            </a:r>
            <a:r>
              <a:rPr lang="en-US" sz="3200" b="0" i="1"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 found using the formula</a:t>
            </a:r>
            <a:endParaRPr sz="32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endParaRPr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49" name="Google Shape;149;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14</a:t>
            </a:fld>
            <a:endParaRPr/>
          </a:p>
        </p:txBody>
      </p:sp>
      <p:graphicFrame>
        <p:nvGraphicFramePr>
          <p:cNvPr id="2" name="Object 1">
            <a:extLst>
              <a:ext uri="{FF2B5EF4-FFF2-40B4-BE49-F238E27FC236}">
                <a16:creationId xmlns:a16="http://schemas.microsoft.com/office/drawing/2014/main" id="{7FB5018D-A438-4ED7-8336-8D0448D38CAC}"/>
              </a:ext>
            </a:extLst>
          </p:cNvPr>
          <p:cNvGraphicFramePr>
            <a:graphicFrameLocks noChangeAspect="1"/>
          </p:cNvGraphicFramePr>
          <p:nvPr>
            <p:extLst>
              <p:ext uri="{D42A27DB-BD31-4B8C-83A1-F6EECF244321}">
                <p14:modId xmlns:p14="http://schemas.microsoft.com/office/powerpoint/2010/main" val="1932067538"/>
              </p:ext>
            </p:extLst>
          </p:nvPr>
        </p:nvGraphicFramePr>
        <p:xfrm>
          <a:off x="831980" y="2485044"/>
          <a:ext cx="5930900" cy="1231900"/>
        </p:xfrm>
        <a:graphic>
          <a:graphicData uri="http://schemas.openxmlformats.org/presentationml/2006/ole">
            <mc:AlternateContent xmlns:mc="http://schemas.openxmlformats.org/markup-compatibility/2006">
              <mc:Choice xmlns:v="urn:schemas-microsoft-com:vml" Requires="v">
                <p:oleObj spid="_x0000_s84186" name="Equation" r:id="rId4" imgW="5930640" imgH="1231560" progId="Equation.DSMT4">
                  <p:embed/>
                </p:oleObj>
              </mc:Choice>
              <mc:Fallback>
                <p:oleObj name="Equation" r:id="rId4" imgW="5930640" imgH="1231560" progId="Equation.DSMT4">
                  <p:embed/>
                  <p:pic>
                    <p:nvPicPr>
                      <p:cNvPr id="0" name=""/>
                      <p:cNvPicPr/>
                      <p:nvPr/>
                    </p:nvPicPr>
                    <p:blipFill>
                      <a:blip r:embed="rId5"/>
                      <a:stretch>
                        <a:fillRect/>
                      </a:stretch>
                    </p:blipFill>
                    <p:spPr>
                      <a:xfrm>
                        <a:off x="831980" y="2485044"/>
                        <a:ext cx="5930900" cy="12319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89A5D203-9171-4FB6-950F-5E23025F8B95}"/>
              </a:ext>
            </a:extLst>
          </p:cNvPr>
          <p:cNvSpPr txBox="1"/>
          <p:nvPr/>
        </p:nvSpPr>
        <p:spPr>
          <a:xfrm>
            <a:off x="7354084" y="2998113"/>
            <a:ext cx="624528"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172655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Compute the standard error of the estimate for the data in Table 1.</a:t>
            </a:r>
            <a:endParaRPr sz="2800"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Standard Error by Hand</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4)</a:t>
            </a:r>
            <a:endParaRPr sz="2400" dirty="0"/>
          </a:p>
        </p:txBody>
      </p:sp>
      <p:pic>
        <p:nvPicPr>
          <p:cNvPr id="5" name="Picture 4" descr="A screenshot of a cell phone&#10;&#10;Description automatically generated">
            <a:extLst>
              <a:ext uri="{FF2B5EF4-FFF2-40B4-BE49-F238E27FC236}">
                <a16:creationId xmlns:a16="http://schemas.microsoft.com/office/drawing/2014/main" id="{7155A7F9-3969-4F8C-AE05-C4156BE05BAA}"/>
              </a:ext>
            </a:extLst>
          </p:cNvPr>
          <p:cNvPicPr>
            <a:picLocks noChangeAspect="1"/>
          </p:cNvPicPr>
          <p:nvPr/>
        </p:nvPicPr>
        <p:blipFill>
          <a:blip r:embed="rId3"/>
          <a:stretch>
            <a:fillRect/>
          </a:stretch>
        </p:blipFill>
        <p:spPr>
          <a:xfrm>
            <a:off x="990600" y="2285804"/>
            <a:ext cx="6940310" cy="3346711"/>
          </a:xfrm>
          <a:prstGeom prst="rect">
            <a:avLst/>
          </a:prstGeom>
        </p:spPr>
      </p:pic>
    </p:spTree>
    <p:extLst>
      <p:ext uri="{BB962C8B-B14F-4D97-AF65-F5344CB8AC3E}">
        <p14:creationId xmlns:p14="http://schemas.microsoft.com/office/powerpoint/2010/main" val="133191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In the previous example, the least-squares regression was </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Column 3 of Table 2, shown on the next slide, shows the predicted values for the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14 observations.</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Column 4 of Table 2 shows the residuals for the 14 observations.</a:t>
            </a:r>
          </a:p>
          <a:p>
            <a:endParaRPr lang="en-US" sz="2600"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Standard Error by Hand</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4)</a:t>
            </a:r>
            <a:endParaRPr sz="2400" dirty="0"/>
          </a:p>
        </p:txBody>
      </p:sp>
      <p:graphicFrame>
        <p:nvGraphicFramePr>
          <p:cNvPr id="2" name="Object 1">
            <a:extLst>
              <a:ext uri="{FF2B5EF4-FFF2-40B4-BE49-F238E27FC236}">
                <a16:creationId xmlns:a16="http://schemas.microsoft.com/office/drawing/2014/main" id="{BAC4DE01-351D-4F9B-95ED-511CF8658056}"/>
              </a:ext>
            </a:extLst>
          </p:cNvPr>
          <p:cNvGraphicFramePr>
            <a:graphicFrameLocks noChangeAspect="1"/>
          </p:cNvGraphicFramePr>
          <p:nvPr>
            <p:extLst>
              <p:ext uri="{D42A27DB-BD31-4B8C-83A1-F6EECF244321}">
                <p14:modId xmlns:p14="http://schemas.microsoft.com/office/powerpoint/2010/main" val="493455224"/>
              </p:ext>
            </p:extLst>
          </p:nvPr>
        </p:nvGraphicFramePr>
        <p:xfrm>
          <a:off x="1009454" y="1719852"/>
          <a:ext cx="3149600" cy="381000"/>
        </p:xfrm>
        <a:graphic>
          <a:graphicData uri="http://schemas.openxmlformats.org/presentationml/2006/ole">
            <mc:AlternateContent xmlns:mc="http://schemas.openxmlformats.org/markup-compatibility/2006">
              <mc:Choice xmlns:v="urn:schemas-microsoft-com:vml" Requires="v">
                <p:oleObj spid="_x0000_s85207" name="Equation" r:id="rId4" imgW="3149280" imgH="380880" progId="Equation.DSMT4">
                  <p:embed/>
                </p:oleObj>
              </mc:Choice>
              <mc:Fallback>
                <p:oleObj name="Equation" r:id="rId4" imgW="3149280" imgH="380880" progId="Equation.DSMT4">
                  <p:embed/>
                  <p:pic>
                    <p:nvPicPr>
                      <p:cNvPr id="0" name=""/>
                      <p:cNvPicPr/>
                      <p:nvPr/>
                    </p:nvPicPr>
                    <p:blipFill>
                      <a:blip r:embed="rId5"/>
                      <a:stretch>
                        <a:fillRect/>
                      </a:stretch>
                    </p:blipFill>
                    <p:spPr>
                      <a:xfrm>
                        <a:off x="1009454" y="1719852"/>
                        <a:ext cx="3149600" cy="381000"/>
                      </a:xfrm>
                      <a:prstGeom prst="rect">
                        <a:avLst/>
                      </a:prstGeom>
                    </p:spPr>
                  </p:pic>
                </p:oleObj>
              </mc:Fallback>
            </mc:AlternateContent>
          </a:graphicData>
        </a:graphic>
      </p:graphicFrame>
    </p:spTree>
    <p:extLst>
      <p:ext uri="{BB962C8B-B14F-4D97-AF65-F5344CB8AC3E}">
        <p14:creationId xmlns:p14="http://schemas.microsoft.com/office/powerpoint/2010/main" val="215495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4" end="4"/>
                                            </p:txEl>
                                          </p:spTgt>
                                        </p:tgtEl>
                                        <p:attrNameLst>
                                          <p:attrName>style.visibility</p:attrName>
                                        </p:attrNameLst>
                                      </p:cBhvr>
                                      <p:to>
                                        <p:strVal val="visible"/>
                                      </p:to>
                                    </p:set>
                                    <p:animEffect transition="in" filter="fade">
                                      <p:cBhvr>
                                        <p:cTn id="12" dur="500"/>
                                        <p:tgtEl>
                                          <p:spTgt spid="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a:t>
            </a:fld>
            <a:endParaRPr dirty="0"/>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Standard Error by Hand</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4)</a:t>
            </a:r>
            <a:endParaRPr sz="2400" dirty="0"/>
          </a:p>
        </p:txBody>
      </p:sp>
      <p:pic>
        <p:nvPicPr>
          <p:cNvPr id="4" name="Picture 3" descr="A screenshot of a cell phone&#10;&#10;Description automatically generated">
            <a:extLst>
              <a:ext uri="{FF2B5EF4-FFF2-40B4-BE49-F238E27FC236}">
                <a16:creationId xmlns:a16="http://schemas.microsoft.com/office/drawing/2014/main" id="{3687F30B-BEBA-4473-BE89-0BBB5B98762A}"/>
              </a:ext>
            </a:extLst>
          </p:cNvPr>
          <p:cNvPicPr>
            <a:picLocks noChangeAspect="1"/>
          </p:cNvPicPr>
          <p:nvPr/>
        </p:nvPicPr>
        <p:blipFill>
          <a:blip r:embed="rId3"/>
          <a:stretch>
            <a:fillRect/>
          </a:stretch>
        </p:blipFill>
        <p:spPr>
          <a:xfrm>
            <a:off x="367787" y="1432874"/>
            <a:ext cx="8662392" cy="4672691"/>
          </a:xfrm>
          <a:prstGeom prst="rect">
            <a:avLst/>
          </a:prstGeom>
        </p:spPr>
      </p:pic>
    </p:spTree>
    <p:extLst>
      <p:ext uri="{BB962C8B-B14F-4D97-AF65-F5344CB8AC3E}">
        <p14:creationId xmlns:p14="http://schemas.microsoft.com/office/powerpoint/2010/main" val="50409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Sum the squared residuals in column 5 to find the sum of squared errors: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Use Formula (2) to compute the standard error of the estimate.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Standard Error by Hand</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4)</a:t>
            </a:r>
            <a:endParaRPr sz="2400" dirty="0"/>
          </a:p>
        </p:txBody>
      </p:sp>
      <p:graphicFrame>
        <p:nvGraphicFramePr>
          <p:cNvPr id="3" name="Object 2">
            <a:extLst>
              <a:ext uri="{FF2B5EF4-FFF2-40B4-BE49-F238E27FC236}">
                <a16:creationId xmlns:a16="http://schemas.microsoft.com/office/drawing/2014/main" id="{E90B1127-CB17-4D07-898B-6276237AA5CC}"/>
              </a:ext>
            </a:extLst>
          </p:cNvPr>
          <p:cNvGraphicFramePr>
            <a:graphicFrameLocks noChangeAspect="1"/>
          </p:cNvGraphicFramePr>
          <p:nvPr>
            <p:extLst>
              <p:ext uri="{D42A27DB-BD31-4B8C-83A1-F6EECF244321}">
                <p14:modId xmlns:p14="http://schemas.microsoft.com/office/powerpoint/2010/main" val="3677310394"/>
              </p:ext>
            </p:extLst>
          </p:nvPr>
        </p:nvGraphicFramePr>
        <p:xfrm>
          <a:off x="2682874" y="2256566"/>
          <a:ext cx="3289300" cy="482600"/>
        </p:xfrm>
        <a:graphic>
          <a:graphicData uri="http://schemas.openxmlformats.org/presentationml/2006/ole">
            <mc:AlternateContent xmlns:mc="http://schemas.openxmlformats.org/markup-compatibility/2006">
              <mc:Choice xmlns:v="urn:schemas-microsoft-com:vml" Requires="v">
                <p:oleObj spid="_x0000_s86444" name="Equation" r:id="rId4" imgW="3288960" imgH="482400" progId="Equation.DSMT4">
                  <p:embed/>
                </p:oleObj>
              </mc:Choice>
              <mc:Fallback>
                <p:oleObj name="Equation" r:id="rId4" imgW="3288960" imgH="482400" progId="Equation.DSMT4">
                  <p:embed/>
                  <p:pic>
                    <p:nvPicPr>
                      <p:cNvPr id="0" name=""/>
                      <p:cNvPicPr/>
                      <p:nvPr/>
                    </p:nvPicPr>
                    <p:blipFill>
                      <a:blip r:embed="rId5"/>
                      <a:stretch>
                        <a:fillRect/>
                      </a:stretch>
                    </p:blipFill>
                    <p:spPr>
                      <a:xfrm>
                        <a:off x="2682874" y="2256566"/>
                        <a:ext cx="3289300" cy="4826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03E7D17C-6E3D-4B07-BD8E-44B0A78A10E4}"/>
              </a:ext>
            </a:extLst>
          </p:cNvPr>
          <p:cNvGraphicFramePr>
            <a:graphicFrameLocks noChangeAspect="1"/>
          </p:cNvGraphicFramePr>
          <p:nvPr>
            <p:extLst>
              <p:ext uri="{D42A27DB-BD31-4B8C-83A1-F6EECF244321}">
                <p14:modId xmlns:p14="http://schemas.microsoft.com/office/powerpoint/2010/main" val="693083948"/>
              </p:ext>
            </p:extLst>
          </p:nvPr>
        </p:nvGraphicFramePr>
        <p:xfrm>
          <a:off x="2276900" y="3770247"/>
          <a:ext cx="5118100" cy="927100"/>
        </p:xfrm>
        <a:graphic>
          <a:graphicData uri="http://schemas.openxmlformats.org/presentationml/2006/ole">
            <mc:AlternateContent xmlns:mc="http://schemas.openxmlformats.org/markup-compatibility/2006">
              <mc:Choice xmlns:v="urn:schemas-microsoft-com:vml" Requires="v">
                <p:oleObj spid="_x0000_s86445" name="Equation" r:id="rId6" imgW="5117760" imgH="927000" progId="Equation.DSMT4">
                  <p:embed/>
                </p:oleObj>
              </mc:Choice>
              <mc:Fallback>
                <p:oleObj name="Equation" r:id="rId6" imgW="5117760" imgH="927000" progId="Equation.DSMT4">
                  <p:embed/>
                  <p:pic>
                    <p:nvPicPr>
                      <p:cNvPr id="0" name=""/>
                      <p:cNvPicPr/>
                      <p:nvPr/>
                    </p:nvPicPr>
                    <p:blipFill>
                      <a:blip r:embed="rId7"/>
                      <a:stretch>
                        <a:fillRect/>
                      </a:stretch>
                    </p:blipFill>
                    <p:spPr>
                      <a:xfrm>
                        <a:off x="2276900" y="3770247"/>
                        <a:ext cx="5118100" cy="927100"/>
                      </a:xfrm>
                      <a:prstGeom prst="rect">
                        <a:avLst/>
                      </a:prstGeom>
                    </p:spPr>
                  </p:pic>
                </p:oleObj>
              </mc:Fallback>
            </mc:AlternateContent>
          </a:graphicData>
        </a:graphic>
      </p:graphicFrame>
    </p:spTree>
    <p:extLst>
      <p:ext uri="{BB962C8B-B14F-4D97-AF65-F5344CB8AC3E}">
        <p14:creationId xmlns:p14="http://schemas.microsoft.com/office/powerpoint/2010/main" val="596044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txBox="1"/>
          <p:nvPr/>
        </p:nvSpPr>
        <p:spPr>
          <a:xfrm>
            <a:off x="533400" y="457200"/>
            <a:ext cx="8077200" cy="26162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accent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Be sure to divide by </a:t>
            </a:r>
            <a:r>
              <a:rPr lang="en-US" sz="3200" b="0" i="1" u="none" dirty="0">
                <a:solidFill>
                  <a:schemeClr val="dk1"/>
                </a:solidFill>
                <a:latin typeface="Times New Roman"/>
                <a:ea typeface="Times New Roman"/>
                <a:cs typeface="Times New Roman"/>
                <a:sym typeface="Times New Roman"/>
              </a:rPr>
              <a:t>n</a:t>
            </a:r>
            <a:r>
              <a:rPr lang="en-US" sz="3200" b="0" i="0" u="none" dirty="0">
                <a:solidFill>
                  <a:schemeClr val="dk1"/>
                </a:solidFill>
                <a:latin typeface="Times New Roman"/>
                <a:ea typeface="Times New Roman"/>
                <a:cs typeface="Times New Roman"/>
                <a:sym typeface="Times New Roman"/>
              </a:rPr>
              <a:t> – 2 when computing the standard error of the estimate.</a:t>
            </a:r>
            <a:endParaRPr dirty="0"/>
          </a:p>
        </p:txBody>
      </p:sp>
      <p:sp>
        <p:nvSpPr>
          <p:cNvPr id="192" name="Google Shape;192;p3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19</a:t>
            </a:fld>
            <a:endParaRPr/>
          </a:p>
        </p:txBody>
      </p:sp>
    </p:spTree>
    <p:extLst>
      <p:ext uri="{BB962C8B-B14F-4D97-AF65-F5344CB8AC3E}">
        <p14:creationId xmlns:p14="http://schemas.microsoft.com/office/powerpoint/2010/main" val="257129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20</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Obtain the standard error of the estimate for the data in Table 1 using statistical software.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Obtaining the Standard Error of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2</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Estimate Using Technology</a:t>
            </a:r>
            <a:endParaRPr sz="2400" i="1" dirty="0"/>
          </a:p>
        </p:txBody>
      </p:sp>
      <p:pic>
        <p:nvPicPr>
          <p:cNvPr id="5" name="Picture 4" descr="A screenshot of a cell phone&#10;&#10;Description automatically generated">
            <a:extLst>
              <a:ext uri="{FF2B5EF4-FFF2-40B4-BE49-F238E27FC236}">
                <a16:creationId xmlns:a16="http://schemas.microsoft.com/office/drawing/2014/main" id="{5FA356DB-D852-46C3-AEEA-FF5D5E81711B}"/>
              </a:ext>
            </a:extLst>
          </p:cNvPr>
          <p:cNvPicPr>
            <a:picLocks noChangeAspect="1"/>
          </p:cNvPicPr>
          <p:nvPr/>
        </p:nvPicPr>
        <p:blipFill>
          <a:blip r:embed="rId3"/>
          <a:stretch>
            <a:fillRect/>
          </a:stretch>
        </p:blipFill>
        <p:spPr>
          <a:xfrm>
            <a:off x="1101845" y="2460364"/>
            <a:ext cx="6940310" cy="3346711"/>
          </a:xfrm>
          <a:prstGeom prst="rect">
            <a:avLst/>
          </a:prstGeom>
        </p:spPr>
      </p:pic>
    </p:spTree>
    <p:extLst>
      <p:ext uri="{BB962C8B-B14F-4D97-AF65-F5344CB8AC3E}">
        <p14:creationId xmlns:p14="http://schemas.microsoft.com/office/powerpoint/2010/main" val="425023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21</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the partial output from Excel. The results agree with the by-hand computation.</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Obtaining the Standard Error of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2</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Estimate Using Technology</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D9080C90-B12D-431C-87B4-163A5BE21560}"/>
              </a:ext>
            </a:extLst>
          </p:cNvPr>
          <p:cNvPicPr>
            <a:picLocks noChangeAspect="1"/>
          </p:cNvPicPr>
          <p:nvPr/>
        </p:nvPicPr>
        <p:blipFill>
          <a:blip r:embed="rId3"/>
          <a:stretch>
            <a:fillRect/>
          </a:stretch>
        </p:blipFill>
        <p:spPr>
          <a:xfrm>
            <a:off x="2582328" y="2319044"/>
            <a:ext cx="4186118" cy="2219911"/>
          </a:xfrm>
          <a:prstGeom prst="rect">
            <a:avLst/>
          </a:prstGeom>
        </p:spPr>
      </p:pic>
    </p:spTree>
    <p:extLst>
      <p:ext uri="{BB962C8B-B14F-4D97-AF65-F5344CB8AC3E}">
        <p14:creationId xmlns:p14="http://schemas.microsoft.com/office/powerpoint/2010/main" val="448023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3</a:t>
            </a:r>
            <a:endParaRPr/>
          </a:p>
        </p:txBody>
      </p:sp>
      <p:sp>
        <p:nvSpPr>
          <p:cNvPr id="198" name="Google Shape;198;p31"/>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Verify That the Residuals Are Normally Distributed</a:t>
            </a:r>
            <a:endParaRPr dirty="0"/>
          </a:p>
        </p:txBody>
      </p:sp>
      <p:sp>
        <p:nvSpPr>
          <p:cNvPr id="199" name="Google Shape;199;p3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22</a:t>
            </a:fld>
            <a:endParaRPr/>
          </a:p>
        </p:txBody>
      </p:sp>
    </p:spTree>
    <p:extLst>
      <p:ext uri="{BB962C8B-B14F-4D97-AF65-F5344CB8AC3E}">
        <p14:creationId xmlns:p14="http://schemas.microsoft.com/office/powerpoint/2010/main" val="3050255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23</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Verify that the residuals obtained in Table 2 from a previous example are normally distributed.</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That the Residuals Are Normally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2</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Distributed</a:t>
            </a:r>
            <a:endParaRPr sz="2400" i="1" dirty="0"/>
          </a:p>
        </p:txBody>
      </p:sp>
      <p:pic>
        <p:nvPicPr>
          <p:cNvPr id="4" name="Picture 3" descr="A screenshot of a cell phone&#10;&#10;Description automatically generated">
            <a:extLst>
              <a:ext uri="{FF2B5EF4-FFF2-40B4-BE49-F238E27FC236}">
                <a16:creationId xmlns:a16="http://schemas.microsoft.com/office/drawing/2014/main" id="{75EB0071-4746-4FD3-AE40-F4A24E688503}"/>
              </a:ext>
            </a:extLst>
          </p:cNvPr>
          <p:cNvPicPr>
            <a:picLocks noChangeAspect="1"/>
          </p:cNvPicPr>
          <p:nvPr/>
        </p:nvPicPr>
        <p:blipFill>
          <a:blip r:embed="rId3"/>
          <a:stretch>
            <a:fillRect/>
          </a:stretch>
        </p:blipFill>
        <p:spPr>
          <a:xfrm>
            <a:off x="682586" y="2134874"/>
            <a:ext cx="7778828" cy="4196076"/>
          </a:xfrm>
          <a:prstGeom prst="rect">
            <a:avLst/>
          </a:prstGeom>
        </p:spPr>
      </p:pic>
    </p:spTree>
    <p:extLst>
      <p:ext uri="{BB962C8B-B14F-4D97-AF65-F5344CB8AC3E}">
        <p14:creationId xmlns:p14="http://schemas.microsoft.com/office/powerpoint/2010/main" val="178286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24</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400" dirty="0">
                <a:latin typeface="Times New Roman" panose="02020603050405020304" pitchFamily="18" charset="0"/>
                <a:cs typeface="Times New Roman" panose="02020603050405020304" pitchFamily="18" charset="0"/>
              </a:rPr>
              <a:t>The figure contains the normal probability plot. The correlation between the residuals and expected </a:t>
            </a:r>
            <a:r>
              <a:rPr lang="en-US" sz="2400" i="1" dirty="0">
                <a:latin typeface="Times New Roman" panose="02020603050405020304" pitchFamily="18" charset="0"/>
                <a:cs typeface="Times New Roman" panose="02020603050405020304" pitchFamily="18" charset="0"/>
              </a:rPr>
              <a:t>z</a:t>
            </a:r>
            <a:r>
              <a:rPr lang="en-US" sz="2400" dirty="0">
                <a:latin typeface="Times New Roman" panose="02020603050405020304" pitchFamily="18" charset="0"/>
                <a:cs typeface="Times New Roman" panose="02020603050405020304" pitchFamily="18" charset="0"/>
              </a:rPr>
              <a:t>-scores is 0.988. Because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0.988 &gt; 0.935 (Table VI), it is reasonable to conclude the residuals are normally distributed. Therefore, we can perform inference on the least-squares regression equation.</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That the Residuals Are Normally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2</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Distributed</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8508519F-C9FE-493B-B8B7-0BC2CE043D61}"/>
              </a:ext>
            </a:extLst>
          </p:cNvPr>
          <p:cNvPicPr>
            <a:picLocks noChangeAspect="1"/>
          </p:cNvPicPr>
          <p:nvPr/>
        </p:nvPicPr>
        <p:blipFill>
          <a:blip r:embed="rId3"/>
          <a:stretch>
            <a:fillRect/>
          </a:stretch>
        </p:blipFill>
        <p:spPr>
          <a:xfrm>
            <a:off x="1961856" y="3158209"/>
            <a:ext cx="5220287" cy="3172741"/>
          </a:xfrm>
          <a:prstGeom prst="rect">
            <a:avLst/>
          </a:prstGeom>
        </p:spPr>
      </p:pic>
    </p:spTree>
    <p:extLst>
      <p:ext uri="{BB962C8B-B14F-4D97-AF65-F5344CB8AC3E}">
        <p14:creationId xmlns:p14="http://schemas.microsoft.com/office/powerpoint/2010/main" val="27379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4</a:t>
            </a:r>
            <a:endParaRPr/>
          </a:p>
        </p:txBody>
      </p:sp>
      <p:sp>
        <p:nvSpPr>
          <p:cNvPr id="218" name="Google Shape;218;p3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Conduct Inference on the Slope of the Least-Squares Regression Model</a:t>
            </a:r>
            <a:endParaRPr dirty="0"/>
          </a:p>
        </p:txBody>
      </p:sp>
      <p:sp>
        <p:nvSpPr>
          <p:cNvPr id="219" name="Google Shape;21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25</a:t>
            </a:fld>
            <a:endParaRPr/>
          </a:p>
        </p:txBody>
      </p:sp>
    </p:spTree>
    <p:extLst>
      <p:ext uri="{BB962C8B-B14F-4D97-AF65-F5344CB8AC3E}">
        <p14:creationId xmlns:p14="http://schemas.microsoft.com/office/powerpoint/2010/main" val="258598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3"/>
            <a:ext cx="8555113" cy="548640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pPr marR="0" lvl="0" algn="l"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a:ea typeface="Times New Roman"/>
                <a:cs typeface="Times New Roman"/>
                <a:sym typeface="Times New Roman"/>
              </a:rPr>
              <a:t>To test whether two quantitative variables are linearly related, we use the following steps provided that</a:t>
            </a:r>
            <a:endParaRPr sz="3200" b="0" i="0" u="none" dirty="0">
              <a:solidFill>
                <a:schemeClr val="tx1"/>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Tx/>
              <a:buSzPts val="3200"/>
              <a:buFont typeface="Arial" panose="020B0604020202020204" pitchFamily="34" charset="0"/>
              <a:buChar char="•"/>
            </a:pPr>
            <a:r>
              <a:rPr lang="en-US" sz="3200" b="0" i="0" u="none" dirty="0">
                <a:solidFill>
                  <a:schemeClr val="tx1"/>
                </a:solidFill>
                <a:latin typeface="Times New Roman"/>
                <a:ea typeface="Times New Roman"/>
                <a:cs typeface="Times New Roman"/>
                <a:sym typeface="Times New Roman"/>
              </a:rPr>
              <a:t>The sample is obtained using random sampling or from a randomized experiment.</a:t>
            </a:r>
            <a:endParaRPr dirty="0">
              <a:solidFill>
                <a:schemeClr val="tx1"/>
              </a:solidFill>
            </a:endParaRPr>
          </a:p>
          <a:p>
            <a:pPr marL="457200" marR="0" lvl="0" indent="-457200" algn="l" rtl="0">
              <a:lnSpc>
                <a:spcPct val="100000"/>
              </a:lnSpc>
              <a:spcBef>
                <a:spcPts val="0"/>
              </a:spcBef>
              <a:spcAft>
                <a:spcPts val="0"/>
              </a:spcAft>
              <a:buClrTx/>
              <a:buSzPts val="3200"/>
              <a:buFont typeface="Arial" panose="020B0604020202020204" pitchFamily="34" charset="0"/>
              <a:buChar char="•"/>
            </a:pPr>
            <a:r>
              <a:rPr lang="en-US" sz="3200" dirty="0">
                <a:solidFill>
                  <a:schemeClr val="tx1"/>
                </a:solidFill>
                <a:latin typeface="Times New Roman"/>
                <a:ea typeface="Times New Roman"/>
                <a:cs typeface="Times New Roman"/>
                <a:sym typeface="Times New Roman"/>
              </a:rPr>
              <a:t>T</a:t>
            </a:r>
            <a:r>
              <a:rPr lang="en-US" sz="3200" b="0" i="0" u="none" dirty="0">
                <a:solidFill>
                  <a:schemeClr val="tx1"/>
                </a:solidFill>
                <a:latin typeface="Times New Roman"/>
                <a:ea typeface="Times New Roman"/>
                <a:cs typeface="Times New Roman"/>
                <a:sym typeface="Times New Roman"/>
              </a:rPr>
              <a:t>he residuals are normally distributed with constant error variance.</a:t>
            </a:r>
            <a:endParaRPr dirty="0">
              <a:solidFill>
                <a:schemeClr val="tx1"/>
              </a:solidFill>
            </a:endParaRPr>
          </a:p>
          <a:p>
            <a:pPr marL="0" marR="0" lvl="0" indent="0" algn="l" rtl="0">
              <a:lnSpc>
                <a:spcPct val="100000"/>
              </a:lnSpc>
              <a:spcBef>
                <a:spcPts val="0"/>
              </a:spcBef>
              <a:spcAft>
                <a:spcPts val="0"/>
              </a:spcAft>
              <a:buNone/>
            </a:pPr>
            <a:endParaRPr sz="3200" b="0" i="0" u="none" dirty="0">
              <a:solidFill>
                <a:schemeClr val="tx1"/>
              </a:solidFill>
              <a:latin typeface="Times New Roman"/>
              <a:ea typeface="Times New Roman"/>
              <a:cs typeface="Times New Roman"/>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26</a:t>
            </a:fld>
            <a:endParaRPr/>
          </a:p>
        </p:txBody>
      </p:sp>
    </p:spTree>
    <p:extLst>
      <p:ext uri="{BB962C8B-B14F-4D97-AF65-F5344CB8AC3E}">
        <p14:creationId xmlns:p14="http://schemas.microsoft.com/office/powerpoint/2010/main" val="329695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3" end="3"/>
                                            </p:txEl>
                                          </p:spTgt>
                                        </p:tgtEl>
                                        <p:attrNameLst>
                                          <p:attrName>style.visibility</p:attrName>
                                        </p:attrNameLst>
                                      </p:cBhvr>
                                      <p:to>
                                        <p:strVal val="visible"/>
                                      </p:to>
                                    </p:set>
                                    <p:animEffect transition="in" filter="fade">
                                      <p:cBhvr>
                                        <p:cTn id="7" dur="500"/>
                                        <p:tgtEl>
                                          <p:spTgt spid="22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xEl>
                                              <p:pRg st="4" end="4"/>
                                            </p:txEl>
                                          </p:spTgt>
                                        </p:tgtEl>
                                        <p:attrNameLst>
                                          <p:attrName>style.visibility</p:attrName>
                                        </p:attrNameLst>
                                      </p:cBhvr>
                                      <p:to>
                                        <p:strVal val="visible"/>
                                      </p:to>
                                    </p:set>
                                    <p:animEffect transition="in" filter="fade">
                                      <p:cBhvr>
                                        <p:cTn id="12" dur="500"/>
                                        <p:tgtEl>
                                          <p:spTgt spid="2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3"/>
            <a:ext cx="8555113" cy="569525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r>
              <a:rPr lang="en-US" sz="2800" b="1" i="1" dirty="0">
                <a:latin typeface="Times New Roman" panose="02020603050405020304" pitchFamily="18" charset="0"/>
                <a:cs typeface="Times New Roman" panose="02020603050405020304" pitchFamily="18" charset="0"/>
              </a:rPr>
              <a:t>Step 1 </a:t>
            </a:r>
            <a:r>
              <a:rPr lang="en-US" sz="2800" dirty="0">
                <a:latin typeface="Times New Roman" panose="02020603050405020304" pitchFamily="18" charset="0"/>
                <a:cs typeface="Times New Roman" panose="02020603050405020304" pitchFamily="18" charset="0"/>
              </a:rPr>
              <a:t>Determine the null and alternative hypotheses. The hypotheses can be structured in one of three ways:</a:t>
            </a:r>
          </a:p>
          <a:p>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Select a level of significance,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depending on the seriousness of making a Type I error.</a:t>
            </a:r>
            <a:endParaRPr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27</a:t>
            </a:fld>
            <a:endParaRPr/>
          </a:p>
        </p:txBody>
      </p:sp>
      <p:pic>
        <p:nvPicPr>
          <p:cNvPr id="3" name="Picture 2" descr="A screenshot of a cell phone&#10;&#10;Description automatically generated">
            <a:extLst>
              <a:ext uri="{FF2B5EF4-FFF2-40B4-BE49-F238E27FC236}">
                <a16:creationId xmlns:a16="http://schemas.microsoft.com/office/drawing/2014/main" id="{B8C1BB06-EED0-4E6A-B53D-23055F410FA3}"/>
              </a:ext>
            </a:extLst>
          </p:cNvPr>
          <p:cNvPicPr>
            <a:picLocks noChangeAspect="1"/>
          </p:cNvPicPr>
          <p:nvPr/>
        </p:nvPicPr>
        <p:blipFill rotWithShape="1">
          <a:blip r:embed="rId3"/>
          <a:srcRect l="1665" t="7161" r="907" b="6524"/>
          <a:stretch/>
        </p:blipFill>
        <p:spPr>
          <a:xfrm>
            <a:off x="797350" y="2846269"/>
            <a:ext cx="6498996" cy="1367513"/>
          </a:xfrm>
          <a:prstGeom prst="rect">
            <a:avLst/>
          </a:prstGeom>
        </p:spPr>
      </p:pic>
    </p:spTree>
    <p:extLst>
      <p:ext uri="{BB962C8B-B14F-4D97-AF65-F5344CB8AC3E}">
        <p14:creationId xmlns:p14="http://schemas.microsoft.com/office/powerpoint/2010/main" val="313098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8" end="8"/>
                                            </p:txEl>
                                          </p:spTgt>
                                        </p:tgtEl>
                                        <p:attrNameLst>
                                          <p:attrName>style.visibility</p:attrName>
                                        </p:attrNameLst>
                                      </p:cBhvr>
                                      <p:to>
                                        <p:strVal val="visible"/>
                                      </p:to>
                                    </p:set>
                                    <p:animEffect transition="in" filter="fade">
                                      <p:cBhvr>
                                        <p:cTn id="7" dur="500"/>
                                        <p:tgtEl>
                                          <p:spTgt spid="22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3"/>
            <a:ext cx="8555113" cy="561984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r>
              <a:rPr lang="en-US" sz="2800" b="1" dirty="0"/>
              <a:t>Classical Approach</a:t>
            </a:r>
          </a:p>
          <a:p>
            <a:r>
              <a:rPr lang="en-US" sz="2800" b="1" i="1" dirty="0">
                <a:latin typeface="Times New Roman" panose="02020603050405020304" pitchFamily="18" charset="0"/>
                <a:cs typeface="Times New Roman" panose="02020603050405020304" pitchFamily="18" charset="0"/>
              </a:rPr>
              <a:t>Step 3 </a:t>
            </a: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r>
              <a:rPr lang="en-US" sz="2800" dirty="0">
                <a:latin typeface="Times New Roman" panose="02020603050405020304" pitchFamily="18" charset="0"/>
                <a:cs typeface="Times New Roman" panose="02020603050405020304" pitchFamily="18" charset="0"/>
              </a:rPr>
              <a:t>which follows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Student’s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-distribution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with </a:t>
            </a:r>
            <a:r>
              <a:rPr lang="en-US" sz="2800" i="1" dirty="0">
                <a:latin typeface="Times New Roman" panose="02020603050405020304" pitchFamily="18" charset="0"/>
                <a:cs typeface="Times New Roman" panose="02020603050405020304" pitchFamily="18" charset="0"/>
              </a:rPr>
              <a:t>n –</a:t>
            </a:r>
            <a:r>
              <a:rPr lang="en-US" sz="2800" dirty="0">
                <a:latin typeface="Times New Roman" panose="02020603050405020304" pitchFamily="18" charset="0"/>
                <a:cs typeface="Times New Roman" panose="02020603050405020304" pitchFamily="18" charset="0"/>
              </a:rPr>
              <a:t> 2 degrees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freedom. Use Table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VII to determine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critical value.</a:t>
            </a:r>
            <a:endParaRPr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28</a:t>
            </a:fld>
            <a:endParaRPr/>
          </a:p>
        </p:txBody>
      </p:sp>
      <p:graphicFrame>
        <p:nvGraphicFramePr>
          <p:cNvPr id="2" name="Object 1">
            <a:extLst>
              <a:ext uri="{FF2B5EF4-FFF2-40B4-BE49-F238E27FC236}">
                <a16:creationId xmlns:a16="http://schemas.microsoft.com/office/drawing/2014/main" id="{D5150C82-9FB1-44BE-ADA3-AAF92F63622D}"/>
              </a:ext>
            </a:extLst>
          </p:cNvPr>
          <p:cNvGraphicFramePr>
            <a:graphicFrameLocks noChangeAspect="1"/>
          </p:cNvGraphicFramePr>
          <p:nvPr>
            <p:extLst>
              <p:ext uri="{D42A27DB-BD31-4B8C-83A1-F6EECF244321}">
                <p14:modId xmlns:p14="http://schemas.microsoft.com/office/powerpoint/2010/main" val="2681415335"/>
              </p:ext>
            </p:extLst>
          </p:nvPr>
        </p:nvGraphicFramePr>
        <p:xfrm>
          <a:off x="5469013" y="2161381"/>
          <a:ext cx="2311400" cy="977900"/>
        </p:xfrm>
        <a:graphic>
          <a:graphicData uri="http://schemas.openxmlformats.org/presentationml/2006/ole">
            <mc:AlternateContent xmlns:mc="http://schemas.openxmlformats.org/markup-compatibility/2006">
              <mc:Choice xmlns:v="urn:schemas-microsoft-com:vml" Requires="v">
                <p:oleObj spid="_x0000_s87246" name="Equation" r:id="rId4" imgW="2311200" imgH="977760" progId="Equation.DSMT4">
                  <p:embed/>
                </p:oleObj>
              </mc:Choice>
              <mc:Fallback>
                <p:oleObj name="Equation" r:id="rId4" imgW="2311200" imgH="977760" progId="Equation.DSMT4">
                  <p:embed/>
                  <p:pic>
                    <p:nvPicPr>
                      <p:cNvPr id="0" name=""/>
                      <p:cNvPicPr/>
                      <p:nvPr/>
                    </p:nvPicPr>
                    <p:blipFill>
                      <a:blip r:embed="rId5"/>
                      <a:stretch>
                        <a:fillRect/>
                      </a:stretch>
                    </p:blipFill>
                    <p:spPr>
                      <a:xfrm>
                        <a:off x="5469013" y="2161381"/>
                        <a:ext cx="2311400" cy="977900"/>
                      </a:xfrm>
                      <a:prstGeom prst="rect">
                        <a:avLst/>
                      </a:prstGeom>
                    </p:spPr>
                  </p:pic>
                </p:oleObj>
              </mc:Fallback>
            </mc:AlternateContent>
          </a:graphicData>
        </a:graphic>
      </p:graphicFrame>
      <p:pic>
        <p:nvPicPr>
          <p:cNvPr id="6" name="Picture 5" descr="A close up of text on a white background&#10;&#10;Description automatically generated">
            <a:extLst>
              <a:ext uri="{FF2B5EF4-FFF2-40B4-BE49-F238E27FC236}">
                <a16:creationId xmlns:a16="http://schemas.microsoft.com/office/drawing/2014/main" id="{BF6C3646-3421-4C51-84D4-F3ACB612AB96}"/>
              </a:ext>
            </a:extLst>
          </p:cNvPr>
          <p:cNvPicPr>
            <a:picLocks noChangeAspect="1"/>
          </p:cNvPicPr>
          <p:nvPr/>
        </p:nvPicPr>
        <p:blipFill rotWithShape="1">
          <a:blip r:embed="rId6"/>
          <a:srcRect l="1840" t="3059" r="1159" b="2545"/>
          <a:stretch/>
        </p:blipFill>
        <p:spPr>
          <a:xfrm>
            <a:off x="3941934" y="3344208"/>
            <a:ext cx="4744866" cy="23324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7181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5" end="5"/>
                                            </p:txEl>
                                          </p:spTgt>
                                        </p:tgtEl>
                                        <p:attrNameLst>
                                          <p:attrName>style.visibility</p:attrName>
                                        </p:attrNameLst>
                                      </p:cBhvr>
                                      <p:to>
                                        <p:strVal val="visible"/>
                                      </p:to>
                                    </p:set>
                                    <p:animEffect transition="in" filter="fade">
                                      <p:cBhvr>
                                        <p:cTn id="7" dur="500"/>
                                        <p:tgtEl>
                                          <p:spTgt spid="225">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3"/>
            <a:ext cx="8555113" cy="561984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r>
              <a:rPr lang="en-US" sz="2800" b="1" dirty="0"/>
              <a:t>Classical Approach</a:t>
            </a: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Compare the critical value to the test statistic.</a:t>
            </a:r>
          </a:p>
          <a:p>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29</a:t>
            </a:fld>
            <a:endParaRPr/>
          </a:p>
        </p:txBody>
      </p:sp>
      <p:pic>
        <p:nvPicPr>
          <p:cNvPr id="8" name="Picture 7" descr="A screenshot of a cell phone&#10;&#10;Description automatically generated">
            <a:extLst>
              <a:ext uri="{FF2B5EF4-FFF2-40B4-BE49-F238E27FC236}">
                <a16:creationId xmlns:a16="http://schemas.microsoft.com/office/drawing/2014/main" id="{D3651926-01B8-4490-BE0E-CCF957D6386E}"/>
              </a:ext>
            </a:extLst>
          </p:cNvPr>
          <p:cNvPicPr>
            <a:picLocks noChangeAspect="1"/>
          </p:cNvPicPr>
          <p:nvPr/>
        </p:nvPicPr>
        <p:blipFill rotWithShape="1">
          <a:blip r:embed="rId3"/>
          <a:srcRect l="1662" t="8531" r="752" b="7773"/>
          <a:stretch/>
        </p:blipFill>
        <p:spPr>
          <a:xfrm>
            <a:off x="853911" y="2995373"/>
            <a:ext cx="7140019" cy="1218410"/>
          </a:xfrm>
          <a:prstGeom prst="rect">
            <a:avLst/>
          </a:prstGeom>
        </p:spPr>
      </p:pic>
    </p:spTree>
    <p:extLst>
      <p:ext uri="{BB962C8B-B14F-4D97-AF65-F5344CB8AC3E}">
        <p14:creationId xmlns:p14="http://schemas.microsoft.com/office/powerpoint/2010/main" val="133957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9" end="9"/>
                                            </p:txEl>
                                          </p:spTgt>
                                        </p:tgtEl>
                                        <p:attrNameLst>
                                          <p:attrName>style.visibility</p:attrName>
                                        </p:attrNameLst>
                                      </p:cBhvr>
                                      <p:to>
                                        <p:strVal val="visible"/>
                                      </p:to>
                                    </p:set>
                                    <p:animEffect transition="in" filter="fade">
                                      <p:cBhvr>
                                        <p:cTn id="7" dur="500"/>
                                        <p:tgtEl>
                                          <p:spTgt spid="2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2"/>
            <a:ext cx="8555113" cy="591207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r>
              <a:rPr lang="en-US" sz="2800" b="1" i="1" dirty="0"/>
              <a:t>P</a:t>
            </a:r>
            <a:r>
              <a:rPr lang="en-US" sz="2800" b="1" dirty="0"/>
              <a:t>-Value Approach</a:t>
            </a:r>
          </a:p>
          <a:p>
            <a:r>
              <a:rPr lang="en-US" sz="2800" b="1" i="1" dirty="0">
                <a:latin typeface="Times New Roman" panose="02020603050405020304" pitchFamily="18" charset="0"/>
                <a:cs typeface="Times New Roman" panose="02020603050405020304" pitchFamily="18" charset="0"/>
              </a:rPr>
              <a:t>By-Hand Step 3 </a:t>
            </a:r>
            <a:br>
              <a:rPr lang="en-US" sz="2800" b="1" i="1"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r>
              <a:rPr lang="en-US" sz="2800" dirty="0">
                <a:latin typeface="Times New Roman" panose="02020603050405020304" pitchFamily="18" charset="0"/>
                <a:cs typeface="Times New Roman" panose="02020603050405020304" pitchFamily="18" charset="0"/>
              </a:rPr>
              <a:t>which follows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Student’s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-distribution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with </a:t>
            </a:r>
            <a:r>
              <a:rPr lang="en-US" sz="2800" i="1" dirty="0">
                <a:latin typeface="Times New Roman" panose="02020603050405020304" pitchFamily="18" charset="0"/>
                <a:cs typeface="Times New Roman" panose="02020603050405020304" pitchFamily="18" charset="0"/>
              </a:rPr>
              <a:t>n </a:t>
            </a:r>
            <a:r>
              <a:rPr lang="en-US" sz="2800" dirty="0">
                <a:latin typeface="Times New Roman" panose="02020603050405020304" pitchFamily="18" charset="0"/>
                <a:cs typeface="Times New Roman" panose="02020603050405020304" pitchFamily="18" charset="0"/>
              </a:rPr>
              <a:t>– 2 degrees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freedom. Use Table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VII to approximate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a:t>
            </a:r>
            <a:endParaRPr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30</a:t>
            </a:fld>
            <a:endParaRPr/>
          </a:p>
        </p:txBody>
      </p:sp>
      <p:graphicFrame>
        <p:nvGraphicFramePr>
          <p:cNvPr id="2" name="Object 1">
            <a:extLst>
              <a:ext uri="{FF2B5EF4-FFF2-40B4-BE49-F238E27FC236}">
                <a16:creationId xmlns:a16="http://schemas.microsoft.com/office/drawing/2014/main" id="{D5150C82-9FB1-44BE-ADA3-AAF92F63622D}"/>
              </a:ext>
            </a:extLst>
          </p:cNvPr>
          <p:cNvGraphicFramePr>
            <a:graphicFrameLocks noChangeAspect="1"/>
          </p:cNvGraphicFramePr>
          <p:nvPr>
            <p:extLst>
              <p:ext uri="{D42A27DB-BD31-4B8C-83A1-F6EECF244321}">
                <p14:modId xmlns:p14="http://schemas.microsoft.com/office/powerpoint/2010/main" val="1881417918"/>
              </p:ext>
            </p:extLst>
          </p:nvPr>
        </p:nvGraphicFramePr>
        <p:xfrm>
          <a:off x="5061408" y="2374747"/>
          <a:ext cx="2311400" cy="977900"/>
        </p:xfrm>
        <a:graphic>
          <a:graphicData uri="http://schemas.openxmlformats.org/presentationml/2006/ole">
            <mc:AlternateContent xmlns:mc="http://schemas.openxmlformats.org/markup-compatibility/2006">
              <mc:Choice xmlns:v="urn:schemas-microsoft-com:vml" Requires="v">
                <p:oleObj spid="_x0000_s88267" name="Equation" r:id="rId4" imgW="2311200" imgH="977760" progId="Equation.DSMT4">
                  <p:embed/>
                </p:oleObj>
              </mc:Choice>
              <mc:Fallback>
                <p:oleObj name="Equation" r:id="rId4" imgW="2311200" imgH="977760" progId="Equation.DSMT4">
                  <p:embed/>
                  <p:pic>
                    <p:nvPicPr>
                      <p:cNvPr id="2" name="Object 1">
                        <a:extLst>
                          <a:ext uri="{FF2B5EF4-FFF2-40B4-BE49-F238E27FC236}">
                            <a16:creationId xmlns:a16="http://schemas.microsoft.com/office/drawing/2014/main" id="{D5150C82-9FB1-44BE-ADA3-AAF92F63622D}"/>
                          </a:ext>
                        </a:extLst>
                      </p:cNvPr>
                      <p:cNvPicPr/>
                      <p:nvPr/>
                    </p:nvPicPr>
                    <p:blipFill>
                      <a:blip r:embed="rId5"/>
                      <a:stretch>
                        <a:fillRect/>
                      </a:stretch>
                    </p:blipFill>
                    <p:spPr>
                      <a:xfrm>
                        <a:off x="5061408" y="2374747"/>
                        <a:ext cx="2311400" cy="977900"/>
                      </a:xfrm>
                      <a:prstGeom prst="rect">
                        <a:avLst/>
                      </a:prstGeom>
                    </p:spPr>
                  </p:pic>
                </p:oleObj>
              </mc:Fallback>
            </mc:AlternateContent>
          </a:graphicData>
        </a:graphic>
      </p:graphicFrame>
      <p:pic>
        <p:nvPicPr>
          <p:cNvPr id="4" name="Picture 3" descr="A close up of a map&#10;&#10;Description automatically generated">
            <a:extLst>
              <a:ext uri="{FF2B5EF4-FFF2-40B4-BE49-F238E27FC236}">
                <a16:creationId xmlns:a16="http://schemas.microsoft.com/office/drawing/2014/main" id="{18DF73C3-A229-413E-9A49-B815534ED9FF}"/>
              </a:ext>
            </a:extLst>
          </p:cNvPr>
          <p:cNvPicPr>
            <a:picLocks noChangeAspect="1"/>
          </p:cNvPicPr>
          <p:nvPr/>
        </p:nvPicPr>
        <p:blipFill rotWithShape="1">
          <a:blip r:embed="rId6"/>
          <a:srcRect l="786" t="1227" r="1317" b="2464"/>
          <a:stretch/>
        </p:blipFill>
        <p:spPr>
          <a:xfrm>
            <a:off x="3962061" y="3627940"/>
            <a:ext cx="4745452" cy="24177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56872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5" end="5"/>
                                            </p:txEl>
                                          </p:spTgt>
                                        </p:tgtEl>
                                        <p:attrNameLst>
                                          <p:attrName>style.visibility</p:attrName>
                                        </p:attrNameLst>
                                      </p:cBhvr>
                                      <p:to>
                                        <p:strVal val="visible"/>
                                      </p:to>
                                    </p:set>
                                    <p:animEffect transition="in" filter="fade">
                                      <p:cBhvr>
                                        <p:cTn id="7" dur="500"/>
                                        <p:tgtEl>
                                          <p:spTgt spid="225">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Rectangle 4">
            <a:extLst>
              <a:ext uri="{FF2B5EF4-FFF2-40B4-BE49-F238E27FC236}">
                <a16:creationId xmlns:a16="http://schemas.microsoft.com/office/drawing/2014/main" id="{54554740-F24A-4205-9DDD-18EF714F6188}"/>
              </a:ext>
            </a:extLst>
          </p:cNvPr>
          <p:cNvSpPr/>
          <p:nvPr/>
        </p:nvSpPr>
        <p:spPr>
          <a:xfrm>
            <a:off x="304800" y="328472"/>
            <a:ext cx="8555113" cy="5416689"/>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Google Shape;224;p3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225" name="Google Shape;225;p35"/>
          <p:cNvSpPr txBox="1"/>
          <p:nvPr/>
        </p:nvSpPr>
        <p:spPr>
          <a:xfrm>
            <a:off x="401713" y="463688"/>
            <a:ext cx="8361287" cy="46482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Hypothesis Test Regarding the Slope Coefficient, </a:t>
            </a:r>
            <a:r>
              <a:rPr lang="en-US" sz="3600" b="1" i="1" u="none" dirty="0">
                <a:solidFill>
                  <a:schemeClr val="tx1"/>
                </a:solidFill>
                <a:latin typeface="Times New Roman"/>
                <a:ea typeface="Times New Roman"/>
                <a:cs typeface="Times New Roman"/>
                <a:sym typeface="Times New Roman"/>
              </a:rPr>
              <a:t>β</a:t>
            </a:r>
            <a:r>
              <a:rPr lang="en-US" sz="3600" b="1" i="0" u="none" baseline="-25000" dirty="0">
                <a:solidFill>
                  <a:schemeClr val="tx1"/>
                </a:solidFill>
                <a:latin typeface="Times New Roman"/>
                <a:ea typeface="Times New Roman"/>
                <a:cs typeface="Times New Roman"/>
                <a:sym typeface="Times New Roman"/>
              </a:rPr>
              <a:t>1</a:t>
            </a:r>
            <a:endParaRPr sz="3600" dirty="0">
              <a:solidFill>
                <a:schemeClr val="tx1"/>
              </a:solidFill>
            </a:endParaRPr>
          </a:p>
          <a:p>
            <a:pPr marR="0" lvl="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a:ea typeface="Times New Roman"/>
              <a:cs typeface="Times New Roman"/>
              <a:sym typeface="Times New Roman"/>
            </a:endParaRPr>
          </a:p>
          <a:p>
            <a:r>
              <a:rPr lang="en-US" sz="2800" b="1" i="1" dirty="0"/>
              <a:t>P</a:t>
            </a:r>
            <a:r>
              <a:rPr lang="en-US" sz="2800" b="1" dirty="0"/>
              <a:t>-Value Approach</a:t>
            </a:r>
          </a:p>
          <a:p>
            <a:r>
              <a:rPr lang="en-US" sz="2800" b="1" i="1" dirty="0">
                <a:latin typeface="Times New Roman" panose="02020603050405020304" pitchFamily="18" charset="0"/>
                <a:cs typeface="Times New Roman" panose="02020603050405020304" pitchFamily="18" charset="0"/>
              </a:rPr>
              <a:t>Technology Step 3 </a:t>
            </a:r>
            <a:r>
              <a:rPr lang="en-US" sz="2800" dirty="0">
                <a:latin typeface="Times New Roman" panose="02020603050405020304" pitchFamily="18" charset="0"/>
                <a:cs typeface="Times New Roman" panose="02020603050405020304" pitchFamily="18" charset="0"/>
              </a:rPr>
              <a:t>Use a statistical spreadsheet or calculator with statistical capabilities to obtain the </a:t>
            </a:r>
            <a:r>
              <a:rPr lang="en-US" sz="2800" i="1" dirty="0">
                <a:latin typeface="Times New Roman" panose="02020603050405020304" pitchFamily="18" charset="0"/>
                <a:cs typeface="Times New Roman" panose="02020603050405020304" pitchFamily="18" charset="0"/>
              </a:rPr>
              <a:t>P </a:t>
            </a:r>
            <a:r>
              <a:rPr lang="en-US" sz="2800" dirty="0">
                <a:latin typeface="Times New Roman" panose="02020603050405020304" pitchFamily="18" charset="0"/>
                <a:cs typeface="Times New Roman" panose="02020603050405020304" pitchFamily="18" charset="0"/>
              </a:rPr>
              <a:t>value.</a:t>
            </a: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If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&lt;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reject the null hypothesis.</a:t>
            </a:r>
          </a:p>
          <a:p>
            <a:endPar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endParaRPr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26" name="Google Shape;226;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31</a:t>
            </a:fld>
            <a:endParaRPr/>
          </a:p>
        </p:txBody>
      </p:sp>
    </p:spTree>
    <p:extLst>
      <p:ext uri="{BB962C8B-B14F-4D97-AF65-F5344CB8AC3E}">
        <p14:creationId xmlns:p14="http://schemas.microsoft.com/office/powerpoint/2010/main" val="11855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xEl>
                                              <p:pRg st="5" end="5"/>
                                            </p:txEl>
                                          </p:spTgt>
                                        </p:tgtEl>
                                        <p:attrNameLst>
                                          <p:attrName>style.visibility</p:attrName>
                                        </p:attrNameLst>
                                      </p:cBhvr>
                                      <p:to>
                                        <p:strVal val="visible"/>
                                      </p:to>
                                    </p:set>
                                    <p:animEffect transition="in" filter="fade">
                                      <p:cBhvr>
                                        <p:cTn id="7" dur="500"/>
                                        <p:tgtEl>
                                          <p:spTgt spid="225">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xEl>
                                              <p:pRg st="7" end="7"/>
                                            </p:txEl>
                                          </p:spTgt>
                                        </p:tgtEl>
                                        <p:attrNameLst>
                                          <p:attrName>style.visibility</p:attrName>
                                        </p:attrNameLst>
                                      </p:cBhvr>
                                      <p:to>
                                        <p:strVal val="visible"/>
                                      </p:to>
                                    </p:set>
                                    <p:animEffect transition="in" filter="fade">
                                      <p:cBhvr>
                                        <p:cTn id="12" dur="500"/>
                                        <p:tgtEl>
                                          <p:spTgt spid="2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9"/>
          <p:cNvSpPr txBox="1"/>
          <p:nvPr/>
        </p:nvSpPr>
        <p:spPr>
          <a:xfrm>
            <a:off x="533400" y="533400"/>
            <a:ext cx="8077200" cy="360045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accent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Before testing </a:t>
            </a:r>
            <a:r>
              <a:rPr lang="en-US" sz="3200" b="0" i="1" u="none" dirty="0">
                <a:solidFill>
                  <a:schemeClr val="dk1"/>
                </a:solidFill>
                <a:latin typeface="Times New Roman"/>
                <a:ea typeface="Times New Roman"/>
                <a:cs typeface="Times New Roman"/>
                <a:sym typeface="Times New Roman"/>
              </a:rPr>
              <a:t>H</a:t>
            </a:r>
            <a:r>
              <a:rPr lang="en-US" sz="3200" b="0" i="0" u="none" baseline="-25000" dirty="0">
                <a:solidFill>
                  <a:schemeClr val="dk1"/>
                </a:solidFill>
                <a:latin typeface="Times New Roman"/>
                <a:ea typeface="Times New Roman"/>
                <a:cs typeface="Times New Roman"/>
                <a:sym typeface="Times New Roman"/>
              </a:rPr>
              <a:t>0</a:t>
            </a: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β</a:t>
            </a:r>
            <a:r>
              <a:rPr lang="en-US" sz="3200" b="0" i="0" u="none" baseline="-25000" dirty="0">
                <a:solidFill>
                  <a:schemeClr val="dk1"/>
                </a:solidFill>
                <a:latin typeface="Times New Roman"/>
                <a:ea typeface="Times New Roman"/>
                <a:cs typeface="Times New Roman"/>
                <a:sym typeface="Times New Roman"/>
              </a:rPr>
              <a:t>1</a:t>
            </a:r>
            <a:r>
              <a:rPr lang="en-US" sz="3200" b="0" i="1" u="none" dirty="0">
                <a:solidFill>
                  <a:schemeClr val="dk1"/>
                </a:solidFill>
                <a:latin typeface="Times New Roman"/>
                <a:ea typeface="Times New Roman"/>
                <a:cs typeface="Times New Roman"/>
                <a:sym typeface="Times New Roman"/>
              </a:rPr>
              <a:t> </a:t>
            </a:r>
            <a:r>
              <a:rPr lang="en-US" sz="3200" b="0" i="0" u="none" dirty="0">
                <a:solidFill>
                  <a:schemeClr val="dk1"/>
                </a:solidFill>
                <a:latin typeface="Times New Roman"/>
                <a:ea typeface="Times New Roman"/>
                <a:cs typeface="Times New Roman"/>
                <a:sym typeface="Times New Roman"/>
              </a:rPr>
              <a:t>= 0, be sure to draw a residual plot to verify that a linear model is appropriate.</a:t>
            </a:r>
            <a:endParaRPr sz="32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3200" b="0" i="0" u="none" dirty="0">
              <a:solidFill>
                <a:schemeClr val="dk1"/>
              </a:solidFill>
              <a:latin typeface="Times New Roman"/>
              <a:ea typeface="Times New Roman"/>
              <a:cs typeface="Times New Roman"/>
              <a:sym typeface="Times New Roman"/>
            </a:endParaRPr>
          </a:p>
        </p:txBody>
      </p:sp>
      <p:sp>
        <p:nvSpPr>
          <p:cNvPr id="347" name="Google Shape;347;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32</a:t>
            </a:fld>
            <a:endParaRPr/>
          </a:p>
        </p:txBody>
      </p:sp>
    </p:spTree>
    <p:extLst>
      <p:ext uri="{BB962C8B-B14F-4D97-AF65-F5344CB8AC3E}">
        <p14:creationId xmlns:p14="http://schemas.microsoft.com/office/powerpoint/2010/main" val="236406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33</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Test whether a linear relation exists between age and total</a:t>
            </a:r>
          </a:p>
          <a:p>
            <a:r>
              <a:rPr lang="en-US" sz="2800" dirty="0">
                <a:latin typeface="Times New Roman" panose="02020603050405020304" pitchFamily="18" charset="0"/>
                <a:cs typeface="Times New Roman" panose="02020603050405020304" pitchFamily="18" charset="0"/>
              </a:rPr>
              <a:t>cholesterol at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 using the data in Table 1 from a previous example.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11)</a:t>
            </a:r>
            <a:endParaRPr sz="2400" i="1" dirty="0"/>
          </a:p>
        </p:txBody>
      </p:sp>
      <p:pic>
        <p:nvPicPr>
          <p:cNvPr id="4" name="Picture 3" descr="A screenshot of a cell phone&#10;&#10;Description automatically generated">
            <a:extLst>
              <a:ext uri="{FF2B5EF4-FFF2-40B4-BE49-F238E27FC236}">
                <a16:creationId xmlns:a16="http://schemas.microsoft.com/office/drawing/2014/main" id="{456BE8FD-D8C7-4152-8322-5401FBD25AF4}"/>
              </a:ext>
            </a:extLst>
          </p:cNvPr>
          <p:cNvPicPr>
            <a:picLocks noChangeAspect="1"/>
          </p:cNvPicPr>
          <p:nvPr/>
        </p:nvPicPr>
        <p:blipFill>
          <a:blip r:embed="rId3"/>
          <a:stretch>
            <a:fillRect/>
          </a:stretch>
        </p:blipFill>
        <p:spPr>
          <a:xfrm>
            <a:off x="1183224" y="2698325"/>
            <a:ext cx="6940310" cy="3346711"/>
          </a:xfrm>
          <a:prstGeom prst="rect">
            <a:avLst/>
          </a:prstGeom>
        </p:spPr>
      </p:pic>
    </p:spTree>
    <p:extLst>
      <p:ext uri="{BB962C8B-B14F-4D97-AF65-F5344CB8AC3E}">
        <p14:creationId xmlns:p14="http://schemas.microsoft.com/office/powerpoint/2010/main" val="3939629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4F35A72F-303F-4377-9150-C14A164452BE}"/>
              </a:ext>
            </a:extLst>
          </p:cNvPr>
          <p:cNvPicPr>
            <a:picLocks noChangeAspect="1"/>
          </p:cNvPicPr>
          <p:nvPr/>
        </p:nvPicPr>
        <p:blipFill>
          <a:blip r:embed="rId3"/>
          <a:stretch>
            <a:fillRect/>
          </a:stretch>
        </p:blipFill>
        <p:spPr>
          <a:xfrm>
            <a:off x="4380317" y="3234210"/>
            <a:ext cx="4545442" cy="3150178"/>
          </a:xfrm>
          <a:prstGeom prst="rect">
            <a:avLst/>
          </a:prstGeom>
        </p:spPr>
      </p:pic>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34</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In a previous example, we were told that the individuals were randomly selected. In a later example, we confirmed that the residuals are normally distributed.</a:t>
            </a:r>
          </a:p>
          <a:p>
            <a:r>
              <a:rPr lang="en-US" sz="2600" dirty="0">
                <a:latin typeface="Times New Roman" panose="02020603050405020304" pitchFamily="18" charset="0"/>
                <a:cs typeface="Times New Roman" panose="02020603050405020304" pitchFamily="18" charset="0"/>
              </a:rPr>
              <a:t>Verify the requirement of constant error variance by plotting the residuals against the values of the explanatory variable as shown in the figure. </a:t>
            </a:r>
          </a:p>
          <a:p>
            <a:r>
              <a:rPr lang="en-US" sz="2600" dirty="0">
                <a:latin typeface="Times New Roman" panose="02020603050405020304" pitchFamily="18" charset="0"/>
                <a:cs typeface="Times New Roman" panose="02020603050405020304" pitchFamily="18" charset="0"/>
              </a:rPr>
              <a:t>The errors are evenly spread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around a horizontal line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drawn at 0, so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requirement of constant error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variance is satisfied. </a:t>
            </a:r>
          </a:p>
          <a:p>
            <a:r>
              <a:rPr lang="en-US" sz="2600" dirty="0">
                <a:latin typeface="Times New Roman" panose="02020603050405020304" pitchFamily="18" charset="0"/>
                <a:cs typeface="Times New Roman" panose="02020603050405020304" pitchFamily="18" charset="0"/>
              </a:rPr>
              <a:t>Now follow Steps 1 through 5.</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11)</a:t>
            </a:r>
            <a:endParaRPr sz="2400" i="1" dirty="0"/>
          </a:p>
        </p:txBody>
      </p:sp>
    </p:spTree>
    <p:extLst>
      <p:ext uri="{BB962C8B-B14F-4D97-AF65-F5344CB8AC3E}">
        <p14:creationId xmlns:p14="http://schemas.microsoft.com/office/powerpoint/2010/main" val="175887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2" end="2"/>
                                            </p:txEl>
                                          </p:spTgt>
                                        </p:tgtEl>
                                        <p:attrNameLst>
                                          <p:attrName>style.visibility</p:attrName>
                                        </p:attrNameLst>
                                      </p:cBhvr>
                                      <p:to>
                                        <p:strVal val="visible"/>
                                      </p:to>
                                    </p:set>
                                    <p:animEffect transition="in" filter="fade">
                                      <p:cBhvr>
                                        <p:cTn id="15" dur="500"/>
                                        <p:tgtEl>
                                          <p:spTgt spid="31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5">
                                            <p:txEl>
                                              <p:pRg st="3" end="3"/>
                                            </p:txEl>
                                          </p:spTgt>
                                        </p:tgtEl>
                                        <p:attrNameLst>
                                          <p:attrName>style.visibility</p:attrName>
                                        </p:attrNameLst>
                                      </p:cBhvr>
                                      <p:to>
                                        <p:strVal val="visible"/>
                                      </p:to>
                                    </p:set>
                                    <p:animEffect transition="in" filter="fade">
                                      <p:cBhvr>
                                        <p:cTn id="20"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35</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We want to know if there is a linear relation between age and total cholesterol without regard to the sign of the slope. This is a two-tailed test and we have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a:t>
            </a:r>
          </a:p>
          <a:p>
            <a:endParaRPr lang="en-US" sz="2600"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11)</a:t>
            </a:r>
            <a:endParaRPr sz="2400" i="1" dirty="0"/>
          </a:p>
        </p:txBody>
      </p:sp>
      <p:graphicFrame>
        <p:nvGraphicFramePr>
          <p:cNvPr id="2" name="Object 1">
            <a:extLst>
              <a:ext uri="{FF2B5EF4-FFF2-40B4-BE49-F238E27FC236}">
                <a16:creationId xmlns:a16="http://schemas.microsoft.com/office/drawing/2014/main" id="{0FF69AD2-B4F8-48A3-ABF7-BCAA83520B25}"/>
              </a:ext>
            </a:extLst>
          </p:cNvPr>
          <p:cNvGraphicFramePr>
            <a:graphicFrameLocks noChangeAspect="1"/>
          </p:cNvGraphicFramePr>
          <p:nvPr>
            <p:extLst>
              <p:ext uri="{D42A27DB-BD31-4B8C-83A1-F6EECF244321}">
                <p14:modId xmlns:p14="http://schemas.microsoft.com/office/powerpoint/2010/main" val="2857844243"/>
              </p:ext>
            </p:extLst>
          </p:nvPr>
        </p:nvGraphicFramePr>
        <p:xfrm>
          <a:off x="1539073" y="2632369"/>
          <a:ext cx="5232400" cy="393700"/>
        </p:xfrm>
        <a:graphic>
          <a:graphicData uri="http://schemas.openxmlformats.org/presentationml/2006/ole">
            <mc:AlternateContent xmlns:mc="http://schemas.openxmlformats.org/markup-compatibility/2006">
              <mc:Choice xmlns:v="urn:schemas-microsoft-com:vml" Requires="v">
                <p:oleObj spid="_x0000_s89285" name="Equation" r:id="rId4" imgW="5232240" imgH="393480" progId="Equation.DSMT4">
                  <p:embed/>
                </p:oleObj>
              </mc:Choice>
              <mc:Fallback>
                <p:oleObj name="Equation" r:id="rId4" imgW="5232240" imgH="393480" progId="Equation.DSMT4">
                  <p:embed/>
                  <p:pic>
                    <p:nvPicPr>
                      <p:cNvPr id="0" name=""/>
                      <p:cNvPicPr/>
                      <p:nvPr/>
                    </p:nvPicPr>
                    <p:blipFill>
                      <a:blip r:embed="rId5"/>
                      <a:stretch>
                        <a:fillRect/>
                      </a:stretch>
                    </p:blipFill>
                    <p:spPr>
                      <a:xfrm>
                        <a:off x="1539073" y="2632369"/>
                        <a:ext cx="5232400" cy="393700"/>
                      </a:xfrm>
                      <a:prstGeom prst="rect">
                        <a:avLst/>
                      </a:prstGeom>
                    </p:spPr>
                  </p:pic>
                </p:oleObj>
              </mc:Fallback>
            </mc:AlternateContent>
          </a:graphicData>
        </a:graphic>
      </p:graphicFrame>
    </p:spTree>
    <p:extLst>
      <p:ext uri="{BB962C8B-B14F-4D97-AF65-F5344CB8AC3E}">
        <p14:creationId xmlns:p14="http://schemas.microsoft.com/office/powerpoint/2010/main" val="3368793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4" end="4"/>
                                            </p:txEl>
                                          </p:spTgt>
                                        </p:tgtEl>
                                        <p:attrNameLst>
                                          <p:attrName>style.visibility</p:attrName>
                                        </p:attrNameLst>
                                      </p:cBhvr>
                                      <p:to>
                                        <p:strVal val="visible"/>
                                      </p:to>
                                    </p:set>
                                    <p:animEffect transition="in" filter="fade">
                                      <p:cBhvr>
                                        <p:cTn id="7" dur="500"/>
                                        <p:tgtEl>
                                          <p:spTgt spid="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36</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We obtained an estimate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in a previous example to</a:t>
            </a:r>
          </a:p>
          <a:p>
            <a:r>
              <a:rPr lang="en-US" sz="2600" dirty="0">
                <a:latin typeface="Times New Roman" panose="02020603050405020304" pitchFamily="18" charset="0"/>
                <a:cs typeface="Times New Roman" panose="02020603050405020304" pitchFamily="18" charset="0"/>
              </a:rPr>
              <a:t>be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1.3991, and we computed the standard error,</a:t>
            </a:r>
          </a:p>
          <a:p>
            <a:r>
              <a:rPr lang="en-US" sz="2600" i="1" dirty="0">
                <a:latin typeface="Times New Roman" panose="02020603050405020304" pitchFamily="18" charset="0"/>
                <a:cs typeface="Times New Roman" panose="02020603050405020304" pitchFamily="18" charset="0"/>
              </a:rPr>
              <a:t>s</a:t>
            </a:r>
            <a:r>
              <a:rPr lang="en-US" sz="2600" i="1" baseline="-25000" dirty="0">
                <a:latin typeface="Times New Roman" panose="02020603050405020304" pitchFamily="18" charset="0"/>
                <a:cs typeface="Times New Roman" panose="02020603050405020304" pitchFamily="18" charset="0"/>
              </a:rPr>
              <a:t>e</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19.48, also in the previous example. To determine the standard deviation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compute                      where the </a:t>
            </a:r>
            <a:r>
              <a:rPr lang="en-US" sz="2600" i="1" dirty="0">
                <a:latin typeface="Times New Roman" panose="02020603050405020304" pitchFamily="18" charset="0"/>
                <a:cs typeface="Times New Roman" panose="02020603050405020304" pitchFamily="18" charset="0"/>
              </a:rPr>
              <a:t>x</a:t>
            </a:r>
            <a:r>
              <a:rPr lang="en-US" sz="2600" i="1" baseline="-25000" dirty="0">
                <a:latin typeface="Times New Roman" panose="02020603050405020304" pitchFamily="18" charset="0"/>
                <a:cs typeface="Times New Roman" panose="02020603050405020304" pitchFamily="18" charset="0"/>
              </a:rPr>
              <a:t>i</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are</a:t>
            </a:r>
          </a:p>
          <a:p>
            <a:r>
              <a:rPr lang="en-US" sz="2600" dirty="0">
                <a:latin typeface="Times New Roman" panose="02020603050405020304" pitchFamily="18" charset="0"/>
                <a:cs typeface="Times New Roman" panose="02020603050405020304" pitchFamily="18" charset="0"/>
              </a:rPr>
              <a:t>the values of the explanatory variable, age, and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the sample mean. We compute this value in Table 3, which is on the next slide.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11)</a:t>
            </a:r>
            <a:endParaRPr sz="2400" i="1" dirty="0"/>
          </a:p>
        </p:txBody>
      </p:sp>
      <p:graphicFrame>
        <p:nvGraphicFramePr>
          <p:cNvPr id="3" name="Object 2">
            <a:extLst>
              <a:ext uri="{FF2B5EF4-FFF2-40B4-BE49-F238E27FC236}">
                <a16:creationId xmlns:a16="http://schemas.microsoft.com/office/drawing/2014/main" id="{061CA306-05C3-496C-BC30-BAFB536F6AF9}"/>
              </a:ext>
            </a:extLst>
          </p:cNvPr>
          <p:cNvGraphicFramePr>
            <a:graphicFrameLocks noChangeAspect="1"/>
          </p:cNvGraphicFramePr>
          <p:nvPr>
            <p:extLst>
              <p:ext uri="{D42A27DB-BD31-4B8C-83A1-F6EECF244321}">
                <p14:modId xmlns:p14="http://schemas.microsoft.com/office/powerpoint/2010/main" val="1539556803"/>
              </p:ext>
            </p:extLst>
          </p:nvPr>
        </p:nvGraphicFramePr>
        <p:xfrm>
          <a:off x="5034895" y="2754247"/>
          <a:ext cx="1638300" cy="533400"/>
        </p:xfrm>
        <a:graphic>
          <a:graphicData uri="http://schemas.openxmlformats.org/presentationml/2006/ole">
            <mc:AlternateContent xmlns:mc="http://schemas.openxmlformats.org/markup-compatibility/2006">
              <mc:Choice xmlns:v="urn:schemas-microsoft-com:vml" Requires="v">
                <p:oleObj spid="_x0000_s90504" name="Equation" r:id="rId4" imgW="1638000" imgH="533160" progId="Equation.DSMT4">
                  <p:embed/>
                </p:oleObj>
              </mc:Choice>
              <mc:Fallback>
                <p:oleObj name="Equation" r:id="rId4" imgW="1638000" imgH="533160" progId="Equation.DSMT4">
                  <p:embed/>
                  <p:pic>
                    <p:nvPicPr>
                      <p:cNvPr id="0" name=""/>
                      <p:cNvPicPr/>
                      <p:nvPr/>
                    </p:nvPicPr>
                    <p:blipFill>
                      <a:blip r:embed="rId5"/>
                      <a:stretch>
                        <a:fillRect/>
                      </a:stretch>
                    </p:blipFill>
                    <p:spPr>
                      <a:xfrm>
                        <a:off x="5034895" y="2754247"/>
                        <a:ext cx="1638300" cy="5334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E79B2D49-917C-4B42-B771-79F4E7D2CBF2}"/>
              </a:ext>
            </a:extLst>
          </p:cNvPr>
          <p:cNvGraphicFramePr>
            <a:graphicFrameLocks noChangeAspect="1"/>
          </p:cNvGraphicFramePr>
          <p:nvPr>
            <p:extLst>
              <p:ext uri="{D42A27DB-BD31-4B8C-83A1-F6EECF244321}">
                <p14:modId xmlns:p14="http://schemas.microsoft.com/office/powerpoint/2010/main" val="2369388753"/>
              </p:ext>
            </p:extLst>
          </p:nvPr>
        </p:nvGraphicFramePr>
        <p:xfrm>
          <a:off x="6746841" y="3339512"/>
          <a:ext cx="228600" cy="279400"/>
        </p:xfrm>
        <a:graphic>
          <a:graphicData uri="http://schemas.openxmlformats.org/presentationml/2006/ole">
            <mc:AlternateContent xmlns:mc="http://schemas.openxmlformats.org/markup-compatibility/2006">
              <mc:Choice xmlns:v="urn:schemas-microsoft-com:vml" Requires="v">
                <p:oleObj spid="_x0000_s90505" name="Equation" r:id="rId6" imgW="228600" imgH="279360" progId="Equation.DSMT4">
                  <p:embed/>
                </p:oleObj>
              </mc:Choice>
              <mc:Fallback>
                <p:oleObj name="Equation" r:id="rId6" imgW="228600" imgH="279360" progId="Equation.DSMT4">
                  <p:embed/>
                  <p:pic>
                    <p:nvPicPr>
                      <p:cNvPr id="0" name=""/>
                      <p:cNvPicPr/>
                      <p:nvPr/>
                    </p:nvPicPr>
                    <p:blipFill>
                      <a:blip r:embed="rId7"/>
                      <a:stretch>
                        <a:fillRect/>
                      </a:stretch>
                    </p:blipFill>
                    <p:spPr>
                      <a:xfrm>
                        <a:off x="6746841" y="3339512"/>
                        <a:ext cx="228600" cy="279400"/>
                      </a:xfrm>
                      <a:prstGeom prst="rect">
                        <a:avLst/>
                      </a:prstGeom>
                    </p:spPr>
                  </p:pic>
                </p:oleObj>
              </mc:Fallback>
            </mc:AlternateContent>
          </a:graphicData>
        </a:graphic>
      </p:graphicFrame>
    </p:spTree>
    <p:extLst>
      <p:ext uri="{BB962C8B-B14F-4D97-AF65-F5344CB8AC3E}">
        <p14:creationId xmlns:p14="http://schemas.microsoft.com/office/powerpoint/2010/main" val="4103635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37</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t>Classical Approach</a:t>
            </a:r>
          </a:p>
          <a:p>
            <a:r>
              <a:rPr lang="en-US" sz="2600" dirty="0">
                <a:latin typeface="Times New Roman" panose="02020603050405020304" pitchFamily="18" charset="0"/>
                <a:cs typeface="Times New Roman" panose="02020603050405020304" pitchFamily="18" charset="0"/>
              </a:rPr>
              <a:t>We have</a:t>
            </a: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test statistic is</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11)</a:t>
            </a:r>
            <a:endParaRPr sz="2400" i="1" dirty="0"/>
          </a:p>
        </p:txBody>
      </p:sp>
      <p:pic>
        <p:nvPicPr>
          <p:cNvPr id="5" name="Picture 4" descr="A screenshot of a cell phone&#10;&#10;Description automatically generated">
            <a:extLst>
              <a:ext uri="{FF2B5EF4-FFF2-40B4-BE49-F238E27FC236}">
                <a16:creationId xmlns:a16="http://schemas.microsoft.com/office/drawing/2014/main" id="{04C8A6F8-7264-4FA8-BC68-3922CF2DE685}"/>
              </a:ext>
            </a:extLst>
          </p:cNvPr>
          <p:cNvPicPr>
            <a:picLocks noChangeAspect="1"/>
          </p:cNvPicPr>
          <p:nvPr/>
        </p:nvPicPr>
        <p:blipFill>
          <a:blip r:embed="rId4"/>
          <a:stretch>
            <a:fillRect/>
          </a:stretch>
        </p:blipFill>
        <p:spPr>
          <a:xfrm>
            <a:off x="3913302" y="1225485"/>
            <a:ext cx="5086860" cy="5105466"/>
          </a:xfrm>
          <a:prstGeom prst="rect">
            <a:avLst/>
          </a:prstGeom>
        </p:spPr>
      </p:pic>
      <p:graphicFrame>
        <p:nvGraphicFramePr>
          <p:cNvPr id="6" name="Object 5">
            <a:extLst>
              <a:ext uri="{FF2B5EF4-FFF2-40B4-BE49-F238E27FC236}">
                <a16:creationId xmlns:a16="http://schemas.microsoft.com/office/drawing/2014/main" id="{E0822D5D-9783-4A95-848A-67149177FD12}"/>
              </a:ext>
            </a:extLst>
          </p:cNvPr>
          <p:cNvGraphicFramePr>
            <a:graphicFrameLocks noChangeAspect="1"/>
          </p:cNvGraphicFramePr>
          <p:nvPr>
            <p:extLst>
              <p:ext uri="{D42A27DB-BD31-4B8C-83A1-F6EECF244321}">
                <p14:modId xmlns:p14="http://schemas.microsoft.com/office/powerpoint/2010/main" val="2290171543"/>
              </p:ext>
            </p:extLst>
          </p:nvPr>
        </p:nvGraphicFramePr>
        <p:xfrm>
          <a:off x="760102" y="2089095"/>
          <a:ext cx="2501900" cy="2400300"/>
        </p:xfrm>
        <a:graphic>
          <a:graphicData uri="http://schemas.openxmlformats.org/presentationml/2006/ole">
            <mc:AlternateContent xmlns:mc="http://schemas.openxmlformats.org/markup-compatibility/2006">
              <mc:Choice xmlns:v="urn:schemas-microsoft-com:vml" Requires="v">
                <p:oleObj spid="_x0000_s91529" name="Equation" r:id="rId5" imgW="2501640" imgH="2400120" progId="Equation.DSMT4">
                  <p:embed/>
                </p:oleObj>
              </mc:Choice>
              <mc:Fallback>
                <p:oleObj name="Equation" r:id="rId5" imgW="2501640" imgH="2400120" progId="Equation.DSMT4">
                  <p:embed/>
                  <p:pic>
                    <p:nvPicPr>
                      <p:cNvPr id="0" name=""/>
                      <p:cNvPicPr/>
                      <p:nvPr/>
                    </p:nvPicPr>
                    <p:blipFill>
                      <a:blip r:embed="rId6"/>
                      <a:stretch>
                        <a:fillRect/>
                      </a:stretch>
                    </p:blipFill>
                    <p:spPr>
                      <a:xfrm>
                        <a:off x="760102" y="2089095"/>
                        <a:ext cx="2501900" cy="24003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5620B409-541A-45AB-A851-4D8B74D9BBA7}"/>
              </a:ext>
            </a:extLst>
          </p:cNvPr>
          <p:cNvGraphicFramePr>
            <a:graphicFrameLocks noChangeAspect="1"/>
          </p:cNvGraphicFramePr>
          <p:nvPr>
            <p:extLst>
              <p:ext uri="{D42A27DB-BD31-4B8C-83A1-F6EECF244321}">
                <p14:modId xmlns:p14="http://schemas.microsoft.com/office/powerpoint/2010/main" val="3373265376"/>
              </p:ext>
            </p:extLst>
          </p:nvPr>
        </p:nvGraphicFramePr>
        <p:xfrm>
          <a:off x="502501" y="5342158"/>
          <a:ext cx="3289300" cy="914400"/>
        </p:xfrm>
        <a:graphic>
          <a:graphicData uri="http://schemas.openxmlformats.org/presentationml/2006/ole">
            <mc:AlternateContent xmlns:mc="http://schemas.openxmlformats.org/markup-compatibility/2006">
              <mc:Choice xmlns:v="urn:schemas-microsoft-com:vml" Requires="v">
                <p:oleObj spid="_x0000_s91530" name="Equation" r:id="rId7" imgW="3288960" imgH="914400" progId="Equation.DSMT4">
                  <p:embed/>
                </p:oleObj>
              </mc:Choice>
              <mc:Fallback>
                <p:oleObj name="Equation" r:id="rId7" imgW="3288960" imgH="914400" progId="Equation.DSMT4">
                  <p:embed/>
                  <p:pic>
                    <p:nvPicPr>
                      <p:cNvPr id="0" name=""/>
                      <p:cNvPicPr/>
                      <p:nvPr/>
                    </p:nvPicPr>
                    <p:blipFill>
                      <a:blip r:embed="rId8"/>
                      <a:stretch>
                        <a:fillRect/>
                      </a:stretch>
                    </p:blipFill>
                    <p:spPr>
                      <a:xfrm>
                        <a:off x="502501" y="5342158"/>
                        <a:ext cx="3289300" cy="914400"/>
                      </a:xfrm>
                      <a:prstGeom prst="rect">
                        <a:avLst/>
                      </a:prstGeom>
                    </p:spPr>
                  </p:pic>
                </p:oleObj>
              </mc:Fallback>
            </mc:AlternateContent>
          </a:graphicData>
        </a:graphic>
      </p:graphicFrame>
    </p:spTree>
    <p:extLst>
      <p:ext uri="{BB962C8B-B14F-4D97-AF65-F5344CB8AC3E}">
        <p14:creationId xmlns:p14="http://schemas.microsoft.com/office/powerpoint/2010/main" val="284678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9" end="9"/>
                                            </p:txEl>
                                          </p:spTgt>
                                        </p:tgtEl>
                                        <p:attrNameLst>
                                          <p:attrName>style.visibility</p:attrName>
                                        </p:attrNameLst>
                                      </p:cBhvr>
                                      <p:to>
                                        <p:strVal val="visible"/>
                                      </p:to>
                                    </p:set>
                                    <p:animEffect transition="in" filter="fade">
                                      <p:cBhvr>
                                        <p:cTn id="15" dur="500"/>
                                        <p:tgtEl>
                                          <p:spTgt spid="315">
                                            <p:txEl>
                                              <p:pRg st="9" end="9"/>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38</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t>Classical Approach</a:t>
            </a:r>
          </a:p>
          <a:p>
            <a:r>
              <a:rPr lang="en-US" sz="2600" dirty="0">
                <a:latin typeface="Times New Roman" panose="02020603050405020304" pitchFamily="18" charset="0"/>
                <a:cs typeface="Times New Roman" panose="02020603050405020304" pitchFamily="18" charset="0"/>
              </a:rPr>
              <a:t>Because this is a two-tailed test, we determine the critical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-values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2 = 14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2 = 12 degrees of freedom to be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0.05/2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0.025</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2.179 and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0.05/2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0.025</a:t>
            </a:r>
            <a:r>
              <a:rPr lang="en-US" sz="2600" dirty="0">
                <a:latin typeface="Times New Roman" panose="02020603050405020304" pitchFamily="18" charset="0"/>
                <a:cs typeface="Times New Roman" panose="02020603050405020304" pitchFamily="18" charset="0"/>
              </a:rPr>
              <a:t> = 2.179.  The critical regions are displayed in the figure.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test statistic is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3.572.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We label this point in the</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figure.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11)</a:t>
            </a:r>
            <a:endParaRPr sz="2400" i="1" dirty="0"/>
          </a:p>
        </p:txBody>
      </p:sp>
      <p:pic>
        <p:nvPicPr>
          <p:cNvPr id="4" name="Picture 3" descr="A picture containing game, mirror, table&#10;&#10;Description automatically generated">
            <a:extLst>
              <a:ext uri="{FF2B5EF4-FFF2-40B4-BE49-F238E27FC236}">
                <a16:creationId xmlns:a16="http://schemas.microsoft.com/office/drawing/2014/main" id="{E64B843A-1F24-4752-882A-FC5D6962A564}"/>
              </a:ext>
            </a:extLst>
          </p:cNvPr>
          <p:cNvPicPr>
            <a:picLocks noChangeAspect="1"/>
          </p:cNvPicPr>
          <p:nvPr/>
        </p:nvPicPr>
        <p:blipFill>
          <a:blip r:embed="rId3"/>
          <a:stretch>
            <a:fillRect/>
          </a:stretch>
        </p:blipFill>
        <p:spPr>
          <a:xfrm>
            <a:off x="4417316" y="3730611"/>
            <a:ext cx="4433028" cy="2453374"/>
          </a:xfrm>
          <a:prstGeom prst="rect">
            <a:avLst/>
          </a:prstGeom>
        </p:spPr>
      </p:pic>
    </p:spTree>
    <p:extLst>
      <p:ext uri="{BB962C8B-B14F-4D97-AF65-F5344CB8AC3E}">
        <p14:creationId xmlns:p14="http://schemas.microsoft.com/office/powerpoint/2010/main" val="68678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39</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t>Classical Approach</a:t>
            </a:r>
          </a:p>
          <a:p>
            <a:r>
              <a:rPr lang="en-US" sz="2600" dirty="0">
                <a:latin typeface="Times New Roman" panose="02020603050405020304" pitchFamily="18" charset="0"/>
                <a:cs typeface="Times New Roman" panose="02020603050405020304" pitchFamily="18" charset="0"/>
              </a:rPr>
              <a:t>Because the test statistic is greater than the critical value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0.025</a:t>
            </a:r>
            <a:r>
              <a:rPr lang="en-US" sz="2600" dirty="0">
                <a:latin typeface="Times New Roman" panose="02020603050405020304" pitchFamily="18" charset="0"/>
                <a:cs typeface="Times New Roman" panose="02020603050405020304" pitchFamily="18" charset="0"/>
              </a:rPr>
              <a:t> = 2.179, we reject the null hypothesis.</a:t>
            </a:r>
          </a:p>
          <a:p>
            <a:endParaRPr lang="en-US" sz="2600" b="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that a linear relation exists between age and total cholesterol.</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(7 of 11)</a:t>
            </a:r>
            <a:endParaRPr sz="2400" i="1" dirty="0"/>
          </a:p>
        </p:txBody>
      </p:sp>
    </p:spTree>
    <p:extLst>
      <p:ext uri="{BB962C8B-B14F-4D97-AF65-F5344CB8AC3E}">
        <p14:creationId xmlns:p14="http://schemas.microsoft.com/office/powerpoint/2010/main" val="1225580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40</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t>P</a:t>
            </a:r>
            <a:r>
              <a:rPr lang="en-US" sz="2600" b="1" dirty="0"/>
              <a:t>-Value Approach</a:t>
            </a:r>
          </a:p>
          <a:p>
            <a:r>
              <a:rPr lang="en-US" sz="2600" dirty="0">
                <a:latin typeface="Times New Roman" panose="02020603050405020304" pitchFamily="18" charset="0"/>
                <a:cs typeface="Times New Roman" panose="02020603050405020304" pitchFamily="18" charset="0"/>
              </a:rPr>
              <a:t>From Step 3 of the Classical Approach, we have that the test statistic is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3.572.</a:t>
            </a:r>
          </a:p>
          <a:p>
            <a:r>
              <a:rPr lang="en-US" sz="2600" dirty="0">
                <a:latin typeface="Times New Roman" panose="02020603050405020304" pitchFamily="18" charset="0"/>
                <a:cs typeface="Times New Roman" panose="02020603050405020304" pitchFamily="18" charset="0"/>
              </a:rPr>
              <a:t>Because this is a two-tailed test,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the sum of the area under the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-distribution with 14 – 2 = 12 degrees of freedom to the left of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–3.572, and to the right of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3.572, as shown in the figure. </a:t>
            </a:r>
          </a:p>
          <a:p>
            <a:r>
              <a:rPr lang="en-US" sz="2600" dirty="0">
                <a:latin typeface="Times New Roman" panose="02020603050405020304" pitchFamily="18" charset="0"/>
                <a:cs typeface="Times New Roman" panose="02020603050405020304" pitchFamily="18" charset="0"/>
              </a:rPr>
              <a:t>That is,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a:t>
            </a:r>
            <a:r>
              <a:rPr lang="en-US" sz="2600" i="1" dirty="0">
                <a:latin typeface="Times New Roman" panose="02020603050405020304" pitchFamily="18" charset="0"/>
                <a:cs typeface="Times New Roman" panose="02020603050405020304" pitchFamily="18" charset="0"/>
              </a:rPr>
              <a:t>t &lt;</a:t>
            </a:r>
            <a:r>
              <a:rPr lang="en-US" sz="2600" dirty="0">
                <a:latin typeface="Times New Roman" panose="02020603050405020304" pitchFamily="18" charset="0"/>
                <a:cs typeface="Times New Roman" panose="02020603050405020304" pitchFamily="18" charset="0"/>
              </a:rPr>
              <a:t> – 3.572)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a:t>
            </a:r>
            <a:r>
              <a:rPr lang="en-US" sz="2600" i="1" dirty="0">
                <a:latin typeface="Times New Roman" panose="02020603050405020304" pitchFamily="18" charset="0"/>
                <a:cs typeface="Times New Roman" panose="02020603050405020304" pitchFamily="18" charset="0"/>
              </a:rPr>
              <a:t>t &gt;</a:t>
            </a:r>
            <a:r>
              <a:rPr lang="en-US" sz="2600" dirty="0">
                <a:latin typeface="Times New Roman" panose="02020603050405020304" pitchFamily="18" charset="0"/>
                <a:cs typeface="Times New Roman" panose="02020603050405020304" pitchFamily="18" charset="0"/>
              </a:rPr>
              <a:t> 3.572) = 2</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a:t>
            </a:r>
            <a:r>
              <a:rPr lang="en-US" sz="2600" i="1" dirty="0">
                <a:latin typeface="Times New Roman" panose="02020603050405020304" pitchFamily="18" charset="0"/>
                <a:cs typeface="Times New Roman" panose="02020603050405020304" pitchFamily="18" charset="0"/>
              </a:rPr>
              <a:t>t &gt;</a:t>
            </a:r>
            <a:r>
              <a:rPr lang="en-US" sz="2600" dirty="0">
                <a:latin typeface="Times New Roman" panose="02020603050405020304" pitchFamily="18" charset="0"/>
                <a:cs typeface="Times New Roman" panose="02020603050405020304" pitchFamily="18" charset="0"/>
              </a:rPr>
              <a:t> 3.572),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with 12 degrees of freedom.</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(8 of 11)</a:t>
            </a:r>
            <a:endParaRPr sz="2400" i="1" dirty="0"/>
          </a:p>
        </p:txBody>
      </p:sp>
      <p:pic>
        <p:nvPicPr>
          <p:cNvPr id="3" name="Picture 2" descr="A picture containing game&#10;&#10;Description automatically generated">
            <a:extLst>
              <a:ext uri="{FF2B5EF4-FFF2-40B4-BE49-F238E27FC236}">
                <a16:creationId xmlns:a16="http://schemas.microsoft.com/office/drawing/2014/main" id="{9CBED14E-918D-4989-A82F-F4503E842310}"/>
              </a:ext>
            </a:extLst>
          </p:cNvPr>
          <p:cNvPicPr>
            <a:picLocks noChangeAspect="1"/>
          </p:cNvPicPr>
          <p:nvPr/>
        </p:nvPicPr>
        <p:blipFill>
          <a:blip r:embed="rId3"/>
          <a:stretch>
            <a:fillRect/>
          </a:stretch>
        </p:blipFill>
        <p:spPr>
          <a:xfrm>
            <a:off x="4999298" y="3954685"/>
            <a:ext cx="3803912" cy="2263144"/>
          </a:xfrm>
          <a:prstGeom prst="rect">
            <a:avLst/>
          </a:prstGeom>
        </p:spPr>
      </p:pic>
    </p:spTree>
    <p:extLst>
      <p:ext uri="{BB962C8B-B14F-4D97-AF65-F5344CB8AC3E}">
        <p14:creationId xmlns:p14="http://schemas.microsoft.com/office/powerpoint/2010/main" val="406793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3" end="3"/>
                                            </p:txEl>
                                          </p:spTgt>
                                        </p:tgtEl>
                                        <p:attrNameLst>
                                          <p:attrName>style.visibility</p:attrName>
                                        </p:attrNameLst>
                                      </p:cBhvr>
                                      <p:to>
                                        <p:strVal val="visible"/>
                                      </p:to>
                                    </p:set>
                                    <p:animEffect transition="in" filter="fade">
                                      <p:cBhvr>
                                        <p:cTn id="15"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41</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t>P</a:t>
            </a:r>
            <a:r>
              <a:rPr lang="en-US" sz="2600" b="1" dirty="0"/>
              <a:t>-Value Approach</a:t>
            </a:r>
          </a:p>
          <a:p>
            <a:r>
              <a:rPr lang="en-US" sz="2600" dirty="0">
                <a:latin typeface="Times New Roman" panose="02020603050405020304" pitchFamily="18" charset="0"/>
                <a:cs typeface="Times New Roman" panose="02020603050405020304" pitchFamily="18" charset="0"/>
              </a:rPr>
              <a:t>Using Table VII, we find the row that corresponds to 12 degrees of freedom. The value 3.572 lies between 3.428 and 3.930. The area under the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-distribution with 12 degrees of freedom to the right of 3.428 is 0.0025. The area under the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-distribution with 12 degrees of freedom to the right of 3.930 is 0.001.</a:t>
            </a:r>
          </a:p>
          <a:p>
            <a:r>
              <a:rPr lang="en-US" sz="2600" dirty="0">
                <a:latin typeface="Times New Roman" panose="02020603050405020304" pitchFamily="18" charset="0"/>
                <a:cs typeface="Times New Roman" panose="02020603050405020304" pitchFamily="18" charset="0"/>
              </a:rPr>
              <a:t>Because 3.572 is between 3.428 and 3.930,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a:t>
            </a:r>
          </a:p>
          <a:p>
            <a:r>
              <a:rPr lang="en-US" sz="2600" dirty="0">
                <a:latin typeface="Times New Roman" panose="02020603050405020304" pitchFamily="18" charset="0"/>
                <a:cs typeface="Times New Roman" panose="02020603050405020304" pitchFamily="18" charset="0"/>
              </a:rPr>
              <a:t>is between 2(0.001) and 2(0.0025). So,</a:t>
            </a:r>
          </a:p>
          <a:p>
            <a:r>
              <a:rPr lang="en-US" sz="2600" dirty="0">
                <a:latin typeface="Times New Roman" panose="02020603050405020304" pitchFamily="18" charset="0"/>
                <a:cs typeface="Times New Roman" panose="02020603050405020304" pitchFamily="18" charset="0"/>
              </a:rPr>
              <a:t>		          0.002 &lt;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0.005</a:t>
            </a:r>
          </a:p>
          <a:p>
            <a:endParaRPr lang="en-US" sz="2600" b="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Using Technology Step 3 </a:t>
            </a:r>
            <a:r>
              <a:rPr lang="en-US" sz="2600" dirty="0">
                <a:latin typeface="Times New Roman" panose="02020603050405020304" pitchFamily="18" charset="0"/>
                <a:cs typeface="Times New Roman" panose="02020603050405020304" pitchFamily="18" charset="0"/>
              </a:rPr>
              <a:t>Using Minitab, we find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0.004. See the figure on the next slide.</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(9 of 11)</a:t>
            </a:r>
            <a:endParaRPr sz="2400" i="1" dirty="0"/>
          </a:p>
        </p:txBody>
      </p:sp>
    </p:spTree>
    <p:extLst>
      <p:ext uri="{BB962C8B-B14F-4D97-AF65-F5344CB8AC3E}">
        <p14:creationId xmlns:p14="http://schemas.microsoft.com/office/powerpoint/2010/main" val="1756635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3" end="3"/>
                                            </p:txEl>
                                          </p:spTgt>
                                        </p:tgtEl>
                                        <p:attrNameLst>
                                          <p:attrName>style.visibility</p:attrName>
                                        </p:attrNameLst>
                                      </p:cBhvr>
                                      <p:to>
                                        <p:strVal val="visible"/>
                                      </p:to>
                                    </p:set>
                                    <p:animEffect transition="in" filter="fade">
                                      <p:cBhvr>
                                        <p:cTn id="10" dur="500"/>
                                        <p:tgtEl>
                                          <p:spTgt spid="31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15">
                                            <p:txEl>
                                              <p:pRg st="4" end="4"/>
                                            </p:txEl>
                                          </p:spTgt>
                                        </p:tgtEl>
                                        <p:attrNameLst>
                                          <p:attrName>style.visibility</p:attrName>
                                        </p:attrNameLst>
                                      </p:cBhvr>
                                      <p:to>
                                        <p:strVal val="visible"/>
                                      </p:to>
                                    </p:set>
                                    <p:animEffect transition="in" filter="fade">
                                      <p:cBhvr>
                                        <p:cTn id="13" dur="500"/>
                                        <p:tgtEl>
                                          <p:spTgt spid="31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5">
                                            <p:txEl>
                                              <p:pRg st="6" end="6"/>
                                            </p:txEl>
                                          </p:spTgt>
                                        </p:tgtEl>
                                        <p:attrNameLst>
                                          <p:attrName>style.visibility</p:attrName>
                                        </p:attrNameLst>
                                      </p:cBhvr>
                                      <p:to>
                                        <p:strVal val="visible"/>
                                      </p:to>
                                    </p:set>
                                    <p:animEffect transition="in" filter="fade">
                                      <p:cBhvr>
                                        <p:cTn id="18" dur="500"/>
                                        <p:tgtEl>
                                          <p:spTgt spid="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42</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t>P</a:t>
            </a:r>
            <a:r>
              <a:rPr lang="en-US" sz="2600" b="1" dirty="0"/>
              <a:t>-Value Approach</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(10 of 11)</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4AEF8703-E779-48D9-87D1-C806827D9AF3}"/>
              </a:ext>
            </a:extLst>
          </p:cNvPr>
          <p:cNvPicPr>
            <a:picLocks noChangeAspect="1"/>
          </p:cNvPicPr>
          <p:nvPr/>
        </p:nvPicPr>
        <p:blipFill>
          <a:blip r:embed="rId3"/>
          <a:stretch>
            <a:fillRect/>
          </a:stretch>
        </p:blipFill>
        <p:spPr>
          <a:xfrm>
            <a:off x="4060692" y="1311177"/>
            <a:ext cx="4267530" cy="5019773"/>
          </a:xfrm>
          <a:prstGeom prst="rect">
            <a:avLst/>
          </a:prstGeom>
        </p:spPr>
      </p:pic>
    </p:spTree>
    <p:extLst>
      <p:ext uri="{BB962C8B-B14F-4D97-AF65-F5344CB8AC3E}">
        <p14:creationId xmlns:p14="http://schemas.microsoft.com/office/powerpoint/2010/main" val="153988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43</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of 0.004 suggests that about 4 samples in 1000 would yield a slope estimate that is as extreme as or more extreme than the one obtained if the null hypothesis of no linear relation were true. 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the level of significance,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we reject the null hypothesis.</a:t>
            </a:r>
          </a:p>
          <a:p>
            <a:endParaRPr lang="en-US" sz="2600" b="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that a linear relation exists between age and total cholesterol.</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for a Linear Relation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(11 of 11)</a:t>
            </a:r>
            <a:endParaRPr sz="2400" i="1" dirty="0"/>
          </a:p>
        </p:txBody>
      </p:sp>
    </p:spTree>
    <p:extLst>
      <p:ext uri="{BB962C8B-B14F-4D97-AF65-F5344CB8AC3E}">
        <p14:creationId xmlns:p14="http://schemas.microsoft.com/office/powerpoint/2010/main" val="569150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5</a:t>
            </a:r>
            <a:endParaRPr/>
          </a:p>
        </p:txBody>
      </p:sp>
      <p:sp>
        <p:nvSpPr>
          <p:cNvPr id="418" name="Google Shape;418;p59"/>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Construct a Confidence Interval about the Slope of the Least-Squares Regression Model</a:t>
            </a:r>
            <a:endParaRPr dirty="0"/>
          </a:p>
        </p:txBody>
      </p:sp>
      <p:sp>
        <p:nvSpPr>
          <p:cNvPr id="419" name="Google Shape;419;p5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44</a:t>
            </a:fld>
            <a:endParaRPr/>
          </a:p>
        </p:txBody>
      </p:sp>
    </p:spTree>
    <p:extLst>
      <p:ext uri="{BB962C8B-B14F-4D97-AF65-F5344CB8AC3E}">
        <p14:creationId xmlns:p14="http://schemas.microsoft.com/office/powerpoint/2010/main" val="290841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10" name="Rectangle 9">
            <a:extLst>
              <a:ext uri="{FF2B5EF4-FFF2-40B4-BE49-F238E27FC236}">
                <a16:creationId xmlns:a16="http://schemas.microsoft.com/office/drawing/2014/main" id="{E500F3DF-77D5-45EE-B248-98E35C8486CD}"/>
              </a:ext>
            </a:extLst>
          </p:cNvPr>
          <p:cNvSpPr/>
          <p:nvPr/>
        </p:nvSpPr>
        <p:spPr>
          <a:xfrm>
            <a:off x="275762" y="143759"/>
            <a:ext cx="8487238" cy="618084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Google Shape;424;p60"/>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425" name="Google Shape;425;p60"/>
          <p:cNvSpPr txBox="1"/>
          <p:nvPr/>
        </p:nvSpPr>
        <p:spPr>
          <a:xfrm>
            <a:off x="381000" y="143759"/>
            <a:ext cx="8382000" cy="5486400"/>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Confidence Intervals for the Slope of the      Regression Line</a:t>
            </a:r>
            <a:endParaRPr sz="3200" b="1" i="0" u="none" dirty="0">
              <a:solidFill>
                <a:schemeClr val="tx1"/>
              </a:solidFill>
              <a:latin typeface="+mn-lt"/>
              <a:ea typeface="Times New Roman"/>
              <a:cs typeface="Times New Roman"/>
              <a:sym typeface="Times New Roman"/>
            </a:endParaRPr>
          </a:p>
          <a:p>
            <a:pPr marR="0" lvl="0" algn="l" rtl="0">
              <a:lnSpc>
                <a:spcPct val="100000"/>
              </a:lnSpc>
              <a:spcBef>
                <a:spcPts val="0"/>
              </a:spcBef>
              <a:spcAft>
                <a:spcPts val="0"/>
              </a:spcAft>
              <a:buClr>
                <a:schemeClr val="dk1"/>
              </a:buClr>
              <a:buSzPts val="2800"/>
              <a:buFont typeface="Times New Roman"/>
              <a:buNone/>
            </a:pPr>
            <a:r>
              <a:rPr lang="en-US" sz="2600" dirty="0">
                <a:solidFill>
                  <a:schemeClr val="dk1"/>
                </a:solidFill>
                <a:latin typeface="Times New Roman"/>
                <a:ea typeface="Times New Roman"/>
                <a:cs typeface="Times New Roman"/>
                <a:sym typeface="Times New Roman"/>
              </a:rPr>
              <a:t>A                       </a:t>
            </a:r>
            <a:r>
              <a:rPr lang="en-US" sz="2600" b="0" i="0" u="none" dirty="0">
                <a:solidFill>
                  <a:schemeClr val="dk1"/>
                </a:solidFill>
                <a:latin typeface="Times New Roman"/>
                <a:ea typeface="Times New Roman"/>
                <a:cs typeface="Times New Roman"/>
                <a:sym typeface="Times New Roman"/>
              </a:rPr>
              <a:t>confidence interval for the slope of the true regression line, </a:t>
            </a:r>
            <a:r>
              <a:rPr lang="en-US" sz="2600" b="0" i="1" u="none" dirty="0">
                <a:solidFill>
                  <a:schemeClr val="dk1"/>
                </a:solidFill>
                <a:latin typeface="Times New Roman"/>
                <a:ea typeface="Times New Roman"/>
                <a:cs typeface="Times New Roman"/>
                <a:sym typeface="Times New Roman"/>
              </a:rPr>
              <a:t>β</a:t>
            </a:r>
            <a:r>
              <a:rPr lang="en-US" sz="2600" b="0" i="0" u="none" baseline="-25000" dirty="0">
                <a:solidFill>
                  <a:schemeClr val="dk1"/>
                </a:solidFill>
                <a:latin typeface="Times New Roman"/>
                <a:ea typeface="Times New Roman"/>
                <a:cs typeface="Times New Roman"/>
                <a:sym typeface="Times New Roman"/>
              </a:rPr>
              <a:t>1</a:t>
            </a:r>
            <a:r>
              <a:rPr lang="en-US" sz="2600" b="0" i="0" u="none" dirty="0">
                <a:solidFill>
                  <a:schemeClr val="dk1"/>
                </a:solidFill>
                <a:latin typeface="Times New Roman"/>
                <a:ea typeface="Times New Roman"/>
                <a:cs typeface="Times New Roman"/>
                <a:sym typeface="Times New Roman"/>
              </a:rPr>
              <a:t>, is given by the following formulas:</a:t>
            </a:r>
            <a:endParaRPr sz="2600" b="1" i="0" u="none" baseline="-25000"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Times New Roman"/>
              <a:buNone/>
            </a:pPr>
            <a:r>
              <a:rPr lang="en-US" sz="2600" b="1" i="0" u="none" baseline="-25000" dirty="0">
                <a:solidFill>
                  <a:schemeClr val="dk1"/>
                </a:solidFill>
                <a:latin typeface="Times New Roman"/>
                <a:ea typeface="Times New Roman"/>
                <a:cs typeface="Times New Roman"/>
                <a:sym typeface="Times New Roman"/>
              </a:rPr>
              <a:t>	</a:t>
            </a:r>
          </a:p>
          <a:p>
            <a:pPr marL="342900" marR="0" lvl="0" indent="-342900" algn="l" rtl="0">
              <a:lnSpc>
                <a:spcPct val="100000"/>
              </a:lnSpc>
              <a:spcBef>
                <a:spcPts val="0"/>
              </a:spcBef>
              <a:spcAft>
                <a:spcPts val="0"/>
              </a:spcAft>
              <a:buClr>
                <a:schemeClr val="dk1"/>
              </a:buClr>
              <a:buSzPts val="2800"/>
              <a:buFont typeface="Times New Roman"/>
              <a:buNone/>
            </a:pPr>
            <a:r>
              <a:rPr lang="en-US" sz="2600" b="1" baseline="-25000" dirty="0">
                <a:solidFill>
                  <a:schemeClr val="dk1"/>
                </a:solidFill>
                <a:latin typeface="Times New Roman"/>
                <a:ea typeface="Times New Roman"/>
                <a:cs typeface="Times New Roman"/>
                <a:sym typeface="Times New Roman"/>
              </a:rPr>
              <a:t>      </a:t>
            </a:r>
            <a:r>
              <a:rPr lang="en-US" sz="2600" b="0" i="0" u="none" dirty="0">
                <a:solidFill>
                  <a:schemeClr val="dk1"/>
                </a:solidFill>
                <a:latin typeface="Times New Roman"/>
                <a:ea typeface="Times New Roman"/>
                <a:cs typeface="Times New Roman"/>
                <a:sym typeface="Times New Roman"/>
              </a:rPr>
              <a:t>Lower bound:</a:t>
            </a:r>
            <a:endParaRPr sz="26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Arial"/>
              <a:buNone/>
            </a:pPr>
            <a:endParaRPr lang="en-US" sz="26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Arial"/>
              <a:buNone/>
            </a:pPr>
            <a:endParaRPr sz="26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Times New Roman"/>
              <a:buNone/>
            </a:pPr>
            <a:r>
              <a:rPr lang="en-US" sz="2600" b="0" i="0" u="none" dirty="0">
                <a:solidFill>
                  <a:schemeClr val="dk1"/>
                </a:solidFill>
                <a:latin typeface="Times New Roman"/>
                <a:ea typeface="Times New Roman"/>
                <a:cs typeface="Times New Roman"/>
                <a:sym typeface="Times New Roman"/>
              </a:rPr>
              <a:t>	Upper bound:</a:t>
            </a:r>
            <a:endParaRPr sz="2600" dirty="0"/>
          </a:p>
          <a:p>
            <a:pPr marL="342900" marR="0" lvl="0" indent="-342900" algn="l" rtl="0">
              <a:lnSpc>
                <a:spcPct val="100000"/>
              </a:lnSpc>
              <a:spcBef>
                <a:spcPts val="0"/>
              </a:spcBef>
              <a:spcAft>
                <a:spcPts val="0"/>
              </a:spcAft>
              <a:buClr>
                <a:schemeClr val="dk1"/>
              </a:buClr>
              <a:buSzPts val="2800"/>
              <a:buFont typeface="Arial"/>
              <a:buNone/>
            </a:pPr>
            <a:endParaRPr sz="26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Times New Roman"/>
              <a:buNone/>
            </a:pPr>
            <a:endParaRPr lang="en-US" sz="8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Times New Roman"/>
              <a:buNone/>
            </a:pPr>
            <a:r>
              <a:rPr lang="en-US" sz="2600" b="0" i="0" u="none" dirty="0">
                <a:solidFill>
                  <a:schemeClr val="dk1"/>
                </a:solidFill>
                <a:latin typeface="Times New Roman"/>
                <a:ea typeface="Times New Roman"/>
                <a:cs typeface="Times New Roman"/>
                <a:sym typeface="Times New Roman"/>
              </a:rPr>
              <a:t>Here, </a:t>
            </a:r>
            <a:r>
              <a:rPr lang="en-US" sz="2600" b="0" i="1" u="none" dirty="0">
                <a:solidFill>
                  <a:schemeClr val="dk1"/>
                </a:solidFill>
                <a:latin typeface="Times New Roman"/>
                <a:ea typeface="Times New Roman"/>
                <a:cs typeface="Times New Roman"/>
                <a:sym typeface="Times New Roman"/>
              </a:rPr>
              <a:t>t</a:t>
            </a:r>
            <a:r>
              <a:rPr lang="en-US" sz="2600" b="0" i="1" u="none" baseline="-25000" dirty="0">
                <a:solidFill>
                  <a:schemeClr val="dk1"/>
                </a:solidFill>
                <a:latin typeface="Times New Roman"/>
                <a:ea typeface="Times New Roman"/>
                <a:cs typeface="Times New Roman"/>
                <a:sym typeface="Times New Roman"/>
              </a:rPr>
              <a:t>a</a:t>
            </a:r>
            <a:r>
              <a:rPr lang="en-US" sz="2600" b="0" i="0" u="none" baseline="-25000" dirty="0">
                <a:solidFill>
                  <a:schemeClr val="dk1"/>
                </a:solidFill>
                <a:latin typeface="Times New Roman"/>
                <a:ea typeface="Times New Roman"/>
                <a:cs typeface="Times New Roman"/>
                <a:sym typeface="Times New Roman"/>
              </a:rPr>
              <a:t>/2</a:t>
            </a:r>
            <a:r>
              <a:rPr lang="en-US" sz="2600" b="0" i="0" u="none" dirty="0">
                <a:solidFill>
                  <a:schemeClr val="dk1"/>
                </a:solidFill>
                <a:latin typeface="Times New Roman"/>
                <a:ea typeface="Times New Roman"/>
                <a:cs typeface="Times New Roman"/>
                <a:sym typeface="Times New Roman"/>
              </a:rPr>
              <a:t> is computed using </a:t>
            </a:r>
            <a:r>
              <a:rPr lang="en-US" sz="2600" b="0" i="1" u="none" dirty="0">
                <a:solidFill>
                  <a:schemeClr val="dk1"/>
                </a:solidFill>
                <a:latin typeface="Times New Roman"/>
                <a:ea typeface="Times New Roman"/>
                <a:cs typeface="Times New Roman"/>
                <a:sym typeface="Times New Roman"/>
              </a:rPr>
              <a:t>n</a:t>
            </a:r>
            <a:r>
              <a:rPr lang="en-US" sz="2600" b="0" i="0" u="none" dirty="0">
                <a:solidFill>
                  <a:schemeClr val="dk1"/>
                </a:solidFill>
                <a:latin typeface="Times New Roman"/>
                <a:ea typeface="Times New Roman"/>
                <a:cs typeface="Times New Roman"/>
                <a:sym typeface="Times New Roman"/>
              </a:rPr>
              <a:t> – 2 degrees of freedom.</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Note: </a:t>
            </a:r>
            <a:r>
              <a:rPr lang="en-US" sz="2400" dirty="0">
                <a:latin typeface="Times New Roman" panose="02020603050405020304" pitchFamily="18" charset="0"/>
                <a:cs typeface="Times New Roman" panose="02020603050405020304" pitchFamily="18" charset="0"/>
              </a:rPr>
              <a:t>This interval can be computed only if the data are randomly obtained, the residuals are normally distributed, and there is constant error variance.</a:t>
            </a:r>
            <a:r>
              <a:rPr lang="en-US" sz="24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p:txBody>
      </p:sp>
      <p:sp>
        <p:nvSpPr>
          <p:cNvPr id="426" name="Google Shape;426;p6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45</a:t>
            </a:fld>
            <a:endParaRPr/>
          </a:p>
        </p:txBody>
      </p:sp>
      <p:graphicFrame>
        <p:nvGraphicFramePr>
          <p:cNvPr id="2" name="Object 1">
            <a:extLst>
              <a:ext uri="{FF2B5EF4-FFF2-40B4-BE49-F238E27FC236}">
                <a16:creationId xmlns:a16="http://schemas.microsoft.com/office/drawing/2014/main" id="{4CEA7B1A-1309-4C9F-8A73-7B298BA32B43}"/>
              </a:ext>
            </a:extLst>
          </p:cNvPr>
          <p:cNvGraphicFramePr>
            <a:graphicFrameLocks noChangeAspect="1"/>
          </p:cNvGraphicFramePr>
          <p:nvPr>
            <p:extLst>
              <p:ext uri="{D42A27DB-BD31-4B8C-83A1-F6EECF244321}">
                <p14:modId xmlns:p14="http://schemas.microsoft.com/office/powerpoint/2010/main" val="3859569991"/>
              </p:ext>
            </p:extLst>
          </p:nvPr>
        </p:nvGraphicFramePr>
        <p:xfrm>
          <a:off x="761886" y="1227841"/>
          <a:ext cx="1790700" cy="368300"/>
        </p:xfrm>
        <a:graphic>
          <a:graphicData uri="http://schemas.openxmlformats.org/presentationml/2006/ole">
            <mc:AlternateContent xmlns:mc="http://schemas.openxmlformats.org/markup-compatibility/2006">
              <mc:Choice xmlns:v="urn:schemas-microsoft-com:vml" Requires="v">
                <p:oleObj spid="_x0000_s92714" name="Equation" r:id="rId4" imgW="1790640" imgH="368280" progId="Equation.DSMT4">
                  <p:embed/>
                </p:oleObj>
              </mc:Choice>
              <mc:Fallback>
                <p:oleObj name="Equation" r:id="rId4" imgW="1790640" imgH="368280" progId="Equation.DSMT4">
                  <p:embed/>
                  <p:pic>
                    <p:nvPicPr>
                      <p:cNvPr id="0" name=""/>
                      <p:cNvPicPr/>
                      <p:nvPr/>
                    </p:nvPicPr>
                    <p:blipFill>
                      <a:blip r:embed="rId5"/>
                      <a:stretch>
                        <a:fillRect/>
                      </a:stretch>
                    </p:blipFill>
                    <p:spPr>
                      <a:xfrm>
                        <a:off x="761886" y="1227841"/>
                        <a:ext cx="1790700" cy="3683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AFC8E62-E951-4F69-80F6-DF45B75F186B}"/>
              </a:ext>
            </a:extLst>
          </p:cNvPr>
          <p:cNvGraphicFramePr>
            <a:graphicFrameLocks noChangeAspect="1"/>
          </p:cNvGraphicFramePr>
          <p:nvPr>
            <p:extLst>
              <p:ext uri="{D42A27DB-BD31-4B8C-83A1-F6EECF244321}">
                <p14:modId xmlns:p14="http://schemas.microsoft.com/office/powerpoint/2010/main" val="1766266691"/>
              </p:ext>
            </p:extLst>
          </p:nvPr>
        </p:nvGraphicFramePr>
        <p:xfrm>
          <a:off x="3484432" y="2052653"/>
          <a:ext cx="2984500" cy="1054100"/>
        </p:xfrm>
        <a:graphic>
          <a:graphicData uri="http://schemas.openxmlformats.org/presentationml/2006/ole">
            <mc:AlternateContent xmlns:mc="http://schemas.openxmlformats.org/markup-compatibility/2006">
              <mc:Choice xmlns:v="urn:schemas-microsoft-com:vml" Requires="v">
                <p:oleObj spid="_x0000_s92715" name="Equation" r:id="rId6" imgW="2984400" imgH="1054080" progId="Equation.DSMT4">
                  <p:embed/>
                </p:oleObj>
              </mc:Choice>
              <mc:Fallback>
                <p:oleObj name="Equation" r:id="rId6" imgW="2984400" imgH="1054080" progId="Equation.DSMT4">
                  <p:embed/>
                  <p:pic>
                    <p:nvPicPr>
                      <p:cNvPr id="0" name=""/>
                      <p:cNvPicPr/>
                      <p:nvPr/>
                    </p:nvPicPr>
                    <p:blipFill>
                      <a:blip r:embed="rId7"/>
                      <a:stretch>
                        <a:fillRect/>
                      </a:stretch>
                    </p:blipFill>
                    <p:spPr>
                      <a:xfrm>
                        <a:off x="3484432" y="2052653"/>
                        <a:ext cx="2984500" cy="10541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6F18C47E-BEE8-40D8-B523-9B2204A1EF53}"/>
              </a:ext>
            </a:extLst>
          </p:cNvPr>
          <p:cNvGraphicFramePr>
            <a:graphicFrameLocks noChangeAspect="1"/>
          </p:cNvGraphicFramePr>
          <p:nvPr>
            <p:extLst>
              <p:ext uri="{D42A27DB-BD31-4B8C-83A1-F6EECF244321}">
                <p14:modId xmlns:p14="http://schemas.microsoft.com/office/powerpoint/2010/main" val="3514906437"/>
              </p:ext>
            </p:extLst>
          </p:nvPr>
        </p:nvGraphicFramePr>
        <p:xfrm>
          <a:off x="3484432" y="3238876"/>
          <a:ext cx="2984500" cy="1054100"/>
        </p:xfrm>
        <a:graphic>
          <a:graphicData uri="http://schemas.openxmlformats.org/presentationml/2006/ole">
            <mc:AlternateContent xmlns:mc="http://schemas.openxmlformats.org/markup-compatibility/2006">
              <mc:Choice xmlns:v="urn:schemas-microsoft-com:vml" Requires="v">
                <p:oleObj spid="_x0000_s92716" name="Equation" r:id="rId8" imgW="2984400" imgH="1054080" progId="Equation.DSMT4">
                  <p:embed/>
                </p:oleObj>
              </mc:Choice>
              <mc:Fallback>
                <p:oleObj name="Equation" r:id="rId8" imgW="2984400" imgH="1054080" progId="Equation.DSMT4">
                  <p:embed/>
                  <p:pic>
                    <p:nvPicPr>
                      <p:cNvPr id="0" name=""/>
                      <p:cNvPicPr/>
                      <p:nvPr/>
                    </p:nvPicPr>
                    <p:blipFill>
                      <a:blip r:embed="rId9"/>
                      <a:stretch>
                        <a:fillRect/>
                      </a:stretch>
                    </p:blipFill>
                    <p:spPr>
                      <a:xfrm>
                        <a:off x="3484432" y="3238876"/>
                        <a:ext cx="2984500" cy="1054100"/>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9034B766-DD75-4B83-A957-FAA0F625845D}"/>
              </a:ext>
            </a:extLst>
          </p:cNvPr>
          <p:cNvSpPr txBox="1"/>
          <p:nvPr/>
        </p:nvSpPr>
        <p:spPr>
          <a:xfrm>
            <a:off x="7006366" y="3086501"/>
            <a:ext cx="533400"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29722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5">
                                            <p:txEl>
                                              <p:pRg st="9" end="9"/>
                                            </p:txEl>
                                          </p:spTgt>
                                        </p:tgtEl>
                                        <p:attrNameLst>
                                          <p:attrName>style.visibility</p:attrName>
                                        </p:attrNameLst>
                                      </p:cBhvr>
                                      <p:to>
                                        <p:strVal val="visible"/>
                                      </p:to>
                                    </p:set>
                                    <p:animEffect transition="in" filter="fade">
                                      <p:cBhvr>
                                        <p:cTn id="7" dur="500"/>
                                        <p:tgtEl>
                                          <p:spTgt spid="425">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5">
                                            <p:txEl>
                                              <p:pRg st="11" end="11"/>
                                            </p:txEl>
                                          </p:spTgt>
                                        </p:tgtEl>
                                        <p:attrNameLst>
                                          <p:attrName>style.visibility</p:attrName>
                                        </p:attrNameLst>
                                      </p:cBhvr>
                                      <p:to>
                                        <p:strVal val="visible"/>
                                      </p:to>
                                    </p:set>
                                    <p:animEffect transition="in" filter="fade">
                                      <p:cBhvr>
                                        <p:cTn id="12" dur="500"/>
                                        <p:tgtEl>
                                          <p:spTgt spid="4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46</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Determine a 95% confidence interval for the slope of the true regression line for the data presented in Table 1 in a previous example.</a:t>
            </a:r>
            <a:endParaRPr lang="en-US" sz="28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6)                   </a:t>
            </a:r>
            <a:r>
              <a:rPr lang="en-US" sz="2400" b="0" i="1" u="none" dirty="0">
                <a:solidFill>
                  <a:schemeClr val="dk1"/>
                </a:solidFill>
                <a:latin typeface="Arial"/>
                <a:ea typeface="Arial"/>
                <a:cs typeface="Arial"/>
                <a:sym typeface="Arial"/>
              </a:rPr>
              <a:t>Slope of the True Regression Line</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5B57E982-770D-493D-8CC1-AEA103FB6EB5}"/>
              </a:ext>
            </a:extLst>
          </p:cNvPr>
          <p:cNvPicPr>
            <a:picLocks noChangeAspect="1"/>
          </p:cNvPicPr>
          <p:nvPr/>
        </p:nvPicPr>
        <p:blipFill>
          <a:blip r:embed="rId3"/>
          <a:stretch>
            <a:fillRect/>
          </a:stretch>
        </p:blipFill>
        <p:spPr>
          <a:xfrm>
            <a:off x="1220426" y="2736031"/>
            <a:ext cx="6940310" cy="3346711"/>
          </a:xfrm>
          <a:prstGeom prst="rect">
            <a:avLst/>
          </a:prstGeom>
        </p:spPr>
      </p:pic>
    </p:spTree>
    <p:extLst>
      <p:ext uri="{BB962C8B-B14F-4D97-AF65-F5344CB8AC3E}">
        <p14:creationId xmlns:p14="http://schemas.microsoft.com/office/powerpoint/2010/main" val="326601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47</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latin typeface="+mn-lt"/>
                <a:cs typeface="Times New Roman" panose="02020603050405020304" pitchFamily="18" charset="0"/>
              </a:rPr>
              <a:t>By-Hand Solution</a:t>
            </a: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least-squares regression line was determined</a:t>
            </a:r>
          </a:p>
          <a:p>
            <a:r>
              <a:rPr lang="en-US" sz="2600" dirty="0">
                <a:latin typeface="Times New Roman" panose="02020603050405020304" pitchFamily="18" charset="0"/>
                <a:cs typeface="Times New Roman" panose="02020603050405020304" pitchFamily="18" charset="0"/>
              </a:rPr>
              <a:t>in a previous example and is </a:t>
            </a:r>
            <a:r>
              <a:rPr lang="en-US" sz="2600" i="1"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endParaRPr lang="en-US" sz="8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requirements were verified in the previous examples.</a:t>
            </a:r>
          </a:p>
          <a:p>
            <a:endParaRPr lang="en-US" sz="8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We computed </a:t>
            </a:r>
            <a:r>
              <a:rPr lang="en-US" sz="2600" i="1" dirty="0">
                <a:latin typeface="Times New Roman" panose="02020603050405020304" pitchFamily="18" charset="0"/>
                <a:cs typeface="Times New Roman" panose="02020603050405020304" pitchFamily="18" charset="0"/>
              </a:rPr>
              <a:t>s</a:t>
            </a:r>
            <a:r>
              <a:rPr lang="en-US" sz="2600" i="1" baseline="-25000" dirty="0">
                <a:latin typeface="Times New Roman" panose="02020603050405020304" pitchFamily="18" charset="0"/>
                <a:cs typeface="Times New Roman" panose="02020603050405020304" pitchFamily="18" charset="0"/>
              </a:rPr>
              <a:t>e</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in a previous example, obtaining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s</a:t>
            </a:r>
            <a:r>
              <a:rPr lang="en-US" sz="2600" i="1" baseline="-25000" dirty="0">
                <a:latin typeface="Times New Roman" panose="02020603050405020304" pitchFamily="18" charset="0"/>
                <a:cs typeface="Times New Roman" panose="02020603050405020304" pitchFamily="18" charset="0"/>
              </a:rPr>
              <a:t>e</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19.48.</a:t>
            </a:r>
          </a:p>
          <a:p>
            <a:endParaRPr lang="en-US" sz="8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we wish to determine a 95% confidence interval, we have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Therefore, we need to find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0.05/2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0.025</a:t>
            </a:r>
            <a:r>
              <a:rPr lang="en-US" sz="2600" dirty="0">
                <a:latin typeface="Times New Roman" panose="02020603050405020304" pitchFamily="18" charset="0"/>
                <a:cs typeface="Times New Roman" panose="02020603050405020304" pitchFamily="18" charset="0"/>
              </a:rPr>
              <a:t> with 14 – 2 = 12 degrees of freedom.</a:t>
            </a:r>
          </a:p>
          <a:p>
            <a:r>
              <a:rPr lang="en-US" sz="2600" dirty="0">
                <a:latin typeface="Times New Roman" panose="02020603050405020304" pitchFamily="18" charset="0"/>
                <a:cs typeface="Times New Roman" panose="02020603050405020304" pitchFamily="18" charset="0"/>
              </a:rPr>
              <a:t>Referring to Table VII, we find that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0.025</a:t>
            </a:r>
            <a:r>
              <a:rPr lang="en-US" sz="2600" dirty="0">
                <a:latin typeface="Times New Roman" panose="02020603050405020304" pitchFamily="18" charset="0"/>
                <a:cs typeface="Times New Roman" panose="02020603050405020304" pitchFamily="18" charset="0"/>
              </a:rPr>
              <a:t> = 2.179.</a:t>
            </a:r>
            <a:endParaRPr lang="en-US" sz="2600" b="1" dirty="0">
              <a:latin typeface="Times New Roman" panose="02020603050405020304" pitchFamily="18" charset="0"/>
              <a:cs typeface="Times New Roman" panose="02020603050405020304" pitchFamily="18" charset="0"/>
            </a:endParaRP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6)                   </a:t>
            </a:r>
            <a:r>
              <a:rPr lang="en-US" sz="2400" b="0" i="1" u="none" dirty="0">
                <a:solidFill>
                  <a:schemeClr val="dk1"/>
                </a:solidFill>
                <a:latin typeface="Arial"/>
                <a:ea typeface="Arial"/>
                <a:cs typeface="Arial"/>
                <a:sym typeface="Arial"/>
              </a:rPr>
              <a:t>Slope of the True Regression Line</a:t>
            </a:r>
            <a:endParaRPr sz="2400" i="1" dirty="0"/>
          </a:p>
        </p:txBody>
      </p:sp>
      <p:graphicFrame>
        <p:nvGraphicFramePr>
          <p:cNvPr id="2" name="Object 1">
            <a:extLst>
              <a:ext uri="{FF2B5EF4-FFF2-40B4-BE49-F238E27FC236}">
                <a16:creationId xmlns:a16="http://schemas.microsoft.com/office/drawing/2014/main" id="{91C4F503-08F6-4C50-9B0B-48F158D29510}"/>
              </a:ext>
            </a:extLst>
          </p:cNvPr>
          <p:cNvGraphicFramePr>
            <a:graphicFrameLocks noChangeAspect="1"/>
          </p:cNvGraphicFramePr>
          <p:nvPr>
            <p:extLst>
              <p:ext uri="{D42A27DB-BD31-4B8C-83A1-F6EECF244321}">
                <p14:modId xmlns:p14="http://schemas.microsoft.com/office/powerpoint/2010/main" val="4118795624"/>
              </p:ext>
            </p:extLst>
          </p:nvPr>
        </p:nvGraphicFramePr>
        <p:xfrm>
          <a:off x="4291845" y="2099214"/>
          <a:ext cx="3143250" cy="371475"/>
        </p:xfrm>
        <a:graphic>
          <a:graphicData uri="http://schemas.openxmlformats.org/presentationml/2006/ole">
            <mc:AlternateContent xmlns:mc="http://schemas.openxmlformats.org/markup-compatibility/2006">
              <mc:Choice xmlns:v="urn:schemas-microsoft-com:vml" Requires="v">
                <p:oleObj spid="_x0000_s93364" name="Equation" r:id="rId4" imgW="3143040" imgH="371582" progId="Equation.DSMT4">
                  <p:embed/>
                </p:oleObj>
              </mc:Choice>
              <mc:Fallback>
                <p:oleObj name="Equation" r:id="rId4" imgW="3143040" imgH="371582" progId="Equation.DSMT4">
                  <p:embed/>
                  <p:pic>
                    <p:nvPicPr>
                      <p:cNvPr id="0" name=""/>
                      <p:cNvPicPr/>
                      <p:nvPr/>
                    </p:nvPicPr>
                    <p:blipFill>
                      <a:blip r:embed="rId5"/>
                      <a:stretch>
                        <a:fillRect/>
                      </a:stretch>
                    </p:blipFill>
                    <p:spPr>
                      <a:xfrm>
                        <a:off x="4291845" y="2099214"/>
                        <a:ext cx="3143250" cy="371475"/>
                      </a:xfrm>
                      <a:prstGeom prst="rect">
                        <a:avLst/>
                      </a:prstGeom>
                    </p:spPr>
                  </p:pic>
                </p:oleObj>
              </mc:Fallback>
            </mc:AlternateContent>
          </a:graphicData>
        </a:graphic>
      </p:graphicFrame>
    </p:spTree>
    <p:extLst>
      <p:ext uri="{BB962C8B-B14F-4D97-AF65-F5344CB8AC3E}">
        <p14:creationId xmlns:p14="http://schemas.microsoft.com/office/powerpoint/2010/main" val="282390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4" end="4"/>
                                            </p:txEl>
                                          </p:spTgt>
                                        </p:tgtEl>
                                        <p:attrNameLst>
                                          <p:attrName>style.visibility</p:attrName>
                                        </p:attrNameLst>
                                      </p:cBhvr>
                                      <p:to>
                                        <p:strVal val="visible"/>
                                      </p:to>
                                    </p:set>
                                    <p:animEffect transition="in" filter="fade">
                                      <p:cBhvr>
                                        <p:cTn id="7" dur="500"/>
                                        <p:tgtEl>
                                          <p:spTgt spid="31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6" end="6"/>
                                            </p:txEl>
                                          </p:spTgt>
                                        </p:tgtEl>
                                        <p:attrNameLst>
                                          <p:attrName>style.visibility</p:attrName>
                                        </p:attrNameLst>
                                      </p:cBhvr>
                                      <p:to>
                                        <p:strVal val="visible"/>
                                      </p:to>
                                    </p:set>
                                    <p:animEffect transition="in" filter="fade">
                                      <p:cBhvr>
                                        <p:cTn id="12" dur="500"/>
                                        <p:tgtEl>
                                          <p:spTgt spid="315">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5">
                                            <p:txEl>
                                              <p:pRg st="8" end="8"/>
                                            </p:txEl>
                                          </p:spTgt>
                                        </p:tgtEl>
                                        <p:attrNameLst>
                                          <p:attrName>style.visibility</p:attrName>
                                        </p:attrNameLst>
                                      </p:cBhvr>
                                      <p:to>
                                        <p:strVal val="visible"/>
                                      </p:to>
                                    </p:set>
                                    <p:animEffect transition="in" filter="fade">
                                      <p:cBhvr>
                                        <p:cTn id="17" dur="500"/>
                                        <p:tgtEl>
                                          <p:spTgt spid="315">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5">
                                            <p:txEl>
                                              <p:pRg st="9" end="9"/>
                                            </p:txEl>
                                          </p:spTgt>
                                        </p:tgtEl>
                                        <p:attrNameLst>
                                          <p:attrName>style.visibility</p:attrName>
                                        </p:attrNameLst>
                                      </p:cBhvr>
                                      <p:to>
                                        <p:strVal val="visible"/>
                                      </p:to>
                                    </p:set>
                                    <p:animEffect transition="in" filter="fade">
                                      <p:cBhvr>
                                        <p:cTn id="22" dur="500"/>
                                        <p:tgtEl>
                                          <p:spTgt spid="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48</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latin typeface="+mn-lt"/>
                <a:cs typeface="Times New Roman" panose="02020603050405020304" pitchFamily="18" charset="0"/>
              </a:rPr>
              <a:t>By-Hand Solution</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We use Formula (3) to find the lower and upper bounds.</a:t>
            </a:r>
          </a:p>
          <a:p>
            <a:endParaRPr lang="en-US" sz="800" b="1"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Lower bound:</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Upper bound:</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6)                   </a:t>
            </a:r>
            <a:r>
              <a:rPr lang="en-US" sz="2400" b="0" i="1" u="none" dirty="0">
                <a:solidFill>
                  <a:schemeClr val="dk1"/>
                </a:solidFill>
                <a:latin typeface="Arial"/>
                <a:ea typeface="Arial"/>
                <a:cs typeface="Arial"/>
                <a:sym typeface="Arial"/>
              </a:rPr>
              <a:t>Slope of the True Regression Line</a:t>
            </a:r>
            <a:endParaRPr sz="2400" i="1" dirty="0"/>
          </a:p>
        </p:txBody>
      </p:sp>
      <p:graphicFrame>
        <p:nvGraphicFramePr>
          <p:cNvPr id="6" name="Object 5">
            <a:extLst>
              <a:ext uri="{FF2B5EF4-FFF2-40B4-BE49-F238E27FC236}">
                <a16:creationId xmlns:a16="http://schemas.microsoft.com/office/drawing/2014/main" id="{A42B7A4C-495D-4127-AC60-82BB8A840FB4}"/>
              </a:ext>
            </a:extLst>
          </p:cNvPr>
          <p:cNvGraphicFramePr>
            <a:graphicFrameLocks noChangeAspect="1"/>
          </p:cNvGraphicFramePr>
          <p:nvPr>
            <p:extLst>
              <p:ext uri="{D42A27DB-BD31-4B8C-83A1-F6EECF244321}">
                <p14:modId xmlns:p14="http://schemas.microsoft.com/office/powerpoint/2010/main" val="2762670725"/>
              </p:ext>
            </p:extLst>
          </p:nvPr>
        </p:nvGraphicFramePr>
        <p:xfrm>
          <a:off x="1122779" y="2556251"/>
          <a:ext cx="7061200" cy="1460500"/>
        </p:xfrm>
        <a:graphic>
          <a:graphicData uri="http://schemas.openxmlformats.org/presentationml/2006/ole">
            <mc:AlternateContent xmlns:mc="http://schemas.openxmlformats.org/markup-compatibility/2006">
              <mc:Choice xmlns:v="urn:schemas-microsoft-com:vml" Requires="v">
                <p:oleObj spid="_x0000_s94562" name="Equation" r:id="rId4" imgW="7061040" imgH="1460160" progId="Equation.DSMT4">
                  <p:embed/>
                </p:oleObj>
              </mc:Choice>
              <mc:Fallback>
                <p:oleObj name="Equation" r:id="rId4" imgW="7061040" imgH="1460160" progId="Equation.DSMT4">
                  <p:embed/>
                  <p:pic>
                    <p:nvPicPr>
                      <p:cNvPr id="3" name="Object 2">
                        <a:extLst>
                          <a:ext uri="{FF2B5EF4-FFF2-40B4-BE49-F238E27FC236}">
                            <a16:creationId xmlns:a16="http://schemas.microsoft.com/office/drawing/2014/main" id="{CAFC8E62-E951-4F69-80F6-DF45B75F186B}"/>
                          </a:ext>
                        </a:extLst>
                      </p:cNvPr>
                      <p:cNvPicPr/>
                      <p:nvPr/>
                    </p:nvPicPr>
                    <p:blipFill>
                      <a:blip r:embed="rId5"/>
                      <a:stretch>
                        <a:fillRect/>
                      </a:stretch>
                    </p:blipFill>
                    <p:spPr>
                      <a:xfrm>
                        <a:off x="1122779" y="2556251"/>
                        <a:ext cx="7061200" cy="14605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E49D92ED-CF61-45C9-B18F-E8B49D3B592C}"/>
              </a:ext>
            </a:extLst>
          </p:cNvPr>
          <p:cNvGraphicFramePr>
            <a:graphicFrameLocks noChangeAspect="1"/>
          </p:cNvGraphicFramePr>
          <p:nvPr>
            <p:extLst>
              <p:ext uri="{D42A27DB-BD31-4B8C-83A1-F6EECF244321}">
                <p14:modId xmlns:p14="http://schemas.microsoft.com/office/powerpoint/2010/main" val="3920829649"/>
              </p:ext>
            </p:extLst>
          </p:nvPr>
        </p:nvGraphicFramePr>
        <p:xfrm>
          <a:off x="1110079" y="4608987"/>
          <a:ext cx="7073900" cy="1460500"/>
        </p:xfrm>
        <a:graphic>
          <a:graphicData uri="http://schemas.openxmlformats.org/presentationml/2006/ole">
            <mc:AlternateContent xmlns:mc="http://schemas.openxmlformats.org/markup-compatibility/2006">
              <mc:Choice xmlns:v="urn:schemas-microsoft-com:vml" Requires="v">
                <p:oleObj spid="_x0000_s94563" name="Equation" r:id="rId6" imgW="7073640" imgH="1460160" progId="Equation.DSMT4">
                  <p:embed/>
                </p:oleObj>
              </mc:Choice>
              <mc:Fallback>
                <p:oleObj name="Equation" r:id="rId6" imgW="7073640" imgH="1460160" progId="Equation.DSMT4">
                  <p:embed/>
                  <p:pic>
                    <p:nvPicPr>
                      <p:cNvPr id="0" name=""/>
                      <p:cNvPicPr/>
                      <p:nvPr/>
                    </p:nvPicPr>
                    <p:blipFill>
                      <a:blip r:embed="rId7"/>
                      <a:stretch>
                        <a:fillRect/>
                      </a:stretch>
                    </p:blipFill>
                    <p:spPr>
                      <a:xfrm>
                        <a:off x="1110079" y="4608987"/>
                        <a:ext cx="7073900" cy="1460500"/>
                      </a:xfrm>
                      <a:prstGeom prst="rect">
                        <a:avLst/>
                      </a:prstGeom>
                    </p:spPr>
                  </p:pic>
                </p:oleObj>
              </mc:Fallback>
            </mc:AlternateContent>
          </a:graphicData>
        </a:graphic>
      </p:graphicFrame>
    </p:spTree>
    <p:extLst>
      <p:ext uri="{BB962C8B-B14F-4D97-AF65-F5344CB8AC3E}">
        <p14:creationId xmlns:p14="http://schemas.microsoft.com/office/powerpoint/2010/main" val="387639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8" end="8"/>
                                            </p:txEl>
                                          </p:spTgt>
                                        </p:tgtEl>
                                        <p:attrNameLst>
                                          <p:attrName>style.visibility</p:attrName>
                                        </p:attrNameLst>
                                      </p:cBhvr>
                                      <p:to>
                                        <p:strVal val="visible"/>
                                      </p:to>
                                    </p:set>
                                    <p:animEffect transition="in" filter="fade">
                                      <p:cBhvr>
                                        <p:cTn id="15" dur="500"/>
                                        <p:tgtEl>
                                          <p:spTgt spid="315">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49</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latin typeface="+mn-lt"/>
                <a:cs typeface="Times New Roman" panose="02020603050405020304" pitchFamily="18" charset="0"/>
              </a:rPr>
              <a:t>By-Hand Solution</a:t>
            </a:r>
          </a:p>
          <a:p>
            <a:r>
              <a:rPr lang="en-US" sz="2600" b="1" i="1" dirty="0">
                <a:latin typeface="Times New Roman" panose="02020603050405020304" pitchFamily="18" charset="0"/>
                <a:cs typeface="Times New Roman" panose="02020603050405020304" pitchFamily="18" charset="0"/>
              </a:rPr>
              <a:t>Step 6 </a:t>
            </a:r>
            <a:r>
              <a:rPr lang="en-US" sz="2600" dirty="0">
                <a:latin typeface="Times New Roman" panose="02020603050405020304" pitchFamily="18" charset="0"/>
                <a:cs typeface="Times New Roman" panose="02020603050405020304" pitchFamily="18" charset="0"/>
              </a:rPr>
              <a:t>We are 95% confident that the mean increase in</a:t>
            </a:r>
          </a:p>
          <a:p>
            <a:r>
              <a:rPr lang="en-US" sz="2600" dirty="0">
                <a:latin typeface="Times New Roman" panose="02020603050405020304" pitchFamily="18" charset="0"/>
                <a:cs typeface="Times New Roman" panose="02020603050405020304" pitchFamily="18" charset="0"/>
              </a:rPr>
              <a:t>cholesterol for each additional year of life is somewhere</a:t>
            </a:r>
          </a:p>
          <a:p>
            <a:r>
              <a:rPr lang="en-US" sz="2600" dirty="0">
                <a:latin typeface="Times New Roman" panose="02020603050405020304" pitchFamily="18" charset="0"/>
                <a:cs typeface="Times New Roman" panose="02020603050405020304" pitchFamily="18" charset="0"/>
              </a:rPr>
              <a:t>between 0.5455 mg/dL and 2.2527 mg/dL. Because the 95%</a:t>
            </a:r>
          </a:p>
          <a:p>
            <a:r>
              <a:rPr lang="en-US" sz="2600" dirty="0">
                <a:latin typeface="Times New Roman" panose="02020603050405020304" pitchFamily="18" charset="0"/>
                <a:cs typeface="Times New Roman" panose="02020603050405020304" pitchFamily="18" charset="0"/>
              </a:rPr>
              <a:t>confidence interval does not include 0, we reject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0.</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6)                   </a:t>
            </a:r>
            <a:r>
              <a:rPr lang="en-US" sz="2400" b="0" i="1" u="none" dirty="0">
                <a:solidFill>
                  <a:schemeClr val="dk1"/>
                </a:solidFill>
                <a:latin typeface="Arial"/>
                <a:ea typeface="Arial"/>
                <a:cs typeface="Arial"/>
                <a:sym typeface="Arial"/>
              </a:rPr>
              <a:t>Slope of the True Regression Line</a:t>
            </a:r>
            <a:endParaRPr sz="2400" i="1" dirty="0"/>
          </a:p>
        </p:txBody>
      </p:sp>
    </p:spTree>
    <p:extLst>
      <p:ext uri="{BB962C8B-B14F-4D97-AF65-F5344CB8AC3E}">
        <p14:creationId xmlns:p14="http://schemas.microsoft.com/office/powerpoint/2010/main" val="344887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50</a:t>
            </a:fld>
            <a:endParaRPr dirty="0"/>
          </a:p>
        </p:txBody>
      </p:sp>
      <p:sp>
        <p:nvSpPr>
          <p:cNvPr id="315" name="Google Shape;315;p49"/>
          <p:cNvSpPr txBox="1"/>
          <p:nvPr/>
        </p:nvSpPr>
        <p:spPr>
          <a:xfrm>
            <a:off x="381000" y="1225485"/>
            <a:ext cx="8544759" cy="2062162"/>
          </a:xfrm>
          <a:prstGeom prst="rect">
            <a:avLst/>
          </a:prstGeom>
          <a:noFill/>
          <a:ln>
            <a:noFill/>
          </a:ln>
        </p:spPr>
        <p:txBody>
          <a:bodyPr spcFirstLastPara="1" wrap="square" lIns="91425" tIns="45700" rIns="91425" bIns="45700" anchor="t" anchorCtr="0">
            <a:noAutofit/>
          </a:bodyPr>
          <a:lstStyle/>
          <a:p>
            <a:r>
              <a:rPr lang="en-US" sz="2600" b="1" dirty="0">
                <a:latin typeface="+mn-lt"/>
                <a:cs typeface="Times New Roman" panose="02020603050405020304" pitchFamily="18" charset="0"/>
              </a:rPr>
              <a:t>Technology Solution</a:t>
            </a: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figure shows the results obtained from StatCrunch.</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lower bound (95% L. Limit) is 0.5455 and the upper bound (95% U. Limit) is 2.2526.</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6)                   </a:t>
            </a:r>
            <a:r>
              <a:rPr lang="en-US" sz="2400" b="0" i="1" u="none" dirty="0">
                <a:solidFill>
                  <a:schemeClr val="dk1"/>
                </a:solidFill>
                <a:latin typeface="Arial"/>
                <a:ea typeface="Arial"/>
                <a:cs typeface="Arial"/>
                <a:sym typeface="Arial"/>
              </a:rPr>
              <a:t>Slope of the True Regression Line</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F6C95564-FB4F-49D1-AB5A-93C9C41FD9CD}"/>
              </a:ext>
            </a:extLst>
          </p:cNvPr>
          <p:cNvPicPr>
            <a:picLocks noChangeAspect="1"/>
          </p:cNvPicPr>
          <p:nvPr/>
        </p:nvPicPr>
        <p:blipFill>
          <a:blip r:embed="rId3"/>
          <a:stretch>
            <a:fillRect/>
          </a:stretch>
        </p:blipFill>
        <p:spPr>
          <a:xfrm>
            <a:off x="2020182" y="2182306"/>
            <a:ext cx="4753507" cy="32569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2443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1" end="11"/>
                                            </p:txEl>
                                          </p:spTgt>
                                        </p:tgtEl>
                                        <p:attrNameLst>
                                          <p:attrName>style.visibility</p:attrName>
                                        </p:attrNameLst>
                                      </p:cBhvr>
                                      <p:to>
                                        <p:strVal val="visible"/>
                                      </p:to>
                                    </p:set>
                                    <p:animEffect transition="in" filter="fade">
                                      <p:cBhvr>
                                        <p:cTn id="7" dur="500"/>
                                        <p:tgtEl>
                                          <p:spTgt spid="31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51</a:t>
            </a:fld>
            <a:endParaRPr dirty="0"/>
          </a:p>
        </p:txBody>
      </p:sp>
      <p:sp>
        <p:nvSpPr>
          <p:cNvPr id="315" name="Google Shape;315;p49"/>
          <p:cNvSpPr txBox="1"/>
          <p:nvPr/>
        </p:nvSpPr>
        <p:spPr>
          <a:xfrm>
            <a:off x="381000" y="1225485"/>
            <a:ext cx="8544759" cy="3101418"/>
          </a:xfrm>
          <a:prstGeom prst="rect">
            <a:avLst/>
          </a:prstGeom>
          <a:noFill/>
          <a:ln>
            <a:noFill/>
          </a:ln>
        </p:spPr>
        <p:txBody>
          <a:bodyPr spcFirstLastPara="1" wrap="square" lIns="91425" tIns="45700" rIns="91425" bIns="45700" anchor="t" anchorCtr="0">
            <a:noAutofit/>
          </a:bodyPr>
          <a:lstStyle/>
          <a:p>
            <a:r>
              <a:rPr lang="en-US" sz="2600" b="1" dirty="0">
                <a:latin typeface="+mn-lt"/>
                <a:cs typeface="Times New Roman" panose="02020603050405020304" pitchFamily="18" charset="0"/>
              </a:rPr>
              <a:t>Technology Solution</a:t>
            </a: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We are 95% confident that the mean increase in cholesterol for each additional year of life is between 0.5455 mg/dL and 2.2526 mg/dL. Because the confidence interval does not contain 0, we reject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0.</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the</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6)                   </a:t>
            </a:r>
            <a:r>
              <a:rPr lang="en-US" sz="2400" b="0" i="1" u="none" dirty="0">
                <a:solidFill>
                  <a:schemeClr val="dk1"/>
                </a:solidFill>
                <a:latin typeface="Arial"/>
                <a:ea typeface="Arial"/>
                <a:cs typeface="Arial"/>
                <a:sym typeface="Arial"/>
              </a:rPr>
              <a:t>Slope of the True Regression Line</a:t>
            </a:r>
            <a:endParaRPr sz="2400" i="1" dirty="0"/>
          </a:p>
        </p:txBody>
      </p:sp>
    </p:spTree>
    <p:extLst>
      <p:ext uri="{BB962C8B-B14F-4D97-AF65-F5344CB8AC3E}">
        <p14:creationId xmlns:p14="http://schemas.microsoft.com/office/powerpoint/2010/main" val="902909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52</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14.2 </a:t>
            </a:r>
            <a:r>
              <a:rPr lang="en-US" sz="4000" b="1" dirty="0">
                <a:solidFill>
                  <a:srgbClr val="333399"/>
                </a:solidFill>
                <a:latin typeface="+mn-lt"/>
                <a:cs typeface="Times New Roman"/>
                <a:sym typeface="Times New Roman"/>
              </a:rPr>
              <a:t>Confidence and Prediction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Intervals</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143586"/>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Construct confidence intervals for a mean response</a:t>
            </a:r>
            <a:endParaRPr lang="en-US" sz="3200" dirty="0">
              <a:latin typeface="Times New Roman" panose="02020603050405020304" pitchFamily="18" charset="0"/>
              <a:cs typeface="Times New Roman" panose="02020603050405020304" pitchFamily="18" charset="0"/>
            </a:endParaRPr>
          </a:p>
          <a:p>
            <a:pPr marL="609600" lvl="0" indent="-609600">
              <a:spcBef>
                <a:spcPts val="640"/>
              </a:spcBef>
              <a:buClr>
                <a:srgbClr val="A00020"/>
              </a:buClr>
              <a:buSzPts val="3200"/>
              <a:buFont typeface="Times New Roman"/>
              <a:buAutoNum type="arabicPeriod"/>
            </a:pP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Construct prediction intervals for an individual response</a:t>
            </a:r>
            <a:endParaRPr lang="en-US" sz="3200" dirty="0">
              <a:latin typeface="Times New Roman" panose="02020603050405020304" pitchFamily="18" charset="0"/>
              <a:cs typeface="Times New Roman" panose="02020603050405020304" pitchFamily="18" charset="0"/>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99063" y="1721952"/>
            <a:ext cx="834662" cy="843267"/>
          </a:xfrm>
          <a:prstGeom prst="rect">
            <a:avLst/>
          </a:prstGeom>
        </p:spPr>
      </p:pic>
    </p:spTree>
    <p:extLst>
      <p:ext uri="{BB962C8B-B14F-4D97-AF65-F5344CB8AC3E}">
        <p14:creationId xmlns:p14="http://schemas.microsoft.com/office/powerpoint/2010/main" val="249603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 name="Rectangle 3">
            <a:extLst>
              <a:ext uri="{FF2B5EF4-FFF2-40B4-BE49-F238E27FC236}">
                <a16:creationId xmlns:a16="http://schemas.microsoft.com/office/drawing/2014/main" id="{2DE3A7D2-65A9-48DB-8DF6-D87EB32C3A8D}"/>
              </a:ext>
            </a:extLst>
          </p:cNvPr>
          <p:cNvSpPr/>
          <p:nvPr/>
        </p:nvSpPr>
        <p:spPr>
          <a:xfrm>
            <a:off x="355891" y="367645"/>
            <a:ext cx="8584618" cy="5750351"/>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67"/>
          <p:cNvSpPr txBox="1"/>
          <p:nvPr/>
        </p:nvSpPr>
        <p:spPr>
          <a:xfrm>
            <a:off x="538162" y="499621"/>
            <a:ext cx="8220075" cy="5016500"/>
          </a:xfrm>
          <a:prstGeom prst="rect">
            <a:avLst/>
          </a:prstGeom>
          <a:noFill/>
          <a:ln>
            <a:noFill/>
          </a:ln>
        </p:spPr>
        <p:txBody>
          <a:bodyPr spcFirstLastPara="1" wrap="square" lIns="91425" tIns="45700" rIns="91425" bIns="45700" anchor="t" anchorCtr="0">
            <a:noAutofit/>
          </a:bodyPr>
          <a:lstStyle/>
          <a:p>
            <a:r>
              <a:rPr lang="en-US" sz="32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Confidence intervals for a mean response</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are intervals constructed about the predicted value of </a:t>
            </a:r>
            <a:r>
              <a:rPr lang="en-US"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y</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 given level of </a:t>
            </a:r>
            <a:r>
              <a:rPr lang="en-US"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x</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that are used to measure the accuracy of the mean response of all the individuals in the population </a:t>
            </a:r>
            <a:r>
              <a:rPr lang="en-US" sz="3200" dirty="0">
                <a:latin typeface="Times New Roman" panose="02020603050405020304" pitchFamily="18" charset="0"/>
                <a:cs typeface="Times New Roman" panose="02020603050405020304" pitchFamily="18" charset="0"/>
              </a:rPr>
              <a:t>where the value of the explanatory variable is </a:t>
            </a:r>
            <a:r>
              <a:rPr lang="en-US" sz="3200" i="1" dirty="0">
                <a:latin typeface="Times New Roman" panose="02020603050405020304" pitchFamily="18" charset="0"/>
                <a:cs typeface="Times New Roman" panose="02020603050405020304" pitchFamily="18" charset="0"/>
              </a:rPr>
              <a:t>x</a:t>
            </a:r>
            <a:r>
              <a:rPr lang="en-US" sz="3200" dirty="0">
                <a:latin typeface="Times New Roman" panose="02020603050405020304" pitchFamily="18" charset="0"/>
                <a:cs typeface="Times New Roman" panose="02020603050405020304" pitchFamily="18" charset="0"/>
              </a:rPr>
              <a:t>.</a:t>
            </a:r>
            <a:endParaRPr sz="32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Prediction intervals for an individual response</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are intervals constructed about the predicted value of </a:t>
            </a:r>
            <a:r>
              <a:rPr lang="en-US"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y</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that are used to measure the accuracy of a single individual’s predicted value.</a:t>
            </a:r>
            <a:endParaRPr dirty="0">
              <a:solidFill>
                <a:schemeClr val="tx1"/>
              </a:solidFill>
              <a:latin typeface="Times New Roman" panose="02020603050405020304" pitchFamily="18" charset="0"/>
              <a:cs typeface="Times New Roman" panose="02020603050405020304" pitchFamily="18" charset="0"/>
            </a:endParaRPr>
          </a:p>
        </p:txBody>
      </p:sp>
      <p:sp>
        <p:nvSpPr>
          <p:cNvPr id="476" name="Google Shape;476;p6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53</a:t>
            </a:fld>
            <a:endParaRPr/>
          </a:p>
        </p:txBody>
      </p:sp>
    </p:spTree>
    <p:extLst>
      <p:ext uri="{BB962C8B-B14F-4D97-AF65-F5344CB8AC3E}">
        <p14:creationId xmlns:p14="http://schemas.microsoft.com/office/powerpoint/2010/main" val="3018630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5">
                                            <p:txEl>
                                              <p:pRg st="2" end="2"/>
                                            </p:txEl>
                                          </p:spTgt>
                                        </p:tgtEl>
                                        <p:attrNameLst>
                                          <p:attrName>style.visibility</p:attrName>
                                        </p:attrNameLst>
                                      </p:cBhvr>
                                      <p:to>
                                        <p:strVal val="visible"/>
                                      </p:to>
                                    </p:set>
                                    <p:animEffect transition="in" filter="fade">
                                      <p:cBhvr>
                                        <p:cTn id="7" dur="500"/>
                                        <p:tgtEl>
                                          <p:spTgt spid="4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482" name="Google Shape;482;p68"/>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Construct Confidence Intervals for a Mean Response</a:t>
            </a:r>
            <a:endParaRPr dirty="0"/>
          </a:p>
        </p:txBody>
      </p:sp>
      <p:sp>
        <p:nvSpPr>
          <p:cNvPr id="483" name="Google Shape;483;p6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54</a:t>
            </a:fld>
            <a:endParaRPr/>
          </a:p>
        </p:txBody>
      </p:sp>
    </p:spTree>
    <p:extLst>
      <p:ext uri="{BB962C8B-B14F-4D97-AF65-F5344CB8AC3E}">
        <p14:creationId xmlns:p14="http://schemas.microsoft.com/office/powerpoint/2010/main" val="23443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16" name="Rectangle 15">
            <a:extLst>
              <a:ext uri="{FF2B5EF4-FFF2-40B4-BE49-F238E27FC236}">
                <a16:creationId xmlns:a16="http://schemas.microsoft.com/office/drawing/2014/main" id="{958E43FE-72B8-4880-91E3-6BEE35A21D0D}"/>
              </a:ext>
            </a:extLst>
          </p:cNvPr>
          <p:cNvSpPr/>
          <p:nvPr/>
        </p:nvSpPr>
        <p:spPr>
          <a:xfrm>
            <a:off x="259561" y="305095"/>
            <a:ext cx="8537729" cy="592237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Google Shape;488;p69"/>
          <p:cNvSpPr txBox="1"/>
          <p:nvPr/>
        </p:nvSpPr>
        <p:spPr>
          <a:xfrm>
            <a:off x="410066" y="305095"/>
            <a:ext cx="8123237" cy="1719262"/>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2600"/>
              <a:buFont typeface="Times New Roman"/>
              <a:buNone/>
            </a:pPr>
            <a:r>
              <a:rPr lang="en-US" sz="2600" b="1" i="0" u="none" dirty="0">
                <a:solidFill>
                  <a:schemeClr val="dk1"/>
                </a:solidFill>
                <a:latin typeface="+mn-lt"/>
                <a:ea typeface="Times New Roman"/>
                <a:cs typeface="Times New Roman"/>
                <a:sym typeface="Times New Roman"/>
              </a:rPr>
              <a:t>Confidence Interval for the Mean Response of</a:t>
            </a:r>
            <a:r>
              <a:rPr lang="en-US" sz="2600" b="1" i="0" u="none" dirty="0">
                <a:solidFill>
                  <a:schemeClr val="dk1"/>
                </a:solidFill>
                <a:latin typeface="Times New Roman"/>
                <a:ea typeface="Times New Roman"/>
                <a:cs typeface="Times New Roman"/>
                <a:sym typeface="Times New Roman"/>
              </a:rPr>
              <a:t> </a:t>
            </a:r>
            <a:r>
              <a:rPr lang="en-US" sz="2600" b="1" i="1" u="none" dirty="0">
                <a:solidFill>
                  <a:schemeClr val="dk1"/>
                </a:solidFill>
                <a:latin typeface="Times New Roman"/>
                <a:ea typeface="Times New Roman"/>
                <a:cs typeface="Times New Roman"/>
                <a:sym typeface="Times New Roman"/>
              </a:rPr>
              <a:t>y</a:t>
            </a:r>
            <a:r>
              <a:rPr lang="en-US" sz="2600" b="1" i="0" u="none" dirty="0">
                <a:solidFill>
                  <a:schemeClr val="dk1"/>
                </a:solidFill>
                <a:latin typeface="+mn-lt"/>
                <a:ea typeface="Times New Roman"/>
                <a:cs typeface="Times New Roman"/>
                <a:sym typeface="Times New Roman"/>
              </a:rPr>
              <a:t>,</a:t>
            </a:r>
            <a:r>
              <a:rPr lang="en-US" sz="2600" b="0" i="0" u="none" dirty="0">
                <a:solidFill>
                  <a:schemeClr val="dk1"/>
                </a:solidFill>
                <a:latin typeface="Times New Roman"/>
                <a:ea typeface="Times New Roman"/>
                <a:cs typeface="Times New Roman"/>
                <a:sym typeface="Times New Roman"/>
              </a:rPr>
              <a:t>   </a:t>
            </a:r>
            <a:endParaRPr dirty="0"/>
          </a:p>
          <a:p>
            <a:pPr marL="0" marR="0" lvl="0" indent="0" algn="l" rtl="0">
              <a:lnSpc>
                <a:spcPct val="100000"/>
              </a:lnSpc>
              <a:spcBef>
                <a:spcPts val="0"/>
              </a:spcBef>
              <a:spcAft>
                <a:spcPts val="0"/>
              </a:spcAft>
              <a:buClr>
                <a:schemeClr val="dk1"/>
              </a:buClr>
              <a:buSzPts val="2600"/>
              <a:buFont typeface="Times New Roman"/>
              <a:buNone/>
            </a:pPr>
            <a:r>
              <a:rPr lang="en-US" sz="2600" b="0" i="0" u="none" dirty="0">
                <a:solidFill>
                  <a:schemeClr val="dk1"/>
                </a:solidFill>
                <a:latin typeface="Times New Roman"/>
                <a:ea typeface="Times New Roman"/>
                <a:cs typeface="Times New Roman"/>
                <a:sym typeface="Times New Roman"/>
              </a:rPr>
              <a:t>A </a:t>
            </a:r>
            <a:r>
              <a:rPr lang="en-US" sz="2600" dirty="0">
                <a:solidFill>
                  <a:schemeClr val="dk1"/>
                </a:solidFill>
                <a:latin typeface="Times New Roman"/>
                <a:ea typeface="Times New Roman"/>
                <a:cs typeface="Times New Roman"/>
                <a:sym typeface="Times New Roman"/>
              </a:rPr>
              <a:t>                       </a:t>
            </a:r>
            <a:r>
              <a:rPr lang="en-US" sz="2600" b="0" i="0" u="none" dirty="0">
                <a:solidFill>
                  <a:schemeClr val="dk1"/>
                </a:solidFill>
                <a:latin typeface="Times New Roman"/>
                <a:ea typeface="Times New Roman"/>
                <a:cs typeface="Times New Roman"/>
                <a:sym typeface="Times New Roman"/>
              </a:rPr>
              <a:t>confidence interval for    </a:t>
            </a:r>
            <a:r>
              <a:rPr lang="en-US" sz="2600" dirty="0">
                <a:solidFill>
                  <a:schemeClr val="dk1"/>
                </a:solidFill>
                <a:latin typeface="Times New Roman"/>
                <a:ea typeface="Times New Roman"/>
                <a:cs typeface="Times New Roman"/>
                <a:sym typeface="Times New Roman"/>
              </a:rPr>
              <a:t>  </a:t>
            </a:r>
            <a:r>
              <a:rPr lang="en-US" sz="2600" b="0" i="0" u="none" dirty="0">
                <a:solidFill>
                  <a:schemeClr val="dk1"/>
                </a:solidFill>
                <a:latin typeface="Times New Roman"/>
                <a:ea typeface="Times New Roman"/>
                <a:cs typeface="Times New Roman"/>
                <a:sym typeface="Times New Roman"/>
              </a:rPr>
              <a:t>the mean response of </a:t>
            </a:r>
            <a:r>
              <a:rPr lang="en-US" sz="2600" b="0" i="1" u="none" dirty="0">
                <a:solidFill>
                  <a:schemeClr val="dk1"/>
                </a:solidFill>
                <a:latin typeface="Times New Roman"/>
                <a:ea typeface="Times New Roman"/>
                <a:cs typeface="Times New Roman"/>
                <a:sym typeface="Times New Roman"/>
              </a:rPr>
              <a:t>y </a:t>
            </a:r>
            <a:r>
              <a:rPr lang="en-US" sz="2600" b="0" i="0" u="none" dirty="0">
                <a:solidFill>
                  <a:schemeClr val="dk1"/>
                </a:solidFill>
                <a:latin typeface="Times New Roman"/>
                <a:ea typeface="Times New Roman"/>
                <a:cs typeface="Times New Roman"/>
                <a:sym typeface="Times New Roman"/>
              </a:rPr>
              <a:t>for a specified value of </a:t>
            </a:r>
            <a:r>
              <a:rPr lang="en-US" sz="2600" b="0" i="1" u="none" dirty="0">
                <a:solidFill>
                  <a:schemeClr val="dk1"/>
                </a:solidFill>
                <a:latin typeface="Times New Roman"/>
                <a:ea typeface="Times New Roman"/>
                <a:cs typeface="Times New Roman"/>
                <a:sym typeface="Times New Roman"/>
              </a:rPr>
              <a:t>x</a:t>
            </a:r>
            <a:r>
              <a:rPr lang="en-US" sz="2600" b="0" i="0" u="none" dirty="0">
                <a:solidFill>
                  <a:schemeClr val="dk1"/>
                </a:solidFill>
                <a:latin typeface="Times New Roman"/>
                <a:ea typeface="Times New Roman"/>
                <a:cs typeface="Times New Roman"/>
                <a:sym typeface="Times New Roman"/>
              </a:rPr>
              <a:t>, is given by</a:t>
            </a: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r>
              <a:rPr lang="en-US" sz="2600" dirty="0">
                <a:solidFill>
                  <a:schemeClr val="dk1"/>
                </a:solidFill>
                <a:latin typeface="Times New Roman"/>
                <a:cs typeface="Times New Roman"/>
                <a:sym typeface="Times New Roman"/>
              </a:rPr>
              <a:t>	Lower bound:</a:t>
            </a: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r>
              <a:rPr lang="en-US" sz="2600" dirty="0">
                <a:solidFill>
                  <a:schemeClr val="dk1"/>
                </a:solidFill>
                <a:latin typeface="Times New Roman"/>
                <a:cs typeface="Times New Roman"/>
                <a:sym typeface="Times New Roman"/>
              </a:rPr>
              <a:t>	Upper bound: </a:t>
            </a:r>
            <a:endParaRPr dirty="0"/>
          </a:p>
          <a:p>
            <a:pPr marL="0" marR="0" lvl="0" indent="0" algn="l" rtl="0">
              <a:lnSpc>
                <a:spcPct val="100000"/>
              </a:lnSpc>
              <a:spcBef>
                <a:spcPts val="0"/>
              </a:spcBef>
              <a:spcAft>
                <a:spcPts val="0"/>
              </a:spcAft>
              <a:buNone/>
            </a:pPr>
            <a:endParaRPr sz="2600" b="0" i="0" u="none" dirty="0">
              <a:solidFill>
                <a:schemeClr val="dk1"/>
              </a:solidFill>
              <a:latin typeface="Times New Roman"/>
              <a:ea typeface="Times New Roman"/>
              <a:cs typeface="Times New Roman"/>
              <a:sym typeface="Times New Roman"/>
            </a:endParaRPr>
          </a:p>
        </p:txBody>
      </p:sp>
      <p:sp>
        <p:nvSpPr>
          <p:cNvPr id="494" name="Google Shape;494;p69"/>
          <p:cNvSpPr txBox="1"/>
          <p:nvPr/>
        </p:nvSpPr>
        <p:spPr>
          <a:xfrm>
            <a:off x="457691" y="5047955"/>
            <a:ext cx="8075612" cy="117951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600"/>
              <a:buFont typeface="Times New Roman"/>
              <a:buNone/>
            </a:pPr>
            <a:r>
              <a:rPr lang="en-US" sz="2600" b="0" i="0" u="none" dirty="0">
                <a:solidFill>
                  <a:schemeClr val="dk1"/>
                </a:solidFill>
                <a:latin typeface="Times New Roman"/>
                <a:ea typeface="Times New Roman"/>
                <a:cs typeface="Times New Roman"/>
                <a:sym typeface="Times New Roman"/>
              </a:rPr>
              <a:t>where </a:t>
            </a:r>
            <a:r>
              <a:rPr lang="en-US" sz="2600" b="0" i="1" u="none" dirty="0">
                <a:solidFill>
                  <a:schemeClr val="dk1"/>
                </a:solidFill>
                <a:latin typeface="Times New Roman"/>
                <a:ea typeface="Times New Roman"/>
                <a:cs typeface="Times New Roman"/>
                <a:sym typeface="Times New Roman"/>
              </a:rPr>
              <a:t>x</a:t>
            </a:r>
            <a:r>
              <a:rPr lang="en-US" sz="2600" b="0" i="0" u="none" dirty="0">
                <a:solidFill>
                  <a:schemeClr val="dk1"/>
                </a:solidFill>
                <a:latin typeface="Times New Roman"/>
                <a:ea typeface="Times New Roman"/>
                <a:cs typeface="Times New Roman"/>
                <a:sym typeface="Times New Roman"/>
              </a:rPr>
              <a:t>* is the given value of the explanatory variable, </a:t>
            </a:r>
            <a:r>
              <a:rPr lang="en-US" sz="2600" b="0" i="1" u="none" dirty="0">
                <a:solidFill>
                  <a:schemeClr val="dk1"/>
                </a:solidFill>
                <a:latin typeface="Times New Roman"/>
                <a:ea typeface="Times New Roman"/>
                <a:cs typeface="Times New Roman"/>
                <a:sym typeface="Times New Roman"/>
              </a:rPr>
              <a:t>n</a:t>
            </a:r>
            <a:r>
              <a:rPr lang="en-US" sz="2600" b="0" i="0" u="none" dirty="0">
                <a:solidFill>
                  <a:schemeClr val="dk1"/>
                </a:solidFill>
                <a:latin typeface="Times New Roman"/>
                <a:ea typeface="Times New Roman"/>
                <a:cs typeface="Times New Roman"/>
                <a:sym typeface="Times New Roman"/>
              </a:rPr>
              <a:t> is the number of observations, and </a:t>
            </a:r>
            <a:r>
              <a:rPr lang="en-US" sz="2600" b="0" i="1" u="none" dirty="0">
                <a:solidFill>
                  <a:schemeClr val="dk1"/>
                </a:solidFill>
                <a:latin typeface="Times New Roman"/>
                <a:ea typeface="Times New Roman"/>
                <a:cs typeface="Times New Roman"/>
                <a:sym typeface="Times New Roman"/>
              </a:rPr>
              <a:t>t</a:t>
            </a:r>
            <a:r>
              <a:rPr lang="en-US" sz="2600" b="0" i="1" u="none" baseline="-25000" dirty="0">
                <a:solidFill>
                  <a:schemeClr val="dk1"/>
                </a:solidFill>
                <a:latin typeface="Times New Roman"/>
                <a:ea typeface="Times New Roman"/>
                <a:cs typeface="Times New Roman"/>
                <a:sym typeface="Times New Roman"/>
              </a:rPr>
              <a:t>α</a:t>
            </a:r>
            <a:r>
              <a:rPr lang="en-US" sz="2600" b="0" i="0" u="none" baseline="-25000" dirty="0">
                <a:solidFill>
                  <a:schemeClr val="dk1"/>
                </a:solidFill>
                <a:latin typeface="Times New Roman"/>
                <a:ea typeface="Times New Roman"/>
                <a:cs typeface="Times New Roman"/>
                <a:sym typeface="Times New Roman"/>
              </a:rPr>
              <a:t>/2</a:t>
            </a:r>
            <a:r>
              <a:rPr lang="en-US" sz="2600" b="0" i="0" u="none" dirty="0">
                <a:solidFill>
                  <a:schemeClr val="dk1"/>
                </a:solidFill>
                <a:latin typeface="Times New Roman"/>
                <a:ea typeface="Times New Roman"/>
                <a:cs typeface="Times New Roman"/>
                <a:sym typeface="Times New Roman"/>
              </a:rPr>
              <a:t> is the critical value with </a:t>
            </a:r>
            <a:r>
              <a:rPr lang="en-US" sz="2600" b="0" i="1" u="none" dirty="0">
                <a:solidFill>
                  <a:schemeClr val="dk1"/>
                </a:solidFill>
                <a:latin typeface="Times New Roman"/>
                <a:ea typeface="Times New Roman"/>
                <a:cs typeface="Times New Roman"/>
                <a:sym typeface="Times New Roman"/>
              </a:rPr>
              <a:t>n</a:t>
            </a:r>
            <a:r>
              <a:rPr lang="en-US" sz="2600" b="0" i="0" u="none" dirty="0">
                <a:solidFill>
                  <a:schemeClr val="dk1"/>
                </a:solidFill>
                <a:latin typeface="Times New Roman"/>
                <a:ea typeface="Times New Roman"/>
                <a:cs typeface="Times New Roman"/>
                <a:sym typeface="Times New Roman"/>
              </a:rPr>
              <a:t> – 2 degrees of freedom.</a:t>
            </a:r>
            <a:endParaRPr dirty="0"/>
          </a:p>
        </p:txBody>
      </p:sp>
      <p:sp>
        <p:nvSpPr>
          <p:cNvPr id="495" name="Google Shape;495;p6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55</a:t>
            </a:fld>
            <a:endParaRPr/>
          </a:p>
        </p:txBody>
      </p:sp>
      <p:graphicFrame>
        <p:nvGraphicFramePr>
          <p:cNvPr id="3" name="Object 2">
            <a:extLst>
              <a:ext uri="{FF2B5EF4-FFF2-40B4-BE49-F238E27FC236}">
                <a16:creationId xmlns:a16="http://schemas.microsoft.com/office/drawing/2014/main" id="{B5069840-FB2C-43D6-B79D-F0D3B68C4091}"/>
              </a:ext>
            </a:extLst>
          </p:cNvPr>
          <p:cNvGraphicFramePr>
            <a:graphicFrameLocks noChangeAspect="1"/>
          </p:cNvGraphicFramePr>
          <p:nvPr>
            <p:extLst>
              <p:ext uri="{D42A27DB-BD31-4B8C-83A1-F6EECF244321}">
                <p14:modId xmlns:p14="http://schemas.microsoft.com/office/powerpoint/2010/main" val="2580283534"/>
              </p:ext>
            </p:extLst>
          </p:nvPr>
        </p:nvGraphicFramePr>
        <p:xfrm>
          <a:off x="856465" y="864124"/>
          <a:ext cx="1790700" cy="368300"/>
        </p:xfrm>
        <a:graphic>
          <a:graphicData uri="http://schemas.openxmlformats.org/presentationml/2006/ole">
            <mc:AlternateContent xmlns:mc="http://schemas.openxmlformats.org/markup-compatibility/2006">
              <mc:Choice xmlns:v="urn:schemas-microsoft-com:vml" Requires="v">
                <p:oleObj spid="_x0000_s96064" name="Equation" r:id="rId4" imgW="1790640" imgH="368280" progId="Equation.DSMT4">
                  <p:embed/>
                </p:oleObj>
              </mc:Choice>
              <mc:Fallback>
                <p:oleObj name="Equation" r:id="rId4" imgW="1790640" imgH="368280" progId="Equation.DSMT4">
                  <p:embed/>
                  <p:pic>
                    <p:nvPicPr>
                      <p:cNvPr id="0" name=""/>
                      <p:cNvPicPr/>
                      <p:nvPr/>
                    </p:nvPicPr>
                    <p:blipFill>
                      <a:blip r:embed="rId5"/>
                      <a:stretch>
                        <a:fillRect/>
                      </a:stretch>
                    </p:blipFill>
                    <p:spPr>
                      <a:xfrm>
                        <a:off x="856465" y="864124"/>
                        <a:ext cx="1790700" cy="3683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A476E3C2-866A-431E-A60D-6F7C41FCA01B}"/>
              </a:ext>
            </a:extLst>
          </p:cNvPr>
          <p:cNvGraphicFramePr>
            <a:graphicFrameLocks noChangeAspect="1"/>
          </p:cNvGraphicFramePr>
          <p:nvPr>
            <p:extLst>
              <p:ext uri="{D42A27DB-BD31-4B8C-83A1-F6EECF244321}">
                <p14:modId xmlns:p14="http://schemas.microsoft.com/office/powerpoint/2010/main" val="2755923088"/>
              </p:ext>
            </p:extLst>
          </p:nvPr>
        </p:nvGraphicFramePr>
        <p:xfrm>
          <a:off x="8052390" y="395550"/>
          <a:ext cx="241300" cy="381000"/>
        </p:xfrm>
        <a:graphic>
          <a:graphicData uri="http://schemas.openxmlformats.org/presentationml/2006/ole">
            <mc:AlternateContent xmlns:mc="http://schemas.openxmlformats.org/markup-compatibility/2006">
              <mc:Choice xmlns:v="urn:schemas-microsoft-com:vml" Requires="v">
                <p:oleObj spid="_x0000_s96065" name="Equation" r:id="rId6" imgW="241200" imgH="380880" progId="Equation.DSMT4">
                  <p:embed/>
                </p:oleObj>
              </mc:Choice>
              <mc:Fallback>
                <p:oleObj name="Equation" r:id="rId6" imgW="241200" imgH="380880" progId="Equation.DSMT4">
                  <p:embed/>
                  <p:pic>
                    <p:nvPicPr>
                      <p:cNvPr id="0" name=""/>
                      <p:cNvPicPr/>
                      <p:nvPr/>
                    </p:nvPicPr>
                    <p:blipFill>
                      <a:blip r:embed="rId7"/>
                      <a:stretch>
                        <a:fillRect/>
                      </a:stretch>
                    </p:blipFill>
                    <p:spPr>
                      <a:xfrm>
                        <a:off x="8052390" y="395550"/>
                        <a:ext cx="241300" cy="3810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B36BD70-1DBF-44A1-9442-E559DE73075F}"/>
              </a:ext>
            </a:extLst>
          </p:cNvPr>
          <p:cNvGraphicFramePr>
            <a:graphicFrameLocks noChangeAspect="1"/>
          </p:cNvGraphicFramePr>
          <p:nvPr>
            <p:extLst>
              <p:ext uri="{D42A27DB-BD31-4B8C-83A1-F6EECF244321}">
                <p14:modId xmlns:p14="http://schemas.microsoft.com/office/powerpoint/2010/main" val="2545963726"/>
              </p:ext>
            </p:extLst>
          </p:nvPr>
        </p:nvGraphicFramePr>
        <p:xfrm>
          <a:off x="5833620" y="805478"/>
          <a:ext cx="304800" cy="381000"/>
        </p:xfrm>
        <a:graphic>
          <a:graphicData uri="http://schemas.openxmlformats.org/presentationml/2006/ole">
            <mc:AlternateContent xmlns:mc="http://schemas.openxmlformats.org/markup-compatibility/2006">
              <mc:Choice xmlns:v="urn:schemas-microsoft-com:vml" Requires="v">
                <p:oleObj spid="_x0000_s96066" name="Equation" r:id="rId8" imgW="304560" imgH="380880" progId="Equation.DSMT4">
                  <p:embed/>
                </p:oleObj>
              </mc:Choice>
              <mc:Fallback>
                <p:oleObj name="Equation" r:id="rId8" imgW="304560" imgH="380880" progId="Equation.DSMT4">
                  <p:embed/>
                  <p:pic>
                    <p:nvPicPr>
                      <p:cNvPr id="0" name=""/>
                      <p:cNvPicPr/>
                      <p:nvPr/>
                    </p:nvPicPr>
                    <p:blipFill>
                      <a:blip r:embed="rId9"/>
                      <a:stretch>
                        <a:fillRect/>
                      </a:stretch>
                    </p:blipFill>
                    <p:spPr>
                      <a:xfrm>
                        <a:off x="5833620" y="805478"/>
                        <a:ext cx="304800" cy="3810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6710C6F-E598-4F4D-867D-ED7B12E4335B}"/>
              </a:ext>
            </a:extLst>
          </p:cNvPr>
          <p:cNvGraphicFramePr>
            <a:graphicFrameLocks noChangeAspect="1"/>
          </p:cNvGraphicFramePr>
          <p:nvPr>
            <p:extLst>
              <p:ext uri="{D42A27DB-BD31-4B8C-83A1-F6EECF244321}">
                <p14:modId xmlns:p14="http://schemas.microsoft.com/office/powerpoint/2010/main" val="1334709242"/>
              </p:ext>
            </p:extLst>
          </p:nvPr>
        </p:nvGraphicFramePr>
        <p:xfrm>
          <a:off x="3380000" y="3458017"/>
          <a:ext cx="3721100" cy="1257300"/>
        </p:xfrm>
        <a:graphic>
          <a:graphicData uri="http://schemas.openxmlformats.org/presentationml/2006/ole">
            <mc:AlternateContent xmlns:mc="http://schemas.openxmlformats.org/markup-compatibility/2006">
              <mc:Choice xmlns:v="urn:schemas-microsoft-com:vml" Requires="v">
                <p:oleObj spid="_x0000_s96067" name="Equation" r:id="rId10" imgW="3720960" imgH="1257120" progId="Equation.DSMT4">
                  <p:embed/>
                </p:oleObj>
              </mc:Choice>
              <mc:Fallback>
                <p:oleObj name="Equation" r:id="rId10" imgW="3720960" imgH="1257120" progId="Equation.DSMT4">
                  <p:embed/>
                  <p:pic>
                    <p:nvPicPr>
                      <p:cNvPr id="0" name=""/>
                      <p:cNvPicPr/>
                      <p:nvPr/>
                    </p:nvPicPr>
                    <p:blipFill>
                      <a:blip r:embed="rId11"/>
                      <a:stretch>
                        <a:fillRect/>
                      </a:stretch>
                    </p:blipFill>
                    <p:spPr>
                      <a:xfrm>
                        <a:off x="3380000" y="3458017"/>
                        <a:ext cx="3721100" cy="12573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48B78D3-D698-47D4-9732-A8D66B1017F6}"/>
              </a:ext>
            </a:extLst>
          </p:cNvPr>
          <p:cNvSpPr txBox="1"/>
          <p:nvPr/>
        </p:nvSpPr>
        <p:spPr>
          <a:xfrm>
            <a:off x="8052390" y="3213556"/>
            <a:ext cx="535757"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(1)</a:t>
            </a:r>
          </a:p>
        </p:txBody>
      </p:sp>
      <p:graphicFrame>
        <p:nvGraphicFramePr>
          <p:cNvPr id="8" name="Object 7">
            <a:extLst>
              <a:ext uri="{FF2B5EF4-FFF2-40B4-BE49-F238E27FC236}">
                <a16:creationId xmlns:a16="http://schemas.microsoft.com/office/drawing/2014/main" id="{8A1B9D0C-2125-4826-9CF0-3B40837FD2A6}"/>
              </a:ext>
            </a:extLst>
          </p:cNvPr>
          <p:cNvGraphicFramePr>
            <a:graphicFrameLocks noChangeAspect="1"/>
          </p:cNvGraphicFramePr>
          <p:nvPr>
            <p:extLst>
              <p:ext uri="{D42A27DB-BD31-4B8C-83A1-F6EECF244321}">
                <p14:modId xmlns:p14="http://schemas.microsoft.com/office/powerpoint/2010/main" val="2031516439"/>
              </p:ext>
            </p:extLst>
          </p:nvPr>
        </p:nvGraphicFramePr>
        <p:xfrm>
          <a:off x="3380000" y="1896090"/>
          <a:ext cx="3721100" cy="1257300"/>
        </p:xfrm>
        <a:graphic>
          <a:graphicData uri="http://schemas.openxmlformats.org/presentationml/2006/ole">
            <mc:AlternateContent xmlns:mc="http://schemas.openxmlformats.org/markup-compatibility/2006">
              <mc:Choice xmlns:v="urn:schemas-microsoft-com:vml" Requires="v">
                <p:oleObj spid="_x0000_s96068" name="Equation" r:id="rId12" imgW="3720960" imgH="1257120" progId="Equation.DSMT4">
                  <p:embed/>
                </p:oleObj>
              </mc:Choice>
              <mc:Fallback>
                <p:oleObj name="Equation" r:id="rId12" imgW="3720960" imgH="1257120" progId="Equation.DSMT4">
                  <p:embed/>
                  <p:pic>
                    <p:nvPicPr>
                      <p:cNvPr id="0" name=""/>
                      <p:cNvPicPr/>
                      <p:nvPr/>
                    </p:nvPicPr>
                    <p:blipFill>
                      <a:blip r:embed="rId13"/>
                      <a:stretch>
                        <a:fillRect/>
                      </a:stretch>
                    </p:blipFill>
                    <p:spPr>
                      <a:xfrm>
                        <a:off x="3380000" y="1896090"/>
                        <a:ext cx="3721100" cy="1257300"/>
                      </a:xfrm>
                      <a:prstGeom prst="rect">
                        <a:avLst/>
                      </a:prstGeom>
                    </p:spPr>
                  </p:pic>
                </p:oleObj>
              </mc:Fallback>
            </mc:AlternateContent>
          </a:graphicData>
        </a:graphic>
      </p:graphicFrame>
    </p:spTree>
    <p:extLst>
      <p:ext uri="{BB962C8B-B14F-4D97-AF65-F5344CB8AC3E}">
        <p14:creationId xmlns:p14="http://schemas.microsoft.com/office/powerpoint/2010/main" val="345244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56</a:t>
            </a:fld>
            <a:endParaRPr dirty="0"/>
          </a:p>
        </p:txBody>
      </p:sp>
      <p:sp>
        <p:nvSpPr>
          <p:cNvPr id="315" name="Google Shape;315;p49"/>
          <p:cNvSpPr txBox="1"/>
          <p:nvPr/>
        </p:nvSpPr>
        <p:spPr>
          <a:xfrm>
            <a:off x="381000" y="1225485"/>
            <a:ext cx="8544759" cy="3101418"/>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Construct a 95% confidence interval for the predicted mean total cholesterol of all 42-year-old females using the data in Table 1.</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a</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4)                        </a:t>
            </a:r>
            <a:r>
              <a:rPr lang="en-US" sz="2400" b="0" i="1" u="none" dirty="0">
                <a:solidFill>
                  <a:schemeClr val="dk1"/>
                </a:solidFill>
                <a:latin typeface="Arial"/>
                <a:ea typeface="Arial"/>
                <a:cs typeface="Arial"/>
                <a:sym typeface="Arial"/>
              </a:rPr>
              <a:t>Mean Response by Hand</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940BEB1A-5AB0-41D8-851C-14A51EB09E8F}"/>
              </a:ext>
            </a:extLst>
          </p:cNvPr>
          <p:cNvPicPr>
            <a:picLocks noChangeAspect="1"/>
          </p:cNvPicPr>
          <p:nvPr/>
        </p:nvPicPr>
        <p:blipFill>
          <a:blip r:embed="rId3"/>
          <a:stretch>
            <a:fillRect/>
          </a:stretch>
        </p:blipFill>
        <p:spPr>
          <a:xfrm>
            <a:off x="990600" y="2653547"/>
            <a:ext cx="6940310" cy="3346711"/>
          </a:xfrm>
          <a:prstGeom prst="rect">
            <a:avLst/>
          </a:prstGeom>
        </p:spPr>
      </p:pic>
    </p:spTree>
    <p:extLst>
      <p:ext uri="{BB962C8B-B14F-4D97-AF65-F5344CB8AC3E}">
        <p14:creationId xmlns:p14="http://schemas.microsoft.com/office/powerpoint/2010/main" val="2585542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57</a:t>
            </a:fld>
            <a:endParaRPr dirty="0"/>
          </a:p>
        </p:txBody>
      </p:sp>
      <p:sp>
        <p:nvSpPr>
          <p:cNvPr id="315" name="Google Shape;315;p49"/>
          <p:cNvSpPr txBox="1"/>
          <p:nvPr/>
        </p:nvSpPr>
        <p:spPr>
          <a:xfrm>
            <a:off x="381000" y="1225484"/>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least-squares regression equation is </a:t>
            </a:r>
          </a:p>
          <a:p>
            <a:r>
              <a:rPr lang="en-US" sz="2600" dirty="0">
                <a:latin typeface="Times New Roman" panose="02020603050405020304" pitchFamily="18" charset="0"/>
                <a:cs typeface="Times New Roman" panose="02020603050405020304" pitchFamily="18" charset="0"/>
              </a:rPr>
              <a:t>To find the predicted mean total cholesterol of all 42-year-olds, let </a:t>
            </a:r>
            <a:r>
              <a:rPr lang="en-US" sz="2600" i="1" dirty="0">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 42 in the regression equation and obtain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mg/dL.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From a previous example, we found that </a:t>
            </a:r>
            <a:r>
              <a:rPr lang="en-US" sz="2600" i="1" dirty="0">
                <a:latin typeface="Times New Roman" panose="02020603050405020304" pitchFamily="18" charset="0"/>
                <a:cs typeface="Times New Roman" panose="02020603050405020304" pitchFamily="18" charset="0"/>
              </a:rPr>
              <a:t>s</a:t>
            </a:r>
            <a:r>
              <a:rPr lang="en-US" sz="2600" i="1" baseline="-25000" dirty="0">
                <a:latin typeface="Times New Roman" panose="02020603050405020304" pitchFamily="18" charset="0"/>
                <a:cs typeface="Times New Roman" panose="02020603050405020304" pitchFamily="18" charset="0"/>
              </a:rPr>
              <a:t>e </a:t>
            </a:r>
            <a:r>
              <a:rPr lang="en-US" sz="2600" dirty="0">
                <a:latin typeface="Times New Roman" panose="02020603050405020304" pitchFamily="18" charset="0"/>
                <a:cs typeface="Times New Roman" panose="02020603050405020304" pitchFamily="18" charset="0"/>
              </a:rPr>
              <a:t>= 19.48, and from </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another example we found that                                          and</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critical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-value,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2 = 14 – 2 = 12 degrees of freedom is 2.179. </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a</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4)                        </a:t>
            </a:r>
            <a:r>
              <a:rPr lang="en-US" sz="2400" b="0" i="1" u="none" dirty="0">
                <a:solidFill>
                  <a:schemeClr val="dk1"/>
                </a:solidFill>
                <a:latin typeface="Arial"/>
                <a:ea typeface="Arial"/>
                <a:cs typeface="Arial"/>
                <a:sym typeface="Arial"/>
              </a:rPr>
              <a:t>Mean Response by Hand</a:t>
            </a:r>
            <a:endParaRPr sz="2400" i="1" dirty="0"/>
          </a:p>
        </p:txBody>
      </p:sp>
      <p:graphicFrame>
        <p:nvGraphicFramePr>
          <p:cNvPr id="6" name="Object 5">
            <a:extLst>
              <a:ext uri="{FF2B5EF4-FFF2-40B4-BE49-F238E27FC236}">
                <a16:creationId xmlns:a16="http://schemas.microsoft.com/office/drawing/2014/main" id="{40482F7A-74E3-42CB-86BE-C42EE1B9F45E}"/>
              </a:ext>
            </a:extLst>
          </p:cNvPr>
          <p:cNvGraphicFramePr>
            <a:graphicFrameLocks noChangeAspect="1"/>
          </p:cNvGraphicFramePr>
          <p:nvPr>
            <p:extLst>
              <p:ext uri="{D42A27DB-BD31-4B8C-83A1-F6EECF244321}">
                <p14:modId xmlns:p14="http://schemas.microsoft.com/office/powerpoint/2010/main" val="1511474701"/>
              </p:ext>
            </p:extLst>
          </p:nvPr>
        </p:nvGraphicFramePr>
        <p:xfrm>
          <a:off x="5782509" y="1316790"/>
          <a:ext cx="3143250" cy="371475"/>
        </p:xfrm>
        <a:graphic>
          <a:graphicData uri="http://schemas.openxmlformats.org/presentationml/2006/ole">
            <mc:AlternateContent xmlns:mc="http://schemas.openxmlformats.org/markup-compatibility/2006">
              <mc:Choice xmlns:v="urn:schemas-microsoft-com:vml" Requires="v">
                <p:oleObj spid="_x0000_s97055" name="Equation" r:id="rId4" imgW="3143040" imgH="371582" progId="Equation.DSMT4">
                  <p:embed/>
                </p:oleObj>
              </mc:Choice>
              <mc:Fallback>
                <p:oleObj name="Equation" r:id="rId4" imgW="3143040" imgH="371582" progId="Equation.DSMT4">
                  <p:embed/>
                  <p:pic>
                    <p:nvPicPr>
                      <p:cNvPr id="2" name="Object 1">
                        <a:extLst>
                          <a:ext uri="{FF2B5EF4-FFF2-40B4-BE49-F238E27FC236}">
                            <a16:creationId xmlns:a16="http://schemas.microsoft.com/office/drawing/2014/main" id="{91C4F503-08F6-4C50-9B0B-48F158D29510}"/>
                          </a:ext>
                        </a:extLst>
                      </p:cNvPr>
                      <p:cNvPicPr/>
                      <p:nvPr/>
                    </p:nvPicPr>
                    <p:blipFill>
                      <a:blip r:embed="rId5"/>
                      <a:stretch>
                        <a:fillRect/>
                      </a:stretch>
                    </p:blipFill>
                    <p:spPr>
                      <a:xfrm>
                        <a:off x="5782509" y="1316790"/>
                        <a:ext cx="3143250" cy="371475"/>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F9A5D6FE-EDF6-44D2-95DF-ED68C10C4985}"/>
              </a:ext>
            </a:extLst>
          </p:cNvPr>
          <p:cNvGraphicFramePr>
            <a:graphicFrameLocks noChangeAspect="1"/>
          </p:cNvGraphicFramePr>
          <p:nvPr>
            <p:extLst>
              <p:ext uri="{D42A27DB-BD31-4B8C-83A1-F6EECF244321}">
                <p14:modId xmlns:p14="http://schemas.microsoft.com/office/powerpoint/2010/main" val="2956812789"/>
              </p:ext>
            </p:extLst>
          </p:nvPr>
        </p:nvGraphicFramePr>
        <p:xfrm>
          <a:off x="456416" y="2478871"/>
          <a:ext cx="4572000" cy="469900"/>
        </p:xfrm>
        <a:graphic>
          <a:graphicData uri="http://schemas.openxmlformats.org/presentationml/2006/ole">
            <mc:AlternateContent xmlns:mc="http://schemas.openxmlformats.org/markup-compatibility/2006">
              <mc:Choice xmlns:v="urn:schemas-microsoft-com:vml" Requires="v">
                <p:oleObj spid="_x0000_s97056" name="Equation" r:id="rId6" imgW="4572000" imgH="469800" progId="Equation.DSMT4">
                  <p:embed/>
                </p:oleObj>
              </mc:Choice>
              <mc:Fallback>
                <p:oleObj name="Equation" r:id="rId6" imgW="4572000" imgH="469800" progId="Equation.DSMT4">
                  <p:embed/>
                  <p:pic>
                    <p:nvPicPr>
                      <p:cNvPr id="0" name=""/>
                      <p:cNvPicPr/>
                      <p:nvPr/>
                    </p:nvPicPr>
                    <p:blipFill>
                      <a:blip r:embed="rId7"/>
                      <a:stretch>
                        <a:fillRect/>
                      </a:stretch>
                    </p:blipFill>
                    <p:spPr>
                      <a:xfrm>
                        <a:off x="456416" y="2478871"/>
                        <a:ext cx="4572000" cy="4699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62D5F74B-016A-461D-BA8C-3B0F8A586FEF}"/>
              </a:ext>
            </a:extLst>
          </p:cNvPr>
          <p:cNvGraphicFramePr>
            <a:graphicFrameLocks noChangeAspect="1"/>
          </p:cNvGraphicFramePr>
          <p:nvPr>
            <p:extLst>
              <p:ext uri="{D42A27DB-BD31-4B8C-83A1-F6EECF244321}">
                <p14:modId xmlns:p14="http://schemas.microsoft.com/office/powerpoint/2010/main" val="701577759"/>
              </p:ext>
            </p:extLst>
          </p:nvPr>
        </p:nvGraphicFramePr>
        <p:xfrm>
          <a:off x="4653379" y="3711100"/>
          <a:ext cx="3289300" cy="533400"/>
        </p:xfrm>
        <a:graphic>
          <a:graphicData uri="http://schemas.openxmlformats.org/presentationml/2006/ole">
            <mc:AlternateContent xmlns:mc="http://schemas.openxmlformats.org/markup-compatibility/2006">
              <mc:Choice xmlns:v="urn:schemas-microsoft-com:vml" Requires="v">
                <p:oleObj spid="_x0000_s97057" name="Equation" r:id="rId8" imgW="3288960" imgH="533160" progId="Equation.DSMT4">
                  <p:embed/>
                </p:oleObj>
              </mc:Choice>
              <mc:Fallback>
                <p:oleObj name="Equation" r:id="rId8" imgW="3288960" imgH="533160" progId="Equation.DSMT4">
                  <p:embed/>
                  <p:pic>
                    <p:nvPicPr>
                      <p:cNvPr id="0" name=""/>
                      <p:cNvPicPr/>
                      <p:nvPr/>
                    </p:nvPicPr>
                    <p:blipFill>
                      <a:blip r:embed="rId9"/>
                      <a:stretch>
                        <a:fillRect/>
                      </a:stretch>
                    </p:blipFill>
                    <p:spPr>
                      <a:xfrm>
                        <a:off x="4653379" y="3711100"/>
                        <a:ext cx="3289300" cy="5334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1953EAC0-A739-4189-AA2C-20EC1947ACA3}"/>
              </a:ext>
            </a:extLst>
          </p:cNvPr>
          <p:cNvGraphicFramePr>
            <a:graphicFrameLocks noChangeAspect="1"/>
          </p:cNvGraphicFramePr>
          <p:nvPr>
            <p:extLst>
              <p:ext uri="{D42A27DB-BD31-4B8C-83A1-F6EECF244321}">
                <p14:modId xmlns:p14="http://schemas.microsoft.com/office/powerpoint/2010/main" val="3765416055"/>
              </p:ext>
            </p:extLst>
          </p:nvPr>
        </p:nvGraphicFramePr>
        <p:xfrm>
          <a:off x="456416" y="4244500"/>
          <a:ext cx="1866900" cy="292100"/>
        </p:xfrm>
        <a:graphic>
          <a:graphicData uri="http://schemas.openxmlformats.org/presentationml/2006/ole">
            <mc:AlternateContent xmlns:mc="http://schemas.openxmlformats.org/markup-compatibility/2006">
              <mc:Choice xmlns:v="urn:schemas-microsoft-com:vml" Requires="v">
                <p:oleObj spid="_x0000_s97058" name="Equation" r:id="rId10" imgW="1866600" imgH="291960" progId="Equation.DSMT4">
                  <p:embed/>
                </p:oleObj>
              </mc:Choice>
              <mc:Fallback>
                <p:oleObj name="Equation" r:id="rId10" imgW="1866600" imgH="291960" progId="Equation.DSMT4">
                  <p:embed/>
                  <p:pic>
                    <p:nvPicPr>
                      <p:cNvPr id="0" name=""/>
                      <p:cNvPicPr/>
                      <p:nvPr/>
                    </p:nvPicPr>
                    <p:blipFill>
                      <a:blip r:embed="rId11"/>
                      <a:stretch>
                        <a:fillRect/>
                      </a:stretch>
                    </p:blipFill>
                    <p:spPr>
                      <a:xfrm>
                        <a:off x="456416" y="4244500"/>
                        <a:ext cx="1866900" cy="2921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F1B866B-54F8-4025-B5B6-E55282B14EB6}"/>
              </a:ext>
            </a:extLst>
          </p:cNvPr>
          <p:cNvGraphicFramePr>
            <a:graphicFrameLocks noChangeAspect="1"/>
          </p:cNvGraphicFramePr>
          <p:nvPr>
            <p:extLst>
              <p:ext uri="{D42A27DB-BD31-4B8C-83A1-F6EECF244321}">
                <p14:modId xmlns:p14="http://schemas.microsoft.com/office/powerpoint/2010/main" val="2112341512"/>
              </p:ext>
            </p:extLst>
          </p:nvPr>
        </p:nvGraphicFramePr>
        <p:xfrm>
          <a:off x="3162300" y="5004045"/>
          <a:ext cx="1409700" cy="393700"/>
        </p:xfrm>
        <a:graphic>
          <a:graphicData uri="http://schemas.openxmlformats.org/presentationml/2006/ole">
            <mc:AlternateContent xmlns:mc="http://schemas.openxmlformats.org/markup-compatibility/2006">
              <mc:Choice xmlns:v="urn:schemas-microsoft-com:vml" Requires="v">
                <p:oleObj spid="_x0000_s97059" name="Equation" r:id="rId12" imgW="1409400" imgH="393480" progId="Equation.DSMT4">
                  <p:embed/>
                </p:oleObj>
              </mc:Choice>
              <mc:Fallback>
                <p:oleObj name="Equation" r:id="rId12" imgW="1409400" imgH="393480" progId="Equation.DSMT4">
                  <p:embed/>
                  <p:pic>
                    <p:nvPicPr>
                      <p:cNvPr id="0" name=""/>
                      <p:cNvPicPr/>
                      <p:nvPr/>
                    </p:nvPicPr>
                    <p:blipFill>
                      <a:blip r:embed="rId13"/>
                      <a:stretch>
                        <a:fillRect/>
                      </a:stretch>
                    </p:blipFill>
                    <p:spPr>
                      <a:xfrm>
                        <a:off x="3162300" y="5004045"/>
                        <a:ext cx="1409700" cy="393700"/>
                      </a:xfrm>
                      <a:prstGeom prst="rect">
                        <a:avLst/>
                      </a:prstGeom>
                    </p:spPr>
                  </p:pic>
                </p:oleObj>
              </mc:Fallback>
            </mc:AlternateContent>
          </a:graphicData>
        </a:graphic>
      </p:graphicFrame>
    </p:spTree>
    <p:extLst>
      <p:ext uri="{BB962C8B-B14F-4D97-AF65-F5344CB8AC3E}">
        <p14:creationId xmlns:p14="http://schemas.microsoft.com/office/powerpoint/2010/main" val="426931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5" end="5"/>
                                            </p:txEl>
                                          </p:spTgt>
                                        </p:tgtEl>
                                        <p:attrNameLst>
                                          <p:attrName>style.visibility</p:attrName>
                                        </p:attrNameLst>
                                      </p:cBhvr>
                                      <p:to>
                                        <p:strVal val="visible"/>
                                      </p:to>
                                    </p:set>
                                    <p:animEffect transition="in" filter="fade">
                                      <p:cBhvr>
                                        <p:cTn id="10" dur="500"/>
                                        <p:tgtEl>
                                          <p:spTgt spid="31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15">
                                            <p:txEl>
                                              <p:pRg st="7" end="7"/>
                                            </p:txEl>
                                          </p:spTgt>
                                        </p:tgtEl>
                                        <p:attrNameLst>
                                          <p:attrName>style.visibility</p:attrName>
                                        </p:attrNameLst>
                                      </p:cBhvr>
                                      <p:to>
                                        <p:strVal val="visible"/>
                                      </p:to>
                                    </p:set>
                                    <p:animEffect transition="in" filter="fade">
                                      <p:cBhvr>
                                        <p:cTn id="21" dur="500"/>
                                        <p:tgtEl>
                                          <p:spTgt spid="315">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58</a:t>
            </a:fld>
            <a:endParaRPr dirty="0"/>
          </a:p>
        </p:txBody>
      </p:sp>
      <p:sp>
        <p:nvSpPr>
          <p:cNvPr id="315" name="Google Shape;315;p49"/>
          <p:cNvSpPr txBox="1"/>
          <p:nvPr/>
        </p:nvSpPr>
        <p:spPr>
          <a:xfrm>
            <a:off x="381000" y="1225484"/>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95% confidence interval for the predicted mean total cholesterol for all 42-year-old females is therefore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Lower bound:</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Upper bound:</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a</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4)                        </a:t>
            </a:r>
            <a:r>
              <a:rPr lang="en-US" sz="2400" b="0" i="1" u="none" dirty="0">
                <a:solidFill>
                  <a:schemeClr val="dk1"/>
                </a:solidFill>
                <a:latin typeface="Arial"/>
                <a:ea typeface="Arial"/>
                <a:cs typeface="Arial"/>
                <a:sym typeface="Arial"/>
              </a:rPr>
              <a:t>Mean Response by Hand</a:t>
            </a:r>
            <a:endParaRPr sz="2400" i="1" dirty="0"/>
          </a:p>
        </p:txBody>
      </p:sp>
      <p:graphicFrame>
        <p:nvGraphicFramePr>
          <p:cNvPr id="10" name="Object 9">
            <a:extLst>
              <a:ext uri="{FF2B5EF4-FFF2-40B4-BE49-F238E27FC236}">
                <a16:creationId xmlns:a16="http://schemas.microsoft.com/office/drawing/2014/main" id="{80A8D522-C221-4FBD-8074-7071E932C2AA}"/>
              </a:ext>
            </a:extLst>
          </p:cNvPr>
          <p:cNvGraphicFramePr>
            <a:graphicFrameLocks noChangeAspect="1"/>
          </p:cNvGraphicFramePr>
          <p:nvPr>
            <p:extLst>
              <p:ext uri="{D42A27DB-BD31-4B8C-83A1-F6EECF244321}">
                <p14:modId xmlns:p14="http://schemas.microsoft.com/office/powerpoint/2010/main" val="4037354235"/>
              </p:ext>
            </p:extLst>
          </p:nvPr>
        </p:nvGraphicFramePr>
        <p:xfrm>
          <a:off x="441325" y="2970213"/>
          <a:ext cx="8293100" cy="1435100"/>
        </p:xfrm>
        <a:graphic>
          <a:graphicData uri="http://schemas.openxmlformats.org/presentationml/2006/ole">
            <mc:AlternateContent xmlns:mc="http://schemas.openxmlformats.org/markup-compatibility/2006">
              <mc:Choice xmlns:v="urn:schemas-microsoft-com:vml" Requires="v">
                <p:oleObj spid="_x0000_s97599" name="Equation" r:id="rId4" imgW="8292960" imgH="1434960" progId="Equation.DSMT4">
                  <p:embed/>
                </p:oleObj>
              </mc:Choice>
              <mc:Fallback>
                <p:oleObj name="Equation" r:id="rId4" imgW="8292960" imgH="1434960" progId="Equation.DSMT4">
                  <p:embed/>
                  <p:pic>
                    <p:nvPicPr>
                      <p:cNvPr id="2" name="Object 1">
                        <a:extLst>
                          <a:ext uri="{FF2B5EF4-FFF2-40B4-BE49-F238E27FC236}">
                            <a16:creationId xmlns:a16="http://schemas.microsoft.com/office/drawing/2014/main" id="{4C31DA94-9AF8-4A92-97F3-88F7E32206F6}"/>
                          </a:ext>
                        </a:extLst>
                      </p:cNvPr>
                      <p:cNvPicPr/>
                      <p:nvPr/>
                    </p:nvPicPr>
                    <p:blipFill>
                      <a:blip r:embed="rId5"/>
                      <a:stretch>
                        <a:fillRect/>
                      </a:stretch>
                    </p:blipFill>
                    <p:spPr>
                      <a:xfrm>
                        <a:off x="441325" y="2970213"/>
                        <a:ext cx="8293100" cy="14351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4BD42571-5DF2-457D-9D2F-55E0F0C3CDCC}"/>
              </a:ext>
            </a:extLst>
          </p:cNvPr>
          <p:cNvGraphicFramePr>
            <a:graphicFrameLocks noChangeAspect="1"/>
          </p:cNvGraphicFramePr>
          <p:nvPr>
            <p:extLst>
              <p:ext uri="{D42A27DB-BD31-4B8C-83A1-F6EECF244321}">
                <p14:modId xmlns:p14="http://schemas.microsoft.com/office/powerpoint/2010/main" val="1236518420"/>
              </p:ext>
            </p:extLst>
          </p:nvPr>
        </p:nvGraphicFramePr>
        <p:xfrm>
          <a:off x="537681" y="4895850"/>
          <a:ext cx="8305800" cy="1435100"/>
        </p:xfrm>
        <a:graphic>
          <a:graphicData uri="http://schemas.openxmlformats.org/presentationml/2006/ole">
            <mc:AlternateContent xmlns:mc="http://schemas.openxmlformats.org/markup-compatibility/2006">
              <mc:Choice xmlns:v="urn:schemas-microsoft-com:vml" Requires="v">
                <p:oleObj spid="_x0000_s97600" name="Equation" r:id="rId6" imgW="8305560" imgH="1434960" progId="Equation.DSMT4">
                  <p:embed/>
                </p:oleObj>
              </mc:Choice>
              <mc:Fallback>
                <p:oleObj name="Equation" r:id="rId6" imgW="8305560" imgH="1434960" progId="Equation.DSMT4">
                  <p:embed/>
                  <p:pic>
                    <p:nvPicPr>
                      <p:cNvPr id="0" name=""/>
                      <p:cNvPicPr/>
                      <p:nvPr/>
                    </p:nvPicPr>
                    <p:blipFill>
                      <a:blip r:embed="rId7"/>
                      <a:stretch>
                        <a:fillRect/>
                      </a:stretch>
                    </p:blipFill>
                    <p:spPr>
                      <a:xfrm>
                        <a:off x="537681" y="4895850"/>
                        <a:ext cx="8305800" cy="1435100"/>
                      </a:xfrm>
                      <a:prstGeom prst="rect">
                        <a:avLst/>
                      </a:prstGeom>
                    </p:spPr>
                  </p:pic>
                </p:oleObj>
              </mc:Fallback>
            </mc:AlternateContent>
          </a:graphicData>
        </a:graphic>
      </p:graphicFrame>
    </p:spTree>
    <p:extLst>
      <p:ext uri="{BB962C8B-B14F-4D97-AF65-F5344CB8AC3E}">
        <p14:creationId xmlns:p14="http://schemas.microsoft.com/office/powerpoint/2010/main" val="168246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7" end="7"/>
                                            </p:txEl>
                                          </p:spTgt>
                                        </p:tgtEl>
                                        <p:attrNameLst>
                                          <p:attrName>style.visibility</p:attrName>
                                        </p:attrNameLst>
                                      </p:cBhvr>
                                      <p:to>
                                        <p:strVal val="visible"/>
                                      </p:to>
                                    </p:set>
                                    <p:animEffect transition="in" filter="fade">
                                      <p:cBhvr>
                                        <p:cTn id="15" dur="500"/>
                                        <p:tgtEl>
                                          <p:spTgt spid="315">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59</a:t>
            </a:fld>
            <a:endParaRPr dirty="0"/>
          </a:p>
        </p:txBody>
      </p:sp>
      <p:sp>
        <p:nvSpPr>
          <p:cNvPr id="315" name="Google Shape;315;p49"/>
          <p:cNvSpPr txBox="1"/>
          <p:nvPr/>
        </p:nvSpPr>
        <p:spPr>
          <a:xfrm>
            <a:off x="381000" y="1225484"/>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We are 95% confident that the mean total cholesterol of all 42-year-old females is between 198.8 mg/dL and 221.4 mg/dL.</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Confidence Interval for a</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4)                        </a:t>
            </a:r>
            <a:r>
              <a:rPr lang="en-US" sz="2400" b="0" i="1" u="none" dirty="0">
                <a:solidFill>
                  <a:schemeClr val="dk1"/>
                </a:solidFill>
                <a:latin typeface="Arial"/>
                <a:ea typeface="Arial"/>
                <a:cs typeface="Arial"/>
                <a:sym typeface="Arial"/>
              </a:rPr>
              <a:t>Mean Response by Hand</a:t>
            </a:r>
            <a:endParaRPr sz="2400" i="1" dirty="0"/>
          </a:p>
        </p:txBody>
      </p:sp>
    </p:spTree>
    <p:extLst>
      <p:ext uri="{BB962C8B-B14F-4D97-AF65-F5344CB8AC3E}">
        <p14:creationId xmlns:p14="http://schemas.microsoft.com/office/powerpoint/2010/main" val="25700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535" name="Google Shape;535;p7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Construct Prediction Intervals for an Individual Response.</a:t>
            </a:r>
            <a:endParaRPr dirty="0"/>
          </a:p>
        </p:txBody>
      </p:sp>
      <p:sp>
        <p:nvSpPr>
          <p:cNvPr id="536" name="Google Shape;536;p7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60</a:t>
            </a:fld>
            <a:endParaRPr/>
          </a:p>
        </p:txBody>
      </p:sp>
    </p:spTree>
    <p:extLst>
      <p:ext uri="{BB962C8B-B14F-4D97-AF65-F5344CB8AC3E}">
        <p14:creationId xmlns:p14="http://schemas.microsoft.com/office/powerpoint/2010/main" val="119701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16" name="Rectangle 15">
            <a:extLst>
              <a:ext uri="{FF2B5EF4-FFF2-40B4-BE49-F238E27FC236}">
                <a16:creationId xmlns:a16="http://schemas.microsoft.com/office/drawing/2014/main" id="{958E43FE-72B8-4880-91E3-6BEE35A21D0D}"/>
              </a:ext>
            </a:extLst>
          </p:cNvPr>
          <p:cNvSpPr/>
          <p:nvPr/>
        </p:nvSpPr>
        <p:spPr>
          <a:xfrm>
            <a:off x="259561" y="305095"/>
            <a:ext cx="8537729" cy="592237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Google Shape;488;p69"/>
          <p:cNvSpPr txBox="1"/>
          <p:nvPr/>
        </p:nvSpPr>
        <p:spPr>
          <a:xfrm>
            <a:off x="410066" y="305095"/>
            <a:ext cx="8123237" cy="1719262"/>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2600"/>
              <a:buFont typeface="Times New Roman"/>
              <a:buNone/>
            </a:pPr>
            <a:r>
              <a:rPr lang="en-US" sz="2600" b="1" i="0" u="none" dirty="0">
                <a:solidFill>
                  <a:schemeClr val="dk1"/>
                </a:solidFill>
                <a:latin typeface="+mn-lt"/>
                <a:ea typeface="Times New Roman"/>
                <a:cs typeface="Times New Roman"/>
                <a:sym typeface="Times New Roman"/>
              </a:rPr>
              <a:t>Confidence Interval for an Individual Response about</a:t>
            </a:r>
            <a:endParaRPr dirty="0"/>
          </a:p>
          <a:p>
            <a:pPr marL="0" marR="0" lvl="0" indent="0" algn="l" rtl="0">
              <a:lnSpc>
                <a:spcPct val="100000"/>
              </a:lnSpc>
              <a:spcBef>
                <a:spcPts val="0"/>
              </a:spcBef>
              <a:spcAft>
                <a:spcPts val="0"/>
              </a:spcAft>
              <a:buClr>
                <a:schemeClr val="dk1"/>
              </a:buClr>
              <a:buSzPts val="2600"/>
              <a:buFont typeface="Times New Roman"/>
              <a:buNone/>
            </a:pPr>
            <a:r>
              <a:rPr lang="en-US" sz="2600" b="0" i="0" u="none" dirty="0">
                <a:solidFill>
                  <a:schemeClr val="dk1"/>
                </a:solidFill>
                <a:latin typeface="Times New Roman"/>
                <a:ea typeface="Times New Roman"/>
                <a:cs typeface="Times New Roman"/>
                <a:sym typeface="Times New Roman"/>
              </a:rPr>
              <a:t>A </a:t>
            </a:r>
            <a:r>
              <a:rPr lang="en-US" sz="2600" dirty="0">
                <a:solidFill>
                  <a:schemeClr val="dk1"/>
                </a:solidFill>
                <a:latin typeface="Times New Roman"/>
                <a:ea typeface="Times New Roman"/>
                <a:cs typeface="Times New Roman"/>
                <a:sym typeface="Times New Roman"/>
              </a:rPr>
              <a:t>                       </a:t>
            </a:r>
            <a:r>
              <a:rPr lang="en-US" sz="2600" b="0" i="0" u="none" dirty="0">
                <a:solidFill>
                  <a:schemeClr val="dk1"/>
                </a:solidFill>
                <a:latin typeface="Times New Roman"/>
                <a:ea typeface="Times New Roman"/>
                <a:cs typeface="Times New Roman"/>
                <a:sym typeface="Times New Roman"/>
              </a:rPr>
              <a:t>prediction interval for    </a:t>
            </a:r>
            <a:r>
              <a:rPr lang="en-US" sz="2600" dirty="0">
                <a:solidFill>
                  <a:schemeClr val="dk1"/>
                </a:solidFill>
                <a:latin typeface="Times New Roman"/>
                <a:ea typeface="Times New Roman"/>
                <a:cs typeface="Times New Roman"/>
                <a:sym typeface="Times New Roman"/>
              </a:rPr>
              <a:t>  </a:t>
            </a:r>
            <a:r>
              <a:rPr lang="en-US" sz="2600" b="0" i="0" u="none" dirty="0">
                <a:solidFill>
                  <a:schemeClr val="dk1"/>
                </a:solidFill>
                <a:latin typeface="Times New Roman"/>
                <a:ea typeface="Times New Roman"/>
                <a:cs typeface="Times New Roman"/>
                <a:sym typeface="Times New Roman"/>
              </a:rPr>
              <a:t>the individual response of </a:t>
            </a:r>
            <a:r>
              <a:rPr lang="en-US" sz="2600" b="0" i="1" u="none" dirty="0">
                <a:solidFill>
                  <a:schemeClr val="dk1"/>
                </a:solidFill>
                <a:latin typeface="Times New Roman"/>
                <a:ea typeface="Times New Roman"/>
                <a:cs typeface="Times New Roman"/>
                <a:sym typeface="Times New Roman"/>
              </a:rPr>
              <a:t>y, </a:t>
            </a:r>
            <a:r>
              <a:rPr lang="en-US" sz="2600" b="0" i="0" u="none" dirty="0">
                <a:solidFill>
                  <a:schemeClr val="dk1"/>
                </a:solidFill>
                <a:latin typeface="Times New Roman"/>
                <a:ea typeface="Times New Roman"/>
                <a:cs typeface="Times New Roman"/>
                <a:sym typeface="Times New Roman"/>
              </a:rPr>
              <a:t>is given by</a:t>
            </a:r>
          </a:p>
          <a:p>
            <a:pPr marL="0" marR="0" lvl="0" indent="0" algn="l" rtl="0">
              <a:lnSpc>
                <a:spcPct val="100000"/>
              </a:lnSpc>
              <a:spcBef>
                <a:spcPts val="0"/>
              </a:spcBef>
              <a:spcAft>
                <a:spcPts val="0"/>
              </a:spcAft>
              <a:buClr>
                <a:schemeClr val="dk1"/>
              </a:buClr>
              <a:buSzPts val="2600"/>
              <a:buFont typeface="Times New Roman"/>
              <a:buNone/>
            </a:pPr>
            <a:endParaRPr lang="en-US" sz="8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r>
              <a:rPr lang="en-US" sz="2600" dirty="0">
                <a:solidFill>
                  <a:schemeClr val="dk1"/>
                </a:solidFill>
                <a:latin typeface="Times New Roman"/>
                <a:cs typeface="Times New Roman"/>
                <a:sym typeface="Times New Roman"/>
              </a:rPr>
              <a:t>     Lower bound:</a:t>
            </a: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endParaRPr lang="en-US" sz="2600" dirty="0">
              <a:solidFill>
                <a:schemeClr val="dk1"/>
              </a:solidFill>
              <a:latin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None/>
            </a:pPr>
            <a:r>
              <a:rPr lang="en-US" sz="2600" dirty="0">
                <a:solidFill>
                  <a:schemeClr val="dk1"/>
                </a:solidFill>
                <a:latin typeface="Times New Roman"/>
                <a:cs typeface="Times New Roman"/>
                <a:sym typeface="Times New Roman"/>
              </a:rPr>
              <a:t>     Upper bound: </a:t>
            </a:r>
            <a:endParaRPr dirty="0"/>
          </a:p>
          <a:p>
            <a:pPr marL="0" marR="0" lvl="0" indent="0" algn="l" rtl="0">
              <a:lnSpc>
                <a:spcPct val="100000"/>
              </a:lnSpc>
              <a:spcBef>
                <a:spcPts val="0"/>
              </a:spcBef>
              <a:spcAft>
                <a:spcPts val="0"/>
              </a:spcAft>
              <a:buNone/>
            </a:pPr>
            <a:endParaRPr sz="2600" b="0" i="0" u="none" dirty="0">
              <a:solidFill>
                <a:schemeClr val="dk1"/>
              </a:solidFill>
              <a:latin typeface="Times New Roman"/>
              <a:ea typeface="Times New Roman"/>
              <a:cs typeface="Times New Roman"/>
              <a:sym typeface="Times New Roman"/>
            </a:endParaRPr>
          </a:p>
        </p:txBody>
      </p:sp>
      <p:sp>
        <p:nvSpPr>
          <p:cNvPr id="494" name="Google Shape;494;p69"/>
          <p:cNvSpPr txBox="1"/>
          <p:nvPr/>
        </p:nvSpPr>
        <p:spPr>
          <a:xfrm>
            <a:off x="457691" y="5047955"/>
            <a:ext cx="8075612" cy="117951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600"/>
              <a:buFont typeface="Times New Roman"/>
              <a:buNone/>
            </a:pPr>
            <a:r>
              <a:rPr lang="en-US" sz="2600" b="0" i="0" u="none" dirty="0">
                <a:solidFill>
                  <a:schemeClr val="dk1"/>
                </a:solidFill>
                <a:latin typeface="Times New Roman"/>
                <a:ea typeface="Times New Roman"/>
                <a:cs typeface="Times New Roman"/>
                <a:sym typeface="Times New Roman"/>
              </a:rPr>
              <a:t>where </a:t>
            </a:r>
            <a:r>
              <a:rPr lang="en-US" sz="2600" b="0" i="1" u="none" dirty="0">
                <a:solidFill>
                  <a:schemeClr val="dk1"/>
                </a:solidFill>
                <a:latin typeface="Times New Roman"/>
                <a:ea typeface="Times New Roman"/>
                <a:cs typeface="Times New Roman"/>
                <a:sym typeface="Times New Roman"/>
              </a:rPr>
              <a:t>x</a:t>
            </a:r>
            <a:r>
              <a:rPr lang="en-US" sz="2600" b="0" i="0" u="none" dirty="0">
                <a:solidFill>
                  <a:schemeClr val="dk1"/>
                </a:solidFill>
                <a:latin typeface="Times New Roman"/>
                <a:ea typeface="Times New Roman"/>
                <a:cs typeface="Times New Roman"/>
                <a:sym typeface="Times New Roman"/>
              </a:rPr>
              <a:t>* is the given value of the explanatory variable, </a:t>
            </a:r>
            <a:r>
              <a:rPr lang="en-US" sz="2600" b="0" i="1" u="none" dirty="0">
                <a:solidFill>
                  <a:schemeClr val="dk1"/>
                </a:solidFill>
                <a:latin typeface="Times New Roman"/>
                <a:ea typeface="Times New Roman"/>
                <a:cs typeface="Times New Roman"/>
                <a:sym typeface="Times New Roman"/>
              </a:rPr>
              <a:t>n</a:t>
            </a:r>
            <a:r>
              <a:rPr lang="en-US" sz="2600" b="0" i="0" u="none" dirty="0">
                <a:solidFill>
                  <a:schemeClr val="dk1"/>
                </a:solidFill>
                <a:latin typeface="Times New Roman"/>
                <a:ea typeface="Times New Roman"/>
                <a:cs typeface="Times New Roman"/>
                <a:sym typeface="Times New Roman"/>
              </a:rPr>
              <a:t> is the number of observations, and </a:t>
            </a:r>
            <a:r>
              <a:rPr lang="en-US" sz="2600" b="0" i="1" u="none" dirty="0">
                <a:solidFill>
                  <a:schemeClr val="dk1"/>
                </a:solidFill>
                <a:latin typeface="Times New Roman"/>
                <a:ea typeface="Times New Roman"/>
                <a:cs typeface="Times New Roman"/>
                <a:sym typeface="Times New Roman"/>
              </a:rPr>
              <a:t>t</a:t>
            </a:r>
            <a:r>
              <a:rPr lang="en-US" sz="2600" b="0" i="1" u="none" baseline="-25000" dirty="0">
                <a:solidFill>
                  <a:schemeClr val="dk1"/>
                </a:solidFill>
                <a:latin typeface="Times New Roman"/>
                <a:ea typeface="Times New Roman"/>
                <a:cs typeface="Times New Roman"/>
                <a:sym typeface="Times New Roman"/>
              </a:rPr>
              <a:t>α</a:t>
            </a:r>
            <a:r>
              <a:rPr lang="en-US" sz="2600" b="0" i="0" u="none" baseline="-25000" dirty="0">
                <a:solidFill>
                  <a:schemeClr val="dk1"/>
                </a:solidFill>
                <a:latin typeface="Times New Roman"/>
                <a:ea typeface="Times New Roman"/>
                <a:cs typeface="Times New Roman"/>
                <a:sym typeface="Times New Roman"/>
              </a:rPr>
              <a:t>/2</a:t>
            </a:r>
            <a:r>
              <a:rPr lang="en-US" sz="2600" b="0" i="0" u="none" dirty="0">
                <a:solidFill>
                  <a:schemeClr val="dk1"/>
                </a:solidFill>
                <a:latin typeface="Times New Roman"/>
                <a:ea typeface="Times New Roman"/>
                <a:cs typeface="Times New Roman"/>
                <a:sym typeface="Times New Roman"/>
              </a:rPr>
              <a:t> is the critical value with </a:t>
            </a:r>
            <a:r>
              <a:rPr lang="en-US" sz="2600" b="0" i="1" u="none" dirty="0">
                <a:solidFill>
                  <a:schemeClr val="dk1"/>
                </a:solidFill>
                <a:latin typeface="Times New Roman"/>
                <a:ea typeface="Times New Roman"/>
                <a:cs typeface="Times New Roman"/>
                <a:sym typeface="Times New Roman"/>
              </a:rPr>
              <a:t>n</a:t>
            </a:r>
            <a:r>
              <a:rPr lang="en-US" sz="2600" b="0" i="0" u="none" dirty="0">
                <a:solidFill>
                  <a:schemeClr val="dk1"/>
                </a:solidFill>
                <a:latin typeface="Times New Roman"/>
                <a:ea typeface="Times New Roman"/>
                <a:cs typeface="Times New Roman"/>
                <a:sym typeface="Times New Roman"/>
              </a:rPr>
              <a:t> – 2 degrees of freedom.</a:t>
            </a:r>
            <a:endParaRPr dirty="0"/>
          </a:p>
        </p:txBody>
      </p:sp>
      <p:sp>
        <p:nvSpPr>
          <p:cNvPr id="495" name="Google Shape;495;p6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61</a:t>
            </a:fld>
            <a:endParaRPr/>
          </a:p>
        </p:txBody>
      </p:sp>
      <p:graphicFrame>
        <p:nvGraphicFramePr>
          <p:cNvPr id="2" name="Object 1">
            <a:extLst>
              <a:ext uri="{FF2B5EF4-FFF2-40B4-BE49-F238E27FC236}">
                <a16:creationId xmlns:a16="http://schemas.microsoft.com/office/drawing/2014/main" id="{4C31DA94-9AF8-4A92-97F3-88F7E32206F6}"/>
              </a:ext>
            </a:extLst>
          </p:cNvPr>
          <p:cNvGraphicFramePr>
            <a:graphicFrameLocks noChangeAspect="1"/>
          </p:cNvGraphicFramePr>
          <p:nvPr>
            <p:extLst>
              <p:ext uri="{D42A27DB-BD31-4B8C-83A1-F6EECF244321}">
                <p14:modId xmlns:p14="http://schemas.microsoft.com/office/powerpoint/2010/main" val="2991840236"/>
              </p:ext>
            </p:extLst>
          </p:nvPr>
        </p:nvGraphicFramePr>
        <p:xfrm>
          <a:off x="2957136" y="2033488"/>
          <a:ext cx="4127500" cy="1257300"/>
        </p:xfrm>
        <a:graphic>
          <a:graphicData uri="http://schemas.openxmlformats.org/presentationml/2006/ole">
            <mc:AlternateContent xmlns:mc="http://schemas.openxmlformats.org/markup-compatibility/2006">
              <mc:Choice xmlns:v="urn:schemas-microsoft-com:vml" Requires="v">
                <p:oleObj spid="_x0000_s99051" name="Equation" r:id="rId4" imgW="4127400" imgH="1257120" progId="Equation.DSMT4">
                  <p:embed/>
                </p:oleObj>
              </mc:Choice>
              <mc:Fallback>
                <p:oleObj name="Equation" r:id="rId4" imgW="4127400" imgH="1257120" progId="Equation.DSMT4">
                  <p:embed/>
                  <p:pic>
                    <p:nvPicPr>
                      <p:cNvPr id="2" name="Object 1">
                        <a:extLst>
                          <a:ext uri="{FF2B5EF4-FFF2-40B4-BE49-F238E27FC236}">
                            <a16:creationId xmlns:a16="http://schemas.microsoft.com/office/drawing/2014/main" id="{4C31DA94-9AF8-4A92-97F3-88F7E32206F6}"/>
                          </a:ext>
                        </a:extLst>
                      </p:cNvPr>
                      <p:cNvPicPr/>
                      <p:nvPr/>
                    </p:nvPicPr>
                    <p:blipFill>
                      <a:blip r:embed="rId5"/>
                      <a:stretch>
                        <a:fillRect/>
                      </a:stretch>
                    </p:blipFill>
                    <p:spPr>
                      <a:xfrm>
                        <a:off x="2957136" y="2033488"/>
                        <a:ext cx="4127500" cy="12573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B5069840-FB2C-43D6-B79D-F0D3B68C4091}"/>
              </a:ext>
            </a:extLst>
          </p:cNvPr>
          <p:cNvGraphicFramePr>
            <a:graphicFrameLocks noChangeAspect="1"/>
          </p:cNvGraphicFramePr>
          <p:nvPr>
            <p:extLst>
              <p:ext uri="{D42A27DB-BD31-4B8C-83A1-F6EECF244321}">
                <p14:modId xmlns:p14="http://schemas.microsoft.com/office/powerpoint/2010/main" val="3118640482"/>
              </p:ext>
            </p:extLst>
          </p:nvPr>
        </p:nvGraphicFramePr>
        <p:xfrm>
          <a:off x="837610" y="1269477"/>
          <a:ext cx="1790700" cy="368300"/>
        </p:xfrm>
        <a:graphic>
          <a:graphicData uri="http://schemas.openxmlformats.org/presentationml/2006/ole">
            <mc:AlternateContent xmlns:mc="http://schemas.openxmlformats.org/markup-compatibility/2006">
              <mc:Choice xmlns:v="urn:schemas-microsoft-com:vml" Requires="v">
                <p:oleObj spid="_x0000_s99052" name="Equation" r:id="rId6" imgW="1790640" imgH="368280" progId="Equation.DSMT4">
                  <p:embed/>
                </p:oleObj>
              </mc:Choice>
              <mc:Fallback>
                <p:oleObj name="Equation" r:id="rId6" imgW="1790640" imgH="368280" progId="Equation.DSMT4">
                  <p:embed/>
                  <p:pic>
                    <p:nvPicPr>
                      <p:cNvPr id="3" name="Object 2">
                        <a:extLst>
                          <a:ext uri="{FF2B5EF4-FFF2-40B4-BE49-F238E27FC236}">
                            <a16:creationId xmlns:a16="http://schemas.microsoft.com/office/drawing/2014/main" id="{B5069840-FB2C-43D6-B79D-F0D3B68C4091}"/>
                          </a:ext>
                        </a:extLst>
                      </p:cNvPr>
                      <p:cNvPicPr/>
                      <p:nvPr/>
                    </p:nvPicPr>
                    <p:blipFill>
                      <a:blip r:embed="rId7"/>
                      <a:stretch>
                        <a:fillRect/>
                      </a:stretch>
                    </p:blipFill>
                    <p:spPr>
                      <a:xfrm>
                        <a:off x="837610" y="1269477"/>
                        <a:ext cx="1790700" cy="3683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A476E3C2-866A-431E-A60D-6F7C41FCA01B}"/>
              </a:ext>
            </a:extLst>
          </p:cNvPr>
          <p:cNvGraphicFramePr>
            <a:graphicFrameLocks noChangeAspect="1"/>
          </p:cNvGraphicFramePr>
          <p:nvPr>
            <p:extLst>
              <p:ext uri="{D42A27DB-BD31-4B8C-83A1-F6EECF244321}">
                <p14:modId xmlns:p14="http://schemas.microsoft.com/office/powerpoint/2010/main" val="1593335481"/>
              </p:ext>
            </p:extLst>
          </p:nvPr>
        </p:nvGraphicFramePr>
        <p:xfrm>
          <a:off x="1463054" y="829796"/>
          <a:ext cx="241300" cy="381000"/>
        </p:xfrm>
        <a:graphic>
          <a:graphicData uri="http://schemas.openxmlformats.org/presentationml/2006/ole">
            <mc:AlternateContent xmlns:mc="http://schemas.openxmlformats.org/markup-compatibility/2006">
              <mc:Choice xmlns:v="urn:schemas-microsoft-com:vml" Requires="v">
                <p:oleObj spid="_x0000_s99053" name="Equation" r:id="rId8" imgW="241200" imgH="380880" progId="Equation.DSMT4">
                  <p:embed/>
                </p:oleObj>
              </mc:Choice>
              <mc:Fallback>
                <p:oleObj name="Equation" r:id="rId8" imgW="241200" imgH="380880" progId="Equation.DSMT4">
                  <p:embed/>
                  <p:pic>
                    <p:nvPicPr>
                      <p:cNvPr id="4" name="Object 3">
                        <a:extLst>
                          <a:ext uri="{FF2B5EF4-FFF2-40B4-BE49-F238E27FC236}">
                            <a16:creationId xmlns:a16="http://schemas.microsoft.com/office/drawing/2014/main" id="{A476E3C2-866A-431E-A60D-6F7C41FCA01B}"/>
                          </a:ext>
                        </a:extLst>
                      </p:cNvPr>
                      <p:cNvPicPr/>
                      <p:nvPr/>
                    </p:nvPicPr>
                    <p:blipFill>
                      <a:blip r:embed="rId9"/>
                      <a:stretch>
                        <a:fillRect/>
                      </a:stretch>
                    </p:blipFill>
                    <p:spPr>
                      <a:xfrm>
                        <a:off x="1463054" y="829796"/>
                        <a:ext cx="241300" cy="3810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B36BD70-1DBF-44A1-9442-E559DE73075F}"/>
              </a:ext>
            </a:extLst>
          </p:cNvPr>
          <p:cNvGraphicFramePr>
            <a:graphicFrameLocks noChangeAspect="1"/>
          </p:cNvGraphicFramePr>
          <p:nvPr>
            <p:extLst>
              <p:ext uri="{D42A27DB-BD31-4B8C-83A1-F6EECF244321}">
                <p14:modId xmlns:p14="http://schemas.microsoft.com/office/powerpoint/2010/main" val="2042923257"/>
              </p:ext>
            </p:extLst>
          </p:nvPr>
        </p:nvGraphicFramePr>
        <p:xfrm>
          <a:off x="5682792" y="1269477"/>
          <a:ext cx="304800" cy="381000"/>
        </p:xfrm>
        <a:graphic>
          <a:graphicData uri="http://schemas.openxmlformats.org/presentationml/2006/ole">
            <mc:AlternateContent xmlns:mc="http://schemas.openxmlformats.org/markup-compatibility/2006">
              <mc:Choice xmlns:v="urn:schemas-microsoft-com:vml" Requires="v">
                <p:oleObj spid="_x0000_s99054" name="Equation" r:id="rId10" imgW="304560" imgH="380880" progId="Equation.DSMT4">
                  <p:embed/>
                </p:oleObj>
              </mc:Choice>
              <mc:Fallback>
                <p:oleObj name="Equation" r:id="rId10" imgW="304560" imgH="380880" progId="Equation.DSMT4">
                  <p:embed/>
                  <p:pic>
                    <p:nvPicPr>
                      <p:cNvPr id="5" name="Object 4">
                        <a:extLst>
                          <a:ext uri="{FF2B5EF4-FFF2-40B4-BE49-F238E27FC236}">
                            <a16:creationId xmlns:a16="http://schemas.microsoft.com/office/drawing/2014/main" id="{DB36BD70-1DBF-44A1-9442-E559DE73075F}"/>
                          </a:ext>
                        </a:extLst>
                      </p:cNvPr>
                      <p:cNvPicPr/>
                      <p:nvPr/>
                    </p:nvPicPr>
                    <p:blipFill>
                      <a:blip r:embed="rId11"/>
                      <a:stretch>
                        <a:fillRect/>
                      </a:stretch>
                    </p:blipFill>
                    <p:spPr>
                      <a:xfrm>
                        <a:off x="5682792" y="1269477"/>
                        <a:ext cx="304800" cy="3810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6710C6F-E598-4F4D-867D-ED7B12E4335B}"/>
              </a:ext>
            </a:extLst>
          </p:cNvPr>
          <p:cNvGraphicFramePr>
            <a:graphicFrameLocks noChangeAspect="1"/>
          </p:cNvGraphicFramePr>
          <p:nvPr>
            <p:extLst>
              <p:ext uri="{D42A27DB-BD31-4B8C-83A1-F6EECF244321}">
                <p14:modId xmlns:p14="http://schemas.microsoft.com/office/powerpoint/2010/main" val="1333510509"/>
              </p:ext>
            </p:extLst>
          </p:nvPr>
        </p:nvGraphicFramePr>
        <p:xfrm>
          <a:off x="2862034" y="3644443"/>
          <a:ext cx="4127500" cy="1257300"/>
        </p:xfrm>
        <a:graphic>
          <a:graphicData uri="http://schemas.openxmlformats.org/presentationml/2006/ole">
            <mc:AlternateContent xmlns:mc="http://schemas.openxmlformats.org/markup-compatibility/2006">
              <mc:Choice xmlns:v="urn:schemas-microsoft-com:vml" Requires="v">
                <p:oleObj spid="_x0000_s99055" name="Equation" r:id="rId12" imgW="4127400" imgH="1257120" progId="Equation.DSMT4">
                  <p:embed/>
                </p:oleObj>
              </mc:Choice>
              <mc:Fallback>
                <p:oleObj name="Equation" r:id="rId12" imgW="4127400" imgH="1257120" progId="Equation.DSMT4">
                  <p:embed/>
                  <p:pic>
                    <p:nvPicPr>
                      <p:cNvPr id="6" name="Object 5">
                        <a:extLst>
                          <a:ext uri="{FF2B5EF4-FFF2-40B4-BE49-F238E27FC236}">
                            <a16:creationId xmlns:a16="http://schemas.microsoft.com/office/drawing/2014/main" id="{36710C6F-E598-4F4D-867D-ED7B12E4335B}"/>
                          </a:ext>
                        </a:extLst>
                      </p:cNvPr>
                      <p:cNvPicPr/>
                      <p:nvPr/>
                    </p:nvPicPr>
                    <p:blipFill>
                      <a:blip r:embed="rId13"/>
                      <a:stretch>
                        <a:fillRect/>
                      </a:stretch>
                    </p:blipFill>
                    <p:spPr>
                      <a:xfrm>
                        <a:off x="2862034" y="3644443"/>
                        <a:ext cx="4127500" cy="12573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48B78D3-D698-47D4-9732-A8D66B1017F6}"/>
              </a:ext>
            </a:extLst>
          </p:cNvPr>
          <p:cNvSpPr txBox="1"/>
          <p:nvPr/>
        </p:nvSpPr>
        <p:spPr>
          <a:xfrm>
            <a:off x="8052390" y="3213556"/>
            <a:ext cx="535757"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380984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62</a:t>
            </a:fld>
            <a:endParaRPr dirty="0"/>
          </a:p>
        </p:txBody>
      </p:sp>
      <p:sp>
        <p:nvSpPr>
          <p:cNvPr id="315" name="Google Shape;315;p49"/>
          <p:cNvSpPr txBox="1"/>
          <p:nvPr/>
        </p:nvSpPr>
        <p:spPr>
          <a:xfrm>
            <a:off x="381000" y="1225484"/>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Construct a 95% prediction interval for the predicted total cholesterol of a 42-year-old female.</a:t>
            </a:r>
          </a:p>
        </p:txBody>
      </p:sp>
      <p:sp>
        <p:nvSpPr>
          <p:cNvPr id="7" name="Google Shape;316;p49">
            <a:extLst>
              <a:ext uri="{FF2B5EF4-FFF2-40B4-BE49-F238E27FC236}">
                <a16:creationId xmlns:a16="http://schemas.microsoft.com/office/drawing/2014/main" id="{74692B12-FC60-4E33-A42C-856CF1B325E0}"/>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Prediction Interval for an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4)                     </a:t>
            </a:r>
            <a:r>
              <a:rPr lang="en-US" sz="2400" b="0" i="1" u="none" dirty="0">
                <a:solidFill>
                  <a:schemeClr val="dk1"/>
                </a:solidFill>
                <a:latin typeface="Arial"/>
                <a:ea typeface="Arial"/>
                <a:cs typeface="Arial"/>
                <a:sym typeface="Arial"/>
              </a:rPr>
              <a:t>Individual</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Response by Hand</a:t>
            </a:r>
            <a:endParaRPr sz="2400" i="1" dirty="0"/>
          </a:p>
        </p:txBody>
      </p:sp>
    </p:spTree>
    <p:extLst>
      <p:ext uri="{BB962C8B-B14F-4D97-AF65-F5344CB8AC3E}">
        <p14:creationId xmlns:p14="http://schemas.microsoft.com/office/powerpoint/2010/main" val="265498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63</a:t>
            </a:fld>
            <a:endParaRPr dirty="0"/>
          </a:p>
        </p:txBody>
      </p:sp>
      <p:sp>
        <p:nvSpPr>
          <p:cNvPr id="315" name="Google Shape;315;p49"/>
          <p:cNvSpPr txBox="1"/>
          <p:nvPr/>
        </p:nvSpPr>
        <p:spPr>
          <a:xfrm>
            <a:off x="381000" y="1225484"/>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least-squares regression equation is </a:t>
            </a:r>
          </a:p>
          <a:p>
            <a:r>
              <a:rPr lang="en-US" sz="2600" dirty="0">
                <a:latin typeface="Times New Roman" panose="02020603050405020304" pitchFamily="18" charset="0"/>
                <a:cs typeface="Times New Roman" panose="02020603050405020304" pitchFamily="18" charset="0"/>
              </a:rPr>
              <a:t>To find the predicted total cholesterol of a 42-year-old, let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 42 in the regression equation and obtain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mg/dL.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From a previous example, we found that </a:t>
            </a:r>
            <a:r>
              <a:rPr lang="en-US" sz="2600" i="1" dirty="0">
                <a:latin typeface="Times New Roman" panose="02020603050405020304" pitchFamily="18" charset="0"/>
                <a:cs typeface="Times New Roman" panose="02020603050405020304" pitchFamily="18" charset="0"/>
              </a:rPr>
              <a:t>s</a:t>
            </a:r>
            <a:r>
              <a:rPr lang="en-US" sz="2600" i="1" baseline="-25000" dirty="0">
                <a:latin typeface="Times New Roman" panose="02020603050405020304" pitchFamily="18" charset="0"/>
                <a:cs typeface="Times New Roman" panose="02020603050405020304" pitchFamily="18" charset="0"/>
              </a:rPr>
              <a:t>e </a:t>
            </a:r>
            <a:r>
              <a:rPr lang="en-US" sz="2600" dirty="0">
                <a:latin typeface="Times New Roman" panose="02020603050405020304" pitchFamily="18" charset="0"/>
                <a:cs typeface="Times New Roman" panose="02020603050405020304" pitchFamily="18" charset="0"/>
              </a:rPr>
              <a:t>= 19.48, and from </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another example we found that                                          and</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We find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2 = 14 – 2 = 12 degrees of freedom to be 2.179. </a:t>
            </a:r>
          </a:p>
        </p:txBody>
      </p:sp>
      <p:graphicFrame>
        <p:nvGraphicFramePr>
          <p:cNvPr id="6" name="Object 5">
            <a:extLst>
              <a:ext uri="{FF2B5EF4-FFF2-40B4-BE49-F238E27FC236}">
                <a16:creationId xmlns:a16="http://schemas.microsoft.com/office/drawing/2014/main" id="{40482F7A-74E3-42CB-86BE-C42EE1B9F45E}"/>
              </a:ext>
            </a:extLst>
          </p:cNvPr>
          <p:cNvGraphicFramePr>
            <a:graphicFrameLocks noChangeAspect="1"/>
          </p:cNvGraphicFramePr>
          <p:nvPr/>
        </p:nvGraphicFramePr>
        <p:xfrm>
          <a:off x="5782509" y="1316790"/>
          <a:ext cx="3143250" cy="371475"/>
        </p:xfrm>
        <a:graphic>
          <a:graphicData uri="http://schemas.openxmlformats.org/presentationml/2006/ole">
            <mc:AlternateContent xmlns:mc="http://schemas.openxmlformats.org/markup-compatibility/2006">
              <mc:Choice xmlns:v="urn:schemas-microsoft-com:vml" Requires="v">
                <p:oleObj spid="_x0000_s100075" name="Equation" r:id="rId4" imgW="3143040" imgH="371582" progId="Equation.DSMT4">
                  <p:embed/>
                </p:oleObj>
              </mc:Choice>
              <mc:Fallback>
                <p:oleObj name="Equation" r:id="rId4" imgW="3143040" imgH="371582" progId="Equation.DSMT4">
                  <p:embed/>
                  <p:pic>
                    <p:nvPicPr>
                      <p:cNvPr id="6" name="Object 5">
                        <a:extLst>
                          <a:ext uri="{FF2B5EF4-FFF2-40B4-BE49-F238E27FC236}">
                            <a16:creationId xmlns:a16="http://schemas.microsoft.com/office/drawing/2014/main" id="{40482F7A-74E3-42CB-86BE-C42EE1B9F45E}"/>
                          </a:ext>
                        </a:extLst>
                      </p:cNvPr>
                      <p:cNvPicPr/>
                      <p:nvPr/>
                    </p:nvPicPr>
                    <p:blipFill>
                      <a:blip r:embed="rId5"/>
                      <a:stretch>
                        <a:fillRect/>
                      </a:stretch>
                    </p:blipFill>
                    <p:spPr>
                      <a:xfrm>
                        <a:off x="5782509" y="1316790"/>
                        <a:ext cx="3143250" cy="371475"/>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F9A5D6FE-EDF6-44D2-95DF-ED68C10C4985}"/>
              </a:ext>
            </a:extLst>
          </p:cNvPr>
          <p:cNvGraphicFramePr>
            <a:graphicFrameLocks noChangeAspect="1"/>
          </p:cNvGraphicFramePr>
          <p:nvPr>
            <p:extLst>
              <p:ext uri="{D42A27DB-BD31-4B8C-83A1-F6EECF244321}">
                <p14:modId xmlns:p14="http://schemas.microsoft.com/office/powerpoint/2010/main" val="1864278215"/>
              </p:ext>
            </p:extLst>
          </p:nvPr>
        </p:nvGraphicFramePr>
        <p:xfrm>
          <a:off x="456416" y="2464733"/>
          <a:ext cx="4572000" cy="469900"/>
        </p:xfrm>
        <a:graphic>
          <a:graphicData uri="http://schemas.openxmlformats.org/presentationml/2006/ole">
            <mc:AlternateContent xmlns:mc="http://schemas.openxmlformats.org/markup-compatibility/2006">
              <mc:Choice xmlns:v="urn:schemas-microsoft-com:vml" Requires="v">
                <p:oleObj spid="_x0000_s100076" name="Equation" r:id="rId6" imgW="4572000" imgH="469800" progId="Equation.DSMT4">
                  <p:embed/>
                </p:oleObj>
              </mc:Choice>
              <mc:Fallback>
                <p:oleObj name="Equation" r:id="rId6" imgW="4572000" imgH="469800" progId="Equation.DSMT4">
                  <p:embed/>
                  <p:pic>
                    <p:nvPicPr>
                      <p:cNvPr id="2" name="Object 1">
                        <a:extLst>
                          <a:ext uri="{FF2B5EF4-FFF2-40B4-BE49-F238E27FC236}">
                            <a16:creationId xmlns:a16="http://schemas.microsoft.com/office/drawing/2014/main" id="{F9A5D6FE-EDF6-44D2-95DF-ED68C10C4985}"/>
                          </a:ext>
                        </a:extLst>
                      </p:cNvPr>
                      <p:cNvPicPr/>
                      <p:nvPr/>
                    </p:nvPicPr>
                    <p:blipFill>
                      <a:blip r:embed="rId7"/>
                      <a:stretch>
                        <a:fillRect/>
                      </a:stretch>
                    </p:blipFill>
                    <p:spPr>
                      <a:xfrm>
                        <a:off x="456416" y="2464733"/>
                        <a:ext cx="4572000" cy="4699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62D5F74B-016A-461D-BA8C-3B0F8A586FEF}"/>
              </a:ext>
            </a:extLst>
          </p:cNvPr>
          <p:cNvGraphicFramePr>
            <a:graphicFrameLocks noChangeAspect="1"/>
          </p:cNvGraphicFramePr>
          <p:nvPr/>
        </p:nvGraphicFramePr>
        <p:xfrm>
          <a:off x="4653379" y="3711100"/>
          <a:ext cx="3289300" cy="533400"/>
        </p:xfrm>
        <a:graphic>
          <a:graphicData uri="http://schemas.openxmlformats.org/presentationml/2006/ole">
            <mc:AlternateContent xmlns:mc="http://schemas.openxmlformats.org/markup-compatibility/2006">
              <mc:Choice xmlns:v="urn:schemas-microsoft-com:vml" Requires="v">
                <p:oleObj spid="_x0000_s100077" name="Equation" r:id="rId8" imgW="3288960" imgH="533160" progId="Equation.DSMT4">
                  <p:embed/>
                </p:oleObj>
              </mc:Choice>
              <mc:Fallback>
                <p:oleObj name="Equation" r:id="rId8" imgW="3288960" imgH="533160" progId="Equation.DSMT4">
                  <p:embed/>
                  <p:pic>
                    <p:nvPicPr>
                      <p:cNvPr id="4" name="Object 3">
                        <a:extLst>
                          <a:ext uri="{FF2B5EF4-FFF2-40B4-BE49-F238E27FC236}">
                            <a16:creationId xmlns:a16="http://schemas.microsoft.com/office/drawing/2014/main" id="{62D5F74B-016A-461D-BA8C-3B0F8A586FEF}"/>
                          </a:ext>
                        </a:extLst>
                      </p:cNvPr>
                      <p:cNvPicPr/>
                      <p:nvPr/>
                    </p:nvPicPr>
                    <p:blipFill>
                      <a:blip r:embed="rId9"/>
                      <a:stretch>
                        <a:fillRect/>
                      </a:stretch>
                    </p:blipFill>
                    <p:spPr>
                      <a:xfrm>
                        <a:off x="4653379" y="3711100"/>
                        <a:ext cx="3289300" cy="5334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1953EAC0-A739-4189-AA2C-20EC1947ACA3}"/>
              </a:ext>
            </a:extLst>
          </p:cNvPr>
          <p:cNvGraphicFramePr>
            <a:graphicFrameLocks noChangeAspect="1"/>
          </p:cNvGraphicFramePr>
          <p:nvPr/>
        </p:nvGraphicFramePr>
        <p:xfrm>
          <a:off x="456416" y="4244500"/>
          <a:ext cx="1866900" cy="292100"/>
        </p:xfrm>
        <a:graphic>
          <a:graphicData uri="http://schemas.openxmlformats.org/presentationml/2006/ole">
            <mc:AlternateContent xmlns:mc="http://schemas.openxmlformats.org/markup-compatibility/2006">
              <mc:Choice xmlns:v="urn:schemas-microsoft-com:vml" Requires="v">
                <p:oleObj spid="_x0000_s100078" name="Equation" r:id="rId10" imgW="1866600" imgH="291960" progId="Equation.DSMT4">
                  <p:embed/>
                </p:oleObj>
              </mc:Choice>
              <mc:Fallback>
                <p:oleObj name="Equation" r:id="rId10" imgW="1866600" imgH="291960" progId="Equation.DSMT4">
                  <p:embed/>
                  <p:pic>
                    <p:nvPicPr>
                      <p:cNvPr id="5" name="Object 4">
                        <a:extLst>
                          <a:ext uri="{FF2B5EF4-FFF2-40B4-BE49-F238E27FC236}">
                            <a16:creationId xmlns:a16="http://schemas.microsoft.com/office/drawing/2014/main" id="{1953EAC0-A739-4189-AA2C-20EC1947ACA3}"/>
                          </a:ext>
                        </a:extLst>
                      </p:cNvPr>
                      <p:cNvPicPr/>
                      <p:nvPr/>
                    </p:nvPicPr>
                    <p:blipFill>
                      <a:blip r:embed="rId11"/>
                      <a:stretch>
                        <a:fillRect/>
                      </a:stretch>
                    </p:blipFill>
                    <p:spPr>
                      <a:xfrm>
                        <a:off x="456416" y="4244500"/>
                        <a:ext cx="1866900" cy="2921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F1B866B-54F8-4025-B5B6-E55282B14EB6}"/>
              </a:ext>
            </a:extLst>
          </p:cNvPr>
          <p:cNvGraphicFramePr>
            <a:graphicFrameLocks noChangeAspect="1"/>
          </p:cNvGraphicFramePr>
          <p:nvPr>
            <p:extLst>
              <p:ext uri="{D42A27DB-BD31-4B8C-83A1-F6EECF244321}">
                <p14:modId xmlns:p14="http://schemas.microsoft.com/office/powerpoint/2010/main" val="1964658047"/>
              </p:ext>
            </p:extLst>
          </p:nvPr>
        </p:nvGraphicFramePr>
        <p:xfrm>
          <a:off x="1637320" y="4998471"/>
          <a:ext cx="1409700" cy="393700"/>
        </p:xfrm>
        <a:graphic>
          <a:graphicData uri="http://schemas.openxmlformats.org/presentationml/2006/ole">
            <mc:AlternateContent xmlns:mc="http://schemas.openxmlformats.org/markup-compatibility/2006">
              <mc:Choice xmlns:v="urn:schemas-microsoft-com:vml" Requires="v">
                <p:oleObj spid="_x0000_s100079" name="Equation" r:id="rId12" imgW="1409400" imgH="393480" progId="Equation.DSMT4">
                  <p:embed/>
                </p:oleObj>
              </mc:Choice>
              <mc:Fallback>
                <p:oleObj name="Equation" r:id="rId12" imgW="1409400" imgH="393480" progId="Equation.DSMT4">
                  <p:embed/>
                  <p:pic>
                    <p:nvPicPr>
                      <p:cNvPr id="8" name="Object 7">
                        <a:extLst>
                          <a:ext uri="{FF2B5EF4-FFF2-40B4-BE49-F238E27FC236}">
                            <a16:creationId xmlns:a16="http://schemas.microsoft.com/office/drawing/2014/main" id="{7F1B866B-54F8-4025-B5B6-E55282B14EB6}"/>
                          </a:ext>
                        </a:extLst>
                      </p:cNvPr>
                      <p:cNvPicPr/>
                      <p:nvPr/>
                    </p:nvPicPr>
                    <p:blipFill>
                      <a:blip r:embed="rId13"/>
                      <a:stretch>
                        <a:fillRect/>
                      </a:stretch>
                    </p:blipFill>
                    <p:spPr>
                      <a:xfrm>
                        <a:off x="1637320" y="4998471"/>
                        <a:ext cx="1409700" cy="393700"/>
                      </a:xfrm>
                      <a:prstGeom prst="rect">
                        <a:avLst/>
                      </a:prstGeom>
                    </p:spPr>
                  </p:pic>
                </p:oleObj>
              </mc:Fallback>
            </mc:AlternateContent>
          </a:graphicData>
        </a:graphic>
      </p:graphicFrame>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Prediction Interval for an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4)                     </a:t>
            </a:r>
            <a:r>
              <a:rPr lang="en-US" sz="2400" b="0" i="1" u="none" dirty="0">
                <a:solidFill>
                  <a:schemeClr val="dk1"/>
                </a:solidFill>
                <a:latin typeface="Arial"/>
                <a:ea typeface="Arial"/>
                <a:cs typeface="Arial"/>
                <a:sym typeface="Arial"/>
              </a:rPr>
              <a:t>Individual</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Response by Hand</a:t>
            </a:r>
            <a:endParaRPr sz="2400" i="1" dirty="0"/>
          </a:p>
        </p:txBody>
      </p:sp>
    </p:spTree>
    <p:extLst>
      <p:ext uri="{BB962C8B-B14F-4D97-AF65-F5344CB8AC3E}">
        <p14:creationId xmlns:p14="http://schemas.microsoft.com/office/powerpoint/2010/main" val="309821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5" end="5"/>
                                            </p:txEl>
                                          </p:spTgt>
                                        </p:tgtEl>
                                        <p:attrNameLst>
                                          <p:attrName>style.visibility</p:attrName>
                                        </p:attrNameLst>
                                      </p:cBhvr>
                                      <p:to>
                                        <p:strVal val="visible"/>
                                      </p:to>
                                    </p:set>
                                    <p:animEffect transition="in" filter="fade">
                                      <p:cBhvr>
                                        <p:cTn id="10" dur="500"/>
                                        <p:tgtEl>
                                          <p:spTgt spid="31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15">
                                            <p:txEl>
                                              <p:pRg st="7" end="7"/>
                                            </p:txEl>
                                          </p:spTgt>
                                        </p:tgtEl>
                                        <p:attrNameLst>
                                          <p:attrName>style.visibility</p:attrName>
                                        </p:attrNameLst>
                                      </p:cBhvr>
                                      <p:to>
                                        <p:strVal val="visible"/>
                                      </p:to>
                                    </p:set>
                                    <p:animEffect transition="in" filter="fade">
                                      <p:cBhvr>
                                        <p:cTn id="21" dur="500"/>
                                        <p:tgtEl>
                                          <p:spTgt spid="315">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64</a:t>
            </a:fld>
            <a:endParaRPr dirty="0"/>
          </a:p>
        </p:txBody>
      </p:sp>
      <p:sp>
        <p:nvSpPr>
          <p:cNvPr id="315" name="Google Shape;315;p49"/>
          <p:cNvSpPr txBox="1"/>
          <p:nvPr/>
        </p:nvSpPr>
        <p:spPr>
          <a:xfrm>
            <a:off x="381000" y="1225485"/>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95% prediction interval for the predicted total cholesterol for a 42-year-old female is</a:t>
            </a:r>
          </a:p>
          <a:p>
            <a:endParaRPr lang="en-US" sz="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Lower bound:</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Upper bound:</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Prediction Interval for an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4)                     </a:t>
            </a:r>
            <a:r>
              <a:rPr lang="en-US" sz="2400" b="0" i="1" u="none" dirty="0">
                <a:solidFill>
                  <a:schemeClr val="dk1"/>
                </a:solidFill>
                <a:latin typeface="Arial"/>
                <a:ea typeface="Arial"/>
                <a:cs typeface="Arial"/>
                <a:sym typeface="Arial"/>
              </a:rPr>
              <a:t>Individual</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Response by Hand</a:t>
            </a:r>
            <a:endParaRPr sz="2400" i="1" dirty="0"/>
          </a:p>
        </p:txBody>
      </p:sp>
      <p:graphicFrame>
        <p:nvGraphicFramePr>
          <p:cNvPr id="3" name="Object 2">
            <a:extLst>
              <a:ext uri="{FF2B5EF4-FFF2-40B4-BE49-F238E27FC236}">
                <a16:creationId xmlns:a16="http://schemas.microsoft.com/office/drawing/2014/main" id="{623216EF-A5D9-4969-BF3F-FE1BFF6A9AB1}"/>
              </a:ext>
            </a:extLst>
          </p:cNvPr>
          <p:cNvGraphicFramePr>
            <a:graphicFrameLocks noChangeAspect="1"/>
          </p:cNvGraphicFramePr>
          <p:nvPr>
            <p:extLst>
              <p:ext uri="{D42A27DB-BD31-4B8C-83A1-F6EECF244321}">
                <p14:modId xmlns:p14="http://schemas.microsoft.com/office/powerpoint/2010/main" val="3236312595"/>
              </p:ext>
            </p:extLst>
          </p:nvPr>
        </p:nvGraphicFramePr>
        <p:xfrm>
          <a:off x="469900" y="2768600"/>
          <a:ext cx="8204200" cy="1320800"/>
        </p:xfrm>
        <a:graphic>
          <a:graphicData uri="http://schemas.openxmlformats.org/presentationml/2006/ole">
            <mc:AlternateContent xmlns:mc="http://schemas.openxmlformats.org/markup-compatibility/2006">
              <mc:Choice xmlns:v="urn:schemas-microsoft-com:vml" Requires="v">
                <p:oleObj spid="_x0000_s100648" name="Equation" r:id="rId4" imgW="8204040" imgH="1320480" progId="Equation.DSMT4">
                  <p:embed/>
                </p:oleObj>
              </mc:Choice>
              <mc:Fallback>
                <p:oleObj name="Equation" r:id="rId4" imgW="8204040" imgH="1320480" progId="Equation.DSMT4">
                  <p:embed/>
                  <p:pic>
                    <p:nvPicPr>
                      <p:cNvPr id="0" name=""/>
                      <p:cNvPicPr/>
                      <p:nvPr/>
                    </p:nvPicPr>
                    <p:blipFill>
                      <a:blip r:embed="rId5"/>
                      <a:stretch>
                        <a:fillRect/>
                      </a:stretch>
                    </p:blipFill>
                    <p:spPr>
                      <a:xfrm>
                        <a:off x="469900" y="2768600"/>
                        <a:ext cx="8204200" cy="13208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36CF17DB-504F-4A8E-98DB-D6FA444CBE2E}"/>
              </a:ext>
            </a:extLst>
          </p:cNvPr>
          <p:cNvGraphicFramePr>
            <a:graphicFrameLocks noChangeAspect="1"/>
          </p:cNvGraphicFramePr>
          <p:nvPr>
            <p:extLst>
              <p:ext uri="{D42A27DB-BD31-4B8C-83A1-F6EECF244321}">
                <p14:modId xmlns:p14="http://schemas.microsoft.com/office/powerpoint/2010/main" val="541263170"/>
              </p:ext>
            </p:extLst>
          </p:nvPr>
        </p:nvGraphicFramePr>
        <p:xfrm>
          <a:off x="469900" y="4818063"/>
          <a:ext cx="8204200" cy="1320800"/>
        </p:xfrm>
        <a:graphic>
          <a:graphicData uri="http://schemas.openxmlformats.org/presentationml/2006/ole">
            <mc:AlternateContent xmlns:mc="http://schemas.openxmlformats.org/markup-compatibility/2006">
              <mc:Choice xmlns:v="urn:schemas-microsoft-com:vml" Requires="v">
                <p:oleObj spid="_x0000_s100649" name="Equation" r:id="rId6" imgW="8204040" imgH="1320480" progId="Equation.DSMT4">
                  <p:embed/>
                </p:oleObj>
              </mc:Choice>
              <mc:Fallback>
                <p:oleObj name="Equation" r:id="rId6" imgW="8204040" imgH="1320480" progId="Equation.DSMT4">
                  <p:embed/>
                  <p:pic>
                    <p:nvPicPr>
                      <p:cNvPr id="0" name=""/>
                      <p:cNvPicPr/>
                      <p:nvPr/>
                    </p:nvPicPr>
                    <p:blipFill>
                      <a:blip r:embed="rId7"/>
                      <a:stretch>
                        <a:fillRect/>
                      </a:stretch>
                    </p:blipFill>
                    <p:spPr>
                      <a:xfrm>
                        <a:off x="469900" y="4818063"/>
                        <a:ext cx="8204200" cy="1320800"/>
                      </a:xfrm>
                      <a:prstGeom prst="rect">
                        <a:avLst/>
                      </a:prstGeom>
                    </p:spPr>
                  </p:pic>
                </p:oleObj>
              </mc:Fallback>
            </mc:AlternateContent>
          </a:graphicData>
        </a:graphic>
      </p:graphicFrame>
    </p:spTree>
    <p:extLst>
      <p:ext uri="{BB962C8B-B14F-4D97-AF65-F5344CB8AC3E}">
        <p14:creationId xmlns:p14="http://schemas.microsoft.com/office/powerpoint/2010/main" val="413980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8" end="8"/>
                                            </p:txEl>
                                          </p:spTgt>
                                        </p:tgtEl>
                                        <p:attrNameLst>
                                          <p:attrName>style.visibility</p:attrName>
                                        </p:attrNameLst>
                                      </p:cBhvr>
                                      <p:to>
                                        <p:strVal val="visible"/>
                                      </p:to>
                                    </p:set>
                                    <p:animEffect transition="in" filter="fade">
                                      <p:cBhvr>
                                        <p:cTn id="15" dur="500"/>
                                        <p:tgtEl>
                                          <p:spTgt spid="315">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65</a:t>
            </a:fld>
            <a:endParaRPr dirty="0"/>
          </a:p>
        </p:txBody>
      </p:sp>
      <p:sp>
        <p:nvSpPr>
          <p:cNvPr id="315" name="Google Shape;315;p49"/>
          <p:cNvSpPr txBox="1"/>
          <p:nvPr/>
        </p:nvSpPr>
        <p:spPr>
          <a:xfrm>
            <a:off x="381000" y="1225485"/>
            <a:ext cx="8544759"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We are 95% confident that the total cholesterol of a randomly selected 42-year-old female is between 166.2 mg/dL 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254.0 mg/dL.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Prediction Interval for an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4)                     </a:t>
            </a:r>
            <a:r>
              <a:rPr lang="en-US" sz="2400" b="0" i="1" u="none" dirty="0">
                <a:solidFill>
                  <a:schemeClr val="dk1"/>
                </a:solidFill>
                <a:latin typeface="Arial"/>
                <a:ea typeface="Arial"/>
                <a:cs typeface="Arial"/>
                <a:sym typeface="Arial"/>
              </a:rPr>
              <a:t>Individual</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Response by Hand</a:t>
            </a:r>
            <a:endParaRPr sz="2400" i="1" dirty="0"/>
          </a:p>
        </p:txBody>
      </p:sp>
    </p:spTree>
    <p:extLst>
      <p:ext uri="{BB962C8B-B14F-4D97-AF65-F5344CB8AC3E}">
        <p14:creationId xmlns:p14="http://schemas.microsoft.com/office/powerpoint/2010/main" val="170670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66</a:t>
            </a:fld>
            <a:endParaRPr dirty="0"/>
          </a:p>
        </p:txBody>
      </p:sp>
      <p:sp>
        <p:nvSpPr>
          <p:cNvPr id="315" name="Google Shape;315;p49"/>
          <p:cNvSpPr txBox="1"/>
          <p:nvPr/>
        </p:nvSpPr>
        <p:spPr>
          <a:xfrm>
            <a:off x="381000" y="1225485"/>
            <a:ext cx="8544759"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Construct a 95% confidence interval for the predicted mean total cholesterol of all 42-year-old females using statistical software. </a:t>
            </a:r>
          </a:p>
          <a:p>
            <a:endParaRPr lang="en-US" sz="28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figure shows the results obtained from Minitab.</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Confidence and Prediction Intervals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Using Technology</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A8950EE5-0A8F-4529-8C74-A1500C059F39}"/>
              </a:ext>
            </a:extLst>
          </p:cNvPr>
          <p:cNvPicPr>
            <a:picLocks noChangeAspect="1"/>
          </p:cNvPicPr>
          <p:nvPr/>
        </p:nvPicPr>
        <p:blipFill>
          <a:blip r:embed="rId3"/>
          <a:stretch>
            <a:fillRect/>
          </a:stretch>
        </p:blipFill>
        <p:spPr>
          <a:xfrm>
            <a:off x="1735068" y="3963971"/>
            <a:ext cx="5673863" cy="11292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160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67</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14.3 </a:t>
            </a:r>
            <a:r>
              <a:rPr lang="en-US" sz="4000" b="1" dirty="0">
                <a:solidFill>
                  <a:srgbClr val="333399"/>
                </a:solidFill>
                <a:latin typeface="+mn-lt"/>
                <a:cs typeface="Times New Roman"/>
                <a:sym typeface="Times New Roman"/>
              </a:rPr>
              <a:t>Introduction to Multiple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Regression</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143586"/>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3200" dirty="0">
                <a:solidFill>
                  <a:schemeClr val="dk1"/>
                </a:solidFill>
                <a:latin typeface="Times New Roman"/>
                <a:ea typeface="Times New Roman"/>
                <a:cs typeface="Times New Roman"/>
                <a:sym typeface="Times New Roman"/>
              </a:rPr>
              <a:t>Obtain the correlation matrix</a:t>
            </a:r>
            <a:endParaRPr lang="en-US" sz="3200" dirty="0"/>
          </a:p>
          <a:p>
            <a:pPr marL="609600" lvl="0" indent="-609600">
              <a:spcBef>
                <a:spcPts val="640"/>
              </a:spcBef>
              <a:buClr>
                <a:srgbClr val="A00020"/>
              </a:buClr>
              <a:buSzPts val="3200"/>
              <a:buFont typeface="Times New Roman"/>
              <a:buAutoNum type="arabicPeriod"/>
            </a:pPr>
            <a:r>
              <a:rPr lang="en-US" sz="3200" dirty="0">
                <a:solidFill>
                  <a:schemeClr val="dk1"/>
                </a:solidFill>
                <a:latin typeface="Times New Roman"/>
                <a:ea typeface="Times New Roman"/>
                <a:cs typeface="Times New Roman"/>
                <a:sym typeface="Times New Roman"/>
              </a:rPr>
              <a:t>Use technology to find a multiple regression equation</a:t>
            </a:r>
            <a:endParaRPr lang="en-US" sz="3200" dirty="0"/>
          </a:p>
          <a:p>
            <a:pPr marL="609600" lvl="0" indent="-609600">
              <a:spcBef>
                <a:spcPts val="640"/>
              </a:spcBef>
              <a:buClr>
                <a:srgbClr val="A00020"/>
              </a:buClr>
              <a:buSzPts val="3200"/>
              <a:buFont typeface="Times New Roman"/>
              <a:buAutoNum type="arabicPeriod"/>
            </a:pPr>
            <a:r>
              <a:rPr lang="en-US" sz="3200" dirty="0">
                <a:solidFill>
                  <a:schemeClr val="dk1"/>
                </a:solidFill>
                <a:latin typeface="Times New Roman"/>
                <a:ea typeface="Times New Roman"/>
                <a:cs typeface="Times New Roman"/>
                <a:sym typeface="Times New Roman"/>
              </a:rPr>
              <a:t>Interpret the coefficients of a multiple regression equation</a:t>
            </a:r>
            <a:endParaRPr lang="en-US" sz="3200" dirty="0"/>
          </a:p>
          <a:p>
            <a:pPr marL="609600" lvl="0" indent="-609600">
              <a:spcBef>
                <a:spcPts val="640"/>
              </a:spcBef>
              <a:buClr>
                <a:srgbClr val="A00020"/>
              </a:buClr>
              <a:buSzPts val="3200"/>
              <a:buFont typeface="Times New Roman"/>
              <a:buAutoNum type="arabicPeriod"/>
            </a:pPr>
            <a:r>
              <a:rPr lang="en-US" sz="3200" dirty="0">
                <a:solidFill>
                  <a:schemeClr val="dk1"/>
                </a:solidFill>
                <a:latin typeface="Times New Roman"/>
                <a:ea typeface="Times New Roman"/>
                <a:cs typeface="Times New Roman"/>
                <a:sym typeface="Times New Roman"/>
              </a:rPr>
              <a:t>Determine </a:t>
            </a:r>
            <a:r>
              <a:rPr lang="en-US" sz="3200" i="1" dirty="0">
                <a:solidFill>
                  <a:schemeClr val="dk1"/>
                </a:solidFill>
                <a:latin typeface="Times New Roman"/>
                <a:ea typeface="Times New Roman"/>
                <a:cs typeface="Times New Roman"/>
                <a:sym typeface="Times New Roman"/>
              </a:rPr>
              <a:t>R</a:t>
            </a:r>
            <a:r>
              <a:rPr lang="en-US" sz="3200" baseline="30000" dirty="0">
                <a:solidFill>
                  <a:schemeClr val="dk1"/>
                </a:solidFill>
                <a:latin typeface="Times New Roman"/>
                <a:ea typeface="Times New Roman"/>
                <a:cs typeface="Times New Roman"/>
                <a:sym typeface="Times New Roman"/>
              </a:rPr>
              <a:t>2</a:t>
            </a:r>
            <a:r>
              <a:rPr lang="en-US" sz="3200" dirty="0">
                <a:solidFill>
                  <a:schemeClr val="dk1"/>
                </a:solidFill>
                <a:latin typeface="Times New Roman"/>
                <a:ea typeface="Times New Roman"/>
                <a:cs typeface="Times New Roman"/>
                <a:sym typeface="Times New Roman"/>
              </a:rPr>
              <a:t> and adjusted </a:t>
            </a:r>
            <a:r>
              <a:rPr lang="en-US" sz="3200" i="1" dirty="0">
                <a:solidFill>
                  <a:schemeClr val="dk1"/>
                </a:solidFill>
                <a:latin typeface="Times New Roman"/>
                <a:ea typeface="Times New Roman"/>
                <a:cs typeface="Times New Roman"/>
                <a:sym typeface="Times New Roman"/>
              </a:rPr>
              <a:t>R</a:t>
            </a:r>
            <a:r>
              <a:rPr lang="en-US" sz="3200" baseline="30000" dirty="0">
                <a:solidFill>
                  <a:schemeClr val="dk1"/>
                </a:solidFill>
                <a:latin typeface="Times New Roman"/>
                <a:ea typeface="Times New Roman"/>
                <a:cs typeface="Times New Roman"/>
                <a:sym typeface="Times New Roman"/>
              </a:rPr>
              <a:t>2</a:t>
            </a:r>
            <a:endParaRPr lang="en-US" sz="3200" dirty="0">
              <a:latin typeface="Times New Roman" panose="02020603050405020304" pitchFamily="18" charset="0"/>
              <a:cs typeface="Times New Roman" panose="02020603050405020304" pitchFamily="18" charset="0"/>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99063" y="1721952"/>
            <a:ext cx="834662" cy="843267"/>
          </a:xfrm>
          <a:prstGeom prst="rect">
            <a:avLst/>
          </a:prstGeom>
        </p:spPr>
      </p:pic>
    </p:spTree>
    <p:extLst>
      <p:ext uri="{BB962C8B-B14F-4D97-AF65-F5344CB8AC3E}">
        <p14:creationId xmlns:p14="http://schemas.microsoft.com/office/powerpoint/2010/main" val="132809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68</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14.3 </a:t>
            </a:r>
            <a:r>
              <a:rPr lang="en-US" sz="4000" b="1" dirty="0">
                <a:solidFill>
                  <a:srgbClr val="333399"/>
                </a:solidFill>
                <a:latin typeface="+mn-lt"/>
                <a:cs typeface="Times New Roman"/>
                <a:sym typeface="Times New Roman"/>
              </a:rPr>
              <a:t>Introduction to Multiple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Regression</a:t>
            </a:r>
          </a:p>
          <a:p>
            <a:pPr marL="609600" lvl="0" indent="-609600">
              <a:buClr>
                <a:schemeClr val="dk1"/>
              </a:buClr>
              <a:buSzPts val="3200"/>
            </a:pPr>
            <a:r>
              <a:rPr lang="en-US" sz="4000" b="1" dirty="0">
                <a:solidFill>
                  <a:srgbClr val="A00020"/>
                </a:solidFill>
                <a:latin typeface="+mn-lt"/>
                <a:cs typeface="Times New Roman"/>
                <a:sym typeface="Times New Roman"/>
              </a:rPr>
              <a:t>Learning Objectives Continued</a:t>
            </a:r>
            <a:endParaRPr lang="en-US" sz="4000" dirty="0">
              <a:solidFill>
                <a:srgbClr val="A00020"/>
              </a:solidFill>
              <a:latin typeface="+mn-lt"/>
            </a:endParaRPr>
          </a:p>
        </p:txBody>
      </p:sp>
      <p:sp>
        <p:nvSpPr>
          <p:cNvPr id="90" name="Google Shape;90;p16"/>
          <p:cNvSpPr txBox="1"/>
          <p:nvPr/>
        </p:nvSpPr>
        <p:spPr>
          <a:xfrm>
            <a:off x="457200" y="2143586"/>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startAt="5"/>
            </a:pPr>
            <a:r>
              <a:rPr lang="en-US" sz="3200" dirty="0">
                <a:solidFill>
                  <a:schemeClr val="dk1"/>
                </a:solidFill>
                <a:latin typeface="Times New Roman"/>
                <a:ea typeface="Times New Roman"/>
                <a:cs typeface="Times New Roman"/>
                <a:sym typeface="Times New Roman"/>
              </a:rPr>
              <a:t>Perform an </a:t>
            </a:r>
            <a:r>
              <a:rPr lang="en-US" sz="3200" i="1" dirty="0">
                <a:solidFill>
                  <a:schemeClr val="dk1"/>
                </a:solidFill>
                <a:latin typeface="Times New Roman"/>
                <a:ea typeface="Times New Roman"/>
                <a:cs typeface="Times New Roman"/>
                <a:sym typeface="Times New Roman"/>
              </a:rPr>
              <a:t>F</a:t>
            </a:r>
            <a:r>
              <a:rPr lang="en-US" sz="3200" dirty="0">
                <a:solidFill>
                  <a:schemeClr val="dk1"/>
                </a:solidFill>
                <a:latin typeface="Times New Roman"/>
                <a:ea typeface="Times New Roman"/>
                <a:cs typeface="Times New Roman"/>
                <a:sym typeface="Times New Roman"/>
              </a:rPr>
              <a:t>-test for lack of fit</a:t>
            </a:r>
            <a:endParaRPr lang="en-US" sz="3200" dirty="0"/>
          </a:p>
          <a:p>
            <a:pPr marL="609600" lvl="0" indent="-609600">
              <a:spcBef>
                <a:spcPts val="640"/>
              </a:spcBef>
              <a:buClr>
                <a:srgbClr val="A00020"/>
              </a:buClr>
              <a:buSzPts val="3200"/>
              <a:buFont typeface="Times New Roman"/>
              <a:buAutoNum type="arabicPeriod" startAt="5"/>
            </a:pPr>
            <a:r>
              <a:rPr lang="en-US" sz="3200" dirty="0">
                <a:solidFill>
                  <a:schemeClr val="dk1"/>
                </a:solidFill>
                <a:latin typeface="Times New Roman"/>
                <a:ea typeface="Times New Roman"/>
                <a:cs typeface="Times New Roman"/>
                <a:sym typeface="Times New Roman"/>
              </a:rPr>
              <a:t>Test individual regression coefficients for significance</a:t>
            </a:r>
            <a:endParaRPr lang="en-US" sz="3200" dirty="0"/>
          </a:p>
          <a:p>
            <a:pPr marL="609600" lvl="0" indent="-609600">
              <a:spcBef>
                <a:spcPts val="640"/>
              </a:spcBef>
              <a:buClr>
                <a:srgbClr val="A00020"/>
              </a:buClr>
              <a:buSzPts val="3200"/>
              <a:buFont typeface="Times New Roman"/>
              <a:buAutoNum type="arabicPeriod" startAt="5"/>
            </a:pPr>
            <a:r>
              <a:rPr lang="en-US" sz="3200" dirty="0">
                <a:solidFill>
                  <a:schemeClr val="dk1"/>
                </a:solidFill>
                <a:latin typeface="Times New Roman"/>
                <a:ea typeface="Times New Roman"/>
                <a:cs typeface="Times New Roman"/>
                <a:sym typeface="Times New Roman"/>
              </a:rPr>
              <a:t>Construct confidence and prediction intervals</a:t>
            </a:r>
            <a:endParaRPr lang="en-US" sz="3200" dirty="0"/>
          </a:p>
          <a:p>
            <a:pPr lvl="0">
              <a:spcBef>
                <a:spcPts val="640"/>
              </a:spcBef>
              <a:buClr>
                <a:srgbClr val="A00020"/>
              </a:buClr>
              <a:buSzPts val="3200"/>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992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609" name="Google Shape;609;p83"/>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Obtain the Correlation Matrix</a:t>
            </a:r>
            <a:endParaRPr dirty="0"/>
          </a:p>
        </p:txBody>
      </p:sp>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69</a:t>
            </a:fld>
            <a:endParaRPr/>
          </a:p>
        </p:txBody>
      </p:sp>
    </p:spTree>
    <p:extLst>
      <p:ext uri="{BB962C8B-B14F-4D97-AF65-F5344CB8AC3E}">
        <p14:creationId xmlns:p14="http://schemas.microsoft.com/office/powerpoint/2010/main" val="3132823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10" name="Rectangle 9">
            <a:extLst>
              <a:ext uri="{FF2B5EF4-FFF2-40B4-BE49-F238E27FC236}">
                <a16:creationId xmlns:a16="http://schemas.microsoft.com/office/drawing/2014/main" id="{4BD516D0-F3ED-4D4A-8688-20B01BE09A42}"/>
              </a:ext>
            </a:extLst>
          </p:cNvPr>
          <p:cNvSpPr/>
          <p:nvPr/>
        </p:nvSpPr>
        <p:spPr>
          <a:xfrm>
            <a:off x="355891" y="228601"/>
            <a:ext cx="8584618" cy="5983664"/>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Google Shape;615;p84"/>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616" name="Google Shape;616;p84"/>
          <p:cNvSpPr txBox="1"/>
          <p:nvPr/>
        </p:nvSpPr>
        <p:spPr>
          <a:xfrm>
            <a:off x="381000" y="228600"/>
            <a:ext cx="8458200" cy="55626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A </a:t>
            </a:r>
            <a:r>
              <a:rPr lang="en-US" sz="32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multiple regression model</a:t>
            </a: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 given by</a:t>
            </a:r>
            <a:endParaRPr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2800"/>
              <a:buFont typeface="Arial"/>
              <a:buNone/>
            </a:pPr>
            <a:endParaRPr sz="2800" b="0" i="0" u="none" dirty="0">
              <a:solidFill>
                <a:schemeClr val="accent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2800"/>
              <a:buFont typeface="Arial"/>
              <a:buNone/>
            </a:pPr>
            <a:endParaRPr sz="2800" b="0" i="0" u="none" dirty="0">
              <a:solidFill>
                <a:schemeClr val="accent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80000"/>
              </a:lnSpc>
              <a:spcBef>
                <a:spcPts val="0"/>
              </a:spcBef>
              <a:spcAft>
                <a:spcPts val="0"/>
              </a:spcAft>
              <a:buClr>
                <a:schemeClr val="dk1"/>
              </a:buClr>
              <a:buSzPts val="2800"/>
              <a:buFont typeface="Times New Roman"/>
              <a:buNone/>
            </a:pPr>
            <a:r>
              <a:rPr lang="en-US" sz="27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where</a:t>
            </a:r>
            <a:endParaRPr sz="2700" dirty="0">
              <a:latin typeface="Times New Roman" panose="02020603050405020304" pitchFamily="18" charset="0"/>
              <a:cs typeface="Times New Roman" panose="02020603050405020304" pitchFamily="18" charset="0"/>
            </a:endParaRPr>
          </a:p>
          <a:p>
            <a:pPr marL="803275" marR="0" lvl="1" indent="-346075" algn="l" rtl="0">
              <a:lnSpc>
                <a:spcPct val="90000"/>
              </a:lnSpc>
              <a:spcBef>
                <a:spcPts val="0"/>
              </a:spcBef>
              <a:spcAft>
                <a:spcPts val="0"/>
              </a:spcAft>
              <a:buClr>
                <a:schemeClr val="dk1"/>
              </a:buClr>
              <a:buSzPts val="2800"/>
              <a:buFont typeface="Times New Roman"/>
              <a:buNone/>
            </a:pP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y</a:t>
            </a:r>
            <a:r>
              <a:rPr lang="en-US" sz="2700" b="0" i="1" u="none" strike="noStrike" cap="none" baseline="-25000"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value of the response variable for the </a:t>
            </a: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baseline="30000" dirty="0" err="1">
                <a:solidFill>
                  <a:schemeClr val="dk1"/>
                </a:solidFill>
                <a:latin typeface="Times New Roman" panose="02020603050405020304" pitchFamily="18" charset="0"/>
                <a:ea typeface="Times New Roman"/>
                <a:cs typeface="Times New Roman" panose="02020603050405020304" pitchFamily="18" charset="0"/>
                <a:sym typeface="Times New Roman"/>
              </a:rPr>
              <a:t>th</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individual</a:t>
            </a:r>
            <a:endParaRPr sz="2700" dirty="0">
              <a:latin typeface="Times New Roman" panose="02020603050405020304" pitchFamily="18" charset="0"/>
              <a:cs typeface="Times New Roman" panose="02020603050405020304" pitchFamily="18" charset="0"/>
            </a:endParaRPr>
          </a:p>
          <a:p>
            <a:pPr marL="803275" marR="0" lvl="1" indent="-346075" algn="l" rtl="0">
              <a:lnSpc>
                <a:spcPct val="90000"/>
              </a:lnSpc>
              <a:spcBef>
                <a:spcPts val="0"/>
              </a:spcBef>
              <a:spcAft>
                <a:spcPts val="0"/>
              </a:spcAft>
              <a:buClr>
                <a:schemeClr val="dk1"/>
              </a:buClr>
              <a:buSzPts val="2800"/>
              <a:buFont typeface="Times New Roman"/>
              <a:buNone/>
            </a:pP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x</a:t>
            </a:r>
            <a:r>
              <a:rPr lang="en-US" sz="2700" b="0" i="0"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700" b="0" i="1"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is </a:t>
            </a:r>
            <a:r>
              <a:rPr lang="en-US" sz="2700" b="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value </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of the first explanatory variable for the </a:t>
            </a: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th</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observation, </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x</a:t>
            </a:r>
            <a:r>
              <a:rPr lang="en-US" sz="2700" b="0" i="0"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700" b="0" i="1"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is </a:t>
            </a:r>
            <a:r>
              <a:rPr lang="en-US" sz="2700" dirty="0">
                <a:solidFill>
                  <a:schemeClr val="dk1"/>
                </a:solidFill>
                <a:latin typeface="Times New Roman" panose="02020603050405020304" pitchFamily="18" charset="0"/>
                <a:ea typeface="Times New Roman"/>
                <a:cs typeface="Times New Roman" panose="02020603050405020304" pitchFamily="18" charset="0"/>
                <a:sym typeface="Times New Roman"/>
              </a:rPr>
              <a:t>value of </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second explanatory variable for the </a:t>
            </a: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th</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observation, and so on</a:t>
            </a:r>
            <a:endParaRPr sz="2700" dirty="0">
              <a:latin typeface="Times New Roman" panose="02020603050405020304" pitchFamily="18" charset="0"/>
              <a:cs typeface="Times New Roman" panose="02020603050405020304" pitchFamily="18" charset="0"/>
            </a:endParaRPr>
          </a:p>
          <a:p>
            <a:pPr marL="803275" marR="0" lvl="1" indent="-346075" algn="l" rtl="0">
              <a:lnSpc>
                <a:spcPct val="90000"/>
              </a:lnSpc>
              <a:spcBef>
                <a:spcPts val="0"/>
              </a:spcBef>
              <a:spcAft>
                <a:spcPts val="0"/>
              </a:spcAft>
              <a:buClr>
                <a:schemeClr val="dk1"/>
              </a:buClr>
              <a:buSzPts val="2800"/>
              <a:buFont typeface="Times New Roman"/>
              <a:buNone/>
            </a:pP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β</a:t>
            </a:r>
            <a:r>
              <a:rPr lang="en-US" sz="2700" b="0" i="0"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0</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β</a:t>
            </a:r>
            <a:r>
              <a:rPr lang="en-US" sz="2700" b="0" i="0"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β</a:t>
            </a:r>
            <a:r>
              <a:rPr lang="en-US" sz="2700" b="0" i="1" u="none" strike="noStrike" cap="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k</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are the parameters to be estimated based on sample data</a:t>
            </a:r>
            <a:endParaRPr sz="2700" dirty="0">
              <a:latin typeface="Times New Roman" panose="02020603050405020304" pitchFamily="18" charset="0"/>
              <a:cs typeface="Times New Roman" panose="02020603050405020304" pitchFamily="18" charset="0"/>
            </a:endParaRPr>
          </a:p>
          <a:p>
            <a:pPr marL="803275" marR="0" lvl="1" indent="-346075" algn="l" rtl="0">
              <a:lnSpc>
                <a:spcPct val="90000"/>
              </a:lnSpc>
              <a:spcBef>
                <a:spcPts val="0"/>
              </a:spcBef>
              <a:spcAft>
                <a:spcPts val="0"/>
              </a:spcAft>
              <a:buClr>
                <a:schemeClr val="dk1"/>
              </a:buClr>
              <a:buSzPts val="2800"/>
              <a:buFont typeface="Times New Roman"/>
              <a:buNone/>
            </a:pP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ε</a:t>
            </a:r>
            <a:r>
              <a:rPr lang="en-US" sz="2700" b="0" i="1" u="none" strike="noStrike" cap="none" baseline="-25000"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is a random error term that is normally distributed with mean 0 and standard deviation              </a:t>
            </a:r>
            <a:endParaRPr sz="2700" dirty="0">
              <a:latin typeface="Times New Roman" panose="02020603050405020304" pitchFamily="18" charset="0"/>
              <a:cs typeface="Times New Roman" panose="02020603050405020304" pitchFamily="18" charset="0"/>
            </a:endParaRPr>
          </a:p>
          <a:p>
            <a:pPr marL="803275" marR="0" lvl="1" indent="-346075" algn="l" rtl="0">
              <a:lnSpc>
                <a:spcPct val="100000"/>
              </a:lnSpc>
              <a:spcBef>
                <a:spcPts val="0"/>
              </a:spcBef>
              <a:spcAft>
                <a:spcPts val="0"/>
              </a:spcAft>
              <a:buClr>
                <a:schemeClr val="dk1"/>
              </a:buClr>
              <a:buSzPts val="2800"/>
              <a:buFont typeface="Times New Roman"/>
              <a:buNone/>
            </a:pP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error terms are independent, and </a:t>
            </a:r>
            <a:r>
              <a:rPr lang="en-US" sz="2700" b="0" i="1"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1, 2,…, </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n</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where </a:t>
            </a:r>
            <a:r>
              <a:rPr lang="en-US" sz="27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n</a:t>
            </a:r>
            <a:r>
              <a:rPr lang="en-US" sz="27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sample size.</a:t>
            </a:r>
            <a:endParaRPr sz="2700" dirty="0">
              <a:latin typeface="Times New Roman" panose="02020603050405020304" pitchFamily="18" charset="0"/>
              <a:cs typeface="Times New Roman" panose="02020603050405020304" pitchFamily="18" charset="0"/>
            </a:endParaRPr>
          </a:p>
        </p:txBody>
      </p:sp>
      <p:sp>
        <p:nvSpPr>
          <p:cNvPr id="618" name="Google Shape;618;p8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70</a:t>
            </a:fld>
            <a:endParaRPr/>
          </a:p>
        </p:txBody>
      </p:sp>
      <p:graphicFrame>
        <p:nvGraphicFramePr>
          <p:cNvPr id="2" name="Object 1">
            <a:extLst>
              <a:ext uri="{FF2B5EF4-FFF2-40B4-BE49-F238E27FC236}">
                <a16:creationId xmlns:a16="http://schemas.microsoft.com/office/drawing/2014/main" id="{22826F31-3012-483E-BA6C-D6527B1E2549}"/>
              </a:ext>
            </a:extLst>
          </p:cNvPr>
          <p:cNvGraphicFramePr>
            <a:graphicFrameLocks noChangeAspect="1"/>
          </p:cNvGraphicFramePr>
          <p:nvPr>
            <p:extLst>
              <p:ext uri="{D42A27DB-BD31-4B8C-83A1-F6EECF244321}">
                <p14:modId xmlns:p14="http://schemas.microsoft.com/office/powerpoint/2010/main" val="2831342137"/>
              </p:ext>
            </p:extLst>
          </p:nvPr>
        </p:nvGraphicFramePr>
        <p:xfrm>
          <a:off x="1084377" y="975233"/>
          <a:ext cx="5956300" cy="482600"/>
        </p:xfrm>
        <a:graphic>
          <a:graphicData uri="http://schemas.openxmlformats.org/presentationml/2006/ole">
            <mc:AlternateContent xmlns:mc="http://schemas.openxmlformats.org/markup-compatibility/2006">
              <mc:Choice xmlns:v="urn:schemas-microsoft-com:vml" Requires="v">
                <p:oleObj spid="_x0000_s101662" name="Equation" r:id="rId4" imgW="5956200" imgH="482400" progId="Equation.DSMT4">
                  <p:embed/>
                </p:oleObj>
              </mc:Choice>
              <mc:Fallback>
                <p:oleObj name="Equation" r:id="rId4" imgW="5956200" imgH="482400" progId="Equation.DSMT4">
                  <p:embed/>
                  <p:pic>
                    <p:nvPicPr>
                      <p:cNvPr id="0" name=""/>
                      <p:cNvPicPr/>
                      <p:nvPr/>
                    </p:nvPicPr>
                    <p:blipFill>
                      <a:blip r:embed="rId5"/>
                      <a:stretch>
                        <a:fillRect/>
                      </a:stretch>
                    </p:blipFill>
                    <p:spPr>
                      <a:xfrm>
                        <a:off x="1084377" y="975233"/>
                        <a:ext cx="5956300" cy="48260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77C0BC61-5D5E-4A25-82C4-62AE0A90B8E4}"/>
              </a:ext>
            </a:extLst>
          </p:cNvPr>
          <p:cNvSpPr txBox="1"/>
          <p:nvPr/>
        </p:nvSpPr>
        <p:spPr>
          <a:xfrm>
            <a:off x="7382366" y="1003762"/>
            <a:ext cx="801278"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(1)</a:t>
            </a:r>
          </a:p>
        </p:txBody>
      </p:sp>
      <p:graphicFrame>
        <p:nvGraphicFramePr>
          <p:cNvPr id="4" name="Object 3">
            <a:extLst>
              <a:ext uri="{FF2B5EF4-FFF2-40B4-BE49-F238E27FC236}">
                <a16:creationId xmlns:a16="http://schemas.microsoft.com/office/drawing/2014/main" id="{379A1F9F-37C0-4ADB-A839-0F721A7061A5}"/>
              </a:ext>
            </a:extLst>
          </p:cNvPr>
          <p:cNvGraphicFramePr>
            <a:graphicFrameLocks noChangeAspect="1"/>
          </p:cNvGraphicFramePr>
          <p:nvPr>
            <p:extLst>
              <p:ext uri="{D42A27DB-BD31-4B8C-83A1-F6EECF244321}">
                <p14:modId xmlns:p14="http://schemas.microsoft.com/office/powerpoint/2010/main" val="2490084346"/>
              </p:ext>
            </p:extLst>
          </p:nvPr>
        </p:nvGraphicFramePr>
        <p:xfrm>
          <a:off x="6245225" y="4900613"/>
          <a:ext cx="1028700" cy="469900"/>
        </p:xfrm>
        <a:graphic>
          <a:graphicData uri="http://schemas.openxmlformats.org/presentationml/2006/ole">
            <mc:AlternateContent xmlns:mc="http://schemas.openxmlformats.org/markup-compatibility/2006">
              <mc:Choice xmlns:v="urn:schemas-microsoft-com:vml" Requires="v">
                <p:oleObj spid="_x0000_s101663" name="Equation" r:id="rId6" imgW="1028520" imgH="469800" progId="Equation.DSMT4">
                  <p:embed/>
                </p:oleObj>
              </mc:Choice>
              <mc:Fallback>
                <p:oleObj name="Equation" r:id="rId6" imgW="1028520" imgH="469800" progId="Equation.DSMT4">
                  <p:embed/>
                  <p:pic>
                    <p:nvPicPr>
                      <p:cNvPr id="0" name=""/>
                      <p:cNvPicPr/>
                      <p:nvPr/>
                    </p:nvPicPr>
                    <p:blipFill>
                      <a:blip r:embed="rId7"/>
                      <a:stretch>
                        <a:fillRect/>
                      </a:stretch>
                    </p:blipFill>
                    <p:spPr>
                      <a:xfrm>
                        <a:off x="6245225" y="4900613"/>
                        <a:ext cx="1028700" cy="469900"/>
                      </a:xfrm>
                      <a:prstGeom prst="rect">
                        <a:avLst/>
                      </a:prstGeom>
                    </p:spPr>
                  </p:pic>
                </p:oleObj>
              </mc:Fallback>
            </mc:AlternateContent>
          </a:graphicData>
        </a:graphic>
      </p:graphicFrame>
    </p:spTree>
    <p:extLst>
      <p:ext uri="{BB962C8B-B14F-4D97-AF65-F5344CB8AC3E}">
        <p14:creationId xmlns:p14="http://schemas.microsoft.com/office/powerpoint/2010/main" val="76625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85"/>
          <p:cNvSpPr txBox="1"/>
          <p:nvPr/>
        </p:nvSpPr>
        <p:spPr>
          <a:xfrm>
            <a:off x="490194" y="1009239"/>
            <a:ext cx="7961722" cy="3298809"/>
          </a:xfrm>
          <a:prstGeom prst="rect">
            <a:avLst/>
          </a:prstGeom>
          <a:noFill/>
          <a:ln>
            <a:noFill/>
          </a:ln>
        </p:spPr>
        <p:txBody>
          <a:bodyPr spcFirstLastPara="1" wrap="square" lIns="91425" tIns="45700" rIns="91425" bIns="45700" anchor="t" anchorCtr="0">
            <a:noAutofit/>
          </a:bodyPr>
          <a:lstStyle/>
          <a:p>
            <a:pPr lvl="0">
              <a:buClr>
                <a:schemeClr val="accent2"/>
              </a:buClr>
              <a:buSzPts val="3200"/>
            </a:pPr>
            <a:r>
              <a:rPr lang="en-US" sz="2800" dirty="0">
                <a:latin typeface="Times New Roman" panose="02020603050405020304" pitchFamily="18" charset="0"/>
                <a:cs typeface="Times New Roman" panose="02020603050405020304" pitchFamily="18" charset="0"/>
              </a:rPr>
              <a:t>If there are two explanatory variables, model (1) reduces to</a:t>
            </a:r>
          </a:p>
          <a:p>
            <a:pPr lvl="0">
              <a:buClr>
                <a:schemeClr val="accent2"/>
              </a:buClr>
              <a:buSzPts val="3200"/>
            </a:pPr>
            <a:endParaRPr lang="en-US" sz="2800" dirty="0">
              <a:latin typeface="Times New Roman" panose="02020603050405020304" pitchFamily="18" charset="0"/>
              <a:cs typeface="Times New Roman" panose="02020603050405020304" pitchFamily="18" charset="0"/>
            </a:endParaRPr>
          </a:p>
          <a:p>
            <a:pPr lvl="0">
              <a:buClr>
                <a:schemeClr val="accent2"/>
              </a:buClr>
              <a:buSzPts val="3200"/>
            </a:pPr>
            <a:endParaRPr lang="en-US" sz="2800" dirty="0">
              <a:latin typeface="Times New Roman" panose="02020603050405020304" pitchFamily="18" charset="0"/>
              <a:cs typeface="Times New Roman" panose="02020603050405020304" pitchFamily="18" charset="0"/>
            </a:endParaRPr>
          </a:p>
          <a:p>
            <a:pPr lvl="0">
              <a:buClr>
                <a:schemeClr val="accent2"/>
              </a:buClr>
              <a:buSzPts val="3200"/>
            </a:pPr>
            <a:endParaRPr lang="en-US" sz="2800" dirty="0">
              <a:latin typeface="Times New Roman" panose="02020603050405020304" pitchFamily="18" charset="0"/>
              <a:cs typeface="Times New Roman" panose="02020603050405020304" pitchFamily="18" charset="0"/>
            </a:endParaRPr>
          </a:p>
          <a:p>
            <a:pPr lvl="0">
              <a:buClr>
                <a:schemeClr val="accent2"/>
              </a:buClr>
              <a:buSzPts val="3200"/>
            </a:pPr>
            <a:r>
              <a:rPr lang="en-US" sz="2800" dirty="0">
                <a:latin typeface="Times New Roman" panose="02020603050405020304" pitchFamily="18" charset="0"/>
                <a:cs typeface="Times New Roman" panose="02020603050405020304" pitchFamily="18" charset="0"/>
              </a:rPr>
              <a:t>If there are three explanatory variables, model (1) reduces to</a:t>
            </a:r>
            <a:endParaRPr sz="2800" dirty="0">
              <a:latin typeface="Times New Roman" panose="02020603050405020304" pitchFamily="18" charset="0"/>
              <a:cs typeface="Times New Roman" panose="02020603050405020304" pitchFamily="18" charset="0"/>
            </a:endParaRPr>
          </a:p>
        </p:txBody>
      </p:sp>
      <p:sp>
        <p:nvSpPr>
          <p:cNvPr id="625" name="Google Shape;625;p8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71</a:t>
            </a:fld>
            <a:endParaRPr/>
          </a:p>
        </p:txBody>
      </p:sp>
      <p:graphicFrame>
        <p:nvGraphicFramePr>
          <p:cNvPr id="4" name="Object 3">
            <a:extLst>
              <a:ext uri="{FF2B5EF4-FFF2-40B4-BE49-F238E27FC236}">
                <a16:creationId xmlns:a16="http://schemas.microsoft.com/office/drawing/2014/main" id="{F2F1816E-27F4-4150-B705-BD5155B0FD0B}"/>
              </a:ext>
            </a:extLst>
          </p:cNvPr>
          <p:cNvGraphicFramePr>
            <a:graphicFrameLocks noChangeAspect="1"/>
          </p:cNvGraphicFramePr>
          <p:nvPr>
            <p:extLst>
              <p:ext uri="{D42A27DB-BD31-4B8C-83A1-F6EECF244321}">
                <p14:modId xmlns:p14="http://schemas.microsoft.com/office/powerpoint/2010/main" val="2881584173"/>
              </p:ext>
            </p:extLst>
          </p:nvPr>
        </p:nvGraphicFramePr>
        <p:xfrm>
          <a:off x="1409111" y="4463547"/>
          <a:ext cx="5232400" cy="482600"/>
        </p:xfrm>
        <a:graphic>
          <a:graphicData uri="http://schemas.openxmlformats.org/presentationml/2006/ole">
            <mc:AlternateContent xmlns:mc="http://schemas.openxmlformats.org/markup-compatibility/2006">
              <mc:Choice xmlns:v="urn:schemas-microsoft-com:vml" Requires="v">
                <p:oleObj spid="_x0000_s102680" name="Equation" r:id="rId4" imgW="5232240" imgH="482400" progId="Equation.DSMT4">
                  <p:embed/>
                </p:oleObj>
              </mc:Choice>
              <mc:Fallback>
                <p:oleObj name="Equation" r:id="rId4" imgW="5232240" imgH="482400" progId="Equation.DSMT4">
                  <p:embed/>
                  <p:pic>
                    <p:nvPicPr>
                      <p:cNvPr id="2" name="Object 1">
                        <a:extLst>
                          <a:ext uri="{FF2B5EF4-FFF2-40B4-BE49-F238E27FC236}">
                            <a16:creationId xmlns:a16="http://schemas.microsoft.com/office/drawing/2014/main" id="{22826F31-3012-483E-BA6C-D6527B1E2549}"/>
                          </a:ext>
                        </a:extLst>
                      </p:cNvPr>
                      <p:cNvPicPr/>
                      <p:nvPr/>
                    </p:nvPicPr>
                    <p:blipFill>
                      <a:blip r:embed="rId5"/>
                      <a:stretch>
                        <a:fillRect/>
                      </a:stretch>
                    </p:blipFill>
                    <p:spPr>
                      <a:xfrm>
                        <a:off x="1409111" y="4463547"/>
                        <a:ext cx="5232400" cy="482600"/>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FCF54BB4-F092-43B7-ADA9-A1EE608D8A57}"/>
              </a:ext>
            </a:extLst>
          </p:cNvPr>
          <p:cNvSpPr txBox="1"/>
          <p:nvPr/>
        </p:nvSpPr>
        <p:spPr>
          <a:xfrm>
            <a:off x="7334250" y="4515260"/>
            <a:ext cx="801278"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(3)</a:t>
            </a:r>
          </a:p>
        </p:txBody>
      </p:sp>
      <p:graphicFrame>
        <p:nvGraphicFramePr>
          <p:cNvPr id="6" name="Object 5">
            <a:extLst>
              <a:ext uri="{FF2B5EF4-FFF2-40B4-BE49-F238E27FC236}">
                <a16:creationId xmlns:a16="http://schemas.microsoft.com/office/drawing/2014/main" id="{D435ED08-DB2B-4104-AA8D-4F12E8E26740}"/>
              </a:ext>
            </a:extLst>
          </p:cNvPr>
          <p:cNvGraphicFramePr>
            <a:graphicFrameLocks noChangeAspect="1"/>
          </p:cNvGraphicFramePr>
          <p:nvPr>
            <p:extLst>
              <p:ext uri="{D42A27DB-BD31-4B8C-83A1-F6EECF244321}">
                <p14:modId xmlns:p14="http://schemas.microsoft.com/office/powerpoint/2010/main" val="83545894"/>
              </p:ext>
            </p:extLst>
          </p:nvPr>
        </p:nvGraphicFramePr>
        <p:xfrm>
          <a:off x="1409111" y="2230965"/>
          <a:ext cx="4076700" cy="482600"/>
        </p:xfrm>
        <a:graphic>
          <a:graphicData uri="http://schemas.openxmlformats.org/presentationml/2006/ole">
            <mc:AlternateContent xmlns:mc="http://schemas.openxmlformats.org/markup-compatibility/2006">
              <mc:Choice xmlns:v="urn:schemas-microsoft-com:vml" Requires="v">
                <p:oleObj spid="_x0000_s102681" name="Equation" r:id="rId6" imgW="4076640" imgH="482400" progId="Equation.DSMT4">
                  <p:embed/>
                </p:oleObj>
              </mc:Choice>
              <mc:Fallback>
                <p:oleObj name="Equation" r:id="rId6" imgW="4076640" imgH="482400" progId="Equation.DSMT4">
                  <p:embed/>
                  <p:pic>
                    <p:nvPicPr>
                      <p:cNvPr id="4" name="Object 3">
                        <a:extLst>
                          <a:ext uri="{FF2B5EF4-FFF2-40B4-BE49-F238E27FC236}">
                            <a16:creationId xmlns:a16="http://schemas.microsoft.com/office/drawing/2014/main" id="{F2F1816E-27F4-4150-B705-BD5155B0FD0B}"/>
                          </a:ext>
                        </a:extLst>
                      </p:cNvPr>
                      <p:cNvPicPr/>
                      <p:nvPr/>
                    </p:nvPicPr>
                    <p:blipFill>
                      <a:blip r:embed="rId7"/>
                      <a:stretch>
                        <a:fillRect/>
                      </a:stretch>
                    </p:blipFill>
                    <p:spPr>
                      <a:xfrm>
                        <a:off x="1409111" y="2230965"/>
                        <a:ext cx="4076700" cy="4826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29BCC59D-F058-466A-B4B7-16450BF4575C}"/>
              </a:ext>
            </a:extLst>
          </p:cNvPr>
          <p:cNvSpPr txBox="1"/>
          <p:nvPr/>
        </p:nvSpPr>
        <p:spPr>
          <a:xfrm>
            <a:off x="7334250" y="2282678"/>
            <a:ext cx="801278"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529386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
                                            <p:txEl>
                                              <p:pRg st="4" end="4"/>
                                            </p:txEl>
                                          </p:spTgt>
                                        </p:tgtEl>
                                        <p:attrNameLst>
                                          <p:attrName>style.visibility</p:attrName>
                                        </p:attrNameLst>
                                      </p:cBhvr>
                                      <p:to>
                                        <p:strVal val="visible"/>
                                      </p:to>
                                    </p:set>
                                    <p:animEffect transition="in" filter="fade">
                                      <p:cBhvr>
                                        <p:cTn id="7" dur="500"/>
                                        <p:tgtEl>
                                          <p:spTgt spid="62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4" name="Rectangle 3">
            <a:extLst>
              <a:ext uri="{FF2B5EF4-FFF2-40B4-BE49-F238E27FC236}">
                <a16:creationId xmlns:a16="http://schemas.microsoft.com/office/drawing/2014/main" id="{31E94C96-CFF6-44C7-B104-B876871F8BC3}"/>
              </a:ext>
            </a:extLst>
          </p:cNvPr>
          <p:cNvSpPr/>
          <p:nvPr/>
        </p:nvSpPr>
        <p:spPr>
          <a:xfrm>
            <a:off x="287939" y="1518237"/>
            <a:ext cx="8584618" cy="2488155"/>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Google Shape;624;p85"/>
          <p:cNvSpPr txBox="1"/>
          <p:nvPr/>
        </p:nvSpPr>
        <p:spPr>
          <a:xfrm>
            <a:off x="533400" y="1418734"/>
            <a:ext cx="8093697" cy="2667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a:ea typeface="Times New Roman"/>
                <a:cs typeface="Times New Roman"/>
                <a:sym typeface="Times New Roman"/>
              </a:rPr>
              <a:t>A </a:t>
            </a:r>
            <a:r>
              <a:rPr lang="en-US" sz="3200" b="1" i="0" u="none" dirty="0">
                <a:solidFill>
                  <a:schemeClr val="tx1"/>
                </a:solidFill>
                <a:latin typeface="Times New Roman"/>
                <a:ea typeface="Times New Roman"/>
                <a:cs typeface="Times New Roman"/>
                <a:sym typeface="Times New Roman"/>
              </a:rPr>
              <a:t>correlation matrix</a:t>
            </a:r>
            <a:r>
              <a:rPr lang="en-US" sz="3200" b="0" i="0" u="none" dirty="0">
                <a:solidFill>
                  <a:schemeClr val="tx1"/>
                </a:solidFill>
                <a:latin typeface="Times New Roman"/>
                <a:ea typeface="Times New Roman"/>
                <a:cs typeface="Times New Roman"/>
                <a:sym typeface="Times New Roman"/>
              </a:rPr>
              <a:t> shows the linear correlation between each pair of variables under consideration in a multiple regression model.</a:t>
            </a:r>
            <a:endParaRPr sz="3200" dirty="0">
              <a:solidFill>
                <a:schemeClr val="tx1"/>
              </a:solidFill>
            </a:endParaRPr>
          </a:p>
        </p:txBody>
      </p:sp>
      <p:sp>
        <p:nvSpPr>
          <p:cNvPr id="625" name="Google Shape;625;p8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72</a:t>
            </a:fld>
            <a:endParaRPr/>
          </a:p>
        </p:txBody>
      </p:sp>
    </p:spTree>
    <p:extLst>
      <p:ext uri="{BB962C8B-B14F-4D97-AF65-F5344CB8AC3E}">
        <p14:creationId xmlns:p14="http://schemas.microsoft.com/office/powerpoint/2010/main" val="21000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4" name="Rectangle 3">
            <a:extLst>
              <a:ext uri="{FF2B5EF4-FFF2-40B4-BE49-F238E27FC236}">
                <a16:creationId xmlns:a16="http://schemas.microsoft.com/office/drawing/2014/main" id="{8F02C41D-F4CB-4620-93B2-2294C667E8A2}"/>
              </a:ext>
            </a:extLst>
          </p:cNvPr>
          <p:cNvSpPr/>
          <p:nvPr/>
        </p:nvSpPr>
        <p:spPr>
          <a:xfrm>
            <a:off x="518475" y="1720392"/>
            <a:ext cx="8107050" cy="2286000"/>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Google Shape;630;p86"/>
          <p:cNvSpPr txBox="1"/>
          <p:nvPr/>
        </p:nvSpPr>
        <p:spPr>
          <a:xfrm>
            <a:off x="1069156" y="1720392"/>
            <a:ext cx="7556369" cy="2286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3300"/>
              <a:buFont typeface="Times New Roman"/>
              <a:buNone/>
            </a:pPr>
            <a:r>
              <a:rPr lang="en-US" sz="3200" b="1" i="0" u="none" dirty="0">
                <a:solidFill>
                  <a:schemeClr val="tx1"/>
                </a:solidFill>
                <a:latin typeface="Times New Roman"/>
                <a:ea typeface="Times New Roman"/>
                <a:cs typeface="Times New Roman"/>
                <a:sym typeface="Times New Roman"/>
              </a:rPr>
              <a:t>Multicollinearity </a:t>
            </a:r>
            <a:r>
              <a:rPr lang="en-US" sz="3200" b="0" i="0" u="none" dirty="0">
                <a:solidFill>
                  <a:schemeClr val="tx1"/>
                </a:solidFill>
                <a:latin typeface="Times New Roman"/>
                <a:ea typeface="Times New Roman"/>
                <a:cs typeface="Times New Roman"/>
                <a:sym typeface="Times New Roman"/>
              </a:rPr>
              <a:t>exists between two explanatory variables if they have a high linear correlation.</a:t>
            </a:r>
            <a:endParaRPr sz="3200" dirty="0">
              <a:solidFill>
                <a:schemeClr val="tx1"/>
              </a:solidFill>
            </a:endParaRPr>
          </a:p>
        </p:txBody>
      </p:sp>
      <p:sp>
        <p:nvSpPr>
          <p:cNvPr id="631" name="Google Shape;631;p8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73</a:t>
            </a:fld>
            <a:endParaRPr/>
          </a:p>
        </p:txBody>
      </p:sp>
    </p:spTree>
    <p:extLst>
      <p:ext uri="{BB962C8B-B14F-4D97-AF65-F5344CB8AC3E}">
        <p14:creationId xmlns:p14="http://schemas.microsoft.com/office/powerpoint/2010/main" val="282628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7"/>
          <p:cNvSpPr txBox="1"/>
          <p:nvPr/>
        </p:nvSpPr>
        <p:spPr>
          <a:xfrm>
            <a:off x="485775" y="533400"/>
            <a:ext cx="8124825" cy="356552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sz="3600"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If two explanatory variables in the regression model are highly correlated with each other, watch out for strange results in the regression output.</a:t>
            </a:r>
            <a:endParaRPr dirty="0"/>
          </a:p>
        </p:txBody>
      </p:sp>
      <p:sp>
        <p:nvSpPr>
          <p:cNvPr id="637" name="Google Shape;637;p8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74</a:t>
            </a:fld>
            <a:endParaRPr/>
          </a:p>
        </p:txBody>
      </p:sp>
    </p:spTree>
    <p:extLst>
      <p:ext uri="{BB962C8B-B14F-4D97-AF65-F5344CB8AC3E}">
        <p14:creationId xmlns:p14="http://schemas.microsoft.com/office/powerpoint/2010/main" val="412104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75</a:t>
            </a:fld>
            <a:endParaRPr dirty="0"/>
          </a:p>
        </p:txBody>
      </p:sp>
      <p:sp>
        <p:nvSpPr>
          <p:cNvPr id="315" name="Google Shape;315;p49"/>
          <p:cNvSpPr txBox="1"/>
          <p:nvPr/>
        </p:nvSpPr>
        <p:spPr>
          <a:xfrm>
            <a:off x="381001" y="1225485"/>
            <a:ext cx="5878398"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A family doctor wishes to further examine the variables that affect his female patients’ total cholesterol. He randomly selects 14 of his female patients and asks them to determine their average daily consumption of saturated fat. He then measures their total cholesterol and obtains the data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 Table 4.</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Correlation Matrix</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2)</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14F040B4-353E-4462-8745-6E8052139F09}"/>
              </a:ext>
            </a:extLst>
          </p:cNvPr>
          <p:cNvPicPr>
            <a:picLocks noChangeAspect="1"/>
          </p:cNvPicPr>
          <p:nvPr/>
        </p:nvPicPr>
        <p:blipFill>
          <a:blip r:embed="rId3"/>
          <a:stretch>
            <a:fillRect/>
          </a:stretch>
        </p:blipFill>
        <p:spPr>
          <a:xfrm>
            <a:off x="6327717" y="1273203"/>
            <a:ext cx="2738937" cy="4857002"/>
          </a:xfrm>
          <a:prstGeom prst="rect">
            <a:avLst/>
          </a:prstGeom>
        </p:spPr>
      </p:pic>
    </p:spTree>
    <p:extLst>
      <p:ext uri="{BB962C8B-B14F-4D97-AF65-F5344CB8AC3E}">
        <p14:creationId xmlns:p14="http://schemas.microsoft.com/office/powerpoint/2010/main" val="461699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76</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the correlation matrix from Minitab.</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linear correlation between total cholesterol and age is 0.718. The linear correlation between total cholesterol and average daily consumption of saturated fat is 0.778. Because the linear correlation between average daily consumption and age, the two explanatory variables, is only 0.324, we are not concerned with multicollinearity.</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Correlation Matrix</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2)</a:t>
            </a:r>
            <a:endParaRPr sz="2400" i="1" dirty="0"/>
          </a:p>
        </p:txBody>
      </p:sp>
      <p:pic>
        <p:nvPicPr>
          <p:cNvPr id="4" name="Picture 3" descr="A screenshot of a cell phone&#10;&#10;Description automatically generated">
            <a:extLst>
              <a:ext uri="{FF2B5EF4-FFF2-40B4-BE49-F238E27FC236}">
                <a16:creationId xmlns:a16="http://schemas.microsoft.com/office/drawing/2014/main" id="{47D28CE0-BB30-42BA-87ED-1F42DC5D48B0}"/>
              </a:ext>
            </a:extLst>
          </p:cNvPr>
          <p:cNvPicPr>
            <a:picLocks noChangeAspect="1"/>
          </p:cNvPicPr>
          <p:nvPr/>
        </p:nvPicPr>
        <p:blipFill>
          <a:blip r:embed="rId3"/>
          <a:stretch>
            <a:fillRect/>
          </a:stretch>
        </p:blipFill>
        <p:spPr>
          <a:xfrm>
            <a:off x="1446314" y="1937871"/>
            <a:ext cx="6251372" cy="1842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0780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7" end="7"/>
                                            </p:txEl>
                                          </p:spTgt>
                                        </p:tgtEl>
                                        <p:attrNameLst>
                                          <p:attrName>style.visibility</p:attrName>
                                        </p:attrNameLst>
                                      </p:cBhvr>
                                      <p:to>
                                        <p:strVal val="visible"/>
                                      </p:to>
                                    </p:set>
                                    <p:animEffect transition="in" filter="fade">
                                      <p:cBhvr>
                                        <p:cTn id="7" dur="500"/>
                                        <p:tgtEl>
                                          <p:spTgt spid="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9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672" name="Google Shape;672;p92"/>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Use Technology to Find a Multiple Regression Equation</a:t>
            </a:r>
            <a:endParaRPr dirty="0"/>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77</a:t>
            </a:fld>
            <a:endParaRPr/>
          </a:p>
        </p:txBody>
      </p:sp>
    </p:spTree>
    <p:extLst>
      <p:ext uri="{BB962C8B-B14F-4D97-AF65-F5344CB8AC3E}">
        <p14:creationId xmlns:p14="http://schemas.microsoft.com/office/powerpoint/2010/main" val="271141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78</a:t>
            </a:fld>
            <a:endParaRPr dirty="0"/>
          </a:p>
        </p:txBody>
      </p:sp>
      <p:sp>
        <p:nvSpPr>
          <p:cNvPr id="315" name="Google Shape;315;p49"/>
          <p:cNvSpPr txBox="1"/>
          <p:nvPr/>
        </p:nvSpPr>
        <p:spPr>
          <a:xfrm>
            <a:off x="381001" y="1225485"/>
            <a:ext cx="5878398"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Use the data in Table 4 presented in the previous example.</a:t>
            </a:r>
          </a:p>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Find the least-squares regression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equation </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where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represents the patient’s age,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represents the patient’s daily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consumption of saturated fat, and </a:t>
            </a:r>
            <a:r>
              <a:rPr lang="en-US" sz="2800" i="1" dirty="0">
                <a:latin typeface="Times New Roman" panose="02020603050405020304" pitchFamily="18" charset="0"/>
                <a:cs typeface="Times New Roman" panose="02020603050405020304" pitchFamily="18" charset="0"/>
              </a:rPr>
              <a:t>y </a:t>
            </a:r>
            <a:br>
              <a:rPr lang="en-US" sz="2800" i="1" dirty="0">
                <a:latin typeface="Times New Roman" panose="02020603050405020304" pitchFamily="18" charset="0"/>
                <a:cs typeface="Times New Roman" panose="02020603050405020304" pitchFamily="18" charset="0"/>
              </a:rPr>
            </a:b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represents the patient’s total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cholesterol.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6)</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14F040B4-353E-4462-8745-6E8052139F09}"/>
              </a:ext>
            </a:extLst>
          </p:cNvPr>
          <p:cNvPicPr>
            <a:picLocks noChangeAspect="1"/>
          </p:cNvPicPr>
          <p:nvPr/>
        </p:nvPicPr>
        <p:blipFill>
          <a:blip r:embed="rId4"/>
          <a:stretch>
            <a:fillRect/>
          </a:stretch>
        </p:blipFill>
        <p:spPr>
          <a:xfrm>
            <a:off x="6327717" y="1273203"/>
            <a:ext cx="2738937" cy="4857002"/>
          </a:xfrm>
          <a:prstGeom prst="rect">
            <a:avLst/>
          </a:prstGeom>
        </p:spPr>
      </p:pic>
      <p:graphicFrame>
        <p:nvGraphicFramePr>
          <p:cNvPr id="2" name="Object 1">
            <a:extLst>
              <a:ext uri="{FF2B5EF4-FFF2-40B4-BE49-F238E27FC236}">
                <a16:creationId xmlns:a16="http://schemas.microsoft.com/office/drawing/2014/main" id="{2709B0FD-E6FE-4946-9C2A-6A49DA722EF6}"/>
              </a:ext>
            </a:extLst>
          </p:cNvPr>
          <p:cNvGraphicFramePr>
            <a:graphicFrameLocks noChangeAspect="1"/>
          </p:cNvGraphicFramePr>
          <p:nvPr>
            <p:extLst>
              <p:ext uri="{D42A27DB-BD31-4B8C-83A1-F6EECF244321}">
                <p14:modId xmlns:p14="http://schemas.microsoft.com/office/powerpoint/2010/main" val="1188716501"/>
              </p:ext>
            </p:extLst>
          </p:nvPr>
        </p:nvGraphicFramePr>
        <p:xfrm>
          <a:off x="2274008" y="2583092"/>
          <a:ext cx="2679700" cy="431800"/>
        </p:xfrm>
        <a:graphic>
          <a:graphicData uri="http://schemas.openxmlformats.org/presentationml/2006/ole">
            <mc:AlternateContent xmlns:mc="http://schemas.openxmlformats.org/markup-compatibility/2006">
              <mc:Choice xmlns:v="urn:schemas-microsoft-com:vml" Requires="v">
                <p:oleObj spid="_x0000_s103556" name="Equation" r:id="rId5" imgW="2679480" imgH="431640" progId="Equation.DSMT4">
                  <p:embed/>
                </p:oleObj>
              </mc:Choice>
              <mc:Fallback>
                <p:oleObj name="Equation" r:id="rId5" imgW="2679480" imgH="431640" progId="Equation.DSMT4">
                  <p:embed/>
                  <p:pic>
                    <p:nvPicPr>
                      <p:cNvPr id="0" name=""/>
                      <p:cNvPicPr/>
                      <p:nvPr/>
                    </p:nvPicPr>
                    <p:blipFill>
                      <a:blip r:embed="rId6"/>
                      <a:stretch>
                        <a:fillRect/>
                      </a:stretch>
                    </p:blipFill>
                    <p:spPr>
                      <a:xfrm>
                        <a:off x="2274008" y="2583092"/>
                        <a:ext cx="2679700" cy="431800"/>
                      </a:xfrm>
                      <a:prstGeom prst="rect">
                        <a:avLst/>
                      </a:prstGeom>
                    </p:spPr>
                  </p:pic>
                </p:oleObj>
              </mc:Fallback>
            </mc:AlternateContent>
          </a:graphicData>
        </a:graphic>
      </p:graphicFrame>
    </p:spTree>
    <p:extLst>
      <p:ext uri="{BB962C8B-B14F-4D97-AF65-F5344CB8AC3E}">
        <p14:creationId xmlns:p14="http://schemas.microsoft.com/office/powerpoint/2010/main" val="56285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79</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figure on the next slide shows the output from Minitab.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least-squares regression equation for these data is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6)</a:t>
            </a:r>
            <a:endParaRPr sz="2400" i="1" dirty="0"/>
          </a:p>
        </p:txBody>
      </p:sp>
      <p:graphicFrame>
        <p:nvGraphicFramePr>
          <p:cNvPr id="2" name="Object 1">
            <a:extLst>
              <a:ext uri="{FF2B5EF4-FFF2-40B4-BE49-F238E27FC236}">
                <a16:creationId xmlns:a16="http://schemas.microsoft.com/office/drawing/2014/main" id="{2709B0FD-E6FE-4946-9C2A-6A49DA722EF6}"/>
              </a:ext>
            </a:extLst>
          </p:cNvPr>
          <p:cNvGraphicFramePr>
            <a:graphicFrameLocks noChangeAspect="1"/>
          </p:cNvGraphicFramePr>
          <p:nvPr>
            <p:extLst>
              <p:ext uri="{D42A27DB-BD31-4B8C-83A1-F6EECF244321}">
                <p14:modId xmlns:p14="http://schemas.microsoft.com/office/powerpoint/2010/main" val="1619436766"/>
              </p:ext>
            </p:extLst>
          </p:nvPr>
        </p:nvGraphicFramePr>
        <p:xfrm>
          <a:off x="2153238" y="2241241"/>
          <a:ext cx="3759200" cy="393700"/>
        </p:xfrm>
        <a:graphic>
          <a:graphicData uri="http://schemas.openxmlformats.org/presentationml/2006/ole">
            <mc:AlternateContent xmlns:mc="http://schemas.openxmlformats.org/markup-compatibility/2006">
              <mc:Choice xmlns:v="urn:schemas-microsoft-com:vml" Requires="v">
                <p:oleObj spid="_x0000_s104580" name="Equation" r:id="rId4" imgW="3759120" imgH="393480" progId="Equation.DSMT4">
                  <p:embed/>
                </p:oleObj>
              </mc:Choice>
              <mc:Fallback>
                <p:oleObj name="Equation" r:id="rId4" imgW="3759120" imgH="393480" progId="Equation.DSMT4">
                  <p:embed/>
                  <p:pic>
                    <p:nvPicPr>
                      <p:cNvPr id="2" name="Object 1">
                        <a:extLst>
                          <a:ext uri="{FF2B5EF4-FFF2-40B4-BE49-F238E27FC236}">
                            <a16:creationId xmlns:a16="http://schemas.microsoft.com/office/drawing/2014/main" id="{2709B0FD-E6FE-4946-9C2A-6A49DA722EF6}"/>
                          </a:ext>
                        </a:extLst>
                      </p:cNvPr>
                      <p:cNvPicPr/>
                      <p:nvPr/>
                    </p:nvPicPr>
                    <p:blipFill>
                      <a:blip r:embed="rId5"/>
                      <a:stretch>
                        <a:fillRect/>
                      </a:stretch>
                    </p:blipFill>
                    <p:spPr>
                      <a:xfrm>
                        <a:off x="2153238" y="2241241"/>
                        <a:ext cx="3759200" cy="393700"/>
                      </a:xfrm>
                      <a:prstGeom prst="rect">
                        <a:avLst/>
                      </a:prstGeom>
                    </p:spPr>
                  </p:pic>
                </p:oleObj>
              </mc:Fallback>
            </mc:AlternateContent>
          </a:graphicData>
        </a:graphic>
      </p:graphicFrame>
    </p:spTree>
    <p:extLst>
      <p:ext uri="{BB962C8B-B14F-4D97-AF65-F5344CB8AC3E}">
        <p14:creationId xmlns:p14="http://schemas.microsoft.com/office/powerpoint/2010/main" val="3136184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7" name="Google Shape;315;p49">
            <a:extLst>
              <a:ext uri="{FF2B5EF4-FFF2-40B4-BE49-F238E27FC236}">
                <a16:creationId xmlns:a16="http://schemas.microsoft.com/office/drawing/2014/main" id="{296D2DA0-1584-426F-A1A1-355DD49D50FB}"/>
              </a:ext>
            </a:extLst>
          </p:cNvPr>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a:t>
            </a:r>
          </a:p>
        </p:txBody>
      </p:sp>
      <p:pic>
        <p:nvPicPr>
          <p:cNvPr id="5" name="Picture 4" descr="A close up of text on a white background&#10;&#10;Description automatically generated">
            <a:extLst>
              <a:ext uri="{FF2B5EF4-FFF2-40B4-BE49-F238E27FC236}">
                <a16:creationId xmlns:a16="http://schemas.microsoft.com/office/drawing/2014/main" id="{4248F5F2-054A-497F-9C09-768E7FC92562}"/>
              </a:ext>
            </a:extLst>
          </p:cNvPr>
          <p:cNvPicPr>
            <a:picLocks noChangeAspect="1"/>
          </p:cNvPicPr>
          <p:nvPr/>
        </p:nvPicPr>
        <p:blipFill>
          <a:blip r:embed="rId3"/>
          <a:stretch>
            <a:fillRect/>
          </a:stretch>
        </p:blipFill>
        <p:spPr>
          <a:xfrm>
            <a:off x="1862539" y="1265440"/>
            <a:ext cx="6183983" cy="5065510"/>
          </a:xfrm>
          <a:prstGeom prst="rect">
            <a:avLst/>
          </a:prstGeom>
        </p:spPr>
      </p:pic>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80</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6)</a:t>
            </a:r>
            <a:endParaRPr sz="2400" i="1" dirty="0"/>
          </a:p>
        </p:txBody>
      </p:sp>
    </p:spTree>
    <p:extLst>
      <p:ext uri="{BB962C8B-B14F-4D97-AF65-F5344CB8AC3E}">
        <p14:creationId xmlns:p14="http://schemas.microsoft.com/office/powerpoint/2010/main" val="69889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81</a:t>
            </a:fld>
            <a:endParaRPr dirty="0"/>
          </a:p>
        </p:txBody>
      </p:sp>
      <p:sp>
        <p:nvSpPr>
          <p:cNvPr id="315" name="Google Shape;315;p49"/>
          <p:cNvSpPr txBox="1"/>
          <p:nvPr/>
        </p:nvSpPr>
        <p:spPr>
          <a:xfrm>
            <a:off x="381001" y="1225485"/>
            <a:ext cx="8619161"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Draw residual plots and a boxplot of the residuals to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assess the adequacy of the model.</a:t>
            </a:r>
          </a:p>
          <a:p>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Figure (a) on the next slide shows a plot of residuals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against the predicted values,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To obtain this plot by hand,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first find all the fitted values. For example, the predicted (or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fitted) value for the first observation in Table 4 (age = 25,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fat consumption = 19) is      </a:t>
            </a:r>
            <a:r>
              <a:rPr lang="en-US" sz="2600" i="1" dirty="0">
                <a:latin typeface="Times New Roman" panose="02020603050405020304" pitchFamily="18" charset="0"/>
                <a:cs typeface="Times New Roman" panose="02020603050405020304" pitchFamily="18" charset="0"/>
              </a:rPr>
              <a:t>                                                                </a:t>
            </a:r>
            <a:br>
              <a:rPr lang="en-US" sz="2600" i="1"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177.8 mg/dL. Therefore, residual = observed – predicted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 180 – 177.8 = 2.2 mg/dL. Now plot the point (177.8, 2.2)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on the graph. Repeat this for the remaining observations.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6</a:t>
            </a:r>
            <a:r>
              <a:rPr lang="en-US" sz="2400" b="0" u="none" dirty="0">
                <a:solidFill>
                  <a:schemeClr val="dk1"/>
                </a:solidFill>
                <a:latin typeface="Arial"/>
                <a:ea typeface="Arial"/>
                <a:cs typeface="Arial"/>
                <a:sym typeface="Arial"/>
              </a:rPr>
              <a:t>)</a:t>
            </a:r>
            <a:endParaRPr sz="2400" i="1" dirty="0"/>
          </a:p>
        </p:txBody>
      </p:sp>
      <p:graphicFrame>
        <p:nvGraphicFramePr>
          <p:cNvPr id="3" name="Object 2">
            <a:extLst>
              <a:ext uri="{FF2B5EF4-FFF2-40B4-BE49-F238E27FC236}">
                <a16:creationId xmlns:a16="http://schemas.microsoft.com/office/drawing/2014/main" id="{15C1D23E-BA4F-4C22-946C-D70BA5457527}"/>
              </a:ext>
            </a:extLst>
          </p:cNvPr>
          <p:cNvGraphicFramePr>
            <a:graphicFrameLocks noChangeAspect="1"/>
          </p:cNvGraphicFramePr>
          <p:nvPr>
            <p:extLst>
              <p:ext uri="{D42A27DB-BD31-4B8C-83A1-F6EECF244321}">
                <p14:modId xmlns:p14="http://schemas.microsoft.com/office/powerpoint/2010/main" val="3195712826"/>
              </p:ext>
            </p:extLst>
          </p:nvPr>
        </p:nvGraphicFramePr>
        <p:xfrm>
          <a:off x="4769047" y="3005972"/>
          <a:ext cx="279400" cy="381000"/>
        </p:xfrm>
        <a:graphic>
          <a:graphicData uri="http://schemas.openxmlformats.org/presentationml/2006/ole">
            <mc:AlternateContent xmlns:mc="http://schemas.openxmlformats.org/markup-compatibility/2006">
              <mc:Choice xmlns:v="urn:schemas-microsoft-com:vml" Requires="v">
                <p:oleObj spid="_x0000_s105732" name="Equation" r:id="rId4" imgW="279360" imgH="380880" progId="Equation.DSMT4">
                  <p:embed/>
                </p:oleObj>
              </mc:Choice>
              <mc:Fallback>
                <p:oleObj name="Equation" r:id="rId4" imgW="279360" imgH="380880" progId="Equation.DSMT4">
                  <p:embed/>
                  <p:pic>
                    <p:nvPicPr>
                      <p:cNvPr id="0" name=""/>
                      <p:cNvPicPr/>
                      <p:nvPr/>
                    </p:nvPicPr>
                    <p:blipFill>
                      <a:blip r:embed="rId5"/>
                      <a:stretch>
                        <a:fillRect/>
                      </a:stretch>
                    </p:blipFill>
                    <p:spPr>
                      <a:xfrm>
                        <a:off x="4769047" y="3005972"/>
                        <a:ext cx="279400" cy="381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40C1509-4A7F-44CA-91E5-DF45379A4B2D}"/>
              </a:ext>
            </a:extLst>
          </p:cNvPr>
          <p:cNvGraphicFramePr>
            <a:graphicFrameLocks noChangeAspect="1"/>
          </p:cNvGraphicFramePr>
          <p:nvPr>
            <p:extLst>
              <p:ext uri="{D42A27DB-BD31-4B8C-83A1-F6EECF244321}">
                <p14:modId xmlns:p14="http://schemas.microsoft.com/office/powerpoint/2010/main" val="489029731"/>
              </p:ext>
            </p:extLst>
          </p:nvPr>
        </p:nvGraphicFramePr>
        <p:xfrm>
          <a:off x="4283027" y="4176894"/>
          <a:ext cx="4241800" cy="381000"/>
        </p:xfrm>
        <a:graphic>
          <a:graphicData uri="http://schemas.openxmlformats.org/presentationml/2006/ole">
            <mc:AlternateContent xmlns:mc="http://schemas.openxmlformats.org/markup-compatibility/2006">
              <mc:Choice xmlns:v="urn:schemas-microsoft-com:vml" Requires="v">
                <p:oleObj spid="_x0000_s105733" name="Equation" r:id="rId6" imgW="4241520" imgH="380880" progId="Equation.DSMT4">
                  <p:embed/>
                </p:oleObj>
              </mc:Choice>
              <mc:Fallback>
                <p:oleObj name="Equation" r:id="rId6" imgW="4241520" imgH="380880" progId="Equation.DSMT4">
                  <p:embed/>
                  <p:pic>
                    <p:nvPicPr>
                      <p:cNvPr id="2" name="Object 1">
                        <a:extLst>
                          <a:ext uri="{FF2B5EF4-FFF2-40B4-BE49-F238E27FC236}">
                            <a16:creationId xmlns:a16="http://schemas.microsoft.com/office/drawing/2014/main" id="{2709B0FD-E6FE-4946-9C2A-6A49DA722EF6}"/>
                          </a:ext>
                        </a:extLst>
                      </p:cNvPr>
                      <p:cNvPicPr/>
                      <p:nvPr/>
                    </p:nvPicPr>
                    <p:blipFill>
                      <a:blip r:embed="rId7"/>
                      <a:stretch>
                        <a:fillRect/>
                      </a:stretch>
                    </p:blipFill>
                    <p:spPr>
                      <a:xfrm>
                        <a:off x="4283027" y="4176894"/>
                        <a:ext cx="4241800" cy="381000"/>
                      </a:xfrm>
                      <a:prstGeom prst="rect">
                        <a:avLst/>
                      </a:prstGeom>
                    </p:spPr>
                  </p:pic>
                </p:oleObj>
              </mc:Fallback>
            </mc:AlternateContent>
          </a:graphicData>
        </a:graphic>
      </p:graphicFrame>
    </p:spTree>
    <p:extLst>
      <p:ext uri="{BB962C8B-B14F-4D97-AF65-F5344CB8AC3E}">
        <p14:creationId xmlns:p14="http://schemas.microsoft.com/office/powerpoint/2010/main" val="133551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82</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6</a:t>
            </a:r>
            <a:r>
              <a:rPr lang="en-US" sz="2400" b="0" u="none" dirty="0">
                <a:solidFill>
                  <a:schemeClr val="dk1"/>
                </a:solidFill>
                <a:latin typeface="Arial"/>
                <a:ea typeface="Arial"/>
                <a:cs typeface="Arial"/>
                <a:sym typeface="Arial"/>
              </a:rPr>
              <a:t>)</a:t>
            </a:r>
            <a:endParaRPr sz="2400" i="1" dirty="0"/>
          </a:p>
        </p:txBody>
      </p:sp>
      <p:pic>
        <p:nvPicPr>
          <p:cNvPr id="4" name="Picture 3" descr="A screenshot of a computer&#10;&#10;Description automatically generated">
            <a:extLst>
              <a:ext uri="{FF2B5EF4-FFF2-40B4-BE49-F238E27FC236}">
                <a16:creationId xmlns:a16="http://schemas.microsoft.com/office/drawing/2014/main" id="{04D40242-7EF0-499A-8CE1-07E875E217ED}"/>
              </a:ext>
            </a:extLst>
          </p:cNvPr>
          <p:cNvPicPr>
            <a:picLocks noChangeAspect="1"/>
          </p:cNvPicPr>
          <p:nvPr/>
        </p:nvPicPr>
        <p:blipFill>
          <a:blip r:embed="rId3"/>
          <a:stretch>
            <a:fillRect/>
          </a:stretch>
        </p:blipFill>
        <p:spPr>
          <a:xfrm>
            <a:off x="533400" y="1234421"/>
            <a:ext cx="7679015" cy="5096529"/>
          </a:xfrm>
          <a:prstGeom prst="rect">
            <a:avLst/>
          </a:prstGeom>
        </p:spPr>
      </p:pic>
      <p:sp>
        <p:nvSpPr>
          <p:cNvPr id="9" name="Google Shape;315;p49">
            <a:extLst>
              <a:ext uri="{FF2B5EF4-FFF2-40B4-BE49-F238E27FC236}">
                <a16:creationId xmlns:a16="http://schemas.microsoft.com/office/drawing/2014/main" id="{ECA11A4D-64E3-479A-87D2-117E7AB9EB45}"/>
              </a:ext>
            </a:extLst>
          </p:cNvPr>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(b)</a:t>
            </a:r>
            <a:br>
              <a:rPr lang="en-US" sz="2800" b="1"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047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83</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(b)</a:t>
            </a:r>
            <a:r>
              <a:rPr lang="en-US" sz="28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Figure (b) shows a plot of residuals against the explanatory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variable, age. Figure (c) shows a plot of residuals against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explanatory variable saturated fat. Figure (d) shows a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boxplot of the residuals.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None of the residual plots show any discernible pattern, 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boxplot does not show any outliers. Therefore,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linear model is appropriate.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Regression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a:t>
            </a:r>
            <a:r>
              <a:rPr lang="en-US" sz="2400" dirty="0">
                <a:solidFill>
                  <a:schemeClr val="dk1"/>
                </a:solidFill>
              </a:rPr>
              <a:t>6</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295484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9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3</a:t>
            </a:r>
            <a:endParaRPr/>
          </a:p>
        </p:txBody>
      </p:sp>
      <p:sp>
        <p:nvSpPr>
          <p:cNvPr id="714" name="Google Shape;714;p97"/>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Interpret the Coefficients of a Multiple Regression Equation</a:t>
            </a:r>
            <a:endParaRPr dirty="0"/>
          </a:p>
        </p:txBody>
      </p:sp>
      <p:sp>
        <p:nvSpPr>
          <p:cNvPr id="715" name="Google Shape;715;p9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84</a:t>
            </a:fld>
            <a:endParaRPr/>
          </a:p>
        </p:txBody>
      </p:sp>
    </p:spTree>
    <p:extLst>
      <p:ext uri="{BB962C8B-B14F-4D97-AF65-F5344CB8AC3E}">
        <p14:creationId xmlns:p14="http://schemas.microsoft.com/office/powerpoint/2010/main" val="367374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85</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Interpret the regression coefficients for the least-squares regression equation found in the previous example.</a:t>
            </a:r>
          </a:p>
          <a:p>
            <a:endParaRPr lang="en-US" sz="28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Interpreting Regression Coefficients</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2)</a:t>
            </a:r>
            <a:endParaRPr sz="2400" i="1" dirty="0"/>
          </a:p>
        </p:txBody>
      </p:sp>
    </p:spTree>
    <p:extLst>
      <p:ext uri="{BB962C8B-B14F-4D97-AF65-F5344CB8AC3E}">
        <p14:creationId xmlns:p14="http://schemas.microsoft.com/office/powerpoint/2010/main" val="151483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86</a:t>
            </a:fld>
            <a:endParaRPr dirty="0"/>
          </a:p>
        </p:txBody>
      </p:sp>
      <p:sp>
        <p:nvSpPr>
          <p:cNvPr id="315" name="Google Shape;315;p49"/>
          <p:cNvSpPr txBox="1"/>
          <p:nvPr/>
        </p:nvSpPr>
        <p:spPr>
          <a:xfrm>
            <a:off x="381000" y="1187777"/>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least-squares regression equation found in the previous example was                                                where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represents the patient’s age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represents the patient’s average daily consumption of saturated fat (in grams).</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regression coefficient, </a:t>
            </a:r>
            <a:r>
              <a:rPr lang="en-US" sz="2600" i="1" dirty="0">
                <a:latin typeface="Times New Roman" panose="02020603050405020304" pitchFamily="18" charset="0"/>
                <a:cs typeface="Times New Roman" panose="02020603050405020304" pitchFamily="18" charset="0"/>
              </a:rPr>
              <a:t>b</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1.014, means that, if the patient’s age increases by one year then total cholesterol increases by 1.014 mg/dL, on average, assuming that the average daily consumption of saturated fat remains unchanged.</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regression coefficient, </a:t>
            </a:r>
            <a:r>
              <a:rPr lang="en-US" sz="2600" i="1" dirty="0">
                <a:latin typeface="Times New Roman" panose="02020603050405020304" pitchFamily="18" charset="0"/>
                <a:cs typeface="Times New Roman" panose="02020603050405020304" pitchFamily="18" charset="0"/>
              </a:rPr>
              <a:t>b</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3.244, means that, if the patient’s average daily consumption of saturated fat increases by 1 gram, total cholesterol increases by 3.244 mg/dL, on average, assuming that age remains unchanged.</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Interpreting Regression Coefficients</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2)</a:t>
            </a:r>
            <a:endParaRPr sz="2400" i="1" dirty="0"/>
          </a:p>
        </p:txBody>
      </p:sp>
      <p:graphicFrame>
        <p:nvGraphicFramePr>
          <p:cNvPr id="5" name="Object 4">
            <a:extLst>
              <a:ext uri="{FF2B5EF4-FFF2-40B4-BE49-F238E27FC236}">
                <a16:creationId xmlns:a16="http://schemas.microsoft.com/office/drawing/2014/main" id="{5DD2CDC6-99FD-4CE0-A319-F0E2C0FBD34A}"/>
              </a:ext>
            </a:extLst>
          </p:cNvPr>
          <p:cNvGraphicFramePr>
            <a:graphicFrameLocks noChangeAspect="1"/>
          </p:cNvGraphicFramePr>
          <p:nvPr>
            <p:extLst>
              <p:ext uri="{D42A27DB-BD31-4B8C-83A1-F6EECF244321}">
                <p14:modId xmlns:p14="http://schemas.microsoft.com/office/powerpoint/2010/main" val="10747046"/>
              </p:ext>
            </p:extLst>
          </p:nvPr>
        </p:nvGraphicFramePr>
        <p:xfrm>
          <a:off x="2263873" y="1659004"/>
          <a:ext cx="3784600" cy="393700"/>
        </p:xfrm>
        <a:graphic>
          <a:graphicData uri="http://schemas.openxmlformats.org/presentationml/2006/ole">
            <mc:AlternateContent xmlns:mc="http://schemas.openxmlformats.org/markup-compatibility/2006">
              <mc:Choice xmlns:v="urn:schemas-microsoft-com:vml" Requires="v">
                <p:oleObj spid="_x0000_s109688" name="Equation" r:id="rId4" imgW="3784320" imgH="393480" progId="Equation.DSMT4">
                  <p:embed/>
                </p:oleObj>
              </mc:Choice>
              <mc:Fallback>
                <p:oleObj name="Equation" r:id="rId4" imgW="3784320" imgH="393480" progId="Equation.DSMT4">
                  <p:embed/>
                  <p:pic>
                    <p:nvPicPr>
                      <p:cNvPr id="5" name="Object 4">
                        <a:extLst>
                          <a:ext uri="{FF2B5EF4-FFF2-40B4-BE49-F238E27FC236}">
                            <a16:creationId xmlns:a16="http://schemas.microsoft.com/office/drawing/2014/main" id="{5DD2CDC6-99FD-4CE0-A319-F0E2C0FBD34A}"/>
                          </a:ext>
                        </a:extLst>
                      </p:cNvPr>
                      <p:cNvPicPr/>
                      <p:nvPr/>
                    </p:nvPicPr>
                    <p:blipFill>
                      <a:blip r:embed="rId5"/>
                      <a:stretch>
                        <a:fillRect/>
                      </a:stretch>
                    </p:blipFill>
                    <p:spPr>
                      <a:xfrm>
                        <a:off x="2263873" y="1659004"/>
                        <a:ext cx="3784600" cy="393700"/>
                      </a:xfrm>
                      <a:prstGeom prst="rect">
                        <a:avLst/>
                      </a:prstGeom>
                    </p:spPr>
                  </p:pic>
                </p:oleObj>
              </mc:Fallback>
            </mc:AlternateContent>
          </a:graphicData>
        </a:graphic>
      </p:graphicFrame>
    </p:spTree>
    <p:extLst>
      <p:ext uri="{BB962C8B-B14F-4D97-AF65-F5344CB8AC3E}">
        <p14:creationId xmlns:p14="http://schemas.microsoft.com/office/powerpoint/2010/main" val="220825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2" end="2"/>
                                            </p:txEl>
                                          </p:spTgt>
                                        </p:tgtEl>
                                        <p:attrNameLst>
                                          <p:attrName>style.visibility</p:attrName>
                                        </p:attrNameLst>
                                      </p:cBhvr>
                                      <p:to>
                                        <p:strVal val="visible"/>
                                      </p:to>
                                    </p:set>
                                    <p:animEffect transition="in" filter="fade">
                                      <p:cBhvr>
                                        <p:cTn id="12"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10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4</a:t>
            </a:r>
            <a:endParaRPr/>
          </a:p>
        </p:txBody>
      </p:sp>
      <p:sp>
        <p:nvSpPr>
          <p:cNvPr id="761" name="Google Shape;761;p10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Determine </a:t>
            </a:r>
            <a:r>
              <a:rPr lang="en-US" sz="3200" i="1" u="none" dirty="0">
                <a:solidFill>
                  <a:schemeClr val="dk1"/>
                </a:solidFill>
                <a:latin typeface="Times New Roman"/>
                <a:ea typeface="Times New Roman"/>
                <a:cs typeface="Times New Roman"/>
                <a:sym typeface="Times New Roman"/>
              </a:rPr>
              <a:t>R</a:t>
            </a:r>
            <a:r>
              <a:rPr lang="en-US" sz="3200" i="0" u="none" baseline="30000" dirty="0">
                <a:solidFill>
                  <a:schemeClr val="dk1"/>
                </a:solidFill>
                <a:latin typeface="Times New Roman"/>
                <a:ea typeface="Times New Roman"/>
                <a:cs typeface="Times New Roman"/>
                <a:sym typeface="Times New Roman"/>
              </a:rPr>
              <a:t>2</a:t>
            </a:r>
            <a:r>
              <a:rPr lang="en-US" sz="3200" b="0" i="0" u="none" dirty="0">
                <a:solidFill>
                  <a:schemeClr val="dk1"/>
                </a:solidFill>
                <a:latin typeface="Times New Roman"/>
                <a:ea typeface="Times New Roman"/>
                <a:cs typeface="Times New Roman"/>
                <a:sym typeface="Times New Roman"/>
              </a:rPr>
              <a:t> and Adjusted </a:t>
            </a:r>
            <a:r>
              <a:rPr lang="en-US" sz="3200" b="0" i="1" u="none" dirty="0">
                <a:solidFill>
                  <a:schemeClr val="dk1"/>
                </a:solidFill>
                <a:latin typeface="Times New Roman"/>
                <a:ea typeface="Times New Roman"/>
                <a:cs typeface="Times New Roman"/>
                <a:sym typeface="Times New Roman"/>
              </a:rPr>
              <a:t>R</a:t>
            </a:r>
            <a:r>
              <a:rPr lang="en-US" sz="3200" b="0" i="0" u="none" baseline="30000" dirty="0">
                <a:solidFill>
                  <a:schemeClr val="dk1"/>
                </a:solidFill>
                <a:latin typeface="Times New Roman"/>
                <a:ea typeface="Times New Roman"/>
                <a:cs typeface="Times New Roman"/>
                <a:sym typeface="Times New Roman"/>
              </a:rPr>
              <a:t>2</a:t>
            </a:r>
            <a:endParaRPr dirty="0"/>
          </a:p>
        </p:txBody>
      </p:sp>
      <p:sp>
        <p:nvSpPr>
          <p:cNvPr id="762" name="Google Shape;762;p10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87</a:t>
            </a:fld>
            <a:endParaRPr/>
          </a:p>
        </p:txBody>
      </p:sp>
    </p:spTree>
    <p:extLst>
      <p:ext uri="{BB962C8B-B14F-4D97-AF65-F5344CB8AC3E}">
        <p14:creationId xmlns:p14="http://schemas.microsoft.com/office/powerpoint/2010/main" val="3154921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106"/>
          <p:cNvSpPr txBox="1"/>
          <p:nvPr/>
        </p:nvSpPr>
        <p:spPr>
          <a:xfrm>
            <a:off x="756894" y="1730604"/>
            <a:ext cx="7630212" cy="20778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r>
              <a:rPr lang="en-US" sz="3200" dirty="0">
                <a:latin typeface="Times New Roman" panose="02020603050405020304" pitchFamily="18" charset="0"/>
                <a:cs typeface="Times New Roman" panose="02020603050405020304" pitchFamily="18" charset="0"/>
              </a:rPr>
              <a:t>The value of </a:t>
            </a:r>
            <a:r>
              <a:rPr lang="en-US" sz="3200" i="1" dirty="0">
                <a:latin typeface="Times New Roman" panose="02020603050405020304" pitchFamily="18" charset="0"/>
                <a:cs typeface="Times New Roman" panose="02020603050405020304" pitchFamily="18" charset="0"/>
              </a:rPr>
              <a:t>R</a:t>
            </a:r>
            <a:r>
              <a:rPr lang="en-US" sz="3200" baseline="30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always increases by adding one more explanatory variable.</a:t>
            </a:r>
            <a:endParaRPr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777" name="Google Shape;777;p10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88</a:t>
            </a:fld>
            <a:endParaRPr/>
          </a:p>
        </p:txBody>
      </p:sp>
    </p:spTree>
    <p:extLst>
      <p:ext uri="{BB962C8B-B14F-4D97-AF65-F5344CB8AC3E}">
        <p14:creationId xmlns:p14="http://schemas.microsoft.com/office/powerpoint/2010/main" val="148416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10" name="Rectangle 9">
            <a:extLst>
              <a:ext uri="{FF2B5EF4-FFF2-40B4-BE49-F238E27FC236}">
                <a16:creationId xmlns:a16="http://schemas.microsoft.com/office/drawing/2014/main" id="{AAB0C706-E012-4F3E-A3D9-BD35FEA5E03F}"/>
              </a:ext>
            </a:extLst>
          </p:cNvPr>
          <p:cNvSpPr/>
          <p:nvPr/>
        </p:nvSpPr>
        <p:spPr>
          <a:xfrm>
            <a:off x="293051" y="838986"/>
            <a:ext cx="8557897" cy="3864989"/>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Google Shape;767;p105"/>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768" name="Google Shape;768;p105"/>
          <p:cNvSpPr txBox="1"/>
          <p:nvPr/>
        </p:nvSpPr>
        <p:spPr>
          <a:xfrm>
            <a:off x="457200" y="1143000"/>
            <a:ext cx="8153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The </a:t>
            </a:r>
            <a:r>
              <a:rPr lang="en-US" sz="2800" b="1"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adjusted </a:t>
            </a:r>
            <a:r>
              <a:rPr lang="en-US" sz="28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2800" b="1" i="0" u="none"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denoted                 , is the adjusted coefficient of determination.  It modifies the value of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2800" b="0" i="0" u="none"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based on the sample size,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n</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and the number of explanatory variables,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k</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formula for the adjusted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2800" b="0" i="0" u="none"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a:t>
            </a:r>
            <a:endParaRPr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2800"/>
              <a:buFont typeface="Arial"/>
              <a:buNone/>
            </a:pPr>
            <a:endParaRPr sz="2800" b="1"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accent2"/>
              </a:buClr>
              <a:buSzPts val="2800"/>
              <a:buFont typeface="Times New Roman"/>
              <a:buNone/>
            </a:pPr>
            <a:r>
              <a:rPr lang="en-US" sz="2800" b="1"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endParaRPr dirty="0">
              <a:solidFill>
                <a:schemeClr val="tx1"/>
              </a:solidFill>
              <a:latin typeface="Times New Roman" panose="02020603050405020304" pitchFamily="18" charset="0"/>
              <a:cs typeface="Times New Roman" panose="02020603050405020304" pitchFamily="18" charset="0"/>
            </a:endParaRPr>
          </a:p>
        </p:txBody>
      </p:sp>
      <p:sp>
        <p:nvSpPr>
          <p:cNvPr id="770" name="Google Shape;770;p10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89</a:t>
            </a:fld>
            <a:endParaRPr/>
          </a:p>
        </p:txBody>
      </p:sp>
      <p:graphicFrame>
        <p:nvGraphicFramePr>
          <p:cNvPr id="3" name="Object 2">
            <a:extLst>
              <a:ext uri="{FF2B5EF4-FFF2-40B4-BE49-F238E27FC236}">
                <a16:creationId xmlns:a16="http://schemas.microsoft.com/office/drawing/2014/main" id="{3763716A-4CC1-4FD9-9A30-346FF5DB5A5A}"/>
              </a:ext>
            </a:extLst>
          </p:cNvPr>
          <p:cNvGraphicFramePr>
            <a:graphicFrameLocks noChangeAspect="1"/>
          </p:cNvGraphicFramePr>
          <p:nvPr>
            <p:extLst>
              <p:ext uri="{D42A27DB-BD31-4B8C-83A1-F6EECF244321}">
                <p14:modId xmlns:p14="http://schemas.microsoft.com/office/powerpoint/2010/main" val="787943308"/>
              </p:ext>
            </p:extLst>
          </p:nvPr>
        </p:nvGraphicFramePr>
        <p:xfrm>
          <a:off x="4382547" y="1218416"/>
          <a:ext cx="1371600" cy="508000"/>
        </p:xfrm>
        <a:graphic>
          <a:graphicData uri="http://schemas.openxmlformats.org/presentationml/2006/ole">
            <mc:AlternateContent xmlns:mc="http://schemas.openxmlformats.org/markup-compatibility/2006">
              <mc:Choice xmlns:v="urn:schemas-microsoft-com:vml" Requires="v">
                <p:oleObj spid="_x0000_s110826" name="Equation" r:id="rId4" imgW="1371600" imgH="507960" progId="Equation.DSMT4">
                  <p:embed/>
                </p:oleObj>
              </mc:Choice>
              <mc:Fallback>
                <p:oleObj name="Equation" r:id="rId4" imgW="1371600" imgH="507960" progId="Equation.DSMT4">
                  <p:embed/>
                  <p:pic>
                    <p:nvPicPr>
                      <p:cNvPr id="0" name=""/>
                      <p:cNvPicPr/>
                      <p:nvPr/>
                    </p:nvPicPr>
                    <p:blipFill>
                      <a:blip r:embed="rId5"/>
                      <a:stretch>
                        <a:fillRect/>
                      </a:stretch>
                    </p:blipFill>
                    <p:spPr>
                      <a:xfrm>
                        <a:off x="4382547" y="1218416"/>
                        <a:ext cx="1371600" cy="5080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D280E8F3-FB72-42C3-B7D2-4752C793D03B}"/>
              </a:ext>
            </a:extLst>
          </p:cNvPr>
          <p:cNvGraphicFramePr>
            <a:graphicFrameLocks noChangeAspect="1"/>
          </p:cNvGraphicFramePr>
          <p:nvPr>
            <p:extLst>
              <p:ext uri="{D42A27DB-BD31-4B8C-83A1-F6EECF244321}">
                <p14:modId xmlns:p14="http://schemas.microsoft.com/office/powerpoint/2010/main" val="164448918"/>
              </p:ext>
            </p:extLst>
          </p:nvPr>
        </p:nvGraphicFramePr>
        <p:xfrm>
          <a:off x="2024799" y="3429000"/>
          <a:ext cx="4013200" cy="939800"/>
        </p:xfrm>
        <a:graphic>
          <a:graphicData uri="http://schemas.openxmlformats.org/presentationml/2006/ole">
            <mc:AlternateContent xmlns:mc="http://schemas.openxmlformats.org/markup-compatibility/2006">
              <mc:Choice xmlns:v="urn:schemas-microsoft-com:vml" Requires="v">
                <p:oleObj spid="_x0000_s110827" name="Equation" r:id="rId6" imgW="4012920" imgH="939600" progId="Equation.DSMT4">
                  <p:embed/>
                </p:oleObj>
              </mc:Choice>
              <mc:Fallback>
                <p:oleObj name="Equation" r:id="rId6" imgW="4012920" imgH="939600" progId="Equation.DSMT4">
                  <p:embed/>
                  <p:pic>
                    <p:nvPicPr>
                      <p:cNvPr id="0" name=""/>
                      <p:cNvPicPr/>
                      <p:nvPr/>
                    </p:nvPicPr>
                    <p:blipFill>
                      <a:blip r:embed="rId7"/>
                      <a:stretch>
                        <a:fillRect/>
                      </a:stretch>
                    </p:blipFill>
                    <p:spPr>
                      <a:xfrm>
                        <a:off x="2024799" y="3429000"/>
                        <a:ext cx="4013200" cy="939800"/>
                      </a:xfrm>
                      <a:prstGeom prst="rect">
                        <a:avLst/>
                      </a:prstGeom>
                    </p:spPr>
                  </p:pic>
                </p:oleObj>
              </mc:Fallback>
            </mc:AlternateContent>
          </a:graphicData>
        </a:graphic>
      </p:graphicFrame>
    </p:spTree>
    <p:extLst>
      <p:ext uri="{BB962C8B-B14F-4D97-AF65-F5344CB8AC3E}">
        <p14:creationId xmlns:p14="http://schemas.microsoft.com/office/powerpoint/2010/main" val="136333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106"/>
          <p:cNvSpPr txBox="1"/>
          <p:nvPr/>
        </p:nvSpPr>
        <p:spPr>
          <a:xfrm>
            <a:off x="709760" y="1410092"/>
            <a:ext cx="7724480" cy="3016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r>
              <a:rPr lang="en-US" sz="3200" dirty="0">
                <a:latin typeface="Times New Roman" panose="02020603050405020304" pitchFamily="18" charset="0"/>
                <a:cs typeface="Times New Roman" panose="02020603050405020304" pitchFamily="18" charset="0"/>
              </a:rPr>
              <a:t>The adjusted </a:t>
            </a:r>
            <a:r>
              <a:rPr lang="en-US" sz="3200" i="1" dirty="0">
                <a:latin typeface="Times New Roman" panose="02020603050405020304" pitchFamily="18" charset="0"/>
                <a:cs typeface="Times New Roman" panose="02020603050405020304" pitchFamily="18" charset="0"/>
              </a:rPr>
              <a:t>R</a:t>
            </a:r>
            <a:r>
              <a:rPr lang="en-US" sz="3200" baseline="30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“punishes” the model for adding an explanatory variable that does little to explain variation in the response variable.</a:t>
            </a:r>
            <a:endParaRPr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777" name="Google Shape;777;p10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90</a:t>
            </a:fld>
            <a:endParaRPr/>
          </a:p>
        </p:txBody>
      </p:sp>
    </p:spTree>
    <p:extLst>
      <p:ext uri="{BB962C8B-B14F-4D97-AF65-F5344CB8AC3E}">
        <p14:creationId xmlns:p14="http://schemas.microsoft.com/office/powerpoint/2010/main" val="341635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107"/>
          <p:cNvSpPr txBox="1"/>
          <p:nvPr/>
        </p:nvSpPr>
        <p:spPr>
          <a:xfrm>
            <a:off x="533400" y="533400"/>
            <a:ext cx="8077200" cy="356552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accent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Never use </a:t>
            </a:r>
            <a:r>
              <a:rPr lang="en-US" sz="3200" b="0" i="1" u="none" dirty="0">
                <a:solidFill>
                  <a:schemeClr val="dk1"/>
                </a:solidFill>
                <a:latin typeface="Times New Roman"/>
                <a:ea typeface="Times New Roman"/>
                <a:cs typeface="Times New Roman"/>
                <a:sym typeface="Times New Roman"/>
              </a:rPr>
              <a:t>R</a:t>
            </a:r>
            <a:r>
              <a:rPr lang="en-US" sz="3200" b="0" i="0" u="none" baseline="30000" dirty="0">
                <a:solidFill>
                  <a:schemeClr val="dk1"/>
                </a:solidFill>
                <a:latin typeface="Times New Roman"/>
                <a:ea typeface="Times New Roman"/>
                <a:cs typeface="Times New Roman"/>
                <a:sym typeface="Times New Roman"/>
              </a:rPr>
              <a:t>2</a:t>
            </a:r>
            <a:r>
              <a:rPr lang="en-US" sz="3200" b="0" i="0" u="none" dirty="0">
                <a:solidFill>
                  <a:schemeClr val="dk1"/>
                </a:solidFill>
                <a:latin typeface="Times New Roman"/>
                <a:ea typeface="Times New Roman"/>
                <a:cs typeface="Times New Roman"/>
                <a:sym typeface="Times New Roman"/>
              </a:rPr>
              <a:t> to compare regression models with a different number of explanatory variables.  Rather, use the adjusted </a:t>
            </a:r>
            <a:r>
              <a:rPr lang="en-US" sz="3200" b="0" i="1" u="none" dirty="0">
                <a:solidFill>
                  <a:schemeClr val="dk1"/>
                </a:solidFill>
                <a:latin typeface="Times New Roman"/>
                <a:ea typeface="Times New Roman"/>
                <a:cs typeface="Times New Roman"/>
                <a:sym typeface="Times New Roman"/>
              </a:rPr>
              <a:t>R</a:t>
            </a:r>
            <a:r>
              <a:rPr lang="en-US" sz="3200" b="0" i="0" u="none" baseline="30000" dirty="0">
                <a:solidFill>
                  <a:schemeClr val="dk1"/>
                </a:solidFill>
                <a:latin typeface="Times New Roman"/>
                <a:ea typeface="Times New Roman"/>
                <a:cs typeface="Times New Roman"/>
                <a:sym typeface="Times New Roman"/>
              </a:rPr>
              <a:t>2</a:t>
            </a:r>
            <a:r>
              <a:rPr lang="en-US" sz="3200" b="0" i="0" u="none" dirty="0">
                <a:solidFill>
                  <a:schemeClr val="dk1"/>
                </a:solidFill>
                <a:latin typeface="Times New Roman"/>
                <a:ea typeface="Times New Roman"/>
                <a:cs typeface="Times New Roman"/>
                <a:sym typeface="Times New Roman"/>
              </a:rPr>
              <a:t>.</a:t>
            </a:r>
            <a:endParaRPr sz="32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800" b="0" i="0" u="none" dirty="0">
              <a:solidFill>
                <a:schemeClr val="dk1"/>
              </a:solidFill>
              <a:latin typeface="Times New Roman"/>
              <a:ea typeface="Times New Roman"/>
              <a:cs typeface="Times New Roman"/>
              <a:sym typeface="Times New Roman"/>
            </a:endParaRPr>
          </a:p>
        </p:txBody>
      </p:sp>
      <p:sp>
        <p:nvSpPr>
          <p:cNvPr id="783" name="Google Shape;783;p10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91</a:t>
            </a:fld>
            <a:endParaRPr/>
          </a:p>
        </p:txBody>
      </p:sp>
    </p:spTree>
    <p:extLst>
      <p:ext uri="{BB962C8B-B14F-4D97-AF65-F5344CB8AC3E}">
        <p14:creationId xmlns:p14="http://schemas.microsoft.com/office/powerpoint/2010/main" val="412172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92</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For the model obtained in a previous example,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determine the coefficient of determination </a:t>
            </a:r>
            <a:r>
              <a:rPr lang="en-US" sz="2800" i="1" dirty="0">
                <a:latin typeface="Times New Roman" panose="02020603050405020304" pitchFamily="18" charset="0"/>
                <a:cs typeface="Times New Roman" panose="02020603050405020304" pitchFamily="18" charset="0"/>
              </a:rPr>
              <a:t>R</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and the adjusted </a:t>
            </a:r>
            <a:r>
              <a:rPr lang="en-US" sz="2800" i="1" dirty="0">
                <a:latin typeface="Times New Roman" panose="02020603050405020304" pitchFamily="18" charset="0"/>
                <a:cs typeface="Times New Roman" panose="02020603050405020304" pitchFamily="18" charset="0"/>
              </a:rPr>
              <a:t>R</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Compare the </a:t>
            </a:r>
            <a:r>
              <a:rPr lang="en-US" sz="2800" i="1" dirty="0">
                <a:latin typeface="Times New Roman" panose="02020603050405020304" pitchFamily="18" charset="0"/>
                <a:cs typeface="Times New Roman" panose="02020603050405020304" pitchFamily="18" charset="0"/>
              </a:rPr>
              <a:t>R</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with the two explanatory variables age and daily saturated fat to the </a:t>
            </a:r>
            <a:r>
              <a:rPr lang="en-US" sz="2800" i="1" dirty="0">
                <a:latin typeface="Times New Roman" panose="02020603050405020304" pitchFamily="18" charset="0"/>
                <a:cs typeface="Times New Roman" panose="02020603050405020304" pitchFamily="18" charset="0"/>
              </a:rPr>
              <a:t>R</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with the single explanatory variable age. Comment</a:t>
            </a:r>
          </a:p>
          <a:p>
            <a:r>
              <a:rPr lang="en-US" sz="2800" dirty="0">
                <a:latin typeface="Times New Roman" panose="02020603050405020304" pitchFamily="18" charset="0"/>
                <a:cs typeface="Times New Roman" panose="02020603050405020304" pitchFamily="18" charset="0"/>
              </a:rPr>
              <a:t>on the effect the additional explanatory variable has on the value of 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Coefficient of Determination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graphicFrame>
        <p:nvGraphicFramePr>
          <p:cNvPr id="2" name="Object 1">
            <a:extLst>
              <a:ext uri="{FF2B5EF4-FFF2-40B4-BE49-F238E27FC236}">
                <a16:creationId xmlns:a16="http://schemas.microsoft.com/office/drawing/2014/main" id="{41C9DCAA-6758-4C07-9365-05B27375F9EC}"/>
              </a:ext>
            </a:extLst>
          </p:cNvPr>
          <p:cNvGraphicFramePr>
            <a:graphicFrameLocks noChangeAspect="1"/>
          </p:cNvGraphicFramePr>
          <p:nvPr>
            <p:extLst>
              <p:ext uri="{D42A27DB-BD31-4B8C-83A1-F6EECF244321}">
                <p14:modId xmlns:p14="http://schemas.microsoft.com/office/powerpoint/2010/main" val="3487844009"/>
              </p:ext>
            </p:extLst>
          </p:nvPr>
        </p:nvGraphicFramePr>
        <p:xfrm>
          <a:off x="429311" y="1731669"/>
          <a:ext cx="4076700" cy="431800"/>
        </p:xfrm>
        <a:graphic>
          <a:graphicData uri="http://schemas.openxmlformats.org/presentationml/2006/ole">
            <mc:AlternateContent xmlns:mc="http://schemas.openxmlformats.org/markup-compatibility/2006">
              <mc:Choice xmlns:v="urn:schemas-microsoft-com:vml" Requires="v">
                <p:oleObj spid="_x0000_s111732" name="Equation" r:id="rId4" imgW="4076640" imgH="431640" progId="Equation.DSMT4">
                  <p:embed/>
                </p:oleObj>
              </mc:Choice>
              <mc:Fallback>
                <p:oleObj name="Equation" r:id="rId4" imgW="4076640" imgH="431640" progId="Equation.DSMT4">
                  <p:embed/>
                  <p:pic>
                    <p:nvPicPr>
                      <p:cNvPr id="0" name=""/>
                      <p:cNvPicPr/>
                      <p:nvPr/>
                    </p:nvPicPr>
                    <p:blipFill>
                      <a:blip r:embed="rId5"/>
                      <a:stretch>
                        <a:fillRect/>
                      </a:stretch>
                    </p:blipFill>
                    <p:spPr>
                      <a:xfrm>
                        <a:off x="429311" y="1731669"/>
                        <a:ext cx="4076700" cy="431800"/>
                      </a:xfrm>
                      <a:prstGeom prst="rect">
                        <a:avLst/>
                      </a:prstGeom>
                    </p:spPr>
                  </p:pic>
                </p:oleObj>
              </mc:Fallback>
            </mc:AlternateContent>
          </a:graphicData>
        </a:graphic>
      </p:graphicFrame>
    </p:spTree>
    <p:extLst>
      <p:ext uri="{BB962C8B-B14F-4D97-AF65-F5344CB8AC3E}">
        <p14:creationId xmlns:p14="http://schemas.microsoft.com/office/powerpoint/2010/main" val="3483911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93</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Looking back to</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output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 previous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example, we see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that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0.847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84.7%.</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Coefficient of Determination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pic>
        <p:nvPicPr>
          <p:cNvPr id="4" name="Picture 3" descr="A close up of text on a white background&#10;&#10;Description automatically generated">
            <a:extLst>
              <a:ext uri="{FF2B5EF4-FFF2-40B4-BE49-F238E27FC236}">
                <a16:creationId xmlns:a16="http://schemas.microsoft.com/office/drawing/2014/main" id="{E45EB4A7-01CA-4EF8-BEAE-8EBE75412F92}"/>
              </a:ext>
            </a:extLst>
          </p:cNvPr>
          <p:cNvPicPr>
            <a:picLocks noChangeAspect="1"/>
          </p:cNvPicPr>
          <p:nvPr/>
        </p:nvPicPr>
        <p:blipFill>
          <a:blip r:embed="rId3"/>
          <a:stretch>
            <a:fillRect/>
          </a:stretch>
        </p:blipFill>
        <p:spPr>
          <a:xfrm>
            <a:off x="2722405" y="1225485"/>
            <a:ext cx="6277756" cy="5142322"/>
          </a:xfrm>
          <a:prstGeom prst="rect">
            <a:avLst/>
          </a:prstGeom>
        </p:spPr>
      </p:pic>
    </p:spTree>
    <p:extLst>
      <p:ext uri="{BB962C8B-B14F-4D97-AF65-F5344CB8AC3E}">
        <p14:creationId xmlns:p14="http://schemas.microsoft.com/office/powerpoint/2010/main" val="133708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94</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This means that 84.7% of the variation in the response variable is explained by the least-squares regression model. In addition, we find that </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If we look back to another previous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figure, we see that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51.5% with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age as the only explanatory variable.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Based on the adjusted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with the two explanatory variables age and daily saturated fat consumption, we conclude that the additional variable increases the proportion of explained variation.</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Coefficient of Determination</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graphicFrame>
        <p:nvGraphicFramePr>
          <p:cNvPr id="2" name="Object 1">
            <a:extLst>
              <a:ext uri="{FF2B5EF4-FFF2-40B4-BE49-F238E27FC236}">
                <a16:creationId xmlns:a16="http://schemas.microsoft.com/office/drawing/2014/main" id="{032FF242-F1CB-41AD-8454-97F4D201D404}"/>
              </a:ext>
            </a:extLst>
          </p:cNvPr>
          <p:cNvGraphicFramePr>
            <a:graphicFrameLocks noChangeAspect="1"/>
          </p:cNvGraphicFramePr>
          <p:nvPr>
            <p:extLst>
              <p:ext uri="{D42A27DB-BD31-4B8C-83A1-F6EECF244321}">
                <p14:modId xmlns:p14="http://schemas.microsoft.com/office/powerpoint/2010/main" val="1846122767"/>
              </p:ext>
            </p:extLst>
          </p:nvPr>
        </p:nvGraphicFramePr>
        <p:xfrm>
          <a:off x="2108135" y="2071558"/>
          <a:ext cx="2781300" cy="495300"/>
        </p:xfrm>
        <a:graphic>
          <a:graphicData uri="http://schemas.openxmlformats.org/presentationml/2006/ole">
            <mc:AlternateContent xmlns:mc="http://schemas.openxmlformats.org/markup-compatibility/2006">
              <mc:Choice xmlns:v="urn:schemas-microsoft-com:vml" Requires="v">
                <p:oleObj spid="_x0000_s112754" name="Equation" r:id="rId4" imgW="2781000" imgH="495000" progId="Equation.DSMT4">
                  <p:embed/>
                </p:oleObj>
              </mc:Choice>
              <mc:Fallback>
                <p:oleObj name="Equation" r:id="rId4" imgW="2781000" imgH="495000" progId="Equation.DSMT4">
                  <p:embed/>
                  <p:pic>
                    <p:nvPicPr>
                      <p:cNvPr id="0" name=""/>
                      <p:cNvPicPr/>
                      <p:nvPr/>
                    </p:nvPicPr>
                    <p:blipFill>
                      <a:blip r:embed="rId5"/>
                      <a:stretch>
                        <a:fillRect/>
                      </a:stretch>
                    </p:blipFill>
                    <p:spPr>
                      <a:xfrm>
                        <a:off x="2108135" y="2071558"/>
                        <a:ext cx="2781300" cy="495300"/>
                      </a:xfrm>
                      <a:prstGeom prst="rect">
                        <a:avLst/>
                      </a:prstGeom>
                    </p:spPr>
                  </p:pic>
                </p:oleObj>
              </mc:Fallback>
            </mc:AlternateContent>
          </a:graphicData>
        </a:graphic>
      </p:graphicFrame>
      <p:pic>
        <p:nvPicPr>
          <p:cNvPr id="5" name="Picture 4" descr="A screenshot of a cell phone&#10;&#10;Description automatically generated">
            <a:extLst>
              <a:ext uri="{FF2B5EF4-FFF2-40B4-BE49-F238E27FC236}">
                <a16:creationId xmlns:a16="http://schemas.microsoft.com/office/drawing/2014/main" id="{29C8F473-8891-44F2-90A5-F5BED68A80B1}"/>
              </a:ext>
            </a:extLst>
          </p:cNvPr>
          <p:cNvPicPr>
            <a:picLocks noChangeAspect="1"/>
          </p:cNvPicPr>
          <p:nvPr/>
        </p:nvPicPr>
        <p:blipFill>
          <a:blip r:embed="rId6"/>
          <a:stretch>
            <a:fillRect/>
          </a:stretch>
        </p:blipFill>
        <p:spPr>
          <a:xfrm>
            <a:off x="5544825" y="2078628"/>
            <a:ext cx="2944374" cy="2185420"/>
          </a:xfrm>
          <a:prstGeom prst="rect">
            <a:avLst/>
          </a:prstGeom>
        </p:spPr>
      </p:pic>
    </p:spTree>
    <p:extLst>
      <p:ext uri="{BB962C8B-B14F-4D97-AF65-F5344CB8AC3E}">
        <p14:creationId xmlns:p14="http://schemas.microsoft.com/office/powerpoint/2010/main" val="105378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3" end="3"/>
                                            </p:txEl>
                                          </p:spTgt>
                                        </p:tgtEl>
                                        <p:attrNameLst>
                                          <p:attrName>style.visibility</p:attrName>
                                        </p:attrNameLst>
                                      </p:cBhvr>
                                      <p:to>
                                        <p:strVal val="visible"/>
                                      </p:to>
                                    </p:set>
                                    <p:animEffect transition="in" filter="fade">
                                      <p:cBhvr>
                                        <p:cTn id="15"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1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5</a:t>
            </a:r>
            <a:endParaRPr/>
          </a:p>
        </p:txBody>
      </p:sp>
      <p:sp>
        <p:nvSpPr>
          <p:cNvPr id="811" name="Google Shape;811;p111"/>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an </a:t>
            </a:r>
            <a:r>
              <a:rPr lang="en-US" sz="3200" b="0" i="1" u="none" dirty="0">
                <a:solidFill>
                  <a:schemeClr val="dk1"/>
                </a:solidFill>
                <a:latin typeface="Times New Roman"/>
                <a:ea typeface="Times New Roman"/>
                <a:cs typeface="Times New Roman"/>
                <a:sym typeface="Times New Roman"/>
              </a:rPr>
              <a:t>F</a:t>
            </a:r>
            <a:r>
              <a:rPr lang="en-US" sz="3200" b="0" i="0" u="none" dirty="0">
                <a:solidFill>
                  <a:schemeClr val="dk1"/>
                </a:solidFill>
                <a:latin typeface="Times New Roman"/>
                <a:ea typeface="Times New Roman"/>
                <a:cs typeface="Times New Roman"/>
                <a:sym typeface="Times New Roman"/>
              </a:rPr>
              <a:t>-Test for Lack of Fit</a:t>
            </a:r>
            <a:endParaRPr dirty="0"/>
          </a:p>
        </p:txBody>
      </p:sp>
      <p:sp>
        <p:nvSpPr>
          <p:cNvPr id="812" name="Google Shape;812;p11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95</a:t>
            </a:fld>
            <a:endParaRPr/>
          </a:p>
        </p:txBody>
      </p:sp>
    </p:spTree>
    <p:extLst>
      <p:ext uri="{BB962C8B-B14F-4D97-AF65-F5344CB8AC3E}">
        <p14:creationId xmlns:p14="http://schemas.microsoft.com/office/powerpoint/2010/main" val="710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15"/>
          <p:cNvSpPr txBox="1"/>
          <p:nvPr/>
        </p:nvSpPr>
        <p:spPr>
          <a:xfrm>
            <a:off x="847152" y="1892431"/>
            <a:ext cx="7894637" cy="254759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The null hypothesis states that there is no linear relation between the explanatory variables and the response variable.  The alternative hypothesis states that there is a linear relation between at least one explanatory variable and the response variable.</a:t>
            </a:r>
            <a:endParaRPr dirty="0"/>
          </a:p>
        </p:txBody>
      </p:sp>
      <p:sp>
        <p:nvSpPr>
          <p:cNvPr id="841" name="Google Shape;841;p11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96</a:t>
            </a:fld>
            <a:endParaRPr/>
          </a:p>
        </p:txBody>
      </p:sp>
    </p:spTree>
    <p:extLst>
      <p:ext uri="{BB962C8B-B14F-4D97-AF65-F5344CB8AC3E}">
        <p14:creationId xmlns:p14="http://schemas.microsoft.com/office/powerpoint/2010/main" val="344159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7" name="Rectangle 6">
            <a:extLst>
              <a:ext uri="{FF2B5EF4-FFF2-40B4-BE49-F238E27FC236}">
                <a16:creationId xmlns:a16="http://schemas.microsoft.com/office/drawing/2014/main" id="{0FCE520A-F9AF-4D3C-9918-B4C2DC7918D6}"/>
              </a:ext>
            </a:extLst>
          </p:cNvPr>
          <p:cNvSpPr/>
          <p:nvPr/>
        </p:nvSpPr>
        <p:spPr>
          <a:xfrm>
            <a:off x="275762" y="810706"/>
            <a:ext cx="8440075" cy="4637988"/>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Google Shape;817;p112"/>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a:solidFill>
                <a:schemeClr val="dk1"/>
              </a:solidFill>
              <a:latin typeface="Times New Roman"/>
              <a:ea typeface="Times New Roman"/>
              <a:cs typeface="Times New Roman"/>
              <a:sym typeface="Times New Roman"/>
            </a:endParaRPr>
          </a:p>
        </p:txBody>
      </p:sp>
      <p:sp>
        <p:nvSpPr>
          <p:cNvPr id="818" name="Google Shape;818;p112"/>
          <p:cNvSpPr txBox="1"/>
          <p:nvPr/>
        </p:nvSpPr>
        <p:spPr>
          <a:xfrm>
            <a:off x="457200" y="990600"/>
            <a:ext cx="8001000" cy="4343400"/>
          </a:xfrm>
          <a:prstGeom prst="rect">
            <a:avLst/>
          </a:prstGeom>
          <a:noFill/>
          <a:ln>
            <a:noFill/>
          </a:ln>
        </p:spPr>
        <p:txBody>
          <a:bodyPr spcFirstLastPara="1" wrap="square" lIns="91425" tIns="45700" rIns="91425" bIns="45700" anchor="t" anchorCtr="0">
            <a:noAutofit/>
          </a:bodyPr>
          <a:lstStyle/>
          <a:p>
            <a:pPr marL="344487" marR="0" lvl="0" indent="-344487"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Test Statistic for Multiple Regression</a:t>
            </a:r>
            <a:endParaRPr sz="3200" dirty="0">
              <a:solidFill>
                <a:schemeClr val="tx1"/>
              </a:solidFill>
              <a:latin typeface="+mn-lt"/>
            </a:endParaRPr>
          </a:p>
          <a:p>
            <a:pPr marL="344487" marR="0" lvl="0" indent="-344487" algn="ctr" rtl="0">
              <a:lnSpc>
                <a:spcPct val="100000"/>
              </a:lnSpc>
              <a:spcBef>
                <a:spcPts val="0"/>
              </a:spcBef>
              <a:spcAft>
                <a:spcPts val="0"/>
              </a:spcAft>
              <a:buClr>
                <a:schemeClr val="dk1"/>
              </a:buClr>
              <a:buSzPts val="3200"/>
              <a:buFont typeface="Arial"/>
              <a:buNone/>
            </a:pPr>
            <a:endParaRPr sz="3200" b="1" i="0" u="none" dirty="0">
              <a:solidFill>
                <a:schemeClr val="tx1"/>
              </a:solidFill>
              <a:latin typeface="Times New Roman"/>
              <a:ea typeface="Times New Roman"/>
              <a:cs typeface="Times New Roman"/>
              <a:sym typeface="Times New Roman"/>
            </a:endParaRPr>
          </a:p>
          <a:p>
            <a:pPr marL="344487" marR="0" lvl="0" indent="-344487" algn="l"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L="344487" marR="0" lvl="0" indent="-344487" algn="l"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L="344487" marR="0" lvl="0" indent="-344487" algn="l"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L="344487" marR="0" lvl="0" indent="-344487" algn="l" rtl="0">
              <a:lnSpc>
                <a:spcPct val="100000"/>
              </a:lnSpc>
              <a:spcBef>
                <a:spcPts val="0"/>
              </a:spcBef>
              <a:spcAft>
                <a:spcPts val="0"/>
              </a:spcAft>
              <a:buClr>
                <a:schemeClr val="accent2"/>
              </a:buClr>
              <a:buSzPts val="2800"/>
              <a:buFont typeface="Times New Roman"/>
              <a:buNone/>
            </a:pPr>
            <a:r>
              <a:rPr lang="en-US" sz="2800" b="0" i="0" u="none" dirty="0">
                <a:solidFill>
                  <a:schemeClr val="tx1"/>
                </a:solidFill>
                <a:latin typeface="Times New Roman"/>
                <a:ea typeface="Times New Roman"/>
                <a:cs typeface="Times New Roman"/>
                <a:sym typeface="Times New Roman"/>
              </a:rPr>
              <a:t>	with </a:t>
            </a:r>
            <a:r>
              <a:rPr lang="en-US" sz="2800" b="0" i="1" u="none" dirty="0">
                <a:solidFill>
                  <a:schemeClr val="tx1"/>
                </a:solidFill>
                <a:latin typeface="Times New Roman"/>
                <a:ea typeface="Times New Roman"/>
                <a:cs typeface="Times New Roman"/>
                <a:sym typeface="Times New Roman"/>
              </a:rPr>
              <a:t>k</a:t>
            </a:r>
            <a:r>
              <a:rPr lang="en-US" sz="2800" b="0" i="0" u="none" dirty="0">
                <a:solidFill>
                  <a:schemeClr val="tx1"/>
                </a:solidFill>
                <a:latin typeface="Times New Roman"/>
                <a:ea typeface="Times New Roman"/>
                <a:cs typeface="Times New Roman"/>
                <a:sym typeface="Times New Roman"/>
              </a:rPr>
              <a:t> – 1 degrees of freedom in the numerator and </a:t>
            </a:r>
            <a:r>
              <a:rPr lang="en-US" sz="2800" b="0" i="1" u="none" dirty="0">
                <a:solidFill>
                  <a:schemeClr val="tx1"/>
                </a:solidFill>
                <a:latin typeface="Times New Roman"/>
                <a:ea typeface="Times New Roman"/>
                <a:cs typeface="Times New Roman"/>
                <a:sym typeface="Times New Roman"/>
              </a:rPr>
              <a:t>n </a:t>
            </a:r>
            <a:r>
              <a:rPr lang="en-US" sz="2800" b="0" i="0" u="none" dirty="0">
                <a:solidFill>
                  <a:schemeClr val="tx1"/>
                </a:solidFill>
                <a:latin typeface="Times New Roman"/>
                <a:ea typeface="Times New Roman"/>
                <a:cs typeface="Times New Roman"/>
                <a:sym typeface="Times New Roman"/>
              </a:rPr>
              <a:t>–</a:t>
            </a:r>
            <a:r>
              <a:rPr lang="en-US" sz="2800" b="0" i="1" u="none" dirty="0">
                <a:solidFill>
                  <a:schemeClr val="tx1"/>
                </a:solidFill>
                <a:latin typeface="Times New Roman"/>
                <a:ea typeface="Times New Roman"/>
                <a:cs typeface="Times New Roman"/>
                <a:sym typeface="Times New Roman"/>
              </a:rPr>
              <a:t> k</a:t>
            </a:r>
            <a:r>
              <a:rPr lang="en-US" sz="2800" b="0" i="0" u="none" dirty="0">
                <a:solidFill>
                  <a:schemeClr val="tx1"/>
                </a:solidFill>
                <a:latin typeface="Times New Roman"/>
                <a:ea typeface="Times New Roman"/>
                <a:cs typeface="Times New Roman"/>
                <a:sym typeface="Times New Roman"/>
              </a:rPr>
              <a:t> degrees of freedom in the denominator, where </a:t>
            </a:r>
            <a:r>
              <a:rPr lang="en-US" sz="2800" b="0" i="1" u="none" dirty="0">
                <a:solidFill>
                  <a:schemeClr val="tx1"/>
                </a:solidFill>
                <a:latin typeface="Times New Roman"/>
                <a:ea typeface="Times New Roman"/>
                <a:cs typeface="Times New Roman"/>
                <a:sym typeface="Times New Roman"/>
              </a:rPr>
              <a:t>k</a:t>
            </a:r>
            <a:r>
              <a:rPr lang="en-US" sz="2800" b="0" i="0" u="none" dirty="0">
                <a:solidFill>
                  <a:schemeClr val="tx1"/>
                </a:solidFill>
                <a:latin typeface="Times New Roman"/>
                <a:ea typeface="Times New Roman"/>
                <a:cs typeface="Times New Roman"/>
                <a:sym typeface="Times New Roman"/>
              </a:rPr>
              <a:t> is the number of explanatory variables and </a:t>
            </a:r>
            <a:r>
              <a:rPr lang="en-US" sz="2800" b="0" i="1" u="none" dirty="0">
                <a:solidFill>
                  <a:schemeClr val="tx1"/>
                </a:solidFill>
                <a:latin typeface="Times New Roman"/>
                <a:ea typeface="Times New Roman"/>
                <a:cs typeface="Times New Roman"/>
                <a:sym typeface="Times New Roman"/>
              </a:rPr>
              <a:t>n </a:t>
            </a:r>
            <a:r>
              <a:rPr lang="en-US" sz="2800" b="0" i="0" u="none" dirty="0">
                <a:solidFill>
                  <a:schemeClr val="tx1"/>
                </a:solidFill>
                <a:latin typeface="Times New Roman"/>
                <a:ea typeface="Times New Roman"/>
                <a:cs typeface="Times New Roman"/>
                <a:sym typeface="Times New Roman"/>
              </a:rPr>
              <a:t>is the sample size.   </a:t>
            </a:r>
            <a:endParaRPr dirty="0">
              <a:solidFill>
                <a:schemeClr val="tx1"/>
              </a:solidFill>
            </a:endParaRPr>
          </a:p>
        </p:txBody>
      </p:sp>
      <p:sp>
        <p:nvSpPr>
          <p:cNvPr id="820" name="Google Shape;820;p11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97</a:t>
            </a:fld>
            <a:endParaRPr/>
          </a:p>
        </p:txBody>
      </p:sp>
      <p:graphicFrame>
        <p:nvGraphicFramePr>
          <p:cNvPr id="2" name="Object 1">
            <a:extLst>
              <a:ext uri="{FF2B5EF4-FFF2-40B4-BE49-F238E27FC236}">
                <a16:creationId xmlns:a16="http://schemas.microsoft.com/office/drawing/2014/main" id="{6997AC30-93B6-4608-8A5A-DB6D61802285}"/>
              </a:ext>
            </a:extLst>
          </p:cNvPr>
          <p:cNvGraphicFramePr>
            <a:graphicFrameLocks noChangeAspect="1"/>
          </p:cNvGraphicFramePr>
          <p:nvPr>
            <p:extLst>
              <p:ext uri="{D42A27DB-BD31-4B8C-83A1-F6EECF244321}">
                <p14:modId xmlns:p14="http://schemas.microsoft.com/office/powerpoint/2010/main" val="1989721510"/>
              </p:ext>
            </p:extLst>
          </p:nvPr>
        </p:nvGraphicFramePr>
        <p:xfrm>
          <a:off x="1320800" y="1978631"/>
          <a:ext cx="6273800" cy="901700"/>
        </p:xfrm>
        <a:graphic>
          <a:graphicData uri="http://schemas.openxmlformats.org/presentationml/2006/ole">
            <mc:AlternateContent xmlns:mc="http://schemas.openxmlformats.org/markup-compatibility/2006">
              <mc:Choice xmlns:v="urn:schemas-microsoft-com:vml" Requires="v">
                <p:oleObj spid="_x0000_s113775" name="Equation" r:id="rId4" imgW="6273720" imgH="901440" progId="Equation.DSMT4">
                  <p:embed/>
                </p:oleObj>
              </mc:Choice>
              <mc:Fallback>
                <p:oleObj name="Equation" r:id="rId4" imgW="6273720" imgH="901440" progId="Equation.DSMT4">
                  <p:embed/>
                  <p:pic>
                    <p:nvPicPr>
                      <p:cNvPr id="0" name=""/>
                      <p:cNvPicPr/>
                      <p:nvPr/>
                    </p:nvPicPr>
                    <p:blipFill>
                      <a:blip r:embed="rId5"/>
                      <a:stretch>
                        <a:fillRect/>
                      </a:stretch>
                    </p:blipFill>
                    <p:spPr>
                      <a:xfrm>
                        <a:off x="1320800" y="1978631"/>
                        <a:ext cx="6273800" cy="901700"/>
                      </a:xfrm>
                      <a:prstGeom prst="rect">
                        <a:avLst/>
                      </a:prstGeom>
                    </p:spPr>
                  </p:pic>
                </p:oleObj>
              </mc:Fallback>
            </mc:AlternateContent>
          </a:graphicData>
        </a:graphic>
      </p:graphicFrame>
    </p:spTree>
    <p:extLst>
      <p:ext uri="{BB962C8B-B14F-4D97-AF65-F5344CB8AC3E}">
        <p14:creationId xmlns:p14="http://schemas.microsoft.com/office/powerpoint/2010/main" val="368034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7" name="Rectangle 6">
            <a:extLst>
              <a:ext uri="{FF2B5EF4-FFF2-40B4-BE49-F238E27FC236}">
                <a16:creationId xmlns:a16="http://schemas.microsoft.com/office/drawing/2014/main" id="{B714EDAE-E258-46F0-AE17-7BEB19325068}"/>
              </a:ext>
            </a:extLst>
          </p:cNvPr>
          <p:cNvSpPr/>
          <p:nvPr/>
        </p:nvSpPr>
        <p:spPr>
          <a:xfrm>
            <a:off x="275762" y="829558"/>
            <a:ext cx="8440075" cy="461913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Google Shape;825;p113"/>
          <p:cNvSpPr txBox="1">
            <a:spLocks noGrp="1"/>
          </p:cNvSpPr>
          <p:nvPr>
            <p:ph type="body" idx="1"/>
          </p:nvPr>
        </p:nvSpPr>
        <p:spPr>
          <a:xfrm>
            <a:off x="381000" y="53340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826" name="Google Shape;826;p113"/>
          <p:cNvSpPr txBox="1"/>
          <p:nvPr/>
        </p:nvSpPr>
        <p:spPr>
          <a:xfrm>
            <a:off x="381000" y="1022809"/>
            <a:ext cx="8153400" cy="3810000"/>
          </a:xfrm>
          <a:prstGeom prst="rect">
            <a:avLst/>
          </a:prstGeom>
          <a:noFill/>
          <a:ln>
            <a:noFill/>
          </a:ln>
        </p:spPr>
        <p:txBody>
          <a:bodyPr spcFirstLastPara="1" wrap="square" lIns="91425" tIns="45700" rIns="91425" bIns="45700" anchor="t" anchorCtr="0">
            <a:noAutofit/>
          </a:bodyPr>
          <a:lstStyle/>
          <a:p>
            <a:pPr lvl="0">
              <a:buClr>
                <a:schemeClr val="accent2"/>
              </a:buClr>
              <a:buSzPts val="3200"/>
            </a:pPr>
            <a:r>
              <a:rPr lang="en-US" sz="32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F</a:t>
            </a:r>
            <a:r>
              <a:rPr lang="en-US" sz="3200" b="1" i="0" u="none" dirty="0">
                <a:solidFill>
                  <a:schemeClr val="tx1"/>
                </a:solidFill>
                <a:latin typeface="+mn-lt"/>
                <a:ea typeface="Times New Roman"/>
                <a:cs typeface="Times New Roman"/>
                <a:sym typeface="Times New Roman"/>
              </a:rPr>
              <a:t>-Test Statistic for </a:t>
            </a:r>
            <a:r>
              <a:rPr lang="en-US" sz="3200" b="1" dirty="0">
                <a:solidFill>
                  <a:schemeClr val="tx1"/>
                </a:solidFill>
                <a:ea typeface="Times New Roman"/>
                <a:cs typeface="Times New Roman"/>
                <a:sym typeface="Times New Roman"/>
              </a:rPr>
              <a:t>Multiple Regression  Using </a:t>
            </a:r>
            <a:r>
              <a:rPr lang="en-US" sz="3200" b="1" i="1"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3200" b="1"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endParaRPr sz="3200" b="1"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l" rtl="0">
              <a:lnSpc>
                <a:spcPct val="100000"/>
              </a:lnSpc>
              <a:spcBef>
                <a:spcPts val="0"/>
              </a:spcBef>
              <a:spcAft>
                <a:spcPts val="0"/>
              </a:spcAft>
              <a:buClr>
                <a:schemeClr val="dk1"/>
              </a:buClr>
              <a:buSzPts val="3200"/>
              <a:buFont typeface="Arial"/>
              <a:buNone/>
            </a:pPr>
            <a:endParaRPr sz="3200" b="0" i="0" u="none" dirty="0">
              <a:solidFill>
                <a:schemeClr val="tx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2800"/>
              <a:buFont typeface="Times New Roman"/>
              <a:buNone/>
            </a:pPr>
            <a:r>
              <a:rPr lang="en-US" sz="2800" b="0" i="0" u="none" dirty="0">
                <a:solidFill>
                  <a:schemeClr val="tx1"/>
                </a:solidFill>
                <a:latin typeface="Times New Roman"/>
                <a:ea typeface="Times New Roman"/>
                <a:cs typeface="Times New Roman"/>
                <a:sym typeface="Times New Roman"/>
              </a:rPr>
              <a:t>where	</a:t>
            </a:r>
            <a:endParaRPr dirty="0">
              <a:solidFill>
                <a:schemeClr val="tx1"/>
              </a:solidFill>
            </a:endParaRPr>
          </a:p>
          <a:p>
            <a:pPr marL="342900" marR="0" lvl="0" indent="-342900" algn="l" rtl="0">
              <a:lnSpc>
                <a:spcPct val="100000"/>
              </a:lnSpc>
              <a:spcBef>
                <a:spcPts val="0"/>
              </a:spcBef>
              <a:spcAft>
                <a:spcPts val="0"/>
              </a:spcAft>
              <a:buClr>
                <a:schemeClr val="dk1"/>
              </a:buClr>
              <a:buSzPts val="2800"/>
              <a:buFont typeface="Times New Roman"/>
              <a:buNone/>
            </a:pPr>
            <a:r>
              <a:rPr lang="en-US" sz="2800" b="0" i="0" u="none" dirty="0">
                <a:solidFill>
                  <a:schemeClr val="tx1"/>
                </a:solidFill>
                <a:latin typeface="Times New Roman"/>
                <a:ea typeface="Times New Roman"/>
                <a:cs typeface="Times New Roman"/>
                <a:sym typeface="Times New Roman"/>
              </a:rPr>
              <a:t>	      </a:t>
            </a:r>
            <a:r>
              <a:rPr lang="en-US" sz="2800" b="0" i="1" u="none" dirty="0">
                <a:solidFill>
                  <a:schemeClr val="tx1"/>
                </a:solidFill>
                <a:latin typeface="Times New Roman"/>
                <a:ea typeface="Times New Roman"/>
                <a:cs typeface="Times New Roman"/>
                <a:sym typeface="Times New Roman"/>
              </a:rPr>
              <a:t>R</a:t>
            </a:r>
            <a:r>
              <a:rPr lang="en-US" sz="2800" b="0" i="0" u="none" baseline="30000" dirty="0">
                <a:solidFill>
                  <a:schemeClr val="tx1"/>
                </a:solidFill>
                <a:latin typeface="Times New Roman"/>
                <a:ea typeface="Times New Roman"/>
                <a:cs typeface="Times New Roman"/>
                <a:sym typeface="Times New Roman"/>
              </a:rPr>
              <a:t>2</a:t>
            </a:r>
            <a:r>
              <a:rPr lang="en-US" sz="2800" b="0" i="0" u="none" dirty="0">
                <a:solidFill>
                  <a:schemeClr val="tx1"/>
                </a:solidFill>
                <a:latin typeface="Times New Roman"/>
                <a:ea typeface="Times New Roman"/>
                <a:cs typeface="Times New Roman"/>
                <a:sym typeface="Times New Roman"/>
              </a:rPr>
              <a:t> is the coefficient of determination</a:t>
            </a:r>
            <a:endParaRPr dirty="0">
              <a:solidFill>
                <a:schemeClr val="tx1"/>
              </a:solidFill>
            </a:endParaRPr>
          </a:p>
          <a:p>
            <a:pPr marL="342900" marR="0" lvl="0" indent="-342900" algn="l" rtl="0">
              <a:lnSpc>
                <a:spcPct val="100000"/>
              </a:lnSpc>
              <a:spcBef>
                <a:spcPts val="0"/>
              </a:spcBef>
              <a:spcAft>
                <a:spcPts val="0"/>
              </a:spcAft>
              <a:buClr>
                <a:schemeClr val="dk1"/>
              </a:buClr>
              <a:buSzPts val="2800"/>
              <a:buFont typeface="Times New Roman"/>
              <a:buNone/>
            </a:pPr>
            <a:r>
              <a:rPr lang="en-US" sz="2800" b="0" i="0" u="none" dirty="0">
                <a:solidFill>
                  <a:schemeClr val="tx1"/>
                </a:solidFill>
                <a:latin typeface="Times New Roman"/>
                <a:ea typeface="Times New Roman"/>
                <a:cs typeface="Times New Roman"/>
                <a:sym typeface="Times New Roman"/>
              </a:rPr>
              <a:t>	      </a:t>
            </a:r>
            <a:r>
              <a:rPr lang="en-US" sz="2800" b="0" i="1" u="none" dirty="0">
                <a:solidFill>
                  <a:schemeClr val="tx1"/>
                </a:solidFill>
                <a:latin typeface="Times New Roman"/>
                <a:ea typeface="Times New Roman"/>
                <a:cs typeface="Times New Roman"/>
                <a:sym typeface="Times New Roman"/>
              </a:rPr>
              <a:t>k</a:t>
            </a:r>
            <a:r>
              <a:rPr lang="en-US" sz="2800" b="0" i="0" u="none" dirty="0">
                <a:solidFill>
                  <a:schemeClr val="tx1"/>
                </a:solidFill>
                <a:latin typeface="Times New Roman"/>
                <a:ea typeface="Times New Roman"/>
                <a:cs typeface="Times New Roman"/>
                <a:sym typeface="Times New Roman"/>
              </a:rPr>
              <a:t> is the number of explanatory variables</a:t>
            </a:r>
            <a:endParaRPr dirty="0">
              <a:solidFill>
                <a:schemeClr val="tx1"/>
              </a:solidFill>
            </a:endParaRPr>
          </a:p>
          <a:p>
            <a:pPr marL="342900" marR="0" lvl="0" indent="-342900" algn="l" rtl="0">
              <a:lnSpc>
                <a:spcPct val="100000"/>
              </a:lnSpc>
              <a:spcBef>
                <a:spcPts val="0"/>
              </a:spcBef>
              <a:spcAft>
                <a:spcPts val="0"/>
              </a:spcAft>
              <a:buClr>
                <a:schemeClr val="dk1"/>
              </a:buClr>
              <a:buSzPts val="2800"/>
              <a:buFont typeface="Times New Roman"/>
              <a:buNone/>
            </a:pPr>
            <a:r>
              <a:rPr lang="en-US" sz="2800" b="0" i="0" u="none" dirty="0">
                <a:solidFill>
                  <a:schemeClr val="tx1"/>
                </a:solidFill>
                <a:latin typeface="Times New Roman"/>
                <a:ea typeface="Times New Roman"/>
                <a:cs typeface="Times New Roman"/>
                <a:sym typeface="Times New Roman"/>
              </a:rPr>
              <a:t>	      </a:t>
            </a:r>
            <a:r>
              <a:rPr lang="en-US" sz="2800" b="0" i="1" u="none" dirty="0">
                <a:solidFill>
                  <a:schemeClr val="tx1"/>
                </a:solidFill>
                <a:latin typeface="Times New Roman"/>
                <a:ea typeface="Times New Roman"/>
                <a:cs typeface="Times New Roman"/>
                <a:sym typeface="Times New Roman"/>
              </a:rPr>
              <a:t>n </a:t>
            </a:r>
            <a:r>
              <a:rPr lang="en-US" sz="2800" b="0" i="0" u="none" dirty="0">
                <a:solidFill>
                  <a:schemeClr val="tx1"/>
                </a:solidFill>
                <a:latin typeface="Times New Roman"/>
                <a:ea typeface="Times New Roman"/>
                <a:cs typeface="Times New Roman"/>
                <a:sym typeface="Times New Roman"/>
              </a:rPr>
              <a:t>is the sample size  </a:t>
            </a:r>
            <a:endParaRPr dirty="0">
              <a:solidFill>
                <a:schemeClr val="tx1"/>
              </a:solidFill>
            </a:endParaRPr>
          </a:p>
        </p:txBody>
      </p:sp>
      <p:sp>
        <p:nvSpPr>
          <p:cNvPr id="828" name="Google Shape;828;p11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98</a:t>
            </a:fld>
            <a:endParaRPr/>
          </a:p>
        </p:txBody>
      </p:sp>
      <p:graphicFrame>
        <p:nvGraphicFramePr>
          <p:cNvPr id="2" name="Object 1">
            <a:extLst>
              <a:ext uri="{FF2B5EF4-FFF2-40B4-BE49-F238E27FC236}">
                <a16:creationId xmlns:a16="http://schemas.microsoft.com/office/drawing/2014/main" id="{EFBBA0B4-AF6A-4EE6-BD0E-3F0B14B0F853}"/>
              </a:ext>
            </a:extLst>
          </p:cNvPr>
          <p:cNvGraphicFramePr>
            <a:graphicFrameLocks noChangeAspect="1"/>
          </p:cNvGraphicFramePr>
          <p:nvPr>
            <p:extLst>
              <p:ext uri="{D42A27DB-BD31-4B8C-83A1-F6EECF244321}">
                <p14:modId xmlns:p14="http://schemas.microsoft.com/office/powerpoint/2010/main" val="1849553530"/>
              </p:ext>
            </p:extLst>
          </p:nvPr>
        </p:nvGraphicFramePr>
        <p:xfrm>
          <a:off x="2442425" y="2269259"/>
          <a:ext cx="3486150" cy="962025"/>
        </p:xfrm>
        <a:graphic>
          <a:graphicData uri="http://schemas.openxmlformats.org/presentationml/2006/ole">
            <mc:AlternateContent xmlns:mc="http://schemas.openxmlformats.org/markup-compatibility/2006">
              <mc:Choice xmlns:v="urn:schemas-microsoft-com:vml" Requires="v">
                <p:oleObj spid="_x0000_s114798" name="Equation" r:id="rId4" imgW="3486240" imgH="961883" progId="Equation.DSMT4">
                  <p:embed/>
                </p:oleObj>
              </mc:Choice>
              <mc:Fallback>
                <p:oleObj name="Equation" r:id="rId4" imgW="3486240" imgH="961883" progId="Equation.DSMT4">
                  <p:embed/>
                  <p:pic>
                    <p:nvPicPr>
                      <p:cNvPr id="0" name=""/>
                      <p:cNvPicPr/>
                      <p:nvPr/>
                    </p:nvPicPr>
                    <p:blipFill>
                      <a:blip r:embed="rId5"/>
                      <a:stretch>
                        <a:fillRect/>
                      </a:stretch>
                    </p:blipFill>
                    <p:spPr>
                      <a:xfrm>
                        <a:off x="2442425" y="2269259"/>
                        <a:ext cx="3486150" cy="962025"/>
                      </a:xfrm>
                      <a:prstGeom prst="rect">
                        <a:avLst/>
                      </a:prstGeom>
                    </p:spPr>
                  </p:pic>
                </p:oleObj>
              </mc:Fallback>
            </mc:AlternateContent>
          </a:graphicData>
        </a:graphic>
      </p:graphicFrame>
    </p:spTree>
    <p:extLst>
      <p:ext uri="{BB962C8B-B14F-4D97-AF65-F5344CB8AC3E}">
        <p14:creationId xmlns:p14="http://schemas.microsoft.com/office/powerpoint/2010/main" val="131963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5" name="Rectangle 4">
            <a:extLst>
              <a:ext uri="{FF2B5EF4-FFF2-40B4-BE49-F238E27FC236}">
                <a16:creationId xmlns:a16="http://schemas.microsoft.com/office/drawing/2014/main" id="{C7D70FB0-F3E3-4FF7-8854-27B3764E0B0E}"/>
              </a:ext>
            </a:extLst>
          </p:cNvPr>
          <p:cNvSpPr/>
          <p:nvPr/>
        </p:nvSpPr>
        <p:spPr>
          <a:xfrm>
            <a:off x="275762" y="1018095"/>
            <a:ext cx="8440075" cy="3487917"/>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Google Shape;833;p114"/>
          <p:cNvSpPr txBox="1">
            <a:spLocks noGrp="1"/>
          </p:cNvSpPr>
          <p:nvPr>
            <p:ph type="body" idx="1"/>
          </p:nvPr>
        </p:nvSpPr>
        <p:spPr>
          <a:xfrm>
            <a:off x="381000" y="533400"/>
            <a:ext cx="8229600" cy="3736942"/>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a:p>
            <a:pPr marL="342900" lvl="0" indent="-127000" algn="l" rtl="0">
              <a:spcBef>
                <a:spcPts val="680"/>
              </a:spcBef>
              <a:spcAft>
                <a:spcPts val="0"/>
              </a:spcAft>
              <a:buSzPts val="3400"/>
              <a:buFont typeface="Times New Roman"/>
              <a:buNone/>
            </a:pPr>
            <a:endParaRPr sz="3400" b="1" i="0" u="none" dirty="0">
              <a:solidFill>
                <a:schemeClr val="dk1"/>
              </a:solidFill>
              <a:latin typeface="Times New Roman"/>
              <a:ea typeface="Times New Roman"/>
              <a:cs typeface="Times New Roman"/>
              <a:sym typeface="Times New Roman"/>
            </a:endParaRPr>
          </a:p>
        </p:txBody>
      </p:sp>
      <p:sp>
        <p:nvSpPr>
          <p:cNvPr id="834" name="Google Shape;834;p114"/>
          <p:cNvSpPr txBox="1"/>
          <p:nvPr/>
        </p:nvSpPr>
        <p:spPr>
          <a:xfrm>
            <a:off x="723507" y="1253528"/>
            <a:ext cx="7696986" cy="2895600"/>
          </a:xfrm>
          <a:prstGeom prst="rect">
            <a:avLst/>
          </a:prstGeom>
          <a:noFill/>
          <a:ln>
            <a:noFill/>
          </a:ln>
        </p:spPr>
        <p:txBody>
          <a:bodyPr spcFirstLastPara="1" wrap="square" lIns="91425" tIns="45700" rIns="91425" bIns="45700" anchor="t" anchorCtr="0">
            <a:noAutofit/>
          </a:bodyPr>
          <a:lstStyle/>
          <a:p>
            <a:pPr>
              <a:buClr>
                <a:schemeClr val="accent2"/>
              </a:buClr>
              <a:buSzPts val="3200"/>
            </a:pPr>
            <a:r>
              <a:rPr lang="en-US" sz="3200" b="1" i="0" u="none" dirty="0">
                <a:solidFill>
                  <a:schemeClr val="tx1"/>
                </a:solidFill>
                <a:latin typeface="+mn-lt"/>
                <a:ea typeface="Times New Roman"/>
                <a:cs typeface="Times New Roman"/>
                <a:sym typeface="Times New Roman"/>
              </a:rPr>
              <a:t>Decision Rule for Testing </a:t>
            </a:r>
          </a:p>
          <a:p>
            <a:pPr>
              <a:buClr>
                <a:schemeClr val="accent2"/>
              </a:buClr>
              <a:buSzPts val="3200"/>
            </a:pPr>
            <a:r>
              <a:rPr lang="pt-BR" sz="3200" b="1" i="1" dirty="0">
                <a:solidFill>
                  <a:schemeClr val="tx1"/>
                </a:solidFill>
                <a:latin typeface="Times New Roman"/>
                <a:ea typeface="Times New Roman"/>
                <a:cs typeface="Times New Roman"/>
                <a:sym typeface="Times New Roman"/>
              </a:rPr>
              <a:t>H</a:t>
            </a:r>
            <a:r>
              <a:rPr lang="pt-BR" sz="3200" b="1" baseline="-25000" dirty="0">
                <a:solidFill>
                  <a:schemeClr val="tx1"/>
                </a:solidFill>
                <a:latin typeface="Times New Roman"/>
                <a:ea typeface="Times New Roman"/>
                <a:cs typeface="Times New Roman"/>
                <a:sym typeface="Times New Roman"/>
              </a:rPr>
              <a:t>0</a:t>
            </a:r>
            <a:r>
              <a:rPr lang="pt-BR" sz="3200" b="1" dirty="0">
                <a:solidFill>
                  <a:schemeClr val="tx1"/>
                </a:solidFill>
                <a:latin typeface="Times New Roman"/>
                <a:ea typeface="Times New Roman"/>
                <a:cs typeface="Times New Roman"/>
                <a:sym typeface="Times New Roman"/>
              </a:rPr>
              <a:t>: </a:t>
            </a:r>
            <a:r>
              <a:rPr lang="pt-BR" sz="3200" b="1" i="1" dirty="0">
                <a:solidFill>
                  <a:schemeClr val="tx1"/>
                </a:solidFill>
                <a:latin typeface="Times New Roman"/>
                <a:ea typeface="Times New Roman"/>
                <a:cs typeface="Times New Roman"/>
                <a:sym typeface="Times New Roman"/>
              </a:rPr>
              <a:t>β</a:t>
            </a:r>
            <a:r>
              <a:rPr lang="pt-BR" sz="3200" b="1" baseline="-25000" dirty="0">
                <a:solidFill>
                  <a:schemeClr val="tx1"/>
                </a:solidFill>
                <a:latin typeface="Times New Roman"/>
                <a:ea typeface="Times New Roman"/>
                <a:cs typeface="Times New Roman"/>
                <a:sym typeface="Times New Roman"/>
              </a:rPr>
              <a:t>1 </a:t>
            </a:r>
            <a:r>
              <a:rPr lang="pt-BR" sz="3200" b="1" dirty="0">
                <a:solidFill>
                  <a:schemeClr val="tx1"/>
                </a:solidFill>
                <a:latin typeface="Times New Roman"/>
                <a:ea typeface="Times New Roman"/>
                <a:cs typeface="Times New Roman"/>
                <a:sym typeface="Times New Roman"/>
              </a:rPr>
              <a:t>= </a:t>
            </a:r>
            <a:r>
              <a:rPr lang="pt-BR" sz="3200" b="1" i="1" dirty="0">
                <a:solidFill>
                  <a:schemeClr val="tx1"/>
                </a:solidFill>
                <a:latin typeface="Times New Roman"/>
                <a:ea typeface="Times New Roman"/>
                <a:cs typeface="Times New Roman"/>
                <a:sym typeface="Times New Roman"/>
              </a:rPr>
              <a:t>β</a:t>
            </a:r>
            <a:r>
              <a:rPr lang="pt-BR" sz="3200" b="1" baseline="-25000" dirty="0">
                <a:solidFill>
                  <a:schemeClr val="tx1"/>
                </a:solidFill>
                <a:latin typeface="Times New Roman"/>
                <a:ea typeface="Times New Roman"/>
                <a:cs typeface="Times New Roman"/>
                <a:sym typeface="Times New Roman"/>
              </a:rPr>
              <a:t>2 </a:t>
            </a:r>
            <a:r>
              <a:rPr lang="pt-BR" sz="3200" b="1" dirty="0">
                <a:solidFill>
                  <a:schemeClr val="tx1"/>
                </a:solidFill>
                <a:latin typeface="Times New Roman"/>
                <a:ea typeface="Times New Roman"/>
                <a:cs typeface="Times New Roman"/>
                <a:sym typeface="Times New Roman"/>
              </a:rPr>
              <a:t>= ··· = </a:t>
            </a:r>
            <a:r>
              <a:rPr lang="pt-BR" sz="3200" b="1" i="1" dirty="0">
                <a:solidFill>
                  <a:schemeClr val="tx1"/>
                </a:solidFill>
                <a:latin typeface="Times New Roman"/>
                <a:ea typeface="Times New Roman"/>
                <a:cs typeface="Times New Roman"/>
                <a:sym typeface="Times New Roman"/>
              </a:rPr>
              <a:t>β</a:t>
            </a:r>
            <a:r>
              <a:rPr lang="pt-BR" sz="3200" b="1" i="1" baseline="-25000" dirty="0">
                <a:solidFill>
                  <a:schemeClr val="tx1"/>
                </a:solidFill>
                <a:latin typeface="Times New Roman"/>
                <a:ea typeface="Times New Roman"/>
                <a:cs typeface="Times New Roman"/>
                <a:sym typeface="Times New Roman"/>
              </a:rPr>
              <a:t>k </a:t>
            </a:r>
            <a:r>
              <a:rPr lang="pt-BR" sz="3200" b="1" dirty="0">
                <a:solidFill>
                  <a:schemeClr val="tx1"/>
                </a:solidFill>
                <a:latin typeface="Times New Roman"/>
                <a:ea typeface="Times New Roman"/>
                <a:cs typeface="Times New Roman"/>
                <a:sym typeface="Times New Roman"/>
              </a:rPr>
              <a:t>= 0</a:t>
            </a:r>
            <a:endParaRPr lang="pt-BR" sz="3200" dirty="0">
              <a:solidFill>
                <a:schemeClr val="tx1"/>
              </a:solidFill>
            </a:endParaRPr>
          </a:p>
          <a:p>
            <a:pPr marL="342900" marR="0" lvl="0" indent="-342900" algn="ctr" rtl="0">
              <a:lnSpc>
                <a:spcPct val="100000"/>
              </a:lnSpc>
              <a:spcBef>
                <a:spcPts val="0"/>
              </a:spcBef>
              <a:spcAft>
                <a:spcPts val="0"/>
              </a:spcAft>
              <a:buClr>
                <a:schemeClr val="dk1"/>
              </a:buClr>
              <a:buSzPts val="2800"/>
              <a:buFont typeface="Arial"/>
              <a:buNone/>
            </a:pPr>
            <a:endParaRPr sz="2800" b="0" i="0" u="none" dirty="0">
              <a:solidFill>
                <a:schemeClr val="tx1"/>
              </a:solidFill>
              <a:latin typeface="Times New Roman"/>
              <a:ea typeface="Times New Roman"/>
              <a:cs typeface="Times New Roman"/>
              <a:sym typeface="Times New Roman"/>
            </a:endParaRPr>
          </a:p>
          <a:p>
            <a:pPr marR="0" lvl="0" algn="l" rtl="0">
              <a:lnSpc>
                <a:spcPct val="100000"/>
              </a:lnSpc>
              <a:spcBef>
                <a:spcPts val="0"/>
              </a:spcBef>
              <a:spcAft>
                <a:spcPts val="0"/>
              </a:spcAft>
              <a:buClr>
                <a:schemeClr val="accent2"/>
              </a:buClr>
              <a:buSzPts val="2800"/>
              <a:buFont typeface="Times New Roman"/>
              <a:buNone/>
            </a:pPr>
            <a:r>
              <a:rPr lang="en-US" sz="2800" b="0" i="0" u="none" dirty="0">
                <a:solidFill>
                  <a:schemeClr val="tx1"/>
                </a:solidFill>
                <a:latin typeface="Times New Roman"/>
                <a:ea typeface="Times New Roman"/>
                <a:cs typeface="Times New Roman"/>
                <a:sym typeface="Times New Roman"/>
              </a:rPr>
              <a:t>If the </a:t>
            </a:r>
            <a:r>
              <a:rPr lang="en-US" sz="2800" b="0" i="1" u="none" dirty="0">
                <a:solidFill>
                  <a:schemeClr val="tx1"/>
                </a:solidFill>
                <a:latin typeface="Times New Roman"/>
                <a:ea typeface="Times New Roman"/>
                <a:cs typeface="Times New Roman"/>
                <a:sym typeface="Times New Roman"/>
              </a:rPr>
              <a:t>P</a:t>
            </a:r>
            <a:r>
              <a:rPr lang="en-US" sz="2800" b="0" i="0" u="none" dirty="0">
                <a:solidFill>
                  <a:schemeClr val="tx1"/>
                </a:solidFill>
                <a:latin typeface="Times New Roman"/>
                <a:ea typeface="Times New Roman"/>
                <a:cs typeface="Times New Roman"/>
                <a:sym typeface="Times New Roman"/>
              </a:rPr>
              <a:t>-value is less than the level of significance, </a:t>
            </a:r>
            <a:r>
              <a:rPr lang="en-US" sz="2800" b="0" i="1" u="none" dirty="0">
                <a:solidFill>
                  <a:schemeClr val="tx1"/>
                </a:solidFill>
                <a:latin typeface="Times New Roman"/>
                <a:ea typeface="Times New Roman"/>
                <a:cs typeface="Times New Roman"/>
                <a:sym typeface="Times New Roman"/>
              </a:rPr>
              <a:t>α</a:t>
            </a:r>
            <a:r>
              <a:rPr lang="en-US" sz="2800" b="0" i="0" u="none" dirty="0">
                <a:solidFill>
                  <a:schemeClr val="tx1"/>
                </a:solidFill>
                <a:latin typeface="Times New Roman"/>
                <a:ea typeface="Times New Roman"/>
                <a:cs typeface="Times New Roman"/>
                <a:sym typeface="Times New Roman"/>
              </a:rPr>
              <a:t>, reject the null hypothesis.  Otherwise, do not reject the null hypothesis.</a:t>
            </a:r>
            <a:endParaRPr dirty="0">
              <a:solidFill>
                <a:schemeClr val="tx1"/>
              </a:solidFill>
            </a:endParaRPr>
          </a:p>
        </p:txBody>
      </p:sp>
      <p:sp>
        <p:nvSpPr>
          <p:cNvPr id="835" name="Google Shape;835;p11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99</a:t>
            </a:fld>
            <a:endParaRPr/>
          </a:p>
        </p:txBody>
      </p:sp>
    </p:spTree>
    <p:extLst>
      <p:ext uri="{BB962C8B-B14F-4D97-AF65-F5344CB8AC3E}">
        <p14:creationId xmlns:p14="http://schemas.microsoft.com/office/powerpoint/2010/main" val="100150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100</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Test                           versus </a:t>
            </a:r>
            <a:r>
              <a:rPr lang="en-US" sz="2800" i="1" dirty="0">
                <a:latin typeface="Times New Roman" panose="02020603050405020304" pitchFamily="18" charset="0"/>
                <a:cs typeface="Times New Roman" panose="02020603050405020304" pitchFamily="18" charset="0"/>
              </a:rPr>
              <a:t>H</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at least one           for the regression model,                                                found in a previous example.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Inference on the Regression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graphicFrame>
        <p:nvGraphicFramePr>
          <p:cNvPr id="3" name="Object 2">
            <a:extLst>
              <a:ext uri="{FF2B5EF4-FFF2-40B4-BE49-F238E27FC236}">
                <a16:creationId xmlns:a16="http://schemas.microsoft.com/office/drawing/2014/main" id="{218ABE2C-53DD-458F-9ABB-495745F00B0E}"/>
              </a:ext>
            </a:extLst>
          </p:cNvPr>
          <p:cNvGraphicFramePr>
            <a:graphicFrameLocks noChangeAspect="1"/>
          </p:cNvGraphicFramePr>
          <p:nvPr>
            <p:extLst>
              <p:ext uri="{D42A27DB-BD31-4B8C-83A1-F6EECF244321}">
                <p14:modId xmlns:p14="http://schemas.microsoft.com/office/powerpoint/2010/main" val="1140497647"/>
              </p:ext>
            </p:extLst>
          </p:nvPr>
        </p:nvGraphicFramePr>
        <p:xfrm>
          <a:off x="1162050" y="1312061"/>
          <a:ext cx="2222500" cy="431800"/>
        </p:xfrm>
        <a:graphic>
          <a:graphicData uri="http://schemas.openxmlformats.org/presentationml/2006/ole">
            <mc:AlternateContent xmlns:mc="http://schemas.openxmlformats.org/markup-compatibility/2006">
              <mc:Choice xmlns:v="urn:schemas-microsoft-com:vml" Requires="v">
                <p:oleObj spid="_x0000_s116029" name="Equation" r:id="rId4" imgW="2222280" imgH="431640" progId="Equation.DSMT4">
                  <p:embed/>
                </p:oleObj>
              </mc:Choice>
              <mc:Fallback>
                <p:oleObj name="Equation" r:id="rId4" imgW="2222280" imgH="431640" progId="Equation.DSMT4">
                  <p:embed/>
                  <p:pic>
                    <p:nvPicPr>
                      <p:cNvPr id="0" name=""/>
                      <p:cNvPicPr/>
                      <p:nvPr/>
                    </p:nvPicPr>
                    <p:blipFill>
                      <a:blip r:embed="rId5"/>
                      <a:stretch>
                        <a:fillRect/>
                      </a:stretch>
                    </p:blipFill>
                    <p:spPr>
                      <a:xfrm>
                        <a:off x="1162050" y="1312061"/>
                        <a:ext cx="2222500" cy="4318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E965E294-2BAC-44C2-9CF7-A6109007FC3C}"/>
              </a:ext>
            </a:extLst>
          </p:cNvPr>
          <p:cNvGraphicFramePr>
            <a:graphicFrameLocks noChangeAspect="1"/>
          </p:cNvGraphicFramePr>
          <p:nvPr>
            <p:extLst>
              <p:ext uri="{D42A27DB-BD31-4B8C-83A1-F6EECF244321}">
                <p14:modId xmlns:p14="http://schemas.microsoft.com/office/powerpoint/2010/main" val="42946648"/>
              </p:ext>
            </p:extLst>
          </p:nvPr>
        </p:nvGraphicFramePr>
        <p:xfrm>
          <a:off x="6642820" y="1312061"/>
          <a:ext cx="876300" cy="431800"/>
        </p:xfrm>
        <a:graphic>
          <a:graphicData uri="http://schemas.openxmlformats.org/presentationml/2006/ole">
            <mc:AlternateContent xmlns:mc="http://schemas.openxmlformats.org/markup-compatibility/2006">
              <mc:Choice xmlns:v="urn:schemas-microsoft-com:vml" Requires="v">
                <p:oleObj spid="_x0000_s116030" name="Equation" r:id="rId6" imgW="876240" imgH="431640" progId="Equation.DSMT4">
                  <p:embed/>
                </p:oleObj>
              </mc:Choice>
              <mc:Fallback>
                <p:oleObj name="Equation" r:id="rId6" imgW="876240" imgH="431640" progId="Equation.DSMT4">
                  <p:embed/>
                  <p:pic>
                    <p:nvPicPr>
                      <p:cNvPr id="0" name=""/>
                      <p:cNvPicPr/>
                      <p:nvPr/>
                    </p:nvPicPr>
                    <p:blipFill>
                      <a:blip r:embed="rId7"/>
                      <a:stretch>
                        <a:fillRect/>
                      </a:stretch>
                    </p:blipFill>
                    <p:spPr>
                      <a:xfrm>
                        <a:off x="6642820" y="1312061"/>
                        <a:ext cx="876300" cy="4318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5C9E37AA-7D66-45C5-9C63-C401ADEF6ACA}"/>
              </a:ext>
            </a:extLst>
          </p:cNvPr>
          <p:cNvGraphicFramePr>
            <a:graphicFrameLocks noChangeAspect="1"/>
          </p:cNvGraphicFramePr>
          <p:nvPr>
            <p:extLst>
              <p:ext uri="{D42A27DB-BD31-4B8C-83A1-F6EECF244321}">
                <p14:modId xmlns:p14="http://schemas.microsoft.com/office/powerpoint/2010/main" val="2111070230"/>
              </p:ext>
            </p:extLst>
          </p:nvPr>
        </p:nvGraphicFramePr>
        <p:xfrm>
          <a:off x="3076294" y="1728706"/>
          <a:ext cx="4076700" cy="431800"/>
        </p:xfrm>
        <a:graphic>
          <a:graphicData uri="http://schemas.openxmlformats.org/presentationml/2006/ole">
            <mc:AlternateContent xmlns:mc="http://schemas.openxmlformats.org/markup-compatibility/2006">
              <mc:Choice xmlns:v="urn:schemas-microsoft-com:vml" Requires="v">
                <p:oleObj spid="_x0000_s116031" name="Equation" r:id="rId8" imgW="4076640" imgH="431640" progId="Equation.DSMT4">
                  <p:embed/>
                </p:oleObj>
              </mc:Choice>
              <mc:Fallback>
                <p:oleObj name="Equation" r:id="rId8" imgW="4076640" imgH="431640" progId="Equation.DSMT4">
                  <p:embed/>
                  <p:pic>
                    <p:nvPicPr>
                      <p:cNvPr id="2" name="Object 1">
                        <a:extLst>
                          <a:ext uri="{FF2B5EF4-FFF2-40B4-BE49-F238E27FC236}">
                            <a16:creationId xmlns:a16="http://schemas.microsoft.com/office/drawing/2014/main" id="{41C9DCAA-6758-4C07-9365-05B27375F9EC}"/>
                          </a:ext>
                        </a:extLst>
                      </p:cNvPr>
                      <p:cNvPicPr/>
                      <p:nvPr/>
                    </p:nvPicPr>
                    <p:blipFill>
                      <a:blip r:embed="rId9"/>
                      <a:stretch>
                        <a:fillRect/>
                      </a:stretch>
                    </p:blipFill>
                    <p:spPr>
                      <a:xfrm>
                        <a:off x="3076294" y="1728706"/>
                        <a:ext cx="4076700" cy="431800"/>
                      </a:xfrm>
                      <a:prstGeom prst="rect">
                        <a:avLst/>
                      </a:prstGeom>
                    </p:spPr>
                  </p:pic>
                </p:oleObj>
              </mc:Fallback>
            </mc:AlternateContent>
          </a:graphicData>
        </a:graphic>
      </p:graphicFrame>
    </p:spTree>
    <p:extLst>
      <p:ext uri="{BB962C8B-B14F-4D97-AF65-F5344CB8AC3E}">
        <p14:creationId xmlns:p14="http://schemas.microsoft.com/office/powerpoint/2010/main" val="180491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101</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the normal probability plot of the residuals drawn in Minitab.</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Inference on the Regression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5" name="Picture 4" descr="A close up of a map&#10;&#10;Description automatically generated">
            <a:extLst>
              <a:ext uri="{FF2B5EF4-FFF2-40B4-BE49-F238E27FC236}">
                <a16:creationId xmlns:a16="http://schemas.microsoft.com/office/drawing/2014/main" id="{9C500DD7-1A3E-4DD8-8BC6-851A3BF27795}"/>
              </a:ext>
            </a:extLst>
          </p:cNvPr>
          <p:cNvPicPr>
            <a:picLocks noChangeAspect="1"/>
          </p:cNvPicPr>
          <p:nvPr/>
        </p:nvPicPr>
        <p:blipFill>
          <a:blip r:embed="rId3"/>
          <a:stretch>
            <a:fillRect/>
          </a:stretch>
        </p:blipFill>
        <p:spPr>
          <a:xfrm>
            <a:off x="1586259" y="2071558"/>
            <a:ext cx="6208641" cy="4164217"/>
          </a:xfrm>
          <a:prstGeom prst="rect">
            <a:avLst/>
          </a:prstGeom>
        </p:spPr>
      </p:pic>
    </p:spTree>
    <p:extLst>
      <p:ext uri="{BB962C8B-B14F-4D97-AF65-F5344CB8AC3E}">
        <p14:creationId xmlns:p14="http://schemas.microsoft.com/office/powerpoint/2010/main" val="37856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102</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Because the points are roughly linear (or lie within the confidence bounds drawn by Minitab), it is reasonable to conclude that the residuals are normally distributed.</a:t>
            </a:r>
          </a:p>
          <a:p>
            <a:r>
              <a:rPr lang="en-US" sz="2600" dirty="0">
                <a:latin typeface="Times New Roman" panose="02020603050405020304" pitchFamily="18" charset="0"/>
                <a:cs typeface="Times New Roman" panose="02020603050405020304" pitchFamily="18" charset="0"/>
              </a:rPr>
              <a:t>Alternatively, the correlation between the residuals and expected </a:t>
            </a:r>
            <a:r>
              <a:rPr lang="en-US" sz="2600" i="1" dirty="0">
                <a:latin typeface="Times New Roman" panose="02020603050405020304" pitchFamily="18" charset="0"/>
                <a:cs typeface="Times New Roman" panose="02020603050405020304" pitchFamily="18" charset="0"/>
              </a:rPr>
              <a:t>z</a:t>
            </a:r>
            <a:r>
              <a:rPr lang="en-US" sz="2600" dirty="0">
                <a:latin typeface="Times New Roman" panose="02020603050405020304" pitchFamily="18" charset="0"/>
                <a:cs typeface="Times New Roman" panose="02020603050405020304" pitchFamily="18" charset="0"/>
              </a:rPr>
              <a:t>-scores is 0.967. Because 0.967 &gt; 0.935 (Table VI), the residuals appear to be normally distributed. </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In addition, the boxplot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residuals drawn previously,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shown in Figure (d), indicates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that there are no outliers. </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Therefore, we can continue with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inference.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Inference on the Regression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omputer&#10;&#10;Description automatically generated">
            <a:extLst>
              <a:ext uri="{FF2B5EF4-FFF2-40B4-BE49-F238E27FC236}">
                <a16:creationId xmlns:a16="http://schemas.microsoft.com/office/drawing/2014/main" id="{7818AD0E-F229-457C-B36C-2B7C4A1A0BF9}"/>
              </a:ext>
            </a:extLst>
          </p:cNvPr>
          <p:cNvPicPr>
            <a:picLocks noChangeAspect="1"/>
          </p:cNvPicPr>
          <p:nvPr/>
        </p:nvPicPr>
        <p:blipFill rotWithShape="1">
          <a:blip r:embed="rId3"/>
          <a:srcRect l="54846" t="50000" r="833"/>
          <a:stretch/>
        </p:blipFill>
        <p:spPr>
          <a:xfrm>
            <a:off x="5115343" y="3599833"/>
            <a:ext cx="3647657" cy="2731117"/>
          </a:xfrm>
          <a:prstGeom prst="rect">
            <a:avLst/>
          </a:prstGeom>
        </p:spPr>
      </p:pic>
    </p:spTree>
    <p:extLst>
      <p:ext uri="{BB962C8B-B14F-4D97-AF65-F5344CB8AC3E}">
        <p14:creationId xmlns:p14="http://schemas.microsoft.com/office/powerpoint/2010/main" val="402525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3" end="3"/>
                                            </p:txEl>
                                          </p:spTgt>
                                        </p:tgtEl>
                                        <p:attrNameLst>
                                          <p:attrName>style.visibility</p:attrName>
                                        </p:attrNameLst>
                                      </p:cBhvr>
                                      <p:to>
                                        <p:strVal val="visible"/>
                                      </p:to>
                                    </p:set>
                                    <p:animEffect transition="in" filter="fade">
                                      <p:cBhvr>
                                        <p:cTn id="12" dur="500"/>
                                        <p:tgtEl>
                                          <p:spTgt spid="315">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5">
                                            <p:txEl>
                                              <p:pRg st="5" end="5"/>
                                            </p:txEl>
                                          </p:spTgt>
                                        </p:tgtEl>
                                        <p:attrNameLst>
                                          <p:attrName>style.visibility</p:attrName>
                                        </p:attrNameLst>
                                      </p:cBhvr>
                                      <p:to>
                                        <p:strVal val="visible"/>
                                      </p:to>
                                    </p:set>
                                    <p:animEffect transition="in" filter="fade">
                                      <p:cBhvr>
                                        <p:cTn id="20"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103</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If we look back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at the output 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 previous figure,</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we see that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is 30.53 with a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reported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as 0.000.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Inference on the Regression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3" name="Picture 2" descr="A close up of text on a white background&#10;&#10;Description automatically generated">
            <a:extLst>
              <a:ext uri="{FF2B5EF4-FFF2-40B4-BE49-F238E27FC236}">
                <a16:creationId xmlns:a16="http://schemas.microsoft.com/office/drawing/2014/main" id="{7F7D6319-6469-4120-95BA-CD016C12E86E}"/>
              </a:ext>
            </a:extLst>
          </p:cNvPr>
          <p:cNvPicPr>
            <a:picLocks noChangeAspect="1"/>
          </p:cNvPicPr>
          <p:nvPr/>
        </p:nvPicPr>
        <p:blipFill>
          <a:blip r:embed="rId3"/>
          <a:stretch>
            <a:fillRect/>
          </a:stretch>
        </p:blipFill>
        <p:spPr>
          <a:xfrm>
            <a:off x="2791986" y="1225485"/>
            <a:ext cx="6145410" cy="5033913"/>
          </a:xfrm>
          <a:prstGeom prst="rect">
            <a:avLst/>
          </a:prstGeom>
        </p:spPr>
      </p:pic>
    </p:spTree>
    <p:extLst>
      <p:ext uri="{BB962C8B-B14F-4D97-AF65-F5344CB8AC3E}">
        <p14:creationId xmlns:p14="http://schemas.microsoft.com/office/powerpoint/2010/main" val="53500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104</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This small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sufficient evidence against the null hypothesis. So we reject the null hypothesis and conclude that at least one of the regression coefficients is different from zero. There is a linear relation between at least one of the explanatory variables and the response variable.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Inference on the Regression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110739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19"/>
          <p:cNvSpPr txBox="1"/>
          <p:nvPr/>
        </p:nvSpPr>
        <p:spPr>
          <a:xfrm>
            <a:off x="533400" y="533400"/>
            <a:ext cx="8077200" cy="4094162"/>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0" i="1" u="none" dirty="0">
              <a:solidFill>
                <a:schemeClr val="accent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2800" b="0" i="0" u="none" dirty="0">
                <a:solidFill>
                  <a:schemeClr val="dk1"/>
                </a:solidFill>
                <a:latin typeface="Times New Roman"/>
                <a:ea typeface="Times New Roman"/>
                <a:cs typeface="Times New Roman"/>
                <a:sym typeface="Times New Roman"/>
              </a:rPr>
              <a:t>If we reject the null hypothesis that all the slope coefficients are zero, then we are saying that at least one of the slopes is different from zero, </a:t>
            </a:r>
            <a:r>
              <a:rPr lang="en-US" sz="2800" b="0" i="1" u="none" dirty="0">
                <a:solidFill>
                  <a:schemeClr val="dk1"/>
                </a:solidFill>
                <a:latin typeface="Times New Roman"/>
                <a:ea typeface="Times New Roman"/>
                <a:cs typeface="Times New Roman"/>
                <a:sym typeface="Times New Roman"/>
              </a:rPr>
              <a:t>not</a:t>
            </a:r>
            <a:r>
              <a:rPr lang="en-US" sz="2800" b="0" i="0" u="none" dirty="0">
                <a:solidFill>
                  <a:schemeClr val="dk1"/>
                </a:solidFill>
                <a:latin typeface="Times New Roman"/>
                <a:ea typeface="Times New Roman"/>
                <a:cs typeface="Times New Roman"/>
                <a:sym typeface="Times New Roman"/>
              </a:rPr>
              <a:t> that they </a:t>
            </a:r>
            <a:r>
              <a:rPr lang="en-US" sz="2800" b="0" i="1" u="none" dirty="0">
                <a:solidFill>
                  <a:schemeClr val="dk1"/>
                </a:solidFill>
                <a:latin typeface="Times New Roman"/>
                <a:ea typeface="Times New Roman"/>
                <a:cs typeface="Times New Roman"/>
                <a:sym typeface="Times New Roman"/>
              </a:rPr>
              <a:t>all</a:t>
            </a:r>
            <a:r>
              <a:rPr lang="en-US" sz="2800" b="0" i="0" u="none" dirty="0">
                <a:solidFill>
                  <a:schemeClr val="dk1"/>
                </a:solidFill>
                <a:latin typeface="Times New Roman"/>
                <a:ea typeface="Times New Roman"/>
                <a:cs typeface="Times New Roman"/>
                <a:sym typeface="Times New Roman"/>
              </a:rPr>
              <a:t> are different from zero.</a:t>
            </a:r>
            <a:endParaRPr sz="28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800" b="0" i="0" u="none" dirty="0">
              <a:solidFill>
                <a:schemeClr val="dk1"/>
              </a:solidFill>
              <a:latin typeface="Times New Roman"/>
              <a:ea typeface="Times New Roman"/>
              <a:cs typeface="Times New Roman"/>
              <a:sym typeface="Times New Roman"/>
            </a:endParaRPr>
          </a:p>
        </p:txBody>
      </p:sp>
      <p:sp>
        <p:nvSpPr>
          <p:cNvPr id="869" name="Google Shape;869;p11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105</a:t>
            </a:fld>
            <a:endParaRPr/>
          </a:p>
        </p:txBody>
      </p:sp>
    </p:spTree>
    <p:extLst>
      <p:ext uri="{BB962C8B-B14F-4D97-AF65-F5344CB8AC3E}">
        <p14:creationId xmlns:p14="http://schemas.microsoft.com/office/powerpoint/2010/main" val="2375571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6</a:t>
            </a:r>
            <a:endParaRPr/>
          </a:p>
        </p:txBody>
      </p:sp>
      <p:sp>
        <p:nvSpPr>
          <p:cNvPr id="875" name="Google Shape;875;p120"/>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Test Individual Regression Coefficients for Significance</a:t>
            </a:r>
            <a:endParaRPr dirty="0"/>
          </a:p>
        </p:txBody>
      </p:sp>
      <p:sp>
        <p:nvSpPr>
          <p:cNvPr id="876" name="Google Shape;876;p1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106</a:t>
            </a:fld>
            <a:endParaRPr/>
          </a:p>
        </p:txBody>
      </p:sp>
    </p:spTree>
    <p:extLst>
      <p:ext uri="{BB962C8B-B14F-4D97-AF65-F5344CB8AC3E}">
        <p14:creationId xmlns:p14="http://schemas.microsoft.com/office/powerpoint/2010/main" val="101411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107</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For the model presented in the previous examples, test the hypotheses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where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is the slope coefficient for the explanatory variable age, and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is the slope coefficient for the explanatory variable saturated fat.</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 the Significance of Individual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3</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Predictor Variables</a:t>
            </a:r>
            <a:endParaRPr sz="2400" i="1" dirty="0"/>
          </a:p>
        </p:txBody>
      </p:sp>
      <p:graphicFrame>
        <p:nvGraphicFramePr>
          <p:cNvPr id="2" name="Object 1">
            <a:extLst>
              <a:ext uri="{FF2B5EF4-FFF2-40B4-BE49-F238E27FC236}">
                <a16:creationId xmlns:a16="http://schemas.microsoft.com/office/drawing/2014/main" id="{3AD30C6A-3951-4B70-9712-46C2454AA3DF}"/>
              </a:ext>
            </a:extLst>
          </p:cNvPr>
          <p:cNvGraphicFramePr>
            <a:graphicFrameLocks noChangeAspect="1"/>
          </p:cNvGraphicFramePr>
          <p:nvPr>
            <p:extLst>
              <p:ext uri="{D42A27DB-BD31-4B8C-83A1-F6EECF244321}">
                <p14:modId xmlns:p14="http://schemas.microsoft.com/office/powerpoint/2010/main" val="3195970725"/>
              </p:ext>
            </p:extLst>
          </p:nvPr>
        </p:nvGraphicFramePr>
        <p:xfrm>
          <a:off x="1970136" y="2459708"/>
          <a:ext cx="1511300" cy="1511300"/>
        </p:xfrm>
        <a:graphic>
          <a:graphicData uri="http://schemas.openxmlformats.org/presentationml/2006/ole">
            <mc:AlternateContent xmlns:mc="http://schemas.openxmlformats.org/markup-compatibility/2006">
              <mc:Choice xmlns:v="urn:schemas-microsoft-com:vml" Requires="v">
                <p:oleObj spid="_x0000_s116932" name="Equation" r:id="rId4" imgW="1511280" imgH="1511280" progId="Equation.DSMT4">
                  <p:embed/>
                </p:oleObj>
              </mc:Choice>
              <mc:Fallback>
                <p:oleObj name="Equation" r:id="rId4" imgW="1511280" imgH="1511280" progId="Equation.DSMT4">
                  <p:embed/>
                  <p:pic>
                    <p:nvPicPr>
                      <p:cNvPr id="0" name=""/>
                      <p:cNvPicPr/>
                      <p:nvPr/>
                    </p:nvPicPr>
                    <p:blipFill>
                      <a:blip r:embed="rId5"/>
                      <a:stretch>
                        <a:fillRect/>
                      </a:stretch>
                    </p:blipFill>
                    <p:spPr>
                      <a:xfrm>
                        <a:off x="1970136" y="2459708"/>
                        <a:ext cx="1511300" cy="15113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B3605BB2-1ED7-4786-BA7F-2133DA14F9E6}"/>
              </a:ext>
            </a:extLst>
          </p:cNvPr>
          <p:cNvGraphicFramePr>
            <a:graphicFrameLocks noChangeAspect="1"/>
          </p:cNvGraphicFramePr>
          <p:nvPr>
            <p:extLst>
              <p:ext uri="{D42A27DB-BD31-4B8C-83A1-F6EECF244321}">
                <p14:modId xmlns:p14="http://schemas.microsoft.com/office/powerpoint/2010/main" val="1005776763"/>
              </p:ext>
            </p:extLst>
          </p:nvPr>
        </p:nvGraphicFramePr>
        <p:xfrm>
          <a:off x="5070572" y="2459708"/>
          <a:ext cx="1549400" cy="1511300"/>
        </p:xfrm>
        <a:graphic>
          <a:graphicData uri="http://schemas.openxmlformats.org/presentationml/2006/ole">
            <mc:AlternateContent xmlns:mc="http://schemas.openxmlformats.org/markup-compatibility/2006">
              <mc:Choice xmlns:v="urn:schemas-microsoft-com:vml" Requires="v">
                <p:oleObj spid="_x0000_s116933" name="Equation" r:id="rId6" imgW="1549080" imgH="1511280" progId="Equation.DSMT4">
                  <p:embed/>
                </p:oleObj>
              </mc:Choice>
              <mc:Fallback>
                <p:oleObj name="Equation" r:id="rId6" imgW="1549080" imgH="1511280" progId="Equation.DSMT4">
                  <p:embed/>
                  <p:pic>
                    <p:nvPicPr>
                      <p:cNvPr id="0" name=""/>
                      <p:cNvPicPr/>
                      <p:nvPr/>
                    </p:nvPicPr>
                    <p:blipFill>
                      <a:blip r:embed="rId7"/>
                      <a:stretch>
                        <a:fillRect/>
                      </a:stretch>
                    </p:blipFill>
                    <p:spPr>
                      <a:xfrm>
                        <a:off x="5070572" y="2459708"/>
                        <a:ext cx="1549400" cy="1511300"/>
                      </a:xfrm>
                      <a:prstGeom prst="rect">
                        <a:avLst/>
                      </a:prstGeom>
                    </p:spPr>
                  </p:pic>
                </p:oleObj>
              </mc:Fallback>
            </mc:AlternateContent>
          </a:graphicData>
        </a:graphic>
      </p:graphicFrame>
    </p:spTree>
    <p:extLst>
      <p:ext uri="{BB962C8B-B14F-4D97-AF65-F5344CB8AC3E}">
        <p14:creationId xmlns:p14="http://schemas.microsoft.com/office/powerpoint/2010/main" val="1732164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108</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Looking again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at the figure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shown, we see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test statistic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for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explanatory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variable age is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4.18 with a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 0.002.</a:t>
            </a:r>
          </a:p>
          <a:p>
            <a:endParaRPr lang="en-US" sz="28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 the Significance of Individual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3</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Predictor Variables</a:t>
            </a:r>
            <a:endParaRPr sz="2400" i="1" dirty="0"/>
          </a:p>
        </p:txBody>
      </p:sp>
      <p:pic>
        <p:nvPicPr>
          <p:cNvPr id="5" name="Picture 4" descr="A close up of text on a white background&#10;&#10;Description automatically generated">
            <a:extLst>
              <a:ext uri="{FF2B5EF4-FFF2-40B4-BE49-F238E27FC236}">
                <a16:creationId xmlns:a16="http://schemas.microsoft.com/office/drawing/2014/main" id="{3478B36A-1155-4344-AC39-7841DAFCA0C1}"/>
              </a:ext>
            </a:extLst>
          </p:cNvPr>
          <p:cNvPicPr>
            <a:picLocks noChangeAspect="1"/>
          </p:cNvPicPr>
          <p:nvPr/>
        </p:nvPicPr>
        <p:blipFill>
          <a:blip r:embed="rId3"/>
          <a:stretch>
            <a:fillRect/>
          </a:stretch>
        </p:blipFill>
        <p:spPr>
          <a:xfrm>
            <a:off x="2799067" y="1251425"/>
            <a:ext cx="6201093" cy="5079525"/>
          </a:xfrm>
          <a:prstGeom prst="rect">
            <a:avLst/>
          </a:prstGeom>
        </p:spPr>
      </p:pic>
    </p:spTree>
    <p:extLst>
      <p:ext uri="{BB962C8B-B14F-4D97-AF65-F5344CB8AC3E}">
        <p14:creationId xmlns:p14="http://schemas.microsoft.com/office/powerpoint/2010/main" val="4161750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109</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We also see that the test statistic for the explanatory variable saturated fat is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4.89 with a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 0.000.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Since both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are sufficiently small, we reject each null hypothesis. Conclude that both explanatory variables have a significant linear relation with the response variable, total cholesterol.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 the Significance of Individual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3</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Predictor Variables</a:t>
            </a:r>
            <a:endParaRPr sz="2400" i="1" dirty="0"/>
          </a:p>
        </p:txBody>
      </p:sp>
    </p:spTree>
    <p:extLst>
      <p:ext uri="{BB962C8B-B14F-4D97-AF65-F5344CB8AC3E}">
        <p14:creationId xmlns:p14="http://schemas.microsoft.com/office/powerpoint/2010/main" val="284199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7</a:t>
            </a:r>
            <a:endParaRPr/>
          </a:p>
        </p:txBody>
      </p:sp>
      <p:sp>
        <p:nvSpPr>
          <p:cNvPr id="904" name="Google Shape;904;p12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Construct Confidence and Prediction Intervals</a:t>
            </a:r>
            <a:endParaRPr dirty="0"/>
          </a:p>
        </p:txBody>
      </p:sp>
      <p:sp>
        <p:nvSpPr>
          <p:cNvPr id="905" name="Google Shape;905;p1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110</a:t>
            </a:fld>
            <a:endParaRPr/>
          </a:p>
        </p:txBody>
      </p:sp>
    </p:spTree>
    <p:extLst>
      <p:ext uri="{BB962C8B-B14F-4D97-AF65-F5344CB8AC3E}">
        <p14:creationId xmlns:p14="http://schemas.microsoft.com/office/powerpoint/2010/main" val="415558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111</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Construct a 95% confidence interval for a mean response and a 95% prediction interval for an individual response for a 32-year-old female who consumes 23 grams of saturated fat daily using the model determined in a previous example. Be sure to interpret the results.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Confidence and Prediction Intervals</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16422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112</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the partial output from Minitab.</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Confidence and Prediction Intervals</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28A9D326-0982-40DB-B3E9-D12F1FDD8BEF}"/>
              </a:ext>
            </a:extLst>
          </p:cNvPr>
          <p:cNvPicPr>
            <a:picLocks noChangeAspect="1"/>
          </p:cNvPicPr>
          <p:nvPr/>
        </p:nvPicPr>
        <p:blipFill>
          <a:blip r:embed="rId3"/>
          <a:stretch>
            <a:fillRect/>
          </a:stretch>
        </p:blipFill>
        <p:spPr>
          <a:xfrm>
            <a:off x="1785108" y="1677972"/>
            <a:ext cx="5573783" cy="4577564"/>
          </a:xfrm>
          <a:prstGeom prst="rect">
            <a:avLst/>
          </a:prstGeom>
        </p:spPr>
      </p:pic>
    </p:spTree>
    <p:extLst>
      <p:ext uri="{BB962C8B-B14F-4D97-AF65-F5344CB8AC3E}">
        <p14:creationId xmlns:p14="http://schemas.microsoft.com/office/powerpoint/2010/main" val="262126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113</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Based on the Minitab output, we are 95% confident that the mean total cholesterol of all 32-year-old females who consume 23 grams of saturated fat daily is between 189.4 mg/dL and 206.4 mg/dL. We are 95% confident that the total cholesterol of a particular 32-year-old female who consumes 23 grams of saturated fat daily is between 171.4 mg/dL and 224.4 mg/dL.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Confidence and Prediction Intervals</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3</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309617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114</a:t>
            </a:fld>
            <a:endParaRPr dirty="0"/>
          </a:p>
        </p:txBody>
      </p:sp>
      <p:sp>
        <p:nvSpPr>
          <p:cNvPr id="315" name="Google Shape;315;p49"/>
          <p:cNvSpPr txBox="1"/>
          <p:nvPr/>
        </p:nvSpPr>
        <p:spPr>
          <a:xfrm>
            <a:off x="581712" y="772998"/>
            <a:ext cx="7980575" cy="4703975"/>
          </a:xfrm>
          <a:prstGeom prst="rect">
            <a:avLst/>
          </a:prstGeom>
          <a:noFill/>
          <a:ln>
            <a:noFill/>
          </a:ln>
        </p:spPr>
        <p:txBody>
          <a:bodyPr spcFirstLastPara="1" wrap="square" lIns="91425" tIns="45700" rIns="91425" bIns="45700" anchor="t" anchorCtr="0">
            <a:noAutofit/>
          </a:bodyPr>
          <a:lstStyle/>
          <a:p>
            <a:r>
              <a:rPr lang="en-US" sz="2800" b="1" dirty="0">
                <a:latin typeface="+mn-lt"/>
                <a:cs typeface="Times New Roman" panose="02020603050405020304" pitchFamily="18" charset="0"/>
              </a:rPr>
              <a:t>Multicollinearity Revisited</a:t>
            </a:r>
          </a:p>
          <a:p>
            <a:r>
              <a:rPr lang="en-US" sz="2800" dirty="0">
                <a:latin typeface="Times New Roman" panose="02020603050405020304" pitchFamily="18" charset="0"/>
                <a:cs typeface="Times New Roman" panose="02020603050405020304" pitchFamily="18" charset="0"/>
              </a:rPr>
              <a:t>Suppose that two explanatory variables that have a strong linear association with the response variable are highly correlated with each other. One consequence of this correlation can be that their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-test statistics are small and their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-values are large. The reason for this is that the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-test statistics are </a:t>
            </a:r>
            <a:r>
              <a:rPr lang="en-US" sz="2800" i="1" dirty="0">
                <a:latin typeface="Times New Roman" panose="02020603050405020304" pitchFamily="18" charset="0"/>
                <a:cs typeface="Times New Roman" panose="02020603050405020304" pitchFamily="18" charset="0"/>
              </a:rPr>
              <a:t>marginal</a:t>
            </a:r>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word </a:t>
            </a:r>
            <a:r>
              <a:rPr lang="en-US" sz="2800" i="1" dirty="0">
                <a:latin typeface="Times New Roman" panose="02020603050405020304" pitchFamily="18" charset="0"/>
                <a:cs typeface="Times New Roman" panose="02020603050405020304" pitchFamily="18" charset="0"/>
              </a:rPr>
              <a:t>marginal </a:t>
            </a:r>
            <a:r>
              <a:rPr lang="en-US" sz="2800" dirty="0">
                <a:latin typeface="Times New Roman" panose="02020603050405020304" pitchFamily="18" charset="0"/>
                <a:cs typeface="Times New Roman" panose="02020603050405020304" pitchFamily="18" charset="0"/>
              </a:rPr>
              <a:t>means incremental.</a:t>
            </a:r>
          </a:p>
        </p:txBody>
      </p:sp>
    </p:spTree>
    <p:extLst>
      <p:ext uri="{BB962C8B-B14F-4D97-AF65-F5344CB8AC3E}">
        <p14:creationId xmlns:p14="http://schemas.microsoft.com/office/powerpoint/2010/main" val="412633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115</a:t>
            </a:fld>
            <a:endParaRPr dirty="0"/>
          </a:p>
        </p:txBody>
      </p:sp>
      <p:sp>
        <p:nvSpPr>
          <p:cNvPr id="315" name="Google Shape;315;p49"/>
          <p:cNvSpPr txBox="1"/>
          <p:nvPr/>
        </p:nvSpPr>
        <p:spPr>
          <a:xfrm>
            <a:off x="381000" y="1225485"/>
            <a:ext cx="8619161"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Using the data presented in Table 5:</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Find the correlation matrix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among all three variables.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Effects of Multicollinearity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06163B06-0A64-4F38-8AEC-E53EC4ED5AD6}"/>
              </a:ext>
            </a:extLst>
          </p:cNvPr>
          <p:cNvPicPr>
            <a:picLocks noChangeAspect="1"/>
          </p:cNvPicPr>
          <p:nvPr/>
        </p:nvPicPr>
        <p:blipFill>
          <a:blip r:embed="rId3"/>
          <a:stretch>
            <a:fillRect/>
          </a:stretch>
        </p:blipFill>
        <p:spPr>
          <a:xfrm>
            <a:off x="5782050" y="1225485"/>
            <a:ext cx="2980950" cy="3703327"/>
          </a:xfrm>
          <a:prstGeom prst="rect">
            <a:avLst/>
          </a:prstGeom>
        </p:spPr>
      </p:pic>
    </p:spTree>
    <p:extLst>
      <p:ext uri="{BB962C8B-B14F-4D97-AF65-F5344CB8AC3E}">
        <p14:creationId xmlns:p14="http://schemas.microsoft.com/office/powerpoint/2010/main" val="213450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116</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figure shows the correlation matrix. </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 extremely high correlation exists between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so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multicollinearity exists between the two variables.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Effects of Multicollinearity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4" name="Picture 3" descr="A screenshot of a cell phone&#10;&#10;Description automatically generated">
            <a:extLst>
              <a:ext uri="{FF2B5EF4-FFF2-40B4-BE49-F238E27FC236}">
                <a16:creationId xmlns:a16="http://schemas.microsoft.com/office/drawing/2014/main" id="{8A75AAF5-05FD-4911-B88D-264846E1ECFC}"/>
              </a:ext>
            </a:extLst>
          </p:cNvPr>
          <p:cNvPicPr>
            <a:picLocks noChangeAspect="1"/>
          </p:cNvPicPr>
          <p:nvPr/>
        </p:nvPicPr>
        <p:blipFill>
          <a:blip r:embed="rId3"/>
          <a:stretch>
            <a:fillRect/>
          </a:stretch>
        </p:blipFill>
        <p:spPr>
          <a:xfrm>
            <a:off x="2773599" y="2071558"/>
            <a:ext cx="2880366" cy="1243586"/>
          </a:xfrm>
          <a:prstGeom prst="rect">
            <a:avLst/>
          </a:prstGeom>
        </p:spPr>
      </p:pic>
    </p:spTree>
    <p:extLst>
      <p:ext uri="{BB962C8B-B14F-4D97-AF65-F5344CB8AC3E}">
        <p14:creationId xmlns:p14="http://schemas.microsoft.com/office/powerpoint/2010/main" val="167620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5" end="5"/>
                                            </p:txEl>
                                          </p:spTgt>
                                        </p:tgtEl>
                                        <p:attrNameLst>
                                          <p:attrName>style.visibility</p:attrName>
                                        </p:attrNameLst>
                                      </p:cBhvr>
                                      <p:to>
                                        <p:strVal val="visible"/>
                                      </p:to>
                                    </p:set>
                                    <p:animEffect transition="in" filter="fade">
                                      <p:cBhvr>
                                        <p:cTn id="7"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117</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Find the least-squares regression model using both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and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as explanatory variables.</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figure on the next slide shows the regression output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from StatCrunch. First, notice that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test statistic is 0.0179, indicating that at least one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slope coefficients is different from zero. However, if we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look at each individual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-test statistic, we see that each has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 very high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0.9987;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0.7074), indicating that neither coefficient is different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zero.</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Effects of Multicollinearity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2660887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118</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(b)</a:t>
            </a:r>
            <a:endParaRPr lang="en-US" sz="26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Effects of Multicollinearity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0D4CB021-0DFB-4347-AF0C-18EEF941B425}"/>
              </a:ext>
            </a:extLst>
          </p:cNvPr>
          <p:cNvPicPr>
            <a:picLocks noChangeAspect="1"/>
          </p:cNvPicPr>
          <p:nvPr/>
        </p:nvPicPr>
        <p:blipFill>
          <a:blip r:embed="rId3"/>
          <a:stretch>
            <a:fillRect/>
          </a:stretch>
        </p:blipFill>
        <p:spPr>
          <a:xfrm>
            <a:off x="1143463" y="1377912"/>
            <a:ext cx="7498095" cy="4800610"/>
          </a:xfrm>
          <a:prstGeom prst="rect">
            <a:avLst/>
          </a:prstGeom>
        </p:spPr>
      </p:pic>
    </p:spTree>
    <p:extLst>
      <p:ext uri="{BB962C8B-B14F-4D97-AF65-F5344CB8AC3E}">
        <p14:creationId xmlns:p14="http://schemas.microsoft.com/office/powerpoint/2010/main" val="54185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119</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Comment on the effect that including both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and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has on the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-test statistics.</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contradictory results of the regression output occur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because both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are related to the response variable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y</a:t>
            </a:r>
            <a:r>
              <a:rPr lang="en-US" sz="2600" dirty="0">
                <a:latin typeface="Times New Roman" panose="02020603050405020304" pitchFamily="18" charset="0"/>
                <a:cs typeface="Times New Roman" panose="02020603050405020304" pitchFamily="18" charset="0"/>
              </a:rPr>
              <a:t>, as indicated by the correlation matrix. However,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are also related to each other. So, with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in the model,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adds little explanation. Likewise, with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in the model,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adds little explanation. The solution is to use only one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explanatory variable. Which explanatory variable we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choose is up to us. We can choose either the explanatory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variable with the lower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or the explanatory variable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that has the higher correlation with the response.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Effects of Multicollinearity</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4223421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120</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14.4 </a:t>
            </a:r>
            <a:r>
              <a:rPr lang="en-US" sz="4000" b="1" dirty="0">
                <a:solidFill>
                  <a:srgbClr val="333399"/>
                </a:solidFill>
                <a:latin typeface="+mn-lt"/>
                <a:cs typeface="Times New Roman"/>
                <a:sym typeface="Times New Roman"/>
              </a:rPr>
              <a:t>Interaction and Dummy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Variables</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143586"/>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3200" dirty="0">
                <a:latin typeface="Times New Roman" panose="02020603050405020304" pitchFamily="18" charset="0"/>
                <a:cs typeface="Times New Roman" panose="02020603050405020304" pitchFamily="18" charset="0"/>
              </a:rPr>
              <a:t>Work with multiple regression models with interaction</a:t>
            </a:r>
          </a:p>
          <a:p>
            <a:pPr marL="609600" lvl="0" indent="-609600">
              <a:buClr>
                <a:srgbClr val="A00020"/>
              </a:buClr>
              <a:buSzPts val="3200"/>
              <a:buFont typeface="Times New Roman"/>
              <a:buAutoNum type="arabicPeriod"/>
            </a:pPr>
            <a:r>
              <a:rPr lang="en-US" sz="3200" dirty="0">
                <a:latin typeface="Times New Roman" panose="02020603050405020304" pitchFamily="18" charset="0"/>
                <a:cs typeface="Times New Roman" panose="02020603050405020304" pitchFamily="18" charset="0"/>
              </a:rPr>
              <a:t>Build multiple regression models with indicator variables</a:t>
            </a: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99063" y="1721952"/>
            <a:ext cx="834662" cy="843267"/>
          </a:xfrm>
          <a:prstGeom prst="rect">
            <a:avLst/>
          </a:prstGeom>
        </p:spPr>
      </p:pic>
    </p:spTree>
    <p:extLst>
      <p:ext uri="{BB962C8B-B14F-4D97-AF65-F5344CB8AC3E}">
        <p14:creationId xmlns:p14="http://schemas.microsoft.com/office/powerpoint/2010/main" val="271367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609" name="Google Shape;609;p83"/>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609600" indent="-609600">
              <a:buSzPts val="3200"/>
            </a:pPr>
            <a:r>
              <a:rPr lang="en-US" sz="3200" dirty="0">
                <a:latin typeface="Times New Roman" panose="02020603050405020304" pitchFamily="18" charset="0"/>
                <a:cs typeface="Times New Roman" panose="02020603050405020304" pitchFamily="18" charset="0"/>
              </a:rPr>
              <a:t>Work with Multiple Regression Models with Interaction</a:t>
            </a:r>
          </a:p>
        </p:txBody>
      </p:sp>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121</a:t>
            </a:fld>
            <a:endParaRPr/>
          </a:p>
        </p:txBody>
      </p:sp>
    </p:spTree>
    <p:extLst>
      <p:ext uri="{BB962C8B-B14F-4D97-AF65-F5344CB8AC3E}">
        <p14:creationId xmlns:p14="http://schemas.microsoft.com/office/powerpoint/2010/main" val="369032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10" name="Rectangle 9">
            <a:extLst>
              <a:ext uri="{FF2B5EF4-FFF2-40B4-BE49-F238E27FC236}">
                <a16:creationId xmlns:a16="http://schemas.microsoft.com/office/drawing/2014/main" id="{0671B1E4-E974-430C-89FB-C4E359F0EF07}"/>
              </a:ext>
            </a:extLst>
          </p:cNvPr>
          <p:cNvSpPr/>
          <p:nvPr/>
        </p:nvSpPr>
        <p:spPr>
          <a:xfrm>
            <a:off x="593889" y="814747"/>
            <a:ext cx="7786540" cy="4445410"/>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122</a:t>
            </a:fld>
            <a:endParaRPr/>
          </a:p>
        </p:txBody>
      </p:sp>
      <p:sp>
        <p:nvSpPr>
          <p:cNvPr id="6" name="Rectangle 5">
            <a:extLst>
              <a:ext uri="{FF2B5EF4-FFF2-40B4-BE49-F238E27FC236}">
                <a16:creationId xmlns:a16="http://schemas.microsoft.com/office/drawing/2014/main" id="{C17436BD-E00C-445C-B113-F47C5E3E6CD7}"/>
              </a:ext>
            </a:extLst>
          </p:cNvPr>
          <p:cNvSpPr/>
          <p:nvPr/>
        </p:nvSpPr>
        <p:spPr>
          <a:xfrm>
            <a:off x="834271" y="967010"/>
            <a:ext cx="7404755" cy="3970318"/>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If the mean value of the response variable </a:t>
            </a:r>
            <a:r>
              <a:rPr lang="en-US" sz="2800" i="1" dirty="0">
                <a:latin typeface="Times New Roman" panose="02020603050405020304" pitchFamily="18" charset="0"/>
                <a:cs typeface="Times New Roman" panose="02020603050405020304" pitchFamily="18" charset="0"/>
              </a:rPr>
              <a:t>y </a:t>
            </a:r>
            <a:r>
              <a:rPr lang="en-US" sz="2800" dirty="0">
                <a:latin typeface="Times New Roman" panose="02020603050405020304" pitchFamily="18" charset="0"/>
                <a:cs typeface="Times New Roman" panose="02020603050405020304" pitchFamily="18" charset="0"/>
              </a:rPr>
              <a:t>in a least-squares regression associated with a 1-unit change in an explanatory variable depends on a second explanatory variable, there is </a:t>
            </a:r>
            <a:r>
              <a:rPr lang="en-US" sz="2800" b="1" dirty="0">
                <a:latin typeface="Times New Roman" panose="02020603050405020304" pitchFamily="18" charset="0"/>
                <a:cs typeface="Times New Roman" panose="02020603050405020304" pitchFamily="18" charset="0"/>
              </a:rPr>
              <a:t>interaction </a:t>
            </a:r>
            <a:r>
              <a:rPr lang="en-US" sz="2800" dirty="0">
                <a:latin typeface="Times New Roman" panose="02020603050405020304" pitchFamily="18" charset="0"/>
                <a:cs typeface="Times New Roman" panose="02020603050405020304" pitchFamily="18" charset="0"/>
              </a:rPr>
              <a:t>between the two explanatory variables. When interaction exists between two explanatory variables,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and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we introduce a term with the</a:t>
            </a:r>
          </a:p>
          <a:p>
            <a:r>
              <a:rPr lang="en-US" sz="2800" dirty="0">
                <a:latin typeface="Times New Roman" panose="02020603050405020304" pitchFamily="18" charset="0"/>
                <a:cs typeface="Times New Roman" panose="02020603050405020304" pitchFamily="18" charset="0"/>
              </a:rPr>
              <a:t>variable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in the regression model as an explanatory variable.</a:t>
            </a:r>
          </a:p>
        </p:txBody>
      </p:sp>
    </p:spTree>
    <p:extLst>
      <p:ext uri="{BB962C8B-B14F-4D97-AF65-F5344CB8AC3E}">
        <p14:creationId xmlns:p14="http://schemas.microsoft.com/office/powerpoint/2010/main" val="2306787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123</a:t>
            </a:fld>
            <a:endParaRPr/>
          </a:p>
        </p:txBody>
      </p:sp>
      <p:sp>
        <p:nvSpPr>
          <p:cNvPr id="6" name="Rectangle 5">
            <a:extLst>
              <a:ext uri="{FF2B5EF4-FFF2-40B4-BE49-F238E27FC236}">
                <a16:creationId xmlns:a16="http://schemas.microsoft.com/office/drawing/2014/main" id="{C17436BD-E00C-445C-B113-F47C5E3E6CD7}"/>
              </a:ext>
            </a:extLst>
          </p:cNvPr>
          <p:cNvSpPr/>
          <p:nvPr/>
        </p:nvSpPr>
        <p:spPr>
          <a:xfrm>
            <a:off x="834271" y="967010"/>
            <a:ext cx="7404755" cy="1077218"/>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complete second-order model </a:t>
            </a:r>
            <a:r>
              <a:rPr lang="en-US" sz="3200" dirty="0">
                <a:latin typeface="Times New Roman" panose="02020603050405020304" pitchFamily="18" charset="0"/>
                <a:cs typeface="Times New Roman" panose="02020603050405020304" pitchFamily="18" charset="0"/>
              </a:rPr>
              <a:t>with two explanatory variables </a:t>
            </a:r>
            <a:r>
              <a:rPr lang="en-US" sz="3200" i="1" dirty="0">
                <a:latin typeface="Times New Roman" panose="02020603050405020304" pitchFamily="18" charset="0"/>
                <a:cs typeface="Times New Roman" panose="02020603050405020304" pitchFamily="18" charset="0"/>
              </a:rPr>
              <a:t>x</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and </a:t>
            </a:r>
            <a:r>
              <a:rPr lang="en-US" sz="3200" i="1" dirty="0">
                <a:latin typeface="Times New Roman" panose="02020603050405020304" pitchFamily="18" charset="0"/>
                <a:cs typeface="Times New Roman" panose="02020603050405020304" pitchFamily="18" charset="0"/>
              </a:rPr>
              <a:t>x</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is</a:t>
            </a:r>
          </a:p>
        </p:txBody>
      </p:sp>
      <p:graphicFrame>
        <p:nvGraphicFramePr>
          <p:cNvPr id="2" name="Object 1">
            <a:extLst>
              <a:ext uri="{FF2B5EF4-FFF2-40B4-BE49-F238E27FC236}">
                <a16:creationId xmlns:a16="http://schemas.microsoft.com/office/drawing/2014/main" id="{6CF9DC61-71E7-49EA-9BED-B29F5255B16E}"/>
              </a:ext>
            </a:extLst>
          </p:cNvPr>
          <p:cNvGraphicFramePr>
            <a:graphicFrameLocks noChangeAspect="1"/>
          </p:cNvGraphicFramePr>
          <p:nvPr>
            <p:extLst>
              <p:ext uri="{D42A27DB-BD31-4B8C-83A1-F6EECF244321}">
                <p14:modId xmlns:p14="http://schemas.microsoft.com/office/powerpoint/2010/main" val="777546144"/>
              </p:ext>
            </p:extLst>
          </p:nvPr>
        </p:nvGraphicFramePr>
        <p:xfrm>
          <a:off x="533400" y="2317062"/>
          <a:ext cx="7937500" cy="533400"/>
        </p:xfrm>
        <a:graphic>
          <a:graphicData uri="http://schemas.openxmlformats.org/presentationml/2006/ole">
            <mc:AlternateContent xmlns:mc="http://schemas.openxmlformats.org/markup-compatibility/2006">
              <mc:Choice xmlns:v="urn:schemas-microsoft-com:vml" Requires="v">
                <p:oleObj spid="_x0000_s117844" name="Equation" r:id="rId4" imgW="7937280" imgH="533160" progId="Equation.DSMT4">
                  <p:embed/>
                </p:oleObj>
              </mc:Choice>
              <mc:Fallback>
                <p:oleObj name="Equation" r:id="rId4" imgW="7937280" imgH="533160" progId="Equation.DSMT4">
                  <p:embed/>
                  <p:pic>
                    <p:nvPicPr>
                      <p:cNvPr id="0" name=""/>
                      <p:cNvPicPr/>
                      <p:nvPr/>
                    </p:nvPicPr>
                    <p:blipFill>
                      <a:blip r:embed="rId5"/>
                      <a:stretch>
                        <a:fillRect/>
                      </a:stretch>
                    </p:blipFill>
                    <p:spPr>
                      <a:xfrm>
                        <a:off x="533400" y="2317062"/>
                        <a:ext cx="7937500" cy="533400"/>
                      </a:xfrm>
                      <a:prstGeom prst="rect">
                        <a:avLst/>
                      </a:prstGeom>
                    </p:spPr>
                  </p:pic>
                </p:oleObj>
              </mc:Fallback>
            </mc:AlternateContent>
          </a:graphicData>
        </a:graphic>
      </p:graphicFrame>
    </p:spTree>
    <p:extLst>
      <p:ext uri="{BB962C8B-B14F-4D97-AF65-F5344CB8AC3E}">
        <p14:creationId xmlns:p14="http://schemas.microsoft.com/office/powerpoint/2010/main" val="423255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124</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400" dirty="0">
                <a:latin typeface="Times New Roman" panose="02020603050405020304" pitchFamily="18" charset="0"/>
                <a:cs typeface="Times New Roman" panose="02020603050405020304" pitchFamily="18" charset="0"/>
              </a:rPr>
              <a:t>The wind chill index represents what the air feels like on exposed skin while factoring in wind speed. The wind chill index is determined by considering the wind speed at a height of 5 feet, the typical height of an adult human face. A model for determining wind chill based on the air temperature and wind speed developed by the National Weather Service is</a:t>
            </a:r>
          </a:p>
          <a:p>
            <a:r>
              <a:rPr lang="de-DE" sz="2400" i="1" dirty="0">
                <a:latin typeface="Times New Roman" panose="02020603050405020304" pitchFamily="18" charset="0"/>
                <a:cs typeface="Times New Roman" panose="02020603050405020304" pitchFamily="18" charset="0"/>
              </a:rPr>
              <a:t>	        W </a:t>
            </a:r>
            <a:r>
              <a:rPr lang="de-DE" sz="2400" dirty="0">
                <a:latin typeface="Times New Roman" panose="02020603050405020304" pitchFamily="18" charset="0"/>
                <a:cs typeface="Times New Roman" panose="02020603050405020304" pitchFamily="18" charset="0"/>
              </a:rPr>
              <a:t>= 35.74 + 0.6215</a:t>
            </a:r>
            <a:r>
              <a:rPr lang="de-DE" sz="2400" i="1" dirty="0">
                <a:latin typeface="Times New Roman" panose="02020603050405020304" pitchFamily="18" charset="0"/>
                <a:cs typeface="Times New Roman" panose="02020603050405020304" pitchFamily="18" charset="0"/>
              </a:rPr>
              <a:t>T </a:t>
            </a:r>
            <a:r>
              <a:rPr lang="de-DE" sz="2400" dirty="0">
                <a:latin typeface="Times New Roman" panose="02020603050405020304" pitchFamily="18" charset="0"/>
                <a:cs typeface="Times New Roman" panose="02020603050405020304" pitchFamily="18" charset="0"/>
              </a:rPr>
              <a:t>– 35.75</a:t>
            </a:r>
            <a:r>
              <a:rPr lang="de-DE" sz="2400" i="1" dirty="0">
                <a:latin typeface="Times New Roman" panose="02020603050405020304" pitchFamily="18" charset="0"/>
                <a:cs typeface="Times New Roman" panose="02020603050405020304" pitchFamily="18" charset="0"/>
              </a:rPr>
              <a:t>V </a:t>
            </a:r>
            <a:r>
              <a:rPr lang="de-DE" sz="2400" dirty="0">
                <a:latin typeface="Times New Roman" panose="02020603050405020304" pitchFamily="18" charset="0"/>
                <a:cs typeface="Times New Roman" panose="02020603050405020304" pitchFamily="18" charset="0"/>
              </a:rPr>
              <a:t>+ 0.4275</a:t>
            </a:r>
            <a:r>
              <a:rPr lang="de-DE" sz="2400" i="1" dirty="0">
                <a:latin typeface="Times New Roman" panose="02020603050405020304" pitchFamily="18" charset="0"/>
                <a:cs typeface="Times New Roman" panose="02020603050405020304" pitchFamily="18" charset="0"/>
              </a:rPr>
              <a:t>TV</a:t>
            </a:r>
          </a:p>
          <a:p>
            <a:r>
              <a:rPr lang="en-US" sz="2400" dirty="0">
                <a:latin typeface="Times New Roman" panose="02020603050405020304" pitchFamily="18" charset="0"/>
                <a:cs typeface="Times New Roman" panose="02020603050405020304" pitchFamily="18" charset="0"/>
              </a:rPr>
              <a:t>where </a:t>
            </a:r>
            <a:r>
              <a:rPr lang="en-US" sz="2400" i="1" dirty="0">
                <a:latin typeface="Times New Roman" panose="02020603050405020304" pitchFamily="18" charset="0"/>
                <a:cs typeface="Times New Roman" panose="02020603050405020304" pitchFamily="18" charset="0"/>
              </a:rPr>
              <a:t>W </a:t>
            </a:r>
            <a:r>
              <a:rPr lang="en-US" sz="2400" dirty="0">
                <a:latin typeface="Times New Roman" panose="02020603050405020304" pitchFamily="18" charset="0"/>
                <a:cs typeface="Times New Roman" panose="02020603050405020304" pitchFamily="18" charset="0"/>
              </a:rPr>
              <a:t>is the wind chill (in °F)</a:t>
            </a:r>
          </a:p>
          <a:p>
            <a:r>
              <a:rPr lang="en-US" sz="2400" i="1" dirty="0">
                <a:latin typeface="Times New Roman" panose="02020603050405020304" pitchFamily="18" charset="0"/>
                <a:cs typeface="Times New Roman" panose="02020603050405020304" pitchFamily="18" charset="0"/>
              </a:rPr>
              <a:t>           T </a:t>
            </a:r>
            <a:r>
              <a:rPr lang="en-US" sz="2400" dirty="0">
                <a:latin typeface="Times New Roman" panose="02020603050405020304" pitchFamily="18" charset="0"/>
                <a:cs typeface="Times New Roman" panose="02020603050405020304" pitchFamily="18" charset="0"/>
              </a:rPr>
              <a:t>is the air temperature (in °F)</a:t>
            </a:r>
          </a:p>
          <a:p>
            <a:r>
              <a:rPr lang="en-US" sz="2400" i="1" dirty="0">
                <a:latin typeface="Times New Roman" panose="02020603050405020304" pitchFamily="18" charset="0"/>
                <a:cs typeface="Times New Roman" panose="02020603050405020304" pitchFamily="18" charset="0"/>
              </a:rPr>
              <a:t>           V </a:t>
            </a:r>
            <a:r>
              <a:rPr lang="en-US" sz="2400" dirty="0">
                <a:latin typeface="Times New Roman" panose="02020603050405020304" pitchFamily="18" charset="0"/>
                <a:cs typeface="Times New Roman" panose="02020603050405020304" pitchFamily="18" charset="0"/>
              </a:rPr>
              <a:t>is the velocity of the wind (in miles per hour) raised to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the 0.16 power (so </a:t>
            </a:r>
            <a:r>
              <a:rPr lang="en-US" sz="2400" i="1" dirty="0">
                <a:latin typeface="Times New Roman" panose="02020603050405020304" pitchFamily="18" charset="0"/>
                <a:cs typeface="Times New Roman" panose="02020603050405020304" pitchFamily="18" charset="0"/>
              </a:rPr>
              <a:t>V </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v</a:t>
            </a:r>
            <a:r>
              <a:rPr lang="en-US" sz="2400" baseline="30000" dirty="0">
                <a:latin typeface="Times New Roman" panose="02020603050405020304" pitchFamily="18" charset="0"/>
                <a:cs typeface="Times New Roman" panose="02020603050405020304" pitchFamily="18" charset="0"/>
              </a:rPr>
              <a:t>0.16</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The variable velocity is transformed by raising the actual wind speed to the 0.16 power to account for the nonlinear relation between wind chill and wind speed.</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4000875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5" end="5"/>
                                            </p:txEl>
                                          </p:spTgt>
                                        </p:tgtEl>
                                        <p:attrNameLst>
                                          <p:attrName>style.visibility</p:attrName>
                                        </p:attrNameLst>
                                      </p:cBhvr>
                                      <p:to>
                                        <p:strVal val="visible"/>
                                      </p:to>
                                    </p:set>
                                    <p:animEffect transition="in" filter="fade">
                                      <p:cBhvr>
                                        <p:cTn id="7"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125</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The data in Table 6, on the following slide, show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wind chill temperature for various wind speeds and</a:t>
            </a:r>
          </a:p>
          <a:p>
            <a:r>
              <a:rPr lang="en-US" sz="2800" dirty="0">
                <a:latin typeface="Times New Roman" panose="02020603050405020304" pitchFamily="18" charset="0"/>
                <a:cs typeface="Times New Roman" panose="02020603050405020304" pitchFamily="18" charset="0"/>
              </a:rPr>
              <a:t>      temperatures. Use the data to draw a scatter diagram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wind chill temperature versus air temperature, treating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wind chill temperature as the response variable and</a:t>
            </a:r>
          </a:p>
          <a:p>
            <a:r>
              <a:rPr lang="en-US" sz="2800" dirty="0">
                <a:latin typeface="Times New Roman" panose="02020603050405020304" pitchFamily="18" charset="0"/>
                <a:cs typeface="Times New Roman" panose="02020603050405020304" pitchFamily="18" charset="0"/>
              </a:rPr>
              <a:t>      using a different plotting symbol for each wind speed.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Then draw a scatter diagram of wind chill temperature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versus wind speed, treating wind chill temperature as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the response variable and using a different plotting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symbol for each air temperature.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54074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70CC97C9-3126-485C-8BD3-AF2FDCD7EEF3}"/>
              </a:ext>
            </a:extLst>
          </p:cNvPr>
          <p:cNvPicPr>
            <a:picLocks noChangeAspect="1"/>
          </p:cNvPicPr>
          <p:nvPr/>
        </p:nvPicPr>
        <p:blipFill>
          <a:blip r:embed="rId3"/>
          <a:stretch>
            <a:fillRect/>
          </a:stretch>
        </p:blipFill>
        <p:spPr>
          <a:xfrm>
            <a:off x="876694" y="1405791"/>
            <a:ext cx="8123468" cy="4822475"/>
          </a:xfrm>
          <a:prstGeom prst="rect">
            <a:avLst/>
          </a:prstGeom>
        </p:spPr>
      </p:pic>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126</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(a)</a:t>
            </a:r>
            <a:endParaRPr lang="en-US" sz="28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46305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127</a:t>
            </a:fld>
            <a:endParaRPr dirty="0"/>
          </a:p>
        </p:txBody>
      </p:sp>
      <p:pic>
        <p:nvPicPr>
          <p:cNvPr id="3" name="Picture 2" descr="A screenshot of a social media post&#10;&#10;Description automatically generated">
            <a:extLst>
              <a:ext uri="{FF2B5EF4-FFF2-40B4-BE49-F238E27FC236}">
                <a16:creationId xmlns:a16="http://schemas.microsoft.com/office/drawing/2014/main" id="{54C7B339-74A6-426B-9A96-91E9FE6CC13F}"/>
              </a:ext>
            </a:extLst>
          </p:cNvPr>
          <p:cNvPicPr>
            <a:picLocks noChangeAspect="1"/>
          </p:cNvPicPr>
          <p:nvPr/>
        </p:nvPicPr>
        <p:blipFill>
          <a:blip r:embed="rId3"/>
          <a:stretch>
            <a:fillRect/>
          </a:stretch>
        </p:blipFill>
        <p:spPr>
          <a:xfrm>
            <a:off x="1701525" y="2440020"/>
            <a:ext cx="5740949" cy="3895644"/>
          </a:xfrm>
          <a:prstGeom prst="rect">
            <a:avLst/>
          </a:prstGeom>
        </p:spPr>
      </p:pic>
      <p:sp>
        <p:nvSpPr>
          <p:cNvPr id="315" name="Google Shape;315;p49"/>
          <p:cNvSpPr txBox="1"/>
          <p:nvPr/>
        </p:nvSpPr>
        <p:spPr>
          <a:xfrm>
            <a:off x="419493" y="1234912"/>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figure shows the scatter diagram drawn in Minitab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wind chill temperature versus air temperature using a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different plotting symbol for each wind speed.</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518351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128</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Notice that the points for each wind speed are not parallel.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differences in wind chill temperature at very low air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temperature are more significant for different wind speeds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than the differences in wind chill temperature at higher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temperatures for different wind speeds. This implies an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interaction effect between air temperature and wind speed.</a:t>
            </a:r>
          </a:p>
          <a:p>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figure on the next slide shows the scatter diagram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wind chill temperature versus wind velocity using a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different plotting symbol for each air temperature. Not only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are the points for each air temperature not parallel, but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data do not follow a linear pattern.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160330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129</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pPr marL="514350" indent="-514350">
              <a:buAutoNum type="alphaLcParenBoth"/>
            </a:pPr>
            <a:br>
              <a:rPr lang="en-US" sz="2600" b="1" dirty="0">
                <a:latin typeface="Times New Roman" panose="02020603050405020304" pitchFamily="18" charset="0"/>
                <a:cs typeface="Times New Roman" panose="02020603050405020304" pitchFamily="18" charset="0"/>
              </a:rPr>
            </a:br>
            <a:endParaRPr lang="en-US" sz="2600" b="1" dirty="0">
              <a:latin typeface="Times New Roman" panose="02020603050405020304" pitchFamily="18" charset="0"/>
              <a:cs typeface="Times New Roman" panose="02020603050405020304" pitchFamily="18" charset="0"/>
            </a:endParaRPr>
          </a:p>
          <a:p>
            <a:pPr marL="514350" indent="-514350">
              <a:buAutoNum type="alphaLcParenBoth"/>
            </a:pPr>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For example, at an air temperature of –45°F (the </a:t>
            </a:r>
            <a:r>
              <a:rPr lang="en-US" sz="20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symbol),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it is clear that the data do not follow a linear pattern.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pic>
        <p:nvPicPr>
          <p:cNvPr id="3" name="Picture 2" descr="A screenshot of a video game&#10;&#10;Description automatically generated">
            <a:extLst>
              <a:ext uri="{FF2B5EF4-FFF2-40B4-BE49-F238E27FC236}">
                <a16:creationId xmlns:a16="http://schemas.microsoft.com/office/drawing/2014/main" id="{AC22A1AA-96BF-4E96-A2BC-B342AC937D6D}"/>
              </a:ext>
            </a:extLst>
          </p:cNvPr>
          <p:cNvPicPr>
            <a:picLocks noChangeAspect="1"/>
          </p:cNvPicPr>
          <p:nvPr/>
        </p:nvPicPr>
        <p:blipFill>
          <a:blip r:embed="rId3"/>
          <a:stretch>
            <a:fillRect/>
          </a:stretch>
        </p:blipFill>
        <p:spPr>
          <a:xfrm>
            <a:off x="1778431" y="1225485"/>
            <a:ext cx="6039624" cy="4082804"/>
          </a:xfrm>
          <a:prstGeom prst="rect">
            <a:avLst/>
          </a:prstGeom>
        </p:spPr>
      </p:pic>
    </p:spTree>
    <p:extLst>
      <p:ext uri="{BB962C8B-B14F-4D97-AF65-F5344CB8AC3E}">
        <p14:creationId xmlns:p14="http://schemas.microsoft.com/office/powerpoint/2010/main" val="98598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9" end="9"/>
                                            </p:txEl>
                                          </p:spTgt>
                                        </p:tgtEl>
                                        <p:attrNameLst>
                                          <p:attrName>style.visibility</p:attrName>
                                        </p:attrNameLst>
                                      </p:cBhvr>
                                      <p:to>
                                        <p:strVal val="visible"/>
                                      </p:to>
                                    </p:set>
                                    <p:animEffect transition="in" filter="fade">
                                      <p:cBhvr>
                                        <p:cTn id="7" dur="500"/>
                                        <p:tgtEl>
                                          <p:spTgt spid="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130</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pPr marL="514350" indent="-514350">
              <a:buAutoNum type="alphaLcParenBoth"/>
            </a:pP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This is the reason</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that we needed to transform the variable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wind speed by raising the variable to the 0.16 power.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Popular transformations include the square root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transformation and the logarithmic transformation in order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to linearize data.</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(7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359711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131</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Use the model to predict the wind chill temperature if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the air temperature is 3°F and the wind speed is 13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miles per hour (mph).</a:t>
            </a:r>
          </a:p>
          <a:p>
            <a:endParaRPr lang="en-US" sz="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Let </a:t>
            </a:r>
            <a:r>
              <a:rPr lang="en-US" sz="2600" i="1" dirty="0">
                <a:latin typeface="Times New Roman" panose="02020603050405020304" pitchFamily="18" charset="0"/>
                <a:cs typeface="Times New Roman" panose="02020603050405020304" pitchFamily="18" charset="0"/>
              </a:rPr>
              <a:t>T </a:t>
            </a:r>
            <a:r>
              <a:rPr lang="en-US" sz="2600" dirty="0">
                <a:latin typeface="Times New Roman" panose="02020603050405020304" pitchFamily="18" charset="0"/>
                <a:cs typeface="Times New Roman" panose="02020603050405020304" pitchFamily="18" charset="0"/>
              </a:rPr>
              <a:t>= 3°F and </a:t>
            </a:r>
            <a:r>
              <a:rPr lang="en-US" sz="2600" i="1" dirty="0">
                <a:latin typeface="Times New Roman" panose="02020603050405020304" pitchFamily="18" charset="0"/>
                <a:cs typeface="Times New Roman" panose="02020603050405020304" pitchFamily="18" charset="0"/>
              </a:rPr>
              <a:t>V </a:t>
            </a:r>
            <a:r>
              <a:rPr lang="en-US" sz="2600" dirty="0">
                <a:latin typeface="Times New Roman" panose="02020603050405020304" pitchFamily="18" charset="0"/>
                <a:cs typeface="Times New Roman" panose="02020603050405020304" pitchFamily="18" charset="0"/>
              </a:rPr>
              <a:t>= 13</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v </a:t>
            </a:r>
            <a:r>
              <a:rPr lang="en-US" sz="2600" dirty="0">
                <a:latin typeface="Times New Roman" panose="02020603050405020304" pitchFamily="18" charset="0"/>
                <a:cs typeface="Times New Roman" panose="02020603050405020304" pitchFamily="18" charset="0"/>
              </a:rPr>
              <a:t>= 13 mph) in the model to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predict the wind chill temperature at 3°F with a wind speed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of 13 mph.</a:t>
            </a:r>
          </a:p>
          <a:p>
            <a:r>
              <a:rPr lang="de-DE" sz="2600" i="1" dirty="0">
                <a:latin typeface="Times New Roman" panose="02020603050405020304" pitchFamily="18" charset="0"/>
                <a:cs typeface="Times New Roman" panose="02020603050405020304" pitchFamily="18" charset="0"/>
              </a:rPr>
              <a:t>          W </a:t>
            </a:r>
            <a:r>
              <a:rPr lang="de-DE" sz="2600" dirty="0">
                <a:latin typeface="Times New Roman" panose="02020603050405020304" pitchFamily="18" charset="0"/>
                <a:cs typeface="Times New Roman" panose="02020603050405020304" pitchFamily="18" charset="0"/>
              </a:rPr>
              <a:t>= 35.74 + 0.6215</a:t>
            </a:r>
            <a:r>
              <a:rPr lang="de-DE" sz="2600" i="1" dirty="0">
                <a:latin typeface="Times New Roman" panose="02020603050405020304" pitchFamily="18" charset="0"/>
                <a:cs typeface="Times New Roman" panose="02020603050405020304" pitchFamily="18" charset="0"/>
              </a:rPr>
              <a:t>T </a:t>
            </a:r>
            <a:r>
              <a:rPr lang="de-DE" sz="2600" dirty="0">
                <a:latin typeface="Times New Roman" panose="02020603050405020304" pitchFamily="18" charset="0"/>
                <a:cs typeface="Times New Roman" panose="02020603050405020304" pitchFamily="18" charset="0"/>
              </a:rPr>
              <a:t>– 35.75</a:t>
            </a:r>
            <a:r>
              <a:rPr lang="de-DE" sz="2600" i="1" dirty="0">
                <a:latin typeface="Times New Roman" panose="02020603050405020304" pitchFamily="18" charset="0"/>
                <a:cs typeface="Times New Roman" panose="02020603050405020304" pitchFamily="18" charset="0"/>
              </a:rPr>
              <a:t>V </a:t>
            </a:r>
            <a:r>
              <a:rPr lang="de-DE" sz="2600" dirty="0">
                <a:latin typeface="Times New Roman" panose="02020603050405020304" pitchFamily="18" charset="0"/>
                <a:cs typeface="Times New Roman" panose="02020603050405020304" pitchFamily="18" charset="0"/>
              </a:rPr>
              <a:t>+ 0.4275</a:t>
            </a:r>
            <a:r>
              <a:rPr lang="de-DE" sz="2600" i="1" dirty="0">
                <a:latin typeface="Times New Roman" panose="02020603050405020304" pitchFamily="18" charset="0"/>
                <a:cs typeface="Times New Roman" panose="02020603050405020304" pitchFamily="18" charset="0"/>
              </a:rPr>
              <a:t>TV</a:t>
            </a:r>
          </a:p>
          <a:p>
            <a:r>
              <a:rPr lang="en-US" sz="2600" dirty="0">
                <a:latin typeface="Times New Roman" panose="02020603050405020304" pitchFamily="18" charset="0"/>
                <a:cs typeface="Times New Roman" panose="02020603050405020304" pitchFamily="18" charset="0"/>
              </a:rPr>
              <a:t>              = 35.74 + 0.6215(3) </a:t>
            </a:r>
            <a:r>
              <a:rPr lang="de-DE"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35.75(13</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 + 0.4275(3)(13</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              = </a:t>
            </a:r>
            <a:r>
              <a:rPr lang="de-DE"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14</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Rounded to the nearest degree, the wind chill temperature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an air temperature of 3°F with a wind speed of 13 mph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de-DE"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14°F.</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(8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156314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3" end="3"/>
                                            </p:txEl>
                                          </p:spTgt>
                                        </p:tgtEl>
                                        <p:attrNameLst>
                                          <p:attrName>style.visibility</p:attrName>
                                        </p:attrNameLst>
                                      </p:cBhvr>
                                      <p:to>
                                        <p:strVal val="visible"/>
                                      </p:to>
                                    </p:set>
                                    <p:animEffect transition="in" filter="fade">
                                      <p:cBhvr>
                                        <p:cTn id="12" dur="500"/>
                                        <p:tgtEl>
                                          <p:spTgt spid="315">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15">
                                            <p:txEl>
                                              <p:pRg st="4" end="4"/>
                                            </p:txEl>
                                          </p:spTgt>
                                        </p:tgtEl>
                                        <p:attrNameLst>
                                          <p:attrName>style.visibility</p:attrName>
                                        </p:attrNameLst>
                                      </p:cBhvr>
                                      <p:to>
                                        <p:strVal val="visible"/>
                                      </p:to>
                                    </p:set>
                                    <p:animEffect transition="in" filter="fade">
                                      <p:cBhvr>
                                        <p:cTn id="15" dur="500"/>
                                        <p:tgtEl>
                                          <p:spTgt spid="31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15">
                                            <p:txEl>
                                              <p:pRg st="5" end="5"/>
                                            </p:txEl>
                                          </p:spTgt>
                                        </p:tgtEl>
                                        <p:attrNameLst>
                                          <p:attrName>style.visibility</p:attrName>
                                        </p:attrNameLst>
                                      </p:cBhvr>
                                      <p:to>
                                        <p:strVal val="visible"/>
                                      </p:to>
                                    </p:set>
                                    <p:animEffect transition="in" filter="fade">
                                      <p:cBhvr>
                                        <p:cTn id="18" dur="500"/>
                                        <p:tgtEl>
                                          <p:spTgt spid="31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5">
                                            <p:txEl>
                                              <p:pRg st="7" end="7"/>
                                            </p:txEl>
                                          </p:spTgt>
                                        </p:tgtEl>
                                        <p:attrNameLst>
                                          <p:attrName>style.visibility</p:attrName>
                                        </p:attrNameLst>
                                      </p:cBhvr>
                                      <p:to>
                                        <p:strVal val="visible"/>
                                      </p:to>
                                    </p:set>
                                    <p:animEffect transition="in" filter="fade">
                                      <p:cBhvr>
                                        <p:cTn id="23" dur="500"/>
                                        <p:tgtEl>
                                          <p:spTgt spid="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132</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Interpret the model for a wind speed of 20 mph.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Interpret the model for a wind speed of 30 mph.</a:t>
            </a:r>
          </a:p>
          <a:p>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At a wind velocity of 20 mph, the expected wind chill is</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de-DE" sz="2600" i="1" dirty="0">
                <a:latin typeface="Times New Roman" panose="02020603050405020304" pitchFamily="18" charset="0"/>
                <a:cs typeface="Times New Roman" panose="02020603050405020304" pitchFamily="18" charset="0"/>
              </a:rPr>
              <a:t>W </a:t>
            </a:r>
            <a:r>
              <a:rPr lang="de-DE" sz="2600" dirty="0">
                <a:latin typeface="Times New Roman" panose="02020603050405020304" pitchFamily="18" charset="0"/>
                <a:cs typeface="Times New Roman" panose="02020603050405020304" pitchFamily="18" charset="0"/>
              </a:rPr>
              <a:t>= 35.74 + 0.6215</a:t>
            </a:r>
            <a:r>
              <a:rPr lang="de-DE" sz="2600" i="1" dirty="0">
                <a:latin typeface="Times New Roman" panose="02020603050405020304" pitchFamily="18" charset="0"/>
                <a:cs typeface="Times New Roman" panose="02020603050405020304" pitchFamily="18" charset="0"/>
              </a:rPr>
              <a:t>T </a:t>
            </a:r>
            <a:r>
              <a:rPr lang="de-DE" sz="2600" dirty="0">
                <a:latin typeface="Times New Roman" panose="02020603050405020304" pitchFamily="18" charset="0"/>
                <a:cs typeface="Times New Roman" panose="02020603050405020304" pitchFamily="18" charset="0"/>
              </a:rPr>
              <a:t>– 35.75</a:t>
            </a:r>
            <a:r>
              <a:rPr lang="de-DE" sz="2600" i="1" dirty="0">
                <a:latin typeface="Times New Roman" panose="02020603050405020304" pitchFamily="18" charset="0"/>
                <a:cs typeface="Times New Roman" panose="02020603050405020304" pitchFamily="18" charset="0"/>
              </a:rPr>
              <a:t>V </a:t>
            </a:r>
            <a:r>
              <a:rPr lang="de-DE" sz="2600" dirty="0">
                <a:latin typeface="Times New Roman" panose="02020603050405020304" pitchFamily="18" charset="0"/>
                <a:cs typeface="Times New Roman" panose="02020603050405020304" pitchFamily="18" charset="0"/>
              </a:rPr>
              <a:t>+ 0.4275</a:t>
            </a:r>
            <a:r>
              <a:rPr lang="de-DE" sz="2600" i="1" dirty="0">
                <a:latin typeface="Times New Roman" panose="02020603050405020304" pitchFamily="18" charset="0"/>
                <a:cs typeface="Times New Roman" panose="02020603050405020304" pitchFamily="18" charset="0"/>
              </a:rPr>
              <a:t>TV</a:t>
            </a:r>
          </a:p>
          <a:p>
            <a:r>
              <a:rPr lang="en-US" sz="2600" dirty="0">
                <a:latin typeface="Times New Roman" panose="02020603050405020304" pitchFamily="18" charset="0"/>
                <a:cs typeface="Times New Roman" panose="02020603050405020304" pitchFamily="18" charset="0"/>
              </a:rPr>
              <a:t>              = 35.74 + 0.6215</a:t>
            </a:r>
            <a:r>
              <a:rPr lang="de-DE" sz="2600" i="1" dirty="0">
                <a:latin typeface="Times New Roman" panose="02020603050405020304" pitchFamily="18" charset="0"/>
                <a:cs typeface="Times New Roman" panose="02020603050405020304" pitchFamily="18" charset="0"/>
              </a:rPr>
              <a:t>T </a:t>
            </a:r>
            <a:r>
              <a:rPr lang="de-DE"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35.75(20</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 + 0.4275</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(20</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              = 35.74 + 0.6215</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 – 57.7352 + 0.6904</a:t>
            </a:r>
            <a:r>
              <a:rPr lang="en-US" sz="2600" i="1" dirty="0">
                <a:latin typeface="Times New Roman" panose="02020603050405020304" pitchFamily="18" charset="0"/>
                <a:cs typeface="Times New Roman" panose="02020603050405020304" pitchFamily="18" charset="0"/>
              </a:rPr>
              <a:t>T</a:t>
            </a:r>
          </a:p>
          <a:p>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 21.9952 + 1.3119</a:t>
            </a:r>
            <a:r>
              <a:rPr lang="en-US" sz="2600" i="1" dirty="0">
                <a:latin typeface="Times New Roman" panose="02020603050405020304" pitchFamily="18" charset="0"/>
                <a:cs typeface="Times New Roman" panose="02020603050405020304" pitchFamily="18" charset="0"/>
              </a:rPr>
              <a:t>T</a:t>
            </a:r>
          </a:p>
          <a:p>
            <a:endParaRPr lang="en-US" sz="2600" i="1"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 wind velocity of 20 mph, as the temperature increases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by 1°F, the wind chill temperature increases about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1.3119°F, on average.</a:t>
            </a:r>
            <a:endParaRPr lang="en-US" sz="2600" i="1"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(9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346711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2" end="2"/>
                                            </p:txEl>
                                          </p:spTgt>
                                        </p:tgtEl>
                                        <p:attrNameLst>
                                          <p:attrName>style.visibility</p:attrName>
                                        </p:attrNameLst>
                                      </p:cBhvr>
                                      <p:to>
                                        <p:strVal val="visible"/>
                                      </p:to>
                                    </p:set>
                                    <p:animEffect transition="in" filter="fade">
                                      <p:cBhvr>
                                        <p:cTn id="10" dur="500"/>
                                        <p:tgtEl>
                                          <p:spTgt spid="31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15">
                                            <p:txEl>
                                              <p:pRg st="3" end="3"/>
                                            </p:txEl>
                                          </p:spTgt>
                                        </p:tgtEl>
                                        <p:attrNameLst>
                                          <p:attrName>style.visibility</p:attrName>
                                        </p:attrNameLst>
                                      </p:cBhvr>
                                      <p:to>
                                        <p:strVal val="visible"/>
                                      </p:to>
                                    </p:set>
                                    <p:animEffect transition="in" filter="fade">
                                      <p:cBhvr>
                                        <p:cTn id="13" dur="500"/>
                                        <p:tgtEl>
                                          <p:spTgt spid="31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15">
                                            <p:txEl>
                                              <p:pRg st="4" end="4"/>
                                            </p:txEl>
                                          </p:spTgt>
                                        </p:tgtEl>
                                        <p:attrNameLst>
                                          <p:attrName>style.visibility</p:attrName>
                                        </p:attrNameLst>
                                      </p:cBhvr>
                                      <p:to>
                                        <p:strVal val="visible"/>
                                      </p:to>
                                    </p:set>
                                    <p:animEffect transition="in" filter="fade">
                                      <p:cBhvr>
                                        <p:cTn id="16" dur="500"/>
                                        <p:tgtEl>
                                          <p:spTgt spid="31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15">
                                            <p:txEl>
                                              <p:pRg st="6" end="6"/>
                                            </p:txEl>
                                          </p:spTgt>
                                        </p:tgtEl>
                                        <p:attrNameLst>
                                          <p:attrName>style.visibility</p:attrName>
                                        </p:attrNameLst>
                                      </p:cBhvr>
                                      <p:to>
                                        <p:strVal val="visible"/>
                                      </p:to>
                                    </p:set>
                                    <p:animEffect transition="in" filter="fade">
                                      <p:cBhvr>
                                        <p:cTn id="21" dur="500"/>
                                        <p:tgtEl>
                                          <p:spTgt spid="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133</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At a wind velocity of 30 mph, the expected wind chill is</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de-DE" sz="2600" i="1" dirty="0">
                <a:latin typeface="Times New Roman" panose="02020603050405020304" pitchFamily="18" charset="0"/>
                <a:cs typeface="Times New Roman" panose="02020603050405020304" pitchFamily="18" charset="0"/>
              </a:rPr>
              <a:t>W </a:t>
            </a:r>
            <a:r>
              <a:rPr lang="de-DE" sz="2600" dirty="0">
                <a:latin typeface="Times New Roman" panose="02020603050405020304" pitchFamily="18" charset="0"/>
                <a:cs typeface="Times New Roman" panose="02020603050405020304" pitchFamily="18" charset="0"/>
              </a:rPr>
              <a:t>= 35.74 + 0.6215</a:t>
            </a:r>
            <a:r>
              <a:rPr lang="de-DE" sz="2600" i="1" dirty="0">
                <a:latin typeface="Times New Roman" panose="02020603050405020304" pitchFamily="18" charset="0"/>
                <a:cs typeface="Times New Roman" panose="02020603050405020304" pitchFamily="18" charset="0"/>
              </a:rPr>
              <a:t>T </a:t>
            </a:r>
            <a:r>
              <a:rPr lang="de-DE" sz="2600" dirty="0">
                <a:latin typeface="Times New Roman" panose="02020603050405020304" pitchFamily="18" charset="0"/>
                <a:cs typeface="Times New Roman" panose="02020603050405020304" pitchFamily="18" charset="0"/>
              </a:rPr>
              <a:t>– 35.75</a:t>
            </a:r>
            <a:r>
              <a:rPr lang="de-DE" sz="2600" i="1" dirty="0">
                <a:latin typeface="Times New Roman" panose="02020603050405020304" pitchFamily="18" charset="0"/>
                <a:cs typeface="Times New Roman" panose="02020603050405020304" pitchFamily="18" charset="0"/>
              </a:rPr>
              <a:t>V </a:t>
            </a:r>
            <a:r>
              <a:rPr lang="de-DE" sz="2600" dirty="0">
                <a:latin typeface="Times New Roman" panose="02020603050405020304" pitchFamily="18" charset="0"/>
                <a:cs typeface="Times New Roman" panose="02020603050405020304" pitchFamily="18" charset="0"/>
              </a:rPr>
              <a:t>+ 0.4275</a:t>
            </a:r>
            <a:r>
              <a:rPr lang="de-DE" sz="2600" i="1" dirty="0">
                <a:latin typeface="Times New Roman" panose="02020603050405020304" pitchFamily="18" charset="0"/>
                <a:cs typeface="Times New Roman" panose="02020603050405020304" pitchFamily="18" charset="0"/>
              </a:rPr>
              <a:t>TV</a:t>
            </a:r>
          </a:p>
          <a:p>
            <a:r>
              <a:rPr lang="en-US" sz="2600" dirty="0">
                <a:latin typeface="Times New Roman" panose="02020603050405020304" pitchFamily="18" charset="0"/>
                <a:cs typeface="Times New Roman" panose="02020603050405020304" pitchFamily="18" charset="0"/>
              </a:rPr>
              <a:t>              = 35.74 + 0.6215</a:t>
            </a:r>
            <a:r>
              <a:rPr lang="de-DE" sz="2600" i="1" dirty="0">
                <a:latin typeface="Times New Roman" panose="02020603050405020304" pitchFamily="18" charset="0"/>
                <a:cs typeface="Times New Roman" panose="02020603050405020304" pitchFamily="18" charset="0"/>
              </a:rPr>
              <a:t>T </a:t>
            </a:r>
            <a:r>
              <a:rPr lang="de-DE"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35.75(30</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 + 0.4275</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(30</a:t>
            </a:r>
            <a:r>
              <a:rPr lang="en-US" sz="2600" baseline="30000" dirty="0">
                <a:latin typeface="Times New Roman" panose="02020603050405020304" pitchFamily="18" charset="0"/>
                <a:cs typeface="Times New Roman" panose="02020603050405020304" pitchFamily="18" charset="0"/>
              </a:rPr>
              <a:t>0.16</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              = 35.74 + 0.6215</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 – 61.6049 + 0.7367</a:t>
            </a:r>
            <a:r>
              <a:rPr lang="en-US" sz="2600" i="1" dirty="0">
                <a:latin typeface="Times New Roman" panose="02020603050405020304" pitchFamily="18" charset="0"/>
                <a:cs typeface="Times New Roman" panose="02020603050405020304" pitchFamily="18" charset="0"/>
              </a:rPr>
              <a:t>T</a:t>
            </a:r>
          </a:p>
          <a:p>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 25.8649 + 1.3582</a:t>
            </a:r>
            <a:r>
              <a:rPr lang="en-US" sz="2600" i="1" dirty="0">
                <a:latin typeface="Times New Roman" panose="02020603050405020304" pitchFamily="18" charset="0"/>
                <a:cs typeface="Times New Roman" panose="02020603050405020304" pitchFamily="18" charset="0"/>
              </a:rPr>
              <a:t>T</a:t>
            </a:r>
          </a:p>
          <a:p>
            <a:endParaRPr lang="en-US" sz="800" i="1"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 wind velocity of 30 mph, as the temperature increases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by 1°F, the wind chill temperature increases about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1.3582°F, on average.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(10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1406548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5" end="5"/>
                                            </p:txEl>
                                          </p:spTgt>
                                        </p:tgtEl>
                                        <p:attrNameLst>
                                          <p:attrName>style.visibility</p:attrName>
                                        </p:attrNameLst>
                                      </p:cBhvr>
                                      <p:to>
                                        <p:strVal val="visible"/>
                                      </p:to>
                                    </p:set>
                                    <p:animEffect transition="in" filter="fade">
                                      <p:cBhvr>
                                        <p:cTn id="7"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134</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We can see that a higher wind speed results in a higher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impact on the wind chill temperature. Think about it this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way: if the air temperature decreases from 20°F to 19°F,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we would expect the wind chill temperature to decrease by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1.3119°F when the wind speed is 20 miles per hour, while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we would expect the wind chill temperature to decrease by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1.3582°F when the wind speed is 30 miles per hour.</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(11 of </a:t>
            </a:r>
            <a:r>
              <a:rPr lang="en-US" sz="2400" dirty="0">
                <a:solidFill>
                  <a:schemeClr val="dk1"/>
                </a:solidFill>
              </a:rPr>
              <a:t>11</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Interaction</a:t>
            </a:r>
            <a:endParaRPr sz="2400" i="1" dirty="0"/>
          </a:p>
        </p:txBody>
      </p:sp>
    </p:spTree>
    <p:extLst>
      <p:ext uri="{BB962C8B-B14F-4D97-AF65-F5344CB8AC3E}">
        <p14:creationId xmlns:p14="http://schemas.microsoft.com/office/powerpoint/2010/main" val="405986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dirty="0">
                <a:solidFill>
                  <a:schemeClr val="accent2"/>
                </a:solidFill>
                <a:latin typeface="Arial"/>
                <a:ea typeface="Arial"/>
                <a:cs typeface="Arial"/>
                <a:sym typeface="Arial"/>
              </a:rPr>
              <a:t>Objective 2</a:t>
            </a:r>
            <a:endParaRPr dirty="0"/>
          </a:p>
        </p:txBody>
      </p:sp>
      <p:sp>
        <p:nvSpPr>
          <p:cNvPr id="609" name="Google Shape;609;p83"/>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609600" indent="-609600">
              <a:buSzPts val="3200"/>
            </a:pPr>
            <a:r>
              <a:rPr lang="en-US" sz="3200" dirty="0">
                <a:latin typeface="Times New Roman" panose="02020603050405020304" pitchFamily="18" charset="0"/>
                <a:cs typeface="Times New Roman" panose="02020603050405020304" pitchFamily="18" charset="0"/>
              </a:rPr>
              <a:t>Build Multiple Regression Models with Indicator Variables</a:t>
            </a:r>
          </a:p>
        </p:txBody>
      </p:sp>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135</a:t>
            </a:fld>
            <a:endParaRPr/>
          </a:p>
        </p:txBody>
      </p:sp>
    </p:spTree>
    <p:extLst>
      <p:ext uri="{BB962C8B-B14F-4D97-AF65-F5344CB8AC3E}">
        <p14:creationId xmlns:p14="http://schemas.microsoft.com/office/powerpoint/2010/main" val="3591258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10" name="Rectangle 9">
            <a:extLst>
              <a:ext uri="{FF2B5EF4-FFF2-40B4-BE49-F238E27FC236}">
                <a16:creationId xmlns:a16="http://schemas.microsoft.com/office/drawing/2014/main" id="{F568C9E4-CC8E-416B-BB65-ECF5358530C1}"/>
              </a:ext>
            </a:extLst>
          </p:cNvPr>
          <p:cNvSpPr/>
          <p:nvPr/>
        </p:nvSpPr>
        <p:spPr>
          <a:xfrm>
            <a:off x="810705" y="1819373"/>
            <a:ext cx="7343481" cy="2564091"/>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136</a:t>
            </a:fld>
            <a:endParaRPr/>
          </a:p>
        </p:txBody>
      </p:sp>
      <p:sp>
        <p:nvSpPr>
          <p:cNvPr id="6" name="Rectangle 5">
            <a:extLst>
              <a:ext uri="{FF2B5EF4-FFF2-40B4-BE49-F238E27FC236}">
                <a16:creationId xmlns:a16="http://schemas.microsoft.com/office/drawing/2014/main" id="{09618EA7-631C-4EED-93D2-B8BBCDEAD0CD}"/>
              </a:ext>
            </a:extLst>
          </p:cNvPr>
          <p:cNvSpPr/>
          <p:nvPr/>
        </p:nvSpPr>
        <p:spPr>
          <a:xfrm>
            <a:off x="1107648" y="2022719"/>
            <a:ext cx="6622331" cy="2062103"/>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An </a:t>
            </a:r>
            <a:r>
              <a:rPr lang="en-US" sz="3200" b="1" dirty="0">
                <a:latin typeface="Times New Roman" panose="02020603050405020304" pitchFamily="18" charset="0"/>
                <a:cs typeface="Times New Roman" panose="02020603050405020304" pitchFamily="18" charset="0"/>
              </a:rPr>
              <a:t>indicator </a:t>
            </a:r>
            <a:r>
              <a:rPr lang="en-US" sz="3200" dirty="0">
                <a:latin typeface="Times New Roman" panose="02020603050405020304" pitchFamily="18" charset="0"/>
                <a:cs typeface="Times New Roman" panose="02020603050405020304" pitchFamily="18" charset="0"/>
              </a:rPr>
              <a:t>(or </a:t>
            </a:r>
            <a:r>
              <a:rPr lang="en-US" sz="3200" b="1" dirty="0">
                <a:latin typeface="Times New Roman" panose="02020603050405020304" pitchFamily="18" charset="0"/>
                <a:cs typeface="Times New Roman" panose="02020603050405020304" pitchFamily="18" charset="0"/>
              </a:rPr>
              <a:t>dummy</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variable </a:t>
            </a:r>
            <a:r>
              <a:rPr lang="en-US" sz="3200" dirty="0">
                <a:latin typeface="Times New Roman" panose="02020603050405020304" pitchFamily="18" charset="0"/>
                <a:cs typeface="Times New Roman" panose="02020603050405020304" pitchFamily="18" charset="0"/>
              </a:rPr>
              <a:t>is a qualitative explanatory variable in a multiple regression model that takes on the value 0 or 1.</a:t>
            </a:r>
          </a:p>
        </p:txBody>
      </p:sp>
    </p:spTree>
    <p:extLst>
      <p:ext uri="{BB962C8B-B14F-4D97-AF65-F5344CB8AC3E}">
        <p14:creationId xmlns:p14="http://schemas.microsoft.com/office/powerpoint/2010/main" val="279273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137</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The data in Table 7 represent the number of licensed drivers in various age groups and the number of fatal accidents within the age group by gender.</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6</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an Indicator Variable</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02C923A5-7330-4F7F-940E-530EB28C9139}"/>
              </a:ext>
            </a:extLst>
          </p:cNvPr>
          <p:cNvPicPr>
            <a:picLocks noChangeAspect="1"/>
          </p:cNvPicPr>
          <p:nvPr/>
        </p:nvPicPr>
        <p:blipFill>
          <a:blip r:embed="rId3"/>
          <a:stretch>
            <a:fillRect/>
          </a:stretch>
        </p:blipFill>
        <p:spPr>
          <a:xfrm>
            <a:off x="624918" y="2692493"/>
            <a:ext cx="7894163" cy="3550834"/>
          </a:xfrm>
          <a:prstGeom prst="rect">
            <a:avLst/>
          </a:prstGeom>
        </p:spPr>
      </p:pic>
    </p:spTree>
    <p:extLst>
      <p:ext uri="{BB962C8B-B14F-4D97-AF65-F5344CB8AC3E}">
        <p14:creationId xmlns:p14="http://schemas.microsoft.com/office/powerpoint/2010/main" val="1342352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138</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Draw a scatter diagram of the data treating number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licensed drivers as the explanatory variable and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number of fatal crashes as the response variable using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 different plotting symbol for each gender.</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figure on the next slide shows the scatter diagram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data drawn in Minitab. For males (0) we use the symbol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and for females (1) we use the symbol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6</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an Indicator Variable</a:t>
            </a:r>
            <a:endParaRPr sz="2400" i="1" dirty="0"/>
          </a:p>
        </p:txBody>
      </p:sp>
      <p:pic>
        <p:nvPicPr>
          <p:cNvPr id="4" name="Picture 3">
            <a:extLst>
              <a:ext uri="{FF2B5EF4-FFF2-40B4-BE49-F238E27FC236}">
                <a16:creationId xmlns:a16="http://schemas.microsoft.com/office/drawing/2014/main" id="{61F245E0-9FE3-498E-BCFB-9343A4F4A160}"/>
              </a:ext>
            </a:extLst>
          </p:cNvPr>
          <p:cNvPicPr>
            <a:picLocks noChangeAspect="1"/>
          </p:cNvPicPr>
          <p:nvPr/>
        </p:nvPicPr>
        <p:blipFill rotWithShape="1">
          <a:blip r:embed="rId3"/>
          <a:srcRect l="31937" t="7006"/>
          <a:stretch/>
        </p:blipFill>
        <p:spPr>
          <a:xfrm>
            <a:off x="1018881" y="4211609"/>
            <a:ext cx="234885" cy="382680"/>
          </a:xfrm>
          <a:prstGeom prst="rect">
            <a:avLst/>
          </a:prstGeom>
        </p:spPr>
      </p:pic>
      <p:pic>
        <p:nvPicPr>
          <p:cNvPr id="6" name="Picture 5" descr="A picture containing table, drawing&#10;&#10;Description automatically generated">
            <a:extLst>
              <a:ext uri="{FF2B5EF4-FFF2-40B4-BE49-F238E27FC236}">
                <a16:creationId xmlns:a16="http://schemas.microsoft.com/office/drawing/2014/main" id="{39F16181-68D0-4C47-A6C5-6F841154E89A}"/>
              </a:ext>
            </a:extLst>
          </p:cNvPr>
          <p:cNvPicPr>
            <a:picLocks noChangeAspect="1"/>
          </p:cNvPicPr>
          <p:nvPr/>
        </p:nvPicPr>
        <p:blipFill>
          <a:blip r:embed="rId4"/>
          <a:stretch>
            <a:fillRect/>
          </a:stretch>
        </p:blipFill>
        <p:spPr>
          <a:xfrm>
            <a:off x="6440965" y="4228178"/>
            <a:ext cx="337693" cy="349542"/>
          </a:xfrm>
          <a:prstGeom prst="rect">
            <a:avLst/>
          </a:prstGeom>
        </p:spPr>
      </p:pic>
    </p:spTree>
    <p:extLst>
      <p:ext uri="{BB962C8B-B14F-4D97-AF65-F5344CB8AC3E}">
        <p14:creationId xmlns:p14="http://schemas.microsoft.com/office/powerpoint/2010/main" val="1752545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139</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(a)</a:t>
            </a:r>
            <a:br>
              <a:rPr lang="en-US" sz="2600" b="1" dirty="0">
                <a:latin typeface="Times New Roman" panose="02020603050405020304" pitchFamily="18" charset="0"/>
                <a:cs typeface="Times New Roman" panose="02020603050405020304" pitchFamily="18" charset="0"/>
              </a:rPr>
            </a:br>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For each gender, there is a positive association between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variables. In addition, the slope for the males appears to be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much steeper than that of the females.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6</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an Indicator Variable</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5A5ED35E-77C4-41EC-9F54-D76666C40FBF}"/>
              </a:ext>
            </a:extLst>
          </p:cNvPr>
          <p:cNvPicPr>
            <a:picLocks noChangeAspect="1"/>
          </p:cNvPicPr>
          <p:nvPr/>
        </p:nvPicPr>
        <p:blipFill>
          <a:blip r:embed="rId3"/>
          <a:stretch>
            <a:fillRect/>
          </a:stretch>
        </p:blipFill>
        <p:spPr>
          <a:xfrm>
            <a:off x="1494473" y="1324745"/>
            <a:ext cx="5717033" cy="3862629"/>
          </a:xfrm>
          <a:prstGeom prst="rect">
            <a:avLst/>
          </a:prstGeom>
        </p:spPr>
      </p:pic>
    </p:spTree>
    <p:extLst>
      <p:ext uri="{BB962C8B-B14F-4D97-AF65-F5344CB8AC3E}">
        <p14:creationId xmlns:p14="http://schemas.microsoft.com/office/powerpoint/2010/main" val="20193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9" end="9"/>
                                            </p:txEl>
                                          </p:spTgt>
                                        </p:tgtEl>
                                        <p:attrNameLst>
                                          <p:attrName>style.visibility</p:attrName>
                                        </p:attrNameLst>
                                      </p:cBhvr>
                                      <p:to>
                                        <p:strVal val="visible"/>
                                      </p:to>
                                    </p:set>
                                    <p:animEffect transition="in" filter="fade">
                                      <p:cBhvr>
                                        <p:cTn id="7" dur="500"/>
                                        <p:tgtEl>
                                          <p:spTgt spid="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140</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Find the least-squares equation </a:t>
            </a:r>
            <a:br>
              <a:rPr lang="en-US" sz="2800" i="1" dirty="0">
                <a:latin typeface="Times New Roman" panose="02020603050405020304" pitchFamily="18" charset="0"/>
                <a:cs typeface="Times New Roman" panose="02020603050405020304" pitchFamily="18" charset="0"/>
              </a:rPr>
            </a:b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where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is the number of licensed drivers, </a:t>
            </a:r>
            <a:r>
              <a:rPr lang="en-US" sz="2800" i="1"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is an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indicator variable where 0 = male, 1 = female, and </a:t>
            </a:r>
            <a:r>
              <a:rPr lang="en-US" sz="2800" i="1" dirty="0">
                <a:latin typeface="Times New Roman" panose="02020603050405020304" pitchFamily="18" charset="0"/>
                <a:cs typeface="Times New Roman" panose="02020603050405020304" pitchFamily="18" charset="0"/>
              </a:rPr>
              <a:t>y </a:t>
            </a:r>
            <a:r>
              <a:rPr lang="en-US" sz="2800" dirty="0">
                <a:latin typeface="Times New Roman" panose="02020603050405020304" pitchFamily="18" charset="0"/>
                <a:cs typeface="Times New Roman" panose="02020603050405020304" pitchFamily="18" charset="0"/>
              </a:rPr>
              <a:t>is</a:t>
            </a:r>
          </a:p>
          <a:p>
            <a:r>
              <a:rPr lang="en-US" sz="2800" dirty="0">
                <a:latin typeface="Times New Roman" panose="02020603050405020304" pitchFamily="18" charset="0"/>
                <a:cs typeface="Times New Roman" panose="02020603050405020304" pitchFamily="18" charset="0"/>
              </a:rPr>
              <a:t>      the number of fatal crashes.</a:t>
            </a:r>
            <a:br>
              <a:rPr lang="en-US" sz="28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Using Minitab, we find that the least-squares regression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equation is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6</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an Indicator Variable</a:t>
            </a:r>
            <a:endParaRPr sz="2400" i="1" dirty="0"/>
          </a:p>
        </p:txBody>
      </p:sp>
      <p:graphicFrame>
        <p:nvGraphicFramePr>
          <p:cNvPr id="2" name="Object 1">
            <a:extLst>
              <a:ext uri="{FF2B5EF4-FFF2-40B4-BE49-F238E27FC236}">
                <a16:creationId xmlns:a16="http://schemas.microsoft.com/office/drawing/2014/main" id="{B5B45E56-347E-4A25-B347-816E92870674}"/>
              </a:ext>
            </a:extLst>
          </p:cNvPr>
          <p:cNvGraphicFramePr>
            <a:graphicFrameLocks noChangeAspect="1"/>
          </p:cNvGraphicFramePr>
          <p:nvPr>
            <p:extLst>
              <p:ext uri="{D42A27DB-BD31-4B8C-83A1-F6EECF244321}">
                <p14:modId xmlns:p14="http://schemas.microsoft.com/office/powerpoint/2010/main" val="3385890758"/>
              </p:ext>
            </p:extLst>
          </p:nvPr>
        </p:nvGraphicFramePr>
        <p:xfrm>
          <a:off x="5456849" y="1301848"/>
          <a:ext cx="2679700" cy="431800"/>
        </p:xfrm>
        <a:graphic>
          <a:graphicData uri="http://schemas.openxmlformats.org/presentationml/2006/ole">
            <mc:AlternateContent xmlns:mc="http://schemas.openxmlformats.org/markup-compatibility/2006">
              <mc:Choice xmlns:v="urn:schemas-microsoft-com:vml" Requires="v">
                <p:oleObj spid="_x0000_s118908" name="Equation" r:id="rId4" imgW="2679480" imgH="431640" progId="Equation.DSMT4">
                  <p:embed/>
                </p:oleObj>
              </mc:Choice>
              <mc:Fallback>
                <p:oleObj name="Equation" r:id="rId4" imgW="2679480" imgH="431640" progId="Equation.DSMT4">
                  <p:embed/>
                  <p:pic>
                    <p:nvPicPr>
                      <p:cNvPr id="0" name=""/>
                      <p:cNvPicPr/>
                      <p:nvPr/>
                    </p:nvPicPr>
                    <p:blipFill>
                      <a:blip r:embed="rId5"/>
                      <a:stretch>
                        <a:fillRect/>
                      </a:stretch>
                    </p:blipFill>
                    <p:spPr>
                      <a:xfrm>
                        <a:off x="5456849" y="1301848"/>
                        <a:ext cx="2679700" cy="4318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5C08D7D6-4568-469C-B49E-755060EEE514}"/>
              </a:ext>
            </a:extLst>
          </p:cNvPr>
          <p:cNvGraphicFramePr>
            <a:graphicFrameLocks noChangeAspect="1"/>
          </p:cNvGraphicFramePr>
          <p:nvPr>
            <p:extLst>
              <p:ext uri="{D42A27DB-BD31-4B8C-83A1-F6EECF244321}">
                <p14:modId xmlns:p14="http://schemas.microsoft.com/office/powerpoint/2010/main" val="3007384754"/>
              </p:ext>
            </p:extLst>
          </p:nvPr>
        </p:nvGraphicFramePr>
        <p:xfrm>
          <a:off x="2331236" y="4372270"/>
          <a:ext cx="4178300" cy="431800"/>
        </p:xfrm>
        <a:graphic>
          <a:graphicData uri="http://schemas.openxmlformats.org/presentationml/2006/ole">
            <mc:AlternateContent xmlns:mc="http://schemas.openxmlformats.org/markup-compatibility/2006">
              <mc:Choice xmlns:v="urn:schemas-microsoft-com:vml" Requires="v">
                <p:oleObj spid="_x0000_s118909" name="Equation" r:id="rId6" imgW="4178160" imgH="431640" progId="Equation.DSMT4">
                  <p:embed/>
                </p:oleObj>
              </mc:Choice>
              <mc:Fallback>
                <p:oleObj name="Equation" r:id="rId6" imgW="4178160" imgH="431640" progId="Equation.DSMT4">
                  <p:embed/>
                  <p:pic>
                    <p:nvPicPr>
                      <p:cNvPr id="0" name=""/>
                      <p:cNvPicPr/>
                      <p:nvPr/>
                    </p:nvPicPr>
                    <p:blipFill>
                      <a:blip r:embed="rId7"/>
                      <a:stretch>
                        <a:fillRect/>
                      </a:stretch>
                    </p:blipFill>
                    <p:spPr>
                      <a:xfrm>
                        <a:off x="2331236" y="4372270"/>
                        <a:ext cx="4178300" cy="431800"/>
                      </a:xfrm>
                      <a:prstGeom prst="rect">
                        <a:avLst/>
                      </a:prstGeom>
                    </p:spPr>
                  </p:pic>
                </p:oleObj>
              </mc:Fallback>
            </mc:AlternateContent>
          </a:graphicData>
        </a:graphic>
      </p:graphicFrame>
    </p:spTree>
    <p:extLst>
      <p:ext uri="{BB962C8B-B14F-4D97-AF65-F5344CB8AC3E}">
        <p14:creationId xmlns:p14="http://schemas.microsoft.com/office/powerpoint/2010/main" val="237395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141</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Interpret the coefficient of each explanatory variable.</a:t>
            </a:r>
          </a:p>
          <a:p>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Because the model is additive, we interpret the coefficients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same way as we did for a regression with one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explanatory variable. However, we assume the other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variable is held constant.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So, for the variable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number of licensed drivers,</a:t>
            </a:r>
          </a:p>
          <a:p>
            <a:r>
              <a:rPr lang="en-US" sz="2600" dirty="0">
                <a:latin typeface="Times New Roman" panose="02020603050405020304" pitchFamily="18" charset="0"/>
                <a:cs typeface="Times New Roman" panose="02020603050405020304" pitchFamily="18" charset="0"/>
              </a:rPr>
              <a:t>      which is measured in thousands, the coefficient is 0.2254.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Therefore, if the number of licensed drivers increases by 1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thousand, we expect the number of fatal crashes to increase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by 0.2254.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6)                         </a:t>
            </a:r>
            <a:r>
              <a:rPr lang="en-US" sz="2400" b="0" i="1" u="none" dirty="0">
                <a:solidFill>
                  <a:schemeClr val="dk1"/>
                </a:solidFill>
                <a:latin typeface="Arial"/>
                <a:ea typeface="Arial"/>
                <a:cs typeface="Arial"/>
                <a:sym typeface="Arial"/>
              </a:rPr>
              <a:t>an Indicator Variable</a:t>
            </a:r>
            <a:endParaRPr sz="2400" i="1" dirty="0"/>
          </a:p>
        </p:txBody>
      </p:sp>
    </p:spTree>
    <p:extLst>
      <p:ext uri="{BB962C8B-B14F-4D97-AF65-F5344CB8AC3E}">
        <p14:creationId xmlns:p14="http://schemas.microsoft.com/office/powerpoint/2010/main" val="1423701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4" end="4"/>
                                            </p:txEl>
                                          </p:spTgt>
                                        </p:tgtEl>
                                        <p:attrNameLst>
                                          <p:attrName>style.visibility</p:attrName>
                                        </p:attrNameLst>
                                      </p:cBhvr>
                                      <p:to>
                                        <p:strVal val="visible"/>
                                      </p:to>
                                    </p:set>
                                    <p:animEffect transition="in" filter="fade">
                                      <p:cBhvr>
                                        <p:cTn id="12" dur="500"/>
                                        <p:tgtEl>
                                          <p:spTgt spid="315">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15">
                                            <p:txEl>
                                              <p:pRg st="5" end="5"/>
                                            </p:txEl>
                                          </p:spTgt>
                                        </p:tgtEl>
                                        <p:attrNameLst>
                                          <p:attrName>style.visibility</p:attrName>
                                        </p:attrNameLst>
                                      </p:cBhvr>
                                      <p:to>
                                        <p:strVal val="visible"/>
                                      </p:to>
                                    </p:set>
                                    <p:animEffect transition="in" filter="fade">
                                      <p:cBhvr>
                                        <p:cTn id="15"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142</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For the variable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gender, the coefficient is –3103.</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Therefore, we expect 3103 fewer fatal crashes for females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than males at any level of number of drivers. This explains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why females have lower insurance premiums than males!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Multiple Regression Model with </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6)                         </a:t>
            </a:r>
            <a:r>
              <a:rPr lang="en-US" sz="2400" b="0" i="1" u="none" dirty="0">
                <a:solidFill>
                  <a:schemeClr val="dk1"/>
                </a:solidFill>
                <a:latin typeface="Arial"/>
                <a:ea typeface="Arial"/>
                <a:cs typeface="Arial"/>
                <a:sym typeface="Arial"/>
              </a:rPr>
              <a:t>an Indicator Variable</a:t>
            </a:r>
            <a:endParaRPr sz="2400" i="1" dirty="0"/>
          </a:p>
        </p:txBody>
      </p:sp>
    </p:spTree>
    <p:extLst>
      <p:ext uri="{BB962C8B-B14F-4D97-AF65-F5344CB8AC3E}">
        <p14:creationId xmlns:p14="http://schemas.microsoft.com/office/powerpoint/2010/main" val="1891338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143</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3200" b="1" dirty="0">
                <a:latin typeface="Times New Roman" panose="02020603050405020304" pitchFamily="18" charset="0"/>
                <a:cs typeface="Times New Roman" panose="02020603050405020304" pitchFamily="18" charset="0"/>
              </a:rPr>
              <a:t>In general, if there are </a:t>
            </a:r>
            <a:r>
              <a:rPr lang="en-US" sz="3200" b="1" i="1" dirty="0">
                <a:latin typeface="Times New Roman" panose="02020603050405020304" pitchFamily="18" charset="0"/>
                <a:cs typeface="Times New Roman" panose="02020603050405020304" pitchFamily="18" charset="0"/>
              </a:rPr>
              <a:t>c </a:t>
            </a:r>
            <a:r>
              <a:rPr lang="en-US" sz="3200" b="1" dirty="0">
                <a:latin typeface="Times New Roman" panose="02020603050405020304" pitchFamily="18" charset="0"/>
                <a:cs typeface="Times New Roman" panose="02020603050405020304" pitchFamily="18" charset="0"/>
              </a:rPr>
              <a:t>categories for a qualitative explanatory variable, the</a:t>
            </a:r>
          </a:p>
          <a:p>
            <a:r>
              <a:rPr lang="en-US" sz="3200" b="1" dirty="0">
                <a:latin typeface="Times New Roman" panose="02020603050405020304" pitchFamily="18" charset="0"/>
                <a:cs typeface="Times New Roman" panose="02020603050405020304" pitchFamily="18" charset="0"/>
              </a:rPr>
              <a:t>regression model will require </a:t>
            </a:r>
            <a:r>
              <a:rPr lang="en-US" sz="3200" b="1" i="1" dirty="0">
                <a:latin typeface="Times New Roman" panose="02020603050405020304" pitchFamily="18" charset="0"/>
                <a:cs typeface="Times New Roman" panose="02020603050405020304" pitchFamily="18" charset="0"/>
              </a:rPr>
              <a:t>c – </a:t>
            </a:r>
            <a:r>
              <a:rPr lang="en-US" sz="3200" b="1" dirty="0">
                <a:latin typeface="Times New Roman" panose="02020603050405020304" pitchFamily="18" charset="0"/>
                <a:cs typeface="Times New Roman" panose="02020603050405020304" pitchFamily="18" charset="0"/>
              </a:rPr>
              <a:t>1 indicator variables, each taking on a value of 0 or 1.</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98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144</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14.5 </a:t>
            </a:r>
            <a:r>
              <a:rPr lang="en-US" sz="4000" b="1" dirty="0">
                <a:solidFill>
                  <a:srgbClr val="333399"/>
                </a:solidFill>
                <a:latin typeface="+mn-lt"/>
                <a:cs typeface="Times New Roman"/>
                <a:sym typeface="Times New Roman"/>
              </a:rPr>
              <a:t>Polynomial Regression</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1823074"/>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3200" dirty="0">
                <a:latin typeface="Times New Roman" panose="02020603050405020304" pitchFamily="18" charset="0"/>
                <a:cs typeface="Times New Roman" panose="02020603050405020304" pitchFamily="18" charset="0"/>
              </a:rPr>
              <a:t>Find a Quadratic Regression Equation</a:t>
            </a: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23649" y="1401441"/>
            <a:ext cx="834662" cy="843267"/>
          </a:xfrm>
          <a:prstGeom prst="rect">
            <a:avLst/>
          </a:prstGeom>
        </p:spPr>
      </p:pic>
    </p:spTree>
    <p:extLst>
      <p:ext uri="{BB962C8B-B14F-4D97-AF65-F5344CB8AC3E}">
        <p14:creationId xmlns:p14="http://schemas.microsoft.com/office/powerpoint/2010/main" val="304668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10" name="Google Shape;610;p8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145</a:t>
            </a:fld>
            <a:endParaRPr/>
          </a:p>
        </p:txBody>
      </p:sp>
      <p:sp>
        <p:nvSpPr>
          <p:cNvPr id="6" name="Rectangle 5">
            <a:extLst>
              <a:ext uri="{FF2B5EF4-FFF2-40B4-BE49-F238E27FC236}">
                <a16:creationId xmlns:a16="http://schemas.microsoft.com/office/drawing/2014/main" id="{1849B8D9-E6B0-45FE-A3EB-70546BE747C6}"/>
              </a:ext>
            </a:extLst>
          </p:cNvPr>
          <p:cNvSpPr/>
          <p:nvPr/>
        </p:nvSpPr>
        <p:spPr>
          <a:xfrm>
            <a:off x="533399" y="623526"/>
            <a:ext cx="8299515" cy="538609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 regression model can include quadratic terms. </a:t>
            </a:r>
          </a:p>
          <a:p>
            <a:endParaRPr lang="en-US" sz="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Scatter diagrams of the response variable drawn against each explanatory variable are used to determine the type of relation that may exist between the two variables.</a:t>
            </a:r>
          </a:p>
          <a:p>
            <a:r>
              <a:rPr lang="en-US" sz="2800" dirty="0">
                <a:latin typeface="Times New Roman" panose="02020603050405020304" pitchFamily="18" charset="0"/>
                <a:cs typeface="Times New Roman" panose="02020603050405020304" pitchFamily="18" charset="0"/>
              </a:rPr>
              <a:t>We consider quadratic models of the form</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Once a quadratic model is obtained, we go through the usual analysis of (1) drawing residual plots to verify the model is appropriate, (2) performing an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-test for lack of fit, and (3) testing individual regression coefficients for significance. </a:t>
            </a:r>
          </a:p>
        </p:txBody>
      </p:sp>
      <p:graphicFrame>
        <p:nvGraphicFramePr>
          <p:cNvPr id="7" name="Object 6">
            <a:extLst>
              <a:ext uri="{FF2B5EF4-FFF2-40B4-BE49-F238E27FC236}">
                <a16:creationId xmlns:a16="http://schemas.microsoft.com/office/drawing/2014/main" id="{5775D2BA-A42E-44EF-98F6-348CC16F965D}"/>
              </a:ext>
            </a:extLst>
          </p:cNvPr>
          <p:cNvGraphicFramePr>
            <a:graphicFrameLocks noChangeAspect="1"/>
          </p:cNvGraphicFramePr>
          <p:nvPr>
            <p:extLst>
              <p:ext uri="{D42A27DB-BD31-4B8C-83A1-F6EECF244321}">
                <p14:modId xmlns:p14="http://schemas.microsoft.com/office/powerpoint/2010/main" val="381570517"/>
              </p:ext>
            </p:extLst>
          </p:nvPr>
        </p:nvGraphicFramePr>
        <p:xfrm>
          <a:off x="2794000" y="3081338"/>
          <a:ext cx="3556000" cy="469900"/>
        </p:xfrm>
        <a:graphic>
          <a:graphicData uri="http://schemas.openxmlformats.org/presentationml/2006/ole">
            <mc:AlternateContent xmlns:mc="http://schemas.openxmlformats.org/markup-compatibility/2006">
              <mc:Choice xmlns:v="urn:schemas-microsoft-com:vml" Requires="v">
                <p:oleObj spid="_x0000_s119868" name="Equation" r:id="rId4" imgW="3555720" imgH="469800" progId="Equation.DSMT4">
                  <p:embed/>
                </p:oleObj>
              </mc:Choice>
              <mc:Fallback>
                <p:oleObj name="Equation" r:id="rId4" imgW="3555720" imgH="469800" progId="Equation.DSMT4">
                  <p:embed/>
                  <p:pic>
                    <p:nvPicPr>
                      <p:cNvPr id="0" name=""/>
                      <p:cNvPicPr/>
                      <p:nvPr/>
                    </p:nvPicPr>
                    <p:blipFill>
                      <a:blip r:embed="rId5"/>
                      <a:stretch>
                        <a:fillRect/>
                      </a:stretch>
                    </p:blipFill>
                    <p:spPr>
                      <a:xfrm>
                        <a:off x="2794000" y="3081338"/>
                        <a:ext cx="3556000" cy="469900"/>
                      </a:xfrm>
                      <a:prstGeom prst="rect">
                        <a:avLst/>
                      </a:prstGeom>
                    </p:spPr>
                  </p:pic>
                </p:oleObj>
              </mc:Fallback>
            </mc:AlternateContent>
          </a:graphicData>
        </a:graphic>
      </p:graphicFrame>
    </p:spTree>
    <p:extLst>
      <p:ext uri="{BB962C8B-B14F-4D97-AF65-F5344CB8AC3E}">
        <p14:creationId xmlns:p14="http://schemas.microsoft.com/office/powerpoint/2010/main" val="405249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6" end="6"/>
                                            </p:txEl>
                                          </p:spTgt>
                                        </p:tgtEl>
                                        <p:attrNameLst>
                                          <p:attrName>style.visibility</p:attrName>
                                        </p:attrNameLst>
                                      </p:cBhvr>
                                      <p:to>
                                        <p:strVal val="visible"/>
                                      </p:to>
                                    </p:set>
                                    <p:animEffect transition="in" filter="fade">
                                      <p:cBhvr>
                                        <p:cTn id="20"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146</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500" dirty="0">
                <a:latin typeface="Times New Roman" panose="02020603050405020304" pitchFamily="18" charset="0"/>
                <a:cs typeface="Times New Roman" panose="02020603050405020304" pitchFamily="18" charset="0"/>
              </a:rPr>
              <a:t>Photosynthetic efficiency is the percentage of light energy that is converted into chemical energy by a plant. The chemical energy is used by a plant to maintain the plant’s activities. A sample of grass was used to determine the efficiency of the grass species. Table 8 shows the results of the study at various temperatures, measured in degrees Celsius. The efficiency is measured as a percent.</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CB5C43FD-C2EE-420D-903E-ACDDDF040449}"/>
              </a:ext>
            </a:extLst>
          </p:cNvPr>
          <p:cNvPicPr>
            <a:picLocks noChangeAspect="1"/>
          </p:cNvPicPr>
          <p:nvPr/>
        </p:nvPicPr>
        <p:blipFill>
          <a:blip r:embed="rId3"/>
          <a:stretch>
            <a:fillRect/>
          </a:stretch>
        </p:blipFill>
        <p:spPr>
          <a:xfrm>
            <a:off x="1620202" y="3638746"/>
            <a:ext cx="6179249" cy="2692204"/>
          </a:xfrm>
          <a:prstGeom prst="rect">
            <a:avLst/>
          </a:prstGeom>
        </p:spPr>
      </p:pic>
    </p:spTree>
    <p:extLst>
      <p:ext uri="{BB962C8B-B14F-4D97-AF65-F5344CB8AC3E}">
        <p14:creationId xmlns:p14="http://schemas.microsoft.com/office/powerpoint/2010/main" val="68028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147</a:t>
            </a:fld>
            <a:endParaRPr dirty="0"/>
          </a:p>
        </p:txBody>
      </p:sp>
      <p:sp>
        <p:nvSpPr>
          <p:cNvPr id="315" name="Google Shape;315;p49"/>
          <p:cNvSpPr txBox="1"/>
          <p:nvPr/>
        </p:nvSpPr>
        <p:spPr>
          <a:xfrm>
            <a:off x="419493"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Draw a scatter diagram of the data. What type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relation appears to exist between temperature and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efficiency?</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figure shows a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scatter diagram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data.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Clearly, there is a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quadratic relation</a:t>
            </a:r>
          </a:p>
          <a:p>
            <a:r>
              <a:rPr lang="en-US" sz="2600" dirty="0">
                <a:latin typeface="Times New Roman" panose="02020603050405020304" pitchFamily="18" charset="0"/>
                <a:cs typeface="Times New Roman" panose="02020603050405020304" pitchFamily="18" charset="0"/>
              </a:rPr>
              <a:t>      between temperature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and efficiency.</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pic>
        <p:nvPicPr>
          <p:cNvPr id="4" name="Picture 3" descr="A close up of a map&#10;&#10;Description automatically generated">
            <a:extLst>
              <a:ext uri="{FF2B5EF4-FFF2-40B4-BE49-F238E27FC236}">
                <a16:creationId xmlns:a16="http://schemas.microsoft.com/office/drawing/2014/main" id="{C5944735-9D93-4D5B-B18C-3AAA72AF06BF}"/>
              </a:ext>
            </a:extLst>
          </p:cNvPr>
          <p:cNvPicPr>
            <a:picLocks noChangeAspect="1"/>
          </p:cNvPicPr>
          <p:nvPr/>
        </p:nvPicPr>
        <p:blipFill>
          <a:blip r:embed="rId3"/>
          <a:stretch>
            <a:fillRect/>
          </a:stretch>
        </p:blipFill>
        <p:spPr>
          <a:xfrm>
            <a:off x="4203690" y="2449314"/>
            <a:ext cx="4224536" cy="3881636"/>
          </a:xfrm>
          <a:prstGeom prst="rect">
            <a:avLst/>
          </a:prstGeom>
        </p:spPr>
      </p:pic>
    </p:spTree>
    <p:extLst>
      <p:ext uri="{BB962C8B-B14F-4D97-AF65-F5344CB8AC3E}">
        <p14:creationId xmlns:p14="http://schemas.microsoft.com/office/powerpoint/2010/main" val="111296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4" end="4"/>
                                            </p:txEl>
                                          </p:spTgt>
                                        </p:tgtEl>
                                        <p:attrNameLst>
                                          <p:attrName>style.visibility</p:attrName>
                                        </p:attrNameLst>
                                      </p:cBhvr>
                                      <p:to>
                                        <p:strVal val="visible"/>
                                      </p:to>
                                    </p:set>
                                    <p:animEffect transition="in" filter="fade">
                                      <p:cBhvr>
                                        <p:cTn id="15" dur="500"/>
                                        <p:tgtEl>
                                          <p:spTgt spid="31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15">
                                            <p:txEl>
                                              <p:pRg st="5" end="5"/>
                                            </p:txEl>
                                          </p:spTgt>
                                        </p:tgtEl>
                                        <p:attrNameLst>
                                          <p:attrName>style.visibility</p:attrName>
                                        </p:attrNameLst>
                                      </p:cBhvr>
                                      <p:to>
                                        <p:strVal val="visible"/>
                                      </p:to>
                                    </p:set>
                                    <p:animEffect transition="in" filter="fade">
                                      <p:cBhvr>
                                        <p:cTn id="18"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148</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Find the quadratic regression equation</a:t>
            </a:r>
          </a:p>
          <a:p>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The figure on the next slide shows the output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StatCrunch. In anticipation of answering parts (c) and (f),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save the residuals and fitted values in the spreadsheet, 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ask StatCrunch to make a prediction for </a:t>
            </a:r>
            <a:r>
              <a:rPr lang="en-US" sz="2600" i="1" dirty="0">
                <a:latin typeface="Times New Roman" panose="02020603050405020304" pitchFamily="18" charset="0"/>
                <a:cs typeface="Times New Roman" panose="02020603050405020304" pitchFamily="18" charset="0"/>
              </a:rPr>
              <a:t>x </a:t>
            </a:r>
            <a:r>
              <a:rPr lang="en-US" sz="2600" dirty="0">
                <a:latin typeface="Times New Roman" panose="02020603050405020304" pitchFamily="18" charset="0"/>
                <a:cs typeface="Times New Roman" panose="02020603050405020304" pitchFamily="18" charset="0"/>
              </a:rPr>
              <a:t>= 18 degrees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Celsius.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graphicFrame>
        <p:nvGraphicFramePr>
          <p:cNvPr id="6" name="Object 5">
            <a:extLst>
              <a:ext uri="{FF2B5EF4-FFF2-40B4-BE49-F238E27FC236}">
                <a16:creationId xmlns:a16="http://schemas.microsoft.com/office/drawing/2014/main" id="{BDF2B8BE-69C7-4099-8A0A-E83C9078048B}"/>
              </a:ext>
            </a:extLst>
          </p:cNvPr>
          <p:cNvGraphicFramePr>
            <a:graphicFrameLocks noChangeAspect="1"/>
          </p:cNvGraphicFramePr>
          <p:nvPr>
            <p:extLst>
              <p:ext uri="{D42A27DB-BD31-4B8C-83A1-F6EECF244321}">
                <p14:modId xmlns:p14="http://schemas.microsoft.com/office/powerpoint/2010/main" val="3263092506"/>
              </p:ext>
            </p:extLst>
          </p:nvPr>
        </p:nvGraphicFramePr>
        <p:xfrm>
          <a:off x="990600" y="1716088"/>
          <a:ext cx="2590800" cy="469900"/>
        </p:xfrm>
        <a:graphic>
          <a:graphicData uri="http://schemas.openxmlformats.org/presentationml/2006/ole">
            <mc:AlternateContent xmlns:mc="http://schemas.openxmlformats.org/markup-compatibility/2006">
              <mc:Choice xmlns:v="urn:schemas-microsoft-com:vml" Requires="v">
                <p:oleObj spid="_x0000_s120887" name="Equation" r:id="rId4" imgW="2590560" imgH="469800" progId="Equation.DSMT4">
                  <p:embed/>
                </p:oleObj>
              </mc:Choice>
              <mc:Fallback>
                <p:oleObj name="Equation" r:id="rId4" imgW="2590560" imgH="469800" progId="Equation.DSMT4">
                  <p:embed/>
                  <p:pic>
                    <p:nvPicPr>
                      <p:cNvPr id="2" name="Object 1">
                        <a:extLst>
                          <a:ext uri="{FF2B5EF4-FFF2-40B4-BE49-F238E27FC236}">
                            <a16:creationId xmlns:a16="http://schemas.microsoft.com/office/drawing/2014/main" id="{B5B45E56-347E-4A25-B347-816E92870674}"/>
                          </a:ext>
                        </a:extLst>
                      </p:cNvPr>
                      <p:cNvPicPr/>
                      <p:nvPr/>
                    </p:nvPicPr>
                    <p:blipFill>
                      <a:blip r:embed="rId5"/>
                      <a:stretch>
                        <a:fillRect/>
                      </a:stretch>
                    </p:blipFill>
                    <p:spPr>
                      <a:xfrm>
                        <a:off x="990600" y="1716088"/>
                        <a:ext cx="2590800" cy="469900"/>
                      </a:xfrm>
                      <a:prstGeom prst="rect">
                        <a:avLst/>
                      </a:prstGeom>
                    </p:spPr>
                  </p:pic>
                </p:oleObj>
              </mc:Fallback>
            </mc:AlternateContent>
          </a:graphicData>
        </a:graphic>
      </p:graphicFrame>
    </p:spTree>
    <p:extLst>
      <p:ext uri="{BB962C8B-B14F-4D97-AF65-F5344CB8AC3E}">
        <p14:creationId xmlns:p14="http://schemas.microsoft.com/office/powerpoint/2010/main" val="177357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149</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(b)</a:t>
            </a: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pic>
        <p:nvPicPr>
          <p:cNvPr id="3" name="Picture 2" descr="A screenshot of text&#10;&#10;Description automatically generated">
            <a:extLst>
              <a:ext uri="{FF2B5EF4-FFF2-40B4-BE49-F238E27FC236}">
                <a16:creationId xmlns:a16="http://schemas.microsoft.com/office/drawing/2014/main" id="{0C264101-EAD9-43AF-BA9F-394BBB73877D}"/>
              </a:ext>
            </a:extLst>
          </p:cNvPr>
          <p:cNvPicPr>
            <a:picLocks noChangeAspect="1"/>
          </p:cNvPicPr>
          <p:nvPr/>
        </p:nvPicPr>
        <p:blipFill>
          <a:blip r:embed="rId3"/>
          <a:stretch>
            <a:fillRect/>
          </a:stretch>
        </p:blipFill>
        <p:spPr>
          <a:xfrm>
            <a:off x="1224916" y="1542886"/>
            <a:ext cx="6931328" cy="4470662"/>
          </a:xfrm>
          <a:prstGeom prst="rect">
            <a:avLst/>
          </a:prstGeom>
        </p:spPr>
      </p:pic>
    </p:spTree>
    <p:extLst>
      <p:ext uri="{BB962C8B-B14F-4D97-AF65-F5344CB8AC3E}">
        <p14:creationId xmlns:p14="http://schemas.microsoft.com/office/powerpoint/2010/main" val="269983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150</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The coefficients for the quadratic regression equation are 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first table under the heading “Estimate.” </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quadratic regression equation for these data is</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graphicFrame>
        <p:nvGraphicFramePr>
          <p:cNvPr id="6" name="Object 5">
            <a:extLst>
              <a:ext uri="{FF2B5EF4-FFF2-40B4-BE49-F238E27FC236}">
                <a16:creationId xmlns:a16="http://schemas.microsoft.com/office/drawing/2014/main" id="{3FC017CA-A45E-40B6-BA6F-A0F70EC8BCAD}"/>
              </a:ext>
            </a:extLst>
          </p:cNvPr>
          <p:cNvGraphicFramePr>
            <a:graphicFrameLocks noChangeAspect="1"/>
          </p:cNvGraphicFramePr>
          <p:nvPr>
            <p:extLst>
              <p:ext uri="{D42A27DB-BD31-4B8C-83A1-F6EECF244321}">
                <p14:modId xmlns:p14="http://schemas.microsoft.com/office/powerpoint/2010/main" val="1061861636"/>
              </p:ext>
            </p:extLst>
          </p:nvPr>
        </p:nvGraphicFramePr>
        <p:xfrm>
          <a:off x="863339" y="2856339"/>
          <a:ext cx="4775200" cy="431800"/>
        </p:xfrm>
        <a:graphic>
          <a:graphicData uri="http://schemas.openxmlformats.org/presentationml/2006/ole">
            <mc:AlternateContent xmlns:mc="http://schemas.openxmlformats.org/markup-compatibility/2006">
              <mc:Choice xmlns:v="urn:schemas-microsoft-com:vml" Requires="v">
                <p:oleObj spid="_x0000_s121911" name="Equation" r:id="rId4" imgW="4775040" imgH="431640" progId="Equation.DSMT4">
                  <p:embed/>
                </p:oleObj>
              </mc:Choice>
              <mc:Fallback>
                <p:oleObj name="Equation" r:id="rId4" imgW="4775040" imgH="431640" progId="Equation.DSMT4">
                  <p:embed/>
                  <p:pic>
                    <p:nvPicPr>
                      <p:cNvPr id="6" name="Object 5">
                        <a:extLst>
                          <a:ext uri="{FF2B5EF4-FFF2-40B4-BE49-F238E27FC236}">
                            <a16:creationId xmlns:a16="http://schemas.microsoft.com/office/drawing/2014/main" id="{BDF2B8BE-69C7-4099-8A0A-E83C9078048B}"/>
                          </a:ext>
                        </a:extLst>
                      </p:cNvPr>
                      <p:cNvPicPr/>
                      <p:nvPr/>
                    </p:nvPicPr>
                    <p:blipFill>
                      <a:blip r:embed="rId5"/>
                      <a:stretch>
                        <a:fillRect/>
                      </a:stretch>
                    </p:blipFill>
                    <p:spPr>
                      <a:xfrm>
                        <a:off x="863339" y="2856339"/>
                        <a:ext cx="4775200" cy="431800"/>
                      </a:xfrm>
                      <a:prstGeom prst="rect">
                        <a:avLst/>
                      </a:prstGeom>
                    </p:spPr>
                  </p:pic>
                </p:oleObj>
              </mc:Fallback>
            </mc:AlternateContent>
          </a:graphicData>
        </a:graphic>
      </p:graphicFrame>
    </p:spTree>
    <p:extLst>
      <p:ext uri="{BB962C8B-B14F-4D97-AF65-F5344CB8AC3E}">
        <p14:creationId xmlns:p14="http://schemas.microsoft.com/office/powerpoint/2010/main" val="359740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151</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Draw a residual plot against the fitted values, </a:t>
            </a:r>
            <a:r>
              <a:rPr lang="en-US" sz="2800" i="1" dirty="0">
                <a:latin typeface="Times New Roman" panose="02020603050405020304" pitchFamily="18" charset="0"/>
                <a:cs typeface="Times New Roman" panose="02020603050405020304" pitchFamily="18" charset="0"/>
              </a:rPr>
              <a:t>x</a:t>
            </a:r>
            <a:r>
              <a:rPr lang="en-US" sz="2800" dirty="0">
                <a:latin typeface="Times New Roman" panose="02020603050405020304" pitchFamily="18" charset="0"/>
                <a:cs typeface="Times New Roman" panose="02020603050405020304" pitchFamily="18" charset="0"/>
              </a:rPr>
              <a:t>, and </a:t>
            </a:r>
            <a:r>
              <a:rPr lang="en-US" sz="2800" i="1" dirty="0">
                <a:latin typeface="Times New Roman" panose="02020603050405020304" pitchFamily="18" charset="0"/>
                <a:cs typeface="Times New Roman" panose="02020603050405020304" pitchFamily="18" charset="0"/>
              </a:rPr>
              <a:t>x</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Also, draw a boxplot of the residuals. Are there any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problems with the model?</a:t>
            </a:r>
          </a:p>
          <a:p>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Figures (a)–(c) on the next slide show residual plots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fitted values, </a:t>
            </a:r>
            <a:r>
              <a:rPr lang="en-US" sz="2600" i="1" dirty="0">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and </a:t>
            </a:r>
            <a:r>
              <a:rPr lang="en-US" sz="2600" i="1" dirty="0">
                <a:latin typeface="Times New Roman" panose="02020603050405020304" pitchFamily="18" charset="0"/>
                <a:cs typeface="Times New Roman" panose="02020603050405020304" pitchFamily="18" charset="0"/>
              </a:rPr>
              <a:t>x</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Figure (d) shows a boxplot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residuals. </a:t>
            </a:r>
          </a:p>
          <a:p>
            <a:endParaRPr lang="en-US" sz="2600" dirty="0">
              <a:latin typeface="Times New Roman" panose="02020603050405020304" pitchFamily="18" charset="0"/>
              <a:cs typeface="Times New Roman" panose="02020603050405020304" pitchFamily="18" charset="0"/>
            </a:endParaRP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11)</a:t>
            </a:r>
            <a:endParaRPr sz="2400" i="1" dirty="0"/>
          </a:p>
        </p:txBody>
      </p:sp>
    </p:spTree>
    <p:extLst>
      <p:ext uri="{BB962C8B-B14F-4D97-AF65-F5344CB8AC3E}">
        <p14:creationId xmlns:p14="http://schemas.microsoft.com/office/powerpoint/2010/main" val="24298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7" name="Google Shape;315;p49">
            <a:extLst>
              <a:ext uri="{FF2B5EF4-FFF2-40B4-BE49-F238E27FC236}">
                <a16:creationId xmlns:a16="http://schemas.microsoft.com/office/drawing/2014/main" id="{7C1E2031-348A-49A4-BE42-62EE58CF77E3}"/>
              </a:ext>
            </a:extLst>
          </p:cNvPr>
          <p:cNvSpPr txBox="1"/>
          <p:nvPr/>
        </p:nvSpPr>
        <p:spPr>
          <a:xfrm>
            <a:off x="381000" y="1225484"/>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(c)</a:t>
            </a:r>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None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residual plots show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any obvious pattern,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and the boxplot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does not show any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outliers.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Therefore,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quadratic model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is appropriate.</a:t>
            </a:r>
          </a:p>
          <a:p>
            <a:endParaRPr lang="en-US" sz="2600" dirty="0">
              <a:latin typeface="Times New Roman" panose="02020603050405020304" pitchFamily="18" charset="0"/>
              <a:cs typeface="Times New Roman" panose="02020603050405020304" pitchFamily="18" charset="0"/>
            </a:endParaRPr>
          </a:p>
        </p:txBody>
      </p:sp>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152</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(7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pic>
        <p:nvPicPr>
          <p:cNvPr id="3" name="Picture 2" descr="A close up of a map&#10;&#10;Description automatically generated">
            <a:extLst>
              <a:ext uri="{FF2B5EF4-FFF2-40B4-BE49-F238E27FC236}">
                <a16:creationId xmlns:a16="http://schemas.microsoft.com/office/drawing/2014/main" id="{B4B6668E-A78C-49D3-9C86-55F81B42C9AB}"/>
              </a:ext>
            </a:extLst>
          </p:cNvPr>
          <p:cNvPicPr>
            <a:picLocks noChangeAspect="1"/>
          </p:cNvPicPr>
          <p:nvPr/>
        </p:nvPicPr>
        <p:blipFill>
          <a:blip r:embed="rId3"/>
          <a:stretch>
            <a:fillRect/>
          </a:stretch>
        </p:blipFill>
        <p:spPr>
          <a:xfrm>
            <a:off x="3651195" y="1245692"/>
            <a:ext cx="5329720" cy="5140467"/>
          </a:xfrm>
          <a:prstGeom prst="rect">
            <a:avLst/>
          </a:prstGeom>
        </p:spPr>
      </p:pic>
    </p:spTree>
    <p:extLst>
      <p:ext uri="{BB962C8B-B14F-4D97-AF65-F5344CB8AC3E}">
        <p14:creationId xmlns:p14="http://schemas.microsoft.com/office/powerpoint/2010/main" val="54273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0" end="0"/>
                                            </p:txEl>
                                          </p:spTgt>
                                        </p:tgtEl>
                                        <p:attrNameLst>
                                          <p:attrName>style.visibility</p:attrName>
                                        </p:attrNameLst>
                                      </p:cBhvr>
                                      <p:to>
                                        <p:strVal val="visible"/>
                                      </p:to>
                                    </p:set>
                                    <p:animEffect transition="in" filter="fade">
                                      <p:cBhvr>
                                        <p:cTn id="7" dur="500"/>
                                        <p:tgtEl>
                                          <p:spTgt spid="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2" end="2"/>
                                            </p:txEl>
                                          </p:spTgt>
                                        </p:tgtEl>
                                        <p:attrNameLst>
                                          <p:attrName>style.visibility</p:attrName>
                                        </p:attrNameLst>
                                      </p:cBhvr>
                                      <p:to>
                                        <p:strVal val="visible"/>
                                      </p:to>
                                    </p:set>
                                    <p:animEffect transition="in" filter="fade">
                                      <p:cBhvr>
                                        <p:cTn id="12"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153</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(d) </a:t>
            </a:r>
            <a:r>
              <a:rPr lang="en-US" sz="2800" dirty="0">
                <a:latin typeface="Times New Roman" panose="02020603050405020304" pitchFamily="18" charset="0"/>
                <a:cs typeface="Times New Roman" panose="02020603050405020304" pitchFamily="18" charset="0"/>
              </a:rPr>
              <a:t>Interpret the coefficient of determination.</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From the output in the StatCrunch figure, the coefficient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determination,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0.974 = 97.4%.</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Therefore, 97.4% of the variation in efficiency is explained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by the quadratic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(8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271903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3" end="3"/>
                                            </p:txEl>
                                          </p:spTgt>
                                        </p:tgtEl>
                                        <p:attrNameLst>
                                          <p:attrName>style.visibility</p:attrName>
                                        </p:attrNameLst>
                                      </p:cBhvr>
                                      <p:to>
                                        <p:strVal val="visible"/>
                                      </p:to>
                                    </p:set>
                                    <p:animEffect transition="in" filter="fade">
                                      <p:cBhvr>
                                        <p:cTn id="12"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154</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(e) </a:t>
            </a:r>
            <a:r>
              <a:rPr lang="en-US" sz="2800" dirty="0">
                <a:latin typeface="Times New Roman" panose="02020603050405020304" pitchFamily="18" charset="0"/>
                <a:cs typeface="Times New Roman" panose="02020603050405020304" pitchFamily="18" charset="0"/>
              </a:rPr>
              <a:t>Does the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-test indicate that we should reject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Is either coefficient not significantly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different from zero?</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To test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versus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regression coefficients is different from 0, we look at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from the analysis of variance output and see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that </a:t>
            </a:r>
            <a:r>
              <a:rPr lang="en-US" sz="2600" i="1" dirty="0">
                <a:latin typeface="Times New Roman" panose="02020603050405020304" pitchFamily="18" charset="0"/>
                <a:cs typeface="Times New Roman" panose="02020603050405020304" pitchFamily="18" charset="0"/>
              </a:rPr>
              <a:t>F </a:t>
            </a:r>
            <a:r>
              <a:rPr lang="en-US" sz="2600" dirty="0">
                <a:latin typeface="Times New Roman" panose="02020603050405020304" pitchFamily="18" charset="0"/>
                <a:cs typeface="Times New Roman" panose="02020603050405020304" pitchFamily="18" charset="0"/>
              </a:rPr>
              <a:t>= 185.67 with a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reported as &lt; 0.0001. This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small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sufficient evidence against the statement 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null hypothesis. </a:t>
            </a:r>
          </a:p>
          <a:p>
            <a:r>
              <a:rPr lang="en-US" sz="2600" dirty="0">
                <a:latin typeface="Times New Roman" panose="02020603050405020304" pitchFamily="18" charset="0"/>
                <a:cs typeface="Times New Roman" panose="02020603050405020304" pitchFamily="18" charset="0"/>
              </a:rPr>
              <a:t>      Therefore, we reject the null hypothesis and conclude that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least one of the regression coefficients is different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zero.</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(9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graphicFrame>
        <p:nvGraphicFramePr>
          <p:cNvPr id="2" name="Object 1">
            <a:extLst>
              <a:ext uri="{FF2B5EF4-FFF2-40B4-BE49-F238E27FC236}">
                <a16:creationId xmlns:a16="http://schemas.microsoft.com/office/drawing/2014/main" id="{921ADA24-AEDB-42B6-B227-8A7B8F804FC8}"/>
              </a:ext>
            </a:extLst>
          </p:cNvPr>
          <p:cNvGraphicFramePr>
            <a:graphicFrameLocks noChangeAspect="1"/>
          </p:cNvGraphicFramePr>
          <p:nvPr>
            <p:extLst>
              <p:ext uri="{D42A27DB-BD31-4B8C-83A1-F6EECF244321}">
                <p14:modId xmlns:p14="http://schemas.microsoft.com/office/powerpoint/2010/main" val="1694235636"/>
              </p:ext>
            </p:extLst>
          </p:nvPr>
        </p:nvGraphicFramePr>
        <p:xfrm>
          <a:off x="990600" y="1747183"/>
          <a:ext cx="2413000" cy="431800"/>
        </p:xfrm>
        <a:graphic>
          <a:graphicData uri="http://schemas.openxmlformats.org/presentationml/2006/ole">
            <mc:AlternateContent xmlns:mc="http://schemas.openxmlformats.org/markup-compatibility/2006">
              <mc:Choice xmlns:v="urn:schemas-microsoft-com:vml" Requires="v">
                <p:oleObj spid="_x0000_s122979" name="Equation" r:id="rId4" imgW="2412720" imgH="431640" progId="Equation.DSMT4">
                  <p:embed/>
                </p:oleObj>
              </mc:Choice>
              <mc:Fallback>
                <p:oleObj name="Equation" r:id="rId4" imgW="2412720" imgH="431640" progId="Equation.DSMT4">
                  <p:embed/>
                  <p:pic>
                    <p:nvPicPr>
                      <p:cNvPr id="0" name=""/>
                      <p:cNvPicPr/>
                      <p:nvPr/>
                    </p:nvPicPr>
                    <p:blipFill>
                      <a:blip r:embed="rId5"/>
                      <a:stretch>
                        <a:fillRect/>
                      </a:stretch>
                    </p:blipFill>
                    <p:spPr>
                      <a:xfrm>
                        <a:off x="990600" y="1747183"/>
                        <a:ext cx="2413000" cy="4318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540F2D31-A6CF-4ED8-8D8B-87BC1423C288}"/>
              </a:ext>
            </a:extLst>
          </p:cNvPr>
          <p:cNvGraphicFramePr>
            <a:graphicFrameLocks noChangeAspect="1"/>
          </p:cNvGraphicFramePr>
          <p:nvPr>
            <p:extLst>
              <p:ext uri="{D42A27DB-BD31-4B8C-83A1-F6EECF244321}">
                <p14:modId xmlns:p14="http://schemas.microsoft.com/office/powerpoint/2010/main" val="3955603748"/>
              </p:ext>
            </p:extLst>
          </p:nvPr>
        </p:nvGraphicFramePr>
        <p:xfrm>
          <a:off x="1981528" y="2716450"/>
          <a:ext cx="2070100" cy="393700"/>
        </p:xfrm>
        <a:graphic>
          <a:graphicData uri="http://schemas.openxmlformats.org/presentationml/2006/ole">
            <mc:AlternateContent xmlns:mc="http://schemas.openxmlformats.org/markup-compatibility/2006">
              <mc:Choice xmlns:v="urn:schemas-microsoft-com:vml" Requires="v">
                <p:oleObj spid="_x0000_s122980" name="Equation" r:id="rId6" imgW="2070000" imgH="393480" progId="Equation.DSMT4">
                  <p:embed/>
                </p:oleObj>
              </mc:Choice>
              <mc:Fallback>
                <p:oleObj name="Equation" r:id="rId6" imgW="2070000" imgH="393480" progId="Equation.DSMT4">
                  <p:embed/>
                  <p:pic>
                    <p:nvPicPr>
                      <p:cNvPr id="0" name=""/>
                      <p:cNvPicPr/>
                      <p:nvPr/>
                    </p:nvPicPr>
                    <p:blipFill>
                      <a:blip r:embed="rId7"/>
                      <a:stretch>
                        <a:fillRect/>
                      </a:stretch>
                    </p:blipFill>
                    <p:spPr>
                      <a:xfrm>
                        <a:off x="1981528" y="2716450"/>
                        <a:ext cx="2070100" cy="393700"/>
                      </a:xfrm>
                      <a:prstGeom prst="rect">
                        <a:avLst/>
                      </a:prstGeom>
                    </p:spPr>
                  </p:pic>
                </p:oleObj>
              </mc:Fallback>
            </mc:AlternateContent>
          </a:graphicData>
        </a:graphic>
      </p:graphicFrame>
    </p:spTree>
    <p:extLst>
      <p:ext uri="{BB962C8B-B14F-4D97-AF65-F5344CB8AC3E}">
        <p14:creationId xmlns:p14="http://schemas.microsoft.com/office/powerpoint/2010/main" val="215511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3" end="3"/>
                                            </p:txEl>
                                          </p:spTgt>
                                        </p:tgtEl>
                                        <p:attrNameLst>
                                          <p:attrName>style.visibility</p:attrName>
                                        </p:attrNameLst>
                                      </p:cBhvr>
                                      <p:to>
                                        <p:strVal val="visible"/>
                                      </p:to>
                                    </p:set>
                                    <p:animEffect transition="in" filter="fade">
                                      <p:cBhvr>
                                        <p:cTn id="15"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155</a:t>
            </a:fld>
            <a:endParaRPr dirty="0"/>
          </a:p>
        </p:txBody>
      </p:sp>
      <p:sp>
        <p:nvSpPr>
          <p:cNvPr id="315" name="Google Shape;315;p49"/>
          <p:cNvSpPr txBox="1"/>
          <p:nvPr/>
        </p:nvSpPr>
        <p:spPr>
          <a:xfrm>
            <a:off x="400246" y="1225485"/>
            <a:ext cx="8580669" cy="4703975"/>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(e) </a:t>
            </a:r>
            <a:br>
              <a:rPr lang="en-US" sz="2600" b="1"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and</a:t>
            </a:r>
          </a:p>
          <a:p>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Looking again at the output in the StatCrunch figure, we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see that the test statistic for temperature, </a:t>
            </a:r>
            <a:r>
              <a:rPr lang="en-US" sz="2600" i="1" dirty="0">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is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19.09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with a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0.0001. We also see that the test statistic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for temperature</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x</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a:t>
            </a:r>
            <a:r>
              <a:rPr lang="en-US" sz="2600" i="1" dirty="0">
                <a:latin typeface="Times New Roman" panose="02020603050405020304" pitchFamily="18" charset="0"/>
                <a:cs typeface="Times New Roman" panose="02020603050405020304" pitchFamily="18" charset="0"/>
              </a:rPr>
              <a:t>t</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–19.01 with a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0.0001.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Since both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are sufficiently small, we reject each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null hypothesis. We conclude that both temperature and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temperature</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are significantly different from zero.</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(10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graphicFrame>
        <p:nvGraphicFramePr>
          <p:cNvPr id="7" name="Object 6">
            <a:extLst>
              <a:ext uri="{FF2B5EF4-FFF2-40B4-BE49-F238E27FC236}">
                <a16:creationId xmlns:a16="http://schemas.microsoft.com/office/drawing/2014/main" id="{CABEC79D-94D7-4EFB-9F75-3CE8E8BC3127}"/>
              </a:ext>
            </a:extLst>
          </p:cNvPr>
          <p:cNvGraphicFramePr>
            <a:graphicFrameLocks noChangeAspect="1"/>
          </p:cNvGraphicFramePr>
          <p:nvPr>
            <p:extLst>
              <p:ext uri="{D42A27DB-BD31-4B8C-83A1-F6EECF244321}">
                <p14:modId xmlns:p14="http://schemas.microsoft.com/office/powerpoint/2010/main" val="91908922"/>
              </p:ext>
            </p:extLst>
          </p:nvPr>
        </p:nvGraphicFramePr>
        <p:xfrm>
          <a:off x="2478659" y="1385051"/>
          <a:ext cx="3784600" cy="393700"/>
        </p:xfrm>
        <a:graphic>
          <a:graphicData uri="http://schemas.openxmlformats.org/presentationml/2006/ole">
            <mc:AlternateContent xmlns:mc="http://schemas.openxmlformats.org/markup-compatibility/2006">
              <mc:Choice xmlns:v="urn:schemas-microsoft-com:vml" Requires="v">
                <p:oleObj spid="_x0000_s124000" name="Equation" r:id="rId4" imgW="3784320" imgH="393480" progId="Equation.DSMT4">
                  <p:embed/>
                </p:oleObj>
              </mc:Choice>
              <mc:Fallback>
                <p:oleObj name="Equation" r:id="rId4" imgW="3784320" imgH="393480" progId="Equation.DSMT4">
                  <p:embed/>
                  <p:pic>
                    <p:nvPicPr>
                      <p:cNvPr id="2" name="Object 1">
                        <a:extLst>
                          <a:ext uri="{FF2B5EF4-FFF2-40B4-BE49-F238E27FC236}">
                            <a16:creationId xmlns:a16="http://schemas.microsoft.com/office/drawing/2014/main" id="{3AD30C6A-3951-4B70-9712-46C2454AA3DF}"/>
                          </a:ext>
                        </a:extLst>
                      </p:cNvPr>
                      <p:cNvPicPr/>
                      <p:nvPr/>
                    </p:nvPicPr>
                    <p:blipFill>
                      <a:blip r:embed="rId5"/>
                      <a:stretch>
                        <a:fillRect/>
                      </a:stretch>
                    </p:blipFill>
                    <p:spPr>
                      <a:xfrm>
                        <a:off x="2478659" y="1385051"/>
                        <a:ext cx="3784600" cy="3937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FEB6F903-5E50-4458-8EA4-A6C5751B690E}"/>
              </a:ext>
            </a:extLst>
          </p:cNvPr>
          <p:cNvGraphicFramePr>
            <a:graphicFrameLocks noChangeAspect="1"/>
          </p:cNvGraphicFramePr>
          <p:nvPr>
            <p:extLst>
              <p:ext uri="{D42A27DB-BD31-4B8C-83A1-F6EECF244321}">
                <p14:modId xmlns:p14="http://schemas.microsoft.com/office/powerpoint/2010/main" val="1567325367"/>
              </p:ext>
            </p:extLst>
          </p:nvPr>
        </p:nvGraphicFramePr>
        <p:xfrm>
          <a:off x="2446909" y="2071558"/>
          <a:ext cx="3848100" cy="393700"/>
        </p:xfrm>
        <a:graphic>
          <a:graphicData uri="http://schemas.openxmlformats.org/presentationml/2006/ole">
            <mc:AlternateContent xmlns:mc="http://schemas.openxmlformats.org/markup-compatibility/2006">
              <mc:Choice xmlns:v="urn:schemas-microsoft-com:vml" Requires="v">
                <p:oleObj spid="_x0000_s124001" name="Equation" r:id="rId6" imgW="3848040" imgH="393480" progId="Equation.DSMT4">
                  <p:embed/>
                </p:oleObj>
              </mc:Choice>
              <mc:Fallback>
                <p:oleObj name="Equation" r:id="rId6" imgW="3848040" imgH="393480" progId="Equation.DSMT4">
                  <p:embed/>
                  <p:pic>
                    <p:nvPicPr>
                      <p:cNvPr id="0" name=""/>
                      <p:cNvPicPr/>
                      <p:nvPr/>
                    </p:nvPicPr>
                    <p:blipFill>
                      <a:blip r:embed="rId7"/>
                      <a:stretch>
                        <a:fillRect/>
                      </a:stretch>
                    </p:blipFill>
                    <p:spPr>
                      <a:xfrm>
                        <a:off x="2446909" y="2071558"/>
                        <a:ext cx="3848100" cy="393700"/>
                      </a:xfrm>
                      <a:prstGeom prst="rect">
                        <a:avLst/>
                      </a:prstGeom>
                    </p:spPr>
                  </p:pic>
                </p:oleObj>
              </mc:Fallback>
            </mc:AlternateContent>
          </a:graphicData>
        </a:graphic>
      </p:graphicFrame>
    </p:spTree>
    <p:extLst>
      <p:ext uri="{BB962C8B-B14F-4D97-AF65-F5344CB8AC3E}">
        <p14:creationId xmlns:p14="http://schemas.microsoft.com/office/powerpoint/2010/main" val="861079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3" end="3"/>
                                            </p:txEl>
                                          </p:spTgt>
                                        </p:tgtEl>
                                        <p:attrNameLst>
                                          <p:attrName>style.visibility</p:attrName>
                                        </p:attrNameLst>
                                      </p:cBhvr>
                                      <p:to>
                                        <p:strVal val="visible"/>
                                      </p:to>
                                    </p:set>
                                    <p:animEffect transition="in" filter="fade">
                                      <p:cBhvr>
                                        <p:cTn id="12"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156</a:t>
            </a:fld>
            <a:endParaRPr dirty="0"/>
          </a:p>
        </p:txBody>
      </p:sp>
      <p:sp>
        <p:nvSpPr>
          <p:cNvPr id="315" name="Google Shape;315;p49"/>
          <p:cNvSpPr txBox="1"/>
          <p:nvPr/>
        </p:nvSpPr>
        <p:spPr>
          <a:xfrm>
            <a:off x="400246" y="1225485"/>
            <a:ext cx="8580669" cy="4958499"/>
          </a:xfrm>
          <a:prstGeom prst="rect">
            <a:avLst/>
          </a:prstGeom>
          <a:noFill/>
          <a:ln>
            <a:noFill/>
          </a:ln>
        </p:spPr>
        <p:txBody>
          <a:bodyPr spcFirstLastPara="1" wrap="square" lIns="91425" tIns="45700" rIns="91425" bIns="45700" anchor="t" anchorCtr="0">
            <a:noAutofit/>
          </a:bodyPr>
          <a:lstStyle/>
          <a:p>
            <a:r>
              <a:rPr lang="en-US" sz="2800" b="1" dirty="0">
                <a:latin typeface="Times New Roman" panose="02020603050405020304" pitchFamily="18" charset="0"/>
                <a:cs typeface="Times New Roman" panose="02020603050405020304" pitchFamily="18" charset="0"/>
              </a:rPr>
              <a:t>(f) </a:t>
            </a:r>
            <a:r>
              <a:rPr lang="en-US" sz="2800" dirty="0">
                <a:latin typeface="Times New Roman" panose="02020603050405020304" pitchFamily="18" charset="0"/>
                <a:cs typeface="Times New Roman" panose="02020603050405020304" pitchFamily="18" charset="0"/>
              </a:rPr>
              <a:t>Construct and interpret 95% confidence and prediction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intervals for </a:t>
            </a:r>
            <a:r>
              <a:rPr lang="en-US" sz="2800" i="1" dirty="0">
                <a:latin typeface="Times New Roman" panose="02020603050405020304" pitchFamily="18" charset="0"/>
                <a:cs typeface="Times New Roman" panose="02020603050405020304" pitchFamily="18" charset="0"/>
              </a:rPr>
              <a:t>x </a:t>
            </a:r>
            <a:r>
              <a:rPr lang="en-US" sz="2800" dirty="0">
                <a:latin typeface="Times New Roman" panose="02020603050405020304" pitchFamily="18" charset="0"/>
                <a:cs typeface="Times New Roman" panose="02020603050405020304" pitchFamily="18" charset="0"/>
              </a:rPr>
              <a:t>= 18 degrees Celsius.</a:t>
            </a:r>
          </a:p>
          <a:p>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The figure shows partial output from StatCrunch.</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Based on the output, we are 95% confident that the mean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efficiency at a temperature of 18 degrees Celsius is between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84.4% and 90.9%. We are 95% confident that the efficiency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for a particular grass plant at a temperature of 18 degrees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Celsius is between 78.7% and 96.7%.</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Quadratic Model</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(11 of 1</a:t>
            </a:r>
            <a:r>
              <a:rPr lang="en-US" sz="2400" dirty="0">
                <a:solidFill>
                  <a:schemeClr val="dk1"/>
                </a:solidFill>
              </a:rPr>
              <a:t>1</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0139F6AD-6A31-4634-8E8A-6BF4FD9A5304}"/>
              </a:ext>
            </a:extLst>
          </p:cNvPr>
          <p:cNvPicPr>
            <a:picLocks noChangeAspect="1"/>
          </p:cNvPicPr>
          <p:nvPr/>
        </p:nvPicPr>
        <p:blipFill>
          <a:blip r:embed="rId3"/>
          <a:stretch>
            <a:fillRect/>
          </a:stretch>
        </p:blipFill>
        <p:spPr>
          <a:xfrm>
            <a:off x="689539" y="3104269"/>
            <a:ext cx="7557531" cy="946406"/>
          </a:xfrm>
          <a:prstGeom prst="rect">
            <a:avLst/>
          </a:prstGeom>
        </p:spPr>
      </p:pic>
    </p:spTree>
    <p:extLst>
      <p:ext uri="{BB962C8B-B14F-4D97-AF65-F5344CB8AC3E}">
        <p14:creationId xmlns:p14="http://schemas.microsoft.com/office/powerpoint/2010/main" val="417810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5">
                                            <p:txEl>
                                              <p:pRg st="5" end="5"/>
                                            </p:txEl>
                                          </p:spTgt>
                                        </p:tgtEl>
                                        <p:attrNameLst>
                                          <p:attrName>style.visibility</p:attrName>
                                        </p:attrNameLst>
                                      </p:cBhvr>
                                      <p:to>
                                        <p:strVal val="visible"/>
                                      </p:to>
                                    </p:set>
                                    <p:animEffect transition="in" filter="fade">
                                      <p:cBhvr>
                                        <p:cTn id="15"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14-</a:t>
            </a:r>
            <a:fld id="{00000000-1234-1234-1234-123412341234}" type="slidenum">
              <a:rPr lang="en-US" sz="1400" b="1" i="0" u="none" smtClean="0">
                <a:solidFill>
                  <a:schemeClr val="lt1"/>
                </a:solidFill>
                <a:latin typeface="Verdana"/>
                <a:ea typeface="Verdana"/>
                <a:cs typeface="Verdana"/>
                <a:sym typeface="Verdana"/>
              </a:rPr>
              <a:t>157</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14.6 </a:t>
            </a:r>
            <a:r>
              <a:rPr lang="en-US" sz="4000" b="1" dirty="0">
                <a:solidFill>
                  <a:srgbClr val="333399"/>
                </a:solidFill>
                <a:latin typeface="+mn-lt"/>
                <a:cs typeface="Times New Roman"/>
                <a:sym typeface="Times New Roman"/>
              </a:rPr>
              <a:t>Building a Regression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Model</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049431"/>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3200" dirty="0">
                <a:latin typeface="Times New Roman" panose="02020603050405020304" pitchFamily="18" charset="0"/>
                <a:cs typeface="Times New Roman" panose="02020603050405020304" pitchFamily="18" charset="0"/>
              </a:rPr>
              <a:t>Perform a partial </a:t>
            </a:r>
            <a:r>
              <a:rPr lang="en-US" sz="3200" i="1" dirty="0">
                <a:latin typeface="Times New Roman" panose="02020603050405020304" pitchFamily="18" charset="0"/>
                <a:cs typeface="Times New Roman" panose="02020603050405020304" pitchFamily="18" charset="0"/>
              </a:rPr>
              <a:t>F</a:t>
            </a:r>
            <a:r>
              <a:rPr lang="en-US" sz="3200" dirty="0">
                <a:latin typeface="Times New Roman" panose="02020603050405020304" pitchFamily="18" charset="0"/>
                <a:cs typeface="Times New Roman" panose="02020603050405020304" pitchFamily="18" charset="0"/>
              </a:rPr>
              <a:t>-test</a:t>
            </a:r>
          </a:p>
          <a:p>
            <a:pPr marL="609600" lvl="0" indent="-609600">
              <a:buClr>
                <a:srgbClr val="A00020"/>
              </a:buClr>
              <a:buSzPts val="3200"/>
              <a:buFont typeface="Times New Roman"/>
              <a:buAutoNum type="arabicPeriod"/>
            </a:pPr>
            <a:r>
              <a:rPr lang="en-US" sz="3200" dirty="0">
                <a:latin typeface="Times New Roman" panose="02020603050405020304" pitchFamily="18" charset="0"/>
                <a:cs typeface="Times New Roman" panose="02020603050405020304" pitchFamily="18" charset="0"/>
              </a:rPr>
              <a:t>Build a regression model</a:t>
            </a: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61356" y="1716727"/>
            <a:ext cx="834662" cy="843267"/>
          </a:xfrm>
          <a:prstGeom prst="rect">
            <a:avLst/>
          </a:prstGeom>
        </p:spPr>
      </p:pic>
    </p:spTree>
    <p:extLst>
      <p:ext uri="{BB962C8B-B14F-4D97-AF65-F5344CB8AC3E}">
        <p14:creationId xmlns:p14="http://schemas.microsoft.com/office/powerpoint/2010/main" val="1841864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9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dirty="0">
                <a:solidFill>
                  <a:schemeClr val="accent2"/>
                </a:solidFill>
                <a:latin typeface="Arial"/>
                <a:ea typeface="Arial"/>
                <a:cs typeface="Arial"/>
                <a:sym typeface="Arial"/>
              </a:rPr>
              <a:t>Objective 1</a:t>
            </a:r>
            <a:endParaRPr dirty="0"/>
          </a:p>
        </p:txBody>
      </p:sp>
      <p:sp>
        <p:nvSpPr>
          <p:cNvPr id="672" name="Google Shape;672;p92"/>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a Partial </a:t>
            </a:r>
            <a:r>
              <a:rPr lang="en-US" sz="3200" b="0" i="1" u="none" dirty="0">
                <a:solidFill>
                  <a:schemeClr val="dk1"/>
                </a:solidFill>
                <a:latin typeface="Times New Roman"/>
                <a:ea typeface="Times New Roman"/>
                <a:cs typeface="Times New Roman"/>
                <a:sym typeface="Times New Roman"/>
              </a:rPr>
              <a:t>F</a:t>
            </a:r>
            <a:r>
              <a:rPr lang="en-US" sz="3200" b="0" i="0" u="none" dirty="0">
                <a:solidFill>
                  <a:schemeClr val="dk1"/>
                </a:solidFill>
                <a:latin typeface="Times New Roman"/>
                <a:ea typeface="Times New Roman"/>
                <a:cs typeface="Times New Roman"/>
                <a:sym typeface="Times New Roman"/>
              </a:rPr>
              <a:t>-Test</a:t>
            </a:r>
            <a:endParaRPr dirty="0"/>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158</a:t>
            </a:fld>
            <a:endParaRPr/>
          </a:p>
        </p:txBody>
      </p:sp>
    </p:spTree>
    <p:extLst>
      <p:ext uri="{BB962C8B-B14F-4D97-AF65-F5344CB8AC3E}">
        <p14:creationId xmlns:p14="http://schemas.microsoft.com/office/powerpoint/2010/main" val="341607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159</a:t>
            </a:fld>
            <a:endParaRPr/>
          </a:p>
        </p:txBody>
      </p:sp>
      <p:sp>
        <p:nvSpPr>
          <p:cNvPr id="6" name="Rectangle 5">
            <a:extLst>
              <a:ext uri="{FF2B5EF4-FFF2-40B4-BE49-F238E27FC236}">
                <a16:creationId xmlns:a16="http://schemas.microsoft.com/office/drawing/2014/main" id="{CF144A75-7201-4F49-8A88-38B3756FD095}"/>
              </a:ext>
            </a:extLst>
          </p:cNvPr>
          <p:cNvSpPr/>
          <p:nvPr/>
        </p:nvSpPr>
        <p:spPr>
          <a:xfrm>
            <a:off x="921470" y="1967534"/>
            <a:ext cx="7301059"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We now introduce a third test, called the </a:t>
            </a:r>
            <a:r>
              <a:rPr lang="en-US" sz="2800" b="1" dirty="0">
                <a:latin typeface="Times New Roman" panose="02020603050405020304" pitchFamily="18" charset="0"/>
                <a:cs typeface="Times New Roman" panose="02020603050405020304" pitchFamily="18" charset="0"/>
              </a:rPr>
              <a:t>partial </a:t>
            </a:r>
            <a:r>
              <a:rPr lang="en-US" sz="2800" b="1" i="1" dirty="0">
                <a:latin typeface="Times New Roman" panose="02020603050405020304" pitchFamily="18" charset="0"/>
                <a:cs typeface="Times New Roman" panose="02020603050405020304" pitchFamily="18" charset="0"/>
              </a:rPr>
              <a:t>F</a:t>
            </a:r>
            <a:r>
              <a:rPr lang="en-US" sz="2800" b="1" dirty="0">
                <a:latin typeface="Times New Roman" panose="02020603050405020304" pitchFamily="18" charset="0"/>
                <a:cs typeface="Times New Roman" panose="02020603050405020304" pitchFamily="18" charset="0"/>
              </a:rPr>
              <a:t>-test</a:t>
            </a:r>
            <a:r>
              <a:rPr lang="en-US" sz="2800" dirty="0">
                <a:latin typeface="Times New Roman" panose="02020603050405020304" pitchFamily="18" charset="0"/>
                <a:cs typeface="Times New Roman" panose="02020603050405020304" pitchFamily="18" charset="0"/>
              </a:rPr>
              <a:t>, which is used to determine if at least one of a subset of regression coefficients in a multiple regression model is different from zero.</a:t>
            </a:r>
          </a:p>
        </p:txBody>
      </p:sp>
    </p:spTree>
    <p:extLst>
      <p:ext uri="{BB962C8B-B14F-4D97-AF65-F5344CB8AC3E}">
        <p14:creationId xmlns:p14="http://schemas.microsoft.com/office/powerpoint/2010/main" val="390326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160</a:t>
            </a:fld>
            <a:endParaRPr dirty="0"/>
          </a:p>
        </p:txBody>
      </p:sp>
      <p:sp>
        <p:nvSpPr>
          <p:cNvPr id="315" name="Google Shape;315;p49"/>
          <p:cNvSpPr txBox="1"/>
          <p:nvPr/>
        </p:nvSpPr>
        <p:spPr>
          <a:xfrm>
            <a:off x="281665" y="527903"/>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To test</a:t>
            </a:r>
          </a:p>
          <a:p>
            <a:r>
              <a:rPr lang="en-US" sz="2600" dirty="0">
                <a:latin typeface="Times New Roman" panose="02020603050405020304" pitchFamily="18" charset="0"/>
                <a:cs typeface="Times New Roman" panose="02020603050405020304" pitchFamily="18" charset="0"/>
              </a:rPr>
              <a:t>		                        versus</a:t>
            </a:r>
          </a:p>
          <a:p>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 of the coefficients,                         is different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from zero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find the least-squares regression of both Model 1 and Model 2.</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If Model 2 contributes significantly to explaining the value of </a:t>
            </a:r>
            <a:r>
              <a:rPr lang="en-US" sz="2600" i="1" dirty="0">
                <a:latin typeface="Times New Roman" panose="02020603050405020304" pitchFamily="18" charset="0"/>
                <a:cs typeface="Times New Roman" panose="02020603050405020304" pitchFamily="18" charset="0"/>
              </a:rPr>
              <a:t>y, </a:t>
            </a:r>
            <a:r>
              <a:rPr lang="en-US" sz="2600" dirty="0">
                <a:latin typeface="Times New Roman" panose="02020603050405020304" pitchFamily="18" charset="0"/>
                <a:cs typeface="Times New Roman" panose="02020603050405020304" pitchFamily="18" charset="0"/>
              </a:rPr>
              <a:t>then we would expect the sum of squared errors (SSE) in Model 2 to be significantly less than the SSE in Model 1. So, the greater the difference in sum of squared errors between the two models, the stronger the evidence against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a:t>
            </a:r>
          </a:p>
          <a:p>
            <a:endParaRPr lang="en-US" sz="2600" dirty="0">
              <a:latin typeface="Times New Roman" panose="02020603050405020304" pitchFamily="18" charset="0"/>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7CE61828-336C-4C2E-BAFF-BA1E217019BC}"/>
              </a:ext>
            </a:extLst>
          </p:cNvPr>
          <p:cNvGraphicFramePr>
            <a:graphicFrameLocks noChangeAspect="1"/>
          </p:cNvGraphicFramePr>
          <p:nvPr>
            <p:extLst>
              <p:ext uri="{D42A27DB-BD31-4B8C-83A1-F6EECF244321}">
                <p14:modId xmlns:p14="http://schemas.microsoft.com/office/powerpoint/2010/main" val="1007658937"/>
              </p:ext>
            </p:extLst>
          </p:nvPr>
        </p:nvGraphicFramePr>
        <p:xfrm>
          <a:off x="2547031" y="601091"/>
          <a:ext cx="3759200" cy="393700"/>
        </p:xfrm>
        <a:graphic>
          <a:graphicData uri="http://schemas.openxmlformats.org/presentationml/2006/ole">
            <mc:AlternateContent xmlns:mc="http://schemas.openxmlformats.org/markup-compatibility/2006">
              <mc:Choice xmlns:v="urn:schemas-microsoft-com:vml" Requires="v">
                <p:oleObj spid="_x0000_s127054" name="Equation" r:id="rId4" imgW="3759120" imgH="393480" progId="Equation.DSMT4">
                  <p:embed/>
                </p:oleObj>
              </mc:Choice>
              <mc:Fallback>
                <p:oleObj name="Equation" r:id="rId4" imgW="3759120" imgH="393480" progId="Equation.DSMT4">
                  <p:embed/>
                  <p:pic>
                    <p:nvPicPr>
                      <p:cNvPr id="6" name="Object 5">
                        <a:extLst>
                          <a:ext uri="{FF2B5EF4-FFF2-40B4-BE49-F238E27FC236}">
                            <a16:creationId xmlns:a16="http://schemas.microsoft.com/office/drawing/2014/main" id="{7CE61828-336C-4C2E-BAFF-BA1E217019BC}"/>
                          </a:ext>
                        </a:extLst>
                      </p:cNvPr>
                      <p:cNvPicPr/>
                      <p:nvPr/>
                    </p:nvPicPr>
                    <p:blipFill>
                      <a:blip r:embed="rId5"/>
                      <a:stretch>
                        <a:fillRect/>
                      </a:stretch>
                    </p:blipFill>
                    <p:spPr>
                      <a:xfrm>
                        <a:off x="2547031" y="601091"/>
                        <a:ext cx="3759200" cy="39370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CA58D719-381D-4D99-8CB8-98EAFFBD4C32}"/>
              </a:ext>
            </a:extLst>
          </p:cNvPr>
          <p:cNvGraphicFramePr>
            <a:graphicFrameLocks noChangeAspect="1"/>
          </p:cNvGraphicFramePr>
          <p:nvPr>
            <p:extLst>
              <p:ext uri="{D42A27DB-BD31-4B8C-83A1-F6EECF244321}">
                <p14:modId xmlns:p14="http://schemas.microsoft.com/office/powerpoint/2010/main" val="1782723141"/>
              </p:ext>
            </p:extLst>
          </p:nvPr>
        </p:nvGraphicFramePr>
        <p:xfrm>
          <a:off x="5061603" y="1383253"/>
          <a:ext cx="1943100" cy="393700"/>
        </p:xfrm>
        <a:graphic>
          <a:graphicData uri="http://schemas.openxmlformats.org/presentationml/2006/ole">
            <mc:AlternateContent xmlns:mc="http://schemas.openxmlformats.org/markup-compatibility/2006">
              <mc:Choice xmlns:v="urn:schemas-microsoft-com:vml" Requires="v">
                <p:oleObj spid="_x0000_s127055" name="Equation" r:id="rId6" imgW="1942920" imgH="393480" progId="Equation.DSMT4">
                  <p:embed/>
                </p:oleObj>
              </mc:Choice>
              <mc:Fallback>
                <p:oleObj name="Equation" r:id="rId6" imgW="1942920" imgH="393480" progId="Equation.DSMT4">
                  <p:embed/>
                  <p:pic>
                    <p:nvPicPr>
                      <p:cNvPr id="2" name="Object 1">
                        <a:extLst>
                          <a:ext uri="{FF2B5EF4-FFF2-40B4-BE49-F238E27FC236}">
                            <a16:creationId xmlns:a16="http://schemas.microsoft.com/office/drawing/2014/main" id="{CA58D719-381D-4D99-8CB8-98EAFFBD4C32}"/>
                          </a:ext>
                        </a:extLst>
                      </p:cNvPr>
                      <p:cNvPicPr/>
                      <p:nvPr/>
                    </p:nvPicPr>
                    <p:blipFill>
                      <a:blip r:embed="rId7"/>
                      <a:stretch>
                        <a:fillRect/>
                      </a:stretch>
                    </p:blipFill>
                    <p:spPr>
                      <a:xfrm>
                        <a:off x="5061603" y="1383253"/>
                        <a:ext cx="1943100" cy="393700"/>
                      </a:xfrm>
                      <a:prstGeom prst="rect">
                        <a:avLst/>
                      </a:prstGeom>
                    </p:spPr>
                  </p:pic>
                </p:oleObj>
              </mc:Fallback>
            </mc:AlternateContent>
          </a:graphicData>
        </a:graphic>
      </p:graphicFrame>
    </p:spTree>
    <p:extLst>
      <p:ext uri="{BB962C8B-B14F-4D97-AF65-F5344CB8AC3E}">
        <p14:creationId xmlns:p14="http://schemas.microsoft.com/office/powerpoint/2010/main" val="3823295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6" end="6"/>
                                            </p:txEl>
                                          </p:spTgt>
                                        </p:tgtEl>
                                        <p:attrNameLst>
                                          <p:attrName>style.visibility</p:attrName>
                                        </p:attrNameLst>
                                      </p:cBhvr>
                                      <p:to>
                                        <p:strVal val="visible"/>
                                      </p:to>
                                    </p:set>
                                    <p:animEffect transition="in" filter="fade">
                                      <p:cBhvr>
                                        <p:cTn id="7" dur="500"/>
                                        <p:tgtEl>
                                          <p:spTgt spid="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161</a:t>
            </a:fld>
            <a:endParaRPr dirty="0"/>
          </a:p>
        </p:txBody>
      </p:sp>
      <p:sp>
        <p:nvSpPr>
          <p:cNvPr id="315" name="Google Shape;315;p49"/>
          <p:cNvSpPr txBox="1"/>
          <p:nvPr/>
        </p:nvSpPr>
        <p:spPr>
          <a:xfrm>
            <a:off x="281665" y="697584"/>
            <a:ext cx="8580669" cy="542983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test statistic for this hypothesis test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where </a:t>
            </a:r>
          </a:p>
          <a:p>
            <a:r>
              <a:rPr lang="en-US" sz="2600" dirty="0">
                <a:latin typeface="Times New Roman" panose="02020603050405020304" pitchFamily="18" charset="0"/>
                <a:cs typeface="Times New Roman" panose="02020603050405020304" pitchFamily="18" charset="0"/>
              </a:rPr>
              <a:t>         SSE(1) is the sum of squared errors from Model 1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reduced model)</a:t>
            </a:r>
          </a:p>
          <a:p>
            <a:r>
              <a:rPr lang="en-US" sz="2600" dirty="0">
                <a:latin typeface="Times New Roman" panose="02020603050405020304" pitchFamily="18" charset="0"/>
                <a:cs typeface="Times New Roman" panose="02020603050405020304" pitchFamily="18" charset="0"/>
              </a:rPr>
              <a:t>         SSE(2) is the sum of squared errors from Model 2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full model)</a:t>
            </a:r>
          </a:p>
          <a:p>
            <a:r>
              <a:rPr lang="en-US" sz="2600" i="1" dirty="0">
                <a:latin typeface="Times New Roman" panose="02020603050405020304" pitchFamily="18" charset="0"/>
                <a:cs typeface="Times New Roman" panose="02020603050405020304" pitchFamily="18" charset="0"/>
              </a:rPr>
              <a:t>                   k </a:t>
            </a:r>
            <a:r>
              <a:rPr lang="en-US" sz="2600" dirty="0">
                <a:latin typeface="Times New Roman" panose="02020603050405020304" pitchFamily="18" charset="0"/>
                <a:cs typeface="Times New Roman" panose="02020603050405020304" pitchFamily="18" charset="0"/>
              </a:rPr>
              <a:t>is the number of explanatory variables in Model 2</a:t>
            </a:r>
          </a:p>
          <a:p>
            <a:r>
              <a:rPr lang="en-US" sz="2600" i="1" dirty="0">
                <a:latin typeface="Times New Roman" panose="02020603050405020304" pitchFamily="18" charset="0"/>
                <a:cs typeface="Times New Roman" panose="02020603050405020304" pitchFamily="18" charset="0"/>
              </a:rPr>
              <a:t>                   r </a:t>
            </a:r>
            <a:r>
              <a:rPr lang="en-US" sz="2600" dirty="0">
                <a:latin typeface="Times New Roman" panose="02020603050405020304" pitchFamily="18" charset="0"/>
                <a:cs typeface="Times New Roman" panose="02020603050405020304" pitchFamily="18" charset="0"/>
              </a:rPr>
              <a:t>is the number of explanatory variables in Model 1</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graphicFrame>
        <p:nvGraphicFramePr>
          <p:cNvPr id="4" name="Object 3">
            <a:extLst>
              <a:ext uri="{FF2B5EF4-FFF2-40B4-BE49-F238E27FC236}">
                <a16:creationId xmlns:a16="http://schemas.microsoft.com/office/drawing/2014/main" id="{5DD08227-2047-496A-8DEF-79CA4548E3D4}"/>
              </a:ext>
            </a:extLst>
          </p:cNvPr>
          <p:cNvGraphicFramePr>
            <a:graphicFrameLocks noChangeAspect="1"/>
          </p:cNvGraphicFramePr>
          <p:nvPr>
            <p:extLst>
              <p:ext uri="{D42A27DB-BD31-4B8C-83A1-F6EECF244321}">
                <p14:modId xmlns:p14="http://schemas.microsoft.com/office/powerpoint/2010/main" val="2613037398"/>
              </p:ext>
            </p:extLst>
          </p:nvPr>
        </p:nvGraphicFramePr>
        <p:xfrm>
          <a:off x="1784349" y="1551233"/>
          <a:ext cx="5575300" cy="1625600"/>
        </p:xfrm>
        <a:graphic>
          <a:graphicData uri="http://schemas.openxmlformats.org/presentationml/2006/ole">
            <mc:AlternateContent xmlns:mc="http://schemas.openxmlformats.org/markup-compatibility/2006">
              <mc:Choice xmlns:v="urn:schemas-microsoft-com:vml" Requires="v">
                <p:oleObj spid="_x0000_s128042" name="Equation" r:id="rId4" imgW="5574960" imgH="1625400" progId="Equation.DSMT4">
                  <p:embed/>
                </p:oleObj>
              </mc:Choice>
              <mc:Fallback>
                <p:oleObj name="Equation" r:id="rId4" imgW="5574960" imgH="1625400" progId="Equation.DSMT4">
                  <p:embed/>
                  <p:pic>
                    <p:nvPicPr>
                      <p:cNvPr id="0" name=""/>
                      <p:cNvPicPr/>
                      <p:nvPr/>
                    </p:nvPicPr>
                    <p:blipFill>
                      <a:blip r:embed="rId5"/>
                      <a:stretch>
                        <a:fillRect/>
                      </a:stretch>
                    </p:blipFill>
                    <p:spPr>
                      <a:xfrm>
                        <a:off x="1784349" y="1551233"/>
                        <a:ext cx="5575300" cy="1625600"/>
                      </a:xfrm>
                      <a:prstGeom prst="rect">
                        <a:avLst/>
                      </a:prstGeom>
                    </p:spPr>
                  </p:pic>
                </p:oleObj>
              </mc:Fallback>
            </mc:AlternateContent>
          </a:graphicData>
        </a:graphic>
      </p:graphicFrame>
    </p:spTree>
    <p:extLst>
      <p:ext uri="{BB962C8B-B14F-4D97-AF65-F5344CB8AC3E}">
        <p14:creationId xmlns:p14="http://schemas.microsoft.com/office/powerpoint/2010/main" val="18335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162</a:t>
            </a:fld>
            <a:endParaRPr dirty="0"/>
          </a:p>
        </p:txBody>
      </p:sp>
      <p:sp>
        <p:nvSpPr>
          <p:cNvPr id="315" name="Google Shape;315;p49"/>
          <p:cNvSpPr txBox="1"/>
          <p:nvPr/>
        </p:nvSpPr>
        <p:spPr>
          <a:xfrm>
            <a:off x="400246" y="1225485"/>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The data in Table 9, shown on the next slide, represent the miles per gallon (MPG) along with potential explanatory variables weight (in thousands of pounds), number of cylinders, and horsepower. Use a partial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-test to determine whether both cylinders and horsepower do not contribute significantly to the ability to predict miles per gallon. Use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Partial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spTree>
    <p:extLst>
      <p:ext uri="{BB962C8B-B14F-4D97-AF65-F5344CB8AC3E}">
        <p14:creationId xmlns:p14="http://schemas.microsoft.com/office/powerpoint/2010/main" val="403536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163</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Partial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FBEB4C3B-02B3-4AEA-9CC9-B4222750DE27}"/>
              </a:ext>
            </a:extLst>
          </p:cNvPr>
          <p:cNvPicPr>
            <a:picLocks noChangeAspect="1"/>
          </p:cNvPicPr>
          <p:nvPr/>
        </p:nvPicPr>
        <p:blipFill>
          <a:blip r:embed="rId3"/>
          <a:stretch>
            <a:fillRect/>
          </a:stretch>
        </p:blipFill>
        <p:spPr>
          <a:xfrm>
            <a:off x="381000" y="1225485"/>
            <a:ext cx="8619162" cy="5087273"/>
          </a:xfrm>
          <a:prstGeom prst="rect">
            <a:avLst/>
          </a:prstGeom>
        </p:spPr>
      </p:pic>
    </p:spTree>
    <p:extLst>
      <p:ext uri="{BB962C8B-B14F-4D97-AF65-F5344CB8AC3E}">
        <p14:creationId xmlns:p14="http://schemas.microsoft.com/office/powerpoint/2010/main" val="13586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164</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hypotheses to be tested are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versus</a:t>
            </a:r>
          </a:p>
          <a:p>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or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is different from zero</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Figure (a) on the next slide shows the least-squares regression output for the full model and Figure (b) shows the least-squares regression output for the reduced model both obtained from StatCrunch.</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Partial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graphicFrame>
        <p:nvGraphicFramePr>
          <p:cNvPr id="2" name="Object 1">
            <a:extLst>
              <a:ext uri="{FF2B5EF4-FFF2-40B4-BE49-F238E27FC236}">
                <a16:creationId xmlns:a16="http://schemas.microsoft.com/office/drawing/2014/main" id="{D45CBA43-B596-4D24-9944-6675A568ABBA}"/>
              </a:ext>
            </a:extLst>
          </p:cNvPr>
          <p:cNvGraphicFramePr>
            <a:graphicFrameLocks noChangeAspect="1"/>
          </p:cNvGraphicFramePr>
          <p:nvPr>
            <p:extLst>
              <p:ext uri="{D42A27DB-BD31-4B8C-83A1-F6EECF244321}">
                <p14:modId xmlns:p14="http://schemas.microsoft.com/office/powerpoint/2010/main" val="709979277"/>
              </p:ext>
            </p:extLst>
          </p:nvPr>
        </p:nvGraphicFramePr>
        <p:xfrm>
          <a:off x="3400065" y="1732080"/>
          <a:ext cx="2082800" cy="393700"/>
        </p:xfrm>
        <a:graphic>
          <a:graphicData uri="http://schemas.openxmlformats.org/presentationml/2006/ole">
            <mc:AlternateContent xmlns:mc="http://schemas.openxmlformats.org/markup-compatibility/2006">
              <mc:Choice xmlns:v="urn:schemas-microsoft-com:vml" Requires="v">
                <p:oleObj spid="_x0000_s124971" name="Equation" r:id="rId4" imgW="2082600" imgH="393480" progId="Equation.DSMT4">
                  <p:embed/>
                </p:oleObj>
              </mc:Choice>
              <mc:Fallback>
                <p:oleObj name="Equation" r:id="rId4" imgW="2082600" imgH="393480" progId="Equation.DSMT4">
                  <p:embed/>
                  <p:pic>
                    <p:nvPicPr>
                      <p:cNvPr id="0" name=""/>
                      <p:cNvPicPr/>
                      <p:nvPr/>
                    </p:nvPicPr>
                    <p:blipFill>
                      <a:blip r:embed="rId5"/>
                      <a:stretch>
                        <a:fillRect/>
                      </a:stretch>
                    </p:blipFill>
                    <p:spPr>
                      <a:xfrm>
                        <a:off x="3400065" y="1732080"/>
                        <a:ext cx="2082800" cy="393700"/>
                      </a:xfrm>
                      <a:prstGeom prst="rect">
                        <a:avLst/>
                      </a:prstGeom>
                    </p:spPr>
                  </p:pic>
                </p:oleObj>
              </mc:Fallback>
            </mc:AlternateContent>
          </a:graphicData>
        </a:graphic>
      </p:graphicFrame>
    </p:spTree>
    <p:extLst>
      <p:ext uri="{BB962C8B-B14F-4D97-AF65-F5344CB8AC3E}">
        <p14:creationId xmlns:p14="http://schemas.microsoft.com/office/powerpoint/2010/main" val="2707948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5" end="5"/>
                                            </p:txEl>
                                          </p:spTgt>
                                        </p:tgtEl>
                                        <p:attrNameLst>
                                          <p:attrName>style.visibility</p:attrName>
                                        </p:attrNameLst>
                                      </p:cBhvr>
                                      <p:to>
                                        <p:strVal val="visible"/>
                                      </p:to>
                                    </p:set>
                                    <p:animEffect transition="in" filter="fade">
                                      <p:cBhvr>
                                        <p:cTn id="7" dur="500"/>
                                        <p:tgtEl>
                                          <p:spTgt spid="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165</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Partial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pic>
        <p:nvPicPr>
          <p:cNvPr id="4" name="Picture 3" descr="A screenshot of a cell phone&#10;&#10;Description automatically generated">
            <a:extLst>
              <a:ext uri="{FF2B5EF4-FFF2-40B4-BE49-F238E27FC236}">
                <a16:creationId xmlns:a16="http://schemas.microsoft.com/office/drawing/2014/main" id="{4A46053B-987F-494A-BF3E-BE061163290C}"/>
              </a:ext>
            </a:extLst>
          </p:cNvPr>
          <p:cNvPicPr>
            <a:picLocks noChangeAspect="1"/>
          </p:cNvPicPr>
          <p:nvPr/>
        </p:nvPicPr>
        <p:blipFill>
          <a:blip r:embed="rId3"/>
          <a:stretch>
            <a:fillRect/>
          </a:stretch>
        </p:blipFill>
        <p:spPr>
          <a:xfrm>
            <a:off x="381000" y="1225485"/>
            <a:ext cx="8619162" cy="3119741"/>
          </a:xfrm>
          <a:prstGeom prst="rect">
            <a:avLst/>
          </a:prstGeom>
        </p:spPr>
      </p:pic>
      <p:sp>
        <p:nvSpPr>
          <p:cNvPr id="5" name="Rectangle 4">
            <a:extLst>
              <a:ext uri="{FF2B5EF4-FFF2-40B4-BE49-F238E27FC236}">
                <a16:creationId xmlns:a16="http://schemas.microsoft.com/office/drawing/2014/main" id="{2062CF73-AC5A-4712-AB66-954A48D3D981}"/>
              </a:ext>
            </a:extLst>
          </p:cNvPr>
          <p:cNvSpPr/>
          <p:nvPr/>
        </p:nvSpPr>
        <p:spPr>
          <a:xfrm>
            <a:off x="381000" y="4054777"/>
            <a:ext cx="8455844" cy="209288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From Figure (a), the sum of squared errors for the full model (Model 2) is SSE(2) =265.85352 and the mean squared error for the full model is MSE(2) = 7.819221.</a:t>
            </a:r>
          </a:p>
          <a:p>
            <a:r>
              <a:rPr lang="en-US" sz="2600" dirty="0">
                <a:latin typeface="Times New Roman" panose="02020603050405020304" pitchFamily="18" charset="0"/>
                <a:cs typeface="Times New Roman" panose="02020603050405020304" pitchFamily="18" charset="0"/>
              </a:rPr>
              <a:t>From Figure (b), the sum of squared errors for the reduced model (Model 1) is SSE(1) = 292.57519.</a:t>
            </a:r>
          </a:p>
        </p:txBody>
      </p:sp>
    </p:spTree>
    <p:extLst>
      <p:ext uri="{BB962C8B-B14F-4D97-AF65-F5344CB8AC3E}">
        <p14:creationId xmlns:p14="http://schemas.microsoft.com/office/powerpoint/2010/main" val="3521309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166</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test statistic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critical value with numerator degrees of freedom = 2 and denominator degrees of freedom = 34 is </a:t>
            </a:r>
            <a:r>
              <a:rPr lang="en-US" sz="2600" i="1" dirty="0">
                <a:latin typeface="Times New Roman" panose="02020603050405020304" pitchFamily="18" charset="0"/>
                <a:cs typeface="Times New Roman" panose="02020603050405020304" pitchFamily="18" charset="0"/>
              </a:rPr>
              <a:t>F</a:t>
            </a:r>
            <a:r>
              <a:rPr lang="en-US" sz="2600" baseline="-25000" dirty="0">
                <a:latin typeface="Times New Roman" panose="02020603050405020304" pitchFamily="18" charset="0"/>
                <a:cs typeface="Times New Roman" panose="02020603050405020304" pitchFamily="18" charset="0"/>
              </a:rPr>
              <a:t>0.05, 2, 34  </a:t>
            </a:r>
            <a:r>
              <a:rPr lang="en-US" sz="2600" dirty="0">
                <a:latin typeface="Times New Roman" panose="02020603050405020304" pitchFamily="18" charset="0"/>
                <a:cs typeface="Times New Roman" panose="02020603050405020304" pitchFamily="18" charset="0"/>
                <a:sym typeface="Symbol" panose="05050102010706020507" pitchFamily="18" charset="2"/>
              </a:rPr>
              <a:t> </a:t>
            </a:r>
            <a:r>
              <a:rPr lang="en-US" sz="2600" dirty="0">
                <a:latin typeface="Times New Roman" panose="02020603050405020304" pitchFamily="18" charset="0"/>
                <a:cs typeface="Times New Roman" panose="02020603050405020304" pitchFamily="18" charset="0"/>
              </a:rPr>
              <a:t>3.39 (using 25 degrees of freedom in the denominator). Because </a:t>
            </a:r>
            <a:r>
              <a:rPr lang="en-US" sz="2600" i="1" dirty="0">
                <a:latin typeface="Times New Roman" panose="02020603050405020304" pitchFamily="18" charset="0"/>
                <a:cs typeface="Times New Roman" panose="02020603050405020304" pitchFamily="18" charset="0"/>
              </a:rPr>
              <a:t>F</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&lt; </a:t>
            </a:r>
            <a:r>
              <a:rPr lang="en-US" sz="2600" i="1" dirty="0">
                <a:latin typeface="Times New Roman" panose="02020603050405020304" pitchFamily="18" charset="0"/>
                <a:cs typeface="Times New Roman" panose="02020603050405020304" pitchFamily="18" charset="0"/>
              </a:rPr>
              <a:t>F</a:t>
            </a:r>
            <a:r>
              <a:rPr lang="en-US" sz="2600" i="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do not reject the null hypothesis. There is not sufficient evidence to suggest either number of cylinders or horsepower explains variability in the response variable miles per gallon.</a:t>
            </a:r>
          </a:p>
          <a:p>
            <a:r>
              <a:rPr lang="en-US" sz="2600" dirty="0">
                <a:latin typeface="Times New Roman" panose="02020603050405020304" pitchFamily="18" charset="0"/>
                <a:cs typeface="Times New Roman" panose="02020603050405020304" pitchFamily="18" charset="0"/>
              </a:rPr>
              <a:t>Both variables should be removed from 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Partial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5</a:t>
            </a:r>
            <a:r>
              <a:rPr lang="en-US" sz="2400" b="0" u="none" dirty="0">
                <a:solidFill>
                  <a:schemeClr val="dk1"/>
                </a:solidFill>
                <a:latin typeface="Arial"/>
                <a:ea typeface="Arial"/>
                <a:cs typeface="Arial"/>
                <a:sym typeface="Arial"/>
              </a:rPr>
              <a:t>)</a:t>
            </a:r>
            <a:endParaRPr sz="2400" i="1" dirty="0"/>
          </a:p>
        </p:txBody>
      </p:sp>
      <p:graphicFrame>
        <p:nvGraphicFramePr>
          <p:cNvPr id="3" name="Object 2">
            <a:extLst>
              <a:ext uri="{FF2B5EF4-FFF2-40B4-BE49-F238E27FC236}">
                <a16:creationId xmlns:a16="http://schemas.microsoft.com/office/drawing/2014/main" id="{A75CAF21-92A8-4140-B128-CA7BF35F8566}"/>
              </a:ext>
            </a:extLst>
          </p:cNvPr>
          <p:cNvGraphicFramePr>
            <a:graphicFrameLocks noChangeAspect="1"/>
          </p:cNvGraphicFramePr>
          <p:nvPr>
            <p:extLst>
              <p:ext uri="{D42A27DB-BD31-4B8C-83A1-F6EECF244321}">
                <p14:modId xmlns:p14="http://schemas.microsoft.com/office/powerpoint/2010/main" val="1081722677"/>
              </p:ext>
            </p:extLst>
          </p:nvPr>
        </p:nvGraphicFramePr>
        <p:xfrm>
          <a:off x="1439381" y="1780324"/>
          <a:ext cx="6502400" cy="1638300"/>
        </p:xfrm>
        <a:graphic>
          <a:graphicData uri="http://schemas.openxmlformats.org/presentationml/2006/ole">
            <mc:AlternateContent xmlns:mc="http://schemas.openxmlformats.org/markup-compatibility/2006">
              <mc:Choice xmlns:v="urn:schemas-microsoft-com:vml" Requires="v">
                <p:oleObj spid="_x0000_s125995" name="Equation" r:id="rId4" imgW="6502320" imgH="1638000" progId="Equation.DSMT4">
                  <p:embed/>
                </p:oleObj>
              </mc:Choice>
              <mc:Fallback>
                <p:oleObj name="Equation" r:id="rId4" imgW="6502320" imgH="1638000" progId="Equation.DSMT4">
                  <p:embed/>
                  <p:pic>
                    <p:nvPicPr>
                      <p:cNvPr id="0" name=""/>
                      <p:cNvPicPr/>
                      <p:nvPr/>
                    </p:nvPicPr>
                    <p:blipFill>
                      <a:blip r:embed="rId5"/>
                      <a:stretch>
                        <a:fillRect/>
                      </a:stretch>
                    </p:blipFill>
                    <p:spPr>
                      <a:xfrm>
                        <a:off x="1439381" y="1780324"/>
                        <a:ext cx="6502400" cy="1638300"/>
                      </a:xfrm>
                      <a:prstGeom prst="rect">
                        <a:avLst/>
                      </a:prstGeom>
                    </p:spPr>
                  </p:pic>
                </p:oleObj>
              </mc:Fallback>
            </mc:AlternateContent>
          </a:graphicData>
        </a:graphic>
      </p:graphicFrame>
    </p:spTree>
    <p:extLst>
      <p:ext uri="{BB962C8B-B14F-4D97-AF65-F5344CB8AC3E}">
        <p14:creationId xmlns:p14="http://schemas.microsoft.com/office/powerpoint/2010/main" val="260849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6" end="6"/>
                                            </p:txEl>
                                          </p:spTgt>
                                        </p:tgtEl>
                                        <p:attrNameLst>
                                          <p:attrName>style.visibility</p:attrName>
                                        </p:attrNameLst>
                                      </p:cBhvr>
                                      <p:to>
                                        <p:strVal val="visible"/>
                                      </p:to>
                                    </p:set>
                                    <p:animEffect transition="in" filter="fade">
                                      <p:cBhvr>
                                        <p:cTn id="7" dur="500"/>
                                        <p:tgtEl>
                                          <p:spTgt spid="315">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7" end="7"/>
                                            </p:txEl>
                                          </p:spTgt>
                                        </p:tgtEl>
                                        <p:attrNameLst>
                                          <p:attrName>style.visibility</p:attrName>
                                        </p:attrNameLst>
                                      </p:cBhvr>
                                      <p:to>
                                        <p:strVal val="visible"/>
                                      </p:to>
                                    </p:set>
                                    <p:animEffect transition="in" filter="fade">
                                      <p:cBhvr>
                                        <p:cTn id="12" dur="500"/>
                                        <p:tgtEl>
                                          <p:spTgt spid="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9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dirty="0">
                <a:solidFill>
                  <a:schemeClr val="accent2"/>
                </a:solidFill>
                <a:latin typeface="Arial"/>
                <a:ea typeface="Arial"/>
                <a:cs typeface="Arial"/>
                <a:sym typeface="Arial"/>
              </a:rPr>
              <a:t>Objective </a:t>
            </a:r>
            <a:r>
              <a:rPr lang="en-US" b="1" dirty="0"/>
              <a:t>2</a:t>
            </a:r>
            <a:endParaRPr dirty="0"/>
          </a:p>
        </p:txBody>
      </p:sp>
      <p:sp>
        <p:nvSpPr>
          <p:cNvPr id="672" name="Google Shape;672;p92"/>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Build a Regression Model</a:t>
            </a:r>
            <a:endParaRPr dirty="0"/>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167</a:t>
            </a:fld>
            <a:endParaRPr/>
          </a:p>
        </p:txBody>
      </p:sp>
    </p:spTree>
    <p:extLst>
      <p:ext uri="{BB962C8B-B14F-4D97-AF65-F5344CB8AC3E}">
        <p14:creationId xmlns:p14="http://schemas.microsoft.com/office/powerpoint/2010/main" val="8106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168</a:t>
            </a:fld>
            <a:endParaRPr/>
          </a:p>
        </p:txBody>
      </p:sp>
      <p:sp>
        <p:nvSpPr>
          <p:cNvPr id="6" name="Rectangle 5">
            <a:extLst>
              <a:ext uri="{FF2B5EF4-FFF2-40B4-BE49-F238E27FC236}">
                <a16:creationId xmlns:a16="http://schemas.microsoft.com/office/drawing/2014/main" id="{C56F5D0D-461D-4C1B-AFD1-DB0F9262E119}"/>
              </a:ext>
            </a:extLst>
          </p:cNvPr>
          <p:cNvSpPr/>
          <p:nvPr/>
        </p:nvSpPr>
        <p:spPr>
          <a:xfrm>
            <a:off x="533400" y="674779"/>
            <a:ext cx="7941297" cy="483209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When building a least-squares regression model, there are often a large number of explanatory variables to choose from. The ultimate question is, “Which explanatory variables should be included in the model?”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There are three accepted approaches to building a regression model.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Forward selection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Backward elimination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Stepwise regression</a:t>
            </a:r>
          </a:p>
        </p:txBody>
      </p:sp>
    </p:spTree>
    <p:extLst>
      <p:ext uri="{BB962C8B-B14F-4D97-AF65-F5344CB8AC3E}">
        <p14:creationId xmlns:p14="http://schemas.microsoft.com/office/powerpoint/2010/main" val="4242944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5" end="5"/>
                                            </p:txEl>
                                          </p:spTgt>
                                        </p:tgtEl>
                                        <p:attrNameLst>
                                          <p:attrName>style.visibility</p:attrName>
                                        </p:attrNameLst>
                                      </p:cBhvr>
                                      <p:to>
                                        <p:strVal val="visible"/>
                                      </p:to>
                                    </p:set>
                                    <p:animEffect transition="in" filter="fade">
                                      <p:cBhvr>
                                        <p:cTn id="1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169</a:t>
            </a:fld>
            <a:endParaRPr/>
          </a:p>
        </p:txBody>
      </p:sp>
      <p:sp>
        <p:nvSpPr>
          <p:cNvPr id="6" name="Rectangle 5">
            <a:extLst>
              <a:ext uri="{FF2B5EF4-FFF2-40B4-BE49-F238E27FC236}">
                <a16:creationId xmlns:a16="http://schemas.microsoft.com/office/drawing/2014/main" id="{C56F5D0D-461D-4C1B-AFD1-DB0F9262E119}"/>
              </a:ext>
            </a:extLst>
          </p:cNvPr>
          <p:cNvSpPr/>
          <p:nvPr/>
        </p:nvSpPr>
        <p:spPr>
          <a:xfrm>
            <a:off x="533400" y="769047"/>
            <a:ext cx="7941297" cy="440120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forward selection </a:t>
            </a:r>
            <a:r>
              <a:rPr lang="en-US" sz="2800" dirty="0">
                <a:latin typeface="Times New Roman" panose="02020603050405020304" pitchFamily="18" charset="0"/>
                <a:cs typeface="Times New Roman" panose="02020603050405020304" pitchFamily="18" charset="0"/>
              </a:rPr>
              <a:t>method proceeds in steps. At first the model only contains the intercept. At each step at most one variable can be added to the model. For an explanatory variable to be added it must have the smallest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when it is the only variable added to the model and must be significant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less than a specified level of significance). The process ends when any remaining explanatory variables not in the model have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-values greater than the level of significance when added to the model.</a:t>
            </a:r>
          </a:p>
        </p:txBody>
      </p:sp>
    </p:spTree>
    <p:extLst>
      <p:ext uri="{BB962C8B-B14F-4D97-AF65-F5344CB8AC3E}">
        <p14:creationId xmlns:p14="http://schemas.microsoft.com/office/powerpoint/2010/main" val="173801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170</a:t>
            </a:fld>
            <a:endParaRPr/>
          </a:p>
        </p:txBody>
      </p:sp>
      <p:sp>
        <p:nvSpPr>
          <p:cNvPr id="6" name="Rectangle 5">
            <a:extLst>
              <a:ext uri="{FF2B5EF4-FFF2-40B4-BE49-F238E27FC236}">
                <a16:creationId xmlns:a16="http://schemas.microsoft.com/office/drawing/2014/main" id="{C56F5D0D-461D-4C1B-AFD1-DB0F9262E119}"/>
              </a:ext>
            </a:extLst>
          </p:cNvPr>
          <p:cNvSpPr/>
          <p:nvPr/>
        </p:nvSpPr>
        <p:spPr>
          <a:xfrm>
            <a:off x="533400" y="769047"/>
            <a:ext cx="7941297"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backward elimination </a:t>
            </a:r>
            <a:r>
              <a:rPr lang="en-US" sz="2800" dirty="0">
                <a:latin typeface="Times New Roman" panose="02020603050405020304" pitchFamily="18" charset="0"/>
                <a:cs typeface="Times New Roman" panose="02020603050405020304" pitchFamily="18" charset="0"/>
              </a:rPr>
              <a:t>method also works in steps. The process begins with all the explanatory variables in the model. At each step one explanatory variable is eliminated from the model. For an explanatory variable to be eliminated, it must have</a:t>
            </a:r>
          </a:p>
          <a:p>
            <a:r>
              <a:rPr lang="en-US" sz="2800" dirty="0">
                <a:latin typeface="Times New Roman" panose="02020603050405020304" pitchFamily="18" charset="0"/>
                <a:cs typeface="Times New Roman" panose="02020603050405020304" pitchFamily="18" charset="0"/>
              </a:rPr>
              <a:t>the largest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that is greater than the specified level of significance. The process ends when any explanatory variables that remain in the model have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-values less than the level of significance.</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On the next slide we present the steps utilized for </a:t>
            </a:r>
            <a:r>
              <a:rPr lang="en-US" sz="2800" b="1" dirty="0">
                <a:latin typeface="Times New Roman" panose="02020603050405020304" pitchFamily="18" charset="0"/>
                <a:cs typeface="Times New Roman" panose="02020603050405020304" pitchFamily="18" charset="0"/>
              </a:rPr>
              <a:t>stepwise regression</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0977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5" name="Rectangle 4">
            <a:extLst>
              <a:ext uri="{FF2B5EF4-FFF2-40B4-BE49-F238E27FC236}">
                <a16:creationId xmlns:a16="http://schemas.microsoft.com/office/drawing/2014/main" id="{5C60AF9B-85B6-4693-A10A-31CDC061B469}"/>
              </a:ext>
            </a:extLst>
          </p:cNvPr>
          <p:cNvSpPr/>
          <p:nvPr/>
        </p:nvSpPr>
        <p:spPr>
          <a:xfrm>
            <a:off x="337009" y="169360"/>
            <a:ext cx="8592533" cy="4393214"/>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171</a:t>
            </a:fld>
            <a:endParaRPr/>
          </a:p>
        </p:txBody>
      </p:sp>
      <p:sp>
        <p:nvSpPr>
          <p:cNvPr id="2" name="Rectangle 1">
            <a:extLst>
              <a:ext uri="{FF2B5EF4-FFF2-40B4-BE49-F238E27FC236}">
                <a16:creationId xmlns:a16="http://schemas.microsoft.com/office/drawing/2014/main" id="{8CA67D4B-A6B3-4F7A-84B8-450D29432241}"/>
              </a:ext>
            </a:extLst>
          </p:cNvPr>
          <p:cNvSpPr/>
          <p:nvPr/>
        </p:nvSpPr>
        <p:spPr>
          <a:xfrm>
            <a:off x="419494" y="282124"/>
            <a:ext cx="8427564" cy="3693319"/>
          </a:xfrm>
          <a:prstGeom prst="rect">
            <a:avLst/>
          </a:prstGeom>
        </p:spPr>
        <p:txBody>
          <a:bodyPr wrap="square">
            <a:spAutoFit/>
          </a:bodyPr>
          <a:lstStyle/>
          <a:p>
            <a:r>
              <a:rPr lang="en-US" sz="2600" b="1" dirty="0">
                <a:solidFill>
                  <a:schemeClr val="tx1"/>
                </a:solidFill>
                <a:latin typeface="HelveticaNeueLTW1G-Bd"/>
              </a:rPr>
              <a:t>Stepwise Regression Procedure</a:t>
            </a:r>
          </a:p>
          <a:p>
            <a:endParaRPr lang="en-US" sz="2600" b="1" dirty="0">
              <a:solidFill>
                <a:schemeClr val="tx1"/>
              </a:solidFill>
              <a:latin typeface="HelveticaNeueLTW1G-Bd"/>
            </a:endParaRPr>
          </a:p>
          <a:p>
            <a:pPr marL="514350" indent="-514350">
              <a:buFont typeface="+mj-lt"/>
              <a:buAutoNum type="arabicPeriod"/>
            </a:pPr>
            <a:r>
              <a:rPr lang="en-US" sz="2600" b="1" dirty="0">
                <a:solidFill>
                  <a:schemeClr val="tx1"/>
                </a:solidFill>
                <a:latin typeface="TimesTenLTStd-Bold"/>
              </a:rPr>
              <a:t> </a:t>
            </a:r>
            <a:r>
              <a:rPr lang="en-US" sz="2600" dirty="0">
                <a:solidFill>
                  <a:schemeClr val="tx1"/>
                </a:solidFill>
                <a:latin typeface="TimesTenLTStd-Roman"/>
              </a:rPr>
              <a:t>Find a simple linear regression equation for each of the  </a:t>
            </a:r>
            <a:br>
              <a:rPr lang="en-US" sz="2600" dirty="0">
                <a:solidFill>
                  <a:schemeClr val="tx1"/>
                </a:solidFill>
                <a:latin typeface="TimesTenLTStd-Roman"/>
              </a:rPr>
            </a:br>
            <a:r>
              <a:rPr lang="en-US" sz="2600" dirty="0">
                <a:solidFill>
                  <a:schemeClr val="tx1"/>
                </a:solidFill>
                <a:latin typeface="TimesTenLTStd-Roman"/>
              </a:rPr>
              <a:t> explanatory variables.  Choose the explanatory variable  </a:t>
            </a:r>
            <a:br>
              <a:rPr lang="en-US" sz="2600" dirty="0">
                <a:solidFill>
                  <a:schemeClr val="tx1"/>
                </a:solidFill>
                <a:latin typeface="TimesTenLTStd-Roman"/>
              </a:rPr>
            </a:br>
            <a:r>
              <a:rPr lang="en-US" sz="2600" dirty="0">
                <a:solidFill>
                  <a:schemeClr val="tx1"/>
                </a:solidFill>
                <a:latin typeface="TimesTenLTStd-Roman"/>
              </a:rPr>
              <a:t> that has the lowest </a:t>
            </a:r>
            <a:r>
              <a:rPr lang="en-US" sz="2600" i="1" dirty="0">
                <a:solidFill>
                  <a:schemeClr val="tx1"/>
                </a:solidFill>
                <a:latin typeface="TimesTenLTStd-Italic"/>
              </a:rPr>
              <a:t>P</a:t>
            </a:r>
            <a:r>
              <a:rPr lang="en-US" sz="2600" dirty="0">
                <a:solidFill>
                  <a:schemeClr val="tx1"/>
                </a:solidFill>
                <a:latin typeface="TimesTenLTStd-Roman"/>
              </a:rPr>
              <a:t>-value from the </a:t>
            </a:r>
            <a:r>
              <a:rPr lang="en-US" sz="2600" i="1" dirty="0">
                <a:solidFill>
                  <a:schemeClr val="tx1"/>
                </a:solidFill>
                <a:latin typeface="TimesTenLTStd-Italic"/>
              </a:rPr>
              <a:t>F</a:t>
            </a:r>
            <a:r>
              <a:rPr lang="en-US" sz="2600" dirty="0">
                <a:solidFill>
                  <a:schemeClr val="tx1"/>
                </a:solidFill>
                <a:latin typeface="TimesTenLTStd-Roman"/>
              </a:rPr>
              <a:t>-test. If no </a:t>
            </a:r>
            <a:br>
              <a:rPr lang="en-US" sz="2600" dirty="0">
                <a:solidFill>
                  <a:schemeClr val="tx1"/>
                </a:solidFill>
                <a:latin typeface="TimesTenLTStd-Roman"/>
              </a:rPr>
            </a:br>
            <a:r>
              <a:rPr lang="en-US" sz="2600" dirty="0">
                <a:solidFill>
                  <a:schemeClr val="tx1"/>
                </a:solidFill>
                <a:latin typeface="TimesTenLTStd-Roman"/>
              </a:rPr>
              <a:t> explanatory variable has a </a:t>
            </a:r>
            <a:r>
              <a:rPr lang="en-US" sz="2600" i="1" dirty="0">
                <a:solidFill>
                  <a:schemeClr val="tx1"/>
                </a:solidFill>
                <a:latin typeface="TimesTenLTStd-Italic"/>
              </a:rPr>
              <a:t>P</a:t>
            </a:r>
            <a:r>
              <a:rPr lang="en-US" sz="2600" dirty="0">
                <a:solidFill>
                  <a:schemeClr val="tx1"/>
                </a:solidFill>
                <a:latin typeface="TimesTenLTStd-Roman"/>
              </a:rPr>
              <a:t>-value considered to be  </a:t>
            </a:r>
            <a:br>
              <a:rPr lang="en-US" sz="2600" dirty="0">
                <a:solidFill>
                  <a:schemeClr val="tx1"/>
                </a:solidFill>
                <a:latin typeface="TimesTenLTStd-Roman"/>
              </a:rPr>
            </a:br>
            <a:r>
              <a:rPr lang="en-US" sz="2600" dirty="0">
                <a:solidFill>
                  <a:schemeClr val="tx1"/>
                </a:solidFill>
                <a:latin typeface="TimesTenLTStd-Roman"/>
              </a:rPr>
              <a:t> statistically significant, then none of the explanatory </a:t>
            </a:r>
            <a:br>
              <a:rPr lang="en-US" sz="2600" dirty="0">
                <a:solidFill>
                  <a:schemeClr val="tx1"/>
                </a:solidFill>
                <a:latin typeface="TimesTenLTStd-Roman"/>
              </a:rPr>
            </a:br>
            <a:r>
              <a:rPr lang="en-US" sz="2600" dirty="0">
                <a:solidFill>
                  <a:schemeClr val="tx1"/>
                </a:solidFill>
                <a:latin typeface="TimesTenLTStd-Roman"/>
              </a:rPr>
              <a:t> variables is useful in predicting the value of the response </a:t>
            </a:r>
            <a:br>
              <a:rPr lang="en-US" sz="2600" dirty="0">
                <a:solidFill>
                  <a:schemeClr val="tx1"/>
                </a:solidFill>
                <a:latin typeface="TimesTenLTStd-Roman"/>
              </a:rPr>
            </a:br>
            <a:r>
              <a:rPr lang="en-US" sz="2600" dirty="0">
                <a:solidFill>
                  <a:schemeClr val="tx1"/>
                </a:solidFill>
                <a:latin typeface="TimesTenLTStd-Roman"/>
              </a:rPr>
              <a:t> variable and the procedure ends.</a:t>
            </a:r>
          </a:p>
        </p:txBody>
      </p:sp>
    </p:spTree>
    <p:extLst>
      <p:ext uri="{BB962C8B-B14F-4D97-AF65-F5344CB8AC3E}">
        <p14:creationId xmlns:p14="http://schemas.microsoft.com/office/powerpoint/2010/main" val="406402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5" name="Rectangle 4">
            <a:extLst>
              <a:ext uri="{FF2B5EF4-FFF2-40B4-BE49-F238E27FC236}">
                <a16:creationId xmlns:a16="http://schemas.microsoft.com/office/drawing/2014/main" id="{5C60AF9B-85B6-4693-A10A-31CDC061B469}"/>
              </a:ext>
            </a:extLst>
          </p:cNvPr>
          <p:cNvSpPr/>
          <p:nvPr/>
        </p:nvSpPr>
        <p:spPr>
          <a:xfrm>
            <a:off x="296943" y="169359"/>
            <a:ext cx="8592533" cy="5293757"/>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172</a:t>
            </a:fld>
            <a:endParaRPr/>
          </a:p>
        </p:txBody>
      </p:sp>
      <p:sp>
        <p:nvSpPr>
          <p:cNvPr id="2" name="Rectangle 1">
            <a:extLst>
              <a:ext uri="{FF2B5EF4-FFF2-40B4-BE49-F238E27FC236}">
                <a16:creationId xmlns:a16="http://schemas.microsoft.com/office/drawing/2014/main" id="{8CA67D4B-A6B3-4F7A-84B8-450D29432241}"/>
              </a:ext>
            </a:extLst>
          </p:cNvPr>
          <p:cNvSpPr/>
          <p:nvPr/>
        </p:nvSpPr>
        <p:spPr>
          <a:xfrm>
            <a:off x="419494" y="282124"/>
            <a:ext cx="8427564" cy="5293757"/>
          </a:xfrm>
          <a:prstGeom prst="rect">
            <a:avLst/>
          </a:prstGeom>
        </p:spPr>
        <p:txBody>
          <a:bodyPr wrap="square">
            <a:spAutoFit/>
          </a:bodyPr>
          <a:lstStyle/>
          <a:p>
            <a:r>
              <a:rPr lang="en-US" sz="2600" b="1" dirty="0">
                <a:solidFill>
                  <a:schemeClr val="tx1"/>
                </a:solidFill>
                <a:latin typeface="HelveticaNeueLTW1G-Bd"/>
              </a:rPr>
              <a:t>Stepwise Regression Procedure</a:t>
            </a:r>
          </a:p>
          <a:p>
            <a:endParaRPr lang="en-US" sz="2600" b="1" dirty="0">
              <a:solidFill>
                <a:schemeClr val="tx1"/>
              </a:solidFill>
              <a:latin typeface="TimesTenLTStd-Bold"/>
            </a:endParaRPr>
          </a:p>
          <a:p>
            <a:pPr marL="514350" indent="-514350">
              <a:buFont typeface="+mj-lt"/>
              <a:buAutoNum type="arabicPeriod" startAt="2"/>
            </a:pPr>
            <a:r>
              <a:rPr lang="en-US" sz="2600" b="1" dirty="0">
                <a:solidFill>
                  <a:schemeClr val="tx1"/>
                </a:solidFill>
                <a:latin typeface="TimesTenLTStd-Bold"/>
              </a:rPr>
              <a:t> </a:t>
            </a:r>
            <a:r>
              <a:rPr lang="en-US" sz="2600" dirty="0">
                <a:solidFill>
                  <a:schemeClr val="tx1"/>
                </a:solidFill>
                <a:latin typeface="TimesTenLTStd-Roman"/>
              </a:rPr>
              <a:t>Fit a regression model with the explanatory variable from </a:t>
            </a:r>
            <a:br>
              <a:rPr lang="en-US" sz="2600" dirty="0">
                <a:solidFill>
                  <a:schemeClr val="tx1"/>
                </a:solidFill>
                <a:latin typeface="TimesTenLTStd-Roman"/>
              </a:rPr>
            </a:br>
            <a:r>
              <a:rPr lang="en-US" sz="2600" dirty="0">
                <a:solidFill>
                  <a:schemeClr val="tx1"/>
                </a:solidFill>
                <a:latin typeface="TimesTenLTStd-Roman"/>
              </a:rPr>
              <a:t> Step 1 and each of the remaining explanatory variables. </a:t>
            </a:r>
            <a:br>
              <a:rPr lang="en-US" sz="2600" dirty="0">
                <a:solidFill>
                  <a:schemeClr val="tx1"/>
                </a:solidFill>
                <a:latin typeface="TimesTenLTStd-Roman"/>
              </a:rPr>
            </a:br>
            <a:r>
              <a:rPr lang="en-US" sz="2600" dirty="0">
                <a:solidFill>
                  <a:schemeClr val="tx1"/>
                </a:solidFill>
                <a:latin typeface="TimesTenLTStd-Roman"/>
              </a:rPr>
              <a:t> For each regression model, determine the partial </a:t>
            </a:r>
            <a:r>
              <a:rPr lang="en-US" sz="2600" i="1" dirty="0">
                <a:solidFill>
                  <a:schemeClr val="tx1"/>
                </a:solidFill>
                <a:latin typeface="TimesTenLTStd-Italic"/>
              </a:rPr>
              <a:t>F</a:t>
            </a:r>
            <a:r>
              <a:rPr lang="en-US" sz="2600" dirty="0">
                <a:solidFill>
                  <a:schemeClr val="tx1"/>
                </a:solidFill>
                <a:latin typeface="TimesTenLTStd-Roman"/>
              </a:rPr>
              <a:t>-test </a:t>
            </a:r>
            <a:br>
              <a:rPr lang="en-US" sz="2600" dirty="0">
                <a:solidFill>
                  <a:schemeClr val="tx1"/>
                </a:solidFill>
                <a:latin typeface="TimesTenLTStd-Roman"/>
              </a:rPr>
            </a:br>
            <a:r>
              <a:rPr lang="en-US" sz="2600" dirty="0">
                <a:solidFill>
                  <a:schemeClr val="tx1"/>
                </a:solidFill>
                <a:latin typeface="TimesTenLTStd-Roman"/>
              </a:rPr>
              <a:t> statistic to test whether the additional explanatory </a:t>
            </a:r>
            <a:br>
              <a:rPr lang="en-US" sz="2600" dirty="0">
                <a:solidFill>
                  <a:schemeClr val="tx1"/>
                </a:solidFill>
                <a:latin typeface="TimesTenLTStd-Roman"/>
              </a:rPr>
            </a:br>
            <a:r>
              <a:rPr lang="en-US" sz="2600" dirty="0">
                <a:solidFill>
                  <a:schemeClr val="tx1"/>
                </a:solidFill>
                <a:latin typeface="TimesTenLTStd-Roman"/>
              </a:rPr>
              <a:t> variable is different from zero when the explanatory </a:t>
            </a:r>
            <a:br>
              <a:rPr lang="en-US" sz="2600" dirty="0">
                <a:solidFill>
                  <a:schemeClr val="tx1"/>
                </a:solidFill>
                <a:latin typeface="TimesTenLTStd-Roman"/>
              </a:rPr>
            </a:br>
            <a:r>
              <a:rPr lang="en-US" sz="2600" dirty="0">
                <a:solidFill>
                  <a:schemeClr val="tx1"/>
                </a:solidFill>
                <a:latin typeface="TimesTenLTStd-Roman"/>
              </a:rPr>
              <a:t> variable from Step 1 is already in the model. Test the </a:t>
            </a:r>
            <a:br>
              <a:rPr lang="en-US" sz="2600" dirty="0">
                <a:solidFill>
                  <a:schemeClr val="tx1"/>
                </a:solidFill>
                <a:latin typeface="TimesTenLTStd-Roman"/>
              </a:rPr>
            </a:br>
            <a:r>
              <a:rPr lang="en-US" sz="2600" dirty="0">
                <a:solidFill>
                  <a:schemeClr val="tx1"/>
                </a:solidFill>
                <a:latin typeface="TimesTenLTStd-Roman"/>
              </a:rPr>
              <a:t> hypothesis at the </a:t>
            </a:r>
            <a:r>
              <a:rPr lang="en-US" sz="2600" i="1" dirty="0">
                <a:solidFill>
                  <a:schemeClr val="tx1"/>
                </a:solidFill>
                <a:latin typeface="PearsonMATHPRO01"/>
                <a:sym typeface="Symbol" panose="05050102010706020507" pitchFamily="18" charset="2"/>
              </a:rPr>
              <a:t></a:t>
            </a:r>
            <a:r>
              <a:rPr lang="en-US" sz="2600" dirty="0">
                <a:solidFill>
                  <a:schemeClr val="tx1"/>
                </a:solidFill>
                <a:latin typeface="PearsonMATHPRO01"/>
              </a:rPr>
              <a:t> </a:t>
            </a:r>
            <a:r>
              <a:rPr lang="en-US" sz="2600" dirty="0">
                <a:solidFill>
                  <a:schemeClr val="tx1"/>
                </a:solidFill>
                <a:latin typeface="PearsonMATHPRO08"/>
              </a:rPr>
              <a:t>= </a:t>
            </a:r>
            <a:r>
              <a:rPr lang="en-US" sz="2600" dirty="0">
                <a:solidFill>
                  <a:schemeClr val="tx1"/>
                </a:solidFill>
                <a:latin typeface="TimesTenLTStd-Roman"/>
              </a:rPr>
              <a:t>0.05 level of significance. Choose </a:t>
            </a:r>
            <a:br>
              <a:rPr lang="en-US" sz="2600" dirty="0">
                <a:solidFill>
                  <a:schemeClr val="tx1"/>
                </a:solidFill>
                <a:latin typeface="TimesTenLTStd-Roman"/>
              </a:rPr>
            </a:br>
            <a:r>
              <a:rPr lang="en-US" sz="2600" dirty="0">
                <a:solidFill>
                  <a:schemeClr val="tx1"/>
                </a:solidFill>
                <a:latin typeface="TimesTenLTStd-Roman"/>
              </a:rPr>
              <a:t> the model with the largest </a:t>
            </a:r>
            <a:r>
              <a:rPr lang="en-US" sz="2600" i="1" dirty="0">
                <a:solidFill>
                  <a:schemeClr val="tx1"/>
                </a:solidFill>
                <a:latin typeface="TimesTenLTStd-Italic"/>
              </a:rPr>
              <a:t>F</a:t>
            </a:r>
            <a:r>
              <a:rPr lang="en-US" sz="2600" dirty="0">
                <a:solidFill>
                  <a:schemeClr val="tx1"/>
                </a:solidFill>
                <a:latin typeface="TimesTenLTStd-Roman"/>
              </a:rPr>
              <a:t>-test statistic that is </a:t>
            </a:r>
            <a:br>
              <a:rPr lang="en-US" sz="2600" dirty="0">
                <a:solidFill>
                  <a:schemeClr val="tx1"/>
                </a:solidFill>
                <a:latin typeface="TimesTenLTStd-Roman"/>
              </a:rPr>
            </a:br>
            <a:r>
              <a:rPr lang="en-US" sz="2600" dirty="0">
                <a:solidFill>
                  <a:schemeClr val="tx1"/>
                </a:solidFill>
                <a:latin typeface="TimesTenLTStd-Roman"/>
              </a:rPr>
              <a:t> significant. If no explanatory variable yields a partial </a:t>
            </a:r>
            <a:r>
              <a:rPr lang="en-US" sz="2600" i="1" dirty="0">
                <a:solidFill>
                  <a:schemeClr val="tx1"/>
                </a:solidFill>
                <a:latin typeface="TimesTenLTStd-Italic"/>
              </a:rPr>
              <a:t>F</a:t>
            </a:r>
            <a:r>
              <a:rPr lang="en-US" sz="2600" dirty="0">
                <a:solidFill>
                  <a:schemeClr val="tx1"/>
                </a:solidFill>
                <a:latin typeface="TimesTenLTStd-Roman"/>
              </a:rPr>
              <a:t>-</a:t>
            </a:r>
            <a:br>
              <a:rPr lang="en-US" sz="2600" dirty="0">
                <a:solidFill>
                  <a:schemeClr val="tx1"/>
                </a:solidFill>
                <a:latin typeface="TimesTenLTStd-Roman"/>
              </a:rPr>
            </a:br>
            <a:r>
              <a:rPr lang="en-US" sz="2600" dirty="0">
                <a:solidFill>
                  <a:schemeClr val="tx1"/>
                </a:solidFill>
                <a:latin typeface="TimesTenLTStd-Roman"/>
              </a:rPr>
              <a:t> test statistic that is significant, the procedure stops.</a:t>
            </a:r>
          </a:p>
          <a:p>
            <a:endParaRPr lang="en-US" sz="2600" dirty="0">
              <a:solidFill>
                <a:schemeClr val="tx1"/>
              </a:solidFill>
            </a:endParaRPr>
          </a:p>
        </p:txBody>
      </p:sp>
    </p:spTree>
    <p:extLst>
      <p:ext uri="{BB962C8B-B14F-4D97-AF65-F5344CB8AC3E}">
        <p14:creationId xmlns:p14="http://schemas.microsoft.com/office/powerpoint/2010/main" val="44153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5" name="Rectangle 4">
            <a:extLst>
              <a:ext uri="{FF2B5EF4-FFF2-40B4-BE49-F238E27FC236}">
                <a16:creationId xmlns:a16="http://schemas.microsoft.com/office/drawing/2014/main" id="{5C60AF9B-85B6-4693-A10A-31CDC061B469}"/>
              </a:ext>
            </a:extLst>
          </p:cNvPr>
          <p:cNvSpPr/>
          <p:nvPr/>
        </p:nvSpPr>
        <p:spPr>
          <a:xfrm>
            <a:off x="296943" y="169359"/>
            <a:ext cx="8592533" cy="592035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Google Shape;673;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14-</a:t>
            </a:r>
            <a:fld id="{00000000-1234-1234-1234-123412341234}" type="slidenum">
              <a:rPr lang="en-US" sz="1400" b="1" i="0" u="none">
                <a:solidFill>
                  <a:schemeClr val="lt1"/>
                </a:solidFill>
                <a:latin typeface="Verdana"/>
                <a:ea typeface="Verdana"/>
                <a:cs typeface="Verdana"/>
                <a:sym typeface="Verdana"/>
              </a:rPr>
              <a:t>173</a:t>
            </a:fld>
            <a:endParaRPr/>
          </a:p>
        </p:txBody>
      </p:sp>
      <p:sp>
        <p:nvSpPr>
          <p:cNvPr id="2" name="Rectangle 1">
            <a:extLst>
              <a:ext uri="{FF2B5EF4-FFF2-40B4-BE49-F238E27FC236}">
                <a16:creationId xmlns:a16="http://schemas.microsoft.com/office/drawing/2014/main" id="{8CA67D4B-A6B3-4F7A-84B8-450D29432241}"/>
              </a:ext>
            </a:extLst>
          </p:cNvPr>
          <p:cNvSpPr/>
          <p:nvPr/>
        </p:nvSpPr>
        <p:spPr>
          <a:xfrm>
            <a:off x="419494" y="282124"/>
            <a:ext cx="8427564" cy="5693866"/>
          </a:xfrm>
          <a:prstGeom prst="rect">
            <a:avLst/>
          </a:prstGeom>
        </p:spPr>
        <p:txBody>
          <a:bodyPr wrap="square">
            <a:spAutoFit/>
          </a:bodyPr>
          <a:lstStyle/>
          <a:p>
            <a:r>
              <a:rPr lang="en-US" sz="2600" b="1" dirty="0">
                <a:solidFill>
                  <a:schemeClr val="tx1"/>
                </a:solidFill>
                <a:latin typeface="HelveticaNeueLTW1G-Bd"/>
              </a:rPr>
              <a:t>Stepwise Regression Procedure</a:t>
            </a:r>
          </a:p>
          <a:p>
            <a:endParaRPr lang="en-US" sz="2600" b="1" dirty="0">
              <a:solidFill>
                <a:schemeClr val="tx1"/>
              </a:solidFill>
              <a:latin typeface="TimesTenLTStd-Bold"/>
            </a:endParaRPr>
          </a:p>
          <a:p>
            <a:pPr marL="514350" indent="-514350">
              <a:buFont typeface="+mj-lt"/>
              <a:buAutoNum type="arabicPeriod" startAt="3"/>
            </a:pPr>
            <a:r>
              <a:rPr lang="en-US" sz="2600" b="1" dirty="0">
                <a:solidFill>
                  <a:schemeClr val="tx1"/>
                </a:solidFill>
                <a:latin typeface="TimesTenLTStd-Bold"/>
              </a:rPr>
              <a:t> </a:t>
            </a:r>
            <a:r>
              <a:rPr lang="en-US" sz="2600" dirty="0">
                <a:solidFill>
                  <a:schemeClr val="tx1"/>
                </a:solidFill>
                <a:latin typeface="TimesTenLTStd-Roman"/>
              </a:rPr>
              <a:t>The procedure now verifies whether any of the </a:t>
            </a:r>
            <a:br>
              <a:rPr lang="en-US" sz="2600" dirty="0">
                <a:solidFill>
                  <a:schemeClr val="tx1"/>
                </a:solidFill>
                <a:latin typeface="TimesTenLTStd-Roman"/>
              </a:rPr>
            </a:br>
            <a:r>
              <a:rPr lang="en-US" sz="2600" dirty="0">
                <a:solidFill>
                  <a:schemeClr val="tx1"/>
                </a:solidFill>
                <a:latin typeface="TimesTenLTStd-Roman"/>
              </a:rPr>
              <a:t> explanatory variables already in the model should be </a:t>
            </a:r>
            <a:br>
              <a:rPr lang="en-US" sz="2600" dirty="0">
                <a:solidFill>
                  <a:schemeClr val="tx1"/>
                </a:solidFill>
                <a:latin typeface="TimesTenLTStd-Roman"/>
              </a:rPr>
            </a:br>
            <a:r>
              <a:rPr lang="en-US" sz="2600" dirty="0">
                <a:solidFill>
                  <a:schemeClr val="tx1"/>
                </a:solidFill>
                <a:latin typeface="TimesTenLTStd-Roman"/>
              </a:rPr>
              <a:t> dropped (other than the explanatory variable just added in </a:t>
            </a:r>
          </a:p>
          <a:p>
            <a:r>
              <a:rPr lang="en-US" sz="2600" dirty="0">
                <a:solidFill>
                  <a:schemeClr val="tx1"/>
                </a:solidFill>
                <a:latin typeface="TimesTenLTStd-Roman"/>
              </a:rPr>
              <a:t>       Step 2) based on the predetermined rejection criterion.</a:t>
            </a:r>
          </a:p>
          <a:p>
            <a:endParaRPr lang="en-US" sz="2600" dirty="0">
              <a:solidFill>
                <a:schemeClr val="tx1"/>
              </a:solidFill>
              <a:latin typeface="TimesTenLTStd-Roman"/>
            </a:endParaRPr>
          </a:p>
          <a:p>
            <a:pPr marL="514350" indent="-514350">
              <a:buFont typeface="+mj-lt"/>
              <a:buAutoNum type="arabicPeriod" startAt="4"/>
            </a:pPr>
            <a:r>
              <a:rPr lang="en-US" sz="2600" b="1" dirty="0">
                <a:solidFill>
                  <a:schemeClr val="tx1"/>
                </a:solidFill>
                <a:latin typeface="TimesTenLTStd-Roman"/>
              </a:rPr>
              <a:t> </a:t>
            </a:r>
            <a:r>
              <a:rPr lang="en-US" sz="2600" dirty="0">
                <a:solidFill>
                  <a:schemeClr val="tx1"/>
                </a:solidFill>
                <a:latin typeface="TimesTenLTStd-Roman"/>
              </a:rPr>
              <a:t>The procedure then determines whether another </a:t>
            </a:r>
            <a:br>
              <a:rPr lang="en-US" sz="2600" dirty="0">
                <a:solidFill>
                  <a:schemeClr val="tx1"/>
                </a:solidFill>
                <a:latin typeface="TimesTenLTStd-Roman"/>
              </a:rPr>
            </a:br>
            <a:r>
              <a:rPr lang="en-US" sz="2600" dirty="0">
                <a:solidFill>
                  <a:schemeClr val="tx1"/>
                </a:solidFill>
                <a:latin typeface="TimesTenLTStd-Roman"/>
              </a:rPr>
              <a:t> explanatory variable should be added to the model, and </a:t>
            </a:r>
            <a:br>
              <a:rPr lang="en-US" sz="2600" dirty="0">
                <a:solidFill>
                  <a:schemeClr val="tx1"/>
                </a:solidFill>
                <a:latin typeface="TimesTenLTStd-Roman"/>
              </a:rPr>
            </a:br>
            <a:r>
              <a:rPr lang="en-US" sz="2600" dirty="0">
                <a:solidFill>
                  <a:schemeClr val="tx1"/>
                </a:solidFill>
                <a:latin typeface="TimesTenLTStd-Roman"/>
              </a:rPr>
              <a:t> then determines whether any explanatory variables </a:t>
            </a:r>
            <a:br>
              <a:rPr lang="en-US" sz="2600" dirty="0">
                <a:solidFill>
                  <a:schemeClr val="tx1"/>
                </a:solidFill>
                <a:latin typeface="TimesTenLTStd-Roman"/>
              </a:rPr>
            </a:br>
            <a:r>
              <a:rPr lang="en-US" sz="2600" dirty="0">
                <a:solidFill>
                  <a:schemeClr val="tx1"/>
                </a:solidFill>
                <a:latin typeface="TimesTenLTStd-Roman"/>
              </a:rPr>
              <a:t> already in the model should be dropped. This process </a:t>
            </a:r>
            <a:br>
              <a:rPr lang="en-US" sz="2600" dirty="0">
                <a:solidFill>
                  <a:schemeClr val="tx1"/>
                </a:solidFill>
                <a:latin typeface="TimesTenLTStd-Roman"/>
              </a:rPr>
            </a:br>
            <a:r>
              <a:rPr lang="en-US" sz="2600" dirty="0">
                <a:solidFill>
                  <a:schemeClr val="tx1"/>
                </a:solidFill>
                <a:latin typeface="TimesTenLTStd-Roman"/>
              </a:rPr>
              <a:t> continues until no explanatory variables are added or </a:t>
            </a:r>
            <a:br>
              <a:rPr lang="en-US" sz="2600" dirty="0">
                <a:solidFill>
                  <a:schemeClr val="tx1"/>
                </a:solidFill>
                <a:latin typeface="TimesTenLTStd-Roman"/>
              </a:rPr>
            </a:br>
            <a:r>
              <a:rPr lang="en-US" sz="2600" dirty="0">
                <a:solidFill>
                  <a:schemeClr val="tx1"/>
                </a:solidFill>
                <a:latin typeface="TimesTenLTStd-Roman"/>
              </a:rPr>
              <a:t> dropped from the model, at which point the procedure </a:t>
            </a:r>
            <a:br>
              <a:rPr lang="en-US" sz="2600" dirty="0">
                <a:solidFill>
                  <a:schemeClr val="tx1"/>
                </a:solidFill>
                <a:latin typeface="TimesTenLTStd-Roman"/>
              </a:rPr>
            </a:br>
            <a:r>
              <a:rPr lang="en-US" sz="2600" dirty="0">
                <a:solidFill>
                  <a:schemeClr val="tx1"/>
                </a:solidFill>
                <a:latin typeface="TimesTenLTStd-Roman"/>
              </a:rPr>
              <a:t> terminates.</a:t>
            </a:r>
            <a:endParaRPr lang="en-US" sz="2600" dirty="0">
              <a:solidFill>
                <a:schemeClr val="tx1"/>
              </a:solidFill>
            </a:endParaRPr>
          </a:p>
        </p:txBody>
      </p:sp>
    </p:spTree>
    <p:extLst>
      <p:ext uri="{BB962C8B-B14F-4D97-AF65-F5344CB8AC3E}">
        <p14:creationId xmlns:p14="http://schemas.microsoft.com/office/powerpoint/2010/main" val="365755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174</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An engineer wants to develop a model to describe the gas mileage of a sport utility vehicle. He collects the data presented in Table 10, on the next slide. The final drive ratio is the ratio of the gear set that is farthest from the engine. A higher ratio generally means better acceleration and pulling power. Use the forward selection procedure to find the best model to describe miles per gallon. Use a level of significance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as the criteria for an explanatory variable to enter 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spTree>
    <p:extLst>
      <p:ext uri="{BB962C8B-B14F-4D97-AF65-F5344CB8AC3E}">
        <p14:creationId xmlns:p14="http://schemas.microsoft.com/office/powerpoint/2010/main" val="2898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175</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40F19106-D10F-4EA1-962A-F19992C05016}"/>
              </a:ext>
            </a:extLst>
          </p:cNvPr>
          <p:cNvPicPr>
            <a:picLocks noChangeAspect="1"/>
          </p:cNvPicPr>
          <p:nvPr/>
        </p:nvPicPr>
        <p:blipFill>
          <a:blip r:embed="rId3"/>
          <a:stretch>
            <a:fillRect/>
          </a:stretch>
        </p:blipFill>
        <p:spPr>
          <a:xfrm>
            <a:off x="310780" y="1482690"/>
            <a:ext cx="8689382" cy="4492072"/>
          </a:xfrm>
          <a:prstGeom prst="rect">
            <a:avLst/>
          </a:prstGeom>
        </p:spPr>
      </p:pic>
    </p:spTree>
    <p:extLst>
      <p:ext uri="{BB962C8B-B14F-4D97-AF65-F5344CB8AC3E}">
        <p14:creationId xmlns:p14="http://schemas.microsoft.com/office/powerpoint/2010/main" val="2123904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176</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Use Minitab to find a simple linear regression for each of the explanatory variables listed in Table 10. The figure on the next slide shows partial output for all the linear regressions for each explanatory variable.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spTree>
    <p:extLst>
      <p:ext uri="{BB962C8B-B14F-4D97-AF65-F5344CB8AC3E}">
        <p14:creationId xmlns:p14="http://schemas.microsoft.com/office/powerpoint/2010/main" val="234826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177</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pic>
        <p:nvPicPr>
          <p:cNvPr id="3" name="Picture 2" descr="A picture containing screenshot&#10;&#10;Description automatically generated">
            <a:extLst>
              <a:ext uri="{FF2B5EF4-FFF2-40B4-BE49-F238E27FC236}">
                <a16:creationId xmlns:a16="http://schemas.microsoft.com/office/drawing/2014/main" id="{70F59851-27D9-4E6A-A911-E55751B749CE}"/>
              </a:ext>
            </a:extLst>
          </p:cNvPr>
          <p:cNvPicPr>
            <a:picLocks noChangeAspect="1"/>
          </p:cNvPicPr>
          <p:nvPr/>
        </p:nvPicPr>
        <p:blipFill>
          <a:blip r:embed="rId3"/>
          <a:stretch>
            <a:fillRect/>
          </a:stretch>
        </p:blipFill>
        <p:spPr>
          <a:xfrm>
            <a:off x="1520178" y="1245341"/>
            <a:ext cx="6340805" cy="5085609"/>
          </a:xfrm>
          <a:prstGeom prst="rect">
            <a:avLst/>
          </a:prstGeom>
        </p:spPr>
      </p:pic>
    </p:spTree>
    <p:extLst>
      <p:ext uri="{BB962C8B-B14F-4D97-AF65-F5344CB8AC3E}">
        <p14:creationId xmlns:p14="http://schemas.microsoft.com/office/powerpoint/2010/main" val="302887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178</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explanatory variable with the lowest significant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engine size (or largest, in absolute value, </a:t>
            </a:r>
            <a:r>
              <a:rPr lang="en-US" sz="2600" i="1" dirty="0">
                <a:latin typeface="Times New Roman" panose="02020603050405020304" pitchFamily="18" charset="0"/>
                <a:cs typeface="Times New Roman" panose="02020603050405020304" pitchFamily="18" charset="0"/>
              </a:rPr>
              <a:t>t </a:t>
            </a:r>
            <a:r>
              <a:rPr lang="en-US" sz="2600" dirty="0">
                <a:latin typeface="Times New Roman" panose="02020603050405020304" pitchFamily="18" charset="0"/>
                <a:cs typeface="Times New Roman" panose="02020603050405020304" pitchFamily="18" charset="0"/>
              </a:rPr>
              <a:t>test statistic), is added to the model. In Figure (b) we see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engine size is 0.000 (that is, &lt; 0.0005), which suggests engine size</a:t>
            </a:r>
          </a:p>
          <a:p>
            <a:r>
              <a:rPr lang="en-US" sz="2600" dirty="0">
                <a:latin typeface="Times New Roman" panose="02020603050405020304" pitchFamily="18" charset="0"/>
                <a:cs typeface="Times New Roman" panose="02020603050405020304" pitchFamily="18" charset="0"/>
              </a:rPr>
              <a:t>contributes significantly to the ability to predict gas mileage. </a:t>
            </a:r>
          </a:p>
          <a:p>
            <a:endParaRPr lang="en-US" sz="8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Note</a:t>
            </a:r>
            <a:r>
              <a:rPr lang="en-US" sz="2600" dirty="0">
                <a:latin typeface="Times New Roman" panose="02020603050405020304" pitchFamily="18" charset="0"/>
                <a:cs typeface="Times New Roman" panose="02020603050405020304" pitchFamily="18" charset="0"/>
              </a:rPr>
              <a:t>: We choose engine size over weight, cylinders, or drive ratio because the test statistic for engine size is largest. </a:t>
            </a:r>
          </a:p>
          <a:p>
            <a:r>
              <a:rPr lang="en-US" sz="2600" dirty="0">
                <a:latin typeface="Times New Roman" panose="02020603050405020304" pitchFamily="18" charset="0"/>
                <a:cs typeface="Times New Roman" panose="02020603050405020304" pitchFamily="18" charset="0"/>
              </a:rPr>
              <a:t>Now, repeat the process by finding least-squares regressions with engine size and each of the remaining explanatory variables. The additional explanatory variable with the lowest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added to the model (provided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0.05). We will not show each possible regression. </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spTree>
    <p:extLst>
      <p:ext uri="{BB962C8B-B14F-4D97-AF65-F5344CB8AC3E}">
        <p14:creationId xmlns:p14="http://schemas.microsoft.com/office/powerpoint/2010/main" val="1642781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4" end="4"/>
                                            </p:txEl>
                                          </p:spTgt>
                                        </p:tgtEl>
                                        <p:attrNameLst>
                                          <p:attrName>style.visibility</p:attrName>
                                        </p:attrNameLst>
                                      </p:cBhvr>
                                      <p:to>
                                        <p:strVal val="visible"/>
                                      </p:to>
                                    </p:set>
                                    <p:animEffect transition="in" filter="fade">
                                      <p:cBhvr>
                                        <p:cTn id="12" dur="500"/>
                                        <p:tgtEl>
                                          <p:spTgt spid="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179</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that the explanatory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variable drive ratio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should be added to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pic>
        <p:nvPicPr>
          <p:cNvPr id="3" name="Picture 2" descr="A close up of text on a white background&#10;&#10;Description automatically generated">
            <a:extLst>
              <a:ext uri="{FF2B5EF4-FFF2-40B4-BE49-F238E27FC236}">
                <a16:creationId xmlns:a16="http://schemas.microsoft.com/office/drawing/2014/main" id="{F4BF8C01-EACE-44A0-92C6-4D49FF55A268}"/>
              </a:ext>
            </a:extLst>
          </p:cNvPr>
          <p:cNvPicPr>
            <a:picLocks noChangeAspect="1"/>
          </p:cNvPicPr>
          <p:nvPr/>
        </p:nvPicPr>
        <p:blipFill>
          <a:blip r:embed="rId3"/>
          <a:stretch>
            <a:fillRect/>
          </a:stretch>
        </p:blipFill>
        <p:spPr>
          <a:xfrm>
            <a:off x="3474608" y="1253573"/>
            <a:ext cx="5306460" cy="5077377"/>
          </a:xfrm>
          <a:prstGeom prst="rect">
            <a:avLst/>
          </a:prstGeom>
        </p:spPr>
      </p:pic>
    </p:spTree>
    <p:extLst>
      <p:ext uri="{BB962C8B-B14F-4D97-AF65-F5344CB8AC3E}">
        <p14:creationId xmlns:p14="http://schemas.microsoft.com/office/powerpoint/2010/main" val="291273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180</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b="1" dirty="0">
                <a:latin typeface="Times New Roman" panose="02020603050405020304" pitchFamily="18" charset="0"/>
                <a:cs typeface="Times New Roman" panose="02020603050405020304" pitchFamily="18" charset="0"/>
              </a:rPr>
              <a:t>Note: </a:t>
            </a:r>
            <a:r>
              <a:rPr lang="en-US" sz="2600" dirty="0">
                <a:latin typeface="Times New Roman" panose="02020603050405020304" pitchFamily="18" charset="0"/>
                <a:cs typeface="Times New Roman" panose="02020603050405020304" pitchFamily="18" charset="0"/>
              </a:rPr>
              <a:t>The regression model including both weight and engine size results in a model with an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that is not significant. This result likely occurs due to the high correlation between engine size and weight (0.870). Put simply, the model became confused when two highly correlated variables are included in the model. That is, the model was confused due to multicollinearity.</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(7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spTree>
    <p:extLst>
      <p:ext uri="{BB962C8B-B14F-4D97-AF65-F5344CB8AC3E}">
        <p14:creationId xmlns:p14="http://schemas.microsoft.com/office/powerpoint/2010/main" val="16526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181</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Now, we repeat the process by finding least-squares regressions with engine size and drive ratio and each of the remaining explanatory variables. None of the remaining</a:t>
            </a:r>
          </a:p>
          <a:p>
            <a:r>
              <a:rPr lang="en-US" sz="2600" dirty="0">
                <a:latin typeface="Times New Roman" panose="02020603050405020304" pitchFamily="18" charset="0"/>
                <a:cs typeface="Times New Roman" panose="02020603050405020304" pitchFamily="18" charset="0"/>
              </a:rPr>
              <a:t>explanatory variables have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less than the level of significance, 0.05. </a:t>
            </a:r>
          </a:p>
          <a:p>
            <a:r>
              <a:rPr lang="en-US" sz="2600" dirty="0">
                <a:latin typeface="Times New Roman" panose="02020603050405020304" pitchFamily="18" charset="0"/>
                <a:cs typeface="Times New Roman" panose="02020603050405020304" pitchFamily="18" charset="0"/>
              </a:rPr>
              <a:t>Therefore, the regression model from the forward selection method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where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is engine size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final drive ratio.</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(8 of </a:t>
            </a:r>
            <a:r>
              <a:rPr lang="en-US" sz="2400" dirty="0">
                <a:solidFill>
                  <a:schemeClr val="dk1"/>
                </a:solidFill>
              </a:rPr>
              <a:t>8</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Forward Selection</a:t>
            </a:r>
            <a:endParaRPr sz="2400" i="1" dirty="0"/>
          </a:p>
        </p:txBody>
      </p:sp>
      <p:graphicFrame>
        <p:nvGraphicFramePr>
          <p:cNvPr id="2" name="Object 1">
            <a:extLst>
              <a:ext uri="{FF2B5EF4-FFF2-40B4-BE49-F238E27FC236}">
                <a16:creationId xmlns:a16="http://schemas.microsoft.com/office/drawing/2014/main" id="{C8178FB2-31C9-4F56-8B0D-02FBAC8791AC}"/>
              </a:ext>
            </a:extLst>
          </p:cNvPr>
          <p:cNvGraphicFramePr>
            <a:graphicFrameLocks noChangeAspect="1"/>
          </p:cNvGraphicFramePr>
          <p:nvPr>
            <p:extLst>
              <p:ext uri="{D42A27DB-BD31-4B8C-83A1-F6EECF244321}">
                <p14:modId xmlns:p14="http://schemas.microsoft.com/office/powerpoint/2010/main" val="2725382089"/>
              </p:ext>
            </p:extLst>
          </p:nvPr>
        </p:nvGraphicFramePr>
        <p:xfrm>
          <a:off x="2026632" y="4377458"/>
          <a:ext cx="3962400" cy="393700"/>
        </p:xfrm>
        <a:graphic>
          <a:graphicData uri="http://schemas.openxmlformats.org/presentationml/2006/ole">
            <mc:AlternateContent xmlns:mc="http://schemas.openxmlformats.org/markup-compatibility/2006">
              <mc:Choice xmlns:v="urn:schemas-microsoft-com:vml" Requires="v">
                <p:oleObj spid="_x0000_s129054" name="Equation" r:id="rId4" imgW="3962160" imgH="393480" progId="Equation.DSMT4">
                  <p:embed/>
                </p:oleObj>
              </mc:Choice>
              <mc:Fallback>
                <p:oleObj name="Equation" r:id="rId4" imgW="3962160" imgH="393480" progId="Equation.DSMT4">
                  <p:embed/>
                  <p:pic>
                    <p:nvPicPr>
                      <p:cNvPr id="0" name=""/>
                      <p:cNvPicPr/>
                      <p:nvPr/>
                    </p:nvPicPr>
                    <p:blipFill>
                      <a:blip r:embed="rId5"/>
                      <a:stretch>
                        <a:fillRect/>
                      </a:stretch>
                    </p:blipFill>
                    <p:spPr>
                      <a:xfrm>
                        <a:off x="2026632" y="4377458"/>
                        <a:ext cx="3962400" cy="393700"/>
                      </a:xfrm>
                      <a:prstGeom prst="rect">
                        <a:avLst/>
                      </a:prstGeom>
                    </p:spPr>
                  </p:pic>
                </p:oleObj>
              </mc:Fallback>
            </mc:AlternateContent>
          </a:graphicData>
        </a:graphic>
      </p:graphicFrame>
    </p:spTree>
    <p:extLst>
      <p:ext uri="{BB962C8B-B14F-4D97-AF65-F5344CB8AC3E}">
        <p14:creationId xmlns:p14="http://schemas.microsoft.com/office/powerpoint/2010/main" val="37624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6" end="6"/>
                                            </p:txEl>
                                          </p:spTgt>
                                        </p:tgtEl>
                                        <p:attrNameLst>
                                          <p:attrName>style.visibility</p:attrName>
                                        </p:attrNameLst>
                                      </p:cBhvr>
                                      <p:to>
                                        <p:strVal val="visible"/>
                                      </p:to>
                                    </p:set>
                                    <p:animEffect transition="in" filter="fade">
                                      <p:cBhvr>
                                        <p:cTn id="10" dur="500"/>
                                        <p:tgtEl>
                                          <p:spTgt spid="315">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182</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Use the backward elimination procedure to find the best model to describe miles per gallon for the data in Table 10 (shown again on the next slide). Use a level of significance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as the criteria for an explanatory variable to be removed from 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10</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Backward Elimination</a:t>
            </a:r>
            <a:endParaRPr sz="2400" i="1" dirty="0"/>
          </a:p>
        </p:txBody>
      </p:sp>
    </p:spTree>
    <p:extLst>
      <p:ext uri="{BB962C8B-B14F-4D97-AF65-F5344CB8AC3E}">
        <p14:creationId xmlns:p14="http://schemas.microsoft.com/office/powerpoint/2010/main" val="214150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183</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10)                              </a:t>
            </a:r>
            <a:r>
              <a:rPr lang="en-US" sz="2400" b="0" i="1" u="none" dirty="0">
                <a:solidFill>
                  <a:schemeClr val="dk1"/>
                </a:solidFill>
                <a:latin typeface="Arial"/>
                <a:ea typeface="Arial"/>
                <a:cs typeface="Arial"/>
                <a:sym typeface="Arial"/>
              </a:rPr>
              <a:t>Backward Elimination</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61398887-A4EE-4DBA-891C-52720471111D}"/>
              </a:ext>
            </a:extLst>
          </p:cNvPr>
          <p:cNvPicPr>
            <a:picLocks noChangeAspect="1"/>
          </p:cNvPicPr>
          <p:nvPr/>
        </p:nvPicPr>
        <p:blipFill>
          <a:blip r:embed="rId3"/>
          <a:stretch>
            <a:fillRect/>
          </a:stretch>
        </p:blipFill>
        <p:spPr>
          <a:xfrm>
            <a:off x="381000" y="1367111"/>
            <a:ext cx="8515326" cy="4402092"/>
          </a:xfrm>
          <a:prstGeom prst="rect">
            <a:avLst/>
          </a:prstGeom>
        </p:spPr>
      </p:pic>
    </p:spTree>
    <p:extLst>
      <p:ext uri="{BB962C8B-B14F-4D97-AF65-F5344CB8AC3E}">
        <p14:creationId xmlns:p14="http://schemas.microsoft.com/office/powerpoint/2010/main" val="394591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184</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First, find the least-</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squares regression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model using all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explanatory variables. </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See the figure.</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10</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Backward Elimination</a:t>
            </a:r>
            <a:endParaRPr sz="2400" i="1" dirty="0"/>
          </a:p>
        </p:txBody>
      </p:sp>
      <p:pic>
        <p:nvPicPr>
          <p:cNvPr id="4" name="Picture 3" descr="A close up of a piece of paper&#10;&#10;Description automatically generated">
            <a:extLst>
              <a:ext uri="{FF2B5EF4-FFF2-40B4-BE49-F238E27FC236}">
                <a16:creationId xmlns:a16="http://schemas.microsoft.com/office/drawing/2014/main" id="{408FF99E-5C66-4758-8326-F478438DDAD1}"/>
              </a:ext>
            </a:extLst>
          </p:cNvPr>
          <p:cNvPicPr>
            <a:picLocks noChangeAspect="1"/>
          </p:cNvPicPr>
          <p:nvPr/>
        </p:nvPicPr>
        <p:blipFill>
          <a:blip r:embed="rId3"/>
          <a:stretch>
            <a:fillRect/>
          </a:stretch>
        </p:blipFill>
        <p:spPr>
          <a:xfrm>
            <a:off x="3428897" y="1225485"/>
            <a:ext cx="5605791" cy="5105466"/>
          </a:xfrm>
          <a:prstGeom prst="rect">
            <a:avLst/>
          </a:prstGeom>
        </p:spPr>
      </p:pic>
    </p:spTree>
    <p:extLst>
      <p:ext uri="{BB962C8B-B14F-4D97-AF65-F5344CB8AC3E}">
        <p14:creationId xmlns:p14="http://schemas.microsoft.com/office/powerpoint/2010/main" val="83398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185</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is very low at 0.009. This indicates that our model is reasonable. However, looking at the individual </a:t>
            </a:r>
            <a:r>
              <a:rPr lang="en-US" sz="2600" i="1"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-test statistics for slope coefficients, we see that some have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that are very large. We notice that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slope coefficient of the explanatory variable curb weight is the largest (0.978), so we will remove weight from the model.</a:t>
            </a:r>
          </a:p>
          <a:p>
            <a:r>
              <a:rPr lang="en-US" sz="2600" dirty="0">
                <a:latin typeface="Times New Roman" panose="02020603050405020304" pitchFamily="18" charset="0"/>
                <a:cs typeface="Times New Roman" panose="02020603050405020304" pitchFamily="18" charset="0"/>
              </a:rPr>
              <a:t>Notice that this slope coefficient is positive, which indicates that SUVs with more weight will get better gas mileage. This contradicts common sense. The correlation between curb weight and cylinders 10.7202 explains the strange results (multicollinearity).</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10</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Backward Elimination</a:t>
            </a:r>
            <a:endParaRPr sz="2400" i="1" dirty="0"/>
          </a:p>
        </p:txBody>
      </p:sp>
    </p:spTree>
    <p:extLst>
      <p:ext uri="{BB962C8B-B14F-4D97-AF65-F5344CB8AC3E}">
        <p14:creationId xmlns:p14="http://schemas.microsoft.com/office/powerpoint/2010/main" val="311201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1" end="1"/>
                                            </p:txEl>
                                          </p:spTgt>
                                        </p:tgtEl>
                                        <p:attrNameLst>
                                          <p:attrName>style.visibility</p:attrName>
                                        </p:attrNameLst>
                                      </p:cBhvr>
                                      <p:to>
                                        <p:strVal val="visible"/>
                                      </p:to>
                                    </p:set>
                                    <p:animEffect transition="in" filter="fade">
                                      <p:cBhvr>
                                        <p:cTn id="7" dur="500"/>
                                        <p:tgtEl>
                                          <p:spTgt spid="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186</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new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regression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(5 of </a:t>
            </a:r>
            <a:r>
              <a:rPr lang="en-US" sz="2400" dirty="0">
                <a:solidFill>
                  <a:schemeClr val="dk1"/>
                </a:solidFill>
              </a:rPr>
              <a:t>10</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Backward Elimination</a:t>
            </a:r>
            <a:endParaRPr sz="2400" i="1" dirty="0"/>
          </a:p>
        </p:txBody>
      </p:sp>
      <p:pic>
        <p:nvPicPr>
          <p:cNvPr id="3" name="Picture 2" descr="A close up of a piece of paper&#10;&#10;Description automatically generated">
            <a:extLst>
              <a:ext uri="{FF2B5EF4-FFF2-40B4-BE49-F238E27FC236}">
                <a16:creationId xmlns:a16="http://schemas.microsoft.com/office/drawing/2014/main" id="{948C1B38-AD45-440D-8A59-30C8515E542A}"/>
              </a:ext>
            </a:extLst>
          </p:cNvPr>
          <p:cNvPicPr>
            <a:picLocks noChangeAspect="1"/>
          </p:cNvPicPr>
          <p:nvPr/>
        </p:nvPicPr>
        <p:blipFill>
          <a:blip r:embed="rId3"/>
          <a:stretch>
            <a:fillRect/>
          </a:stretch>
        </p:blipFill>
        <p:spPr>
          <a:xfrm>
            <a:off x="2959180" y="1225485"/>
            <a:ext cx="6040982" cy="5148197"/>
          </a:xfrm>
          <a:prstGeom prst="rect">
            <a:avLst/>
          </a:prstGeom>
        </p:spPr>
      </p:pic>
    </p:spTree>
    <p:extLst>
      <p:ext uri="{BB962C8B-B14F-4D97-AF65-F5344CB8AC3E}">
        <p14:creationId xmlns:p14="http://schemas.microsoft.com/office/powerpoint/2010/main" val="847610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187</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decreased to 0.003, which indicates that our model has improved. Notice also that the adjusted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increased from 65.6% to 69.0% when we removed curb weight from the model. This illustrates that the adjusted </a:t>
            </a:r>
            <a:r>
              <a:rPr lang="en-US" sz="2600" i="1" dirty="0">
                <a:latin typeface="Times New Roman" panose="02020603050405020304" pitchFamily="18" charset="0"/>
                <a:cs typeface="Times New Roman" panose="02020603050405020304" pitchFamily="18" charset="0"/>
              </a:rPr>
              <a:t>R</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punishes a</a:t>
            </a:r>
          </a:p>
          <a:p>
            <a:r>
              <a:rPr lang="en-US" sz="2600" dirty="0">
                <a:latin typeface="Times New Roman" panose="02020603050405020304" pitchFamily="18" charset="0"/>
                <a:cs typeface="Times New Roman" panose="02020603050405020304" pitchFamily="18" charset="0"/>
              </a:rPr>
              <a:t>model that is unnecessarily complex. However, we still have some explanatory variables whose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are quite large. We will next remove the explanatory variable “ground clearance” from the model because it has the largest insignificant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figure on the next slide shows the new regression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(6 of 10)                              </a:t>
            </a:r>
            <a:r>
              <a:rPr lang="en-US" sz="2400" b="0" i="1" u="none" dirty="0">
                <a:solidFill>
                  <a:schemeClr val="dk1"/>
                </a:solidFill>
                <a:latin typeface="Arial"/>
                <a:ea typeface="Arial"/>
                <a:cs typeface="Arial"/>
                <a:sym typeface="Arial"/>
              </a:rPr>
              <a:t>Backward Elimination</a:t>
            </a:r>
            <a:endParaRPr sz="2400" i="1" dirty="0"/>
          </a:p>
        </p:txBody>
      </p:sp>
    </p:spTree>
    <p:extLst>
      <p:ext uri="{BB962C8B-B14F-4D97-AF65-F5344CB8AC3E}">
        <p14:creationId xmlns:p14="http://schemas.microsoft.com/office/powerpoint/2010/main" val="171958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3" end="3"/>
                                            </p:txEl>
                                          </p:spTgt>
                                        </p:tgtEl>
                                        <p:attrNameLst>
                                          <p:attrName>style.visibility</p:attrName>
                                        </p:attrNameLst>
                                      </p:cBhvr>
                                      <p:to>
                                        <p:strVal val="visible"/>
                                      </p:to>
                                    </p:set>
                                    <p:animEffect transition="in" filter="fade">
                                      <p:cBhvr>
                                        <p:cTn id="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188</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(7 of 10)                              </a:t>
            </a:r>
            <a:r>
              <a:rPr lang="en-US" sz="2400" b="0" i="1" u="none" dirty="0">
                <a:solidFill>
                  <a:schemeClr val="dk1"/>
                </a:solidFill>
                <a:latin typeface="Arial"/>
                <a:ea typeface="Arial"/>
                <a:cs typeface="Arial"/>
                <a:sym typeface="Arial"/>
              </a:rPr>
              <a:t>Backward Elimination</a:t>
            </a:r>
            <a:endParaRPr sz="2400" i="1" dirty="0"/>
          </a:p>
        </p:txBody>
      </p:sp>
      <p:pic>
        <p:nvPicPr>
          <p:cNvPr id="3" name="Picture 2" descr="A close up of text on a white background&#10;&#10;Description automatically generated">
            <a:extLst>
              <a:ext uri="{FF2B5EF4-FFF2-40B4-BE49-F238E27FC236}">
                <a16:creationId xmlns:a16="http://schemas.microsoft.com/office/drawing/2014/main" id="{591A5CF8-528B-415C-8728-49F4A55ACD2A}"/>
              </a:ext>
            </a:extLst>
          </p:cNvPr>
          <p:cNvPicPr>
            <a:picLocks noChangeAspect="1"/>
          </p:cNvPicPr>
          <p:nvPr/>
        </p:nvPicPr>
        <p:blipFill>
          <a:blip r:embed="rId3"/>
          <a:stretch>
            <a:fillRect/>
          </a:stretch>
        </p:blipFill>
        <p:spPr>
          <a:xfrm>
            <a:off x="1982709" y="1225485"/>
            <a:ext cx="5415743" cy="5105466"/>
          </a:xfrm>
          <a:prstGeom prst="rect">
            <a:avLst/>
          </a:prstGeom>
        </p:spPr>
      </p:pic>
    </p:spTree>
    <p:extLst>
      <p:ext uri="{BB962C8B-B14F-4D97-AF65-F5344CB8AC3E}">
        <p14:creationId xmlns:p14="http://schemas.microsoft.com/office/powerpoint/2010/main" val="153184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189</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continues to decline as we eliminate variables! However, we still have explanatory variables with large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Next remove the explanatory variable cylinders because it has the largest insignificant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figure on the next slide shows the new regression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(8 of 10)                              </a:t>
            </a:r>
            <a:r>
              <a:rPr lang="en-US" sz="2400" b="0" i="1" u="none" dirty="0">
                <a:solidFill>
                  <a:schemeClr val="dk1"/>
                </a:solidFill>
                <a:latin typeface="Arial"/>
                <a:ea typeface="Arial"/>
                <a:cs typeface="Arial"/>
                <a:sym typeface="Arial"/>
              </a:rPr>
              <a:t>Backward Elimination</a:t>
            </a:r>
            <a:endParaRPr sz="2400" i="1" dirty="0"/>
          </a:p>
        </p:txBody>
      </p:sp>
    </p:spTree>
    <p:extLst>
      <p:ext uri="{BB962C8B-B14F-4D97-AF65-F5344CB8AC3E}">
        <p14:creationId xmlns:p14="http://schemas.microsoft.com/office/powerpoint/2010/main" val="163701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190</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(9 of 10)                              </a:t>
            </a:r>
            <a:r>
              <a:rPr lang="en-US" sz="2400" b="0" i="1" u="none" dirty="0">
                <a:solidFill>
                  <a:schemeClr val="dk1"/>
                </a:solidFill>
                <a:latin typeface="Arial"/>
                <a:ea typeface="Arial"/>
                <a:cs typeface="Arial"/>
                <a:sym typeface="Arial"/>
              </a:rPr>
              <a:t>Backward Elimination</a:t>
            </a:r>
            <a:endParaRPr sz="2400" i="1" dirty="0"/>
          </a:p>
        </p:txBody>
      </p:sp>
      <p:pic>
        <p:nvPicPr>
          <p:cNvPr id="3" name="Picture 2" descr="A picture containing screenshot&#10;&#10;Description automatically generated">
            <a:extLst>
              <a:ext uri="{FF2B5EF4-FFF2-40B4-BE49-F238E27FC236}">
                <a16:creationId xmlns:a16="http://schemas.microsoft.com/office/drawing/2014/main" id="{7E66CFC4-FC0A-491F-9E56-EB80F5B85A7A}"/>
              </a:ext>
            </a:extLst>
          </p:cNvPr>
          <p:cNvPicPr>
            <a:picLocks noChangeAspect="1"/>
          </p:cNvPicPr>
          <p:nvPr/>
        </p:nvPicPr>
        <p:blipFill>
          <a:blip r:embed="rId3"/>
          <a:stretch>
            <a:fillRect/>
          </a:stretch>
        </p:blipFill>
        <p:spPr>
          <a:xfrm>
            <a:off x="1769943" y="1225485"/>
            <a:ext cx="4761503" cy="5105465"/>
          </a:xfrm>
          <a:prstGeom prst="rect">
            <a:avLst/>
          </a:prstGeom>
        </p:spPr>
      </p:pic>
    </p:spTree>
    <p:extLst>
      <p:ext uri="{BB962C8B-B14F-4D97-AF65-F5344CB8AC3E}">
        <p14:creationId xmlns:p14="http://schemas.microsoft.com/office/powerpoint/2010/main" val="3028337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191</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Now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is very low at 0.000 (so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0.0005), and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for the slope coefficients are also low. In addition, the estimates of the slope coefficients are reasonable. We expect both to be negative because (1) a larger engine should get worse gas mileage and (2) a higher final drive ratio (which indicates better initial acceleration) is likely to get worse gas mileage.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We believe that the “best” model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where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is engine size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final drive ratio.</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(10 of 10)                              </a:t>
            </a:r>
            <a:r>
              <a:rPr lang="en-US" sz="2400" b="0" i="1" u="none" dirty="0">
                <a:solidFill>
                  <a:schemeClr val="dk1"/>
                </a:solidFill>
                <a:latin typeface="Arial"/>
                <a:ea typeface="Arial"/>
                <a:cs typeface="Arial"/>
                <a:sym typeface="Arial"/>
              </a:rPr>
              <a:t>Backward Elimination</a:t>
            </a:r>
            <a:endParaRPr sz="2400" i="1" dirty="0"/>
          </a:p>
        </p:txBody>
      </p:sp>
      <p:graphicFrame>
        <p:nvGraphicFramePr>
          <p:cNvPr id="2" name="Object 1">
            <a:extLst>
              <a:ext uri="{FF2B5EF4-FFF2-40B4-BE49-F238E27FC236}">
                <a16:creationId xmlns:a16="http://schemas.microsoft.com/office/drawing/2014/main" id="{B1446C76-11CC-4BD2-8273-1F437CB3FCC3}"/>
              </a:ext>
            </a:extLst>
          </p:cNvPr>
          <p:cNvGraphicFramePr>
            <a:graphicFrameLocks noChangeAspect="1"/>
          </p:cNvGraphicFramePr>
          <p:nvPr>
            <p:extLst>
              <p:ext uri="{D42A27DB-BD31-4B8C-83A1-F6EECF244321}">
                <p14:modId xmlns:p14="http://schemas.microsoft.com/office/powerpoint/2010/main" val="1989319282"/>
              </p:ext>
            </p:extLst>
          </p:nvPr>
        </p:nvGraphicFramePr>
        <p:xfrm>
          <a:off x="2539542" y="5112750"/>
          <a:ext cx="3822700" cy="393700"/>
        </p:xfrm>
        <a:graphic>
          <a:graphicData uri="http://schemas.openxmlformats.org/presentationml/2006/ole">
            <mc:AlternateContent xmlns:mc="http://schemas.openxmlformats.org/markup-compatibility/2006">
              <mc:Choice xmlns:v="urn:schemas-microsoft-com:vml" Requires="v">
                <p:oleObj spid="_x0000_s130074" name="Equation" r:id="rId4" imgW="3822480" imgH="393480" progId="Equation.DSMT4">
                  <p:embed/>
                </p:oleObj>
              </mc:Choice>
              <mc:Fallback>
                <p:oleObj name="Equation" r:id="rId4" imgW="3822480" imgH="393480" progId="Equation.DSMT4">
                  <p:embed/>
                  <p:pic>
                    <p:nvPicPr>
                      <p:cNvPr id="0" name=""/>
                      <p:cNvPicPr/>
                      <p:nvPr/>
                    </p:nvPicPr>
                    <p:blipFill>
                      <a:blip r:embed="rId5"/>
                      <a:stretch>
                        <a:fillRect/>
                      </a:stretch>
                    </p:blipFill>
                    <p:spPr>
                      <a:xfrm>
                        <a:off x="2539542" y="5112750"/>
                        <a:ext cx="3822700" cy="393700"/>
                      </a:xfrm>
                      <a:prstGeom prst="rect">
                        <a:avLst/>
                      </a:prstGeom>
                    </p:spPr>
                  </p:pic>
                </p:oleObj>
              </mc:Fallback>
            </mc:AlternateContent>
          </a:graphicData>
        </a:graphic>
      </p:graphicFrame>
    </p:spTree>
    <p:extLst>
      <p:ext uri="{BB962C8B-B14F-4D97-AF65-F5344CB8AC3E}">
        <p14:creationId xmlns:p14="http://schemas.microsoft.com/office/powerpoint/2010/main" val="2747114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5">
                                            <p:txEl>
                                              <p:pRg st="5" end="5"/>
                                            </p:txEl>
                                          </p:spTgt>
                                        </p:tgtEl>
                                        <p:attrNameLst>
                                          <p:attrName>style.visibility</p:attrName>
                                        </p:attrNameLst>
                                      </p:cBhvr>
                                      <p:to>
                                        <p:strVal val="visible"/>
                                      </p:to>
                                    </p:set>
                                    <p:animEffect transition="in" filter="fade">
                                      <p:cBhvr>
                                        <p:cTn id="10" dur="500"/>
                                        <p:tgtEl>
                                          <p:spTgt spid="31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192</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Use the stepwise regression procedure to find the best model to describe miles per gallon for the data in Table 10, shown again on the next slide. Use a level of significance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0.15 as the criteria for an explanatory variables to be removed from the model and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0.25 for</a:t>
            </a:r>
          </a:p>
          <a:p>
            <a:r>
              <a:rPr lang="en-US" sz="2800" dirty="0">
                <a:latin typeface="Times New Roman" panose="02020603050405020304" pitchFamily="18" charset="0"/>
                <a:cs typeface="Times New Roman" panose="02020603050405020304" pitchFamily="18" charset="0"/>
              </a:rPr>
              <a:t>an explanatory variable to remain in the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(1 of </a:t>
            </a:r>
            <a:r>
              <a:rPr lang="en-US" sz="2400" dirty="0">
                <a:solidFill>
                  <a:schemeClr val="dk1"/>
                </a:solidFill>
              </a:rPr>
              <a:t>4</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Stepwise Regression</a:t>
            </a:r>
            <a:endParaRPr sz="2400" i="1" dirty="0"/>
          </a:p>
        </p:txBody>
      </p:sp>
    </p:spTree>
    <p:extLst>
      <p:ext uri="{BB962C8B-B14F-4D97-AF65-F5344CB8AC3E}">
        <p14:creationId xmlns:p14="http://schemas.microsoft.com/office/powerpoint/2010/main" val="363817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193</a:t>
            </a:fld>
            <a:endParaRPr dirty="0"/>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(2 of </a:t>
            </a:r>
            <a:r>
              <a:rPr lang="en-US" sz="2400" dirty="0">
                <a:solidFill>
                  <a:schemeClr val="dk1"/>
                </a:solidFill>
              </a:rPr>
              <a:t>4</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Stepwise Regression</a:t>
            </a:r>
            <a:endParaRPr sz="2400" i="1" dirty="0"/>
          </a:p>
        </p:txBody>
      </p:sp>
      <p:pic>
        <p:nvPicPr>
          <p:cNvPr id="3" name="Picture 2" descr="A screenshot of a cell phone&#10;&#10;Description automatically generated">
            <a:extLst>
              <a:ext uri="{FF2B5EF4-FFF2-40B4-BE49-F238E27FC236}">
                <a16:creationId xmlns:a16="http://schemas.microsoft.com/office/drawing/2014/main" id="{3E7B1CA4-60A9-4AA1-8E22-E3E9C4081B7B}"/>
              </a:ext>
            </a:extLst>
          </p:cNvPr>
          <p:cNvPicPr>
            <a:picLocks noChangeAspect="1"/>
          </p:cNvPicPr>
          <p:nvPr/>
        </p:nvPicPr>
        <p:blipFill>
          <a:blip r:embed="rId3"/>
          <a:stretch>
            <a:fillRect/>
          </a:stretch>
        </p:blipFill>
        <p:spPr>
          <a:xfrm>
            <a:off x="359924" y="1372451"/>
            <a:ext cx="8424151" cy="4354958"/>
          </a:xfrm>
          <a:prstGeom prst="rect">
            <a:avLst/>
          </a:prstGeom>
        </p:spPr>
      </p:pic>
    </p:spTree>
    <p:extLst>
      <p:ext uri="{BB962C8B-B14F-4D97-AF65-F5344CB8AC3E}">
        <p14:creationId xmlns:p14="http://schemas.microsoft.com/office/powerpoint/2010/main" val="121099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194</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figure shows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results obtained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from StatCrunch.</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(3 of </a:t>
            </a:r>
            <a:r>
              <a:rPr lang="en-US" sz="2400" dirty="0">
                <a:solidFill>
                  <a:schemeClr val="dk1"/>
                </a:solidFill>
              </a:rPr>
              <a:t>4</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Stepwise Regression</a:t>
            </a:r>
            <a:endParaRPr sz="2400" i="1" dirty="0"/>
          </a:p>
        </p:txBody>
      </p:sp>
      <p:pic>
        <p:nvPicPr>
          <p:cNvPr id="4" name="Picture 3" descr="A screenshot of text&#10;&#10;Description automatically generated">
            <a:extLst>
              <a:ext uri="{FF2B5EF4-FFF2-40B4-BE49-F238E27FC236}">
                <a16:creationId xmlns:a16="http://schemas.microsoft.com/office/drawing/2014/main" id="{7B3F6DB6-A6B1-4333-9079-784C2A407BF1}"/>
              </a:ext>
            </a:extLst>
          </p:cNvPr>
          <p:cNvPicPr>
            <a:picLocks noChangeAspect="1"/>
          </p:cNvPicPr>
          <p:nvPr/>
        </p:nvPicPr>
        <p:blipFill>
          <a:blip r:embed="rId3"/>
          <a:stretch>
            <a:fillRect/>
          </a:stretch>
        </p:blipFill>
        <p:spPr>
          <a:xfrm>
            <a:off x="3145953" y="1225485"/>
            <a:ext cx="5779103" cy="5105465"/>
          </a:xfrm>
          <a:prstGeom prst="rect">
            <a:avLst/>
          </a:prstGeom>
        </p:spPr>
      </p:pic>
    </p:spTree>
    <p:extLst>
      <p:ext uri="{BB962C8B-B14F-4D97-AF65-F5344CB8AC3E}">
        <p14:creationId xmlns:p14="http://schemas.microsoft.com/office/powerpoint/2010/main" val="1436804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195</a:t>
            </a:fld>
            <a:endParaRPr dirty="0"/>
          </a:p>
        </p:txBody>
      </p:sp>
      <p:sp>
        <p:nvSpPr>
          <p:cNvPr id="315" name="Google Shape;315;p49"/>
          <p:cNvSpPr txBox="1"/>
          <p:nvPr/>
        </p:nvSpPr>
        <p:spPr>
          <a:xfrm>
            <a:off x="419493" y="1225485"/>
            <a:ext cx="8580669" cy="4958499"/>
          </a:xfrm>
          <a:prstGeom prst="rect">
            <a:avLst/>
          </a:prstGeom>
          <a:noFill/>
          <a:ln>
            <a:noFill/>
          </a:ln>
        </p:spPr>
        <p:txBody>
          <a:bodyPr spcFirstLastPara="1" wrap="square" lIns="91425" tIns="45700" rIns="91425" bIns="45700" anchor="t" anchorCtr="0">
            <a:noAutofit/>
          </a:bodyPr>
          <a:lstStyle/>
          <a:p>
            <a:r>
              <a:rPr lang="en-US" sz="2600" dirty="0">
                <a:latin typeface="Times New Roman" panose="02020603050405020304" pitchFamily="18" charset="0"/>
                <a:cs typeface="Times New Roman" panose="02020603050405020304" pitchFamily="18" charset="0"/>
              </a:rPr>
              <a:t>The stepwise regression procedure selects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where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is engine size and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final drive ratio as the best model.</a:t>
            </a:r>
          </a:p>
        </p:txBody>
      </p:sp>
      <p:sp>
        <p:nvSpPr>
          <p:cNvPr id="10" name="Google Shape;316;p49">
            <a:extLst>
              <a:ext uri="{FF2B5EF4-FFF2-40B4-BE49-F238E27FC236}">
                <a16:creationId xmlns:a16="http://schemas.microsoft.com/office/drawing/2014/main" id="{6464452F-60F4-4F4D-AF28-4698B344E8F5}"/>
              </a:ext>
            </a:extLst>
          </p:cNvPr>
          <p:cNvSpPr txBox="1"/>
          <p:nvPr/>
        </p:nvSpPr>
        <p:spPr>
          <a:xfrm>
            <a:off x="381000" y="379412"/>
            <a:ext cx="8619162" cy="846073"/>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Building a Regression Model Using</a:t>
            </a:r>
            <a:br>
              <a:rPr lang="en-US" sz="2400" b="0" i="1" u="none" dirty="0">
                <a:solidFill>
                  <a:schemeClr val="dk1"/>
                </a:solidFill>
                <a:latin typeface="Arial"/>
                <a:ea typeface="Arial"/>
                <a:cs typeface="Arial"/>
                <a:sym typeface="Arial"/>
              </a:rPr>
            </a:br>
            <a:r>
              <a:rPr lang="en-US" sz="2400" b="0" u="none" dirty="0">
                <a:solidFill>
                  <a:schemeClr val="dk1"/>
                </a:solidFill>
                <a:latin typeface="Arial"/>
                <a:ea typeface="Arial"/>
                <a:cs typeface="Arial"/>
                <a:sym typeface="Arial"/>
              </a:rPr>
              <a:t>(4 of </a:t>
            </a:r>
            <a:r>
              <a:rPr lang="en-US" sz="2400" dirty="0">
                <a:solidFill>
                  <a:schemeClr val="dk1"/>
                </a:solidFill>
              </a:rPr>
              <a:t>4</a:t>
            </a:r>
            <a:r>
              <a:rPr lang="en-US" sz="2400" b="0" u="none" dirty="0">
                <a:solidFill>
                  <a:schemeClr val="dk1"/>
                </a:solidFill>
                <a:latin typeface="Arial"/>
                <a:ea typeface="Arial"/>
                <a:cs typeface="Arial"/>
                <a:sym typeface="Arial"/>
              </a:rPr>
              <a:t>)                              </a:t>
            </a:r>
            <a:r>
              <a:rPr lang="en-US" sz="2400" b="0" i="1" u="none" dirty="0">
                <a:solidFill>
                  <a:schemeClr val="dk1"/>
                </a:solidFill>
                <a:latin typeface="Arial"/>
                <a:ea typeface="Arial"/>
                <a:cs typeface="Arial"/>
                <a:sym typeface="Arial"/>
              </a:rPr>
              <a:t>Stepwise Regression</a:t>
            </a:r>
            <a:endParaRPr sz="2400" i="1" dirty="0"/>
          </a:p>
        </p:txBody>
      </p:sp>
      <p:graphicFrame>
        <p:nvGraphicFramePr>
          <p:cNvPr id="6" name="Object 5">
            <a:extLst>
              <a:ext uri="{FF2B5EF4-FFF2-40B4-BE49-F238E27FC236}">
                <a16:creationId xmlns:a16="http://schemas.microsoft.com/office/drawing/2014/main" id="{77EB9E0A-3F8E-45CA-80AB-A4B87D3AD4FE}"/>
              </a:ext>
            </a:extLst>
          </p:cNvPr>
          <p:cNvGraphicFramePr>
            <a:graphicFrameLocks noChangeAspect="1"/>
          </p:cNvGraphicFramePr>
          <p:nvPr>
            <p:extLst>
              <p:ext uri="{D42A27DB-BD31-4B8C-83A1-F6EECF244321}">
                <p14:modId xmlns:p14="http://schemas.microsoft.com/office/powerpoint/2010/main" val="2658113112"/>
              </p:ext>
            </p:extLst>
          </p:nvPr>
        </p:nvGraphicFramePr>
        <p:xfrm>
          <a:off x="2051639" y="1874708"/>
          <a:ext cx="4495800" cy="393700"/>
        </p:xfrm>
        <a:graphic>
          <a:graphicData uri="http://schemas.openxmlformats.org/presentationml/2006/ole">
            <mc:AlternateContent xmlns:mc="http://schemas.openxmlformats.org/markup-compatibility/2006">
              <mc:Choice xmlns:v="urn:schemas-microsoft-com:vml" Requires="v">
                <p:oleObj spid="_x0000_s131093" name="Equation" r:id="rId4" imgW="4495680" imgH="393480" progId="Equation.DSMT4">
                  <p:embed/>
                </p:oleObj>
              </mc:Choice>
              <mc:Fallback>
                <p:oleObj name="Equation" r:id="rId4" imgW="4495680" imgH="393480" progId="Equation.DSMT4">
                  <p:embed/>
                  <p:pic>
                    <p:nvPicPr>
                      <p:cNvPr id="2" name="Object 1">
                        <a:extLst>
                          <a:ext uri="{FF2B5EF4-FFF2-40B4-BE49-F238E27FC236}">
                            <a16:creationId xmlns:a16="http://schemas.microsoft.com/office/drawing/2014/main" id="{B1446C76-11CC-4BD2-8273-1F437CB3FCC3}"/>
                          </a:ext>
                        </a:extLst>
                      </p:cNvPr>
                      <p:cNvPicPr/>
                      <p:nvPr/>
                    </p:nvPicPr>
                    <p:blipFill>
                      <a:blip r:embed="rId5"/>
                      <a:stretch>
                        <a:fillRect/>
                      </a:stretch>
                    </p:blipFill>
                    <p:spPr>
                      <a:xfrm>
                        <a:off x="2051639" y="1874708"/>
                        <a:ext cx="4495800" cy="393700"/>
                      </a:xfrm>
                      <a:prstGeom prst="rect">
                        <a:avLst/>
                      </a:prstGeom>
                    </p:spPr>
                  </p:pic>
                </p:oleObj>
              </mc:Fallback>
            </mc:AlternateContent>
          </a:graphicData>
        </a:graphic>
      </p:graphicFrame>
    </p:spTree>
    <p:extLst>
      <p:ext uri="{BB962C8B-B14F-4D97-AF65-F5344CB8AC3E}">
        <p14:creationId xmlns:p14="http://schemas.microsoft.com/office/powerpoint/2010/main" val="1281533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196</a:t>
            </a:fld>
            <a:endParaRPr dirty="0"/>
          </a:p>
        </p:txBody>
      </p:sp>
      <p:sp>
        <p:nvSpPr>
          <p:cNvPr id="315" name="Google Shape;315;p49"/>
          <p:cNvSpPr txBox="1"/>
          <p:nvPr/>
        </p:nvSpPr>
        <p:spPr>
          <a:xfrm>
            <a:off x="281665" y="301658"/>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Regardless of whether you use forward selection, backward elimination, or stepwise regression, the regression model should always be verified by drawing residual plots.</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figure on the next slide shows the residual plots as well as the normal probability plots of the residuals.</a:t>
            </a:r>
          </a:p>
        </p:txBody>
      </p:sp>
    </p:spTree>
    <p:extLst>
      <p:ext uri="{BB962C8B-B14F-4D97-AF65-F5344CB8AC3E}">
        <p14:creationId xmlns:p14="http://schemas.microsoft.com/office/powerpoint/2010/main" val="3176687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2" end="2"/>
                                            </p:txEl>
                                          </p:spTgt>
                                        </p:tgtEl>
                                        <p:attrNameLst>
                                          <p:attrName>style.visibility</p:attrName>
                                        </p:attrNameLst>
                                      </p:cBhvr>
                                      <p:to>
                                        <p:strVal val="visible"/>
                                      </p:to>
                                    </p:set>
                                    <p:animEffect transition="in" filter="fade">
                                      <p:cBhvr>
                                        <p:cTn id="7" dur="500"/>
                                        <p:tgtEl>
                                          <p:spTgt spid="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197</a:t>
            </a:fld>
            <a:endParaRPr dirty="0"/>
          </a:p>
        </p:txBody>
      </p:sp>
      <p:pic>
        <p:nvPicPr>
          <p:cNvPr id="3" name="Picture 2" descr="A close up of a map&#10;&#10;Description automatically generated">
            <a:extLst>
              <a:ext uri="{FF2B5EF4-FFF2-40B4-BE49-F238E27FC236}">
                <a16:creationId xmlns:a16="http://schemas.microsoft.com/office/drawing/2014/main" id="{B92F1B47-FF6E-4DDF-8DBD-03445D7C1F49}"/>
              </a:ext>
            </a:extLst>
          </p:cNvPr>
          <p:cNvPicPr>
            <a:picLocks noChangeAspect="1"/>
          </p:cNvPicPr>
          <p:nvPr/>
        </p:nvPicPr>
        <p:blipFill>
          <a:blip r:embed="rId3"/>
          <a:stretch>
            <a:fillRect/>
          </a:stretch>
        </p:blipFill>
        <p:spPr>
          <a:xfrm>
            <a:off x="1213797" y="242740"/>
            <a:ext cx="6466402" cy="6088210"/>
          </a:xfrm>
          <a:prstGeom prst="rect">
            <a:avLst/>
          </a:prstGeom>
        </p:spPr>
      </p:pic>
    </p:spTree>
    <p:extLst>
      <p:ext uri="{BB962C8B-B14F-4D97-AF65-F5344CB8AC3E}">
        <p14:creationId xmlns:p14="http://schemas.microsoft.com/office/powerpoint/2010/main" val="128018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b="1" dirty="0">
                <a:solidFill>
                  <a:schemeClr val="lt1"/>
                </a:solidFill>
                <a:latin typeface="Verdana"/>
                <a:ea typeface="Verdana"/>
                <a:cs typeface="Verdana"/>
                <a:sym typeface="Verdana"/>
              </a:rPr>
              <a:t>14</a:t>
            </a:r>
            <a:r>
              <a:rPr lang="en-US" sz="1400" b="1" i="0" u="none" dirty="0">
                <a:solidFill>
                  <a:schemeClr val="lt1"/>
                </a:solidFill>
                <a:latin typeface="Verdana"/>
                <a:ea typeface="Verdana"/>
                <a:cs typeface="Verdana"/>
                <a:sym typeface="Verdana"/>
              </a:rPr>
              <a:t>-</a:t>
            </a:r>
            <a:fld id="{00000000-1234-1234-1234-123412341234}" type="slidenum">
              <a:rPr lang="en-US" sz="1400" b="1" i="0" u="none" smtClean="0">
                <a:solidFill>
                  <a:schemeClr val="lt1"/>
                </a:solidFill>
                <a:latin typeface="Verdana"/>
                <a:ea typeface="Verdana"/>
                <a:cs typeface="Verdana"/>
                <a:sym typeface="Verdana"/>
              </a:rPr>
              <a:t>198</a:t>
            </a:fld>
            <a:endParaRPr dirty="0"/>
          </a:p>
        </p:txBody>
      </p:sp>
      <p:sp>
        <p:nvSpPr>
          <p:cNvPr id="315" name="Google Shape;315;p49"/>
          <p:cNvSpPr txBox="1"/>
          <p:nvPr/>
        </p:nvSpPr>
        <p:spPr>
          <a:xfrm>
            <a:off x="281665" y="301658"/>
            <a:ext cx="8580669" cy="4958499"/>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The residual plots do not indicate that there are any problems in the model, and the normal probability plot indicates that the residuals appear to be normally distributed because 0.992 &gt; 0.939 (Table VI) and a boxplot of the residuals (not shown) indicates there are no outliers, so we accept the model.</a:t>
            </a:r>
          </a:p>
        </p:txBody>
      </p:sp>
    </p:spTree>
    <p:extLst>
      <p:ext uri="{BB962C8B-B14F-4D97-AF65-F5344CB8AC3E}">
        <p14:creationId xmlns:p14="http://schemas.microsoft.com/office/powerpoint/2010/main" val="184887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13943</TotalTime>
  <Words>11493</Words>
  <Application>Microsoft Office PowerPoint</Application>
  <PresentationFormat>On-screen Show (4:3)</PresentationFormat>
  <Paragraphs>1029</Paragraphs>
  <Slides>198</Slides>
  <Notes>198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198</vt:i4>
      </vt:variant>
    </vt:vector>
  </HeadingPairs>
  <TitlesOfParts>
    <vt:vector size="210" baseType="lpstr">
      <vt:lpstr>Arial</vt:lpstr>
      <vt:lpstr>HelveticaNeueLTW1G-Bd</vt:lpstr>
      <vt:lpstr>Noto Sans Symbols</vt:lpstr>
      <vt:lpstr>PearsonMATHPRO01</vt:lpstr>
      <vt:lpstr>PearsonMATHPRO08</vt:lpstr>
      <vt:lpstr>Times New Roman</vt:lpstr>
      <vt:lpstr>TimesTenLTStd-Bold</vt:lpstr>
      <vt:lpstr>TimesTenLTStd-Italic</vt:lpstr>
      <vt:lpstr>TimesTenLTStd-Roman</vt:lpstr>
      <vt:lpstr>Verdana</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3</vt:lpstr>
      <vt:lpstr>PowerPoint Presentation</vt:lpstr>
      <vt:lpstr>PowerPoint Presentation</vt:lpstr>
      <vt:lpstr>Objective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Objective 3</vt:lpstr>
      <vt:lpstr>PowerPoint Presentation</vt:lpstr>
      <vt:lpstr>PowerPoint Presentation</vt:lpstr>
      <vt:lpstr>Objective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6</vt:lpstr>
      <vt:lpstr>PowerPoint Presentation</vt:lpstr>
      <vt:lpstr>PowerPoint Presentation</vt:lpstr>
      <vt:lpstr>PowerPoint Presentation</vt:lpstr>
      <vt:lpstr>Objective 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INFORMED DECISIONS USING DATA</dc:title>
  <dc:creator>Pam Trim</dc:creator>
  <cp:lastModifiedBy>Sue Glascoe</cp:lastModifiedBy>
  <cp:revision>1017</cp:revision>
  <dcterms:modified xsi:type="dcterms:W3CDTF">2020-01-01T19:35:09Z</dcterms:modified>
</cp:coreProperties>
</file>