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handoutMasterIdLst>
    <p:handoutMasterId r:id="rId38"/>
  </p:handoutMasterIdLst>
  <p:sldIdLst>
    <p:sldId id="384" r:id="rId2"/>
    <p:sldId id="356" r:id="rId3"/>
    <p:sldId id="258" r:id="rId4"/>
    <p:sldId id="319" r:id="rId5"/>
    <p:sldId id="357" r:id="rId6"/>
    <p:sldId id="320" r:id="rId7"/>
    <p:sldId id="321" r:id="rId8"/>
    <p:sldId id="261" r:id="rId9"/>
    <p:sldId id="323" r:id="rId10"/>
    <p:sldId id="324" r:id="rId11"/>
    <p:sldId id="325" r:id="rId12"/>
    <p:sldId id="326" r:id="rId13"/>
    <p:sldId id="358" r:id="rId14"/>
    <p:sldId id="332" r:id="rId15"/>
    <p:sldId id="328" r:id="rId16"/>
    <p:sldId id="329" r:id="rId17"/>
    <p:sldId id="331" r:id="rId18"/>
    <p:sldId id="330" r:id="rId19"/>
    <p:sldId id="316" r:id="rId20"/>
    <p:sldId id="360" r:id="rId21"/>
    <p:sldId id="334" r:id="rId22"/>
    <p:sldId id="335" r:id="rId23"/>
    <p:sldId id="336" r:id="rId24"/>
    <p:sldId id="361" r:id="rId25"/>
    <p:sldId id="339" r:id="rId26"/>
    <p:sldId id="355" r:id="rId27"/>
    <p:sldId id="340" r:id="rId28"/>
    <p:sldId id="318" r:id="rId29"/>
    <p:sldId id="348" r:id="rId30"/>
    <p:sldId id="353" r:id="rId31"/>
    <p:sldId id="349" r:id="rId32"/>
    <p:sldId id="350" r:id="rId33"/>
    <p:sldId id="351" r:id="rId34"/>
    <p:sldId id="352" r:id="rId35"/>
    <p:sldId id="359" r:id="rId36"/>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nie Day" initials="CD" lastIdx="3" clrIdx="0">
    <p:extLst>
      <p:ext uri="{19B8F6BF-5375-455C-9EA6-DF929625EA0E}">
        <p15:presenceInfo xmlns:p15="http://schemas.microsoft.com/office/powerpoint/2012/main" userId="9ff5298ed15b64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0033CC"/>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9"/>
    <p:restoredTop sz="94675"/>
  </p:normalViewPr>
  <p:slideViewPr>
    <p:cSldViewPr snapToGrid="0" snapToObjects="1">
      <p:cViewPr varScale="1">
        <p:scale>
          <a:sx n="66" d="100"/>
          <a:sy n="66" d="100"/>
        </p:scale>
        <p:origin x="12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88" d="100"/>
          <a:sy n="88" d="100"/>
        </p:scale>
        <p:origin x="382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BF12BCAD-C829-4DA0-936D-15D76EB44FFD}" type="datetime1">
              <a:rPr lang="en-US"/>
              <a:pPr/>
              <a:t>12/8/2020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42FD349B-DA6A-42B2-BE22-C8664ED7FAAB}" type="slidenum">
              <a:rPr lang="en-US"/>
              <a:pPr/>
              <a:t>‹#›</a:t>
            </a:fld>
            <a:endParaRPr lang="en-US"/>
          </a:p>
        </p:txBody>
      </p:sp>
    </p:spTree>
    <p:extLst>
      <p:ext uri="{BB962C8B-B14F-4D97-AF65-F5344CB8AC3E}">
        <p14:creationId xmlns:p14="http://schemas.microsoft.com/office/powerpoint/2010/main" val="40017818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61D1A506-E10C-404C-A4D0-633FEBA7921E}" type="datetime1">
              <a:rPr lang="en-US"/>
              <a:pPr/>
              <a:t>12/8/2020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6C021B2-4005-4FC1-8451-5FBAFD39D8B2}" type="slidenum">
              <a:rPr lang="en-US"/>
              <a:pPr/>
              <a:t>‹#›</a:t>
            </a:fld>
            <a:endParaRPr lang="en-US"/>
          </a:p>
        </p:txBody>
      </p:sp>
    </p:spTree>
    <p:extLst>
      <p:ext uri="{BB962C8B-B14F-4D97-AF65-F5344CB8AC3E}">
        <p14:creationId xmlns:p14="http://schemas.microsoft.com/office/powerpoint/2010/main" val="3132481683"/>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1588180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D8D4113C-78B3-44E9-976D-B7827506C2EE}" type="slidenum">
              <a:rPr lang="en-US" sz="1200">
                <a:latin typeface="Calibri" pitchFamily="34" charset="0"/>
              </a:rPr>
              <a:pPr/>
              <a:t>10</a:t>
            </a:fld>
            <a:endParaRPr lang="en-US" sz="1200">
              <a:latin typeface="Calibri" pitchFamily="34" charset="0"/>
            </a:endParaRPr>
          </a:p>
        </p:txBody>
      </p:sp>
    </p:spTree>
    <p:extLst>
      <p:ext uri="{BB962C8B-B14F-4D97-AF65-F5344CB8AC3E}">
        <p14:creationId xmlns:p14="http://schemas.microsoft.com/office/powerpoint/2010/main" val="1329474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057167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58890A0-04D6-4C54-9DDA-8F446812B62B}" type="slidenum">
              <a:rPr lang="en-US" sz="1200">
                <a:latin typeface="Calibri" pitchFamily="34" charset="0"/>
              </a:rPr>
              <a:pPr/>
              <a:t>18</a:t>
            </a:fld>
            <a:endParaRPr lang="en-US" sz="1200">
              <a:latin typeface="Calibri" pitchFamily="34" charset="0"/>
            </a:endParaRPr>
          </a:p>
        </p:txBody>
      </p:sp>
    </p:spTree>
    <p:extLst>
      <p:ext uri="{BB962C8B-B14F-4D97-AF65-F5344CB8AC3E}">
        <p14:creationId xmlns:p14="http://schemas.microsoft.com/office/powerpoint/2010/main" val="324783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1880118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1085348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726410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41681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70757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846499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173031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BC3F43B1-2C8C-40C7-8E11-D55EE497CF20}" type="slidenum">
              <a:rPr lang="en-US"/>
              <a:pPr/>
              <a:t>‹#›</a:t>
            </a:fld>
            <a:endParaRPr lang="en-US"/>
          </a:p>
        </p:txBody>
      </p:sp>
    </p:spTree>
    <p:extLst>
      <p:ext uri="{BB962C8B-B14F-4D97-AF65-F5344CB8AC3E}">
        <p14:creationId xmlns:p14="http://schemas.microsoft.com/office/powerpoint/2010/main" val="4130458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E78FAFDE-3846-4720-B89A-A06FEF83C751}" type="slidenum">
              <a:rPr lang="en-US"/>
              <a:pPr/>
              <a:t>‹#›</a:t>
            </a:fld>
            <a:endParaRPr lang="en-US"/>
          </a:p>
        </p:txBody>
      </p:sp>
    </p:spTree>
    <p:extLst>
      <p:ext uri="{BB962C8B-B14F-4D97-AF65-F5344CB8AC3E}">
        <p14:creationId xmlns:p14="http://schemas.microsoft.com/office/powerpoint/2010/main" val="4264369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05CB28B3-CF45-449E-9F37-0F260F84A2A1}" type="slidenum">
              <a:rPr lang="en-US"/>
              <a:pPr/>
              <a:t>‹#›</a:t>
            </a:fld>
            <a:endParaRPr lang="en-US"/>
          </a:p>
        </p:txBody>
      </p:sp>
    </p:spTree>
    <p:extLst>
      <p:ext uri="{BB962C8B-B14F-4D97-AF65-F5344CB8AC3E}">
        <p14:creationId xmlns:p14="http://schemas.microsoft.com/office/powerpoint/2010/main" val="248707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BF118779-56F3-4084-8FE9-BF0561D916AA}" type="slidenum">
              <a:rPr lang="en-US"/>
              <a:pPr/>
              <a:t>‹#›</a:t>
            </a:fld>
            <a:endParaRPr lang="en-US"/>
          </a:p>
        </p:txBody>
      </p:sp>
    </p:spTree>
    <p:extLst>
      <p:ext uri="{BB962C8B-B14F-4D97-AF65-F5344CB8AC3E}">
        <p14:creationId xmlns:p14="http://schemas.microsoft.com/office/powerpoint/2010/main" val="1238737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B6BC5FC1-79D3-4A97-9199-7B6EAD70A09C}" type="slidenum">
              <a:rPr lang="en-US"/>
              <a:pPr/>
              <a:t>‹#›</a:t>
            </a:fld>
            <a:endParaRPr lang="en-US"/>
          </a:p>
        </p:txBody>
      </p:sp>
    </p:spTree>
    <p:extLst>
      <p:ext uri="{BB962C8B-B14F-4D97-AF65-F5344CB8AC3E}">
        <p14:creationId xmlns:p14="http://schemas.microsoft.com/office/powerpoint/2010/main" val="1562250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A8A661A2-C71C-47DD-B1D1-916541B10975}" type="slidenum">
              <a:rPr lang="en-US"/>
              <a:pPr/>
              <a:t>‹#›</a:t>
            </a:fld>
            <a:endParaRPr lang="en-US"/>
          </a:p>
        </p:txBody>
      </p:sp>
    </p:spTree>
    <p:extLst>
      <p:ext uri="{BB962C8B-B14F-4D97-AF65-F5344CB8AC3E}">
        <p14:creationId xmlns:p14="http://schemas.microsoft.com/office/powerpoint/2010/main" val="446568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7C9212EA-2079-4722-BBBF-91D397F33629}" type="slidenum">
              <a:rPr lang="en-US"/>
              <a:pPr/>
              <a:t>‹#›</a:t>
            </a:fld>
            <a:endParaRPr lang="en-US"/>
          </a:p>
        </p:txBody>
      </p:sp>
    </p:spTree>
    <p:extLst>
      <p:ext uri="{BB962C8B-B14F-4D97-AF65-F5344CB8AC3E}">
        <p14:creationId xmlns:p14="http://schemas.microsoft.com/office/powerpoint/2010/main" val="352133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08B056F1-97DD-4914-AA3F-D72FB1A1B9BA}" type="slidenum">
              <a:rPr lang="en-US"/>
              <a:pPr/>
              <a:t>‹#›</a:t>
            </a:fld>
            <a:endParaRPr lang="en-US"/>
          </a:p>
        </p:txBody>
      </p:sp>
    </p:spTree>
    <p:extLst>
      <p:ext uri="{BB962C8B-B14F-4D97-AF65-F5344CB8AC3E}">
        <p14:creationId xmlns:p14="http://schemas.microsoft.com/office/powerpoint/2010/main" val="176696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7E31FD86-D98D-4B94-B17A-815453CEAFDB}" type="slidenum">
              <a:rPr lang="en-US"/>
              <a:pPr/>
              <a:t>‹#›</a:t>
            </a:fld>
            <a:endParaRPr lang="en-US"/>
          </a:p>
        </p:txBody>
      </p:sp>
    </p:spTree>
    <p:extLst>
      <p:ext uri="{BB962C8B-B14F-4D97-AF65-F5344CB8AC3E}">
        <p14:creationId xmlns:p14="http://schemas.microsoft.com/office/powerpoint/2010/main" val="29959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D9AA2863-340F-4F55-9241-15AA3D8BE078}" type="slidenum">
              <a:rPr lang="en-US"/>
              <a:pPr/>
              <a:t>‹#›</a:t>
            </a:fld>
            <a:endParaRPr lang="en-US"/>
          </a:p>
        </p:txBody>
      </p:sp>
    </p:spTree>
    <p:extLst>
      <p:ext uri="{BB962C8B-B14F-4D97-AF65-F5344CB8AC3E}">
        <p14:creationId xmlns:p14="http://schemas.microsoft.com/office/powerpoint/2010/main" val="441835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3" y="154305"/>
            <a:ext cx="7772400" cy="777240"/>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429341BF-6D6C-4FCB-B1ED-EC7C8653FC52}" type="slidenum">
              <a:rPr lang="en-US" smtClean="0"/>
              <a:pPr/>
              <a:t>‹#›</a:t>
            </a:fld>
            <a:endParaRPr lang="en-US" dirty="0"/>
          </a:p>
        </p:txBody>
      </p:sp>
    </p:spTree>
    <p:extLst>
      <p:ext uri="{BB962C8B-B14F-4D97-AF65-F5344CB8AC3E}">
        <p14:creationId xmlns:p14="http://schemas.microsoft.com/office/powerpoint/2010/main" val="1985843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C75768BF-A353-46CA-BA22-9D1BAF2BC09D}" type="slidenum">
              <a:rPr lang="en-US"/>
              <a:pPr/>
              <a:t>‹#›</a:t>
            </a:fld>
            <a:endParaRPr lang="en-US"/>
          </a:p>
        </p:txBody>
      </p:sp>
    </p:spTree>
    <p:extLst>
      <p:ext uri="{BB962C8B-B14F-4D97-AF65-F5344CB8AC3E}">
        <p14:creationId xmlns:p14="http://schemas.microsoft.com/office/powerpoint/2010/main" val="4209640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2C255B0C-B60D-43EE-BE5D-FCD03BEA9B10}" type="slidenum">
              <a:rPr lang="en-US"/>
              <a:pPr/>
              <a:t>‹#›</a:t>
            </a:fld>
            <a:endParaRPr lang="en-US"/>
          </a:p>
        </p:txBody>
      </p:sp>
    </p:spTree>
    <p:extLst>
      <p:ext uri="{BB962C8B-B14F-4D97-AF65-F5344CB8AC3E}">
        <p14:creationId xmlns:p14="http://schemas.microsoft.com/office/powerpoint/2010/main" val="891017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0772EE26-2D98-4D07-BAE8-F0546809E772}" type="slidenum">
              <a:rPr lang="en-US"/>
              <a:pPr/>
              <a:t>‹#›</a:t>
            </a:fld>
            <a:endParaRPr lang="en-US"/>
          </a:p>
        </p:txBody>
      </p:sp>
    </p:spTree>
    <p:extLst>
      <p:ext uri="{BB962C8B-B14F-4D97-AF65-F5344CB8AC3E}">
        <p14:creationId xmlns:p14="http://schemas.microsoft.com/office/powerpoint/2010/main" val="1108065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61A0635F-8761-4659-8A7E-E3BFEC2E4825}" type="slidenum">
              <a:rPr lang="en-US"/>
              <a:pPr/>
              <a:t>‹#›</a:t>
            </a:fld>
            <a:endParaRPr lang="en-US"/>
          </a:p>
        </p:txBody>
      </p:sp>
    </p:spTree>
    <p:extLst>
      <p:ext uri="{BB962C8B-B14F-4D97-AF65-F5344CB8AC3E}">
        <p14:creationId xmlns:p14="http://schemas.microsoft.com/office/powerpoint/2010/main" val="389488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2356E5D7-D45B-4F23-BEEF-D38A82AAFA55}" type="slidenum">
              <a:rPr lang="en-US"/>
              <a:pPr/>
              <a:t>‹#›</a:t>
            </a:fld>
            <a:endParaRPr lang="en-US"/>
          </a:p>
        </p:txBody>
      </p:sp>
    </p:spTree>
    <p:extLst>
      <p:ext uri="{BB962C8B-B14F-4D97-AF65-F5344CB8AC3E}">
        <p14:creationId xmlns:p14="http://schemas.microsoft.com/office/powerpoint/2010/main" val="12252541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7D68AB-7977-4B4D-AA49-0BC9CF4ACC3F}" type="slidenum">
              <a:rPr lang="en-US"/>
              <a:pPr/>
              <a:t>‹#›</a:t>
            </a:fld>
            <a:endParaRPr lang="en-US"/>
          </a:p>
        </p:txBody>
      </p:sp>
    </p:spTree>
    <p:extLst>
      <p:ext uri="{BB962C8B-B14F-4D97-AF65-F5344CB8AC3E}">
        <p14:creationId xmlns:p14="http://schemas.microsoft.com/office/powerpoint/2010/main" val="200888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CC76DF8F-BEAF-4615-92B3-7BEE44E22AFF}" type="slidenum">
              <a:rPr lang="en-US"/>
              <a:pPr/>
              <a:t>‹#›</a:t>
            </a:fld>
            <a:endParaRPr lang="en-US"/>
          </a:p>
        </p:txBody>
      </p:sp>
    </p:spTree>
    <p:extLst>
      <p:ext uri="{BB962C8B-B14F-4D97-AF65-F5344CB8AC3E}">
        <p14:creationId xmlns:p14="http://schemas.microsoft.com/office/powerpoint/2010/main" val="22792161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CF4D8F20-788B-47DD-B5B3-DF98ED38341E}" type="slidenum">
              <a:rPr lang="en-US"/>
              <a:pPr/>
              <a:t>‹#›</a:t>
            </a:fld>
            <a:endParaRPr lang="en-US"/>
          </a:p>
        </p:txBody>
      </p:sp>
    </p:spTree>
    <p:extLst>
      <p:ext uri="{BB962C8B-B14F-4D97-AF65-F5344CB8AC3E}">
        <p14:creationId xmlns:p14="http://schemas.microsoft.com/office/powerpoint/2010/main" val="2133308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343FAE3A-B4B5-4F22-93EE-28A49CF6ECB6}" type="slidenum">
              <a:rPr lang="en-US"/>
              <a:pPr/>
              <a:t>‹#›</a:t>
            </a:fld>
            <a:endParaRPr lang="en-US"/>
          </a:p>
        </p:txBody>
      </p:sp>
    </p:spTree>
    <p:extLst>
      <p:ext uri="{BB962C8B-B14F-4D97-AF65-F5344CB8AC3E}">
        <p14:creationId xmlns:p14="http://schemas.microsoft.com/office/powerpoint/2010/main" val="3329928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B19493AD-E3D5-4A3C-A7FE-C3B6D45E695A}"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707" r:id="rId1"/>
    <p:sldLayoutId id="2147484708" r:id="rId2"/>
    <p:sldLayoutId id="2147484709" r:id="rId3"/>
    <p:sldLayoutId id="2147484710" r:id="rId4"/>
    <p:sldLayoutId id="2147484711" r:id="rId5"/>
    <p:sldLayoutId id="2147484712" r:id="rId6"/>
    <p:sldLayoutId id="2147484713" r:id="rId7"/>
    <p:sldLayoutId id="2147484714" r:id="rId8"/>
    <p:sldLayoutId id="2147484715" r:id="rId9"/>
    <p:sldLayoutId id="2147484716" r:id="rId10"/>
    <p:sldLayoutId id="2147484717" r:id="rId11"/>
    <p:sldLayoutId id="2147484718" r:id="rId12"/>
    <p:sldLayoutId id="2147484719" r:id="rId13"/>
    <p:sldLayoutId id="2147484720" r:id="rId14"/>
    <p:sldLayoutId id="2147484721" r:id="rId15"/>
    <p:sldLayoutId id="2147484722" r:id="rId16"/>
    <p:sldLayoutId id="2147484723" r:id="rId17"/>
    <p:sldLayoutId id="2147484724" r:id="rId18"/>
    <p:sldLayoutId id="2147484725" r:id="rId19"/>
    <p:sldLayoutId id="2147484726" r:id="rId20"/>
    <p:sldLayoutId id="2147484727" r:id="rId21"/>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3</a:t>
            </a:r>
            <a:br>
              <a:rPr lang="en-US" sz="3000" b="0" dirty="0">
                <a:solidFill>
                  <a:schemeClr val="tx1"/>
                </a:solidFill>
                <a:effectLst/>
                <a:latin typeface="Arial" pitchFamily="34" charset="0"/>
                <a:ea typeface="ヒラギノ角ゴ Pro W3" pitchFamily="-84" charset="-128"/>
                <a:cs typeface="Arial" pitchFamily="34" charset="0"/>
              </a:rPr>
            </a:br>
            <a:r>
              <a:rPr lang="en-US" sz="3000" dirty="0">
                <a:solidFill>
                  <a:schemeClr val="tx1"/>
                </a:solidFill>
                <a:latin typeface="Arial" pitchFamily="34" charset="0"/>
                <a:ea typeface="ヒラギノ角ゴ Pro W3" pitchFamily="-84" charset="-128"/>
                <a:cs typeface="Arial" pitchFamily="34" charset="0"/>
              </a:rPr>
              <a:t>Producing Data </a:t>
            </a:r>
            <a:r>
              <a:rPr lang="en-US" sz="3000" b="0" dirty="0">
                <a:solidFill>
                  <a:schemeClr val="tx1"/>
                </a:solidFill>
                <a:effectLst/>
                <a:latin typeface="Arial" pitchFamily="34" charset="0"/>
                <a:ea typeface="ヒラギノ角ゴ Pro W3" pitchFamily="-84" charset="-128"/>
                <a:cs typeface="Arial" pitchFamily="34" charset="0"/>
              </a:rPr>
              <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dirty="0">
                <a:solidFill>
                  <a:srgbClr val="073779"/>
                </a:solidFill>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1650"/>
            <a:ext cx="6508750" cy="1143000"/>
          </a:xfrm>
        </p:spPr>
        <p:txBody>
          <a:bodyPr/>
          <a:lstStyle/>
          <a:p>
            <a:r>
              <a:rPr lang="en-US" b="1" dirty="0"/>
              <a:t>Chapter 3</a:t>
            </a:r>
            <a:br>
              <a:rPr lang="en-US" b="1" dirty="0"/>
            </a:br>
            <a:r>
              <a:rPr lang="en-US" b="1" dirty="0"/>
              <a:t>Producing Data</a:t>
            </a:r>
          </a:p>
        </p:txBody>
      </p:sp>
      <p:sp>
        <p:nvSpPr>
          <p:cNvPr id="3" name="Content Placeholder 2"/>
          <p:cNvSpPr>
            <a:spLocks noGrp="1"/>
          </p:cNvSpPr>
          <p:nvPr>
            <p:ph idx="1"/>
          </p:nvPr>
        </p:nvSpPr>
        <p:spPr>
          <a:xfrm>
            <a:off x="457200" y="2209800"/>
            <a:ext cx="6508750" cy="3505200"/>
          </a:xfrm>
        </p:spPr>
        <p:txBody>
          <a:bodyPr/>
          <a:lstStyle/>
          <a:p>
            <a:pPr marL="0" indent="0" eaLnBrk="1" hangingPunct="1">
              <a:spcBef>
                <a:spcPts val="0"/>
              </a:spcBef>
              <a:spcAft>
                <a:spcPts val="1800"/>
              </a:spcAft>
              <a:buNone/>
            </a:pPr>
            <a:r>
              <a:rPr lang="en-US" sz="2400" b="1" dirty="0">
                <a:solidFill>
                  <a:schemeClr val="accent1"/>
                </a:solidFill>
              </a:rPr>
              <a:t>Introduction</a:t>
            </a:r>
          </a:p>
          <a:p>
            <a:pPr marL="0" indent="0" defTabSz="914400" eaLnBrk="1" hangingPunct="1">
              <a:spcBef>
                <a:spcPts val="0"/>
              </a:spcBef>
              <a:spcAft>
                <a:spcPts val="1800"/>
              </a:spcAft>
              <a:buNone/>
            </a:pPr>
            <a:r>
              <a:rPr lang="en-US" sz="2400" b="1" dirty="0">
                <a:solidFill>
                  <a:schemeClr val="accent1"/>
                </a:solidFill>
              </a:rPr>
              <a:t>3.1 Sources of Data</a:t>
            </a:r>
          </a:p>
          <a:p>
            <a:pPr marL="0" indent="0" defTabSz="914400" eaLnBrk="1" hangingPunct="1">
              <a:spcBef>
                <a:spcPts val="0"/>
              </a:spcBef>
              <a:spcAft>
                <a:spcPts val="1800"/>
              </a:spcAft>
              <a:buNone/>
            </a:pPr>
            <a:r>
              <a:rPr lang="en-US" sz="2400" b="1" dirty="0">
                <a:solidFill>
                  <a:schemeClr val="accent1"/>
                </a:solidFill>
              </a:rPr>
              <a:t>3.2 Design of Experiments</a:t>
            </a:r>
          </a:p>
          <a:p>
            <a:pPr marL="0" indent="0" defTabSz="914400" eaLnBrk="1" hangingPunct="1">
              <a:spcBef>
                <a:spcPts val="0"/>
              </a:spcBef>
              <a:spcAft>
                <a:spcPts val="1800"/>
              </a:spcAft>
              <a:buNone/>
            </a:pPr>
            <a:r>
              <a:rPr lang="en-US" sz="2400" b="1" dirty="0">
                <a:solidFill>
                  <a:schemeClr val="accent1"/>
                </a:solidFill>
              </a:rPr>
              <a:t>3.3 Sampling Design</a:t>
            </a:r>
          </a:p>
          <a:p>
            <a:pPr marL="0" indent="0" defTabSz="914400" eaLnBrk="1" hangingPunct="1">
              <a:spcBef>
                <a:spcPts val="0"/>
              </a:spcBef>
              <a:spcAft>
                <a:spcPts val="1800"/>
              </a:spcAft>
              <a:buNone/>
            </a:pPr>
            <a:r>
              <a:rPr lang="en-US" sz="2400" b="1" dirty="0">
                <a:solidFill>
                  <a:schemeClr val="accent1"/>
                </a:solidFill>
              </a:rPr>
              <a:t>3.4 Ethics</a:t>
            </a:r>
          </a:p>
        </p:txBody>
      </p:sp>
      <p:sp>
        <p:nvSpPr>
          <p:cNvPr id="5" name="Slide Number Placeholder 4"/>
          <p:cNvSpPr>
            <a:spLocks noGrp="1"/>
          </p:cNvSpPr>
          <p:nvPr>
            <p:ph type="sldNum" sz="quarter" idx="10"/>
          </p:nvPr>
        </p:nvSpPr>
        <p:spPr/>
        <p:txBody>
          <a:bodyPr/>
          <a:lstStyle/>
          <a:p>
            <a:fld id="{05CB28B3-CF45-449E-9F37-0F260F84A2A1}" type="slidenum">
              <a:rPr lang="en-US" smtClean="0"/>
              <a:pPr/>
              <a:t>2</a:t>
            </a:fld>
            <a:endParaRPr lang="en-US"/>
          </a:p>
        </p:txBody>
      </p:sp>
    </p:spTree>
    <p:extLst>
      <p:ext uri="{BB962C8B-B14F-4D97-AF65-F5344CB8AC3E}">
        <p14:creationId xmlns:p14="http://schemas.microsoft.com/office/powerpoint/2010/main" val="295370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2"/>
          <p:cNvSpPr>
            <a:spLocks noGrp="1"/>
          </p:cNvSpPr>
          <p:nvPr>
            <p:ph type="title"/>
          </p:nvPr>
        </p:nvSpPr>
        <p:spPr>
          <a:xfrm>
            <a:off x="457200" y="342900"/>
            <a:ext cx="6508750" cy="800100"/>
          </a:xfrm>
        </p:spPr>
        <p:txBody>
          <a:bodyPr anchor="t"/>
          <a:lstStyle/>
          <a:p>
            <a:pPr eaLnBrk="1" hangingPunct="1"/>
            <a:r>
              <a:rPr lang="en-US" b="1" dirty="0">
                <a:solidFill>
                  <a:schemeClr val="accent1">
                    <a:lumMod val="75000"/>
                  </a:schemeClr>
                </a:solidFill>
                <a:ea typeface="ＭＳ Ｐゴシック" pitchFamily="34" charset="-128"/>
              </a:rPr>
              <a:t>3.1 Sources of Data</a:t>
            </a:r>
          </a:p>
        </p:txBody>
      </p:sp>
      <p:sp>
        <p:nvSpPr>
          <p:cNvPr id="27650" name="Text Placeholder 3"/>
          <p:cNvSpPr>
            <a:spLocks noGrp="1"/>
          </p:cNvSpPr>
          <p:nvPr>
            <p:ph idx="1"/>
          </p:nvPr>
        </p:nvSpPr>
        <p:spPr>
          <a:xfrm>
            <a:off x="457200" y="1611923"/>
            <a:ext cx="6508750" cy="3916363"/>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Anecdotal data</a:t>
            </a:r>
          </a:p>
          <a:p>
            <a:pPr eaLnBrk="1" hangingPunct="1">
              <a:buSzPct val="110000"/>
              <a:buFont typeface="Wingdings" pitchFamily="2" charset="2"/>
              <a:buChar char="§"/>
            </a:pPr>
            <a:r>
              <a:rPr lang="en-US" sz="2400" dirty="0">
                <a:solidFill>
                  <a:schemeClr val="accent1"/>
                </a:solidFill>
                <a:ea typeface="ＭＳ Ｐゴシック" pitchFamily="34" charset="-128"/>
              </a:rPr>
              <a:t>Available data</a:t>
            </a:r>
          </a:p>
          <a:p>
            <a:pPr eaLnBrk="1" hangingPunct="1">
              <a:buSzPct val="110000"/>
              <a:buFont typeface="Wingdings" pitchFamily="2" charset="2"/>
              <a:buChar char="§"/>
            </a:pPr>
            <a:r>
              <a:rPr lang="en-US" sz="2400" dirty="0">
                <a:solidFill>
                  <a:schemeClr val="accent1"/>
                </a:solidFill>
                <a:ea typeface="ＭＳ Ｐゴシック" pitchFamily="34" charset="-128"/>
              </a:rPr>
              <a:t>Sample surveys and experiments</a:t>
            </a:r>
          </a:p>
          <a:p>
            <a:pPr eaLnBrk="1" hangingPunct="1">
              <a:buSzPct val="110000"/>
              <a:buFont typeface="Wingdings" pitchFamily="2" charset="2"/>
              <a:buChar char="§"/>
            </a:pPr>
            <a:r>
              <a:rPr lang="en-US" sz="2400" dirty="0">
                <a:solidFill>
                  <a:schemeClr val="accent1"/>
                </a:solidFill>
                <a:ea typeface="ＭＳ Ｐゴシック" pitchFamily="34" charset="-128"/>
              </a:rPr>
              <a:t>Observation vs. experiment</a:t>
            </a:r>
          </a:p>
          <a:p>
            <a:pPr eaLnBrk="1" hangingPunct="1">
              <a:buSzPct val="110000"/>
              <a:buFont typeface="Wingdings" pitchFamily="2" charset="2"/>
              <a:buChar char="§"/>
            </a:pPr>
            <a:r>
              <a:rPr lang="en-US" sz="2400" dirty="0">
                <a:solidFill>
                  <a:schemeClr val="accent1"/>
                </a:solidFill>
                <a:ea typeface="ＭＳ Ｐゴシック" pitchFamily="34" charset="-128"/>
              </a:rPr>
              <a:t>Confounding</a:t>
            </a:r>
          </a:p>
        </p:txBody>
      </p:sp>
      <p:sp>
        <p:nvSpPr>
          <p:cNvPr id="27651"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2429E5-A6DE-4D99-81DF-68C4227732EA}" type="slidenum">
              <a:rPr lang="en-US" sz="1400">
                <a:solidFill>
                  <a:schemeClr val="accent1"/>
                </a:solidFill>
              </a:rPr>
              <a:pPr/>
              <a:t>3</a:t>
            </a:fld>
            <a:endParaRPr 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Obtaining Data</a:t>
            </a:r>
          </a:p>
        </p:txBody>
      </p:sp>
      <p:sp>
        <p:nvSpPr>
          <p:cNvPr id="28675" name="Slide Number Placeholder 1"/>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BBB2905-CD18-4C1F-9F53-7A1EEE6B8D53}" type="slidenum">
              <a:rPr lang="en-US" sz="1400">
                <a:solidFill>
                  <a:schemeClr val="accent1"/>
                </a:solidFill>
              </a:rPr>
              <a:pPr/>
              <a:t>4</a:t>
            </a:fld>
            <a:endParaRPr lang="en-US" sz="1400">
              <a:solidFill>
                <a:schemeClr val="accent1"/>
              </a:solidFill>
            </a:endParaRPr>
          </a:p>
        </p:txBody>
      </p:sp>
      <p:sp>
        <p:nvSpPr>
          <p:cNvPr id="1265667" name="Rectangle 3"/>
          <p:cNvSpPr>
            <a:spLocks noGrp="1" noChangeArrowheads="1"/>
          </p:cNvSpPr>
          <p:nvPr>
            <p:ph type="body" idx="4294967295"/>
          </p:nvPr>
        </p:nvSpPr>
        <p:spPr>
          <a:xfrm>
            <a:off x="174623" y="1408612"/>
            <a:ext cx="8588377" cy="4218466"/>
          </a:xfrm>
          <a:solidFill>
            <a:srgbClr val="FFD780"/>
          </a:solidFill>
        </p:spPr>
        <p:txBody>
          <a:bodyPr/>
          <a:lstStyle/>
          <a:p>
            <a:pPr marL="0" indent="0" algn="just" eaLnBrk="1" hangingPunct="1">
              <a:buFont typeface="Wingdings" pitchFamily="2" charset="2"/>
              <a:buNone/>
            </a:pPr>
            <a:r>
              <a:rPr lang="en-US" dirty="0">
                <a:solidFill>
                  <a:schemeClr val="tx1"/>
                </a:solidFill>
                <a:ea typeface="ＭＳ Ｐゴシック" pitchFamily="34" charset="-128"/>
              </a:rPr>
              <a:t>Beware of drawing conclusions from our own experience or from hearsay</a:t>
            </a:r>
            <a:r>
              <a:rPr lang="en-US" dirty="0">
                <a:solidFill>
                  <a:srgbClr val="800000"/>
                </a:solidFill>
                <a:ea typeface="ＭＳ Ｐゴシック" pitchFamily="34" charset="-128"/>
              </a:rPr>
              <a:t>.</a:t>
            </a:r>
          </a:p>
          <a:p>
            <a:pPr marL="0" indent="0" algn="just" eaLnBrk="1" hangingPunct="1">
              <a:buFont typeface="Wingdings" pitchFamily="2" charset="2"/>
              <a:buNone/>
            </a:pPr>
            <a:r>
              <a:rPr lang="en-US" b="1" dirty="0">
                <a:solidFill>
                  <a:schemeClr val="tx1"/>
                </a:solidFill>
                <a:ea typeface="ＭＳ Ｐゴシック" pitchFamily="34" charset="-128"/>
              </a:rPr>
              <a:t>Anecdotal data </a:t>
            </a:r>
            <a:r>
              <a:rPr lang="en-US" dirty="0">
                <a:solidFill>
                  <a:schemeClr val="tx1"/>
                </a:solidFill>
                <a:ea typeface="ＭＳ Ｐゴシック" pitchFamily="34" charset="-128"/>
              </a:rPr>
              <a:t>represent individual cases that often come to our attention because they are striking in some way. We tend to remember these cases because they are unusual. </a:t>
            </a:r>
            <a:r>
              <a:rPr lang="en-US" b="1" dirty="0">
                <a:solidFill>
                  <a:schemeClr val="tx1"/>
                </a:solidFill>
                <a:highlight>
                  <a:srgbClr val="FFFF00"/>
                </a:highlight>
                <a:ea typeface="ＭＳ Ｐゴシック" pitchFamily="34" charset="-128"/>
              </a:rPr>
              <a:t>The fact that they are unusual means that they may not be representative of any larger group of cases. </a:t>
            </a:r>
          </a:p>
          <a:p>
            <a:pPr marL="0" indent="0" algn="just" eaLnBrk="1" hangingPunct="1">
              <a:buFont typeface="Wingdings 2" pitchFamily="18" charset="2"/>
              <a:buNone/>
            </a:pPr>
            <a:r>
              <a:rPr lang="en-US" b="1" dirty="0">
                <a:solidFill>
                  <a:schemeClr val="tx1"/>
                </a:solidFill>
                <a:ea typeface="ＭＳ Ｐゴシック" pitchFamily="34" charset="-128"/>
              </a:rPr>
              <a:t>Available data </a:t>
            </a:r>
            <a:r>
              <a:rPr lang="en-US" dirty="0">
                <a:solidFill>
                  <a:schemeClr val="tx1"/>
                </a:solidFill>
                <a:ea typeface="ＭＳ Ｐゴシック" pitchFamily="34" charset="-128"/>
              </a:rPr>
              <a:t>are data that were produced in the past for some other purpose but that may help answer a present question inexpensively. The library and the Internet are sources of available data.</a:t>
            </a:r>
          </a:p>
          <a:p>
            <a:pPr marL="0" indent="0" eaLnBrk="1" hangingPunct="1">
              <a:buFont typeface="Wingdings" pitchFamily="2" charset="2"/>
              <a:buNone/>
            </a:pPr>
            <a:r>
              <a:rPr lang="en-US" dirty="0">
                <a:solidFill>
                  <a:schemeClr val="tx1"/>
                </a:solidFill>
                <a:ea typeface="ＭＳ Ｐゴシック" pitchFamily="34" charset="-128"/>
              </a:rPr>
              <a:t>Some questions require data produced specifically to answer them. This leads to </a:t>
            </a:r>
            <a:r>
              <a:rPr lang="en-US" b="1" dirty="0">
                <a:solidFill>
                  <a:schemeClr val="tx1"/>
                </a:solidFill>
                <a:ea typeface="ＭＳ Ｐゴシック" pitchFamily="34" charset="-128"/>
              </a:rPr>
              <a:t>designing</a:t>
            </a:r>
            <a:r>
              <a:rPr lang="en-US" dirty="0">
                <a:solidFill>
                  <a:srgbClr val="800000"/>
                </a:solidFill>
                <a:ea typeface="ＭＳ Ｐゴシック" pitchFamily="34" charset="-128"/>
              </a:rPr>
              <a:t> </a:t>
            </a:r>
            <a:r>
              <a:rPr lang="en-US" dirty="0">
                <a:solidFill>
                  <a:schemeClr val="tx1"/>
                </a:solidFill>
                <a:ea typeface="ＭＳ Ｐゴシック" pitchFamily="34" charset="-128"/>
              </a:rPr>
              <a:t>observational or experimental studies.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566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656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Surveys</a:t>
            </a:r>
            <a:endParaRPr lang="en-US" dirty="0"/>
          </a:p>
        </p:txBody>
      </p:sp>
      <p:sp>
        <p:nvSpPr>
          <p:cNvPr id="4" name="Slide Number Placeholder 3"/>
          <p:cNvSpPr>
            <a:spLocks noGrp="1"/>
          </p:cNvSpPr>
          <p:nvPr>
            <p:ph type="sldNum" sz="quarter" idx="12"/>
          </p:nvPr>
        </p:nvSpPr>
        <p:spPr/>
        <p:txBody>
          <a:bodyPr/>
          <a:lstStyle/>
          <a:p>
            <a:fld id="{BC3F43B1-2C8C-40C7-8E11-D55EE497CF20}" type="slidenum">
              <a:rPr lang="en-US" sz="1400" smtClean="0">
                <a:solidFill>
                  <a:schemeClr val="accent1"/>
                </a:solidFill>
              </a:rPr>
              <a:pPr/>
              <a:t>5</a:t>
            </a:fld>
            <a:endParaRPr lang="en-US" sz="1400" dirty="0">
              <a:solidFill>
                <a:schemeClr val="accent1"/>
              </a:solidFill>
            </a:endParaRPr>
          </a:p>
        </p:txBody>
      </p:sp>
      <p:sp>
        <p:nvSpPr>
          <p:cNvPr id="3" name="Content Placeholder 2"/>
          <p:cNvSpPr>
            <a:spLocks noGrp="1"/>
          </p:cNvSpPr>
          <p:nvPr>
            <p:ph idx="4294967295"/>
          </p:nvPr>
        </p:nvSpPr>
        <p:spPr>
          <a:xfrm>
            <a:off x="174623" y="1267313"/>
            <a:ext cx="8265992" cy="3916363"/>
          </a:xfrm>
          <a:solidFill>
            <a:srgbClr val="FFD780"/>
          </a:solidFill>
        </p:spPr>
        <p:txBody>
          <a:bodyPr/>
          <a:lstStyle/>
          <a:p>
            <a:pPr marL="0" indent="0" algn="just" eaLnBrk="1" hangingPunct="1">
              <a:buNone/>
              <a:defRPr/>
            </a:pPr>
            <a:r>
              <a:rPr lang="en-US" dirty="0">
                <a:solidFill>
                  <a:schemeClr val="accent1">
                    <a:lumMod val="75000"/>
                  </a:schemeClr>
                </a:solidFill>
                <a:latin typeface="Arial" charset="0"/>
                <a:ea typeface="ＭＳ Ｐゴシック" pitchFamily="-65" charset="-128"/>
              </a:rPr>
              <a:t>Sample surveys are a special type of data collection that usually aim to discover the opinions of people on certain topics.</a:t>
            </a:r>
          </a:p>
          <a:p>
            <a:pPr marL="342900" indent="-342900" algn="just" eaLnBrk="1" hangingPunct="1">
              <a:buFont typeface="Wingdings" panose="05000000000000000000" pitchFamily="2" charset="2"/>
              <a:buChar char="q"/>
              <a:defRPr/>
            </a:pPr>
            <a:r>
              <a:rPr lang="en-US" dirty="0">
                <a:solidFill>
                  <a:schemeClr val="accent1">
                    <a:lumMod val="75000"/>
                  </a:schemeClr>
                </a:solidFill>
                <a:latin typeface="Arial" charset="0"/>
                <a:ea typeface="ＭＳ Ｐゴシック" pitchFamily="-65" charset="-128"/>
              </a:rPr>
              <a:t>In a sample survey, a </a:t>
            </a:r>
            <a:r>
              <a:rPr lang="en-US" b="1" dirty="0">
                <a:solidFill>
                  <a:schemeClr val="tx1"/>
                </a:solidFill>
                <a:latin typeface="Arial" charset="0"/>
                <a:ea typeface="ＭＳ Ｐゴシック" pitchFamily="-65" charset="-128"/>
              </a:rPr>
              <a:t>sample</a:t>
            </a:r>
            <a:r>
              <a:rPr lang="en-US" dirty="0">
                <a:solidFill>
                  <a:schemeClr val="tx1"/>
                </a:solidFill>
                <a:latin typeface="Arial" charset="0"/>
                <a:ea typeface="ＭＳ Ｐゴシック" pitchFamily="-65" charset="-128"/>
              </a:rPr>
              <a:t> </a:t>
            </a:r>
            <a:r>
              <a:rPr lang="en-US" dirty="0">
                <a:solidFill>
                  <a:schemeClr val="accent1">
                    <a:lumMod val="75000"/>
                  </a:schemeClr>
                </a:solidFill>
                <a:latin typeface="Arial" charset="0"/>
                <a:ea typeface="ＭＳ Ｐゴシック" pitchFamily="-65" charset="-128"/>
              </a:rPr>
              <a:t>of individuals is selected from a larger </a:t>
            </a:r>
            <a:r>
              <a:rPr lang="en-US" b="1" dirty="0">
                <a:solidFill>
                  <a:schemeClr val="tx1"/>
                </a:solidFill>
                <a:latin typeface="Arial" charset="0"/>
                <a:ea typeface="ＭＳ Ｐゴシック" pitchFamily="-65" charset="-128"/>
              </a:rPr>
              <a:t>population </a:t>
            </a:r>
            <a:r>
              <a:rPr lang="en-US" dirty="0">
                <a:solidFill>
                  <a:schemeClr val="accent1">
                    <a:lumMod val="75000"/>
                  </a:schemeClr>
                </a:solidFill>
                <a:latin typeface="Arial" charset="0"/>
                <a:ea typeface="ＭＳ Ｐゴシック" pitchFamily="-65" charset="-128"/>
              </a:rPr>
              <a:t>of individuals.  </a:t>
            </a:r>
          </a:p>
          <a:p>
            <a:pPr marL="342900" indent="-342900" algn="just" eaLnBrk="1" hangingPunct="1">
              <a:buFont typeface="Wingdings" panose="05000000000000000000" pitchFamily="2" charset="2"/>
              <a:buChar char="q"/>
              <a:defRPr/>
            </a:pPr>
            <a:r>
              <a:rPr lang="en-US" dirty="0">
                <a:solidFill>
                  <a:schemeClr val="accent1">
                    <a:lumMod val="75000"/>
                  </a:schemeClr>
                </a:solidFill>
                <a:latin typeface="Arial" charset="0"/>
                <a:ea typeface="ＭＳ Ｐゴシック" pitchFamily="-65" charset="-128"/>
              </a:rPr>
              <a:t>One can study a small part of the population in order to gain information about the population as a whole.  </a:t>
            </a:r>
          </a:p>
          <a:p>
            <a:pPr marL="342900" indent="-342900" algn="just" eaLnBrk="1" hangingPunct="1">
              <a:buFont typeface="Wingdings" panose="05000000000000000000" pitchFamily="2" charset="2"/>
              <a:buChar char="q"/>
              <a:defRPr/>
            </a:pPr>
            <a:r>
              <a:rPr lang="en-US" dirty="0">
                <a:solidFill>
                  <a:schemeClr val="accent1">
                    <a:lumMod val="75000"/>
                  </a:schemeClr>
                </a:solidFill>
                <a:latin typeface="Arial" charset="0"/>
                <a:ea typeface="ＭＳ Ｐゴシック" pitchFamily="-65" charset="-128"/>
              </a:rPr>
              <a:t>Conclusions drawn from a sample are valid only when the sample is drawn in a well-defined way (to be discussed in Section 3.3).  </a:t>
            </a:r>
          </a:p>
          <a:p>
            <a:endParaRPr lang="en-US" dirty="0">
              <a:solidFill>
                <a:schemeClr val="accent1">
                  <a:lumMod val="75000"/>
                </a:schemeClr>
              </a:solidFill>
            </a:endParaRPr>
          </a:p>
        </p:txBody>
      </p:sp>
    </p:spTree>
    <p:extLst>
      <p:ext uri="{BB962C8B-B14F-4D97-AF65-F5344CB8AC3E}">
        <p14:creationId xmlns:p14="http://schemas.microsoft.com/office/powerpoint/2010/main" val="348709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Observation vs. Experiment</a:t>
            </a:r>
          </a:p>
        </p:txBody>
      </p:sp>
      <p:sp>
        <p:nvSpPr>
          <p:cNvPr id="3174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75F1ECF-6D6E-49DC-99B2-F2CC27C8490C}" type="slidenum">
              <a:rPr lang="en-US" sz="1400">
                <a:solidFill>
                  <a:schemeClr val="accent1"/>
                </a:solidFill>
              </a:rPr>
              <a:pPr/>
              <a:t>6</a:t>
            </a:fld>
            <a:endParaRPr lang="en-US" sz="1400">
              <a:solidFill>
                <a:schemeClr val="accent1"/>
              </a:solidFill>
            </a:endParaRPr>
          </a:p>
        </p:txBody>
      </p:sp>
      <p:sp>
        <p:nvSpPr>
          <p:cNvPr id="28677" name="Rectangle 14"/>
          <p:cNvSpPr>
            <a:spLocks noChangeArrowheads="1"/>
          </p:cNvSpPr>
          <p:nvPr/>
        </p:nvSpPr>
        <p:spPr bwMode="auto">
          <a:xfrm>
            <a:off x="200025" y="1057275"/>
            <a:ext cx="805656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sz="2000" dirty="0"/>
              <a:t>When our goal is to understand cause and effect, experiments are the </a:t>
            </a:r>
            <a:r>
              <a:rPr lang="en-US" sz="2000" i="1" dirty="0"/>
              <a:t>only </a:t>
            </a:r>
            <a:r>
              <a:rPr lang="en-US" sz="2000" dirty="0"/>
              <a:t>source of fully convincing data. </a:t>
            </a:r>
          </a:p>
          <a:p>
            <a:pPr algn="just" eaLnBrk="1" hangingPunct="1"/>
            <a:endParaRPr lang="en-US" sz="2000" dirty="0"/>
          </a:p>
          <a:p>
            <a:pPr algn="just" eaLnBrk="1" hangingPunct="1"/>
            <a:r>
              <a:rPr lang="en-US" sz="2000" dirty="0"/>
              <a:t>The distinction between an observational study and an experiment is one of the most important in statistics.</a:t>
            </a:r>
          </a:p>
        </p:txBody>
      </p:sp>
      <p:sp>
        <p:nvSpPr>
          <p:cNvPr id="14" name="TextBox 13"/>
          <p:cNvSpPr txBox="1">
            <a:spLocks noChangeArrowheads="1"/>
          </p:cNvSpPr>
          <p:nvPr/>
        </p:nvSpPr>
        <p:spPr bwMode="auto">
          <a:xfrm>
            <a:off x="373060" y="2913063"/>
            <a:ext cx="7883528" cy="233997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endParaRPr lang="en-US" altLang="en-US" sz="600" b="1" u="sng" dirty="0">
              <a:solidFill>
                <a:srgbClr val="E81F30"/>
              </a:solidFill>
            </a:endParaRPr>
          </a:p>
          <a:p>
            <a:pPr algn="just" eaLnBrk="1" hangingPunct="1">
              <a:defRPr/>
            </a:pPr>
            <a:r>
              <a:rPr lang="en-US" altLang="en-US" sz="2000" dirty="0">
                <a:solidFill>
                  <a:srgbClr val="000000"/>
                </a:solidFill>
              </a:rPr>
              <a:t>An </a:t>
            </a:r>
            <a:r>
              <a:rPr lang="en-US" altLang="en-US" sz="2000" b="1" dirty="0"/>
              <a:t>observational study </a:t>
            </a:r>
            <a:r>
              <a:rPr lang="en-US" altLang="en-US" sz="2000" dirty="0">
                <a:solidFill>
                  <a:srgbClr val="000000"/>
                </a:solidFill>
              </a:rPr>
              <a:t>observes individuals and measures variables of interest but</a:t>
            </a:r>
            <a:r>
              <a:rPr lang="en-US" altLang="en-US" sz="2000" b="1" dirty="0">
                <a:solidFill>
                  <a:srgbClr val="000000"/>
                </a:solidFill>
              </a:rPr>
              <a:t> </a:t>
            </a:r>
            <a:r>
              <a:rPr lang="en-US" altLang="en-US" sz="2000" dirty="0">
                <a:solidFill>
                  <a:srgbClr val="000000"/>
                </a:solidFill>
              </a:rPr>
              <a:t>does not attempt to influence the responses. The purpose is to describe some group or situation.</a:t>
            </a:r>
          </a:p>
          <a:p>
            <a:pPr algn="just" eaLnBrk="1" hangingPunct="1">
              <a:defRPr/>
            </a:pPr>
            <a:endParaRPr lang="en-US" altLang="en-US" sz="2000" dirty="0">
              <a:solidFill>
                <a:srgbClr val="000000"/>
              </a:solidFill>
            </a:endParaRPr>
          </a:p>
          <a:p>
            <a:pPr algn="just" eaLnBrk="1" hangingPunct="1">
              <a:defRPr/>
            </a:pPr>
            <a:r>
              <a:rPr lang="en-US" altLang="en-US" sz="2000" dirty="0">
                <a:solidFill>
                  <a:srgbClr val="000000"/>
                </a:solidFill>
              </a:rPr>
              <a:t>An </a:t>
            </a:r>
            <a:r>
              <a:rPr lang="en-US" altLang="en-US" sz="2000" b="1" dirty="0"/>
              <a:t>experiment </a:t>
            </a:r>
            <a:r>
              <a:rPr lang="en-US" altLang="en-US" sz="2000" dirty="0">
                <a:solidFill>
                  <a:srgbClr val="000000"/>
                </a:solidFill>
              </a:rPr>
              <a:t>deliberately imposes some treatment on individuals to measure their responses. The purpose is to study whether the treatment causes a change in the response.</a:t>
            </a:r>
            <a:endParaRPr lang="en-US" altLang="en-US" sz="1000" dirty="0">
              <a:solidFill>
                <a:srgbClr val="000000"/>
              </a:solidFill>
            </a:endParaRPr>
          </a:p>
        </p:txBody>
      </p:sp>
      <p:sp>
        <p:nvSpPr>
          <p:cNvPr id="28674" name="Rectangle 3"/>
          <p:cNvSpPr txBox="1">
            <a:spLocks noChangeArrowheads="1"/>
          </p:cNvSpPr>
          <p:nvPr/>
        </p:nvSpPr>
        <p:spPr bwMode="auto">
          <a:xfrm>
            <a:off x="350838" y="5546725"/>
            <a:ext cx="8056564"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1085850" indent="-3429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defTabSz="914400" eaLnBrk="1" hangingPunct="1">
              <a:spcBef>
                <a:spcPts val="700"/>
              </a:spcBef>
              <a:buClr>
                <a:schemeClr val="accent2"/>
              </a:buClr>
              <a:buSzPct val="60000"/>
            </a:pPr>
            <a:r>
              <a:rPr lang="en-US" sz="2000" dirty="0">
                <a:cs typeface="Arial" pitchFamily="34" charset="0"/>
              </a:rPr>
              <a:t>In contrast with observational studies, experiments do not just observe individuals or ask them questions. They actively impose some treatment in order to measure the response.</a:t>
            </a:r>
          </a:p>
          <a:p>
            <a:pPr lvl="1" defTabSz="914400" eaLnBrk="1" hangingPunct="1">
              <a:spcBef>
                <a:spcPts val="700"/>
              </a:spcBef>
              <a:buClr>
                <a:schemeClr val="accent2"/>
              </a:buClr>
              <a:buSzPct val="60000"/>
              <a:buFont typeface="Wingdings" pitchFamily="2" charset="2"/>
              <a:buChar char=""/>
            </a:pPr>
            <a:endParaRPr lang="en-US" sz="2000" dirty="0">
              <a:cs typeface="Arial" pitchFamily="34" charset="0"/>
            </a:endParaRPr>
          </a:p>
          <a:p>
            <a:pPr defTabSz="914400" eaLnBrk="1" hangingPunct="1">
              <a:spcBef>
                <a:spcPts val="700"/>
              </a:spcBef>
              <a:buClr>
                <a:schemeClr val="accent2"/>
              </a:buClr>
              <a:buSzPct val="60000"/>
              <a:buFont typeface="Monotype Sorts" charset="2"/>
              <a:buNone/>
            </a:pPr>
            <a:endParaRPr lang="en-US" sz="2000" dirty="0">
              <a:cs typeface="Arial"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677">
                                            <p:txEl>
                                              <p:pRg st="2" end="2"/>
                                            </p:txEl>
                                          </p:spTgt>
                                        </p:tgtEl>
                                        <p:attrNameLst>
                                          <p:attrName>style.visibility</p:attrName>
                                        </p:attrNameLst>
                                      </p:cBhvr>
                                      <p:to>
                                        <p:strVal val="visible"/>
                                      </p:to>
                                    </p:set>
                                    <p:animEffect transition="in" filter="blinds(horizontal)">
                                      <p:cBhvr>
                                        <p:cTn id="7" dur="500"/>
                                        <p:tgtEl>
                                          <p:spTgt spid="2867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par>
                                <p:cTn id="13" presetID="1" presetClass="entr" presetSubtype="0" fill="hold"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8674">
                                            <p:txEl>
                                              <p:pRg st="0" end="0"/>
                                            </p:txEl>
                                          </p:spTgt>
                                        </p:tgtEl>
                                        <p:attrNameLst>
                                          <p:attrName>style.visibility</p:attrName>
                                        </p:attrNameLst>
                                      </p:cBhvr>
                                      <p:to>
                                        <p:strVal val="visible"/>
                                      </p:to>
                                    </p:set>
                                    <p:animEffect transition="in" filter="dissolve">
                                      <p:cBhvr>
                                        <p:cTn id="23" dur="500"/>
                                        <p:tgtEl>
                                          <p:spTgt spid="286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Confounding</a:t>
            </a:r>
          </a:p>
        </p:txBody>
      </p:sp>
      <p:sp>
        <p:nvSpPr>
          <p:cNvPr id="3276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0A02785A-4B51-43D2-A106-0F4C97682D5D}" type="slidenum">
              <a:rPr lang="en-US" sz="1200">
                <a:solidFill>
                  <a:schemeClr val="accent1"/>
                </a:solidFill>
              </a:rPr>
              <a:pPr>
                <a:lnSpc>
                  <a:spcPct val="80000"/>
                </a:lnSpc>
              </a:pPr>
              <a:t>7</a:t>
            </a:fld>
            <a:endParaRPr lang="en-US" sz="1200">
              <a:solidFill>
                <a:schemeClr val="accent1"/>
              </a:solidFill>
            </a:endParaRPr>
          </a:p>
        </p:txBody>
      </p:sp>
      <p:sp>
        <p:nvSpPr>
          <p:cNvPr id="32771" name="TextBox 1"/>
          <p:cNvSpPr txBox="1">
            <a:spLocks noChangeArrowheads="1"/>
          </p:cNvSpPr>
          <p:nvPr/>
        </p:nvSpPr>
        <p:spPr bwMode="auto">
          <a:xfrm>
            <a:off x="174623" y="1287585"/>
            <a:ext cx="7949469"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dirty="0">
                <a:solidFill>
                  <a:srgbClr val="000000"/>
                </a:solidFill>
              </a:rPr>
              <a:t>Observational studies of the effect of one variable on another often fail to establish cause and effect because of </a:t>
            </a:r>
            <a:r>
              <a:rPr lang="en-US" sz="2000" b="1" dirty="0"/>
              <a:t>confounding </a:t>
            </a:r>
            <a:r>
              <a:rPr lang="en-US" sz="2000" dirty="0">
                <a:solidFill>
                  <a:srgbClr val="000000"/>
                </a:solidFill>
              </a:rPr>
              <a:t>between the explanatory variable and one or more </a:t>
            </a:r>
            <a:r>
              <a:rPr lang="en-US" sz="2000" b="1" dirty="0"/>
              <a:t>lurking variables</a:t>
            </a:r>
            <a:r>
              <a:rPr lang="en-US" altLang="en-US" sz="2000" dirty="0">
                <a:solidFill>
                  <a:srgbClr val="000000"/>
                </a:solidFill>
              </a:rPr>
              <a:t>.</a:t>
            </a:r>
            <a:endParaRPr lang="en-US" sz="2000" b="1" dirty="0">
              <a:solidFill>
                <a:srgbClr val="990000"/>
              </a:solidFill>
            </a:endParaRPr>
          </a:p>
        </p:txBody>
      </p:sp>
      <p:sp>
        <p:nvSpPr>
          <p:cNvPr id="9" name="TextBox 8"/>
          <p:cNvSpPr txBox="1">
            <a:spLocks noChangeArrowheads="1"/>
          </p:cNvSpPr>
          <p:nvPr/>
        </p:nvSpPr>
        <p:spPr bwMode="auto">
          <a:xfrm>
            <a:off x="315303" y="2652542"/>
            <a:ext cx="7808789" cy="21844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endParaRPr lang="en-US" altLang="en-US" sz="600" b="1" u="sng" dirty="0">
              <a:solidFill>
                <a:srgbClr val="E81F30"/>
              </a:solidFill>
            </a:endParaRPr>
          </a:p>
          <a:p>
            <a:pPr algn="just" eaLnBrk="1" hangingPunct="1">
              <a:spcAft>
                <a:spcPts val="1200"/>
              </a:spcAft>
              <a:defRPr/>
            </a:pPr>
            <a:r>
              <a:rPr lang="en-US" altLang="en-US" sz="2000" dirty="0">
                <a:solidFill>
                  <a:srgbClr val="000000"/>
                </a:solidFill>
              </a:rPr>
              <a:t>A </a:t>
            </a:r>
            <a:r>
              <a:rPr lang="en-US" altLang="en-US" sz="2000" b="1" dirty="0"/>
              <a:t>lurking variable </a:t>
            </a:r>
            <a:r>
              <a:rPr lang="en-US" altLang="en-US" sz="2000" dirty="0">
                <a:solidFill>
                  <a:srgbClr val="000000"/>
                </a:solidFill>
              </a:rPr>
              <a:t>is a variable that is not among the explanatory or response variables in a study but may influence the response variable.</a:t>
            </a:r>
          </a:p>
          <a:p>
            <a:pPr eaLnBrk="1" hangingPunct="1">
              <a:defRPr/>
            </a:pPr>
            <a:r>
              <a:rPr lang="en-US" altLang="en-US" sz="2000" b="1" dirty="0"/>
              <a:t>Confounding</a:t>
            </a:r>
            <a:r>
              <a:rPr lang="en-US" altLang="en-US" sz="2000" b="1" dirty="0">
                <a:solidFill>
                  <a:srgbClr val="000000"/>
                </a:solidFill>
              </a:rPr>
              <a:t> </a:t>
            </a:r>
            <a:r>
              <a:rPr lang="en-US" altLang="en-US" sz="2000" dirty="0">
                <a:solidFill>
                  <a:srgbClr val="000000"/>
                </a:solidFill>
              </a:rPr>
              <a:t>occurs when two variables are associated in such a way that their effects on a response variable cannot be distinguished from each other.</a:t>
            </a:r>
          </a:p>
        </p:txBody>
      </p:sp>
      <p:sp>
        <p:nvSpPr>
          <p:cNvPr id="10" name="Rectangle 9"/>
          <p:cNvSpPr>
            <a:spLocks noChangeArrowheads="1"/>
          </p:cNvSpPr>
          <p:nvPr/>
        </p:nvSpPr>
        <p:spPr bwMode="auto">
          <a:xfrm>
            <a:off x="305536" y="5267325"/>
            <a:ext cx="8056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t>Well-designed experiments take steps to avoid confounding.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9">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2"/>
          <p:cNvSpPr>
            <a:spLocks noGrp="1"/>
          </p:cNvSpPr>
          <p:nvPr>
            <p:ph type="title"/>
          </p:nvPr>
        </p:nvSpPr>
        <p:spPr>
          <a:xfrm>
            <a:off x="457200" y="387716"/>
            <a:ext cx="6508750" cy="826477"/>
          </a:xfrm>
        </p:spPr>
        <p:txBody>
          <a:bodyPr anchor="t"/>
          <a:lstStyle/>
          <a:p>
            <a:pPr eaLnBrk="1" hangingPunct="1"/>
            <a:r>
              <a:rPr lang="en-US" b="1" dirty="0">
                <a:ea typeface="ＭＳ Ｐゴシック" pitchFamily="34" charset="-128"/>
              </a:rPr>
              <a:t>3.2 Design of Experiments</a:t>
            </a:r>
          </a:p>
        </p:txBody>
      </p:sp>
      <p:sp>
        <p:nvSpPr>
          <p:cNvPr id="33794" name="Text Placeholder 3"/>
          <p:cNvSpPr>
            <a:spLocks noGrp="1"/>
          </p:cNvSpPr>
          <p:nvPr>
            <p:ph idx="1"/>
          </p:nvPr>
        </p:nvSpPr>
        <p:spPr>
          <a:xfrm>
            <a:off x="457199" y="1598490"/>
            <a:ext cx="8264769" cy="3916363"/>
          </a:xfrm>
        </p:spPr>
        <p:txBody>
          <a:bodyPr/>
          <a:lstStyle/>
          <a:p>
            <a:pPr eaLnBrk="1" hangingPunct="1"/>
            <a:r>
              <a:rPr lang="en-US" sz="2400" dirty="0">
                <a:solidFill>
                  <a:srgbClr val="073779"/>
                </a:solidFill>
                <a:ea typeface="ＭＳ Ｐゴシック" pitchFamily="34" charset="-128"/>
              </a:rPr>
              <a:t>Experimental units, subjects, treatments, and outcomes</a:t>
            </a:r>
          </a:p>
          <a:p>
            <a:pPr eaLnBrk="1" hangingPunct="1"/>
            <a:r>
              <a:rPr lang="en-US" sz="2400" dirty="0">
                <a:solidFill>
                  <a:srgbClr val="073779"/>
                </a:solidFill>
                <a:ea typeface="ＭＳ Ｐゴシック" pitchFamily="34" charset="-128"/>
              </a:rPr>
              <a:t>Comparative experiments</a:t>
            </a:r>
          </a:p>
          <a:p>
            <a:pPr eaLnBrk="1" hangingPunct="1"/>
            <a:r>
              <a:rPr lang="en-US" sz="2400" dirty="0">
                <a:solidFill>
                  <a:srgbClr val="073779"/>
                </a:solidFill>
                <a:ea typeface="ＭＳ Ｐゴシック" pitchFamily="34" charset="-128"/>
              </a:rPr>
              <a:t>Randomization</a:t>
            </a:r>
          </a:p>
          <a:p>
            <a:pPr eaLnBrk="1" hangingPunct="1"/>
            <a:r>
              <a:rPr lang="en-US" sz="2400" dirty="0">
                <a:solidFill>
                  <a:srgbClr val="073779"/>
                </a:solidFill>
                <a:ea typeface="ＭＳ Ｐゴシック" pitchFamily="34" charset="-128"/>
              </a:rPr>
              <a:t>Principles of experimental design</a:t>
            </a:r>
          </a:p>
          <a:p>
            <a:pPr eaLnBrk="1" hangingPunct="1"/>
            <a:r>
              <a:rPr lang="en-US" sz="2400" dirty="0">
                <a:solidFill>
                  <a:srgbClr val="073779"/>
                </a:solidFill>
                <a:ea typeface="ＭＳ Ｐゴシック" pitchFamily="34" charset="-128"/>
              </a:rPr>
              <a:t>Cautions about experimentation</a:t>
            </a:r>
          </a:p>
          <a:p>
            <a:pPr eaLnBrk="1" hangingPunct="1"/>
            <a:r>
              <a:rPr lang="en-US" sz="2400" dirty="0">
                <a:solidFill>
                  <a:srgbClr val="073779"/>
                </a:solidFill>
                <a:ea typeface="ＭＳ Ｐゴシック" pitchFamily="34" charset="-128"/>
              </a:rPr>
              <a:t>Matched pairs designs</a:t>
            </a:r>
          </a:p>
          <a:p>
            <a:pPr eaLnBrk="1" hangingPunct="1"/>
            <a:r>
              <a:rPr lang="en-US" sz="2400" dirty="0">
                <a:solidFill>
                  <a:srgbClr val="073779"/>
                </a:solidFill>
                <a:ea typeface="ＭＳ Ｐゴシック" pitchFamily="34" charset="-128"/>
              </a:rPr>
              <a:t>Block designs</a:t>
            </a:r>
          </a:p>
        </p:txBody>
      </p:sp>
      <p:sp>
        <p:nvSpPr>
          <p:cNvPr id="33795"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17910DF-ACFB-4F00-ABDA-9A07FFD04935}" type="slidenum">
              <a:rPr lang="en-US" sz="1400">
                <a:solidFill>
                  <a:schemeClr val="accent1"/>
                </a:solidFill>
              </a:rPr>
              <a:pPr/>
              <a:t>8</a:t>
            </a:fld>
            <a:endParaRPr lang="en-US" sz="140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cs typeface="Arial" pitchFamily="34" charset="0"/>
              </a:rPr>
              <a:t>Experimental Units, Subjects, Treatments, and Outcomes</a:t>
            </a:r>
          </a:p>
        </p:txBody>
      </p:sp>
      <p:sp>
        <p:nvSpPr>
          <p:cNvPr id="3481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AB8F9BAD-2FAF-46C4-A17C-E9274488B528}" type="slidenum">
              <a:rPr lang="en-US" sz="1200">
                <a:solidFill>
                  <a:schemeClr val="accent1"/>
                </a:solidFill>
              </a:rPr>
              <a:pPr>
                <a:lnSpc>
                  <a:spcPct val="80000"/>
                </a:lnSpc>
              </a:pPr>
              <a:t>9</a:t>
            </a:fld>
            <a:endParaRPr lang="en-US" sz="1200">
              <a:solidFill>
                <a:schemeClr val="accent1"/>
              </a:solidFill>
            </a:endParaRPr>
          </a:p>
        </p:txBody>
      </p:sp>
      <p:sp>
        <p:nvSpPr>
          <p:cNvPr id="34819" name="Rectangle 1"/>
          <p:cNvSpPr>
            <a:spLocks noChangeArrowheads="1"/>
          </p:cNvSpPr>
          <p:nvPr/>
        </p:nvSpPr>
        <p:spPr bwMode="auto">
          <a:xfrm>
            <a:off x="245265" y="1556790"/>
            <a:ext cx="8705304" cy="1016000"/>
          </a:xfrm>
          <a:prstGeom prst="rect">
            <a:avLst/>
          </a:prstGeom>
          <a:solidFill>
            <a:srgbClr val="FFD780"/>
          </a:solidFill>
          <a:ln>
            <a:noFill/>
          </a:ln>
        </p:spPr>
        <p:txBody>
          <a:bodyPr wrap="square">
            <a:spAutoFit/>
          </a:bodyPr>
          <a:lstStyle/>
          <a:p>
            <a:pPr algn="just" eaLnBrk="1" hangingPunct="1">
              <a:buFont typeface="Wingdings" pitchFamily="2" charset="2"/>
              <a:buNone/>
            </a:pPr>
            <a:r>
              <a:rPr lang="en-US" sz="2000" dirty="0">
                <a:solidFill>
                  <a:srgbClr val="000000"/>
                </a:solidFill>
              </a:rPr>
              <a:t>An experiment is a study in which we actually do something (a </a:t>
            </a:r>
            <a:r>
              <a:rPr lang="en-US" sz="2000" b="1" dirty="0"/>
              <a:t>treatment</a:t>
            </a:r>
            <a:r>
              <a:rPr lang="en-US" sz="2000" dirty="0">
                <a:solidFill>
                  <a:srgbClr val="000000"/>
                </a:solidFill>
              </a:rPr>
              <a:t>) to people, animals, or objects (the </a:t>
            </a:r>
            <a:r>
              <a:rPr lang="en-US" sz="2000" b="1" dirty="0"/>
              <a:t>experimental units</a:t>
            </a:r>
            <a:r>
              <a:rPr lang="en-US" sz="2000" dirty="0">
                <a:solidFill>
                  <a:srgbClr val="000000"/>
                </a:solidFill>
              </a:rPr>
              <a:t>) to observe the </a:t>
            </a:r>
            <a:r>
              <a:rPr lang="en-US" sz="2000" b="1" dirty="0"/>
              <a:t>response</a:t>
            </a:r>
            <a:r>
              <a:rPr lang="en-US" sz="2000" dirty="0">
                <a:solidFill>
                  <a:srgbClr val="000000"/>
                </a:solidFill>
              </a:rPr>
              <a:t>. Here is the basic vocabulary of experiments. </a:t>
            </a:r>
            <a:endParaRPr lang="en-US" sz="3600" dirty="0">
              <a:solidFill>
                <a:srgbClr val="000000"/>
              </a:solidFill>
            </a:endParaRPr>
          </a:p>
        </p:txBody>
      </p:sp>
      <p:sp>
        <p:nvSpPr>
          <p:cNvPr id="7" name="TextBox 6"/>
          <p:cNvSpPr txBox="1">
            <a:spLocks noChangeArrowheads="1"/>
          </p:cNvSpPr>
          <p:nvPr/>
        </p:nvSpPr>
        <p:spPr bwMode="auto">
          <a:xfrm>
            <a:off x="245266" y="2832592"/>
            <a:ext cx="8705303" cy="393954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marL="342900" indent="-342900" algn="just" eaLnBrk="1" hangingPunct="1">
              <a:buFont typeface="Arial" panose="020B0604020202020204" pitchFamily="34" charset="0"/>
              <a:buChar char="•"/>
              <a:defRPr/>
            </a:pPr>
            <a:r>
              <a:rPr lang="en-US" altLang="en-US" sz="2000" dirty="0">
                <a:solidFill>
                  <a:srgbClr val="000000"/>
                </a:solidFill>
              </a:rPr>
              <a:t>An </a:t>
            </a:r>
            <a:r>
              <a:rPr lang="en-US" altLang="en-US" sz="2000" b="1" dirty="0"/>
              <a:t>experimental unit </a:t>
            </a:r>
            <a:r>
              <a:rPr lang="en-US" altLang="en-US" sz="2000" dirty="0"/>
              <a:t>is</a:t>
            </a:r>
            <a:r>
              <a:rPr lang="en-US" altLang="en-US" sz="2000" dirty="0">
                <a:solidFill>
                  <a:srgbClr val="000000"/>
                </a:solidFill>
              </a:rPr>
              <a:t> the smallest entity to which a treatment is applied. When the units are human beings, they are often called </a:t>
            </a:r>
            <a:r>
              <a:rPr lang="en-US" altLang="en-US" sz="2000" b="1" dirty="0"/>
              <a:t>subjects</a:t>
            </a:r>
            <a:r>
              <a:rPr lang="en-US" sz="2000" dirty="0">
                <a:solidFill>
                  <a:srgbClr val="000000"/>
                </a:solidFill>
              </a:rPr>
              <a:t>.</a:t>
            </a:r>
            <a:r>
              <a:rPr lang="en-US" altLang="en-US" sz="2000" dirty="0">
                <a:solidFill>
                  <a:srgbClr val="000000"/>
                </a:solidFill>
              </a:rPr>
              <a:t> </a:t>
            </a:r>
          </a:p>
          <a:p>
            <a:pPr marL="342900" indent="-342900" algn="just" eaLnBrk="1" hangingPunct="1">
              <a:buFont typeface="Arial" panose="020B0604020202020204" pitchFamily="34" charset="0"/>
              <a:buChar char="•"/>
              <a:defRPr/>
            </a:pPr>
            <a:endParaRPr lang="en-US" altLang="en-US" sz="2000" dirty="0">
              <a:solidFill>
                <a:srgbClr val="000000"/>
              </a:solidFill>
            </a:endParaRPr>
          </a:p>
          <a:p>
            <a:pPr marL="342900" indent="-342900" algn="just" eaLnBrk="1" hangingPunct="1">
              <a:buFont typeface="Arial" panose="020B0604020202020204" pitchFamily="34" charset="0"/>
              <a:buChar char="•"/>
              <a:defRPr/>
            </a:pPr>
            <a:r>
              <a:rPr lang="en-US" altLang="en-US" sz="2000" dirty="0">
                <a:solidFill>
                  <a:srgbClr val="000000"/>
                </a:solidFill>
              </a:rPr>
              <a:t>The explanatory variables in an experiment are often called </a:t>
            </a:r>
            <a:r>
              <a:rPr lang="en-US" altLang="en-US" sz="2000" b="1" dirty="0"/>
              <a:t>factors</a:t>
            </a:r>
            <a:r>
              <a:rPr lang="en-US" sz="2000" dirty="0">
                <a:solidFill>
                  <a:srgbClr val="000000"/>
                </a:solidFill>
              </a:rPr>
              <a:t>.</a:t>
            </a:r>
            <a:endParaRPr lang="en-US" altLang="en-US" sz="2000" b="1" dirty="0">
              <a:solidFill>
                <a:srgbClr val="990000"/>
              </a:solidFill>
            </a:endParaRPr>
          </a:p>
          <a:p>
            <a:pPr algn="just" eaLnBrk="1" hangingPunct="1">
              <a:defRPr/>
            </a:pPr>
            <a:endParaRPr lang="en-US" altLang="en-US" sz="2000" dirty="0">
              <a:solidFill>
                <a:srgbClr val="000000"/>
              </a:solidFill>
            </a:endParaRPr>
          </a:p>
          <a:p>
            <a:pPr marL="342900" indent="-342900" algn="just" eaLnBrk="1" hangingPunct="1">
              <a:buFont typeface="Arial" panose="020B0604020202020204" pitchFamily="34" charset="0"/>
              <a:buChar char="•"/>
              <a:defRPr/>
            </a:pPr>
            <a:r>
              <a:rPr lang="en-US" altLang="en-US" sz="2000" dirty="0">
                <a:solidFill>
                  <a:srgbClr val="000000"/>
                </a:solidFill>
              </a:rPr>
              <a:t>A specific condition applied to the individuals in an experiment is called a </a:t>
            </a:r>
            <a:r>
              <a:rPr lang="en-US" altLang="en-US" sz="2000" b="1" dirty="0"/>
              <a:t>treatment</a:t>
            </a:r>
            <a:r>
              <a:rPr lang="en-US" sz="2000" dirty="0">
                <a:solidFill>
                  <a:srgbClr val="000000"/>
                </a:solidFill>
              </a:rPr>
              <a:t>.</a:t>
            </a:r>
            <a:r>
              <a:rPr lang="en-US" altLang="en-US" sz="2000" dirty="0">
                <a:solidFill>
                  <a:srgbClr val="000000"/>
                </a:solidFill>
              </a:rPr>
              <a:t> If an experiment has several explanatory variables, a treatment is a combination of specific values of these variables. </a:t>
            </a:r>
          </a:p>
          <a:p>
            <a:pPr marL="342900" indent="-342900" algn="just" eaLnBrk="1" hangingPunct="1">
              <a:buFont typeface="Arial" panose="020B0604020202020204" pitchFamily="34" charset="0"/>
              <a:buChar char="•"/>
              <a:defRPr/>
            </a:pPr>
            <a:endParaRPr lang="en-US" altLang="en-US" sz="2000" dirty="0">
              <a:solidFill>
                <a:srgbClr val="000000"/>
              </a:solidFill>
            </a:endParaRPr>
          </a:p>
          <a:p>
            <a:pPr marL="342900" indent="-342900" algn="just" eaLnBrk="1" hangingPunct="1">
              <a:buFont typeface="Arial" panose="020B0604020202020204" pitchFamily="34" charset="0"/>
              <a:buChar char="•"/>
              <a:defRPr/>
            </a:pPr>
            <a:r>
              <a:rPr lang="en-US" altLang="en-US" sz="2000" b="1" dirty="0"/>
              <a:t>Outcomes</a:t>
            </a:r>
            <a:r>
              <a:rPr lang="en-US" altLang="en-US" sz="2000" dirty="0"/>
              <a:t> </a:t>
            </a:r>
            <a:r>
              <a:rPr lang="en-US" altLang="en-US" sz="2000" dirty="0">
                <a:solidFill>
                  <a:srgbClr val="000000"/>
                </a:solidFill>
              </a:rPr>
              <a:t>are the measured variables that are used to compare the treatments.</a:t>
            </a:r>
          </a:p>
          <a:p>
            <a:pPr eaLnBrk="1" hangingPunct="1">
              <a:defRPr/>
            </a:pPr>
            <a:endParaRPr lang="en-US" altLang="en-US" sz="10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Need for Comparative Experiments</a:t>
            </a:r>
          </a:p>
        </p:txBody>
      </p:sp>
      <p:sp>
        <p:nvSpPr>
          <p:cNvPr id="3584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06652B8-9EFC-4D94-A889-0E74222D9D3E}" type="slidenum">
              <a:rPr lang="en-US" sz="1200">
                <a:solidFill>
                  <a:schemeClr val="accent1"/>
                </a:solidFill>
              </a:rPr>
              <a:pPr>
                <a:lnSpc>
                  <a:spcPct val="80000"/>
                </a:lnSpc>
              </a:pPr>
              <a:t>10</a:t>
            </a:fld>
            <a:endParaRPr lang="en-US" sz="1200">
              <a:solidFill>
                <a:schemeClr val="accent1"/>
              </a:solidFill>
            </a:endParaRPr>
          </a:p>
        </p:txBody>
      </p:sp>
      <p:sp>
        <p:nvSpPr>
          <p:cNvPr id="35843" name="Rectangle 1"/>
          <p:cNvSpPr>
            <a:spLocks noChangeArrowheads="1"/>
          </p:cNvSpPr>
          <p:nvPr/>
        </p:nvSpPr>
        <p:spPr bwMode="auto">
          <a:xfrm>
            <a:off x="198437" y="1233374"/>
            <a:ext cx="841802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Experiments are the preferred method for examining the effect of one variable on another. By imposing the specific treatment of interest and controlling other influences, we can pin down cause and effect. </a:t>
            </a:r>
          </a:p>
          <a:p>
            <a:pPr algn="just" eaLnBrk="1" hangingPunct="1"/>
            <a:endParaRPr lang="en-US" sz="2000" dirty="0">
              <a:solidFill>
                <a:srgbClr val="000000"/>
              </a:solidFill>
            </a:endParaRPr>
          </a:p>
          <a:p>
            <a:pPr algn="just" eaLnBrk="1" hangingPunct="1"/>
            <a:r>
              <a:rPr lang="en-US" sz="2000" dirty="0">
                <a:solidFill>
                  <a:srgbClr val="000000"/>
                </a:solidFill>
              </a:rPr>
              <a:t>Good designs are essential for effective experiments, just as they are for sampling. </a:t>
            </a:r>
          </a:p>
        </p:txBody>
      </p:sp>
      <p:sp>
        <p:nvSpPr>
          <p:cNvPr id="9" name="Rectangle 6"/>
          <p:cNvSpPr>
            <a:spLocks noChangeArrowheads="1"/>
          </p:cNvSpPr>
          <p:nvPr/>
        </p:nvSpPr>
        <p:spPr bwMode="auto">
          <a:xfrm>
            <a:off x="198438" y="3276649"/>
            <a:ext cx="8418024" cy="341630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defRPr/>
            </a:pPr>
            <a:r>
              <a:rPr lang="en-US" b="1" u="sng" dirty="0">
                <a:latin typeface="Arial" charset="0"/>
                <a:ea typeface="ＭＳ Ｐゴシック" charset="0"/>
                <a:cs typeface="Arial" charset="0"/>
              </a:rPr>
              <a:t>Example</a:t>
            </a:r>
            <a:r>
              <a:rPr lang="en-US" b="1" dirty="0">
                <a:latin typeface="Arial" charset="0"/>
                <a:ea typeface="ＭＳ Ｐゴシック" charset="0"/>
                <a:cs typeface="Arial" charset="0"/>
              </a:rPr>
              <a:t>: </a:t>
            </a:r>
            <a:r>
              <a:rPr lang="en-US" dirty="0">
                <a:solidFill>
                  <a:srgbClr val="000000"/>
                </a:solidFill>
                <a:latin typeface="Arial" charset="0"/>
                <a:ea typeface="ＭＳ Ｐゴシック" charset="0"/>
                <a:cs typeface="Arial" charset="0"/>
              </a:rPr>
              <a:t>A study designed to reduce test anxiety had students write an essay about their feelings concerning an upcoming exam.</a:t>
            </a:r>
          </a:p>
          <a:p>
            <a:pPr eaLnBrk="1" hangingPunct="1">
              <a:defRPr/>
            </a:pPr>
            <a:endParaRPr lang="en-US" dirty="0">
              <a:solidFill>
                <a:srgbClr val="000000"/>
              </a:solidFill>
              <a:latin typeface="Arial" charset="0"/>
              <a:ea typeface="ＭＳ Ｐゴシック" charset="0"/>
              <a:cs typeface="Arial" charset="0"/>
            </a:endParaRPr>
          </a:p>
          <a:p>
            <a:pPr eaLnBrk="1" hangingPunct="1">
              <a:defRPr/>
            </a:pPr>
            <a:r>
              <a:rPr lang="en-US" dirty="0">
                <a:solidFill>
                  <a:srgbClr val="000000"/>
                </a:solidFill>
                <a:latin typeface="Arial" charset="0"/>
                <a:ea typeface="ＭＳ Ｐゴシック" charset="0"/>
                <a:cs typeface="Arial" charset="0"/>
              </a:rPr>
              <a:t>Students </a:t>
            </a:r>
            <a:r>
              <a:rPr lang="en-US" dirty="0">
                <a:solidFill>
                  <a:srgbClr val="000000"/>
                </a:solidFill>
                <a:latin typeface="Arial" charset="0"/>
                <a:ea typeface="ＭＳ Ｐゴシック" charset="0"/>
                <a:cs typeface="Arial" charset="0"/>
                <a:sym typeface="Symbol" charset="0"/>
              </a:rPr>
              <a:t></a:t>
            </a:r>
            <a:r>
              <a:rPr lang="en-US" dirty="0">
                <a:solidFill>
                  <a:srgbClr val="000000"/>
                </a:solidFill>
                <a:latin typeface="Arial" charset="0"/>
                <a:ea typeface="ＭＳ Ｐゴシック" charset="0"/>
                <a:cs typeface="Arial" charset="0"/>
              </a:rPr>
              <a:t> Write about feelings</a:t>
            </a:r>
            <a:r>
              <a:rPr lang="en-US" dirty="0">
                <a:solidFill>
                  <a:srgbClr val="000000"/>
                </a:solidFill>
                <a:latin typeface="Arial" charset="0"/>
                <a:ea typeface="ＭＳ Ｐゴシック" charset="0"/>
                <a:cs typeface="Arial" charset="0"/>
                <a:sym typeface="Symbol" charset="0"/>
              </a:rPr>
              <a:t></a:t>
            </a:r>
            <a:r>
              <a:rPr lang="en-US" dirty="0">
                <a:solidFill>
                  <a:srgbClr val="000000"/>
                </a:solidFill>
                <a:latin typeface="Arial" charset="0"/>
                <a:ea typeface="ＭＳ Ｐゴシック" charset="0"/>
                <a:cs typeface="Arial" charset="0"/>
              </a:rPr>
              <a:t> Observe exam scores</a:t>
            </a:r>
          </a:p>
          <a:p>
            <a:pPr eaLnBrk="1" hangingPunct="1">
              <a:defRPr/>
            </a:pPr>
            <a:endParaRPr lang="en-US" dirty="0">
              <a:solidFill>
                <a:srgbClr val="000000"/>
              </a:solidFill>
              <a:latin typeface="Arial" charset="0"/>
              <a:ea typeface="ＭＳ Ｐゴシック" charset="0"/>
              <a:cs typeface="Arial" charset="0"/>
            </a:endParaRPr>
          </a:p>
          <a:p>
            <a:pPr algn="just" eaLnBrk="1" hangingPunct="1">
              <a:defRPr/>
            </a:pPr>
            <a:r>
              <a:rPr lang="en-US" dirty="0">
                <a:solidFill>
                  <a:srgbClr val="000000"/>
                </a:solidFill>
                <a:latin typeface="Arial" charset="0"/>
                <a:ea typeface="ＭＳ Ｐゴシック" charset="0"/>
                <a:cs typeface="Arial" charset="0"/>
              </a:rPr>
              <a:t>The scores on this exam (the second exam of the semester) were compared with those on the first exam. The mean score on the second exam was </a:t>
            </a:r>
            <a:r>
              <a:rPr lang="en-US" i="1" dirty="0">
                <a:solidFill>
                  <a:srgbClr val="000000"/>
                </a:solidFill>
                <a:latin typeface="Arial" charset="0"/>
                <a:ea typeface="ＭＳ Ｐゴシック" charset="0"/>
                <a:cs typeface="Arial" charset="0"/>
              </a:rPr>
              <a:t>higher</a:t>
            </a:r>
            <a:r>
              <a:rPr lang="en-US" dirty="0">
                <a:solidFill>
                  <a:srgbClr val="000000"/>
                </a:solidFill>
                <a:latin typeface="Arial" charset="0"/>
                <a:ea typeface="ＭＳ Ｐゴシック" charset="0"/>
                <a:cs typeface="Arial" charset="0"/>
              </a:rPr>
              <a:t> than the mean score on the first exam.</a:t>
            </a:r>
          </a:p>
          <a:p>
            <a:pPr eaLnBrk="1" hangingPunct="1">
              <a:defRPr/>
            </a:pPr>
            <a:endParaRPr lang="en-US" dirty="0">
              <a:solidFill>
                <a:srgbClr val="000000"/>
              </a:solidFill>
              <a:latin typeface="Arial" charset="0"/>
              <a:ea typeface="ＭＳ Ｐゴシック" charset="0"/>
              <a:cs typeface="Arial" charset="0"/>
            </a:endParaRPr>
          </a:p>
          <a:p>
            <a:pPr eaLnBrk="1" hangingPunct="1">
              <a:defRPr/>
            </a:pPr>
            <a:r>
              <a:rPr lang="en-US" b="1" dirty="0">
                <a:solidFill>
                  <a:srgbClr val="000000"/>
                </a:solidFill>
                <a:latin typeface="Arial" charset="0"/>
                <a:ea typeface="ＭＳ Ｐゴシック" charset="0"/>
                <a:cs typeface="Arial" charset="0"/>
              </a:rPr>
              <a:t>Is the writing exercise effective?</a:t>
            </a:r>
          </a:p>
          <a:p>
            <a:pPr eaLnBrk="1" hangingPunct="1">
              <a:defRPr/>
            </a:pPr>
            <a:r>
              <a:rPr lang="en-US" b="1" dirty="0">
                <a:solidFill>
                  <a:srgbClr val="000000"/>
                </a:solidFill>
                <a:latin typeface="Arial" charset="0"/>
                <a:ea typeface="ＭＳ Ｐゴシック" charset="0"/>
                <a:cs typeface="Arial" charset="0"/>
              </a:rPr>
              <a:t>How can you tell?</a:t>
            </a:r>
          </a:p>
          <a:p>
            <a:pPr eaLnBrk="1" hangingPunct="1">
              <a:defRPr/>
            </a:pPr>
            <a:r>
              <a:rPr lang="en-US" b="1" dirty="0">
                <a:solidFill>
                  <a:srgbClr val="000000"/>
                </a:solidFill>
                <a:latin typeface="Arial" charset="0"/>
                <a:ea typeface="ＭＳ Ｐゴシック" charset="0"/>
                <a:cs typeface="Arial" charset="0"/>
              </a:rPr>
              <a:t>Are you certain the increase is due to the writing exercise?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1"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childTnLst>
                                </p:cTn>
                              </p:par>
                              <p:par>
                                <p:cTn id="22" presetID="1" presetClass="entr" presetSubtype="0" fill="hold" nodeType="withEffect">
                                  <p:stCondLst>
                                    <p:cond delay="2000"/>
                                  </p:stCondLst>
                                  <p:childTnLst>
                                    <p:set>
                                      <p:cBhvr>
                                        <p:cTn id="23" dur="1" fill="hold">
                                          <p:stCondLst>
                                            <p:cond delay="0"/>
                                          </p:stCondLst>
                                        </p:cTn>
                                        <p:tgtEl>
                                          <p:spTgt spid="9">
                                            <p:txEl>
                                              <p:pRg st="7" end="7"/>
                                            </p:txEl>
                                          </p:spTgt>
                                        </p:tgtEl>
                                        <p:attrNameLst>
                                          <p:attrName>style.visibility</p:attrName>
                                        </p:attrNameLst>
                                      </p:cBhvr>
                                      <p:to>
                                        <p:strVal val="visible"/>
                                      </p:to>
                                    </p:set>
                                  </p:childTnLst>
                                </p:cTn>
                              </p:par>
                              <p:par>
                                <p:cTn id="24" presetID="1" presetClass="entr" presetSubtype="0" fill="hold" nodeType="withEffect">
                                  <p:stCondLst>
                                    <p:cond delay="4000"/>
                                  </p:stCondLst>
                                  <p:childTnLst>
                                    <p:set>
                                      <p:cBhvr>
                                        <p:cTn id="25"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19"/>
          <p:cNvSpPr>
            <a:spLocks noGrp="1" noChangeArrowheads="1"/>
          </p:cNvSpPr>
          <p:nvPr>
            <p:ph type="title"/>
          </p:nvPr>
        </p:nvSpPr>
        <p:spPr/>
        <p:txBody>
          <a:bodyPr/>
          <a:lstStyle/>
          <a:p>
            <a:pPr eaLnBrk="1" hangingPunct="1"/>
            <a:r>
              <a:rPr lang="en-US">
                <a:ea typeface="ＭＳ Ｐゴシック" pitchFamily="34" charset="-128"/>
                <a:cs typeface="Arial" pitchFamily="34" charset="0"/>
              </a:rPr>
              <a:t>Comparative Experiments</a:t>
            </a:r>
          </a:p>
        </p:txBody>
      </p:sp>
      <p:sp>
        <p:nvSpPr>
          <p:cNvPr id="3788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58D9F40-5D65-4020-90CF-36228BE43195}" type="slidenum">
              <a:rPr lang="en-US" sz="1200">
                <a:solidFill>
                  <a:schemeClr val="accent1"/>
                </a:solidFill>
              </a:rPr>
              <a:pPr>
                <a:lnSpc>
                  <a:spcPct val="80000"/>
                </a:lnSpc>
              </a:pPr>
              <a:t>11</a:t>
            </a:fld>
            <a:endParaRPr lang="en-US" sz="1200">
              <a:solidFill>
                <a:schemeClr val="accent1"/>
              </a:solidFill>
            </a:endParaRPr>
          </a:p>
        </p:txBody>
      </p:sp>
      <p:sp>
        <p:nvSpPr>
          <p:cNvPr id="37892" name="TextBox 1"/>
          <p:cNvSpPr txBox="1">
            <a:spLocks noChangeArrowheads="1"/>
          </p:cNvSpPr>
          <p:nvPr/>
        </p:nvSpPr>
        <p:spPr bwMode="auto">
          <a:xfrm>
            <a:off x="174623" y="1249607"/>
            <a:ext cx="8213239"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solidFill>
                  <a:srgbClr val="000000"/>
                </a:solidFill>
              </a:rPr>
              <a:t>The test anxiety experiment was poorly designed to evaluate the effect of the writing exercise. The lack of a </a:t>
            </a:r>
            <a:r>
              <a:rPr lang="en-US" sz="2000" b="1" dirty="0"/>
              <a:t>comparison group </a:t>
            </a:r>
            <a:r>
              <a:rPr lang="en-US" sz="2000" dirty="0"/>
              <a:t>is one problem with it. Another is the </a:t>
            </a:r>
            <a:r>
              <a:rPr lang="en-US" sz="2000" b="1" dirty="0"/>
              <a:t>placebo effect</a:t>
            </a:r>
            <a:r>
              <a:rPr lang="en-US" sz="2000" dirty="0"/>
              <a:t>. The result is that the study suffers from </a:t>
            </a:r>
            <a:r>
              <a:rPr lang="en-US" sz="2000" b="1" dirty="0"/>
              <a:t>bias</a:t>
            </a:r>
            <a:r>
              <a:rPr lang="en-US" sz="2000" dirty="0">
                <a:solidFill>
                  <a:srgbClr val="000000"/>
                </a:solidFill>
              </a:rPr>
              <a:t>.</a:t>
            </a:r>
            <a:endParaRPr lang="en-US" sz="2000" dirty="0"/>
          </a:p>
        </p:txBody>
      </p:sp>
      <p:sp>
        <p:nvSpPr>
          <p:cNvPr id="46" name="Rectangle 45"/>
          <p:cNvSpPr>
            <a:spLocks noChangeArrowheads="1"/>
          </p:cNvSpPr>
          <p:nvPr/>
        </p:nvSpPr>
        <p:spPr bwMode="auto">
          <a:xfrm>
            <a:off x="223835" y="2891867"/>
            <a:ext cx="8213239" cy="2554545"/>
          </a:xfrm>
          <a:prstGeom prst="rect">
            <a:avLst/>
          </a:prstGeom>
          <a:solidFill>
            <a:srgbClr val="FFD780"/>
          </a:solidFill>
          <a:ln>
            <a:noFill/>
          </a:ln>
        </p:spPr>
        <p:txBody>
          <a:bodyPr wrap="square">
            <a:spAutoFit/>
          </a:bodyPr>
          <a:lstStyle/>
          <a:p>
            <a:pPr algn="just" eaLnBrk="1" hangingPunct="1"/>
            <a:r>
              <a:rPr lang="en-US" sz="2000" dirty="0"/>
              <a:t>The </a:t>
            </a:r>
            <a:r>
              <a:rPr lang="en-US" sz="2000" b="1" dirty="0"/>
              <a:t>placebo effect </a:t>
            </a:r>
            <a:r>
              <a:rPr lang="en-US" sz="2000" dirty="0"/>
              <a:t>occurs when people respond favorably to personal attention or to any treatment that they hope will help them.</a:t>
            </a:r>
          </a:p>
          <a:p>
            <a:pPr algn="just" eaLnBrk="1" hangingPunct="1"/>
            <a:endParaRPr lang="en-US" sz="2000" dirty="0"/>
          </a:p>
          <a:p>
            <a:pPr algn="just" eaLnBrk="1" hangingPunct="1"/>
            <a:r>
              <a:rPr lang="en-US" sz="2000" dirty="0"/>
              <a:t>In a </a:t>
            </a:r>
            <a:r>
              <a:rPr lang="en-US" sz="2000" b="1" dirty="0"/>
              <a:t>comparative experiment</a:t>
            </a:r>
            <a:r>
              <a:rPr lang="en-US" sz="2000" dirty="0"/>
              <a:t>, subjects are assigned to one of two or more groups. In many studies, two such groups are the </a:t>
            </a:r>
            <a:r>
              <a:rPr lang="en-US" sz="2000" b="1" dirty="0"/>
              <a:t>control group </a:t>
            </a:r>
            <a:r>
              <a:rPr lang="en-US" sz="2000" dirty="0"/>
              <a:t>and the </a:t>
            </a:r>
            <a:r>
              <a:rPr lang="en-US" sz="2000" b="1" dirty="0"/>
              <a:t>treatment group</a:t>
            </a:r>
            <a:r>
              <a:rPr lang="en-US" sz="2000" dirty="0"/>
              <a:t>.</a:t>
            </a:r>
          </a:p>
          <a:p>
            <a:pPr algn="just" eaLnBrk="1" hangingPunct="1"/>
            <a:r>
              <a:rPr lang="en-US" sz="2000" dirty="0"/>
              <a:t> </a:t>
            </a:r>
          </a:p>
          <a:p>
            <a:pPr algn="just" eaLnBrk="1" hangingPunct="1"/>
            <a:r>
              <a:rPr lang="en-US" sz="2000" dirty="0"/>
              <a:t>A study is </a:t>
            </a:r>
            <a:r>
              <a:rPr lang="en-US" sz="2000" b="1" dirty="0"/>
              <a:t>biased </a:t>
            </a:r>
            <a:r>
              <a:rPr lang="en-US" sz="2000" dirty="0"/>
              <a:t>if it systematically favors certain outcomes.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childTnLst>
                                </p:cTn>
                              </p:par>
                              <p:par>
                                <p:cTn id="8" presetID="43" presetClass="entr" presetSubtype="0" fill="hold" nodeType="withEffect">
                                  <p:stCondLst>
                                    <p:cond delay="0"/>
                                  </p:stCondLst>
                                  <p:childTnLst>
                                    <p:set>
                                      <p:cBhvr>
                                        <p:cTn id="9" dur="1" fill="hold">
                                          <p:stCondLst>
                                            <p:cond delay="0"/>
                                          </p:stCondLst>
                                        </p:cTn>
                                        <p:tgtEl>
                                          <p:spTgt spid="46">
                                            <p:txEl>
                                              <p:pRg st="0" end="0"/>
                                            </p:txEl>
                                          </p:spTgt>
                                        </p:tgtEl>
                                        <p:attrNameLst>
                                          <p:attrName>style.visibility</p:attrName>
                                        </p:attrNameLst>
                                      </p:cBhvr>
                                      <p:to>
                                        <p:strVal val="visible"/>
                                      </p:to>
                                    </p:set>
                                    <p:animEffect transition="in" filter="fade">
                                      <p:cBhvr>
                                        <p:cTn id="10" dur="100"/>
                                        <p:tgtEl>
                                          <p:spTgt spid="46">
                                            <p:txEl>
                                              <p:pRg st="0" end="0"/>
                                            </p:txEl>
                                          </p:spTgt>
                                        </p:tgtEl>
                                      </p:cBhvr>
                                    </p:animEffect>
                                    <p:anim calcmode="lin" valueType="num">
                                      <p:cBhvr>
                                        <p:cTn id="11" dur="400" fill="hold"/>
                                        <p:tgtEl>
                                          <p:spTgt spid="46">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46">
                                            <p:txEl>
                                              <p:pRg st="0" end="0"/>
                                            </p:txEl>
                                          </p:spTgt>
                                        </p:tgtEl>
                                        <p:attrNameLst>
                                          <p:attrName>ppt_y</p:attrName>
                                        </p:attrNameLst>
                                      </p:cBhvr>
                                      <p:tavLst>
                                        <p:tav tm="0">
                                          <p:val>
                                            <p:strVal val="#ppt_y+0.31"/>
                                          </p:val>
                                        </p:tav>
                                        <p:tav tm="100000">
                                          <p:val>
                                            <p:strVal val="#ppt_y+0.31"/>
                                          </p:val>
                                        </p:tav>
                                      </p:tavLst>
                                    </p:anim>
                                    <p:anim calcmode="lin" valueType="num">
                                      <p:cBhvr>
                                        <p:cTn id="13" dur="600" decel="50000" fill="hold">
                                          <p:stCondLst>
                                            <p:cond delay="400"/>
                                          </p:stCondLst>
                                        </p:cTn>
                                        <p:tgtEl>
                                          <p:spTgt spid="46">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4" dur="600" decel="50000" fill="hold">
                                          <p:stCondLst>
                                            <p:cond delay="400"/>
                                          </p:stCondLst>
                                        </p:cTn>
                                        <p:tgtEl>
                                          <p:spTgt spid="46">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3" presetClass="entr" presetSubtype="0" fill="hold" nodeType="clickEffect">
                                  <p:stCondLst>
                                    <p:cond delay="0"/>
                                  </p:stCondLst>
                                  <p:childTnLst>
                                    <p:set>
                                      <p:cBhvr>
                                        <p:cTn id="18" dur="1" fill="hold">
                                          <p:stCondLst>
                                            <p:cond delay="0"/>
                                          </p:stCondLst>
                                        </p:cTn>
                                        <p:tgtEl>
                                          <p:spTgt spid="46">
                                            <p:txEl>
                                              <p:pRg st="2" end="2"/>
                                            </p:txEl>
                                          </p:spTgt>
                                        </p:tgtEl>
                                        <p:attrNameLst>
                                          <p:attrName>style.visibility</p:attrName>
                                        </p:attrNameLst>
                                      </p:cBhvr>
                                      <p:to>
                                        <p:strVal val="visible"/>
                                      </p:to>
                                    </p:set>
                                    <p:animEffect transition="in" filter="fade">
                                      <p:cBhvr>
                                        <p:cTn id="19" dur="100"/>
                                        <p:tgtEl>
                                          <p:spTgt spid="46">
                                            <p:txEl>
                                              <p:pRg st="2" end="2"/>
                                            </p:txEl>
                                          </p:spTgt>
                                        </p:tgtEl>
                                      </p:cBhvr>
                                    </p:animEffect>
                                    <p:anim calcmode="lin" valueType="num">
                                      <p:cBhvr>
                                        <p:cTn id="20" dur="400" fill="hold"/>
                                        <p:tgtEl>
                                          <p:spTgt spid="46">
                                            <p:txEl>
                                              <p:pRg st="2" end="2"/>
                                            </p:txEl>
                                          </p:spTgt>
                                        </p:tgtEl>
                                        <p:attrNameLst>
                                          <p:attrName>ppt_x</p:attrName>
                                        </p:attrNameLst>
                                      </p:cBhvr>
                                      <p:tavLst>
                                        <p:tav tm="0">
                                          <p:val>
                                            <p:strVal val="#ppt_x"/>
                                          </p:val>
                                        </p:tav>
                                        <p:tav tm="100000">
                                          <p:val>
                                            <p:strVal val="#ppt_x"/>
                                          </p:val>
                                        </p:tav>
                                      </p:tavLst>
                                    </p:anim>
                                    <p:anim calcmode="lin" valueType="num">
                                      <p:cBhvr>
                                        <p:cTn id="21" dur="400" fill="hold"/>
                                        <p:tgtEl>
                                          <p:spTgt spid="46">
                                            <p:txEl>
                                              <p:pRg st="2" end="2"/>
                                            </p:txEl>
                                          </p:spTgt>
                                        </p:tgtEl>
                                        <p:attrNameLst>
                                          <p:attrName>ppt_y</p:attrName>
                                        </p:attrNameLst>
                                      </p:cBhvr>
                                      <p:tavLst>
                                        <p:tav tm="0">
                                          <p:val>
                                            <p:strVal val="#ppt_y+0.31"/>
                                          </p:val>
                                        </p:tav>
                                        <p:tav tm="100000">
                                          <p:val>
                                            <p:strVal val="#ppt_y+0.31"/>
                                          </p:val>
                                        </p:tav>
                                      </p:tavLst>
                                    </p:anim>
                                    <p:anim calcmode="lin" valueType="num">
                                      <p:cBhvr>
                                        <p:cTn id="22" dur="600" decel="50000" fill="hold">
                                          <p:stCondLst>
                                            <p:cond delay="400"/>
                                          </p:stCondLst>
                                        </p:cTn>
                                        <p:tgtEl>
                                          <p:spTgt spid="46">
                                            <p:txEl>
                                              <p:pRg st="2" end="2"/>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3" dur="600" decel="50000" fill="hold">
                                          <p:stCondLst>
                                            <p:cond delay="400"/>
                                          </p:stCondLst>
                                        </p:cTn>
                                        <p:tgtEl>
                                          <p:spTgt spid="46">
                                            <p:txEl>
                                              <p:pRg st="2" end="2"/>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46">
                                            <p:txEl>
                                              <p:pRg st="4" end="4"/>
                                            </p:txEl>
                                          </p:spTgt>
                                        </p:tgtEl>
                                        <p:attrNameLst>
                                          <p:attrName>style.visibility</p:attrName>
                                        </p:attrNameLst>
                                      </p:cBhvr>
                                      <p:to>
                                        <p:strVal val="visible"/>
                                      </p:to>
                                    </p:set>
                                    <p:animEffect transition="in" filter="fade">
                                      <p:cBhvr>
                                        <p:cTn id="28" dur="1000"/>
                                        <p:tgtEl>
                                          <p:spTgt spid="46">
                                            <p:txEl>
                                              <p:pRg st="4" end="4"/>
                                            </p:txEl>
                                          </p:spTgt>
                                        </p:tgtEl>
                                      </p:cBhvr>
                                    </p:animEffect>
                                    <p:anim calcmode="lin" valueType="num">
                                      <p:cBhvr>
                                        <p:cTn id="29" dur="1000" fill="hold"/>
                                        <p:tgtEl>
                                          <p:spTgt spid="46">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lnSpc>
                <a:spcPct val="90000"/>
              </a:lnSpc>
            </a:pPr>
            <a:r>
              <a:rPr lang="en-US">
                <a:ea typeface="ＭＳ Ｐゴシック" pitchFamily="34" charset="-128"/>
                <a:cs typeface="Arial" pitchFamily="34" charset="0"/>
              </a:rPr>
              <a:t>Need for Randomization</a:t>
            </a:r>
            <a:endParaRPr lang="en-US">
              <a:solidFill>
                <a:srgbClr val="33CCFF"/>
              </a:solidFill>
              <a:ea typeface="ＭＳ Ｐゴシック" pitchFamily="34" charset="-128"/>
              <a:cs typeface="Arial" pitchFamily="34" charset="0"/>
            </a:endParaRPr>
          </a:p>
        </p:txBody>
      </p:sp>
      <p:sp>
        <p:nvSpPr>
          <p:cNvPr id="3891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4893D470-07D3-4E63-BD01-AFB9323D0D22}" type="slidenum">
              <a:rPr lang="en-US" sz="1200">
                <a:solidFill>
                  <a:schemeClr val="accent1"/>
                </a:solidFill>
              </a:rPr>
              <a:pPr>
                <a:lnSpc>
                  <a:spcPct val="80000"/>
                </a:lnSpc>
              </a:pPr>
              <a:t>12</a:t>
            </a:fld>
            <a:endParaRPr lang="en-US" sz="1200">
              <a:solidFill>
                <a:schemeClr val="accent1"/>
              </a:solidFill>
            </a:endParaRPr>
          </a:p>
        </p:txBody>
      </p:sp>
      <p:sp>
        <p:nvSpPr>
          <p:cNvPr id="38915" name="Rectangle 1"/>
          <p:cNvSpPr>
            <a:spLocks noChangeArrowheads="1"/>
          </p:cNvSpPr>
          <p:nvPr/>
        </p:nvSpPr>
        <p:spPr bwMode="auto">
          <a:xfrm>
            <a:off x="174623" y="1346751"/>
            <a:ext cx="827722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sz="2000" dirty="0">
                <a:solidFill>
                  <a:srgbClr val="000000"/>
                </a:solidFill>
              </a:rPr>
              <a:t>The </a:t>
            </a:r>
            <a:r>
              <a:rPr lang="en-US" sz="2000" dirty="0"/>
              <a:t>remedy for confounding is to perform a </a:t>
            </a:r>
            <a:r>
              <a:rPr lang="en-US" sz="2000" b="1" dirty="0"/>
              <a:t>comparative experiment </a:t>
            </a:r>
            <a:r>
              <a:rPr lang="en-US" sz="2000" dirty="0"/>
              <a:t>in which some units receive one treatment and similar units receive another. Most well-designed experiments compare two or more treatments.</a:t>
            </a:r>
          </a:p>
          <a:p>
            <a:pPr algn="just" eaLnBrk="1" hangingPunct="1"/>
            <a:endParaRPr lang="en-US" sz="2000" dirty="0"/>
          </a:p>
          <a:p>
            <a:pPr algn="just" eaLnBrk="1" hangingPunct="1"/>
            <a:r>
              <a:rPr lang="en-US" sz="2000" dirty="0"/>
              <a:t>Comparison alone is not enough. If the treatments are given to groups that differ greatly, </a:t>
            </a:r>
            <a:r>
              <a:rPr lang="en-US" sz="2000" b="1" dirty="0"/>
              <a:t>bias </a:t>
            </a:r>
            <a:r>
              <a:rPr lang="en-US" sz="2000" dirty="0"/>
              <a:t>will result. The solution to the problem of bias is </a:t>
            </a:r>
            <a:r>
              <a:rPr lang="en-US" sz="2000" b="1" dirty="0"/>
              <a:t>random assignment</a:t>
            </a:r>
            <a:r>
              <a:rPr lang="en-US" sz="2000" dirty="0"/>
              <a:t>.</a:t>
            </a:r>
            <a:endParaRPr lang="en-US" sz="3600" dirty="0"/>
          </a:p>
          <a:p>
            <a:pPr eaLnBrk="1" hangingPunct="1"/>
            <a:endParaRPr lang="en-US" sz="2000" dirty="0">
              <a:solidFill>
                <a:srgbClr val="000000"/>
              </a:solidFill>
            </a:endParaRPr>
          </a:p>
        </p:txBody>
      </p:sp>
      <p:sp>
        <p:nvSpPr>
          <p:cNvPr id="6" name="TextBox 5"/>
          <p:cNvSpPr txBox="1">
            <a:spLocks noChangeArrowheads="1"/>
          </p:cNvSpPr>
          <p:nvPr/>
        </p:nvSpPr>
        <p:spPr bwMode="auto">
          <a:xfrm>
            <a:off x="257172" y="4306888"/>
            <a:ext cx="8194675" cy="10160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defRPr/>
            </a:pPr>
            <a:r>
              <a:rPr lang="en-US" altLang="en-US" sz="2000" dirty="0">
                <a:solidFill>
                  <a:srgbClr val="000000"/>
                </a:solidFill>
              </a:rPr>
              <a:t>In an </a:t>
            </a:r>
            <a:r>
              <a:rPr lang="en-US" altLang="en-US" sz="2000" dirty="0"/>
              <a:t>experiment, </a:t>
            </a:r>
            <a:r>
              <a:rPr lang="en-US" altLang="en-US" sz="2000" b="1" dirty="0"/>
              <a:t>random assignment </a:t>
            </a:r>
            <a:r>
              <a:rPr lang="en-US" altLang="en-US" sz="2000" dirty="0"/>
              <a:t>means that experimental units are assigned to treatments at random—that is, using some sort of chance process. </a:t>
            </a:r>
            <a:endParaRPr lang="en-US" alt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3" y="153988"/>
            <a:ext cx="7772400" cy="1143000"/>
          </a:xfrm>
        </p:spPr>
        <p:txBody>
          <a:bodyPr/>
          <a:lstStyle/>
          <a:p>
            <a:r>
              <a:rPr lang="en-US" dirty="0"/>
              <a:t>Randomized Comparative Experiments</a:t>
            </a:r>
          </a:p>
        </p:txBody>
      </p:sp>
      <p:sp>
        <p:nvSpPr>
          <p:cNvPr id="4" name="Slide Number Placeholder 3"/>
          <p:cNvSpPr>
            <a:spLocks noGrp="1"/>
          </p:cNvSpPr>
          <p:nvPr>
            <p:ph type="sldNum" sz="quarter" idx="12"/>
          </p:nvPr>
        </p:nvSpPr>
        <p:spPr/>
        <p:txBody>
          <a:bodyPr/>
          <a:lstStyle/>
          <a:p>
            <a:fld id="{BC3F43B1-2C8C-40C7-8E11-D55EE497CF20}" type="slidenum">
              <a:rPr lang="en-US" sz="1400" smtClean="0">
                <a:solidFill>
                  <a:schemeClr val="accent1"/>
                </a:solidFill>
              </a:rPr>
              <a:pPr/>
              <a:t>13</a:t>
            </a:fld>
            <a:endParaRPr lang="en-US" sz="1400" dirty="0">
              <a:solidFill>
                <a:schemeClr val="accent1"/>
              </a:solidFill>
            </a:endParaRPr>
          </a:p>
        </p:txBody>
      </p:sp>
      <p:sp>
        <p:nvSpPr>
          <p:cNvPr id="5" name="Content Placeholder 4"/>
          <p:cNvSpPr txBox="1">
            <a:spLocks noGrp="1" noChangeArrowheads="1"/>
          </p:cNvSpPr>
          <p:nvPr>
            <p:ph idx="4294967295"/>
          </p:nvPr>
        </p:nvSpPr>
        <p:spPr bwMode="auto">
          <a:xfrm>
            <a:off x="174622" y="1527375"/>
            <a:ext cx="8081965" cy="163195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dirty="0">
                <a:solidFill>
                  <a:srgbClr val="000000"/>
                </a:solidFill>
              </a:rPr>
              <a:t>In a </a:t>
            </a:r>
            <a:r>
              <a:rPr lang="en-US" altLang="en-US" sz="2000" b="1" dirty="0"/>
              <a:t>completely randomized design</a:t>
            </a:r>
            <a:r>
              <a:rPr lang="en-US" altLang="en-US" sz="2000" dirty="0"/>
              <a:t>, the treatments are assigned to all the experimental units completely by chance.</a:t>
            </a:r>
          </a:p>
          <a:p>
            <a:pPr eaLnBrk="1" hangingPunct="1">
              <a:defRPr/>
            </a:pPr>
            <a:r>
              <a:rPr lang="en-US" altLang="en-US" sz="2000" dirty="0"/>
              <a:t>Some experiments may include a </a:t>
            </a:r>
            <a:r>
              <a:rPr lang="en-US" altLang="en-US" sz="2000" b="1" dirty="0"/>
              <a:t>control group</a:t>
            </a:r>
            <a:r>
              <a:rPr lang="en-US" altLang="en-US" sz="2000" dirty="0"/>
              <a:t> that </a:t>
            </a:r>
            <a:r>
              <a:rPr lang="en-US" altLang="en-US" sz="2000" dirty="0">
                <a:solidFill>
                  <a:srgbClr val="000000"/>
                </a:solidFill>
              </a:rPr>
              <a:t>receives an inactive treatment or an existing baseline treatment.   </a:t>
            </a:r>
            <a:endParaRPr lang="en-US" altLang="en-US" sz="1000" dirty="0">
              <a:solidFill>
                <a:srgbClr val="000000"/>
              </a:solidFill>
            </a:endParaRPr>
          </a:p>
        </p:txBody>
      </p:sp>
      <p:grpSp>
        <p:nvGrpSpPr>
          <p:cNvPr id="24" name="Group 23" descr="The image shows a flow chart for a randomized comparative experiments. It shows two groups and two treatments. The random assignment can pass through group 1/treatment 1 or group 2/treatment 2, and finally their results are compared."/>
          <p:cNvGrpSpPr/>
          <p:nvPr/>
        </p:nvGrpSpPr>
        <p:grpSpPr>
          <a:xfrm>
            <a:off x="1006475" y="3354810"/>
            <a:ext cx="6769100" cy="3081337"/>
            <a:chOff x="1006475" y="3354810"/>
            <a:chExt cx="6769100" cy="3081337"/>
          </a:xfrm>
        </p:grpSpPr>
        <p:grpSp>
          <p:nvGrpSpPr>
            <p:cNvPr id="7" name="Group 20"/>
            <p:cNvGrpSpPr>
              <a:grpSpLocks/>
            </p:cNvGrpSpPr>
            <p:nvPr/>
          </p:nvGrpSpPr>
          <p:grpSpPr bwMode="auto">
            <a:xfrm>
              <a:off x="1006475" y="4318422"/>
              <a:ext cx="2387600" cy="1009650"/>
              <a:chOff x="1701800" y="4337050"/>
              <a:chExt cx="2387600" cy="1009650"/>
            </a:xfrm>
          </p:grpSpPr>
          <p:sp>
            <p:nvSpPr>
              <p:cNvPr id="8" name="Explosion 1 7"/>
              <p:cNvSpPr>
                <a:spLocks noChangeArrowheads="1"/>
              </p:cNvSpPr>
              <p:nvPr/>
            </p:nvSpPr>
            <p:spPr bwMode="auto">
              <a:xfrm>
                <a:off x="2159000" y="4337050"/>
                <a:ext cx="1930400" cy="1009650"/>
              </a:xfrm>
              <a:prstGeom prst="irregularSeal1">
                <a:avLst/>
              </a:prstGeom>
              <a:solidFill>
                <a:srgbClr val="92D050"/>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r>
                  <a:rPr lang="en-US" sz="1200" b="1" dirty="0">
                    <a:solidFill>
                      <a:srgbClr val="000000"/>
                    </a:solidFill>
                    <a:latin typeface="+mn-lt"/>
                    <a:ea typeface="+mn-ea"/>
                  </a:rPr>
                  <a:t>Random assignment</a:t>
                </a:r>
              </a:p>
            </p:txBody>
          </p:sp>
          <p:sp>
            <p:nvSpPr>
              <p:cNvPr id="9" name="Right Arrow 8"/>
              <p:cNvSpPr/>
              <p:nvPr/>
            </p:nvSpPr>
            <p:spPr>
              <a:xfrm>
                <a:off x="1701800" y="4689475"/>
                <a:ext cx="508000" cy="3016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grpSp>
        <p:grpSp>
          <p:nvGrpSpPr>
            <p:cNvPr id="10" name="Group 21"/>
            <p:cNvGrpSpPr>
              <a:grpSpLocks/>
            </p:cNvGrpSpPr>
            <p:nvPr/>
          </p:nvGrpSpPr>
          <p:grpSpPr bwMode="auto">
            <a:xfrm>
              <a:off x="2352675" y="3394497"/>
              <a:ext cx="1619250" cy="3038475"/>
              <a:chOff x="3047999" y="3413125"/>
              <a:chExt cx="1619251" cy="3038475"/>
            </a:xfrm>
          </p:grpSpPr>
          <p:sp>
            <p:nvSpPr>
              <p:cNvPr id="11" name="Rounded Rectangle 10"/>
              <p:cNvSpPr>
                <a:spLocks noChangeArrowheads="1"/>
              </p:cNvSpPr>
              <p:nvPr/>
            </p:nvSpPr>
            <p:spPr bwMode="auto">
              <a:xfrm>
                <a:off x="3702049" y="3413125"/>
                <a:ext cx="952501" cy="749300"/>
              </a:xfrm>
              <a:prstGeom prst="roundRect">
                <a:avLst>
                  <a:gd name="adj" fmla="val 16667"/>
                </a:avLst>
              </a:prstGeom>
              <a:solidFill>
                <a:schemeClr val="accent1">
                  <a:lumMod val="40000"/>
                  <a:lumOff val="60000"/>
                </a:schemeClr>
              </a:solidFill>
              <a:ln w="10000">
                <a:solidFill>
                  <a:schemeClr val="accent1"/>
                </a:solidFill>
                <a:round/>
                <a:headEnd/>
                <a:tailEnd/>
              </a:ln>
              <a:effectLst>
                <a:outerShdw blurRad="38100" dist="30000" dir="5400000" rotWithShape="0">
                  <a:srgbClr val="808080">
                    <a:alpha val="45000"/>
                  </a:srgbClr>
                </a:outerShdw>
              </a:effectLst>
            </p:spPr>
            <p:txBody>
              <a:bodyPr anchor="ctr"/>
              <a:lstStyle/>
              <a:p>
                <a:pPr algn="ctr" eaLnBrk="1" hangingPunct="1">
                  <a:defRPr/>
                </a:pPr>
                <a:r>
                  <a:rPr lang="en-US" sz="1400" b="1" dirty="0">
                    <a:solidFill>
                      <a:srgbClr val="000000"/>
                    </a:solidFill>
                    <a:latin typeface="+mn-lt"/>
                    <a:ea typeface="+mn-ea"/>
                  </a:rPr>
                  <a:t>Group 1</a:t>
                </a:r>
              </a:p>
            </p:txBody>
          </p:sp>
          <p:sp>
            <p:nvSpPr>
              <p:cNvPr id="12" name="Rounded Rectangle 11"/>
              <p:cNvSpPr>
                <a:spLocks noChangeArrowheads="1"/>
              </p:cNvSpPr>
              <p:nvPr/>
            </p:nvSpPr>
            <p:spPr bwMode="auto">
              <a:xfrm>
                <a:off x="3714749" y="5702300"/>
                <a:ext cx="952501" cy="749300"/>
              </a:xfrm>
              <a:prstGeom prst="roundRect">
                <a:avLst>
                  <a:gd name="adj" fmla="val 16667"/>
                </a:avLst>
              </a:prstGeom>
              <a:solidFill>
                <a:schemeClr val="accent1">
                  <a:lumMod val="40000"/>
                  <a:lumOff val="60000"/>
                </a:schemeClr>
              </a:solidFill>
              <a:ln w="10000">
                <a:solidFill>
                  <a:schemeClr val="accent1"/>
                </a:solidFill>
                <a:round/>
                <a:headEnd/>
                <a:tailEnd/>
              </a:ln>
              <a:effectLst>
                <a:outerShdw blurRad="38100" dist="30000" dir="5400000" rotWithShape="0">
                  <a:srgbClr val="808080">
                    <a:alpha val="45000"/>
                  </a:srgbClr>
                </a:outerShdw>
              </a:effectLst>
            </p:spPr>
            <p:txBody>
              <a:bodyPr anchor="ctr"/>
              <a:lstStyle/>
              <a:p>
                <a:pPr algn="ctr" eaLnBrk="1" hangingPunct="1">
                  <a:defRPr/>
                </a:pPr>
                <a:r>
                  <a:rPr lang="en-US" sz="1400" b="1" dirty="0">
                    <a:solidFill>
                      <a:srgbClr val="000000"/>
                    </a:solidFill>
                    <a:latin typeface="+mn-lt"/>
                    <a:ea typeface="+mn-ea"/>
                  </a:rPr>
                  <a:t>Group 2</a:t>
                </a:r>
              </a:p>
            </p:txBody>
          </p:sp>
          <p:sp>
            <p:nvSpPr>
              <p:cNvPr id="13" name="Right Arrow 12"/>
              <p:cNvSpPr/>
              <p:nvPr/>
            </p:nvSpPr>
            <p:spPr>
              <a:xfrm rot="18948850">
                <a:off x="3047999" y="3954900"/>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14" name="Right Arrow 13"/>
              <p:cNvSpPr/>
              <p:nvPr/>
            </p:nvSpPr>
            <p:spPr>
              <a:xfrm rot="2827266">
                <a:off x="3071340" y="5625753"/>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grpSp>
        <p:grpSp>
          <p:nvGrpSpPr>
            <p:cNvPr id="15" name="Group 22"/>
            <p:cNvGrpSpPr>
              <a:grpSpLocks/>
            </p:cNvGrpSpPr>
            <p:nvPr/>
          </p:nvGrpSpPr>
          <p:grpSpPr bwMode="auto">
            <a:xfrm>
              <a:off x="4022725" y="3354810"/>
              <a:ext cx="1822450" cy="3081337"/>
              <a:chOff x="4718050" y="3372724"/>
              <a:chExt cx="1822450" cy="3081360"/>
            </a:xfrm>
          </p:grpSpPr>
          <p:sp>
            <p:nvSpPr>
              <p:cNvPr id="16" name="Right Arrow 15"/>
              <p:cNvSpPr/>
              <p:nvPr/>
            </p:nvSpPr>
            <p:spPr>
              <a:xfrm>
                <a:off x="4718050" y="3628311"/>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17" name="Right Arrow 16"/>
              <p:cNvSpPr/>
              <p:nvPr/>
            </p:nvSpPr>
            <p:spPr>
              <a:xfrm>
                <a:off x="4718050" y="5960371"/>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18" name="Rounded Rectangle 17"/>
              <p:cNvSpPr/>
              <p:nvPr/>
            </p:nvSpPr>
            <p:spPr>
              <a:xfrm>
                <a:off x="5422900" y="3372724"/>
                <a:ext cx="1117600" cy="749300"/>
              </a:xfrm>
              <a:prstGeom prst="roundRect">
                <a:avLst/>
              </a:prstGeom>
              <a:solidFill>
                <a:schemeClr val="accent3">
                  <a:lumMod val="20000"/>
                  <a:lumOff val="80000"/>
                </a:schemeClr>
              </a:solidFill>
            </p:spPr>
            <p:style>
              <a:lnRef idx="0">
                <a:schemeClr val="accent3"/>
              </a:lnRef>
              <a:fillRef idx="3">
                <a:schemeClr val="accent3"/>
              </a:fillRef>
              <a:effectRef idx="3">
                <a:schemeClr val="accent3"/>
              </a:effectRef>
              <a:fontRef idx="minor">
                <a:schemeClr val="lt1"/>
              </a:fontRef>
            </p:style>
            <p:txBody>
              <a:bodyPr anchor="ctr"/>
              <a:lstStyle/>
              <a:p>
                <a:pPr algn="ctr" eaLnBrk="1" hangingPunct="1">
                  <a:defRPr/>
                </a:pPr>
                <a:r>
                  <a:rPr lang="en-US" sz="1400" b="1" dirty="0">
                    <a:solidFill>
                      <a:srgbClr val="000000"/>
                    </a:solidFill>
                  </a:rPr>
                  <a:t>Treatment 1</a:t>
                </a:r>
              </a:p>
            </p:txBody>
          </p:sp>
          <p:sp>
            <p:nvSpPr>
              <p:cNvPr id="19" name="Rounded Rectangle 18"/>
              <p:cNvSpPr/>
              <p:nvPr/>
            </p:nvSpPr>
            <p:spPr>
              <a:xfrm>
                <a:off x="5422900" y="5704784"/>
                <a:ext cx="1117600" cy="749300"/>
              </a:xfrm>
              <a:prstGeom prst="roundRect">
                <a:avLst/>
              </a:prstGeom>
              <a:solidFill>
                <a:srgbClr val="FFF5CC"/>
              </a:solidFill>
            </p:spPr>
            <p:style>
              <a:lnRef idx="0">
                <a:schemeClr val="accent3"/>
              </a:lnRef>
              <a:fillRef idx="3">
                <a:schemeClr val="accent3"/>
              </a:fillRef>
              <a:effectRef idx="3">
                <a:schemeClr val="accent3"/>
              </a:effectRef>
              <a:fontRef idx="minor">
                <a:schemeClr val="lt1"/>
              </a:fontRef>
            </p:style>
            <p:txBody>
              <a:bodyPr anchor="ctr"/>
              <a:lstStyle/>
              <a:p>
                <a:pPr algn="ctr" eaLnBrk="1" hangingPunct="1">
                  <a:defRPr/>
                </a:pPr>
                <a:r>
                  <a:rPr lang="en-US" sz="1400" b="1" dirty="0">
                    <a:solidFill>
                      <a:srgbClr val="000000"/>
                    </a:solidFill>
                  </a:rPr>
                  <a:t>Treatment 2</a:t>
                </a:r>
              </a:p>
            </p:txBody>
          </p:sp>
        </p:grpSp>
        <p:grpSp>
          <p:nvGrpSpPr>
            <p:cNvPr id="20" name="Group 23"/>
            <p:cNvGrpSpPr>
              <a:grpSpLocks/>
            </p:cNvGrpSpPr>
            <p:nvPr/>
          </p:nvGrpSpPr>
          <p:grpSpPr bwMode="auto">
            <a:xfrm>
              <a:off x="5792788" y="3597697"/>
              <a:ext cx="1982787" cy="2392363"/>
              <a:chOff x="6487475" y="3616854"/>
              <a:chExt cx="1983425" cy="2391580"/>
            </a:xfrm>
          </p:grpSpPr>
          <p:sp>
            <p:nvSpPr>
              <p:cNvPr id="21" name="Right Arrow 20"/>
              <p:cNvSpPr/>
              <p:nvPr/>
            </p:nvSpPr>
            <p:spPr>
              <a:xfrm rot="18948850">
                <a:off x="6487475" y="5770309"/>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22" name="Right Arrow 21"/>
              <p:cNvSpPr/>
              <p:nvPr/>
            </p:nvSpPr>
            <p:spPr>
              <a:xfrm rot="2827266">
                <a:off x="6495890" y="3843866"/>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23" name="Folded Corner 22"/>
              <p:cNvSpPr/>
              <p:nvPr/>
            </p:nvSpPr>
            <p:spPr>
              <a:xfrm>
                <a:off x="7226300" y="4122024"/>
                <a:ext cx="1244600" cy="1577284"/>
              </a:xfrm>
              <a:prstGeom prst="foldedCorner">
                <a:avLst/>
              </a:prstGeom>
              <a:solidFill>
                <a:srgbClr val="EEEFD6"/>
              </a:solidFill>
            </p:spPr>
            <p:style>
              <a:lnRef idx="0">
                <a:schemeClr val="accent4"/>
              </a:lnRef>
              <a:fillRef idx="3">
                <a:schemeClr val="accent4"/>
              </a:fillRef>
              <a:effectRef idx="3">
                <a:schemeClr val="accent4"/>
              </a:effectRef>
              <a:fontRef idx="minor">
                <a:schemeClr val="lt1"/>
              </a:fontRef>
            </p:style>
            <p:txBody>
              <a:bodyPr anchor="ctr"/>
              <a:lstStyle/>
              <a:p>
                <a:pPr algn="ctr" eaLnBrk="1" hangingPunct="1">
                  <a:defRPr/>
                </a:pPr>
                <a:r>
                  <a:rPr lang="en-US" b="1" dirty="0">
                    <a:solidFill>
                      <a:srgbClr val="000000"/>
                    </a:solidFill>
                  </a:rPr>
                  <a:t>Compare results</a:t>
                </a:r>
              </a:p>
            </p:txBody>
          </p:sp>
        </p:grpSp>
      </p:grpSp>
    </p:spTree>
    <p:extLst>
      <p:ext uri="{BB962C8B-B14F-4D97-AF65-F5344CB8AC3E}">
        <p14:creationId xmlns:p14="http://schemas.microsoft.com/office/powerpoint/2010/main" val="3082741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dirty="0">
                <a:ea typeface="ＭＳ Ｐゴシック" pitchFamily="34" charset="-128"/>
              </a:rPr>
              <a:t>How to Randomize</a:t>
            </a:r>
          </a:p>
        </p:txBody>
      </p:sp>
      <p:sp>
        <p:nvSpPr>
          <p:cNvPr id="4096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EF79702-A375-419C-86CA-15812AF7A685}" type="slidenum">
              <a:rPr lang="en-US" sz="1400">
                <a:solidFill>
                  <a:schemeClr val="accent1"/>
                </a:solidFill>
              </a:rPr>
              <a:pPr/>
              <a:t>14</a:t>
            </a:fld>
            <a:endParaRPr lang="en-US" sz="1400">
              <a:solidFill>
                <a:schemeClr val="accent1"/>
              </a:solidFill>
            </a:endParaRPr>
          </a:p>
        </p:txBody>
      </p:sp>
      <p:sp>
        <p:nvSpPr>
          <p:cNvPr id="40961" name="Rectangle 3"/>
          <p:cNvSpPr>
            <a:spLocks noGrp="1" noChangeArrowheads="1"/>
          </p:cNvSpPr>
          <p:nvPr>
            <p:ph type="body" sz="half" idx="4294967295"/>
          </p:nvPr>
        </p:nvSpPr>
        <p:spPr>
          <a:xfrm>
            <a:off x="174622" y="1053737"/>
            <a:ext cx="8459423" cy="1378631"/>
          </a:xfrm>
        </p:spPr>
        <p:txBody>
          <a:bodyPr/>
          <a:lstStyle/>
          <a:p>
            <a:pPr marL="0" indent="0" algn="just" eaLnBrk="1" hangingPunct="1">
              <a:buFont typeface="Wingdings" pitchFamily="2" charset="2"/>
              <a:buNone/>
            </a:pPr>
            <a:r>
              <a:rPr lang="en-US" dirty="0">
                <a:solidFill>
                  <a:schemeClr val="tx1"/>
                </a:solidFill>
                <a:ea typeface="ＭＳ Ｐゴシック" pitchFamily="34" charset="-128"/>
              </a:rPr>
              <a:t>One way to </a:t>
            </a:r>
            <a:r>
              <a:rPr lang="en-US" b="1" dirty="0">
                <a:solidFill>
                  <a:schemeClr val="tx1"/>
                </a:solidFill>
                <a:ea typeface="ＭＳ Ｐゴシック" pitchFamily="34" charset="-128"/>
              </a:rPr>
              <a:t>randomize</a:t>
            </a:r>
            <a:r>
              <a:rPr lang="en-US" dirty="0">
                <a:solidFill>
                  <a:schemeClr val="tx1"/>
                </a:solidFill>
                <a:ea typeface="ＭＳ Ｐゴシック" pitchFamily="34" charset="-128"/>
              </a:rPr>
              <a:t> an experiment is to rely on </a:t>
            </a:r>
            <a:r>
              <a:rPr lang="en-US" b="1" dirty="0">
                <a:solidFill>
                  <a:schemeClr val="tx1"/>
                </a:solidFill>
                <a:ea typeface="ＭＳ Ｐゴシック" pitchFamily="34" charset="-128"/>
              </a:rPr>
              <a:t>random digits</a:t>
            </a:r>
            <a:r>
              <a:rPr lang="en-US" dirty="0">
                <a:solidFill>
                  <a:schemeClr val="tx1"/>
                </a:solidFill>
                <a:ea typeface="ＭＳ Ｐゴシック" pitchFamily="34" charset="-128"/>
              </a:rPr>
              <a:t> to make choices in a neutral way. We can use a table of random digits (such as Table B) or the random sampling function provided by most statistical software. </a:t>
            </a:r>
          </a:p>
        </p:txBody>
      </p:sp>
      <p:sp>
        <p:nvSpPr>
          <p:cNvPr id="1266692" name="Rectangle 4"/>
          <p:cNvSpPr>
            <a:spLocks noChangeArrowheads="1"/>
          </p:cNvSpPr>
          <p:nvPr/>
        </p:nvSpPr>
        <p:spPr bwMode="auto">
          <a:xfrm>
            <a:off x="174623" y="2638425"/>
            <a:ext cx="8459422" cy="3673475"/>
          </a:xfrm>
          <a:prstGeom prst="rect">
            <a:avLst/>
          </a:prstGeom>
          <a:solidFill>
            <a:srgbClr val="FFD780"/>
          </a:solidFill>
          <a:ln>
            <a:noFill/>
          </a:ln>
          <a:effectLst>
            <a:outerShdw blurRad="50800" dist="38100" dir="2700000" rotWithShape="0">
              <a:srgbClr val="808080">
                <a:alpha val="42998"/>
              </a:srgbClr>
            </a:outerShdw>
          </a:effectLst>
        </p:spPr>
        <p:txBody>
          <a:bodyPr/>
          <a:lstStyle/>
          <a:p>
            <a:pPr algn="ctr" eaLnBrk="1" hangingPunct="1">
              <a:lnSpc>
                <a:spcPct val="110000"/>
              </a:lnSpc>
              <a:spcBef>
                <a:spcPct val="20000"/>
              </a:spcBef>
              <a:spcAft>
                <a:spcPct val="50000"/>
              </a:spcAft>
              <a:buClr>
                <a:srgbClr val="00CC99"/>
              </a:buClr>
              <a:buSzPct val="65000"/>
              <a:buFont typeface="Wingdings" pitchFamily="2" charset="2"/>
              <a:buNone/>
            </a:pPr>
            <a:r>
              <a:rPr lang="en-US" sz="2000" b="1" dirty="0"/>
              <a:t>How to Randomly Choose </a:t>
            </a:r>
            <a:r>
              <a:rPr lang="en-US" sz="2000" b="1" i="1" dirty="0"/>
              <a:t>n</a:t>
            </a:r>
            <a:r>
              <a:rPr lang="en-US" sz="2000" b="1" dirty="0"/>
              <a:t> Individuals from a Group of </a:t>
            </a:r>
            <a:r>
              <a:rPr lang="en-US" sz="2000" b="1" i="1" dirty="0"/>
              <a:t>N</a:t>
            </a:r>
            <a:endParaRPr lang="en-US" sz="2000" b="1" dirty="0"/>
          </a:p>
          <a:p>
            <a:pPr marL="565150" lvl="1" indent="-325438" algn="just" eaLnBrk="1" hangingPunct="1">
              <a:lnSpc>
                <a:spcPct val="110000"/>
              </a:lnSpc>
              <a:spcBef>
                <a:spcPct val="20000"/>
              </a:spcBef>
              <a:spcAft>
                <a:spcPct val="35000"/>
              </a:spcAft>
              <a:buClr>
                <a:schemeClr val="accent1"/>
              </a:buClr>
              <a:buSzPct val="100000"/>
              <a:buFont typeface="Wingdings" pitchFamily="2" charset="2"/>
              <a:buChar char="§"/>
            </a:pPr>
            <a:r>
              <a:rPr lang="en-US" dirty="0"/>
              <a:t>First, label each of the </a:t>
            </a:r>
            <a:r>
              <a:rPr lang="en-US" i="1" dirty="0"/>
              <a:t>N</a:t>
            </a:r>
            <a:r>
              <a:rPr lang="en-US" dirty="0"/>
              <a:t> individuals with a number (typically from 1 to </a:t>
            </a:r>
            <a:r>
              <a:rPr lang="en-US" i="1" dirty="0"/>
              <a:t>N</a:t>
            </a:r>
            <a:r>
              <a:rPr lang="en-US" dirty="0"/>
              <a:t> or from 0 to </a:t>
            </a:r>
            <a:r>
              <a:rPr lang="en-US" i="1" dirty="0"/>
              <a:t>N </a:t>
            </a:r>
            <a:r>
              <a:rPr lang="en-US" dirty="0">
                <a:cs typeface="Arial" pitchFamily="34" charset="0"/>
              </a:rPr>
              <a:t>− </a:t>
            </a:r>
            <a:r>
              <a:rPr lang="en-US" dirty="0"/>
              <a:t>1).</a:t>
            </a:r>
          </a:p>
          <a:p>
            <a:pPr marL="565150" lvl="1" indent="-325438" algn="just" eaLnBrk="1" hangingPunct="1">
              <a:lnSpc>
                <a:spcPct val="110000"/>
              </a:lnSpc>
              <a:spcBef>
                <a:spcPct val="20000"/>
              </a:spcBef>
              <a:spcAft>
                <a:spcPct val="35000"/>
              </a:spcAft>
              <a:buClr>
                <a:schemeClr val="accent1"/>
              </a:buClr>
              <a:buSzPct val="100000"/>
              <a:buFont typeface="Wingdings" pitchFamily="2" charset="2"/>
              <a:buChar char="§"/>
            </a:pPr>
            <a:r>
              <a:rPr lang="en-US" dirty="0"/>
              <a:t>Imagine writing the whole numbers from 1 to </a:t>
            </a:r>
            <a:r>
              <a:rPr lang="en-US" i="1" dirty="0"/>
              <a:t>N</a:t>
            </a:r>
            <a:r>
              <a:rPr lang="en-US" dirty="0"/>
              <a:t> on separate pieces of paper. Now put all the numbers in a hat.</a:t>
            </a:r>
          </a:p>
          <a:p>
            <a:pPr marL="565150" lvl="1" indent="-325438" algn="just" eaLnBrk="1" hangingPunct="1">
              <a:lnSpc>
                <a:spcPct val="110000"/>
              </a:lnSpc>
              <a:spcBef>
                <a:spcPct val="20000"/>
              </a:spcBef>
              <a:spcAft>
                <a:spcPct val="35000"/>
              </a:spcAft>
              <a:buClr>
                <a:schemeClr val="accent1"/>
              </a:buClr>
              <a:buSzPct val="100000"/>
              <a:buFont typeface="Wingdings" pitchFamily="2" charset="2"/>
              <a:buChar char="§"/>
            </a:pPr>
            <a:r>
              <a:rPr lang="en-US" dirty="0"/>
              <a:t>Mix up the numbers and randomly select one.   </a:t>
            </a:r>
          </a:p>
          <a:p>
            <a:pPr marL="565150" lvl="1" indent="-325438" algn="just" eaLnBrk="1" hangingPunct="1">
              <a:lnSpc>
                <a:spcPct val="110000"/>
              </a:lnSpc>
              <a:spcBef>
                <a:spcPct val="20000"/>
              </a:spcBef>
              <a:spcAft>
                <a:spcPct val="35000"/>
              </a:spcAft>
              <a:buClr>
                <a:schemeClr val="accent1"/>
              </a:buClr>
              <a:buSzPct val="100000"/>
              <a:buFont typeface="Wingdings" pitchFamily="2" charset="2"/>
              <a:buChar char="§"/>
            </a:pPr>
            <a:r>
              <a:rPr lang="en-US" dirty="0"/>
              <a:t>Mix up the remaining </a:t>
            </a:r>
            <a:r>
              <a:rPr lang="en-US" i="1" dirty="0"/>
              <a:t>N</a:t>
            </a:r>
            <a:r>
              <a:rPr lang="en-US" dirty="0"/>
              <a:t> </a:t>
            </a:r>
            <a:r>
              <a:rPr lang="en-US" dirty="0">
                <a:cs typeface="Arial" pitchFamily="34" charset="0"/>
              </a:rPr>
              <a:t>− </a:t>
            </a:r>
            <a:r>
              <a:rPr lang="en-US" dirty="0"/>
              <a:t>1 numbers and randomly select one of them.</a:t>
            </a:r>
          </a:p>
          <a:p>
            <a:pPr marL="565150" lvl="1" indent="-325438" algn="just" eaLnBrk="1" hangingPunct="1">
              <a:lnSpc>
                <a:spcPct val="110000"/>
              </a:lnSpc>
              <a:spcBef>
                <a:spcPct val="20000"/>
              </a:spcBef>
              <a:spcAft>
                <a:spcPct val="35000"/>
              </a:spcAft>
              <a:buClr>
                <a:schemeClr val="accent1"/>
              </a:buClr>
              <a:buSzPct val="100000"/>
              <a:buFont typeface="Wingdings" pitchFamily="2" charset="2"/>
              <a:buChar char="§"/>
            </a:pPr>
            <a:r>
              <a:rPr lang="en-US" dirty="0"/>
              <a:t>Continue in this way until you have your sample of </a:t>
            </a:r>
            <a:r>
              <a:rPr lang="en-US" i="1" dirty="0"/>
              <a:t>n</a:t>
            </a:r>
            <a:r>
              <a:rPr lang="en-US" dirty="0"/>
              <a:t> numbers. Statistical software can do this for you.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6692">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66692">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66692">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66692">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66692">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66692">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6669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6692" grpId="0" build="p" bldLvl="2"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Principles of Experimental Design</a:t>
            </a:r>
          </a:p>
        </p:txBody>
      </p:sp>
      <p:sp>
        <p:nvSpPr>
          <p:cNvPr id="4300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B125E84-8CDD-4234-80CD-492F17B04144}" type="slidenum">
              <a:rPr lang="en-US" sz="1200">
                <a:solidFill>
                  <a:schemeClr val="accent1"/>
                </a:solidFill>
              </a:rPr>
              <a:pPr>
                <a:lnSpc>
                  <a:spcPct val="80000"/>
                </a:lnSpc>
              </a:pPr>
              <a:t>15</a:t>
            </a:fld>
            <a:endParaRPr lang="en-US" sz="1200">
              <a:solidFill>
                <a:schemeClr val="accent1"/>
              </a:solidFill>
            </a:endParaRPr>
          </a:p>
        </p:txBody>
      </p:sp>
      <p:sp>
        <p:nvSpPr>
          <p:cNvPr id="43011" name="Rectangle 1"/>
          <p:cNvSpPr>
            <a:spLocks noChangeArrowheads="1"/>
          </p:cNvSpPr>
          <p:nvPr/>
        </p:nvSpPr>
        <p:spPr bwMode="auto">
          <a:xfrm>
            <a:off x="174622" y="1026160"/>
            <a:ext cx="858361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Randomized comparative experiments are designed to provide good evidence that differences in the treatments actually cause the differences we see in the responses. </a:t>
            </a:r>
          </a:p>
        </p:txBody>
      </p:sp>
      <p:sp>
        <p:nvSpPr>
          <p:cNvPr id="6" name="TextBox 5"/>
          <p:cNvSpPr txBox="1">
            <a:spLocks noChangeArrowheads="1"/>
          </p:cNvSpPr>
          <p:nvPr/>
        </p:nvSpPr>
        <p:spPr bwMode="auto">
          <a:xfrm>
            <a:off x="304004" y="2228671"/>
            <a:ext cx="8324850" cy="240065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marL="342900" indent="-342900"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marL="0" indent="0" algn="ctr" eaLnBrk="1" hangingPunct="1">
              <a:spcAft>
                <a:spcPts val="1200"/>
              </a:spcAft>
              <a:defRPr/>
            </a:pPr>
            <a:r>
              <a:rPr lang="en-US" sz="2000" b="1" dirty="0"/>
              <a:t>Principles of Experimental Design</a:t>
            </a:r>
          </a:p>
          <a:p>
            <a:pPr eaLnBrk="1" hangingPunct="1">
              <a:spcAft>
                <a:spcPts val="1200"/>
              </a:spcAft>
              <a:buFontTx/>
              <a:buAutoNum type="arabicPeriod"/>
              <a:defRPr/>
            </a:pPr>
            <a:r>
              <a:rPr lang="en-US" altLang="en-US" sz="2000" b="1" dirty="0"/>
              <a:t>Control </a:t>
            </a:r>
            <a:r>
              <a:rPr lang="en-US" altLang="en-US" sz="2000" dirty="0"/>
              <a:t>for lurking variables that might affect the response, most simply by comparing two or more treatments. </a:t>
            </a:r>
          </a:p>
          <a:p>
            <a:pPr eaLnBrk="1" hangingPunct="1">
              <a:spcAft>
                <a:spcPts val="1200"/>
              </a:spcAft>
              <a:buFontTx/>
              <a:buAutoNum type="arabicPeriod"/>
              <a:defRPr/>
            </a:pPr>
            <a:r>
              <a:rPr lang="en-US" altLang="en-US" sz="2000" b="1" dirty="0"/>
              <a:t>Randomize:</a:t>
            </a:r>
            <a:r>
              <a:rPr lang="en-US" altLang="en-US" sz="2000" dirty="0"/>
              <a:t> Use chance to assign experimental units to treatments.  </a:t>
            </a:r>
          </a:p>
          <a:p>
            <a:pPr eaLnBrk="1" hangingPunct="1">
              <a:buFontTx/>
              <a:buAutoNum type="arabicPeriod"/>
              <a:defRPr/>
            </a:pPr>
            <a:r>
              <a:rPr lang="en-US" altLang="en-US" sz="2000" b="1" dirty="0"/>
              <a:t>Replication:</a:t>
            </a:r>
            <a:r>
              <a:rPr lang="en-US" altLang="en-US" sz="2000" dirty="0"/>
              <a:t> Use enough experimental units in each group to reduce chance variation in the results.</a:t>
            </a:r>
          </a:p>
        </p:txBody>
      </p:sp>
      <p:sp>
        <p:nvSpPr>
          <p:cNvPr id="8" name="TextBox 7"/>
          <p:cNvSpPr txBox="1">
            <a:spLocks noChangeArrowheads="1"/>
          </p:cNvSpPr>
          <p:nvPr/>
        </p:nvSpPr>
        <p:spPr bwMode="auto">
          <a:xfrm>
            <a:off x="304005" y="5169725"/>
            <a:ext cx="8324849" cy="1338828"/>
          </a:xfrm>
          <a:prstGeom prst="rect">
            <a:avLst/>
          </a:prstGeom>
          <a:solidFill>
            <a:srgbClr val="FFD780"/>
          </a:solidFill>
          <a:ln w="10000">
            <a:solidFill>
              <a:srgbClr val="B88472"/>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100" b="1" dirty="0">
                <a:highlight>
                  <a:srgbClr val="FFFF00"/>
                </a:highlight>
              </a:rPr>
              <a:t>In principle, experiments can give good evidence for causation. </a:t>
            </a:r>
          </a:p>
          <a:p>
            <a:pPr algn="ctr" eaLnBrk="1" hangingPunct="1">
              <a:defRPr/>
            </a:pPr>
            <a:endParaRPr lang="en-US" sz="2000" b="1" dirty="0">
              <a:solidFill>
                <a:srgbClr val="FF0000"/>
              </a:solidFill>
              <a:highlight>
                <a:srgbClr val="FFFF00"/>
              </a:highlight>
            </a:endParaRPr>
          </a:p>
          <a:p>
            <a:pPr algn="just" eaLnBrk="1" hangingPunct="1">
              <a:defRPr/>
            </a:pPr>
            <a:r>
              <a:rPr lang="en-US" sz="2000" dirty="0">
                <a:solidFill>
                  <a:srgbClr val="000000"/>
                </a:solidFill>
              </a:rPr>
              <a:t>We take the above steps to ensure that the only reasonable explanation for differences observed is that they were due to the treatment imposed.</a:t>
            </a:r>
            <a:endParaRPr lang="en-US" sz="20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1000"/>
                                        <p:tgtEl>
                                          <p:spTgt spid="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1000"/>
                                        <p:tgtEl>
                                          <p:spTgt spid="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dirty="0">
                <a:ea typeface="ＭＳ Ｐゴシック" pitchFamily="34" charset="-128"/>
              </a:rPr>
              <a:t>Cautions about Experimentation</a:t>
            </a:r>
          </a:p>
        </p:txBody>
      </p:sp>
      <p:sp>
        <p:nvSpPr>
          <p:cNvPr id="4403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45BF157-48A6-47A1-AB00-6FAEB5B23459}" type="slidenum">
              <a:rPr lang="en-US" sz="1200">
                <a:solidFill>
                  <a:schemeClr val="accent1"/>
                </a:solidFill>
              </a:rPr>
              <a:pPr>
                <a:lnSpc>
                  <a:spcPct val="80000"/>
                </a:lnSpc>
              </a:pPr>
              <a:t>16</a:t>
            </a:fld>
            <a:endParaRPr lang="en-US" sz="1200">
              <a:solidFill>
                <a:schemeClr val="accent1"/>
              </a:solidFill>
            </a:endParaRPr>
          </a:p>
        </p:txBody>
      </p:sp>
      <p:sp>
        <p:nvSpPr>
          <p:cNvPr id="44035" name="Rectangle 1"/>
          <p:cNvSpPr>
            <a:spLocks noChangeArrowheads="1"/>
          </p:cNvSpPr>
          <p:nvPr/>
        </p:nvSpPr>
        <p:spPr bwMode="auto">
          <a:xfrm>
            <a:off x="146050" y="1154113"/>
            <a:ext cx="84704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The logic of a randomized comparative experiment depends on our ability to treat all the subjects in exactly the same way, except for the actual treatments being compared. </a:t>
            </a:r>
          </a:p>
        </p:txBody>
      </p:sp>
      <p:sp>
        <p:nvSpPr>
          <p:cNvPr id="9" name="TextBox 8"/>
          <p:cNvSpPr txBox="1">
            <a:spLocks noChangeArrowheads="1"/>
          </p:cNvSpPr>
          <p:nvPr/>
        </p:nvSpPr>
        <p:spPr bwMode="auto">
          <a:xfrm>
            <a:off x="300036" y="2430463"/>
            <a:ext cx="8462964" cy="70788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In a </a:t>
            </a:r>
            <a:r>
              <a:rPr lang="en-US" altLang="en-US" sz="2000" b="1" dirty="0"/>
              <a:t>double-blind experiment</a:t>
            </a:r>
            <a:r>
              <a:rPr lang="en-US" altLang="en-US" sz="2000" dirty="0"/>
              <a:t>,</a:t>
            </a:r>
            <a:r>
              <a:rPr lang="en-US" altLang="en-US" sz="2000" b="1" dirty="0"/>
              <a:t> </a:t>
            </a:r>
            <a:r>
              <a:rPr lang="en-US" altLang="en-US" sz="2000" dirty="0">
                <a:solidFill>
                  <a:srgbClr val="000000"/>
                </a:solidFill>
              </a:rPr>
              <a:t>neither the subjects nor those with whom they interact know which treatment a subject received.</a:t>
            </a:r>
            <a:endParaRPr lang="en-US" altLang="en-US" sz="900" dirty="0">
              <a:solidFill>
                <a:srgbClr val="000000"/>
              </a:solidFill>
            </a:endParaRPr>
          </a:p>
        </p:txBody>
      </p:sp>
      <p:sp>
        <p:nvSpPr>
          <p:cNvPr id="38918" name="Rectangle 1"/>
          <p:cNvSpPr>
            <a:spLocks noChangeArrowheads="1"/>
          </p:cNvSpPr>
          <p:nvPr/>
        </p:nvSpPr>
        <p:spPr bwMode="auto">
          <a:xfrm>
            <a:off x="237329" y="3520936"/>
            <a:ext cx="847041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The most serious potential weakness of experiments is </a:t>
            </a:r>
            <a:r>
              <a:rPr lang="en-US" sz="2000" b="1" dirty="0"/>
              <a:t>lack of realism</a:t>
            </a:r>
            <a:r>
              <a:rPr lang="en-US" sz="2000" dirty="0">
                <a:solidFill>
                  <a:srgbClr val="000000"/>
                </a:solidFill>
              </a:rPr>
              <a:t>. That is, the subjects or treatments or setting of an experiment might not realistically duplicate the conditions we really want to study.</a:t>
            </a:r>
          </a:p>
          <a:p>
            <a:pPr algn="just" eaLnBrk="1" hangingPunct="1"/>
            <a:endParaRPr lang="en-US" sz="2000" dirty="0">
              <a:solidFill>
                <a:srgbClr val="000000"/>
              </a:solidFill>
            </a:endParaRPr>
          </a:p>
          <a:p>
            <a:pPr algn="just" eaLnBrk="1" hangingPunct="1"/>
            <a:r>
              <a:rPr lang="en-US" sz="2000" dirty="0">
                <a:solidFill>
                  <a:srgbClr val="000000"/>
                </a:solidFill>
                <a:cs typeface="ＭＳ Ｐゴシック" charset="0"/>
              </a:rPr>
              <a:t>Nonetheless, the random comparative experiment, because of its ability to give convincing evidence for causation, is one of the most important ideas in statistics.</a:t>
            </a:r>
          </a:p>
          <a:p>
            <a:pPr algn="just" eaLnBrk="1" hangingPunct="1"/>
            <a:endParaRPr lang="en-US" sz="20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7" presetClass="entr" presetSubtype="0" fill="hold" grpId="0"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transition="in" filter="fade">
                                      <p:cBhvr>
                                        <p:cTn id="12" dur="1000"/>
                                        <p:tgtEl>
                                          <p:spTgt spid="38918"/>
                                        </p:tgtEl>
                                      </p:cBhvr>
                                    </p:animEffect>
                                    <p:anim calcmode="lin" valueType="num">
                                      <p:cBhvr>
                                        <p:cTn id="13" dur="1000" fill="hold"/>
                                        <p:tgtEl>
                                          <p:spTgt spid="38918"/>
                                        </p:tgtEl>
                                        <p:attrNameLst>
                                          <p:attrName>ppt_x</p:attrName>
                                        </p:attrNameLst>
                                      </p:cBhvr>
                                      <p:tavLst>
                                        <p:tav tm="0">
                                          <p:val>
                                            <p:strVal val="#ppt_x"/>
                                          </p:val>
                                        </p:tav>
                                        <p:tav tm="100000">
                                          <p:val>
                                            <p:strVal val="#ppt_x"/>
                                          </p:val>
                                        </p:tav>
                                      </p:tavLst>
                                    </p:anim>
                                    <p:anim calcmode="lin" valueType="num">
                                      <p:cBhvr>
                                        <p:cTn id="14" dur="900" decel="100000" fill="hold"/>
                                        <p:tgtEl>
                                          <p:spTgt spid="38918"/>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3891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8918"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ea typeface="ＭＳ Ｐゴシック" pitchFamily="34" charset="-128"/>
              </a:rPr>
              <a:t>Matched Pairs</a:t>
            </a:r>
          </a:p>
        </p:txBody>
      </p:sp>
      <p:sp>
        <p:nvSpPr>
          <p:cNvPr id="450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0FF08C6-B9ED-4EFB-8B38-F75C2217EF3B}" type="slidenum">
              <a:rPr lang="en-US" sz="1200">
                <a:solidFill>
                  <a:schemeClr val="accent1"/>
                </a:solidFill>
              </a:rPr>
              <a:pPr>
                <a:lnSpc>
                  <a:spcPct val="80000"/>
                </a:lnSpc>
              </a:pPr>
              <a:t>17</a:t>
            </a:fld>
            <a:endParaRPr lang="en-US" sz="1200">
              <a:solidFill>
                <a:schemeClr val="accent1"/>
              </a:solidFill>
            </a:endParaRPr>
          </a:p>
        </p:txBody>
      </p:sp>
      <p:sp>
        <p:nvSpPr>
          <p:cNvPr id="45059" name="Rectangle 1"/>
          <p:cNvSpPr>
            <a:spLocks noChangeArrowheads="1"/>
          </p:cNvSpPr>
          <p:nvPr/>
        </p:nvSpPr>
        <p:spPr bwMode="auto">
          <a:xfrm>
            <a:off x="174623" y="1402862"/>
            <a:ext cx="8229600" cy="1631216"/>
          </a:xfrm>
          <a:prstGeom prst="rect">
            <a:avLst/>
          </a:prstGeom>
          <a:solidFill>
            <a:srgbClr val="FFD780"/>
          </a:solidFill>
          <a:ln>
            <a:noFill/>
          </a:ln>
        </p:spPr>
        <p:txBody>
          <a:bodyPr>
            <a:spAutoFit/>
          </a:bodyPr>
          <a:lstStyle/>
          <a:p>
            <a:pPr algn="just" eaLnBrk="1" hangingPunct="1"/>
            <a:r>
              <a:rPr lang="en-US" sz="2000" dirty="0">
                <a:solidFill>
                  <a:srgbClr val="000000"/>
                </a:solidFill>
              </a:rPr>
              <a:t>A common type of randomized </a:t>
            </a:r>
            <a:r>
              <a:rPr lang="en-US" sz="2000" i="1" dirty="0">
                <a:solidFill>
                  <a:srgbClr val="000000"/>
                </a:solidFill>
              </a:rPr>
              <a:t>block</a:t>
            </a:r>
            <a:r>
              <a:rPr lang="en-US" sz="2000" dirty="0">
                <a:solidFill>
                  <a:srgbClr val="000000"/>
                </a:solidFill>
              </a:rPr>
              <a:t> design for comparing two treatments is a </a:t>
            </a:r>
            <a:r>
              <a:rPr lang="en-US" sz="2000" b="1" dirty="0"/>
              <a:t>matched pairs design</a:t>
            </a:r>
            <a:r>
              <a:rPr lang="en-US" sz="2000" dirty="0"/>
              <a:t>. </a:t>
            </a:r>
          </a:p>
          <a:p>
            <a:pPr algn="just" eaLnBrk="1" hangingPunct="1"/>
            <a:endParaRPr lang="en-US" sz="2000" dirty="0">
              <a:solidFill>
                <a:srgbClr val="000000"/>
              </a:solidFill>
            </a:endParaRPr>
          </a:p>
          <a:p>
            <a:pPr algn="just" eaLnBrk="1" hangingPunct="1"/>
            <a:r>
              <a:rPr lang="en-US" sz="2000" dirty="0">
                <a:solidFill>
                  <a:srgbClr val="000000"/>
                </a:solidFill>
              </a:rPr>
              <a:t>The idea is to create blocks by matching pairs of similar experimental units.  </a:t>
            </a:r>
          </a:p>
        </p:txBody>
      </p:sp>
      <p:sp>
        <p:nvSpPr>
          <p:cNvPr id="7" name="TextBox 6"/>
          <p:cNvSpPr txBox="1">
            <a:spLocks noChangeArrowheads="1"/>
          </p:cNvSpPr>
          <p:nvPr/>
        </p:nvSpPr>
        <p:spPr bwMode="auto">
          <a:xfrm>
            <a:off x="174623" y="3452691"/>
            <a:ext cx="8229600" cy="286232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spcAft>
                <a:spcPts val="1200"/>
              </a:spcAft>
            </a:pPr>
            <a:r>
              <a:rPr lang="en-US" sz="2000" dirty="0">
                <a:solidFill>
                  <a:srgbClr val="000000"/>
                </a:solidFill>
              </a:rPr>
              <a:t>A </a:t>
            </a:r>
            <a:r>
              <a:rPr lang="en-US" sz="2000" b="1" dirty="0"/>
              <a:t>matched pairs design</a:t>
            </a:r>
            <a:r>
              <a:rPr lang="en-US" sz="2000" dirty="0"/>
              <a:t> is </a:t>
            </a:r>
            <a:r>
              <a:rPr lang="en-US" sz="2000" dirty="0">
                <a:solidFill>
                  <a:srgbClr val="000000"/>
                </a:solidFill>
              </a:rPr>
              <a:t>a randomized blocked experiment in which each block consists of a matching pair of similar experimental units. </a:t>
            </a:r>
          </a:p>
          <a:p>
            <a:pPr algn="just" eaLnBrk="1" hangingPunct="1">
              <a:spcAft>
                <a:spcPts val="1200"/>
              </a:spcAft>
            </a:pPr>
            <a:r>
              <a:rPr lang="en-US" sz="2000" dirty="0">
                <a:solidFill>
                  <a:srgbClr val="000000"/>
                </a:solidFill>
              </a:rPr>
              <a:t>Chance is used to determine which unit in each pair gets each treatment.</a:t>
            </a:r>
          </a:p>
          <a:p>
            <a:pPr algn="just" eaLnBrk="1" hangingPunct="1">
              <a:spcAft>
                <a:spcPts val="1200"/>
              </a:spcAft>
            </a:pPr>
            <a:r>
              <a:rPr lang="en-US" sz="2000" dirty="0">
                <a:solidFill>
                  <a:srgbClr val="000000"/>
                </a:solidFill>
              </a:rPr>
              <a:t>Sometimes, a </a:t>
            </a:r>
            <a:r>
              <a:rPr lang="ja-JP" altLang="en-US" sz="2000" dirty="0">
                <a:solidFill>
                  <a:srgbClr val="000000"/>
                </a:solidFill>
              </a:rPr>
              <a:t>“</a:t>
            </a:r>
            <a:r>
              <a:rPr lang="en-US" altLang="ja-JP" sz="2000" dirty="0">
                <a:solidFill>
                  <a:srgbClr val="000000"/>
                </a:solidFill>
              </a:rPr>
              <a:t>pair</a:t>
            </a:r>
            <a:r>
              <a:rPr lang="ja-JP" altLang="en-US" sz="2000" dirty="0">
                <a:solidFill>
                  <a:srgbClr val="000000"/>
                </a:solidFill>
              </a:rPr>
              <a:t>”</a:t>
            </a:r>
            <a:r>
              <a:rPr lang="en-US" altLang="ja-JP" sz="2000" dirty="0">
                <a:solidFill>
                  <a:srgbClr val="000000"/>
                </a:solidFill>
              </a:rPr>
              <a:t> in a matched pairs design consists of a single unit that receives both treatments. Because the order of the treatments can influence the response, chance is used to determine which treatment is applied first for each unit.</a:t>
            </a:r>
            <a:endParaRPr lang="en-US" sz="20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ea typeface="ＭＳ Ｐゴシック" pitchFamily="34" charset="-128"/>
              </a:rPr>
              <a:t>Blocked Designs</a:t>
            </a:r>
          </a:p>
        </p:txBody>
      </p:sp>
      <p:sp>
        <p:nvSpPr>
          <p:cNvPr id="460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441456D-DFB5-49DB-A121-9AFDE4CCCA00}" type="slidenum">
              <a:rPr lang="en-US" sz="1200">
                <a:solidFill>
                  <a:schemeClr val="accent1"/>
                </a:solidFill>
              </a:rPr>
              <a:pPr>
                <a:lnSpc>
                  <a:spcPct val="80000"/>
                </a:lnSpc>
              </a:pPr>
              <a:t>18</a:t>
            </a:fld>
            <a:endParaRPr lang="en-US" sz="1200">
              <a:solidFill>
                <a:schemeClr val="accent1"/>
              </a:solidFill>
            </a:endParaRPr>
          </a:p>
        </p:txBody>
      </p:sp>
      <p:sp>
        <p:nvSpPr>
          <p:cNvPr id="46083" name="Rectangle 1"/>
          <p:cNvSpPr>
            <a:spLocks noChangeArrowheads="1"/>
          </p:cNvSpPr>
          <p:nvPr/>
        </p:nvSpPr>
        <p:spPr bwMode="auto">
          <a:xfrm>
            <a:off x="174623" y="1304387"/>
            <a:ext cx="8229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sz="2000" dirty="0">
                <a:solidFill>
                  <a:srgbClr val="000000"/>
                </a:solidFill>
              </a:rPr>
              <a:t>Completely randomized designs are the simplest statistical designs for experiments. But, as with sampling, there are times when the simplest method does not yield the most precise results.</a:t>
            </a:r>
          </a:p>
        </p:txBody>
      </p:sp>
      <p:sp>
        <p:nvSpPr>
          <p:cNvPr id="10" name="TextBox 9"/>
          <p:cNvSpPr txBox="1">
            <a:spLocks noChangeArrowheads="1"/>
          </p:cNvSpPr>
          <p:nvPr/>
        </p:nvSpPr>
        <p:spPr bwMode="auto">
          <a:xfrm>
            <a:off x="309563" y="2536031"/>
            <a:ext cx="7947025" cy="178593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spcAft>
                <a:spcPts val="1200"/>
              </a:spcAft>
              <a:defRPr/>
            </a:pPr>
            <a:r>
              <a:rPr lang="en-US" altLang="en-US" sz="2000" dirty="0">
                <a:solidFill>
                  <a:srgbClr val="000000"/>
                </a:solidFill>
              </a:rPr>
              <a:t>A </a:t>
            </a:r>
            <a:r>
              <a:rPr lang="en-US" altLang="en-US" sz="2000" b="1" dirty="0"/>
              <a:t>block </a:t>
            </a:r>
            <a:r>
              <a:rPr lang="en-US" altLang="en-US" sz="2000" dirty="0"/>
              <a:t>is a group of experimental units that are known, before the experiment, to be similar in some way that is expected to affect the response to the treatments. </a:t>
            </a:r>
          </a:p>
          <a:p>
            <a:pPr algn="just" eaLnBrk="1" hangingPunct="1">
              <a:spcAft>
                <a:spcPts val="1200"/>
              </a:spcAft>
              <a:defRPr/>
            </a:pPr>
            <a:r>
              <a:rPr lang="en-US" altLang="en-US" sz="2000" dirty="0"/>
              <a:t>In a </a:t>
            </a:r>
            <a:r>
              <a:rPr lang="en-US" altLang="en-US" sz="2000" b="1" dirty="0"/>
              <a:t>block design</a:t>
            </a:r>
            <a:r>
              <a:rPr lang="en-US" altLang="en-US" sz="2000" dirty="0"/>
              <a:t>, the </a:t>
            </a:r>
            <a:r>
              <a:rPr lang="en-US" altLang="en-US" sz="2000" dirty="0">
                <a:solidFill>
                  <a:srgbClr val="000000"/>
                </a:solidFill>
              </a:rPr>
              <a:t>random assignment of experimental units to treatments is carried out separately within each block. </a:t>
            </a:r>
          </a:p>
        </p:txBody>
      </p:sp>
      <p:sp>
        <p:nvSpPr>
          <p:cNvPr id="11" name="Rectangle 10"/>
          <p:cNvSpPr>
            <a:spLocks noChangeArrowheads="1"/>
          </p:cNvSpPr>
          <p:nvPr/>
        </p:nvSpPr>
        <p:spPr bwMode="auto">
          <a:xfrm>
            <a:off x="309563" y="4607706"/>
            <a:ext cx="8056562"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spcAft>
                <a:spcPts val="600"/>
              </a:spcAft>
            </a:pPr>
            <a:r>
              <a:rPr lang="en-US" sz="2000" dirty="0"/>
              <a:t>Form blocks based on the most important unavoidable sources of variability (lurking variables) among the experimental units.</a:t>
            </a:r>
          </a:p>
          <a:p>
            <a:pPr algn="just" eaLnBrk="1" hangingPunct="1">
              <a:spcAft>
                <a:spcPts val="600"/>
              </a:spcAft>
            </a:pPr>
            <a:r>
              <a:rPr lang="en-US" sz="2000" dirty="0"/>
              <a:t>Randomization will average out the effects of the remaining lurking variables and allow an unbiased comparison of the treatments.</a:t>
            </a:r>
          </a:p>
          <a:p>
            <a:pPr algn="just" eaLnBrk="1" hangingPunct="1">
              <a:spcAft>
                <a:spcPts val="600"/>
              </a:spcAft>
            </a:pPr>
            <a:r>
              <a:rPr lang="en-US" sz="2000" b="1" i="1" dirty="0">
                <a:highlight>
                  <a:srgbClr val="FFFF00"/>
                </a:highlight>
              </a:rPr>
              <a:t>Control what you can, block what you cannot</a:t>
            </a:r>
            <a:r>
              <a:rPr lang="en-US" altLang="ja-JP" sz="2000" b="1" i="1" dirty="0">
                <a:highlight>
                  <a:srgbClr val="FFFF00"/>
                </a:highlight>
              </a:rPr>
              <a:t> control (that is, form blocks), and randomize to create comparable groups.</a:t>
            </a:r>
            <a:endParaRPr lang="en-US" sz="2000" b="1" i="1" dirty="0">
              <a:highlight>
                <a:srgbClr val="FFFF00"/>
              </a:highlight>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2"/>
          <p:cNvSpPr>
            <a:spLocks noGrp="1"/>
          </p:cNvSpPr>
          <p:nvPr>
            <p:ph type="title"/>
          </p:nvPr>
        </p:nvSpPr>
        <p:spPr>
          <a:xfrm>
            <a:off x="457200" y="316524"/>
            <a:ext cx="6508750" cy="826477"/>
          </a:xfrm>
        </p:spPr>
        <p:txBody>
          <a:bodyPr anchor="t"/>
          <a:lstStyle/>
          <a:p>
            <a:pPr eaLnBrk="1" hangingPunct="1"/>
            <a:r>
              <a:rPr lang="en-US" b="1">
                <a:ea typeface="ＭＳ Ｐゴシック" pitchFamily="34" charset="-128"/>
              </a:rPr>
              <a:t>3.3 Sampling Design</a:t>
            </a:r>
          </a:p>
        </p:txBody>
      </p:sp>
      <p:sp>
        <p:nvSpPr>
          <p:cNvPr id="48130" name="Text Placeholder 3"/>
          <p:cNvSpPr>
            <a:spLocks noGrp="1"/>
          </p:cNvSpPr>
          <p:nvPr>
            <p:ph idx="1"/>
          </p:nvPr>
        </p:nvSpPr>
        <p:spPr>
          <a:xfrm>
            <a:off x="457200" y="1470818"/>
            <a:ext cx="6508750" cy="3916363"/>
          </a:xfrm>
        </p:spPr>
        <p:txBody>
          <a:bodyPr/>
          <a:lstStyle/>
          <a:p>
            <a:pPr eaLnBrk="1" hangingPunct="1"/>
            <a:r>
              <a:rPr lang="en-US" sz="2400" dirty="0">
                <a:solidFill>
                  <a:srgbClr val="073779"/>
                </a:solidFill>
                <a:ea typeface="ＭＳ Ｐゴシック" pitchFamily="34" charset="-128"/>
              </a:rPr>
              <a:t>Population and sample</a:t>
            </a:r>
          </a:p>
          <a:p>
            <a:pPr eaLnBrk="1" hangingPunct="1"/>
            <a:r>
              <a:rPr lang="en-US" sz="2400" dirty="0">
                <a:solidFill>
                  <a:srgbClr val="073779"/>
                </a:solidFill>
                <a:ea typeface="ＭＳ Ｐゴシック" pitchFamily="34" charset="-128"/>
              </a:rPr>
              <a:t>Voluntary response sample</a:t>
            </a:r>
          </a:p>
          <a:p>
            <a:pPr eaLnBrk="1" hangingPunct="1"/>
            <a:r>
              <a:rPr lang="en-US" sz="2400" dirty="0">
                <a:solidFill>
                  <a:srgbClr val="073779"/>
                </a:solidFill>
                <a:ea typeface="ＭＳ Ｐゴシック" pitchFamily="34" charset="-128"/>
              </a:rPr>
              <a:t>Simple random sample</a:t>
            </a:r>
          </a:p>
          <a:p>
            <a:pPr eaLnBrk="1" hangingPunct="1"/>
            <a:r>
              <a:rPr lang="en-US" sz="2400" dirty="0">
                <a:solidFill>
                  <a:srgbClr val="073779"/>
                </a:solidFill>
                <a:ea typeface="ＭＳ Ｐゴシック" pitchFamily="34" charset="-128"/>
              </a:rPr>
              <a:t>Probability sample</a:t>
            </a:r>
          </a:p>
          <a:p>
            <a:pPr eaLnBrk="1" hangingPunct="1"/>
            <a:r>
              <a:rPr lang="en-US" sz="2400" dirty="0">
                <a:solidFill>
                  <a:srgbClr val="073779"/>
                </a:solidFill>
                <a:ea typeface="ＭＳ Ｐゴシック" pitchFamily="34" charset="-128"/>
              </a:rPr>
              <a:t>Stratified random sample</a:t>
            </a:r>
          </a:p>
          <a:p>
            <a:pPr eaLnBrk="1" hangingPunct="1"/>
            <a:r>
              <a:rPr lang="en-US" sz="2400" dirty="0">
                <a:solidFill>
                  <a:srgbClr val="073779"/>
                </a:solidFill>
                <a:ea typeface="ＭＳ Ｐゴシック" pitchFamily="34" charset="-128"/>
              </a:rPr>
              <a:t>Multistage sample</a:t>
            </a:r>
          </a:p>
          <a:p>
            <a:pPr eaLnBrk="1" hangingPunct="1"/>
            <a:r>
              <a:rPr lang="en-US" sz="2400" dirty="0">
                <a:solidFill>
                  <a:srgbClr val="073779"/>
                </a:solidFill>
                <a:ea typeface="ＭＳ Ｐゴシック" pitchFamily="34" charset="-128"/>
              </a:rPr>
              <a:t>Cautions about sampling</a:t>
            </a:r>
          </a:p>
        </p:txBody>
      </p:sp>
      <p:sp>
        <p:nvSpPr>
          <p:cNvPr id="48131"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7BFCA84-0718-45DA-B81D-1A2BC372DE90}" type="slidenum">
              <a:rPr lang="en-US" sz="1400">
                <a:solidFill>
                  <a:schemeClr val="accent1"/>
                </a:solidFill>
              </a:rPr>
              <a:pPr/>
              <a:t>19</a:t>
            </a:fld>
            <a:endParaRPr lang="en-US" sz="1400">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sz="4000" dirty="0">
                <a:ea typeface="ＭＳ Ｐゴシック" pitchFamily="34" charset="-128"/>
              </a:rPr>
              <a:t>Population and Sample</a:t>
            </a:r>
          </a:p>
        </p:txBody>
      </p:sp>
      <p:sp>
        <p:nvSpPr>
          <p:cNvPr id="491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51ED751F-2DCA-462B-A21C-80769CE43EB1}" type="slidenum">
              <a:rPr lang="en-US" sz="1200">
                <a:solidFill>
                  <a:srgbClr val="073779"/>
                </a:solidFill>
              </a:rPr>
              <a:pPr>
                <a:lnSpc>
                  <a:spcPct val="80000"/>
                </a:lnSpc>
              </a:pPr>
              <a:t>20</a:t>
            </a:fld>
            <a:endParaRPr lang="en-US" sz="1200">
              <a:solidFill>
                <a:srgbClr val="073779"/>
              </a:solidFill>
            </a:endParaRPr>
          </a:p>
        </p:txBody>
      </p:sp>
      <p:sp>
        <p:nvSpPr>
          <p:cNvPr id="49153" name="Rectangle 3"/>
          <p:cNvSpPr txBox="1">
            <a:spLocks noChangeArrowheads="1"/>
          </p:cNvSpPr>
          <p:nvPr/>
        </p:nvSpPr>
        <p:spPr bwMode="auto">
          <a:xfrm>
            <a:off x="174623" y="1073150"/>
            <a:ext cx="8196265" cy="988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1085850" indent="-3429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fontAlgn="base">
              <a:spcBef>
                <a:spcPts val="700"/>
              </a:spcBef>
              <a:spcAft>
                <a:spcPct val="0"/>
              </a:spcAft>
              <a:buClr>
                <a:srgbClr val="8FD9FB"/>
              </a:buClr>
              <a:buSzPct val="60000"/>
            </a:pPr>
            <a:r>
              <a:rPr lang="en-US" sz="2000" dirty="0">
                <a:solidFill>
                  <a:prstClr val="black"/>
                </a:solidFill>
                <a:cs typeface="Arial" pitchFamily="34" charset="0"/>
              </a:rPr>
              <a:t>The distinction between population and sample is basic to statistics. To make sense of any sample result, you must know what population the sample represents.</a:t>
            </a:r>
          </a:p>
          <a:p>
            <a:pPr lvl="1" fontAlgn="base">
              <a:spcBef>
                <a:spcPts val="700"/>
              </a:spcBef>
              <a:spcAft>
                <a:spcPct val="0"/>
              </a:spcAft>
              <a:buClr>
                <a:srgbClr val="8FD9FB"/>
              </a:buClr>
              <a:buSzPct val="60000"/>
            </a:pPr>
            <a:endParaRPr lang="en-US" sz="2000" dirty="0">
              <a:solidFill>
                <a:prstClr val="black"/>
              </a:solidFill>
              <a:cs typeface="Arial" pitchFamily="34" charset="0"/>
            </a:endParaRPr>
          </a:p>
          <a:p>
            <a:pPr fontAlgn="base">
              <a:spcBef>
                <a:spcPts val="700"/>
              </a:spcBef>
              <a:spcAft>
                <a:spcPct val="0"/>
              </a:spcAft>
              <a:buClr>
                <a:srgbClr val="8FD9FB"/>
              </a:buClr>
              <a:buSzPct val="60000"/>
            </a:pPr>
            <a:endParaRPr lang="en-US" sz="2000" dirty="0">
              <a:solidFill>
                <a:prstClr val="black"/>
              </a:solidFill>
              <a:cs typeface="Arial" pitchFamily="34" charset="0"/>
            </a:endParaRPr>
          </a:p>
        </p:txBody>
      </p:sp>
      <p:sp>
        <p:nvSpPr>
          <p:cNvPr id="6" name="TextBox 5"/>
          <p:cNvSpPr txBox="1">
            <a:spLocks noChangeArrowheads="1"/>
          </p:cNvSpPr>
          <p:nvPr/>
        </p:nvSpPr>
        <p:spPr bwMode="auto">
          <a:xfrm>
            <a:off x="257176" y="2200275"/>
            <a:ext cx="8113712" cy="20320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defTabSz="457200" eaLnBrk="1" fontAlgn="base" hangingPunct="1">
              <a:spcBef>
                <a:spcPct val="0"/>
              </a:spcBef>
              <a:spcAft>
                <a:spcPct val="0"/>
              </a:spcAft>
              <a:defRPr/>
            </a:pPr>
            <a:endParaRPr lang="en-US" altLang="en-US" sz="600" b="1" u="sng" dirty="0">
              <a:solidFill>
                <a:srgbClr val="E81F30"/>
              </a:solidFill>
            </a:endParaRPr>
          </a:p>
          <a:p>
            <a:pPr algn="just" defTabSz="457200" eaLnBrk="1" fontAlgn="base" hangingPunct="1">
              <a:spcBef>
                <a:spcPct val="0"/>
              </a:spcBef>
              <a:spcAft>
                <a:spcPct val="0"/>
              </a:spcAft>
              <a:defRPr/>
            </a:pPr>
            <a:r>
              <a:rPr lang="en-US" altLang="en-US" sz="2000" dirty="0">
                <a:solidFill>
                  <a:srgbClr val="000000"/>
                </a:solidFill>
              </a:rPr>
              <a:t>In a </a:t>
            </a:r>
            <a:r>
              <a:rPr lang="en-US" altLang="en-US" sz="2000" dirty="0"/>
              <a:t>statistical study, the </a:t>
            </a:r>
            <a:r>
              <a:rPr lang="en-US" altLang="en-US" sz="2000" b="1" dirty="0"/>
              <a:t>population </a:t>
            </a:r>
            <a:r>
              <a:rPr lang="en-US" altLang="en-US" sz="2000" dirty="0"/>
              <a:t>is the entire group of individuals about which we want information.</a:t>
            </a:r>
          </a:p>
          <a:p>
            <a:pPr defTabSz="457200" eaLnBrk="1" fontAlgn="base" hangingPunct="1">
              <a:spcBef>
                <a:spcPct val="0"/>
              </a:spcBef>
              <a:spcAft>
                <a:spcPct val="0"/>
              </a:spcAft>
              <a:defRPr/>
            </a:pPr>
            <a:endParaRPr lang="en-US" altLang="en-US" sz="2000" dirty="0"/>
          </a:p>
          <a:p>
            <a:pPr algn="just" defTabSz="457200" eaLnBrk="1" fontAlgn="base" hangingPunct="1">
              <a:spcBef>
                <a:spcPct val="0"/>
              </a:spcBef>
              <a:spcAft>
                <a:spcPct val="0"/>
              </a:spcAft>
              <a:defRPr/>
            </a:pPr>
            <a:r>
              <a:rPr lang="en-US" altLang="en-US" sz="2000" dirty="0"/>
              <a:t>A </a:t>
            </a:r>
            <a:r>
              <a:rPr lang="en-US" altLang="en-US" sz="2000" b="1" dirty="0"/>
              <a:t>sample </a:t>
            </a:r>
            <a:r>
              <a:rPr lang="en-US" altLang="en-US" sz="2000" dirty="0"/>
              <a:t>is </a:t>
            </a:r>
            <a:r>
              <a:rPr lang="en-US" altLang="en-US" sz="2000" dirty="0">
                <a:solidFill>
                  <a:srgbClr val="000000"/>
                </a:solidFill>
              </a:rPr>
              <a:t>the part of the population from which we actually collect information. We use information from a sample to draw conclusions about the entire population.</a:t>
            </a:r>
            <a:endParaRPr lang="en-US" altLang="en-US" sz="1000" b="1" dirty="0">
              <a:solidFill>
                <a:srgbClr val="000000"/>
              </a:solidFill>
            </a:endParaRPr>
          </a:p>
        </p:txBody>
      </p:sp>
      <p:sp>
        <p:nvSpPr>
          <p:cNvPr id="7" name="Rounded Rectangle 6"/>
          <p:cNvSpPr>
            <a:spLocks noChangeArrowheads="1"/>
          </p:cNvSpPr>
          <p:nvPr/>
        </p:nvSpPr>
        <p:spPr bwMode="auto">
          <a:xfrm>
            <a:off x="1105560" y="4370154"/>
            <a:ext cx="3435350" cy="2168525"/>
          </a:xfrm>
          <a:prstGeom prst="roundRect">
            <a:avLst>
              <a:gd name="adj" fmla="val 16667"/>
            </a:avLst>
          </a:prstGeom>
          <a:solidFill>
            <a:schemeClr val="accent1">
              <a:lumMod val="40000"/>
              <a:lumOff val="60000"/>
            </a:schemeClr>
          </a:solidFill>
          <a:ln w="10000">
            <a:solidFill>
              <a:srgbClr val="8590B1"/>
            </a:solidFill>
            <a:round/>
            <a:headEnd/>
            <a:tailEnd/>
          </a:ln>
          <a:effectLst>
            <a:outerShdw blurRad="38100" dist="30000" dir="5400000" rotWithShape="0">
              <a:srgbClr val="808080">
                <a:alpha val="45000"/>
              </a:srgbClr>
            </a:outerShdw>
          </a:effectLst>
        </p:spPr>
        <p:txBody>
          <a:bodyPr/>
          <a:lstStyle/>
          <a:p>
            <a:pPr defTabSz="457200">
              <a:defRPr/>
            </a:pPr>
            <a:r>
              <a:rPr lang="en-US" sz="2400" b="1" dirty="0">
                <a:solidFill>
                  <a:srgbClr val="000000"/>
                </a:solidFill>
                <a:ea typeface="ＭＳ Ｐゴシック" pitchFamily="34" charset="-128"/>
                <a:cs typeface="Arial"/>
              </a:rPr>
              <a:t>Population</a:t>
            </a:r>
          </a:p>
        </p:txBody>
      </p:sp>
      <p:sp>
        <p:nvSpPr>
          <p:cNvPr id="8" name="Oval 7"/>
          <p:cNvSpPr>
            <a:spLocks noChangeArrowheads="1"/>
          </p:cNvSpPr>
          <p:nvPr/>
        </p:nvSpPr>
        <p:spPr bwMode="auto">
          <a:xfrm>
            <a:off x="2446338" y="5011738"/>
            <a:ext cx="2100262" cy="885359"/>
          </a:xfrm>
          <a:prstGeom prst="ellipse">
            <a:avLst/>
          </a:prstGeom>
          <a:solidFill>
            <a:srgbClr val="D2DA7A"/>
          </a:solidFill>
          <a:ln w="10000">
            <a:solidFill>
              <a:srgbClr val="D2DA7A"/>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b="1" dirty="0">
                <a:solidFill>
                  <a:srgbClr val="000000"/>
                </a:solidFill>
                <a:cs typeface="Arial" charset="0"/>
              </a:rPr>
              <a:t>Sample</a:t>
            </a:r>
            <a:endParaRPr lang="en-US" altLang="en-US" sz="2800" b="1" dirty="0">
              <a:solidFill>
                <a:srgbClr val="000000"/>
              </a:solidFill>
              <a:cs typeface="Arial" charset="0"/>
            </a:endParaRPr>
          </a:p>
        </p:txBody>
      </p:sp>
      <p:sp>
        <p:nvSpPr>
          <p:cNvPr id="10" name="Curved Down Arrow 9" descr="Curved Down Arrow 9"/>
          <p:cNvSpPr/>
          <p:nvPr/>
        </p:nvSpPr>
        <p:spPr>
          <a:xfrm rot="20625499">
            <a:off x="3966452" y="4481723"/>
            <a:ext cx="2486484" cy="586182"/>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defTabSz="457200">
              <a:defRPr/>
            </a:pPr>
            <a:endParaRPr lang="en-US" dirty="0">
              <a:solidFill>
                <a:prstClr val="black"/>
              </a:solidFill>
              <a:cs typeface="Arial"/>
            </a:endParaRPr>
          </a:p>
        </p:txBody>
      </p:sp>
      <p:sp>
        <p:nvSpPr>
          <p:cNvPr id="11" name="TextBox 10"/>
          <p:cNvSpPr txBox="1">
            <a:spLocks noChangeArrowheads="1"/>
          </p:cNvSpPr>
          <p:nvPr/>
        </p:nvSpPr>
        <p:spPr bwMode="auto">
          <a:xfrm>
            <a:off x="5284788" y="4657725"/>
            <a:ext cx="3086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800" b="1">
                <a:solidFill>
                  <a:prstClr val="black"/>
                </a:solidFill>
                <a:cs typeface="Arial" pitchFamily="34" charset="0"/>
              </a:rPr>
              <a:t>Collect data </a:t>
            </a:r>
            <a:r>
              <a:rPr lang="en-US" sz="1800">
                <a:solidFill>
                  <a:prstClr val="black"/>
                </a:solidFill>
                <a:cs typeface="Arial" pitchFamily="34" charset="0"/>
              </a:rPr>
              <a:t>from a representative </a:t>
            </a:r>
            <a:r>
              <a:rPr lang="en-US" sz="1800" b="1">
                <a:solidFill>
                  <a:prstClr val="black"/>
                </a:solidFill>
                <a:cs typeface="Arial" pitchFamily="34" charset="0"/>
              </a:rPr>
              <a:t>Sample</a:t>
            </a:r>
            <a:r>
              <a:rPr lang="en-US" sz="1800">
                <a:solidFill>
                  <a:prstClr val="black"/>
                </a:solidFill>
                <a:cs typeface="Arial" pitchFamily="34" charset="0"/>
              </a:rPr>
              <a:t>...</a:t>
            </a:r>
          </a:p>
        </p:txBody>
      </p:sp>
      <p:sp>
        <p:nvSpPr>
          <p:cNvPr id="12" name="TextBox 11"/>
          <p:cNvSpPr txBox="1">
            <a:spLocks noChangeArrowheads="1"/>
          </p:cNvSpPr>
          <p:nvPr/>
        </p:nvSpPr>
        <p:spPr bwMode="auto">
          <a:xfrm>
            <a:off x="5284788" y="5495966"/>
            <a:ext cx="29257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800" dirty="0">
                <a:solidFill>
                  <a:prstClr val="black"/>
                </a:solidFill>
                <a:cs typeface="Arial" pitchFamily="34" charset="0"/>
              </a:rPr>
              <a:t>Make an </a:t>
            </a:r>
            <a:r>
              <a:rPr lang="en-US" sz="1800" b="1" dirty="0">
                <a:solidFill>
                  <a:prstClr val="black"/>
                </a:solidFill>
                <a:cs typeface="Arial" pitchFamily="34" charset="0"/>
              </a:rPr>
              <a:t>Inference </a:t>
            </a:r>
            <a:r>
              <a:rPr lang="en-US" sz="1800" dirty="0">
                <a:solidFill>
                  <a:prstClr val="black"/>
                </a:solidFill>
                <a:cs typeface="Arial" pitchFamily="34" charset="0"/>
              </a:rPr>
              <a:t>about the </a:t>
            </a:r>
            <a:r>
              <a:rPr lang="en-US" sz="1800" b="1" dirty="0">
                <a:solidFill>
                  <a:prstClr val="black"/>
                </a:solidFill>
                <a:cs typeface="Arial" pitchFamily="34" charset="0"/>
              </a:rPr>
              <a:t>Population</a:t>
            </a:r>
            <a:r>
              <a:rPr lang="en-US" sz="1800" dirty="0">
                <a:solidFill>
                  <a:prstClr val="black"/>
                </a:solidFill>
                <a:cs typeface="Arial" pitchFamily="34" charset="0"/>
              </a:rPr>
              <a:t>.</a:t>
            </a:r>
          </a:p>
        </p:txBody>
      </p:sp>
      <p:sp>
        <p:nvSpPr>
          <p:cNvPr id="13" name="Curved up Arrow 12" descr="Curved Up Arrow 12"/>
          <p:cNvSpPr/>
          <p:nvPr/>
        </p:nvSpPr>
        <p:spPr>
          <a:xfrm rot="10211976">
            <a:off x="4264966" y="6145040"/>
            <a:ext cx="2958043" cy="522318"/>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defTabSz="457200">
              <a:defRPr/>
            </a:pPr>
            <a:endParaRPr lang="en-US" dirty="0">
              <a:solidFill>
                <a:prstClr val="black"/>
              </a:solidFill>
              <a:cs typeface="Arial"/>
            </a:endParaRPr>
          </a:p>
        </p:txBody>
      </p:sp>
    </p:spTree>
    <p:extLst>
      <p:ext uri="{BB962C8B-B14F-4D97-AF65-F5344CB8AC3E}">
        <p14:creationId xmlns:p14="http://schemas.microsoft.com/office/powerpoint/2010/main" val="39425691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0"/>
                                        <p:tgtEl>
                                          <p:spTgt spid="1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78114" y="154305"/>
            <a:ext cx="7772400" cy="777240"/>
          </a:xfrm>
        </p:spPr>
        <p:txBody>
          <a:bodyPr/>
          <a:lstStyle/>
          <a:p>
            <a:pPr eaLnBrk="1" hangingPunct="1"/>
            <a:r>
              <a:rPr lang="en-US">
                <a:ea typeface="ＭＳ Ｐゴシック" pitchFamily="34" charset="-128"/>
                <a:cs typeface="Arial" pitchFamily="34" charset="0"/>
              </a:rPr>
              <a:t>How to Sample Badly</a:t>
            </a:r>
          </a:p>
        </p:txBody>
      </p:sp>
      <p:sp>
        <p:nvSpPr>
          <p:cNvPr id="5017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F214AB7-3545-4685-A62C-188B07707053}" type="slidenum">
              <a:rPr lang="en-US" sz="1200">
                <a:solidFill>
                  <a:schemeClr val="accent1"/>
                </a:solidFill>
              </a:rPr>
              <a:pPr>
                <a:lnSpc>
                  <a:spcPct val="80000"/>
                </a:lnSpc>
              </a:pPr>
              <a:t>21</a:t>
            </a:fld>
            <a:endParaRPr lang="en-US" sz="1200">
              <a:solidFill>
                <a:schemeClr val="accent1"/>
              </a:solidFill>
            </a:endParaRPr>
          </a:p>
        </p:txBody>
      </p:sp>
      <p:sp>
        <p:nvSpPr>
          <p:cNvPr id="50179" name="TextBox 1"/>
          <p:cNvSpPr txBox="1">
            <a:spLocks noChangeArrowheads="1"/>
          </p:cNvSpPr>
          <p:nvPr/>
        </p:nvSpPr>
        <p:spPr bwMode="auto">
          <a:xfrm>
            <a:off x="278114" y="1325661"/>
            <a:ext cx="806291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dirty="0"/>
              <a:t>The design of a sample is </a:t>
            </a:r>
            <a:r>
              <a:rPr lang="en-US" sz="2000" b="1" dirty="0"/>
              <a:t>biased</a:t>
            </a:r>
            <a:r>
              <a:rPr lang="en-US" sz="2000" dirty="0"/>
              <a:t> if it systematically favors certain outcomes.</a:t>
            </a:r>
          </a:p>
        </p:txBody>
      </p:sp>
      <p:sp>
        <p:nvSpPr>
          <p:cNvPr id="8" name="TextBox 7"/>
          <p:cNvSpPr txBox="1">
            <a:spLocks noChangeArrowheads="1"/>
          </p:cNvSpPr>
          <p:nvPr/>
        </p:nvSpPr>
        <p:spPr bwMode="auto">
          <a:xfrm>
            <a:off x="348454" y="2368233"/>
            <a:ext cx="7753350" cy="7080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Choosing individuals simply because they are easy to reach results in a </a:t>
            </a:r>
            <a:r>
              <a:rPr lang="en-US" altLang="en-US" sz="2000" b="1" dirty="0"/>
              <a:t>convenience sample</a:t>
            </a:r>
            <a:r>
              <a:rPr lang="en-US" sz="2000" dirty="0"/>
              <a:t>.</a:t>
            </a:r>
            <a:endParaRPr lang="en-US" altLang="en-US" sz="1000" b="1" dirty="0"/>
          </a:p>
        </p:txBody>
      </p:sp>
      <p:sp>
        <p:nvSpPr>
          <p:cNvPr id="7" name="TextBox 6"/>
          <p:cNvSpPr txBox="1">
            <a:spLocks noChangeArrowheads="1"/>
          </p:cNvSpPr>
          <p:nvPr/>
        </p:nvSpPr>
        <p:spPr bwMode="auto">
          <a:xfrm>
            <a:off x="348454" y="3429000"/>
            <a:ext cx="7753350" cy="193899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a:t>
            </a:r>
            <a:r>
              <a:rPr lang="en-US" altLang="en-US" sz="2000" b="1" dirty="0">
                <a:solidFill>
                  <a:srgbClr val="000000"/>
                </a:solidFill>
              </a:rPr>
              <a:t> </a:t>
            </a:r>
            <a:r>
              <a:rPr lang="en-US" altLang="en-US" sz="2000" b="1" dirty="0"/>
              <a:t>voluntary response sample </a:t>
            </a:r>
            <a:r>
              <a:rPr lang="en-US" altLang="en-US" sz="2000" dirty="0"/>
              <a:t>consists </a:t>
            </a:r>
            <a:r>
              <a:rPr lang="en-US" altLang="en-US" sz="2000" dirty="0">
                <a:solidFill>
                  <a:srgbClr val="000000"/>
                </a:solidFill>
              </a:rPr>
              <a:t>of people who choose themselves by responding to a general appeal. </a:t>
            </a:r>
          </a:p>
          <a:p>
            <a:pPr eaLnBrk="1" hangingPunct="1">
              <a:defRPr/>
            </a:pPr>
            <a:endParaRPr lang="en-US" altLang="en-US" sz="2000" dirty="0">
              <a:solidFill>
                <a:srgbClr val="000000"/>
              </a:solidFill>
            </a:endParaRPr>
          </a:p>
          <a:p>
            <a:pPr eaLnBrk="1" hangingPunct="1">
              <a:defRPr/>
            </a:pPr>
            <a:r>
              <a:rPr lang="en-US" altLang="en-US" sz="2000" dirty="0">
                <a:solidFill>
                  <a:srgbClr val="000000"/>
                </a:solidFill>
              </a:rPr>
              <a:t>Voluntary response samples often show bias because people with strong opinions (especially negative opinions) may be more likely to respond.</a:t>
            </a:r>
            <a:endParaRPr lang="en-US" altLang="en-US" sz="10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18294" y="154305"/>
            <a:ext cx="7772400" cy="777240"/>
          </a:xfrm>
        </p:spPr>
        <p:txBody>
          <a:bodyPr/>
          <a:lstStyle/>
          <a:p>
            <a:pPr eaLnBrk="1" hangingPunct="1"/>
            <a:r>
              <a:rPr lang="en-US">
                <a:ea typeface="ＭＳ Ｐゴシック" pitchFamily="34" charset="-128"/>
                <a:cs typeface="Arial" pitchFamily="34" charset="0"/>
              </a:rPr>
              <a:t>Simple Random Samples</a:t>
            </a:r>
          </a:p>
        </p:txBody>
      </p:sp>
      <p:sp>
        <p:nvSpPr>
          <p:cNvPr id="5120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DD14FDC-2681-4C0B-9641-D82047000842}" type="slidenum">
              <a:rPr lang="en-US" sz="1200">
                <a:solidFill>
                  <a:schemeClr val="accent1"/>
                </a:solidFill>
              </a:rPr>
              <a:pPr>
                <a:lnSpc>
                  <a:spcPct val="80000"/>
                </a:lnSpc>
              </a:pPr>
              <a:t>22</a:t>
            </a:fld>
            <a:endParaRPr lang="en-US" sz="1200">
              <a:solidFill>
                <a:schemeClr val="accent1"/>
              </a:solidFill>
            </a:endParaRPr>
          </a:p>
        </p:txBody>
      </p:sp>
      <p:sp>
        <p:nvSpPr>
          <p:cNvPr id="51203" name="Rectangle 1"/>
          <p:cNvSpPr>
            <a:spLocks noChangeArrowheads="1"/>
          </p:cNvSpPr>
          <p:nvPr/>
        </p:nvSpPr>
        <p:spPr bwMode="auto">
          <a:xfrm>
            <a:off x="276225" y="1227613"/>
            <a:ext cx="8270814" cy="708025"/>
          </a:xfrm>
          <a:prstGeom prst="rect">
            <a:avLst/>
          </a:prstGeom>
          <a:solidFill>
            <a:srgbClr val="FFD780"/>
          </a:solidFill>
          <a:ln>
            <a:noFill/>
          </a:ln>
        </p:spPr>
        <p:txBody>
          <a:bodyPr wrap="square">
            <a:spAutoFit/>
          </a:bodyPr>
          <a:lstStyle/>
          <a:p>
            <a:pPr algn="just" eaLnBrk="1" hangingPunct="1"/>
            <a:r>
              <a:rPr lang="en-US" sz="2000" b="1" dirty="0"/>
              <a:t>Random sampling</a:t>
            </a:r>
            <a:r>
              <a:rPr lang="en-US" sz="2000" dirty="0">
                <a:solidFill>
                  <a:srgbClr val="000000"/>
                </a:solidFill>
              </a:rPr>
              <a:t>, the use of chance to select a sample, is the central principle of statistical sampling.</a:t>
            </a:r>
            <a:endParaRPr lang="en-US" sz="3600" dirty="0">
              <a:solidFill>
                <a:srgbClr val="000000"/>
              </a:solidFill>
            </a:endParaRPr>
          </a:p>
        </p:txBody>
      </p:sp>
      <p:sp>
        <p:nvSpPr>
          <p:cNvPr id="9" name="TextBox 8"/>
          <p:cNvSpPr txBox="1">
            <a:spLocks noChangeArrowheads="1"/>
          </p:cNvSpPr>
          <p:nvPr/>
        </p:nvSpPr>
        <p:spPr bwMode="auto">
          <a:xfrm>
            <a:off x="292894" y="2367994"/>
            <a:ext cx="8270814" cy="10160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 </a:t>
            </a:r>
            <a:r>
              <a:rPr lang="en-US" altLang="en-US" sz="2000" b="1" dirty="0"/>
              <a:t>simple random sample (SRS) </a:t>
            </a:r>
            <a:r>
              <a:rPr lang="en-US" altLang="en-US" sz="2000" dirty="0">
                <a:solidFill>
                  <a:srgbClr val="000000"/>
                </a:solidFill>
              </a:rPr>
              <a:t>of size </a:t>
            </a:r>
            <a:r>
              <a:rPr lang="en-US" altLang="en-US" sz="2000" i="1" dirty="0">
                <a:solidFill>
                  <a:srgbClr val="000000"/>
                </a:solidFill>
              </a:rPr>
              <a:t>n </a:t>
            </a:r>
            <a:r>
              <a:rPr lang="en-US" altLang="en-US" sz="2000" dirty="0">
                <a:solidFill>
                  <a:srgbClr val="000000"/>
                </a:solidFill>
              </a:rPr>
              <a:t>consists of </a:t>
            </a:r>
            <a:r>
              <a:rPr lang="en-US" altLang="en-US" sz="2000" i="1" dirty="0">
                <a:solidFill>
                  <a:srgbClr val="000000"/>
                </a:solidFill>
              </a:rPr>
              <a:t>n</a:t>
            </a:r>
            <a:r>
              <a:rPr lang="en-US" altLang="en-US" sz="2000" dirty="0">
                <a:solidFill>
                  <a:srgbClr val="000000"/>
                </a:solidFill>
              </a:rPr>
              <a:t> individuals from the population, chosen in such a way that every set of </a:t>
            </a:r>
            <a:r>
              <a:rPr lang="en-US" altLang="en-US" sz="2000" i="1" dirty="0">
                <a:solidFill>
                  <a:srgbClr val="000000"/>
                </a:solidFill>
              </a:rPr>
              <a:t>n </a:t>
            </a:r>
            <a:r>
              <a:rPr lang="en-US" altLang="en-US" sz="2000" dirty="0">
                <a:solidFill>
                  <a:srgbClr val="000000"/>
                </a:solidFill>
              </a:rPr>
              <a:t>individuals has an equal chance to be the sample actually selected.</a:t>
            </a:r>
            <a:endParaRPr lang="en-US" altLang="en-US" sz="1000" b="1" dirty="0">
              <a:solidFill>
                <a:srgbClr val="000000"/>
              </a:solidFill>
            </a:endParaRPr>
          </a:p>
        </p:txBody>
      </p:sp>
      <p:sp>
        <p:nvSpPr>
          <p:cNvPr id="10" name="Rectangle 6"/>
          <p:cNvSpPr>
            <a:spLocks noChangeArrowheads="1"/>
          </p:cNvSpPr>
          <p:nvPr/>
        </p:nvSpPr>
        <p:spPr bwMode="auto">
          <a:xfrm>
            <a:off x="276225" y="3816350"/>
            <a:ext cx="8270814" cy="1016000"/>
          </a:xfrm>
          <a:prstGeom prst="rect">
            <a:avLst/>
          </a:prstGeom>
          <a:solidFill>
            <a:srgbClr val="FFD780"/>
          </a:solidFill>
          <a:ln>
            <a:noFill/>
          </a:ln>
        </p:spPr>
        <p:txBody>
          <a:bodyPr wrap="square">
            <a:spAutoFit/>
          </a:bodyPr>
          <a:lstStyle/>
          <a:p>
            <a:pPr algn="just" eaLnBrk="1" hangingPunct="1"/>
            <a:r>
              <a:rPr lang="en-US" sz="2000" dirty="0"/>
              <a:t>In practice, people use random numbers generated by a computer or calculator to choose samples. If you do not </a:t>
            </a:r>
            <a:r>
              <a:rPr lang="en-US" altLang="ja-JP" sz="2000" dirty="0"/>
              <a:t>have technology handy, you can use a </a:t>
            </a:r>
            <a:r>
              <a:rPr lang="en-US" altLang="ja-JP" sz="2000" b="1" dirty="0"/>
              <a:t>table of random digits</a:t>
            </a:r>
            <a:r>
              <a:rPr lang="en-US" altLang="ja-JP" sz="2000" dirty="0"/>
              <a:t>.</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304799" y="154305"/>
            <a:ext cx="7772400" cy="777240"/>
          </a:xfrm>
        </p:spPr>
        <p:txBody>
          <a:bodyPr/>
          <a:lstStyle/>
          <a:p>
            <a:pPr eaLnBrk="1" hangingPunct="1"/>
            <a:r>
              <a:rPr lang="en-US">
                <a:ea typeface="ＭＳ Ｐゴシック" pitchFamily="34" charset="-128"/>
                <a:cs typeface="Arial" pitchFamily="34" charset="0"/>
              </a:rPr>
              <a:t>How to Choose an SRS</a:t>
            </a:r>
          </a:p>
        </p:txBody>
      </p:sp>
      <p:sp>
        <p:nvSpPr>
          <p:cNvPr id="5222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5412BE3-8EAA-4650-9782-18E0164A0B5A}" type="slidenum">
              <a:rPr lang="en-US" sz="1200">
                <a:solidFill>
                  <a:schemeClr val="accent1"/>
                </a:solidFill>
              </a:rPr>
              <a:pPr>
                <a:lnSpc>
                  <a:spcPct val="80000"/>
                </a:lnSpc>
              </a:pPr>
              <a:t>23</a:t>
            </a:fld>
            <a:endParaRPr lang="en-US" sz="1200">
              <a:solidFill>
                <a:schemeClr val="accent1"/>
              </a:solidFill>
            </a:endParaRPr>
          </a:p>
        </p:txBody>
      </p:sp>
      <p:sp>
        <p:nvSpPr>
          <p:cNvPr id="10" name="TextBox 9"/>
          <p:cNvSpPr txBox="1">
            <a:spLocks noChangeArrowheads="1"/>
          </p:cNvSpPr>
          <p:nvPr/>
        </p:nvSpPr>
        <p:spPr bwMode="auto">
          <a:xfrm>
            <a:off x="304799" y="1331913"/>
            <a:ext cx="8104188" cy="193833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sz="2400">
                <a:solidFill>
                  <a:schemeClr val="tx1"/>
                </a:solidFill>
                <a:latin typeface="Arial" pitchFamily="34" charset="0"/>
                <a:ea typeface="ＭＳ Ｐゴシック" pitchFamily="34" charset="-128"/>
              </a:defRPr>
            </a:lvl1pPr>
            <a:lvl2pPr marL="288925" indent="-1778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solidFill>
                  <a:srgbClr val="000000"/>
                </a:solidFill>
              </a:rPr>
              <a:t>A </a:t>
            </a:r>
            <a:r>
              <a:rPr lang="en-US" sz="2000" b="1" dirty="0"/>
              <a:t>table of random digits </a:t>
            </a:r>
            <a:r>
              <a:rPr lang="en-US" sz="2000" dirty="0">
                <a:solidFill>
                  <a:srgbClr val="000000"/>
                </a:solidFill>
              </a:rPr>
              <a:t>is a long string of the digits 0, 1, 2, 3, 4, 5, 6, 7, 8, 9 with these properties:</a:t>
            </a:r>
          </a:p>
          <a:p>
            <a:pPr marL="342900" lvl="1" indent="-336550" algn="just" eaLnBrk="1" hangingPunct="1">
              <a:buClr>
                <a:schemeClr val="accent1"/>
              </a:buClr>
              <a:buFont typeface="Wingdings" pitchFamily="2" charset="2"/>
              <a:buChar char="§"/>
            </a:pPr>
            <a:r>
              <a:rPr lang="en-US" sz="2000" dirty="0">
                <a:solidFill>
                  <a:srgbClr val="000000"/>
                </a:solidFill>
              </a:rPr>
              <a:t>Each entry in the table is equally likely to be any of the 10 digits </a:t>
            </a:r>
            <a:br>
              <a:rPr lang="en-US" sz="2000" dirty="0">
                <a:solidFill>
                  <a:srgbClr val="000000"/>
                </a:solidFill>
              </a:rPr>
            </a:br>
            <a:r>
              <a:rPr lang="en-US" sz="2000" dirty="0">
                <a:solidFill>
                  <a:srgbClr val="000000"/>
                </a:solidFill>
              </a:rPr>
              <a:t>0</a:t>
            </a:r>
            <a:r>
              <a:rPr lang="en-US" sz="2000" dirty="0">
                <a:solidFill>
                  <a:srgbClr val="000000"/>
                </a:solidFill>
                <a:cs typeface="Arial" pitchFamily="34" charset="0"/>
              </a:rPr>
              <a:t>–</a:t>
            </a:r>
            <a:r>
              <a:rPr lang="en-US" sz="2000" dirty="0">
                <a:solidFill>
                  <a:srgbClr val="000000"/>
                </a:solidFill>
              </a:rPr>
              <a:t>9.</a:t>
            </a:r>
          </a:p>
          <a:p>
            <a:pPr marL="342900" lvl="1" indent="-336550" algn="just" eaLnBrk="1" hangingPunct="1">
              <a:buClr>
                <a:schemeClr val="accent1"/>
              </a:buClr>
              <a:buFont typeface="Wingdings" pitchFamily="2" charset="2"/>
              <a:buChar char="§"/>
            </a:pPr>
            <a:r>
              <a:rPr lang="en-US" sz="2000" dirty="0">
                <a:solidFill>
                  <a:srgbClr val="000000"/>
                </a:solidFill>
              </a:rPr>
              <a:t>The entries are independent of one another. That is, knowledge of one part of the table gives no information about any other part.</a:t>
            </a:r>
            <a:endParaRPr lang="en-US" sz="1000" b="1" dirty="0">
              <a:solidFill>
                <a:srgbClr val="000000"/>
              </a:solidFill>
            </a:endParaRPr>
          </a:p>
        </p:txBody>
      </p:sp>
      <p:sp>
        <p:nvSpPr>
          <p:cNvPr id="12" name="TextBox 11"/>
          <p:cNvSpPr txBox="1">
            <a:spLocks noChangeArrowheads="1"/>
          </p:cNvSpPr>
          <p:nvPr/>
        </p:nvSpPr>
        <p:spPr bwMode="auto">
          <a:xfrm>
            <a:off x="404019" y="3727648"/>
            <a:ext cx="8105775" cy="2769989"/>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p>
            <a:pPr algn="ctr" eaLnBrk="1" hangingPunct="1">
              <a:spcAft>
                <a:spcPts val="2000"/>
              </a:spcAft>
              <a:defRPr/>
            </a:pPr>
            <a:r>
              <a:rPr lang="en-US" sz="2400" b="1" dirty="0"/>
              <a:t>How to Choose an SRS Using Table B</a:t>
            </a:r>
            <a:endParaRPr lang="en-US" sz="2400" b="1" dirty="0">
              <a:latin typeface="Arial"/>
              <a:ea typeface="+mn-ea"/>
              <a:cs typeface="Arial"/>
            </a:endParaRPr>
          </a:p>
          <a:p>
            <a:pPr algn="just" eaLnBrk="1" hangingPunct="1">
              <a:spcAft>
                <a:spcPts val="2000"/>
              </a:spcAft>
              <a:defRPr/>
            </a:pPr>
            <a:r>
              <a:rPr lang="en-US" sz="2000" b="1" dirty="0">
                <a:solidFill>
                  <a:srgbClr val="000000"/>
                </a:solidFill>
                <a:latin typeface="Arial"/>
                <a:ea typeface="+mn-ea"/>
                <a:cs typeface="Arial"/>
              </a:rPr>
              <a:t>Step 1: Label. </a:t>
            </a:r>
            <a:r>
              <a:rPr lang="en-US" sz="2000" dirty="0">
                <a:solidFill>
                  <a:srgbClr val="000000"/>
                </a:solidFill>
                <a:latin typeface="Arial"/>
                <a:ea typeface="+mn-ea"/>
                <a:cs typeface="Arial"/>
              </a:rPr>
              <a:t>Give each member of the population a numerical label of the </a:t>
            </a:r>
            <a:r>
              <a:rPr lang="en-US" sz="2000" i="1" dirty="0">
                <a:solidFill>
                  <a:srgbClr val="000000"/>
                </a:solidFill>
                <a:latin typeface="Arial"/>
                <a:ea typeface="+mn-ea"/>
                <a:cs typeface="Arial"/>
              </a:rPr>
              <a:t>same length.</a:t>
            </a:r>
          </a:p>
          <a:p>
            <a:pPr algn="just" eaLnBrk="1" hangingPunct="1">
              <a:spcAft>
                <a:spcPts val="2000"/>
              </a:spcAft>
              <a:defRPr/>
            </a:pPr>
            <a:r>
              <a:rPr lang="en-US" sz="2000" b="1" dirty="0">
                <a:solidFill>
                  <a:srgbClr val="000000"/>
                </a:solidFill>
                <a:latin typeface="Arial"/>
                <a:ea typeface="+mn-ea"/>
                <a:cs typeface="Arial"/>
              </a:rPr>
              <a:t>Step 2: Table. </a:t>
            </a:r>
            <a:r>
              <a:rPr lang="en-US" sz="2000" dirty="0">
                <a:solidFill>
                  <a:srgbClr val="000000"/>
                </a:solidFill>
                <a:latin typeface="Arial"/>
                <a:ea typeface="+mn-ea"/>
                <a:cs typeface="Arial"/>
              </a:rPr>
              <a:t>Read consecutive groups of digits of the appropriate length from Table B.</a:t>
            </a:r>
          </a:p>
          <a:p>
            <a:pPr algn="just" eaLnBrk="1" hangingPunct="1">
              <a:spcAft>
                <a:spcPts val="2000"/>
              </a:spcAft>
              <a:defRPr/>
            </a:pPr>
            <a:r>
              <a:rPr lang="en-US" sz="2000" dirty="0">
                <a:solidFill>
                  <a:srgbClr val="000000"/>
                </a:solidFill>
                <a:latin typeface="Arial"/>
                <a:ea typeface="+mn-ea"/>
                <a:cs typeface="Arial"/>
              </a:rPr>
              <a:t>Your sample contains the individuals whose labels you find.</a:t>
            </a:r>
            <a:endParaRPr lang="en-US" sz="2000" dirty="0">
              <a:solidFill>
                <a:srgbClr val="000000"/>
              </a:solidFill>
              <a:latin typeface="Arial"/>
              <a:ea typeface="ＭＳ Ｐゴシック" pitchFamily="-111" charset="-128"/>
              <a:cs typeface="Aria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19"/>
          <p:cNvSpPr>
            <a:spLocks noGrp="1" noChangeArrowheads="1"/>
          </p:cNvSpPr>
          <p:nvPr>
            <p:ph type="title"/>
          </p:nvPr>
        </p:nvSpPr>
        <p:spPr/>
        <p:txBody>
          <a:bodyPr/>
          <a:lstStyle/>
          <a:p>
            <a:pPr eaLnBrk="1" hangingPunct="1"/>
            <a:r>
              <a:rPr lang="en-US">
                <a:ea typeface="ＭＳ Ｐゴシック" pitchFamily="34" charset="-128"/>
                <a:cs typeface="Arial" pitchFamily="34" charset="0"/>
              </a:rPr>
              <a:t>SRS Example</a:t>
            </a:r>
          </a:p>
        </p:txBody>
      </p:sp>
      <p:sp>
        <p:nvSpPr>
          <p:cNvPr id="5324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3D285C1-C138-400C-A3EE-B0C5441A702B}" type="slidenum">
              <a:rPr lang="en-US" sz="1200">
                <a:solidFill>
                  <a:srgbClr val="073779"/>
                </a:solidFill>
              </a:rPr>
              <a:pPr>
                <a:lnSpc>
                  <a:spcPct val="80000"/>
                </a:lnSpc>
              </a:pPr>
              <a:t>24</a:t>
            </a:fld>
            <a:endParaRPr lang="en-US" sz="1200">
              <a:solidFill>
                <a:srgbClr val="073779"/>
              </a:solidFill>
            </a:endParaRPr>
          </a:p>
        </p:txBody>
      </p:sp>
      <p:sp>
        <p:nvSpPr>
          <p:cNvPr id="53266" name="TextBox 2"/>
          <p:cNvSpPr txBox="1">
            <a:spLocks noChangeArrowheads="1"/>
          </p:cNvSpPr>
          <p:nvPr/>
        </p:nvSpPr>
        <p:spPr bwMode="auto">
          <a:xfrm>
            <a:off x="546100" y="1354138"/>
            <a:ext cx="7332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2000">
                <a:solidFill>
                  <a:prstClr val="black"/>
                </a:solidFill>
              </a:rPr>
              <a:t>Use the random digits provided to select an SRS of four hotels.</a:t>
            </a:r>
          </a:p>
        </p:txBody>
      </p:sp>
      <p:sp>
        <p:nvSpPr>
          <p:cNvPr id="53259" name="Rectangle 11" descr="The slide shows a table which contain a list of hotels. The increasing order of list include:&#10;&quot;01&quot; Aloha Kai, &quot;02&quot; Anchor Down, &quot;03&quot; Banana Bay, &quot;04&quot; Banyan Tree, &quot;05&quot;- Beach Castle shaded in red color, &quot;06&quot; Best Western, &quot;07&quot; Cabana, &quot;08&quot; Captiva, &quot;09&quot; Casa del Mar, &quot;10&quot; Coconuts, &quot;11&quot; Diplomat, &quot;12&quot; Holiday Inn, &quot;13&quot; Lime Tree, &quot;14&quot; Outrigger, &quot;15&quot;- Palm Tree, &quot;16&quot; Radisson shaded in red color, &quot;17&quot; - Ramada shaded in red color, &quot;18&quot; Sandpiper, &quot;19&quot; Sea Castle, &quot;20&quot; - Sea Club shaded in red color, &quot;21&quot; Sea Grape, &quot;22&quot; Sea Shell, &quot;23&quot; Silver Beach, &quot;24&quot; Sunset Beach, &quot;25&quot; Tradewinds, &quot;26&quot; Tropical Breeze, &quot;27&quot; Tropical Shores, and &quot;28&quot; Veranda.&#10;&#10;This table is used to generate a simple random sample (SRS) of 4 hotels, using the random digits. The random digits generated are as follow:&#10;Sixty Nine Thousand and fifty one, Sixty Four Thousand Eight Hundred and Seventeen, Eighty Seven Thousand one hundred and seventy four, zero nine five one seven, Eighty Four Thousand five hundred and thirty four, zero six four eight nine, Eighty Seven Thousand two hundred and one, Ninety Seven Thousand two hundred fourty five.&#10;&#10;Our SRS of 4 hotels are depicted in star shapes, and these digits are 05, 16, 17 and 20. Most of the samples depict no symbol shape which are obscured, because they are either not appearing in the table or they are repeated. No symbol shapes include digits 69, 48, 87, 40, 95, 84, 53, 40, 64, 89, and 87. &#10;&#10;The bars shaded in red color appearing in the table are depicted from SRS of 4 hotels, and these hotels are: 05 Beach Castle, 16 Radisson, 17 Ramada, and 20 Sea Club."/>
          <p:cNvSpPr>
            <a:spLocks noChangeArrowheads="1"/>
          </p:cNvSpPr>
          <p:nvPr/>
        </p:nvSpPr>
        <p:spPr bwMode="auto">
          <a:xfrm>
            <a:off x="311150" y="1930400"/>
            <a:ext cx="75819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57200" fontAlgn="base">
              <a:spcBef>
                <a:spcPct val="0"/>
              </a:spcBef>
              <a:spcAft>
                <a:spcPct val="0"/>
              </a:spcAft>
            </a:pPr>
            <a:r>
              <a:rPr lang="en-US" sz="1600" dirty="0">
                <a:solidFill>
                  <a:prstClr val="black"/>
                </a:solidFill>
                <a:ea typeface="ＭＳ Ｐゴシック" pitchFamily="34" charset="-128"/>
              </a:rPr>
              <a:t>01 Aloha Kai 		08 Captiva 		15 Palm Tree 		22 Sea Shell</a:t>
            </a:r>
          </a:p>
          <a:p>
            <a:pPr defTabSz="457200" fontAlgn="base">
              <a:spcBef>
                <a:spcPct val="0"/>
              </a:spcBef>
              <a:spcAft>
                <a:spcPct val="0"/>
              </a:spcAft>
            </a:pPr>
            <a:r>
              <a:rPr lang="en-US" sz="1600" dirty="0">
                <a:solidFill>
                  <a:prstClr val="black"/>
                </a:solidFill>
                <a:ea typeface="ＭＳ Ｐゴシック" pitchFamily="34" charset="-128"/>
              </a:rPr>
              <a:t>02 Anchor Down 	09 Casa del Mar 	16 Radisson 		23 Silver Beach</a:t>
            </a:r>
          </a:p>
          <a:p>
            <a:pPr defTabSz="457200" fontAlgn="base">
              <a:spcBef>
                <a:spcPct val="0"/>
              </a:spcBef>
              <a:spcAft>
                <a:spcPct val="0"/>
              </a:spcAft>
            </a:pPr>
            <a:r>
              <a:rPr lang="en-US" sz="1600" dirty="0">
                <a:solidFill>
                  <a:prstClr val="black"/>
                </a:solidFill>
                <a:ea typeface="ＭＳ Ｐゴシック" pitchFamily="34" charset="-128"/>
              </a:rPr>
              <a:t>03 Banana Bay 	10 Coconuts 		17 Ramada 		24 Sunset Beach</a:t>
            </a:r>
          </a:p>
          <a:p>
            <a:pPr defTabSz="457200" fontAlgn="base">
              <a:spcBef>
                <a:spcPct val="0"/>
              </a:spcBef>
              <a:spcAft>
                <a:spcPct val="0"/>
              </a:spcAft>
            </a:pPr>
            <a:r>
              <a:rPr lang="en-US" sz="1600" dirty="0">
                <a:solidFill>
                  <a:prstClr val="black"/>
                </a:solidFill>
                <a:ea typeface="ＭＳ Ｐゴシック" pitchFamily="34" charset="-128"/>
              </a:rPr>
              <a:t>04 Banyan Tree 	11 Diplomat 		18 Sandpiper 		25 </a:t>
            </a:r>
            <a:r>
              <a:rPr lang="en-US" sz="1600" dirty="0" err="1">
                <a:solidFill>
                  <a:prstClr val="black"/>
                </a:solidFill>
                <a:ea typeface="ＭＳ Ｐゴシック" pitchFamily="34" charset="-128"/>
              </a:rPr>
              <a:t>Tradewinds</a:t>
            </a:r>
            <a:endParaRPr lang="en-US" sz="1600" dirty="0">
              <a:solidFill>
                <a:prstClr val="black"/>
              </a:solidFill>
              <a:ea typeface="ＭＳ Ｐゴシック" pitchFamily="34" charset="-128"/>
            </a:endParaRPr>
          </a:p>
          <a:p>
            <a:pPr defTabSz="457200" fontAlgn="base">
              <a:spcBef>
                <a:spcPct val="0"/>
              </a:spcBef>
              <a:spcAft>
                <a:spcPct val="0"/>
              </a:spcAft>
            </a:pPr>
            <a:r>
              <a:rPr lang="en-US" sz="1600" dirty="0">
                <a:solidFill>
                  <a:prstClr val="black"/>
                </a:solidFill>
                <a:ea typeface="ＭＳ Ｐゴシック" pitchFamily="34" charset="-128"/>
              </a:rPr>
              <a:t>05 Beach Castle 	12 Holiday Inn 		19 Sea Castle 		26 Tropical Breeze</a:t>
            </a:r>
          </a:p>
          <a:p>
            <a:pPr defTabSz="457200" fontAlgn="base">
              <a:spcBef>
                <a:spcPct val="0"/>
              </a:spcBef>
              <a:spcAft>
                <a:spcPct val="0"/>
              </a:spcAft>
            </a:pPr>
            <a:r>
              <a:rPr lang="en-US" sz="1600" dirty="0">
                <a:solidFill>
                  <a:prstClr val="black"/>
                </a:solidFill>
                <a:ea typeface="ＭＳ Ｐゴシック" pitchFamily="34" charset="-128"/>
              </a:rPr>
              <a:t>06 Best Western 	13 Lime Tree 		20 Sea Club 		27 Tropical Shores</a:t>
            </a:r>
          </a:p>
          <a:p>
            <a:pPr defTabSz="457200" fontAlgn="base">
              <a:spcBef>
                <a:spcPct val="0"/>
              </a:spcBef>
              <a:spcAft>
                <a:spcPct val="0"/>
              </a:spcAft>
            </a:pPr>
            <a:r>
              <a:rPr lang="en-US" sz="1600" dirty="0">
                <a:solidFill>
                  <a:prstClr val="black"/>
                </a:solidFill>
                <a:ea typeface="ＭＳ Ｐゴシック" pitchFamily="34" charset="-128"/>
              </a:rPr>
              <a:t>07 Cabana 		14 Outrigger 		21 Sea Grape 		28 Veranda</a:t>
            </a:r>
          </a:p>
        </p:txBody>
      </p:sp>
      <p:grpSp>
        <p:nvGrpSpPr>
          <p:cNvPr id="2" name="Group 37" descr="already described"/>
          <p:cNvGrpSpPr>
            <a:grpSpLocks/>
          </p:cNvGrpSpPr>
          <p:nvPr/>
        </p:nvGrpSpPr>
        <p:grpSpPr bwMode="auto">
          <a:xfrm>
            <a:off x="350838" y="2941638"/>
            <a:ext cx="1785937" cy="2935287"/>
            <a:chOff x="414337" y="2730500"/>
            <a:chExt cx="1785938" cy="2936052"/>
          </a:xfrm>
        </p:grpSpPr>
        <p:sp>
          <p:nvSpPr>
            <p:cNvPr id="11" name="Rectangle 10"/>
            <p:cNvSpPr>
              <a:spLocks noChangeArrowheads="1"/>
            </p:cNvSpPr>
            <p:nvPr/>
          </p:nvSpPr>
          <p:spPr bwMode="auto">
            <a:xfrm>
              <a:off x="414337" y="2730500"/>
              <a:ext cx="1785938" cy="206429"/>
            </a:xfrm>
            <a:prstGeom prst="rect">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white"/>
                </a:solidFill>
                <a:ea typeface="ＭＳ Ｐゴシック" pitchFamily="34" charset="-128"/>
              </a:endParaRPr>
            </a:p>
          </p:txBody>
        </p:sp>
        <p:sp>
          <p:nvSpPr>
            <p:cNvPr id="12" name="5-Point Star 11"/>
            <p:cNvSpPr/>
            <p:nvPr/>
          </p:nvSpPr>
          <p:spPr>
            <a:xfrm>
              <a:off x="683419" y="4860985"/>
              <a:ext cx="761206" cy="805567"/>
            </a:xfrm>
            <a:prstGeom prst="star5">
              <a:avLst/>
            </a:prstGeom>
            <a:solidFill>
              <a:schemeClr val="accent5">
                <a:lumMod val="40000"/>
                <a:lumOff val="60000"/>
              </a:schemeClr>
            </a:solidFill>
          </p:spPr>
          <p:style>
            <a:lnRef idx="0">
              <a:schemeClr val="accent4"/>
            </a:lnRef>
            <a:fillRef idx="3">
              <a:schemeClr val="accent4"/>
            </a:fillRef>
            <a:effectRef idx="3">
              <a:schemeClr val="accent4"/>
            </a:effectRef>
            <a:fontRef idx="minor">
              <a:schemeClr val="lt1"/>
            </a:fontRef>
          </p:style>
          <p:txBody>
            <a:bodyPr anchor="ctr"/>
            <a:lstStyle/>
            <a:p>
              <a:pPr algn="ctr" defTabSz="457200" fontAlgn="base">
                <a:spcBef>
                  <a:spcPct val="0"/>
                </a:spcBef>
                <a:spcAft>
                  <a:spcPct val="0"/>
                </a:spcAft>
                <a:defRPr/>
              </a:pPr>
              <a:endParaRPr lang="en-US" dirty="0">
                <a:solidFill>
                  <a:prstClr val="white"/>
                </a:solidFill>
              </a:endParaRPr>
            </a:p>
          </p:txBody>
        </p:sp>
      </p:grpSp>
      <p:grpSp>
        <p:nvGrpSpPr>
          <p:cNvPr id="3" name="Group 39" descr="already described"/>
          <p:cNvGrpSpPr>
            <a:grpSpLocks/>
          </p:cNvGrpSpPr>
          <p:nvPr/>
        </p:nvGrpSpPr>
        <p:grpSpPr bwMode="auto">
          <a:xfrm>
            <a:off x="1136650" y="2206625"/>
            <a:ext cx="4699000" cy="3670300"/>
            <a:chOff x="1200547" y="1995488"/>
            <a:chExt cx="4698603" cy="3671064"/>
          </a:xfrm>
        </p:grpSpPr>
        <p:sp>
          <p:nvSpPr>
            <p:cNvPr id="14" name="Rectangle 13"/>
            <p:cNvSpPr>
              <a:spLocks noChangeArrowheads="1"/>
            </p:cNvSpPr>
            <p:nvPr/>
          </p:nvSpPr>
          <p:spPr bwMode="auto">
            <a:xfrm>
              <a:off x="4113364" y="1995488"/>
              <a:ext cx="1785786" cy="206418"/>
            </a:xfrm>
            <a:prstGeom prst="rect">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white"/>
                </a:solidFill>
                <a:ea typeface="ＭＳ Ｐゴシック" pitchFamily="34" charset="-128"/>
              </a:endParaRPr>
            </a:p>
          </p:txBody>
        </p:sp>
        <p:sp>
          <p:nvSpPr>
            <p:cNvPr id="15" name="5-Point Star 14"/>
            <p:cNvSpPr/>
            <p:nvPr/>
          </p:nvSpPr>
          <p:spPr>
            <a:xfrm>
              <a:off x="1200547" y="4860985"/>
              <a:ext cx="761206" cy="805567"/>
            </a:xfrm>
            <a:prstGeom prst="star5">
              <a:avLst/>
            </a:prstGeom>
            <a:solidFill>
              <a:schemeClr val="accent5">
                <a:lumMod val="40000"/>
                <a:lumOff val="60000"/>
              </a:schemeClr>
            </a:solidFill>
          </p:spPr>
          <p:style>
            <a:lnRef idx="0">
              <a:schemeClr val="accent4"/>
            </a:lnRef>
            <a:fillRef idx="3">
              <a:schemeClr val="accent4"/>
            </a:fillRef>
            <a:effectRef idx="3">
              <a:schemeClr val="accent4"/>
            </a:effectRef>
            <a:fontRef idx="minor">
              <a:schemeClr val="lt1"/>
            </a:fontRef>
          </p:style>
          <p:txBody>
            <a:bodyPr anchor="ctr"/>
            <a:lstStyle/>
            <a:p>
              <a:pPr algn="ctr" defTabSz="457200" fontAlgn="base">
                <a:spcBef>
                  <a:spcPct val="0"/>
                </a:spcBef>
                <a:spcAft>
                  <a:spcPct val="0"/>
                </a:spcAft>
                <a:defRPr/>
              </a:pPr>
              <a:endParaRPr lang="en-US" dirty="0">
                <a:solidFill>
                  <a:prstClr val="white"/>
                </a:solidFill>
              </a:endParaRPr>
            </a:p>
          </p:txBody>
        </p:sp>
      </p:grpSp>
      <p:grpSp>
        <p:nvGrpSpPr>
          <p:cNvPr id="4" name="Group 40" descr="already described"/>
          <p:cNvGrpSpPr>
            <a:grpSpLocks/>
          </p:cNvGrpSpPr>
          <p:nvPr/>
        </p:nvGrpSpPr>
        <p:grpSpPr bwMode="auto">
          <a:xfrm>
            <a:off x="2136775" y="2452688"/>
            <a:ext cx="3698875" cy="3424237"/>
            <a:chOff x="2200275" y="2241550"/>
            <a:chExt cx="3698875" cy="3425002"/>
          </a:xfrm>
        </p:grpSpPr>
        <p:sp>
          <p:nvSpPr>
            <p:cNvPr id="17" name="Rectangle 16"/>
            <p:cNvSpPr>
              <a:spLocks noChangeArrowheads="1"/>
            </p:cNvSpPr>
            <p:nvPr/>
          </p:nvSpPr>
          <p:spPr bwMode="auto">
            <a:xfrm>
              <a:off x="4113213" y="2241550"/>
              <a:ext cx="1785937" cy="206421"/>
            </a:xfrm>
            <a:prstGeom prst="rect">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white"/>
                </a:solidFill>
                <a:ea typeface="ＭＳ Ｐゴシック" pitchFamily="34" charset="-128"/>
              </a:endParaRPr>
            </a:p>
          </p:txBody>
        </p:sp>
        <p:sp>
          <p:nvSpPr>
            <p:cNvPr id="18" name="5-Point Star 17"/>
            <p:cNvSpPr/>
            <p:nvPr/>
          </p:nvSpPr>
          <p:spPr>
            <a:xfrm>
              <a:off x="2200275" y="4860985"/>
              <a:ext cx="761206" cy="805567"/>
            </a:xfrm>
            <a:prstGeom prst="star5">
              <a:avLst/>
            </a:prstGeom>
            <a:solidFill>
              <a:schemeClr val="accent5">
                <a:lumMod val="40000"/>
                <a:lumOff val="60000"/>
              </a:schemeClr>
            </a:solidFill>
          </p:spPr>
          <p:style>
            <a:lnRef idx="0">
              <a:schemeClr val="accent4"/>
            </a:lnRef>
            <a:fillRef idx="3">
              <a:schemeClr val="accent4"/>
            </a:fillRef>
            <a:effectRef idx="3">
              <a:schemeClr val="accent4"/>
            </a:effectRef>
            <a:fontRef idx="minor">
              <a:schemeClr val="lt1"/>
            </a:fontRef>
          </p:style>
          <p:txBody>
            <a:bodyPr anchor="ctr"/>
            <a:lstStyle/>
            <a:p>
              <a:pPr algn="ctr" defTabSz="457200" fontAlgn="base">
                <a:spcBef>
                  <a:spcPct val="0"/>
                </a:spcBef>
                <a:spcAft>
                  <a:spcPct val="0"/>
                </a:spcAft>
                <a:defRPr/>
              </a:pPr>
              <a:endParaRPr lang="en-US" dirty="0">
                <a:solidFill>
                  <a:prstClr val="white"/>
                </a:solidFill>
              </a:endParaRPr>
            </a:p>
          </p:txBody>
        </p:sp>
      </p:grpSp>
      <p:grpSp>
        <p:nvGrpSpPr>
          <p:cNvPr id="5" name="Group 42" descr="already described"/>
          <p:cNvGrpSpPr>
            <a:grpSpLocks/>
          </p:cNvGrpSpPr>
          <p:nvPr/>
        </p:nvGrpSpPr>
        <p:grpSpPr bwMode="auto">
          <a:xfrm>
            <a:off x="4049713" y="3195638"/>
            <a:ext cx="4960937" cy="2681287"/>
            <a:chOff x="4113212" y="2984500"/>
            <a:chExt cx="4961454" cy="2682052"/>
          </a:xfrm>
        </p:grpSpPr>
        <p:sp>
          <p:nvSpPr>
            <p:cNvPr id="20" name="Rectangle 19"/>
            <p:cNvSpPr>
              <a:spLocks noChangeArrowheads="1"/>
            </p:cNvSpPr>
            <p:nvPr/>
          </p:nvSpPr>
          <p:spPr bwMode="auto">
            <a:xfrm>
              <a:off x="4113212" y="2984500"/>
              <a:ext cx="1786123" cy="206434"/>
            </a:xfrm>
            <a:prstGeom prst="rect">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white"/>
                </a:solidFill>
                <a:ea typeface="ＭＳ Ｐゴシック" pitchFamily="34" charset="-128"/>
              </a:endParaRPr>
            </a:p>
          </p:txBody>
        </p:sp>
        <p:sp>
          <p:nvSpPr>
            <p:cNvPr id="21" name="5-Point Star 20"/>
            <p:cNvSpPr/>
            <p:nvPr/>
          </p:nvSpPr>
          <p:spPr>
            <a:xfrm>
              <a:off x="8313460" y="4860985"/>
              <a:ext cx="761206" cy="805567"/>
            </a:xfrm>
            <a:prstGeom prst="star5">
              <a:avLst/>
            </a:prstGeom>
            <a:solidFill>
              <a:schemeClr val="accent5">
                <a:lumMod val="40000"/>
                <a:lumOff val="60000"/>
              </a:schemeClr>
            </a:solidFill>
          </p:spPr>
          <p:style>
            <a:lnRef idx="0">
              <a:schemeClr val="accent4"/>
            </a:lnRef>
            <a:fillRef idx="3">
              <a:schemeClr val="accent4"/>
            </a:fillRef>
            <a:effectRef idx="3">
              <a:schemeClr val="accent4"/>
            </a:effectRef>
            <a:fontRef idx="minor">
              <a:schemeClr val="lt1"/>
            </a:fontRef>
          </p:style>
          <p:txBody>
            <a:bodyPr anchor="ctr"/>
            <a:lstStyle/>
            <a:p>
              <a:pPr algn="ctr" defTabSz="457200" fontAlgn="base">
                <a:spcBef>
                  <a:spcPct val="0"/>
                </a:spcBef>
                <a:spcAft>
                  <a:spcPct val="0"/>
                </a:spcAft>
                <a:defRPr/>
              </a:pPr>
              <a:endParaRPr lang="en-US" dirty="0">
                <a:solidFill>
                  <a:prstClr val="white"/>
                </a:solidFill>
              </a:endParaRPr>
            </a:p>
          </p:txBody>
        </p:sp>
      </p:grpSp>
      <p:sp>
        <p:nvSpPr>
          <p:cNvPr id="36" name="Rectangle 35"/>
          <p:cNvSpPr>
            <a:spLocks noChangeArrowheads="1"/>
          </p:cNvSpPr>
          <p:nvPr/>
        </p:nvSpPr>
        <p:spPr bwMode="auto">
          <a:xfrm>
            <a:off x="636588" y="3821113"/>
            <a:ext cx="7391400" cy="400050"/>
          </a:xfrm>
          <a:prstGeom prst="rect">
            <a:avLst/>
          </a:prstGeom>
          <a:solidFill>
            <a:srgbClr val="D1C9C7"/>
          </a:solidFill>
          <a:ln w="10000">
            <a:solidFill>
              <a:srgbClr val="8E736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defTabSz="457200" eaLnBrk="1" fontAlgn="base" hangingPunct="1">
              <a:spcBef>
                <a:spcPct val="0"/>
              </a:spcBef>
              <a:spcAft>
                <a:spcPct val="0"/>
              </a:spcAft>
              <a:defRPr/>
            </a:pPr>
            <a:r>
              <a:rPr lang="en-US" altLang="en-US" sz="2000" b="1" dirty="0">
                <a:solidFill>
                  <a:srgbClr val="000000"/>
                </a:solidFill>
              </a:rPr>
              <a:t>69051	 64817	 87174	 09517</a:t>
            </a:r>
            <a:r>
              <a:rPr lang="en-US" altLang="en-US" sz="1800" b="1" dirty="0">
                <a:solidFill>
                  <a:srgbClr val="000000"/>
                </a:solidFill>
              </a:rPr>
              <a:t> </a:t>
            </a:r>
            <a:r>
              <a:rPr lang="en-US" altLang="en-US" sz="2000" b="1" dirty="0">
                <a:solidFill>
                  <a:srgbClr val="000000"/>
                </a:solidFill>
              </a:rPr>
              <a:t>	84534 	06489 	87201 	97245</a:t>
            </a:r>
            <a:endParaRPr lang="en-US" altLang="en-US" sz="2000" dirty="0">
              <a:solidFill>
                <a:srgbClr val="000000"/>
              </a:solidFill>
            </a:endParaRPr>
          </a:p>
        </p:txBody>
      </p:sp>
      <p:sp>
        <p:nvSpPr>
          <p:cNvPr id="39" name="Down Arrow 38" descr="already described"/>
          <p:cNvSpPr>
            <a:spLocks noChangeArrowheads="1"/>
          </p:cNvSpPr>
          <p:nvPr/>
        </p:nvSpPr>
        <p:spPr bwMode="auto">
          <a:xfrm>
            <a:off x="766763" y="4284663"/>
            <a:ext cx="741362" cy="809625"/>
          </a:xfrm>
          <a:prstGeom prst="downArrow">
            <a:avLst>
              <a:gd name="adj1" fmla="val 50000"/>
              <a:gd name="adj2" fmla="val 49998"/>
            </a:avLst>
          </a:prstGeom>
          <a:solidFill>
            <a:srgbClr val="D1C9C7"/>
          </a:solidFill>
          <a:ln w="10000">
            <a:solidFill>
              <a:srgbClr val="8E736A"/>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black"/>
              </a:solidFill>
              <a:ea typeface="ＭＳ Ｐゴシック" pitchFamily="34" charset="-128"/>
            </a:endParaRPr>
          </a:p>
        </p:txBody>
      </p:sp>
      <p:sp>
        <p:nvSpPr>
          <p:cNvPr id="38" name="Down Arrow 37" descr="already described"/>
          <p:cNvSpPr>
            <a:spLocks noChangeArrowheads="1"/>
          </p:cNvSpPr>
          <p:nvPr/>
        </p:nvSpPr>
        <p:spPr bwMode="auto">
          <a:xfrm>
            <a:off x="4049713" y="4284663"/>
            <a:ext cx="741362" cy="809625"/>
          </a:xfrm>
          <a:prstGeom prst="downArrow">
            <a:avLst>
              <a:gd name="adj1" fmla="val 50000"/>
              <a:gd name="adj2" fmla="val 49998"/>
            </a:avLst>
          </a:prstGeom>
          <a:solidFill>
            <a:srgbClr val="D1C9C7"/>
          </a:solidFill>
          <a:ln w="10000">
            <a:solidFill>
              <a:srgbClr val="8E736A"/>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black"/>
              </a:solidFill>
              <a:ea typeface="ＭＳ Ｐゴシック" pitchFamily="34" charset="-128"/>
            </a:endParaRPr>
          </a:p>
        </p:txBody>
      </p:sp>
      <p:sp>
        <p:nvSpPr>
          <p:cNvPr id="40" name="Down Arrow 39" descr="already described"/>
          <p:cNvSpPr>
            <a:spLocks noChangeArrowheads="1"/>
          </p:cNvSpPr>
          <p:nvPr/>
        </p:nvSpPr>
        <p:spPr bwMode="auto">
          <a:xfrm>
            <a:off x="7127875" y="4284663"/>
            <a:ext cx="741363" cy="809625"/>
          </a:xfrm>
          <a:prstGeom prst="downArrow">
            <a:avLst>
              <a:gd name="adj1" fmla="val 50000"/>
              <a:gd name="adj2" fmla="val 49998"/>
            </a:avLst>
          </a:prstGeom>
          <a:solidFill>
            <a:srgbClr val="D1C9C7"/>
          </a:solidFill>
          <a:ln w="10000">
            <a:solidFill>
              <a:srgbClr val="8E736A"/>
            </a:solidFill>
            <a:miter lim="800000"/>
            <a:headEnd/>
            <a:tailEnd/>
          </a:ln>
          <a:effectLst>
            <a:outerShdw blurRad="38100" dist="30000" dir="5400000" rotWithShape="0">
              <a:srgbClr val="808080">
                <a:alpha val="45000"/>
              </a:srgbClr>
            </a:outerShdw>
          </a:effectLst>
        </p:spPr>
        <p:txBody>
          <a:bodyPr anchor="ctr"/>
          <a:lstStyle/>
          <a:p>
            <a:pPr algn="ctr" defTabSz="457200" fontAlgn="base">
              <a:spcBef>
                <a:spcPct val="0"/>
              </a:spcBef>
              <a:spcAft>
                <a:spcPct val="0"/>
              </a:spcAft>
              <a:defRPr/>
            </a:pPr>
            <a:endParaRPr lang="en-US" dirty="0">
              <a:solidFill>
                <a:prstClr val="black"/>
              </a:solidFill>
              <a:ea typeface="ＭＳ Ｐゴシック" pitchFamily="34" charset="-128"/>
            </a:endParaRPr>
          </a:p>
        </p:txBody>
      </p:sp>
      <p:sp>
        <p:nvSpPr>
          <p:cNvPr id="22" name="&quot;No&quot; Symbol 21" descr="already described"/>
          <p:cNvSpPr>
            <a:spLocks/>
          </p:cNvSpPr>
          <p:nvPr/>
        </p:nvSpPr>
        <p:spPr bwMode="auto">
          <a:xfrm>
            <a:off x="287338" y="5338763"/>
            <a:ext cx="444500" cy="442912"/>
          </a:xfrm>
          <a:custGeom>
            <a:avLst/>
            <a:gdLst>
              <a:gd name="T0" fmla="*/ 0 w 444500"/>
              <a:gd name="T1" fmla="*/ 221456 h 442912"/>
              <a:gd name="T2" fmla="*/ 222250 w 444500"/>
              <a:gd name="T3" fmla="*/ 0 h 442912"/>
              <a:gd name="T4" fmla="*/ 444500 w 444500"/>
              <a:gd name="T5" fmla="*/ 221456 h 442912"/>
              <a:gd name="T6" fmla="*/ 222250 w 444500"/>
              <a:gd name="T7" fmla="*/ 442912 h 442912"/>
              <a:gd name="T8" fmla="*/ 0 w 444500"/>
              <a:gd name="T9" fmla="*/ 221456 h 442912"/>
              <a:gd name="T10" fmla="*/ 344724 w 444500"/>
              <a:gd name="T11" fmla="*/ 287245 h 442912"/>
              <a:gd name="T12" fmla="*/ 320224 w 444500"/>
              <a:gd name="T13" fmla="*/ 123131 h 442912"/>
              <a:gd name="T14" fmla="*/ 156231 w 444500"/>
              <a:gd name="T15" fmla="*/ 99602 h 442912"/>
              <a:gd name="T16" fmla="*/ 344724 w 444500"/>
              <a:gd name="T17" fmla="*/ 287245 h 442912"/>
              <a:gd name="T18" fmla="*/ 99776 w 444500"/>
              <a:gd name="T19" fmla="*/ 155667 h 442912"/>
              <a:gd name="T20" fmla="*/ 124276 w 444500"/>
              <a:gd name="T21" fmla="*/ 319781 h 442912"/>
              <a:gd name="T22" fmla="*/ 288269 w 444500"/>
              <a:gd name="T23" fmla="*/ 343310 h 442912"/>
              <a:gd name="T24" fmla="*/ 99776 w 444500"/>
              <a:gd name="T25" fmla="*/ 155667 h 4429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4500"/>
              <a:gd name="T40" fmla="*/ 0 h 442912"/>
              <a:gd name="T41" fmla="*/ 444500 w 444500"/>
              <a:gd name="T42" fmla="*/ 442912 h 4429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4500" h="442912">
                <a:moveTo>
                  <a:pt x="0" y="221456"/>
                </a:moveTo>
                <a:cubicBezTo>
                  <a:pt x="0" y="99149"/>
                  <a:pt x="99505" y="0"/>
                  <a:pt x="222250" y="0"/>
                </a:cubicBezTo>
                <a:cubicBezTo>
                  <a:pt x="344995" y="0"/>
                  <a:pt x="444500" y="99149"/>
                  <a:pt x="444500" y="221456"/>
                </a:cubicBezTo>
                <a:cubicBezTo>
                  <a:pt x="444500" y="343763"/>
                  <a:pt x="344995" y="442912"/>
                  <a:pt x="222250" y="442912"/>
                </a:cubicBezTo>
                <a:cubicBezTo>
                  <a:pt x="99505" y="442912"/>
                  <a:pt x="0" y="343763"/>
                  <a:pt x="0" y="221456"/>
                </a:cubicBezTo>
                <a:close/>
                <a:moveTo>
                  <a:pt x="344724" y="287245"/>
                </a:moveTo>
                <a:cubicBezTo>
                  <a:pt x="374091" y="233196"/>
                  <a:pt x="364115" y="166368"/>
                  <a:pt x="320224" y="123131"/>
                </a:cubicBezTo>
                <a:cubicBezTo>
                  <a:pt x="276717" y="80273"/>
                  <a:pt x="210150" y="70722"/>
                  <a:pt x="156231" y="99602"/>
                </a:cubicBezTo>
                <a:lnTo>
                  <a:pt x="344724" y="287245"/>
                </a:lnTo>
                <a:close/>
                <a:moveTo>
                  <a:pt x="99776" y="155667"/>
                </a:moveTo>
                <a:cubicBezTo>
                  <a:pt x="70409" y="209716"/>
                  <a:pt x="80385" y="276544"/>
                  <a:pt x="124276" y="319781"/>
                </a:cubicBezTo>
                <a:cubicBezTo>
                  <a:pt x="167783" y="362639"/>
                  <a:pt x="234350" y="372190"/>
                  <a:pt x="288269" y="343310"/>
                </a:cubicBezTo>
                <a:lnTo>
                  <a:pt x="99776" y="155667"/>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23" name="&quot;No&quot; Symbol 22" descr="already described"/>
          <p:cNvSpPr>
            <a:spLocks/>
          </p:cNvSpPr>
          <p:nvPr/>
        </p:nvSpPr>
        <p:spPr bwMode="auto">
          <a:xfrm>
            <a:off x="1789113" y="5338763"/>
            <a:ext cx="442912" cy="442912"/>
          </a:xfrm>
          <a:custGeom>
            <a:avLst/>
            <a:gdLst>
              <a:gd name="T0" fmla="*/ 0 w 442912"/>
              <a:gd name="T1" fmla="*/ 221456 h 442912"/>
              <a:gd name="T2" fmla="*/ 221456 w 442912"/>
              <a:gd name="T3" fmla="*/ 0 h 442912"/>
              <a:gd name="T4" fmla="*/ 442912 w 442912"/>
              <a:gd name="T5" fmla="*/ 221456 h 442912"/>
              <a:gd name="T6" fmla="*/ 221456 w 442912"/>
              <a:gd name="T7" fmla="*/ 442912 h 442912"/>
              <a:gd name="T8" fmla="*/ 0 w 442912"/>
              <a:gd name="T9" fmla="*/ 221456 h 442912"/>
              <a:gd name="T10" fmla="*/ 343322 w 442912"/>
              <a:gd name="T11" fmla="*/ 287076 h 442912"/>
              <a:gd name="T12" fmla="*/ 319327 w 442912"/>
              <a:gd name="T13" fmla="*/ 123585 h 442912"/>
              <a:gd name="T14" fmla="*/ 155836 w 442912"/>
              <a:gd name="T15" fmla="*/ 99590 h 442912"/>
              <a:gd name="T16" fmla="*/ 343322 w 442912"/>
              <a:gd name="T17" fmla="*/ 287076 h 442912"/>
              <a:gd name="T18" fmla="*/ 99590 w 442912"/>
              <a:gd name="T19" fmla="*/ 155836 h 442912"/>
              <a:gd name="T20" fmla="*/ 123585 w 442912"/>
              <a:gd name="T21" fmla="*/ 319327 h 442912"/>
              <a:gd name="T22" fmla="*/ 287076 w 442912"/>
              <a:gd name="T23" fmla="*/ 343322 h 442912"/>
              <a:gd name="T24" fmla="*/ 99590 w 442912"/>
              <a:gd name="T25" fmla="*/ 155836 h 4429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912"/>
              <a:gd name="T41" fmla="*/ 442912 w 442912"/>
              <a:gd name="T42" fmla="*/ 442912 h 4429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912">
                <a:moveTo>
                  <a:pt x="0" y="221456"/>
                </a:moveTo>
                <a:cubicBezTo>
                  <a:pt x="0" y="99149"/>
                  <a:pt x="99149" y="0"/>
                  <a:pt x="221456" y="0"/>
                </a:cubicBezTo>
                <a:cubicBezTo>
                  <a:pt x="343763" y="0"/>
                  <a:pt x="442912" y="99149"/>
                  <a:pt x="442912" y="221456"/>
                </a:cubicBezTo>
                <a:cubicBezTo>
                  <a:pt x="442912" y="343763"/>
                  <a:pt x="343763" y="442912"/>
                  <a:pt x="221456" y="442912"/>
                </a:cubicBezTo>
                <a:cubicBezTo>
                  <a:pt x="99149" y="442912"/>
                  <a:pt x="0" y="343763"/>
                  <a:pt x="0" y="221456"/>
                </a:cubicBezTo>
                <a:close/>
                <a:moveTo>
                  <a:pt x="343322" y="287076"/>
                </a:moveTo>
                <a:cubicBezTo>
                  <a:pt x="372300" y="233259"/>
                  <a:pt x="362547" y="166806"/>
                  <a:pt x="319327" y="123585"/>
                </a:cubicBezTo>
                <a:cubicBezTo>
                  <a:pt x="276106" y="80365"/>
                  <a:pt x="209653" y="70611"/>
                  <a:pt x="155836" y="99590"/>
                </a:cubicBezTo>
                <a:lnTo>
                  <a:pt x="343322" y="287076"/>
                </a:lnTo>
                <a:close/>
                <a:moveTo>
                  <a:pt x="99590" y="155836"/>
                </a:moveTo>
                <a:cubicBezTo>
                  <a:pt x="70612" y="209653"/>
                  <a:pt x="80365" y="276106"/>
                  <a:pt x="123585" y="319327"/>
                </a:cubicBezTo>
                <a:cubicBezTo>
                  <a:pt x="166806" y="362547"/>
                  <a:pt x="233259" y="372301"/>
                  <a:pt x="287076" y="343322"/>
                </a:cubicBezTo>
                <a:lnTo>
                  <a:pt x="99590" y="155836"/>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24" name="&quot;No&quot; Symbol 23" descr="already described"/>
          <p:cNvSpPr>
            <a:spLocks/>
          </p:cNvSpPr>
          <p:nvPr/>
        </p:nvSpPr>
        <p:spPr bwMode="auto">
          <a:xfrm>
            <a:off x="2814638" y="5338763"/>
            <a:ext cx="442912" cy="442912"/>
          </a:xfrm>
          <a:custGeom>
            <a:avLst/>
            <a:gdLst>
              <a:gd name="T0" fmla="*/ 0 w 442912"/>
              <a:gd name="T1" fmla="*/ 221456 h 442912"/>
              <a:gd name="T2" fmla="*/ 221456 w 442912"/>
              <a:gd name="T3" fmla="*/ 0 h 442912"/>
              <a:gd name="T4" fmla="*/ 442912 w 442912"/>
              <a:gd name="T5" fmla="*/ 221456 h 442912"/>
              <a:gd name="T6" fmla="*/ 221456 w 442912"/>
              <a:gd name="T7" fmla="*/ 442912 h 442912"/>
              <a:gd name="T8" fmla="*/ 0 w 442912"/>
              <a:gd name="T9" fmla="*/ 221456 h 442912"/>
              <a:gd name="T10" fmla="*/ 343322 w 442912"/>
              <a:gd name="T11" fmla="*/ 287076 h 442912"/>
              <a:gd name="T12" fmla="*/ 319327 w 442912"/>
              <a:gd name="T13" fmla="*/ 123585 h 442912"/>
              <a:gd name="T14" fmla="*/ 155836 w 442912"/>
              <a:gd name="T15" fmla="*/ 99590 h 442912"/>
              <a:gd name="T16" fmla="*/ 343322 w 442912"/>
              <a:gd name="T17" fmla="*/ 287076 h 442912"/>
              <a:gd name="T18" fmla="*/ 99590 w 442912"/>
              <a:gd name="T19" fmla="*/ 155836 h 442912"/>
              <a:gd name="T20" fmla="*/ 123585 w 442912"/>
              <a:gd name="T21" fmla="*/ 319327 h 442912"/>
              <a:gd name="T22" fmla="*/ 287076 w 442912"/>
              <a:gd name="T23" fmla="*/ 343322 h 442912"/>
              <a:gd name="T24" fmla="*/ 99590 w 442912"/>
              <a:gd name="T25" fmla="*/ 155836 h 4429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912"/>
              <a:gd name="T41" fmla="*/ 442912 w 442912"/>
              <a:gd name="T42" fmla="*/ 442912 h 4429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912">
                <a:moveTo>
                  <a:pt x="0" y="221456"/>
                </a:moveTo>
                <a:cubicBezTo>
                  <a:pt x="0" y="99149"/>
                  <a:pt x="99149" y="0"/>
                  <a:pt x="221456" y="0"/>
                </a:cubicBezTo>
                <a:cubicBezTo>
                  <a:pt x="343763" y="0"/>
                  <a:pt x="442912" y="99149"/>
                  <a:pt x="442912" y="221456"/>
                </a:cubicBezTo>
                <a:cubicBezTo>
                  <a:pt x="442912" y="343763"/>
                  <a:pt x="343763" y="442912"/>
                  <a:pt x="221456" y="442912"/>
                </a:cubicBezTo>
                <a:cubicBezTo>
                  <a:pt x="99149" y="442912"/>
                  <a:pt x="0" y="343763"/>
                  <a:pt x="0" y="221456"/>
                </a:cubicBezTo>
                <a:close/>
                <a:moveTo>
                  <a:pt x="343322" y="287076"/>
                </a:moveTo>
                <a:cubicBezTo>
                  <a:pt x="372300" y="233259"/>
                  <a:pt x="362547" y="166806"/>
                  <a:pt x="319327" y="123585"/>
                </a:cubicBezTo>
                <a:cubicBezTo>
                  <a:pt x="276106" y="80365"/>
                  <a:pt x="209653" y="70611"/>
                  <a:pt x="155836" y="99590"/>
                </a:cubicBezTo>
                <a:lnTo>
                  <a:pt x="343322" y="287076"/>
                </a:lnTo>
                <a:close/>
                <a:moveTo>
                  <a:pt x="99590" y="155836"/>
                </a:moveTo>
                <a:cubicBezTo>
                  <a:pt x="70612" y="209653"/>
                  <a:pt x="80365" y="276106"/>
                  <a:pt x="123585" y="319327"/>
                </a:cubicBezTo>
                <a:cubicBezTo>
                  <a:pt x="166806" y="362547"/>
                  <a:pt x="233259" y="372301"/>
                  <a:pt x="287076" y="343322"/>
                </a:cubicBezTo>
                <a:lnTo>
                  <a:pt x="99590" y="155836"/>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grpSp>
        <p:nvGrpSpPr>
          <p:cNvPr id="6" name="Group 41" descr="already described"/>
          <p:cNvGrpSpPr>
            <a:grpSpLocks/>
          </p:cNvGrpSpPr>
          <p:nvPr/>
        </p:nvGrpSpPr>
        <p:grpSpPr bwMode="auto">
          <a:xfrm>
            <a:off x="3841750" y="5321300"/>
            <a:ext cx="4470400" cy="460375"/>
            <a:chOff x="3905248" y="5109637"/>
            <a:chExt cx="4470404" cy="461665"/>
          </a:xfrm>
        </p:grpSpPr>
        <p:sp>
          <p:nvSpPr>
            <p:cNvPr id="26" name="&quot;No&quot; Symbol 25"/>
            <p:cNvSpPr>
              <a:spLocks/>
            </p:cNvSpPr>
            <p:nvPr/>
          </p:nvSpPr>
          <p:spPr bwMode="auto">
            <a:xfrm>
              <a:off x="3905248" y="5128740"/>
              <a:ext cx="442913" cy="442562"/>
            </a:xfrm>
            <a:custGeom>
              <a:avLst/>
              <a:gdLst>
                <a:gd name="T0" fmla="*/ 0 w 442913"/>
                <a:gd name="T1" fmla="*/ 221281 h 442562"/>
                <a:gd name="T2" fmla="*/ 221457 w 442913"/>
                <a:gd name="T3" fmla="*/ 0 h 442562"/>
                <a:gd name="T4" fmla="*/ 442914 w 442913"/>
                <a:gd name="T5" fmla="*/ 221281 h 442562"/>
                <a:gd name="T6" fmla="*/ 221457 w 442913"/>
                <a:gd name="T7" fmla="*/ 442562 h 442562"/>
                <a:gd name="T8" fmla="*/ 0 w 442913"/>
                <a:gd name="T9" fmla="*/ 221281 h 442562"/>
                <a:gd name="T10" fmla="*/ 343361 w 442913"/>
                <a:gd name="T11" fmla="*/ 286887 h 442562"/>
                <a:gd name="T12" fmla="*/ 319274 w 442913"/>
                <a:gd name="T13" fmla="*/ 123387 h 442562"/>
                <a:gd name="T14" fmla="*/ 155801 w 442913"/>
                <a:gd name="T15" fmla="*/ 99514 h 442562"/>
                <a:gd name="T16" fmla="*/ 343361 w 442913"/>
                <a:gd name="T17" fmla="*/ 286887 h 442562"/>
                <a:gd name="T18" fmla="*/ 99552 w 442913"/>
                <a:gd name="T19" fmla="*/ 155675 h 442562"/>
                <a:gd name="T20" fmla="*/ 123639 w 442913"/>
                <a:gd name="T21" fmla="*/ 319175 h 442562"/>
                <a:gd name="T22" fmla="*/ 287112 w 442913"/>
                <a:gd name="T23" fmla="*/ 343048 h 442562"/>
                <a:gd name="T24" fmla="*/ 99552 w 442913"/>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3"/>
                <a:gd name="T40" fmla="*/ 0 h 442562"/>
                <a:gd name="T41" fmla="*/ 442913 w 442913"/>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3" h="442562">
                  <a:moveTo>
                    <a:pt x="0" y="221281"/>
                  </a:moveTo>
                  <a:cubicBezTo>
                    <a:pt x="0" y="99071"/>
                    <a:pt x="99150" y="0"/>
                    <a:pt x="221457" y="0"/>
                  </a:cubicBezTo>
                  <a:cubicBezTo>
                    <a:pt x="343764" y="0"/>
                    <a:pt x="442914" y="99071"/>
                    <a:pt x="442914" y="221281"/>
                  </a:cubicBezTo>
                  <a:cubicBezTo>
                    <a:pt x="442914" y="343491"/>
                    <a:pt x="343764" y="442562"/>
                    <a:pt x="221457" y="442562"/>
                  </a:cubicBezTo>
                  <a:cubicBezTo>
                    <a:pt x="99150" y="442562"/>
                    <a:pt x="0" y="343491"/>
                    <a:pt x="0" y="221281"/>
                  </a:cubicBezTo>
                  <a:close/>
                  <a:moveTo>
                    <a:pt x="343361" y="286887"/>
                  </a:moveTo>
                  <a:cubicBezTo>
                    <a:pt x="372402" y="233061"/>
                    <a:pt x="362607" y="166577"/>
                    <a:pt x="319274" y="123387"/>
                  </a:cubicBezTo>
                  <a:cubicBezTo>
                    <a:pt x="276024" y="80281"/>
                    <a:pt x="209598" y="70580"/>
                    <a:pt x="155801" y="99514"/>
                  </a:cubicBezTo>
                  <a:lnTo>
                    <a:pt x="343361" y="286887"/>
                  </a:lnTo>
                  <a:close/>
                  <a:moveTo>
                    <a:pt x="99552" y="155675"/>
                  </a:moveTo>
                  <a:cubicBezTo>
                    <a:pt x="70511" y="209501"/>
                    <a:pt x="80306"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27" name="&quot;No&quot; Symbol 26"/>
            <p:cNvSpPr>
              <a:spLocks/>
            </p:cNvSpPr>
            <p:nvPr/>
          </p:nvSpPr>
          <p:spPr bwMode="auto">
            <a:xfrm>
              <a:off x="4411661" y="5128740"/>
              <a:ext cx="442912" cy="442562"/>
            </a:xfrm>
            <a:custGeom>
              <a:avLst/>
              <a:gdLst>
                <a:gd name="T0" fmla="*/ 0 w 442912"/>
                <a:gd name="T1" fmla="*/ 221281 h 442562"/>
                <a:gd name="T2" fmla="*/ 221456 w 442912"/>
                <a:gd name="T3" fmla="*/ 0 h 442562"/>
                <a:gd name="T4" fmla="*/ 442912 w 442912"/>
                <a:gd name="T5" fmla="*/ 221281 h 442562"/>
                <a:gd name="T6" fmla="*/ 221456 w 442912"/>
                <a:gd name="T7" fmla="*/ 442562 h 442562"/>
                <a:gd name="T8" fmla="*/ 0 w 442912"/>
                <a:gd name="T9" fmla="*/ 221281 h 442562"/>
                <a:gd name="T10" fmla="*/ 343360 w 442912"/>
                <a:gd name="T11" fmla="*/ 286887 h 442562"/>
                <a:gd name="T12" fmla="*/ 319273 w 442912"/>
                <a:gd name="T13" fmla="*/ 123387 h 442562"/>
                <a:gd name="T14" fmla="*/ 155800 w 442912"/>
                <a:gd name="T15" fmla="*/ 99514 h 442562"/>
                <a:gd name="T16" fmla="*/ 343360 w 442912"/>
                <a:gd name="T17" fmla="*/ 286887 h 442562"/>
                <a:gd name="T18" fmla="*/ 99552 w 442912"/>
                <a:gd name="T19" fmla="*/ 155675 h 442562"/>
                <a:gd name="T20" fmla="*/ 123639 w 442912"/>
                <a:gd name="T21" fmla="*/ 319175 h 442562"/>
                <a:gd name="T22" fmla="*/ 287112 w 442912"/>
                <a:gd name="T23" fmla="*/ 343048 h 442562"/>
                <a:gd name="T24" fmla="*/ 99552 w 442912"/>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562"/>
                <a:gd name="T41" fmla="*/ 442912 w 442912"/>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562">
                  <a:moveTo>
                    <a:pt x="0" y="221281"/>
                  </a:moveTo>
                  <a:cubicBezTo>
                    <a:pt x="0" y="99071"/>
                    <a:pt x="99149" y="0"/>
                    <a:pt x="221456" y="0"/>
                  </a:cubicBezTo>
                  <a:cubicBezTo>
                    <a:pt x="343763" y="0"/>
                    <a:pt x="442912" y="99071"/>
                    <a:pt x="442912" y="221281"/>
                  </a:cubicBezTo>
                  <a:cubicBezTo>
                    <a:pt x="442912" y="343491"/>
                    <a:pt x="343763" y="442562"/>
                    <a:pt x="221456" y="442562"/>
                  </a:cubicBezTo>
                  <a:cubicBezTo>
                    <a:pt x="99149" y="442562"/>
                    <a:pt x="0" y="343491"/>
                    <a:pt x="0" y="221281"/>
                  </a:cubicBezTo>
                  <a:close/>
                  <a:moveTo>
                    <a:pt x="343360" y="286887"/>
                  </a:moveTo>
                  <a:cubicBezTo>
                    <a:pt x="372401" y="233061"/>
                    <a:pt x="362607" y="166577"/>
                    <a:pt x="319273" y="123387"/>
                  </a:cubicBezTo>
                  <a:cubicBezTo>
                    <a:pt x="276023" y="80281"/>
                    <a:pt x="209597" y="70580"/>
                    <a:pt x="155800" y="99514"/>
                  </a:cubicBezTo>
                  <a:lnTo>
                    <a:pt x="343360" y="286887"/>
                  </a:lnTo>
                  <a:close/>
                  <a:moveTo>
                    <a:pt x="99552" y="155675"/>
                  </a:moveTo>
                  <a:cubicBezTo>
                    <a:pt x="70511" y="209501"/>
                    <a:pt x="80305"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28" name="&quot;No&quot; Symbol 27"/>
            <p:cNvSpPr>
              <a:spLocks/>
            </p:cNvSpPr>
            <p:nvPr/>
          </p:nvSpPr>
          <p:spPr bwMode="auto">
            <a:xfrm>
              <a:off x="5408612" y="5128740"/>
              <a:ext cx="442912" cy="442562"/>
            </a:xfrm>
            <a:custGeom>
              <a:avLst/>
              <a:gdLst>
                <a:gd name="T0" fmla="*/ 0 w 442912"/>
                <a:gd name="T1" fmla="*/ 221281 h 442562"/>
                <a:gd name="T2" fmla="*/ 221456 w 442912"/>
                <a:gd name="T3" fmla="*/ 0 h 442562"/>
                <a:gd name="T4" fmla="*/ 442912 w 442912"/>
                <a:gd name="T5" fmla="*/ 221281 h 442562"/>
                <a:gd name="T6" fmla="*/ 221456 w 442912"/>
                <a:gd name="T7" fmla="*/ 442562 h 442562"/>
                <a:gd name="T8" fmla="*/ 0 w 442912"/>
                <a:gd name="T9" fmla="*/ 221281 h 442562"/>
                <a:gd name="T10" fmla="*/ 343360 w 442912"/>
                <a:gd name="T11" fmla="*/ 286887 h 442562"/>
                <a:gd name="T12" fmla="*/ 319273 w 442912"/>
                <a:gd name="T13" fmla="*/ 123387 h 442562"/>
                <a:gd name="T14" fmla="*/ 155800 w 442912"/>
                <a:gd name="T15" fmla="*/ 99514 h 442562"/>
                <a:gd name="T16" fmla="*/ 343360 w 442912"/>
                <a:gd name="T17" fmla="*/ 286887 h 442562"/>
                <a:gd name="T18" fmla="*/ 99552 w 442912"/>
                <a:gd name="T19" fmla="*/ 155675 h 442562"/>
                <a:gd name="T20" fmla="*/ 123639 w 442912"/>
                <a:gd name="T21" fmla="*/ 319175 h 442562"/>
                <a:gd name="T22" fmla="*/ 287112 w 442912"/>
                <a:gd name="T23" fmla="*/ 343048 h 442562"/>
                <a:gd name="T24" fmla="*/ 99552 w 442912"/>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562"/>
                <a:gd name="T41" fmla="*/ 442912 w 442912"/>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562">
                  <a:moveTo>
                    <a:pt x="0" y="221281"/>
                  </a:moveTo>
                  <a:cubicBezTo>
                    <a:pt x="0" y="99071"/>
                    <a:pt x="99149" y="0"/>
                    <a:pt x="221456" y="0"/>
                  </a:cubicBezTo>
                  <a:cubicBezTo>
                    <a:pt x="343763" y="0"/>
                    <a:pt x="442912" y="99071"/>
                    <a:pt x="442912" y="221281"/>
                  </a:cubicBezTo>
                  <a:cubicBezTo>
                    <a:pt x="442912" y="343491"/>
                    <a:pt x="343763" y="442562"/>
                    <a:pt x="221456" y="442562"/>
                  </a:cubicBezTo>
                  <a:cubicBezTo>
                    <a:pt x="99149" y="442562"/>
                    <a:pt x="0" y="343491"/>
                    <a:pt x="0" y="221281"/>
                  </a:cubicBezTo>
                  <a:close/>
                  <a:moveTo>
                    <a:pt x="343360" y="286887"/>
                  </a:moveTo>
                  <a:cubicBezTo>
                    <a:pt x="372401" y="233061"/>
                    <a:pt x="362607" y="166577"/>
                    <a:pt x="319273" y="123387"/>
                  </a:cubicBezTo>
                  <a:cubicBezTo>
                    <a:pt x="276023" y="80281"/>
                    <a:pt x="209597" y="70580"/>
                    <a:pt x="155800" y="99514"/>
                  </a:cubicBezTo>
                  <a:lnTo>
                    <a:pt x="343360" y="286887"/>
                  </a:lnTo>
                  <a:close/>
                  <a:moveTo>
                    <a:pt x="99552" y="155675"/>
                  </a:moveTo>
                  <a:cubicBezTo>
                    <a:pt x="70511" y="209501"/>
                    <a:pt x="80305"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29" name="&quot;No&quot; Symbol 28"/>
            <p:cNvSpPr>
              <a:spLocks/>
            </p:cNvSpPr>
            <p:nvPr/>
          </p:nvSpPr>
          <p:spPr bwMode="auto">
            <a:xfrm>
              <a:off x="6405563" y="5128740"/>
              <a:ext cx="442912" cy="442562"/>
            </a:xfrm>
            <a:custGeom>
              <a:avLst/>
              <a:gdLst>
                <a:gd name="T0" fmla="*/ 0 w 442912"/>
                <a:gd name="T1" fmla="*/ 221281 h 442562"/>
                <a:gd name="T2" fmla="*/ 221456 w 442912"/>
                <a:gd name="T3" fmla="*/ 0 h 442562"/>
                <a:gd name="T4" fmla="*/ 442912 w 442912"/>
                <a:gd name="T5" fmla="*/ 221281 h 442562"/>
                <a:gd name="T6" fmla="*/ 221456 w 442912"/>
                <a:gd name="T7" fmla="*/ 442562 h 442562"/>
                <a:gd name="T8" fmla="*/ 0 w 442912"/>
                <a:gd name="T9" fmla="*/ 221281 h 442562"/>
                <a:gd name="T10" fmla="*/ 343360 w 442912"/>
                <a:gd name="T11" fmla="*/ 286887 h 442562"/>
                <a:gd name="T12" fmla="*/ 319273 w 442912"/>
                <a:gd name="T13" fmla="*/ 123387 h 442562"/>
                <a:gd name="T14" fmla="*/ 155800 w 442912"/>
                <a:gd name="T15" fmla="*/ 99514 h 442562"/>
                <a:gd name="T16" fmla="*/ 343360 w 442912"/>
                <a:gd name="T17" fmla="*/ 286887 h 442562"/>
                <a:gd name="T18" fmla="*/ 99552 w 442912"/>
                <a:gd name="T19" fmla="*/ 155675 h 442562"/>
                <a:gd name="T20" fmla="*/ 123639 w 442912"/>
                <a:gd name="T21" fmla="*/ 319175 h 442562"/>
                <a:gd name="T22" fmla="*/ 287112 w 442912"/>
                <a:gd name="T23" fmla="*/ 343048 h 442562"/>
                <a:gd name="T24" fmla="*/ 99552 w 442912"/>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562"/>
                <a:gd name="T41" fmla="*/ 442912 w 442912"/>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562">
                  <a:moveTo>
                    <a:pt x="0" y="221281"/>
                  </a:moveTo>
                  <a:cubicBezTo>
                    <a:pt x="0" y="99071"/>
                    <a:pt x="99149" y="0"/>
                    <a:pt x="221456" y="0"/>
                  </a:cubicBezTo>
                  <a:cubicBezTo>
                    <a:pt x="343763" y="0"/>
                    <a:pt x="442912" y="99071"/>
                    <a:pt x="442912" y="221281"/>
                  </a:cubicBezTo>
                  <a:cubicBezTo>
                    <a:pt x="442912" y="343491"/>
                    <a:pt x="343763" y="442562"/>
                    <a:pt x="221456" y="442562"/>
                  </a:cubicBezTo>
                  <a:cubicBezTo>
                    <a:pt x="99149" y="442562"/>
                    <a:pt x="0" y="343491"/>
                    <a:pt x="0" y="221281"/>
                  </a:cubicBezTo>
                  <a:close/>
                  <a:moveTo>
                    <a:pt x="343360" y="286887"/>
                  </a:moveTo>
                  <a:cubicBezTo>
                    <a:pt x="372401" y="233061"/>
                    <a:pt x="362607" y="166577"/>
                    <a:pt x="319273" y="123387"/>
                  </a:cubicBezTo>
                  <a:cubicBezTo>
                    <a:pt x="276023" y="80281"/>
                    <a:pt x="209597" y="70580"/>
                    <a:pt x="155800" y="99514"/>
                  </a:cubicBezTo>
                  <a:lnTo>
                    <a:pt x="343360" y="286887"/>
                  </a:lnTo>
                  <a:close/>
                  <a:moveTo>
                    <a:pt x="99552" y="155675"/>
                  </a:moveTo>
                  <a:cubicBezTo>
                    <a:pt x="70511" y="209501"/>
                    <a:pt x="80305"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30" name="&quot;No&quot; Symbol 29"/>
            <p:cNvSpPr>
              <a:spLocks/>
            </p:cNvSpPr>
            <p:nvPr/>
          </p:nvSpPr>
          <p:spPr bwMode="auto">
            <a:xfrm>
              <a:off x="5899150" y="5128740"/>
              <a:ext cx="442913" cy="442562"/>
            </a:xfrm>
            <a:custGeom>
              <a:avLst/>
              <a:gdLst>
                <a:gd name="T0" fmla="*/ 0 w 442913"/>
                <a:gd name="T1" fmla="*/ 221281 h 442562"/>
                <a:gd name="T2" fmla="*/ 221457 w 442913"/>
                <a:gd name="T3" fmla="*/ 0 h 442562"/>
                <a:gd name="T4" fmla="*/ 442914 w 442913"/>
                <a:gd name="T5" fmla="*/ 221281 h 442562"/>
                <a:gd name="T6" fmla="*/ 221457 w 442913"/>
                <a:gd name="T7" fmla="*/ 442562 h 442562"/>
                <a:gd name="T8" fmla="*/ 0 w 442913"/>
                <a:gd name="T9" fmla="*/ 221281 h 442562"/>
                <a:gd name="T10" fmla="*/ 343361 w 442913"/>
                <a:gd name="T11" fmla="*/ 286887 h 442562"/>
                <a:gd name="T12" fmla="*/ 319274 w 442913"/>
                <a:gd name="T13" fmla="*/ 123387 h 442562"/>
                <a:gd name="T14" fmla="*/ 155801 w 442913"/>
                <a:gd name="T15" fmla="*/ 99514 h 442562"/>
                <a:gd name="T16" fmla="*/ 343361 w 442913"/>
                <a:gd name="T17" fmla="*/ 286887 h 442562"/>
                <a:gd name="T18" fmla="*/ 99552 w 442913"/>
                <a:gd name="T19" fmla="*/ 155675 h 442562"/>
                <a:gd name="T20" fmla="*/ 123639 w 442913"/>
                <a:gd name="T21" fmla="*/ 319175 h 442562"/>
                <a:gd name="T22" fmla="*/ 287112 w 442913"/>
                <a:gd name="T23" fmla="*/ 343048 h 442562"/>
                <a:gd name="T24" fmla="*/ 99552 w 442913"/>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3"/>
                <a:gd name="T40" fmla="*/ 0 h 442562"/>
                <a:gd name="T41" fmla="*/ 442913 w 442913"/>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3" h="442562">
                  <a:moveTo>
                    <a:pt x="0" y="221281"/>
                  </a:moveTo>
                  <a:cubicBezTo>
                    <a:pt x="0" y="99071"/>
                    <a:pt x="99150" y="0"/>
                    <a:pt x="221457" y="0"/>
                  </a:cubicBezTo>
                  <a:cubicBezTo>
                    <a:pt x="343764" y="0"/>
                    <a:pt x="442914" y="99071"/>
                    <a:pt x="442914" y="221281"/>
                  </a:cubicBezTo>
                  <a:cubicBezTo>
                    <a:pt x="442914" y="343491"/>
                    <a:pt x="343764" y="442562"/>
                    <a:pt x="221457" y="442562"/>
                  </a:cubicBezTo>
                  <a:cubicBezTo>
                    <a:pt x="99150" y="442562"/>
                    <a:pt x="0" y="343491"/>
                    <a:pt x="0" y="221281"/>
                  </a:cubicBezTo>
                  <a:close/>
                  <a:moveTo>
                    <a:pt x="343361" y="286887"/>
                  </a:moveTo>
                  <a:cubicBezTo>
                    <a:pt x="372402" y="233061"/>
                    <a:pt x="362607" y="166577"/>
                    <a:pt x="319274" y="123387"/>
                  </a:cubicBezTo>
                  <a:cubicBezTo>
                    <a:pt x="276024" y="80281"/>
                    <a:pt x="209598" y="70580"/>
                    <a:pt x="155801" y="99514"/>
                  </a:cubicBezTo>
                  <a:lnTo>
                    <a:pt x="343361" y="286887"/>
                  </a:lnTo>
                  <a:close/>
                  <a:moveTo>
                    <a:pt x="99552" y="155675"/>
                  </a:moveTo>
                  <a:cubicBezTo>
                    <a:pt x="70511" y="209501"/>
                    <a:pt x="80306"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31" name="&quot;No&quot; Symbol 30"/>
            <p:cNvSpPr>
              <a:spLocks/>
            </p:cNvSpPr>
            <p:nvPr/>
          </p:nvSpPr>
          <p:spPr bwMode="auto">
            <a:xfrm>
              <a:off x="6911976" y="5109637"/>
              <a:ext cx="442913" cy="442562"/>
            </a:xfrm>
            <a:custGeom>
              <a:avLst/>
              <a:gdLst>
                <a:gd name="T0" fmla="*/ 0 w 442913"/>
                <a:gd name="T1" fmla="*/ 221281 h 442562"/>
                <a:gd name="T2" fmla="*/ 221457 w 442913"/>
                <a:gd name="T3" fmla="*/ 0 h 442562"/>
                <a:gd name="T4" fmla="*/ 442914 w 442913"/>
                <a:gd name="T5" fmla="*/ 221281 h 442562"/>
                <a:gd name="T6" fmla="*/ 221457 w 442913"/>
                <a:gd name="T7" fmla="*/ 442562 h 442562"/>
                <a:gd name="T8" fmla="*/ 0 w 442913"/>
                <a:gd name="T9" fmla="*/ 221281 h 442562"/>
                <a:gd name="T10" fmla="*/ 343361 w 442913"/>
                <a:gd name="T11" fmla="*/ 286887 h 442562"/>
                <a:gd name="T12" fmla="*/ 319274 w 442913"/>
                <a:gd name="T13" fmla="*/ 123387 h 442562"/>
                <a:gd name="T14" fmla="*/ 155801 w 442913"/>
                <a:gd name="T15" fmla="*/ 99514 h 442562"/>
                <a:gd name="T16" fmla="*/ 343361 w 442913"/>
                <a:gd name="T17" fmla="*/ 286887 h 442562"/>
                <a:gd name="T18" fmla="*/ 99552 w 442913"/>
                <a:gd name="T19" fmla="*/ 155675 h 442562"/>
                <a:gd name="T20" fmla="*/ 123639 w 442913"/>
                <a:gd name="T21" fmla="*/ 319175 h 442562"/>
                <a:gd name="T22" fmla="*/ 287112 w 442913"/>
                <a:gd name="T23" fmla="*/ 343048 h 442562"/>
                <a:gd name="T24" fmla="*/ 99552 w 442913"/>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3"/>
                <a:gd name="T40" fmla="*/ 0 h 442562"/>
                <a:gd name="T41" fmla="*/ 442913 w 442913"/>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3" h="442562">
                  <a:moveTo>
                    <a:pt x="0" y="221281"/>
                  </a:moveTo>
                  <a:cubicBezTo>
                    <a:pt x="0" y="99071"/>
                    <a:pt x="99150" y="0"/>
                    <a:pt x="221457" y="0"/>
                  </a:cubicBezTo>
                  <a:cubicBezTo>
                    <a:pt x="343764" y="0"/>
                    <a:pt x="442914" y="99071"/>
                    <a:pt x="442914" y="221281"/>
                  </a:cubicBezTo>
                  <a:cubicBezTo>
                    <a:pt x="442914" y="343491"/>
                    <a:pt x="343764" y="442562"/>
                    <a:pt x="221457" y="442562"/>
                  </a:cubicBezTo>
                  <a:cubicBezTo>
                    <a:pt x="99150" y="442562"/>
                    <a:pt x="0" y="343491"/>
                    <a:pt x="0" y="221281"/>
                  </a:cubicBezTo>
                  <a:close/>
                  <a:moveTo>
                    <a:pt x="343361" y="286887"/>
                  </a:moveTo>
                  <a:cubicBezTo>
                    <a:pt x="372402" y="233061"/>
                    <a:pt x="362607" y="166577"/>
                    <a:pt x="319274" y="123387"/>
                  </a:cubicBezTo>
                  <a:cubicBezTo>
                    <a:pt x="276024" y="80281"/>
                    <a:pt x="209598" y="70580"/>
                    <a:pt x="155801" y="99514"/>
                  </a:cubicBezTo>
                  <a:lnTo>
                    <a:pt x="343361" y="286887"/>
                  </a:lnTo>
                  <a:close/>
                  <a:moveTo>
                    <a:pt x="99552" y="155675"/>
                  </a:moveTo>
                  <a:cubicBezTo>
                    <a:pt x="70511" y="209501"/>
                    <a:pt x="80306"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32" name="&quot;No&quot; Symbol 31"/>
            <p:cNvSpPr>
              <a:spLocks/>
            </p:cNvSpPr>
            <p:nvPr/>
          </p:nvSpPr>
          <p:spPr bwMode="auto">
            <a:xfrm>
              <a:off x="7450139" y="5128740"/>
              <a:ext cx="442912" cy="442562"/>
            </a:xfrm>
            <a:custGeom>
              <a:avLst/>
              <a:gdLst>
                <a:gd name="T0" fmla="*/ 0 w 442912"/>
                <a:gd name="T1" fmla="*/ 221281 h 442562"/>
                <a:gd name="T2" fmla="*/ 221456 w 442912"/>
                <a:gd name="T3" fmla="*/ 0 h 442562"/>
                <a:gd name="T4" fmla="*/ 442912 w 442912"/>
                <a:gd name="T5" fmla="*/ 221281 h 442562"/>
                <a:gd name="T6" fmla="*/ 221456 w 442912"/>
                <a:gd name="T7" fmla="*/ 442562 h 442562"/>
                <a:gd name="T8" fmla="*/ 0 w 442912"/>
                <a:gd name="T9" fmla="*/ 221281 h 442562"/>
                <a:gd name="T10" fmla="*/ 343360 w 442912"/>
                <a:gd name="T11" fmla="*/ 286887 h 442562"/>
                <a:gd name="T12" fmla="*/ 319273 w 442912"/>
                <a:gd name="T13" fmla="*/ 123387 h 442562"/>
                <a:gd name="T14" fmla="*/ 155800 w 442912"/>
                <a:gd name="T15" fmla="*/ 99514 h 442562"/>
                <a:gd name="T16" fmla="*/ 343360 w 442912"/>
                <a:gd name="T17" fmla="*/ 286887 h 442562"/>
                <a:gd name="T18" fmla="*/ 99552 w 442912"/>
                <a:gd name="T19" fmla="*/ 155675 h 442562"/>
                <a:gd name="T20" fmla="*/ 123639 w 442912"/>
                <a:gd name="T21" fmla="*/ 319175 h 442562"/>
                <a:gd name="T22" fmla="*/ 287112 w 442912"/>
                <a:gd name="T23" fmla="*/ 343048 h 442562"/>
                <a:gd name="T24" fmla="*/ 99552 w 442912"/>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562"/>
                <a:gd name="T41" fmla="*/ 442912 w 442912"/>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562">
                  <a:moveTo>
                    <a:pt x="0" y="221281"/>
                  </a:moveTo>
                  <a:cubicBezTo>
                    <a:pt x="0" y="99071"/>
                    <a:pt x="99149" y="0"/>
                    <a:pt x="221456" y="0"/>
                  </a:cubicBezTo>
                  <a:cubicBezTo>
                    <a:pt x="343763" y="0"/>
                    <a:pt x="442912" y="99071"/>
                    <a:pt x="442912" y="221281"/>
                  </a:cubicBezTo>
                  <a:cubicBezTo>
                    <a:pt x="442912" y="343491"/>
                    <a:pt x="343763" y="442562"/>
                    <a:pt x="221456" y="442562"/>
                  </a:cubicBezTo>
                  <a:cubicBezTo>
                    <a:pt x="99149" y="442562"/>
                    <a:pt x="0" y="343491"/>
                    <a:pt x="0" y="221281"/>
                  </a:cubicBezTo>
                  <a:close/>
                  <a:moveTo>
                    <a:pt x="343360" y="286887"/>
                  </a:moveTo>
                  <a:cubicBezTo>
                    <a:pt x="372401" y="233061"/>
                    <a:pt x="362607" y="166577"/>
                    <a:pt x="319273" y="123387"/>
                  </a:cubicBezTo>
                  <a:cubicBezTo>
                    <a:pt x="276023" y="80281"/>
                    <a:pt x="209597" y="70580"/>
                    <a:pt x="155800" y="99514"/>
                  </a:cubicBezTo>
                  <a:lnTo>
                    <a:pt x="343360" y="286887"/>
                  </a:lnTo>
                  <a:close/>
                  <a:moveTo>
                    <a:pt x="99552" y="155675"/>
                  </a:moveTo>
                  <a:cubicBezTo>
                    <a:pt x="70511" y="209501"/>
                    <a:pt x="80305"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sp>
          <p:nvSpPr>
            <p:cNvPr id="33" name="&quot;No&quot; Symbol 32"/>
            <p:cNvSpPr>
              <a:spLocks/>
            </p:cNvSpPr>
            <p:nvPr/>
          </p:nvSpPr>
          <p:spPr bwMode="auto">
            <a:xfrm>
              <a:off x="7932740" y="5109637"/>
              <a:ext cx="442912" cy="442562"/>
            </a:xfrm>
            <a:custGeom>
              <a:avLst/>
              <a:gdLst>
                <a:gd name="T0" fmla="*/ 0 w 442912"/>
                <a:gd name="T1" fmla="*/ 221281 h 442562"/>
                <a:gd name="T2" fmla="*/ 221456 w 442912"/>
                <a:gd name="T3" fmla="*/ 0 h 442562"/>
                <a:gd name="T4" fmla="*/ 442912 w 442912"/>
                <a:gd name="T5" fmla="*/ 221281 h 442562"/>
                <a:gd name="T6" fmla="*/ 221456 w 442912"/>
                <a:gd name="T7" fmla="*/ 442562 h 442562"/>
                <a:gd name="T8" fmla="*/ 0 w 442912"/>
                <a:gd name="T9" fmla="*/ 221281 h 442562"/>
                <a:gd name="T10" fmla="*/ 343360 w 442912"/>
                <a:gd name="T11" fmla="*/ 286887 h 442562"/>
                <a:gd name="T12" fmla="*/ 319273 w 442912"/>
                <a:gd name="T13" fmla="*/ 123387 h 442562"/>
                <a:gd name="T14" fmla="*/ 155800 w 442912"/>
                <a:gd name="T15" fmla="*/ 99514 h 442562"/>
                <a:gd name="T16" fmla="*/ 343360 w 442912"/>
                <a:gd name="T17" fmla="*/ 286887 h 442562"/>
                <a:gd name="T18" fmla="*/ 99552 w 442912"/>
                <a:gd name="T19" fmla="*/ 155675 h 442562"/>
                <a:gd name="T20" fmla="*/ 123639 w 442912"/>
                <a:gd name="T21" fmla="*/ 319175 h 442562"/>
                <a:gd name="T22" fmla="*/ 287112 w 442912"/>
                <a:gd name="T23" fmla="*/ 343048 h 442562"/>
                <a:gd name="T24" fmla="*/ 99552 w 442912"/>
                <a:gd name="T25" fmla="*/ 155675 h 4425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2912"/>
                <a:gd name="T40" fmla="*/ 0 h 442562"/>
                <a:gd name="T41" fmla="*/ 442912 w 442912"/>
                <a:gd name="T42" fmla="*/ 442562 h 4425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2912" h="442562">
                  <a:moveTo>
                    <a:pt x="0" y="221281"/>
                  </a:moveTo>
                  <a:cubicBezTo>
                    <a:pt x="0" y="99071"/>
                    <a:pt x="99149" y="0"/>
                    <a:pt x="221456" y="0"/>
                  </a:cubicBezTo>
                  <a:cubicBezTo>
                    <a:pt x="343763" y="0"/>
                    <a:pt x="442912" y="99071"/>
                    <a:pt x="442912" y="221281"/>
                  </a:cubicBezTo>
                  <a:cubicBezTo>
                    <a:pt x="442912" y="343491"/>
                    <a:pt x="343763" y="442562"/>
                    <a:pt x="221456" y="442562"/>
                  </a:cubicBezTo>
                  <a:cubicBezTo>
                    <a:pt x="99149" y="442562"/>
                    <a:pt x="0" y="343491"/>
                    <a:pt x="0" y="221281"/>
                  </a:cubicBezTo>
                  <a:close/>
                  <a:moveTo>
                    <a:pt x="343360" y="286887"/>
                  </a:moveTo>
                  <a:cubicBezTo>
                    <a:pt x="372401" y="233061"/>
                    <a:pt x="362607" y="166577"/>
                    <a:pt x="319273" y="123387"/>
                  </a:cubicBezTo>
                  <a:cubicBezTo>
                    <a:pt x="276023" y="80281"/>
                    <a:pt x="209597" y="70580"/>
                    <a:pt x="155800" y="99514"/>
                  </a:cubicBezTo>
                  <a:lnTo>
                    <a:pt x="343360" y="286887"/>
                  </a:lnTo>
                  <a:close/>
                  <a:moveTo>
                    <a:pt x="99552" y="155675"/>
                  </a:moveTo>
                  <a:cubicBezTo>
                    <a:pt x="70511" y="209501"/>
                    <a:pt x="80305" y="275985"/>
                    <a:pt x="123639" y="319175"/>
                  </a:cubicBezTo>
                  <a:cubicBezTo>
                    <a:pt x="166889" y="362281"/>
                    <a:pt x="233315" y="371982"/>
                    <a:pt x="287112" y="343048"/>
                  </a:cubicBezTo>
                  <a:lnTo>
                    <a:pt x="99552" y="155675"/>
                  </a:lnTo>
                  <a:close/>
                </a:path>
              </a:pathLst>
            </a:custGeom>
            <a:solidFill>
              <a:srgbClr val="DFCEC9"/>
            </a:solidFill>
            <a:ln w="10000">
              <a:solidFill>
                <a:srgbClr val="B88472"/>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pPr>
              <a:endParaRPr lang="en-US">
                <a:solidFill>
                  <a:prstClr val="black"/>
                </a:solidFill>
                <a:ea typeface="ＭＳ Ｐゴシック" pitchFamily="34" charset="-128"/>
              </a:endParaRPr>
            </a:p>
          </p:txBody>
        </p:sp>
      </p:grpSp>
      <p:sp>
        <p:nvSpPr>
          <p:cNvPr id="37" name="Rectangle 36"/>
          <p:cNvSpPr>
            <a:spLocks noChangeArrowheads="1"/>
          </p:cNvSpPr>
          <p:nvPr/>
        </p:nvSpPr>
        <p:spPr bwMode="auto">
          <a:xfrm>
            <a:off x="238125" y="5316538"/>
            <a:ext cx="8772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57200" fontAlgn="base">
              <a:spcBef>
                <a:spcPct val="0"/>
              </a:spcBef>
              <a:spcAft>
                <a:spcPct val="0"/>
              </a:spcAft>
            </a:pPr>
            <a:r>
              <a:rPr lang="en-US" sz="2400" b="1" dirty="0">
                <a:solidFill>
                  <a:prstClr val="black"/>
                </a:solidFill>
                <a:ea typeface="ＭＳ Ｐゴシック" pitchFamily="34" charset="-128"/>
              </a:rPr>
              <a:t>69  05  16  48  17  87  17  40  95  17  84  53  40  64  89  87  20</a:t>
            </a:r>
            <a:endParaRPr lang="en-US" sz="2400" dirty="0">
              <a:solidFill>
                <a:prstClr val="black"/>
              </a:solidFill>
              <a:ea typeface="ＭＳ Ｐゴシック" pitchFamily="34" charset="-128"/>
            </a:endParaRPr>
          </a:p>
        </p:txBody>
      </p:sp>
      <p:sp>
        <p:nvSpPr>
          <p:cNvPr id="41" name="Rectangle 40"/>
          <p:cNvSpPr>
            <a:spLocks noChangeArrowheads="1"/>
          </p:cNvSpPr>
          <p:nvPr/>
        </p:nvSpPr>
        <p:spPr bwMode="auto">
          <a:xfrm>
            <a:off x="493713" y="6072188"/>
            <a:ext cx="80851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457200" fontAlgn="base">
              <a:spcBef>
                <a:spcPct val="0"/>
              </a:spcBef>
              <a:spcAft>
                <a:spcPct val="0"/>
              </a:spcAft>
            </a:pPr>
            <a:r>
              <a:rPr lang="en-US" sz="2000" b="1" dirty="0">
                <a:solidFill>
                  <a:prstClr val="black"/>
                </a:solidFill>
                <a:ea typeface="ＭＳ Ｐゴシック" pitchFamily="34" charset="-128"/>
              </a:rPr>
              <a:t>Our SRS of four hotels for the editors to contact is: </a:t>
            </a:r>
          </a:p>
          <a:p>
            <a:pPr defTabSz="457200" fontAlgn="base">
              <a:spcBef>
                <a:spcPct val="0"/>
              </a:spcBef>
              <a:spcAft>
                <a:spcPct val="0"/>
              </a:spcAft>
            </a:pPr>
            <a:r>
              <a:rPr lang="en-US" sz="2000" b="1" dirty="0">
                <a:solidFill>
                  <a:prstClr val="black"/>
                </a:solidFill>
                <a:ea typeface="ＭＳ Ｐゴシック" pitchFamily="34" charset="-128"/>
              </a:rPr>
              <a:t>05 Beach Castle, 16 Radisson, 17 Ramada, and 20 Sea Club.</a:t>
            </a:r>
            <a:endParaRPr lang="en-US" sz="2000" dirty="0">
              <a:solidFill>
                <a:prstClr val="black"/>
              </a:solidFill>
              <a:ea typeface="ＭＳ Ｐゴシック" pitchFamily="34" charset="-128"/>
            </a:endParaRPr>
          </a:p>
        </p:txBody>
      </p:sp>
    </p:spTree>
    <p:extLst>
      <p:ext uri="{BB962C8B-B14F-4D97-AF65-F5344CB8AC3E}">
        <p14:creationId xmlns:p14="http://schemas.microsoft.com/office/powerpoint/2010/main" val="41770603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10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1000"/>
                                        <p:tgtEl>
                                          <p:spTgt spid="40"/>
                                        </p:tgtEl>
                                      </p:cBhvr>
                                    </p:animEffect>
                                  </p:childTnLst>
                                </p:cTn>
                              </p:par>
                              <p:par>
                                <p:cTn id="14" presetID="55"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 calcmode="lin" valueType="num">
                                      <p:cBhvr>
                                        <p:cTn id="16" dur="1000" fill="hold"/>
                                        <p:tgtEl>
                                          <p:spTgt spid="37"/>
                                        </p:tgtEl>
                                        <p:attrNameLst>
                                          <p:attrName>ppt_w</p:attrName>
                                        </p:attrNameLst>
                                      </p:cBhvr>
                                      <p:tavLst>
                                        <p:tav tm="0">
                                          <p:val>
                                            <p:strVal val="#ppt_w*0.70"/>
                                          </p:val>
                                        </p:tav>
                                        <p:tav tm="100000">
                                          <p:val>
                                            <p:strVal val="#ppt_w"/>
                                          </p:val>
                                        </p:tav>
                                      </p:tavLst>
                                    </p:anim>
                                    <p:anim calcmode="lin" valueType="num">
                                      <p:cBhvr>
                                        <p:cTn id="17" dur="1000" fill="hold"/>
                                        <p:tgtEl>
                                          <p:spTgt spid="37"/>
                                        </p:tgtEl>
                                        <p:attrNameLst>
                                          <p:attrName>ppt_h</p:attrName>
                                        </p:attrNameLst>
                                      </p:cBhvr>
                                      <p:tavLst>
                                        <p:tav tm="0">
                                          <p:val>
                                            <p:strVal val="#ppt_h"/>
                                          </p:val>
                                        </p:tav>
                                        <p:tav tm="100000">
                                          <p:val>
                                            <p:strVal val="#ppt_h"/>
                                          </p:val>
                                        </p:tav>
                                      </p:tavLst>
                                    </p:anim>
                                    <p:animEffect transition="in" filter="fade">
                                      <p:cBhvr>
                                        <p:cTn id="18" dur="1000"/>
                                        <p:tgtEl>
                                          <p:spTgt spid="3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10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1000"/>
                                        <p:tgtEl>
                                          <p:spTgt spid="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1000"/>
                                        <p:tgtEl>
                                          <p:spTgt spid="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8" grpId="0" animBg="1"/>
      <p:bldP spid="40" grpId="0" animBg="1"/>
      <p:bldP spid="22" grpId="0" animBg="1"/>
      <p:bldP spid="23" grpId="0" animBg="1"/>
      <p:bldP spid="24" grpId="0" animBg="1"/>
      <p:bldP spid="37" grpId="0"/>
      <p:bldP spid="41"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cs typeface="Arial" pitchFamily="34" charset="0"/>
              </a:rPr>
              <a:t>Probability Samples: Stratified Random Samples</a:t>
            </a:r>
          </a:p>
        </p:txBody>
      </p:sp>
      <p:sp>
        <p:nvSpPr>
          <p:cNvPr id="542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47CF462D-E1EC-4461-9691-EDBA5E9BFC86}" type="slidenum">
              <a:rPr lang="en-US" sz="1200">
                <a:solidFill>
                  <a:schemeClr val="accent1"/>
                </a:solidFill>
              </a:rPr>
              <a:pPr>
                <a:lnSpc>
                  <a:spcPct val="80000"/>
                </a:lnSpc>
              </a:pPr>
              <a:t>25</a:t>
            </a:fld>
            <a:endParaRPr lang="en-US" sz="1200">
              <a:solidFill>
                <a:schemeClr val="accent1"/>
              </a:solidFill>
            </a:endParaRPr>
          </a:p>
        </p:txBody>
      </p:sp>
      <p:sp>
        <p:nvSpPr>
          <p:cNvPr id="54275" name="Rectangle 3"/>
          <p:cNvSpPr txBox="1">
            <a:spLocks noChangeArrowheads="1"/>
          </p:cNvSpPr>
          <p:nvPr/>
        </p:nvSpPr>
        <p:spPr bwMode="auto">
          <a:xfrm>
            <a:off x="174624" y="1423989"/>
            <a:ext cx="8284764"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spcBef>
                <a:spcPct val="40000"/>
              </a:spcBef>
              <a:buClr>
                <a:schemeClr val="accent2"/>
              </a:buClr>
              <a:buSzPct val="60000"/>
            </a:pPr>
            <a:r>
              <a:rPr lang="en-US" sz="2000" dirty="0">
                <a:solidFill>
                  <a:srgbClr val="000000"/>
                </a:solidFill>
                <a:cs typeface="Arial" pitchFamily="34" charset="0"/>
              </a:rPr>
              <a:t>The basic idea of sampling is straightforward: Take an SRS from the population and use your sample results to gain information about the population. </a:t>
            </a:r>
          </a:p>
        </p:txBody>
      </p:sp>
      <p:sp>
        <p:nvSpPr>
          <p:cNvPr id="8" name="TextBox 7"/>
          <p:cNvSpPr txBox="1">
            <a:spLocks noChangeArrowheads="1"/>
          </p:cNvSpPr>
          <p:nvPr/>
        </p:nvSpPr>
        <p:spPr bwMode="auto">
          <a:xfrm>
            <a:off x="275824" y="2628902"/>
            <a:ext cx="8183563" cy="10160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defRPr/>
            </a:pPr>
            <a:r>
              <a:rPr lang="en-US" altLang="en-US" sz="2000" dirty="0">
                <a:solidFill>
                  <a:srgbClr val="000000"/>
                </a:solidFill>
              </a:rPr>
              <a:t>A </a:t>
            </a:r>
            <a:r>
              <a:rPr lang="en-US" altLang="en-US" sz="2000" b="1" dirty="0"/>
              <a:t>probability sample </a:t>
            </a:r>
            <a:r>
              <a:rPr lang="en-US" altLang="en-US" sz="2000" dirty="0"/>
              <a:t>is a sample chosen by chance. We must know what samples are possible and what chance, or probability, of being chosen each possible sample has</a:t>
            </a:r>
            <a:r>
              <a:rPr lang="en-US" altLang="en-US" sz="2000" dirty="0">
                <a:solidFill>
                  <a:srgbClr val="000000"/>
                </a:solidFill>
              </a:rPr>
              <a:t>.</a:t>
            </a:r>
            <a:endParaRPr lang="en-US" altLang="en-US" sz="1000" b="1" dirty="0">
              <a:solidFill>
                <a:srgbClr val="000000"/>
              </a:solidFill>
            </a:endParaRPr>
          </a:p>
        </p:txBody>
      </p:sp>
      <p:sp>
        <p:nvSpPr>
          <p:cNvPr id="48134" name="Rectangle 5"/>
          <p:cNvSpPr>
            <a:spLocks noChangeArrowheads="1"/>
          </p:cNvSpPr>
          <p:nvPr/>
        </p:nvSpPr>
        <p:spPr bwMode="auto">
          <a:xfrm>
            <a:off x="174624" y="3802331"/>
            <a:ext cx="838596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Bef>
                <a:spcPct val="40000"/>
              </a:spcBef>
              <a:buClr>
                <a:schemeClr val="accent2"/>
              </a:buClr>
              <a:buSzPct val="60000"/>
            </a:pPr>
            <a:r>
              <a:rPr lang="en-US" sz="2000" dirty="0">
                <a:solidFill>
                  <a:srgbClr val="000000"/>
                </a:solidFill>
                <a:cs typeface="Arial" pitchFamily="34" charset="0"/>
              </a:rPr>
              <a:t>Sometimes, there are statistical advantages to using more complex sampling methods. One common alternative to an SRS involves sampling important groups (called strata) within the population separately.  These </a:t>
            </a:r>
            <a:r>
              <a:rPr lang="en-US" altLang="en-US" sz="2000" dirty="0">
                <a:solidFill>
                  <a:srgbClr val="000000"/>
                </a:solidFill>
                <a:cs typeface="Arial" pitchFamily="34" charset="0"/>
              </a:rPr>
              <a:t>“</a:t>
            </a:r>
            <a:r>
              <a:rPr lang="en-US" sz="2000" dirty="0">
                <a:solidFill>
                  <a:srgbClr val="000000"/>
                </a:solidFill>
                <a:cs typeface="Arial" pitchFamily="34" charset="0"/>
              </a:rPr>
              <a:t>subsamples</a:t>
            </a:r>
            <a:r>
              <a:rPr lang="en-US" altLang="en-US" sz="2000" dirty="0">
                <a:solidFill>
                  <a:srgbClr val="000000"/>
                </a:solidFill>
                <a:cs typeface="Arial" pitchFamily="34" charset="0"/>
              </a:rPr>
              <a:t>”</a:t>
            </a:r>
            <a:r>
              <a:rPr lang="en-US" sz="2000" dirty="0">
                <a:solidFill>
                  <a:srgbClr val="000000"/>
                </a:solidFill>
                <a:cs typeface="Arial" pitchFamily="34" charset="0"/>
              </a:rPr>
              <a:t> are combined to form one stratified random sample.</a:t>
            </a:r>
          </a:p>
        </p:txBody>
      </p:sp>
      <p:sp>
        <p:nvSpPr>
          <p:cNvPr id="7" name="TextBox 6"/>
          <p:cNvSpPr txBox="1">
            <a:spLocks noChangeArrowheads="1"/>
          </p:cNvSpPr>
          <p:nvPr/>
        </p:nvSpPr>
        <p:spPr bwMode="auto">
          <a:xfrm>
            <a:off x="275823" y="5607512"/>
            <a:ext cx="8284767" cy="10160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defRPr/>
            </a:pPr>
            <a:r>
              <a:rPr lang="en-US" altLang="en-US" sz="2000" dirty="0">
                <a:solidFill>
                  <a:srgbClr val="000000"/>
                </a:solidFill>
              </a:rPr>
              <a:t>To select a </a:t>
            </a:r>
            <a:r>
              <a:rPr lang="en-US" altLang="en-US" sz="2000" b="1" dirty="0"/>
              <a:t>stratified random sample</a:t>
            </a:r>
            <a:r>
              <a:rPr lang="en-US" altLang="en-US" sz="2000" dirty="0"/>
              <a:t>,</a:t>
            </a:r>
            <a:r>
              <a:rPr lang="en-US" altLang="en-US" sz="2000" b="1" dirty="0"/>
              <a:t> </a:t>
            </a:r>
            <a:r>
              <a:rPr lang="en-US" altLang="en-US" sz="2000" dirty="0"/>
              <a:t>first classify the population into groups of similar individuals, called </a:t>
            </a:r>
            <a:r>
              <a:rPr lang="en-US" altLang="en-US" sz="2000" b="1" dirty="0"/>
              <a:t>strata</a:t>
            </a:r>
            <a:r>
              <a:rPr lang="en-US" altLang="en-US" sz="2000" dirty="0"/>
              <a:t>.</a:t>
            </a:r>
            <a:r>
              <a:rPr lang="en-US" altLang="en-US" sz="2000" dirty="0">
                <a:solidFill>
                  <a:srgbClr val="000000"/>
                </a:solidFill>
              </a:rPr>
              <a:t> Then choose a separate SRS in each stratum and combine these SRSs to form the full sample.</a:t>
            </a:r>
            <a:endParaRPr lang="en-US" altLang="en-US" sz="10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par>
                                <p:cTn id="8" presetID="5" presetClass="entr" presetSubtype="10"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checkerboard(across)">
                                      <p:cBhvr>
                                        <p:cTn id="10" dur="500"/>
                                        <p:tgtEl>
                                          <p:spTgt spid="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nodeType="clickEffect">
                                  <p:stCondLst>
                                    <p:cond delay="0"/>
                                  </p:stCondLst>
                                  <p:childTnLst>
                                    <p:set>
                                      <p:cBhvr>
                                        <p:cTn id="14" dur="1" fill="hold">
                                          <p:stCondLst>
                                            <p:cond delay="0"/>
                                          </p:stCondLst>
                                        </p:cTn>
                                        <p:tgtEl>
                                          <p:spTgt spid="48134">
                                            <p:txEl>
                                              <p:pRg st="0" end="0"/>
                                            </p:txEl>
                                          </p:spTgt>
                                        </p:tgtEl>
                                        <p:attrNameLst>
                                          <p:attrName>style.visibility</p:attrName>
                                        </p:attrNameLst>
                                      </p:cBhvr>
                                      <p:to>
                                        <p:strVal val="visible"/>
                                      </p:to>
                                    </p:set>
                                    <p:anim calcmode="lin" valueType="num">
                                      <p:cBhvr additive="base">
                                        <p:cTn id="15" dur="500"/>
                                        <p:tgtEl>
                                          <p:spTgt spid="48134">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48134">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bg/>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build="allAtOnce"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cs typeface="Arial" pitchFamily="34" charset="0"/>
              </a:rPr>
              <a:t>Probability Samples: </a:t>
            </a:r>
            <a:br>
              <a:rPr lang="en-US" dirty="0">
                <a:ea typeface="ＭＳ Ｐゴシック" pitchFamily="34" charset="-128"/>
                <a:cs typeface="Arial" pitchFamily="34" charset="0"/>
              </a:rPr>
            </a:br>
            <a:r>
              <a:rPr lang="en-US" dirty="0">
                <a:ea typeface="ＭＳ Ｐゴシック" pitchFamily="34" charset="-128"/>
                <a:cs typeface="Arial" pitchFamily="34" charset="0"/>
              </a:rPr>
              <a:t>Multistage Random Samples</a:t>
            </a:r>
          </a:p>
        </p:txBody>
      </p:sp>
      <p:sp>
        <p:nvSpPr>
          <p:cNvPr id="5529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7ACFB0A3-B47E-46F0-80A4-ED7E0109ECCF}" type="slidenum">
              <a:rPr lang="en-US" sz="1200">
                <a:solidFill>
                  <a:schemeClr val="accent1"/>
                </a:solidFill>
              </a:rPr>
              <a:pPr>
                <a:lnSpc>
                  <a:spcPct val="80000"/>
                </a:lnSpc>
              </a:pPr>
              <a:t>26</a:t>
            </a:fld>
            <a:endParaRPr lang="en-US" sz="1200">
              <a:solidFill>
                <a:schemeClr val="accent1"/>
              </a:solidFill>
            </a:endParaRPr>
          </a:p>
        </p:txBody>
      </p:sp>
      <p:sp>
        <p:nvSpPr>
          <p:cNvPr id="55299" name="Rectangle 3"/>
          <p:cNvSpPr txBox="1">
            <a:spLocks noChangeArrowheads="1"/>
          </p:cNvSpPr>
          <p:nvPr/>
        </p:nvSpPr>
        <p:spPr bwMode="auto">
          <a:xfrm>
            <a:off x="174623" y="1414308"/>
            <a:ext cx="8534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40000"/>
              </a:spcBef>
              <a:buClr>
                <a:schemeClr val="accent2"/>
              </a:buClr>
              <a:buSzPct val="60000"/>
            </a:pPr>
            <a:r>
              <a:rPr lang="en-US" sz="2000" dirty="0">
                <a:solidFill>
                  <a:srgbClr val="000000"/>
                </a:solidFill>
                <a:cs typeface="Arial" pitchFamily="34" charset="0"/>
              </a:rPr>
              <a:t>Another common method of random sampling is to sample in stages. </a:t>
            </a:r>
          </a:p>
        </p:txBody>
      </p:sp>
      <p:sp>
        <p:nvSpPr>
          <p:cNvPr id="8" name="TextBox 7"/>
          <p:cNvSpPr txBox="1">
            <a:spLocks noChangeArrowheads="1"/>
          </p:cNvSpPr>
          <p:nvPr/>
        </p:nvSpPr>
        <p:spPr bwMode="auto">
          <a:xfrm>
            <a:off x="294481" y="1938134"/>
            <a:ext cx="8215313" cy="7080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defRPr/>
            </a:pPr>
            <a:r>
              <a:rPr lang="en-US" altLang="en-US" sz="2000" dirty="0">
                <a:solidFill>
                  <a:srgbClr val="000000"/>
                </a:solidFill>
              </a:rPr>
              <a:t>A </a:t>
            </a:r>
            <a:r>
              <a:rPr lang="en-US" altLang="en-US" sz="2000" b="1" dirty="0"/>
              <a:t>multistage random sample </a:t>
            </a:r>
            <a:r>
              <a:rPr lang="en-US" altLang="en-US" sz="2000" dirty="0"/>
              <a:t>uses probability samples in a series of stages. The final stage results in </a:t>
            </a:r>
            <a:r>
              <a:rPr lang="en-US" altLang="en-US" sz="2000" b="1" dirty="0">
                <a:cs typeface="ＭＳ Ｐゴシック" charset="0"/>
              </a:rPr>
              <a:t>clusters </a:t>
            </a:r>
            <a:r>
              <a:rPr lang="en-US" altLang="en-US" sz="2000" dirty="0"/>
              <a:t>of nearby households</a:t>
            </a:r>
            <a:r>
              <a:rPr lang="en-US" altLang="en-US" sz="2000" dirty="0">
                <a:solidFill>
                  <a:srgbClr val="000000"/>
                </a:solidFill>
              </a:rPr>
              <a:t>.</a:t>
            </a:r>
            <a:endParaRPr lang="en-US" altLang="en-US" sz="1000" b="1" dirty="0">
              <a:solidFill>
                <a:srgbClr val="000000"/>
              </a:solidFill>
            </a:endParaRPr>
          </a:p>
        </p:txBody>
      </p:sp>
      <p:sp>
        <p:nvSpPr>
          <p:cNvPr id="2" name="TextBox 1"/>
          <p:cNvSpPr txBox="1">
            <a:spLocks noChangeArrowheads="1"/>
          </p:cNvSpPr>
          <p:nvPr/>
        </p:nvSpPr>
        <p:spPr bwMode="auto">
          <a:xfrm>
            <a:off x="174623" y="2914418"/>
            <a:ext cx="1422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r>
              <a:rPr lang="en-US" sz="1800" b="1" u="sng" dirty="0">
                <a:solidFill>
                  <a:srgbClr val="002060"/>
                </a:solidFill>
              </a:rPr>
              <a:t>Example</a:t>
            </a:r>
            <a:r>
              <a:rPr lang="en-US" sz="1800" b="1" dirty="0">
                <a:solidFill>
                  <a:srgbClr val="002060"/>
                </a:solidFill>
              </a:rPr>
              <a:t>:</a:t>
            </a:r>
          </a:p>
        </p:txBody>
      </p:sp>
      <p:sp>
        <p:nvSpPr>
          <p:cNvPr id="3" name="TextBox 2"/>
          <p:cNvSpPr txBox="1"/>
          <p:nvPr/>
        </p:nvSpPr>
        <p:spPr>
          <a:xfrm>
            <a:off x="1925637" y="3022764"/>
            <a:ext cx="4953000" cy="1200329"/>
          </a:xfrm>
          <a:prstGeom prst="rect">
            <a:avLst/>
          </a:prstGeom>
          <a:solidFill>
            <a:srgbClr val="92D050"/>
          </a:solidFill>
        </p:spPr>
        <p:style>
          <a:lnRef idx="1">
            <a:schemeClr val="accent2"/>
          </a:lnRef>
          <a:fillRef idx="2">
            <a:schemeClr val="accent2"/>
          </a:fillRef>
          <a:effectRef idx="1">
            <a:schemeClr val="accent2"/>
          </a:effectRef>
          <a:fontRef idx="minor">
            <a:schemeClr val="dk1"/>
          </a:fontRef>
        </p:style>
        <p:txBody>
          <a:bodyPr>
            <a:spAutoFit/>
          </a:bodyPr>
          <a:lstStyle/>
          <a:p>
            <a:pPr>
              <a:defRPr/>
            </a:pPr>
            <a:r>
              <a:rPr lang="en-US" dirty="0"/>
              <a:t>Stage 1: </a:t>
            </a:r>
          </a:p>
          <a:p>
            <a:pPr marL="285750" indent="-285750">
              <a:buFont typeface="Arial" panose="020B0604020202020204" pitchFamily="34" charset="0"/>
              <a:buChar char="•"/>
              <a:defRPr/>
            </a:pPr>
            <a:r>
              <a:rPr lang="en-US" dirty="0"/>
              <a:t>Divide the U.S. into 2007 geographical areas called primary sampling units, or PSUs. Select a stratified sample of PSUs.</a:t>
            </a:r>
          </a:p>
        </p:txBody>
      </p:sp>
      <p:sp>
        <p:nvSpPr>
          <p:cNvPr id="4" name="TextBox 3"/>
          <p:cNvSpPr txBox="1"/>
          <p:nvPr/>
        </p:nvSpPr>
        <p:spPr>
          <a:xfrm>
            <a:off x="649286" y="4424735"/>
            <a:ext cx="3411537" cy="2031325"/>
          </a:xfrm>
          <a:prstGeom prst="rect">
            <a:avLst/>
          </a:prstGeom>
          <a:solidFill>
            <a:srgbClr val="FFFF00"/>
          </a:solidFill>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dirty="0"/>
              <a:t>Stage 2: </a:t>
            </a:r>
          </a:p>
          <a:p>
            <a:pPr marL="285750" indent="-285750">
              <a:buFont typeface="Arial" panose="020B0604020202020204" pitchFamily="34" charset="0"/>
              <a:buChar char="•"/>
              <a:defRPr/>
            </a:pPr>
            <a:r>
              <a:rPr lang="en-US" dirty="0"/>
              <a:t>Divide each PSU into smaller areas called blocks. </a:t>
            </a:r>
          </a:p>
          <a:p>
            <a:pPr marL="285750" indent="-285750">
              <a:buFont typeface="Arial" panose="020B0604020202020204" pitchFamily="34" charset="0"/>
              <a:buChar char="•"/>
              <a:defRPr/>
            </a:pPr>
            <a:r>
              <a:rPr lang="en-US" dirty="0"/>
              <a:t>Select a stratified sample of the blocks within each PSU selected in Stage 1.</a:t>
            </a:r>
          </a:p>
          <a:p>
            <a:pPr marL="285750" indent="-285750">
              <a:buFont typeface="Arial" panose="020B0604020202020204" pitchFamily="34" charset="0"/>
              <a:buChar char="•"/>
              <a:defRPr/>
            </a:pPr>
            <a:endParaRPr lang="en-US" dirty="0"/>
          </a:p>
        </p:txBody>
      </p:sp>
      <p:sp>
        <p:nvSpPr>
          <p:cNvPr id="11" name="TextBox 10"/>
          <p:cNvSpPr txBox="1"/>
          <p:nvPr/>
        </p:nvSpPr>
        <p:spPr>
          <a:xfrm>
            <a:off x="4572000" y="4428029"/>
            <a:ext cx="3411537" cy="2031325"/>
          </a:xfrm>
          <a:prstGeom prst="rect">
            <a:avLst/>
          </a:prstGeom>
          <a:solidFill>
            <a:schemeClr val="accent5">
              <a:lumMod val="40000"/>
              <a:lumOff val="60000"/>
            </a:schemeClr>
          </a:solidFill>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n-US" dirty="0"/>
              <a:t>Stage 3: </a:t>
            </a:r>
          </a:p>
          <a:p>
            <a:pPr marL="285750" indent="-285750">
              <a:buFont typeface="Arial" panose="020B0604020202020204" pitchFamily="34" charset="0"/>
              <a:buChar char="•"/>
              <a:defRPr/>
            </a:pPr>
            <a:r>
              <a:rPr lang="en-US" dirty="0"/>
              <a:t>Sort the housing units in each block into clusters of four nearby units. </a:t>
            </a:r>
          </a:p>
          <a:p>
            <a:pPr marL="285750" indent="-285750">
              <a:buFont typeface="Arial" panose="020B0604020202020204" pitchFamily="34" charset="0"/>
              <a:buChar char="•"/>
              <a:defRPr/>
            </a:pPr>
            <a:r>
              <a:rPr lang="en-US" dirty="0"/>
              <a:t>Select an SRS of these clusters and conduct interviews.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edge">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heel(1)">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3" grpId="0" animBg="1"/>
      <p:bldP spid="4"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Cautions about Sample Surveys</a:t>
            </a:r>
          </a:p>
        </p:txBody>
      </p:sp>
      <p:sp>
        <p:nvSpPr>
          <p:cNvPr id="563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FEB79FE-04D0-4163-8763-672071B29CAB}" type="slidenum">
              <a:rPr lang="en-US" sz="1200">
                <a:solidFill>
                  <a:schemeClr val="accent1"/>
                </a:solidFill>
              </a:rPr>
              <a:pPr>
                <a:lnSpc>
                  <a:spcPct val="80000"/>
                </a:lnSpc>
              </a:pPr>
              <a:t>27</a:t>
            </a:fld>
            <a:endParaRPr lang="en-US" sz="1200">
              <a:solidFill>
                <a:schemeClr val="accent1"/>
              </a:solidFill>
            </a:endParaRPr>
          </a:p>
        </p:txBody>
      </p:sp>
      <p:sp>
        <p:nvSpPr>
          <p:cNvPr id="56323" name="Rectangle 1"/>
          <p:cNvSpPr>
            <a:spLocks noChangeArrowheads="1"/>
          </p:cNvSpPr>
          <p:nvPr/>
        </p:nvSpPr>
        <p:spPr bwMode="auto">
          <a:xfrm>
            <a:off x="117351" y="1091465"/>
            <a:ext cx="81392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Monotype Sorts" charset="2"/>
              <a:buNone/>
            </a:pPr>
            <a:r>
              <a:rPr lang="en-US" sz="2000" dirty="0"/>
              <a:t>Good sampling technique includes the art of reducing all sources of error and bias.</a:t>
            </a:r>
          </a:p>
        </p:txBody>
      </p:sp>
      <p:sp>
        <p:nvSpPr>
          <p:cNvPr id="10" name="TextBox 9"/>
          <p:cNvSpPr txBox="1">
            <a:spLocks noChangeArrowheads="1"/>
          </p:cNvSpPr>
          <p:nvPr/>
        </p:nvSpPr>
        <p:spPr bwMode="auto">
          <a:xfrm>
            <a:off x="174622" y="2124070"/>
            <a:ext cx="8081963" cy="280076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spcAft>
                <a:spcPts val="1200"/>
              </a:spcAft>
            </a:pPr>
            <a:r>
              <a:rPr lang="en-US" sz="1800" b="1" dirty="0"/>
              <a:t>Undercoverage </a:t>
            </a:r>
            <a:r>
              <a:rPr lang="en-US" sz="1800" dirty="0"/>
              <a:t>occurs when some groups in the population are left out of the process of choosing the sample.</a:t>
            </a:r>
          </a:p>
          <a:p>
            <a:pPr algn="just" eaLnBrk="1" hangingPunct="1">
              <a:spcAft>
                <a:spcPts val="1200"/>
              </a:spcAft>
            </a:pPr>
            <a:r>
              <a:rPr lang="en-US" sz="1800" b="1" dirty="0"/>
              <a:t>Nonresponse </a:t>
            </a:r>
            <a:r>
              <a:rPr lang="en-US" sz="1800" dirty="0"/>
              <a:t>occurs when an individual chosen for the sample cannot</a:t>
            </a:r>
            <a:r>
              <a:rPr lang="en-US" altLang="ja-JP" sz="1800" dirty="0"/>
              <a:t> be contacted or refuses to participate.</a:t>
            </a:r>
            <a:endParaRPr lang="en-US" altLang="ja-JP" sz="1800" b="1" dirty="0"/>
          </a:p>
          <a:p>
            <a:pPr algn="just" eaLnBrk="1" hangingPunct="1">
              <a:spcAft>
                <a:spcPts val="1200"/>
              </a:spcAft>
            </a:pPr>
            <a:r>
              <a:rPr lang="en-US" sz="1800" dirty="0"/>
              <a:t>A systematic pattern of incorrect responses in a sample survey leads to </a:t>
            </a:r>
            <a:r>
              <a:rPr lang="en-US" sz="1800" b="1" dirty="0"/>
              <a:t>response bias</a:t>
            </a:r>
            <a:r>
              <a:rPr lang="en-US" sz="1800" dirty="0"/>
              <a:t>.</a:t>
            </a:r>
            <a:endParaRPr lang="en-US" sz="1800" b="1" dirty="0"/>
          </a:p>
          <a:p>
            <a:pPr algn="just" eaLnBrk="1" hangingPunct="1">
              <a:spcAft>
                <a:spcPts val="1200"/>
              </a:spcAft>
            </a:pPr>
            <a:r>
              <a:rPr lang="en-US" sz="1800" dirty="0"/>
              <a:t>The </a:t>
            </a:r>
            <a:r>
              <a:rPr lang="en-US" sz="1800" b="1" dirty="0"/>
              <a:t>wording of questions</a:t>
            </a:r>
            <a:r>
              <a:rPr lang="en-US" sz="1800" dirty="0"/>
              <a:t> is </a:t>
            </a:r>
            <a:r>
              <a:rPr lang="en-US" sz="1800" dirty="0">
                <a:solidFill>
                  <a:srgbClr val="000000"/>
                </a:solidFill>
              </a:rPr>
              <a:t>the most important influence on the answers given to a sample survey.</a:t>
            </a:r>
          </a:p>
        </p:txBody>
      </p:sp>
      <p:sp>
        <p:nvSpPr>
          <p:cNvPr id="4" name="TextBox 3">
            <a:extLst>
              <a:ext uri="{FF2B5EF4-FFF2-40B4-BE49-F238E27FC236}">
                <a16:creationId xmlns:a16="http://schemas.microsoft.com/office/drawing/2014/main" xmlns="" id="{729F472B-3E4A-430A-89FF-5F7165E6DE3B}"/>
              </a:ext>
            </a:extLst>
          </p:cNvPr>
          <p:cNvSpPr txBox="1"/>
          <p:nvPr/>
        </p:nvSpPr>
        <p:spPr>
          <a:xfrm>
            <a:off x="174624" y="5451231"/>
            <a:ext cx="8081964" cy="646331"/>
          </a:xfrm>
          <a:prstGeom prst="rect">
            <a:avLst/>
          </a:prstGeom>
          <a:solidFill>
            <a:srgbClr val="FFD780"/>
          </a:solidFill>
        </p:spPr>
        <p:txBody>
          <a:bodyPr wrap="square" rtlCol="0">
            <a:spAutoFit/>
          </a:bodyPr>
          <a:lstStyle/>
          <a:p>
            <a:pPr algn="just">
              <a:defRPr/>
            </a:pPr>
            <a:r>
              <a:rPr lang="en-US" b="1" dirty="0">
                <a:highlight>
                  <a:srgbClr val="FFFF00"/>
                </a:highlight>
              </a:rPr>
              <a:t>Insist on knowing the exact questions asked, the rate of nonresponse, and the date and method of the survey before you trust a poll result.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2"/>
          <p:cNvSpPr>
            <a:spLocks noGrp="1"/>
          </p:cNvSpPr>
          <p:nvPr>
            <p:ph type="title"/>
          </p:nvPr>
        </p:nvSpPr>
        <p:spPr>
          <a:xfrm>
            <a:off x="457200" y="342900"/>
            <a:ext cx="6508750" cy="796352"/>
          </a:xfrm>
        </p:spPr>
        <p:txBody>
          <a:bodyPr anchor="t"/>
          <a:lstStyle/>
          <a:p>
            <a:pPr eaLnBrk="1" hangingPunct="1"/>
            <a:r>
              <a:rPr lang="en-US" b="1" dirty="0">
                <a:ea typeface="ＭＳ Ｐゴシック" pitchFamily="34" charset="-128"/>
              </a:rPr>
              <a:t>3.4 Ethics</a:t>
            </a:r>
          </a:p>
        </p:txBody>
      </p:sp>
      <p:sp>
        <p:nvSpPr>
          <p:cNvPr id="57346" name="Text Placeholder 3"/>
          <p:cNvSpPr>
            <a:spLocks noGrp="1"/>
          </p:cNvSpPr>
          <p:nvPr>
            <p:ph idx="1"/>
          </p:nvPr>
        </p:nvSpPr>
        <p:spPr>
          <a:xfrm>
            <a:off x="457200" y="1625183"/>
            <a:ext cx="6508750" cy="3916363"/>
          </a:xfrm>
        </p:spPr>
        <p:txBody>
          <a:bodyPr/>
          <a:lstStyle/>
          <a:p>
            <a:pPr eaLnBrk="1" hangingPunct="1"/>
            <a:r>
              <a:rPr lang="en-US" sz="2400" dirty="0">
                <a:solidFill>
                  <a:srgbClr val="073779"/>
                </a:solidFill>
                <a:ea typeface="ＭＳ Ｐゴシック" pitchFamily="34" charset="-128"/>
              </a:rPr>
              <a:t>Basic data ethics </a:t>
            </a:r>
          </a:p>
          <a:p>
            <a:pPr eaLnBrk="1" hangingPunct="1"/>
            <a:r>
              <a:rPr lang="en-US" sz="2400" dirty="0">
                <a:solidFill>
                  <a:srgbClr val="073779"/>
                </a:solidFill>
                <a:ea typeface="ＭＳ Ｐゴシック" pitchFamily="34" charset="-128"/>
              </a:rPr>
              <a:t>Institutional review boards</a:t>
            </a:r>
          </a:p>
          <a:p>
            <a:pPr eaLnBrk="1" hangingPunct="1"/>
            <a:r>
              <a:rPr lang="en-US" sz="2400" dirty="0">
                <a:solidFill>
                  <a:srgbClr val="073779"/>
                </a:solidFill>
                <a:ea typeface="ＭＳ Ｐゴシック" pitchFamily="34" charset="-128"/>
              </a:rPr>
              <a:t>Informed consent</a:t>
            </a:r>
          </a:p>
          <a:p>
            <a:pPr eaLnBrk="1" hangingPunct="1"/>
            <a:r>
              <a:rPr lang="en-US" sz="2400" dirty="0">
                <a:solidFill>
                  <a:srgbClr val="073779"/>
                </a:solidFill>
                <a:ea typeface="ＭＳ Ｐゴシック" pitchFamily="34" charset="-128"/>
              </a:rPr>
              <a:t>Confidentiality</a:t>
            </a:r>
          </a:p>
          <a:p>
            <a:pPr eaLnBrk="1" hangingPunct="1"/>
            <a:r>
              <a:rPr lang="en-US" sz="2400" dirty="0">
                <a:solidFill>
                  <a:srgbClr val="073779"/>
                </a:solidFill>
                <a:ea typeface="ＭＳ Ｐゴシック" pitchFamily="34" charset="-128"/>
              </a:rPr>
              <a:t>Clinical trials</a:t>
            </a:r>
          </a:p>
          <a:p>
            <a:pPr eaLnBrk="1" hangingPunct="1"/>
            <a:r>
              <a:rPr lang="en-US" sz="2400" dirty="0">
                <a:solidFill>
                  <a:srgbClr val="073779"/>
                </a:solidFill>
                <a:ea typeface="ＭＳ Ｐゴシック" pitchFamily="34" charset="-128"/>
              </a:rPr>
              <a:t>Behavioral and social science experiments</a:t>
            </a:r>
          </a:p>
        </p:txBody>
      </p:sp>
      <p:sp>
        <p:nvSpPr>
          <p:cNvPr id="57347"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DFB9552-0A05-475F-A9AD-8EA26AF9F490}" type="slidenum">
              <a:rPr lang="en-US" sz="1400">
                <a:solidFill>
                  <a:schemeClr val="accent1"/>
                </a:solidFill>
              </a:rPr>
              <a:pPr/>
              <a:t>28</a:t>
            </a:fld>
            <a:endParaRPr lang="en-US" sz="1400">
              <a:solidFill>
                <a:schemeClr val="accen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228600" y="173699"/>
            <a:ext cx="7772400" cy="777240"/>
          </a:xfrm>
        </p:spPr>
        <p:txBody>
          <a:bodyPr/>
          <a:lstStyle/>
          <a:p>
            <a:pPr eaLnBrk="1" hangingPunct="1"/>
            <a:r>
              <a:rPr lang="en-US" dirty="0">
                <a:ea typeface="ＭＳ Ｐゴシック" pitchFamily="34" charset="-128"/>
              </a:rPr>
              <a:t>Basic Data Ethics</a:t>
            </a:r>
          </a:p>
        </p:txBody>
      </p:sp>
      <p:sp>
        <p:nvSpPr>
          <p:cNvPr id="5837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F6FC1E83-CBDC-4D00-954E-C87A5B31F989}" type="slidenum">
              <a:rPr lang="en-US" sz="1400">
                <a:solidFill>
                  <a:schemeClr val="accent1"/>
                </a:solidFill>
              </a:rPr>
              <a:pPr/>
              <a:t>29</a:t>
            </a:fld>
            <a:endParaRPr lang="en-US" sz="1400">
              <a:solidFill>
                <a:schemeClr val="accent1"/>
              </a:solidFill>
            </a:endParaRPr>
          </a:p>
        </p:txBody>
      </p:sp>
      <p:sp>
        <p:nvSpPr>
          <p:cNvPr id="58370" name="Rectangle 3"/>
          <p:cNvSpPr>
            <a:spLocks noGrp="1" noChangeArrowheads="1"/>
          </p:cNvSpPr>
          <p:nvPr>
            <p:ph type="body" idx="4294967295"/>
          </p:nvPr>
        </p:nvSpPr>
        <p:spPr>
          <a:xfrm>
            <a:off x="228600" y="1302505"/>
            <a:ext cx="8027988" cy="1016000"/>
          </a:xfrm>
        </p:spPr>
        <p:txBody>
          <a:bodyPr/>
          <a:lstStyle/>
          <a:p>
            <a:pPr marL="0" indent="0" eaLnBrk="1" hangingPunct="1">
              <a:buFont typeface="Wingdings 2" pitchFamily="18" charset="2"/>
              <a:buNone/>
            </a:pPr>
            <a:r>
              <a:rPr lang="en-US" dirty="0">
                <a:solidFill>
                  <a:schemeClr val="tx1"/>
                </a:solidFill>
                <a:ea typeface="ＭＳ Ｐゴシック" pitchFamily="34" charset="-128"/>
              </a:rPr>
              <a:t>The most complex issues of data ethics arise when we collect data from people. </a:t>
            </a:r>
          </a:p>
        </p:txBody>
      </p:sp>
      <p:sp>
        <p:nvSpPr>
          <p:cNvPr id="4" name="TextBox 3"/>
          <p:cNvSpPr txBox="1">
            <a:spLocks noChangeArrowheads="1"/>
          </p:cNvSpPr>
          <p:nvPr/>
        </p:nvSpPr>
        <p:spPr bwMode="auto">
          <a:xfrm>
            <a:off x="228600" y="2318505"/>
            <a:ext cx="7772400" cy="255454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marL="342900" indent="-342900" algn="just" eaLnBrk="1" hangingPunct="1">
              <a:spcAft>
                <a:spcPts val="1200"/>
              </a:spcAft>
              <a:buFont typeface="Arial" panose="020B0604020202020204" pitchFamily="34" charset="0"/>
              <a:buChar char="•"/>
              <a:defRPr/>
            </a:pPr>
            <a:r>
              <a:rPr lang="en-US" altLang="en-US" sz="2000" dirty="0">
                <a:solidFill>
                  <a:srgbClr val="000000"/>
                </a:solidFill>
              </a:rPr>
              <a:t>The organization that carries out the study must have an </a:t>
            </a:r>
            <a:r>
              <a:rPr lang="en-US" altLang="en-US" sz="2000" b="1" dirty="0"/>
              <a:t>institutional review board</a:t>
            </a:r>
            <a:r>
              <a:rPr lang="en-US" altLang="en-US" sz="2000" dirty="0"/>
              <a:t> that reviews all planned studies in advance in order to protect the subjects from possible harm.</a:t>
            </a:r>
          </a:p>
          <a:p>
            <a:pPr marL="342900" indent="-342900" algn="just" eaLnBrk="1" hangingPunct="1">
              <a:spcAft>
                <a:spcPts val="1200"/>
              </a:spcAft>
              <a:buFont typeface="Arial" panose="020B0604020202020204" pitchFamily="34" charset="0"/>
              <a:buChar char="•"/>
              <a:defRPr/>
            </a:pPr>
            <a:r>
              <a:rPr lang="en-US" altLang="en-US" sz="2000" dirty="0"/>
              <a:t>All individuals who are subjects in a study must give their </a:t>
            </a:r>
            <a:r>
              <a:rPr lang="en-US" altLang="en-US" sz="2000" b="1" dirty="0"/>
              <a:t>informed consent</a:t>
            </a:r>
            <a:r>
              <a:rPr lang="en-US" altLang="en-US" sz="2000" dirty="0"/>
              <a:t> before data are collected.</a:t>
            </a:r>
          </a:p>
          <a:p>
            <a:pPr marL="342900" indent="-342900" algn="just" eaLnBrk="1" hangingPunct="1">
              <a:spcAft>
                <a:spcPts val="1200"/>
              </a:spcAft>
              <a:buFont typeface="Arial" panose="020B0604020202020204" pitchFamily="34" charset="0"/>
              <a:buChar char="•"/>
              <a:defRPr/>
            </a:pPr>
            <a:r>
              <a:rPr lang="en-US" altLang="en-US" sz="2000" dirty="0"/>
              <a:t>All individual data must be kept </a:t>
            </a:r>
            <a:r>
              <a:rPr lang="en-US" altLang="en-US" sz="2000" b="1" dirty="0"/>
              <a:t>confidential</a:t>
            </a:r>
            <a:r>
              <a:rPr lang="en-US" sz="2000" dirty="0"/>
              <a:t>.</a:t>
            </a:r>
            <a:r>
              <a:rPr lang="en-US" altLang="en-US" sz="2000" dirty="0"/>
              <a:t> Only </a:t>
            </a:r>
            <a:r>
              <a:rPr lang="en-US" altLang="en-US" sz="2000" dirty="0">
                <a:solidFill>
                  <a:srgbClr val="000000"/>
                </a:solidFill>
              </a:rPr>
              <a:t>statistical summaries for groups of subjects may be made public.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dirty="0">
                <a:ea typeface="ＭＳ Ｐゴシック" pitchFamily="34" charset="-128"/>
              </a:rPr>
              <a:t>Institutional Review Boards</a:t>
            </a:r>
          </a:p>
        </p:txBody>
      </p:sp>
      <p:sp>
        <p:nvSpPr>
          <p:cNvPr id="6041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2A97A4A-A6B3-44A5-B25A-EF86C11E55B7}" type="slidenum">
              <a:rPr lang="en-US" sz="1400">
                <a:solidFill>
                  <a:schemeClr val="accent1"/>
                </a:solidFill>
              </a:rPr>
              <a:pPr/>
              <a:t>30</a:t>
            </a:fld>
            <a:endParaRPr lang="en-US" sz="1400">
              <a:solidFill>
                <a:schemeClr val="accent1"/>
              </a:solidFill>
            </a:endParaRPr>
          </a:p>
        </p:txBody>
      </p:sp>
      <p:sp>
        <p:nvSpPr>
          <p:cNvPr id="60418" name="Rectangle 3"/>
          <p:cNvSpPr>
            <a:spLocks noGrp="1" noChangeArrowheads="1"/>
          </p:cNvSpPr>
          <p:nvPr>
            <p:ph type="body" idx="4294967295"/>
          </p:nvPr>
        </p:nvSpPr>
        <p:spPr>
          <a:xfrm>
            <a:off x="174623" y="1273084"/>
            <a:ext cx="8229600" cy="4311831"/>
          </a:xfrm>
        </p:spPr>
        <p:txBody>
          <a:bodyPr/>
          <a:lstStyle/>
          <a:p>
            <a:pPr algn="just" eaLnBrk="1" hangingPunct="1"/>
            <a:r>
              <a:rPr lang="en-US" dirty="0">
                <a:solidFill>
                  <a:schemeClr val="tx1"/>
                </a:solidFill>
                <a:ea typeface="ＭＳ Ｐゴシック" pitchFamily="34" charset="-128"/>
              </a:rPr>
              <a:t>The organization that carries out the study must have an institutional review board that reviews all planned studies in advance in order to protect the subjects from possible harm.</a:t>
            </a:r>
          </a:p>
          <a:p>
            <a:pPr algn="just" eaLnBrk="1" hangingPunct="1"/>
            <a:r>
              <a:rPr lang="en-US" dirty="0">
                <a:solidFill>
                  <a:schemeClr val="tx1"/>
                </a:solidFill>
                <a:ea typeface="ＭＳ Ｐゴシック" pitchFamily="34" charset="-128"/>
              </a:rPr>
              <a:t>The purpose of an institutional review board is </a:t>
            </a:r>
            <a:r>
              <a:rPr lang="en-US" altLang="en-US" dirty="0">
                <a:solidFill>
                  <a:schemeClr val="tx1"/>
                </a:solidFill>
                <a:ea typeface="ＭＳ Ｐゴシック" pitchFamily="34" charset="-128"/>
              </a:rPr>
              <a:t>“</a:t>
            </a:r>
            <a:r>
              <a:rPr lang="en-US" dirty="0">
                <a:solidFill>
                  <a:schemeClr val="tx1"/>
                </a:solidFill>
                <a:ea typeface="ＭＳ Ｐゴシック" pitchFamily="34" charset="-128"/>
              </a:rPr>
              <a:t>to protect the rights and welfare of human subjects (including patients) recruited to participate in research activities.</a:t>
            </a:r>
            <a:r>
              <a:rPr lang="en-US" altLang="en-US" dirty="0">
                <a:solidFill>
                  <a:schemeClr val="tx1"/>
                </a:solidFill>
                <a:ea typeface="ＭＳ Ｐゴシック" pitchFamily="34" charset="-128"/>
              </a:rPr>
              <a:t>”</a:t>
            </a:r>
            <a:endParaRPr lang="en-US" dirty="0">
              <a:solidFill>
                <a:schemeClr val="tx1"/>
              </a:solidFill>
              <a:ea typeface="ＭＳ Ｐゴシック" pitchFamily="34" charset="-128"/>
            </a:endParaRPr>
          </a:p>
          <a:p>
            <a:pPr eaLnBrk="1" hangingPunct="1"/>
            <a:r>
              <a:rPr lang="en-US" dirty="0">
                <a:solidFill>
                  <a:schemeClr val="tx1"/>
                </a:solidFill>
                <a:ea typeface="ＭＳ Ｐゴシック" pitchFamily="34" charset="-128"/>
              </a:rPr>
              <a:t>The institutional review board:</a:t>
            </a:r>
          </a:p>
          <a:p>
            <a:pPr lvl="3" eaLnBrk="1" hangingPunct="1">
              <a:buClr>
                <a:srgbClr val="800000"/>
              </a:buClr>
              <a:buFont typeface="Wingdings" pitchFamily="2" charset="2"/>
              <a:buChar char="ü"/>
            </a:pPr>
            <a:r>
              <a:rPr lang="en-US" sz="2000" dirty="0">
                <a:solidFill>
                  <a:schemeClr val="tx1"/>
                </a:solidFill>
                <a:ea typeface="ＭＳ Ｐゴシック" pitchFamily="34" charset="-128"/>
              </a:rPr>
              <a:t>Reviews the plan of study</a:t>
            </a:r>
          </a:p>
          <a:p>
            <a:pPr lvl="3" eaLnBrk="1" hangingPunct="1">
              <a:buClr>
                <a:srgbClr val="800000"/>
              </a:buClr>
              <a:buFont typeface="Wingdings" pitchFamily="2" charset="2"/>
              <a:buChar char="ü"/>
            </a:pPr>
            <a:r>
              <a:rPr lang="en-US" sz="2000" dirty="0">
                <a:solidFill>
                  <a:schemeClr val="tx1"/>
                </a:solidFill>
                <a:ea typeface="ＭＳ Ｐゴシック" pitchFamily="34" charset="-128"/>
              </a:rPr>
              <a:t>Can require changes</a:t>
            </a:r>
          </a:p>
          <a:p>
            <a:pPr lvl="3" eaLnBrk="1" hangingPunct="1">
              <a:buClr>
                <a:srgbClr val="800000"/>
              </a:buClr>
              <a:buFont typeface="Wingdings" pitchFamily="2" charset="2"/>
              <a:buChar char="ü"/>
            </a:pPr>
            <a:r>
              <a:rPr lang="en-US" sz="2000" dirty="0">
                <a:solidFill>
                  <a:schemeClr val="tx1"/>
                </a:solidFill>
                <a:ea typeface="ＭＳ Ｐゴシック" pitchFamily="34" charset="-128"/>
              </a:rPr>
              <a:t>Reviews the consent form</a:t>
            </a:r>
          </a:p>
          <a:p>
            <a:pPr lvl="3" eaLnBrk="1" hangingPunct="1">
              <a:buClr>
                <a:srgbClr val="800000"/>
              </a:buClr>
              <a:buFont typeface="Wingdings" pitchFamily="2" charset="2"/>
              <a:buChar char="ü"/>
            </a:pPr>
            <a:r>
              <a:rPr lang="en-US" sz="2000" dirty="0">
                <a:solidFill>
                  <a:schemeClr val="tx1"/>
                </a:solidFill>
                <a:ea typeface="ＭＳ Ｐゴシック" pitchFamily="34" charset="-128"/>
              </a:rPr>
              <a:t>Monitors progress at least once a year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pPr eaLnBrk="1" hangingPunct="1"/>
            <a:r>
              <a:rPr lang="en-US">
                <a:ea typeface="ＭＳ Ｐゴシック" pitchFamily="34" charset="-128"/>
              </a:rPr>
              <a:t>Informed Consent</a:t>
            </a:r>
          </a:p>
        </p:txBody>
      </p:sp>
      <p:sp>
        <p:nvSpPr>
          <p:cNvPr id="62467"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025390F2-67D7-41CF-A435-A0318C5A9AEC}" type="slidenum">
              <a:rPr lang="en-US" sz="1400">
                <a:solidFill>
                  <a:schemeClr val="accent1"/>
                </a:solidFill>
              </a:rPr>
              <a:pPr/>
              <a:t>31</a:t>
            </a:fld>
            <a:endParaRPr lang="en-US" sz="1400">
              <a:solidFill>
                <a:schemeClr val="accent1"/>
              </a:solidFill>
            </a:endParaRPr>
          </a:p>
        </p:txBody>
      </p:sp>
      <p:sp>
        <p:nvSpPr>
          <p:cNvPr id="62466" name="Rectangle 3"/>
          <p:cNvSpPr>
            <a:spLocks noGrp="1" noChangeArrowheads="1"/>
          </p:cNvSpPr>
          <p:nvPr>
            <p:ph type="body" idx="4294967295"/>
          </p:nvPr>
        </p:nvSpPr>
        <p:spPr>
          <a:xfrm>
            <a:off x="174622" y="1292913"/>
            <a:ext cx="8384761" cy="3758772"/>
          </a:xfrm>
        </p:spPr>
        <p:txBody>
          <a:bodyPr/>
          <a:lstStyle/>
          <a:p>
            <a:pPr algn="just" eaLnBrk="1" hangingPunct="1"/>
            <a:r>
              <a:rPr lang="en-US" dirty="0">
                <a:solidFill>
                  <a:srgbClr val="000000"/>
                </a:solidFill>
                <a:ea typeface="ＭＳ Ｐゴシック" pitchFamily="34" charset="-128"/>
              </a:rPr>
              <a:t>All subjects must give their informed consent before data are collected.</a:t>
            </a:r>
          </a:p>
          <a:p>
            <a:pPr algn="just" eaLnBrk="1" hangingPunct="1"/>
            <a:r>
              <a:rPr lang="en-US" dirty="0">
                <a:solidFill>
                  <a:srgbClr val="000000"/>
                </a:solidFill>
                <a:ea typeface="ＭＳ Ｐゴシック" pitchFamily="34" charset="-128"/>
              </a:rPr>
              <a:t>Subjects must be informed in advance about the nature of a study and any risk of harm it might bring.</a:t>
            </a:r>
          </a:p>
          <a:p>
            <a:pPr algn="just" eaLnBrk="1" hangingPunct="1"/>
            <a:r>
              <a:rPr lang="en-US" dirty="0">
                <a:solidFill>
                  <a:srgbClr val="000000"/>
                </a:solidFill>
                <a:ea typeface="ＭＳ Ｐゴシック" pitchFamily="34" charset="-128"/>
              </a:rPr>
              <a:t>Subjects must then consent in writing.</a:t>
            </a:r>
          </a:p>
          <a:p>
            <a:pPr algn="just" eaLnBrk="1" hangingPunct="1"/>
            <a:r>
              <a:rPr lang="en-US" dirty="0">
                <a:solidFill>
                  <a:srgbClr val="000000"/>
                </a:solidFill>
                <a:ea typeface="ＭＳ Ｐゴシック" pitchFamily="34" charset="-128"/>
              </a:rPr>
              <a:t>Who can</a:t>
            </a:r>
            <a:r>
              <a:rPr lang="en-US" altLang="en-US" dirty="0">
                <a:solidFill>
                  <a:srgbClr val="000000"/>
                </a:solidFill>
                <a:ea typeface="ＭＳ Ｐゴシック" pitchFamily="34" charset="-128"/>
              </a:rPr>
              <a:t>not </a:t>
            </a:r>
            <a:r>
              <a:rPr lang="en-US" dirty="0">
                <a:solidFill>
                  <a:srgbClr val="000000"/>
                </a:solidFill>
                <a:ea typeface="ＭＳ Ｐゴシック" pitchFamily="34" charset="-128"/>
              </a:rPr>
              <a:t>give informed consent?</a:t>
            </a:r>
          </a:p>
          <a:p>
            <a:pPr lvl="3" eaLnBrk="1" hangingPunct="1">
              <a:buClr>
                <a:srgbClr val="800000"/>
              </a:buClr>
              <a:buFont typeface="Wingdings" pitchFamily="2" charset="2"/>
              <a:buChar char="ü"/>
            </a:pPr>
            <a:r>
              <a:rPr lang="en-US" sz="2000" dirty="0">
                <a:solidFill>
                  <a:srgbClr val="000000"/>
                </a:solidFill>
                <a:ea typeface="ＭＳ Ｐゴシック" pitchFamily="34" charset="-128"/>
              </a:rPr>
              <a:t>Prison inmates</a:t>
            </a:r>
          </a:p>
          <a:p>
            <a:pPr lvl="3" eaLnBrk="1" hangingPunct="1">
              <a:buClr>
                <a:srgbClr val="800000"/>
              </a:buClr>
              <a:buFont typeface="Wingdings" pitchFamily="2" charset="2"/>
              <a:buChar char="ü"/>
            </a:pPr>
            <a:r>
              <a:rPr lang="en-US" sz="2000" dirty="0">
                <a:solidFill>
                  <a:srgbClr val="000000"/>
                </a:solidFill>
                <a:ea typeface="ＭＳ Ｐゴシック" pitchFamily="34" charset="-128"/>
              </a:rPr>
              <a:t>Very young children</a:t>
            </a:r>
          </a:p>
          <a:p>
            <a:pPr lvl="3" eaLnBrk="1" hangingPunct="1">
              <a:buClr>
                <a:srgbClr val="800000"/>
              </a:buClr>
              <a:buFont typeface="Wingdings" pitchFamily="2" charset="2"/>
              <a:buChar char="ü"/>
            </a:pPr>
            <a:r>
              <a:rPr lang="en-US" sz="2000" dirty="0">
                <a:solidFill>
                  <a:srgbClr val="000000"/>
                </a:solidFill>
                <a:ea typeface="ＭＳ Ｐゴシック" pitchFamily="34" charset="-128"/>
              </a:rPr>
              <a:t>People with mental disorders</a:t>
            </a:r>
            <a:endParaRPr lang="en-US" dirty="0">
              <a:solidFill>
                <a:srgbClr val="000000"/>
              </a:solidFill>
              <a:ea typeface="ＭＳ Ｐゴシック" pitchFamily="34" charset="-128"/>
            </a:endParaRPr>
          </a:p>
          <a:p>
            <a:pPr eaLnBrk="1" hangingPunct="1"/>
            <a:endParaRPr lang="en-US" dirty="0">
              <a:solidFill>
                <a:srgbClr val="000000"/>
              </a:solidFill>
              <a:ea typeface="ＭＳ Ｐゴシック" pitchFamily="34" charset="-12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pPr eaLnBrk="1" hangingPunct="1"/>
            <a:r>
              <a:rPr lang="en-US">
                <a:ea typeface="ＭＳ Ｐゴシック" pitchFamily="34" charset="-128"/>
              </a:rPr>
              <a:t>Confidentiality</a:t>
            </a:r>
          </a:p>
        </p:txBody>
      </p:sp>
      <p:sp>
        <p:nvSpPr>
          <p:cNvPr id="64515"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F2EF76DB-20A0-41EA-A0BD-BC3545B18DE3}" type="slidenum">
              <a:rPr lang="en-US" sz="1400">
                <a:solidFill>
                  <a:schemeClr val="accent1"/>
                </a:solidFill>
              </a:rPr>
              <a:pPr/>
              <a:t>32</a:t>
            </a:fld>
            <a:endParaRPr lang="en-US" sz="1400">
              <a:solidFill>
                <a:schemeClr val="accent1"/>
              </a:solidFill>
            </a:endParaRPr>
          </a:p>
        </p:txBody>
      </p:sp>
      <p:sp>
        <p:nvSpPr>
          <p:cNvPr id="64514" name="Rectangle 3"/>
          <p:cNvSpPr>
            <a:spLocks noGrp="1" noChangeArrowheads="1"/>
          </p:cNvSpPr>
          <p:nvPr>
            <p:ph type="body" idx="4294967295"/>
          </p:nvPr>
        </p:nvSpPr>
        <p:spPr>
          <a:xfrm>
            <a:off x="174622" y="1230299"/>
            <a:ext cx="8399751" cy="4973183"/>
          </a:xfrm>
        </p:spPr>
        <p:txBody>
          <a:bodyPr/>
          <a:lstStyle/>
          <a:p>
            <a:pPr algn="just" eaLnBrk="1" hangingPunct="1"/>
            <a:r>
              <a:rPr lang="en-US" dirty="0">
                <a:solidFill>
                  <a:srgbClr val="000000"/>
                </a:solidFill>
                <a:ea typeface="ＭＳ Ｐゴシック" pitchFamily="34" charset="-128"/>
              </a:rPr>
              <a:t>All individual data must be kept confidential. Only statistical summaries may be made public. </a:t>
            </a:r>
          </a:p>
          <a:p>
            <a:pPr algn="just" eaLnBrk="1" hangingPunct="1"/>
            <a:r>
              <a:rPr lang="en-US" dirty="0">
                <a:solidFill>
                  <a:srgbClr val="000000"/>
                </a:solidFill>
                <a:ea typeface="ＭＳ Ｐゴシック" pitchFamily="34" charset="-128"/>
              </a:rPr>
              <a:t>Confidentiality is not the same as </a:t>
            </a:r>
            <a:r>
              <a:rPr lang="en-US" b="1" dirty="0">
                <a:solidFill>
                  <a:schemeClr val="tx1"/>
                </a:solidFill>
                <a:ea typeface="ＭＳ Ｐゴシック" pitchFamily="34" charset="-128"/>
              </a:rPr>
              <a:t>anonymity</a:t>
            </a:r>
            <a:r>
              <a:rPr lang="en-US" dirty="0">
                <a:solidFill>
                  <a:srgbClr val="000000"/>
                </a:solidFill>
              </a:rPr>
              <a:t>.</a:t>
            </a:r>
            <a:r>
              <a:rPr lang="en-US" dirty="0">
                <a:solidFill>
                  <a:srgbClr val="000000"/>
                </a:solidFill>
                <a:ea typeface="ＭＳ Ｐゴシック" pitchFamily="34" charset="-128"/>
              </a:rPr>
              <a:t> Anonymity would prevent follow-ups to decrease nonresponse or inform subjects of results.</a:t>
            </a:r>
          </a:p>
          <a:p>
            <a:pPr algn="just" eaLnBrk="1" hangingPunct="1"/>
            <a:r>
              <a:rPr lang="en-US" dirty="0">
                <a:solidFill>
                  <a:srgbClr val="000000"/>
                </a:solidFill>
                <a:ea typeface="ＭＳ Ｐゴシック" pitchFamily="34" charset="-128"/>
              </a:rPr>
              <a:t>Separate the identity of the subjects from the rest of the data immediately!</a:t>
            </a:r>
          </a:p>
          <a:p>
            <a:pPr algn="just" eaLnBrk="1" hangingPunct="1">
              <a:buFont typeface="Wingdings 2" pitchFamily="18" charset="2"/>
              <a:buNone/>
            </a:pPr>
            <a:endParaRPr lang="en-US" dirty="0">
              <a:solidFill>
                <a:srgbClr val="000000"/>
              </a:solidFill>
              <a:ea typeface="ＭＳ Ｐゴシック" pitchFamily="34" charset="-128"/>
            </a:endParaRPr>
          </a:p>
          <a:p>
            <a:pPr lvl="1" algn="just" eaLnBrk="1" hangingPunct="1">
              <a:buFont typeface="Wingdings 2" pitchFamily="18" charset="2"/>
              <a:buNone/>
            </a:pPr>
            <a:r>
              <a:rPr lang="en-US" sz="2000" b="1" u="sng" dirty="0">
                <a:solidFill>
                  <a:srgbClr val="05295B"/>
                </a:solidFill>
                <a:ea typeface="ＭＳ Ｐゴシック" pitchFamily="34" charset="-128"/>
              </a:rPr>
              <a:t>Example</a:t>
            </a:r>
            <a:r>
              <a:rPr lang="en-US" sz="2000" b="1" dirty="0">
                <a:solidFill>
                  <a:srgbClr val="05295B"/>
                </a:solidFill>
                <a:ea typeface="ＭＳ Ｐゴシック" pitchFamily="34" charset="-128"/>
              </a:rPr>
              <a:t>:</a:t>
            </a:r>
            <a:r>
              <a:rPr lang="en-US" sz="2000" dirty="0">
                <a:solidFill>
                  <a:srgbClr val="0033CC"/>
                </a:solidFill>
                <a:ea typeface="ＭＳ Ｐゴシック" pitchFamily="34" charset="-128"/>
              </a:rPr>
              <a:t> </a:t>
            </a:r>
          </a:p>
          <a:p>
            <a:pPr marL="225425" lvl="1" indent="3175" algn="just" eaLnBrk="1" hangingPunct="1">
              <a:buFont typeface="Wingdings 2" pitchFamily="18" charset="2"/>
              <a:buNone/>
            </a:pPr>
            <a:r>
              <a:rPr lang="en-US" sz="2000" dirty="0">
                <a:solidFill>
                  <a:srgbClr val="000000"/>
                </a:solidFill>
                <a:ea typeface="ＭＳ Ｐゴシック" pitchFamily="34" charset="-128"/>
              </a:rPr>
              <a:t>Citizens are required to give certain information to the government (tax returns, Social Security contributions). Some people feel that individuals should be able to forbid any other use of their data, even with all identification removed.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pPr eaLnBrk="1" hangingPunct="1"/>
            <a:r>
              <a:rPr lang="en-US">
                <a:ea typeface="ＭＳ Ｐゴシック" pitchFamily="34" charset="-128"/>
              </a:rPr>
              <a:t>Clinical Trials</a:t>
            </a:r>
          </a:p>
        </p:txBody>
      </p:sp>
      <p:sp>
        <p:nvSpPr>
          <p:cNvPr id="66563"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F5BDA0A2-078C-4C92-83A9-D6CE818BD928}" type="slidenum">
              <a:rPr lang="en-US" sz="1400">
                <a:solidFill>
                  <a:schemeClr val="accent1"/>
                </a:solidFill>
              </a:rPr>
              <a:pPr/>
              <a:t>33</a:t>
            </a:fld>
            <a:endParaRPr lang="en-US" sz="1400">
              <a:solidFill>
                <a:schemeClr val="accent1"/>
              </a:solidFill>
            </a:endParaRPr>
          </a:p>
        </p:txBody>
      </p:sp>
      <p:sp>
        <p:nvSpPr>
          <p:cNvPr id="66562" name="Rectangle 3"/>
          <p:cNvSpPr>
            <a:spLocks noGrp="1" noChangeArrowheads="1"/>
          </p:cNvSpPr>
          <p:nvPr>
            <p:ph type="body" idx="4294967295"/>
          </p:nvPr>
        </p:nvSpPr>
        <p:spPr>
          <a:xfrm>
            <a:off x="174623" y="1202154"/>
            <a:ext cx="8229600" cy="4816611"/>
          </a:xfrm>
        </p:spPr>
        <p:txBody>
          <a:bodyPr/>
          <a:lstStyle/>
          <a:p>
            <a:pPr algn="just" eaLnBrk="1" hangingPunct="1">
              <a:lnSpc>
                <a:spcPct val="90000"/>
              </a:lnSpc>
            </a:pPr>
            <a:r>
              <a:rPr lang="en-US" dirty="0">
                <a:solidFill>
                  <a:schemeClr val="tx1"/>
                </a:solidFill>
                <a:ea typeface="ＭＳ Ｐゴシック" pitchFamily="34" charset="-128"/>
              </a:rPr>
              <a:t>Clinical trials study the effectiveness of medical treatments on actual patients—these treatments can harm as well as heal.</a:t>
            </a:r>
          </a:p>
          <a:p>
            <a:pPr algn="just" eaLnBrk="1" hangingPunct="1">
              <a:lnSpc>
                <a:spcPct val="90000"/>
              </a:lnSpc>
            </a:pPr>
            <a:r>
              <a:rPr lang="en-US" dirty="0">
                <a:solidFill>
                  <a:schemeClr val="tx1"/>
                </a:solidFill>
                <a:ea typeface="ＭＳ Ｐゴシック" pitchFamily="34" charset="-128"/>
              </a:rPr>
              <a:t>Points for a discussion:</a:t>
            </a:r>
          </a:p>
          <a:p>
            <a:pPr marL="625475" lvl="3" algn="just" eaLnBrk="1" hangingPunct="1">
              <a:lnSpc>
                <a:spcPct val="90000"/>
              </a:lnSpc>
              <a:buClr>
                <a:srgbClr val="800000"/>
              </a:buClr>
              <a:buFont typeface="Wingdings" pitchFamily="2" charset="2"/>
              <a:buChar char="ü"/>
            </a:pPr>
            <a:r>
              <a:rPr lang="en-US" sz="2000" dirty="0">
                <a:solidFill>
                  <a:schemeClr val="tx1"/>
                </a:solidFill>
                <a:ea typeface="ＭＳ Ｐゴシック" pitchFamily="34" charset="-128"/>
              </a:rPr>
              <a:t>Randomized comparative experiments are the only way to see the true effects of new treatments.</a:t>
            </a:r>
          </a:p>
          <a:p>
            <a:pPr marL="625475" lvl="3" algn="just" eaLnBrk="1" hangingPunct="1">
              <a:lnSpc>
                <a:spcPct val="90000"/>
              </a:lnSpc>
              <a:buClr>
                <a:srgbClr val="800000"/>
              </a:buClr>
              <a:buFont typeface="Wingdings" pitchFamily="2" charset="2"/>
              <a:buChar char="ü"/>
            </a:pPr>
            <a:r>
              <a:rPr lang="en-US" sz="2000" dirty="0">
                <a:solidFill>
                  <a:schemeClr val="tx1"/>
                </a:solidFill>
                <a:ea typeface="ＭＳ Ｐゴシック" pitchFamily="34" charset="-128"/>
              </a:rPr>
              <a:t>Most benefits of clinical trials go to future patients. We must balance future benefits against present risks.</a:t>
            </a:r>
          </a:p>
          <a:p>
            <a:pPr marL="625475" lvl="3" algn="just" eaLnBrk="1" hangingPunct="1">
              <a:lnSpc>
                <a:spcPct val="90000"/>
              </a:lnSpc>
              <a:buClr>
                <a:srgbClr val="800000"/>
              </a:buClr>
              <a:buFont typeface="Wingdings" pitchFamily="2" charset="2"/>
              <a:buChar char="ü"/>
            </a:pPr>
            <a:r>
              <a:rPr lang="en-US" sz="2000" dirty="0">
                <a:solidFill>
                  <a:schemeClr val="tx1"/>
                </a:solidFill>
                <a:ea typeface="ＭＳ Ｐゴシック" pitchFamily="34" charset="-128"/>
              </a:rPr>
              <a:t>The interests of the subject must always prevail over the interests of science and society.</a:t>
            </a:r>
          </a:p>
          <a:p>
            <a:pPr algn="just" eaLnBrk="1" hangingPunct="1">
              <a:lnSpc>
                <a:spcPct val="90000"/>
              </a:lnSpc>
            </a:pPr>
            <a:r>
              <a:rPr lang="en-US" dirty="0">
                <a:solidFill>
                  <a:schemeClr val="tx1"/>
                </a:solidFill>
                <a:ea typeface="ＭＳ Ｐゴシック" pitchFamily="34" charset="-128"/>
              </a:rPr>
              <a:t>In the 1930s, for an experiment now known as the Tuskegee study, the United States Public Health Service recruited 399 poor African Americans with syphilis and 201 without the disease in order to observe how syphilis progressed without treatment. The Public Health Service prevented any treatment until word leaked out and forced an end to the study in the 1970s.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rPr>
              <a:t>Behavioral and Social Science Experiments</a:t>
            </a:r>
          </a:p>
        </p:txBody>
      </p:sp>
      <p:sp>
        <p:nvSpPr>
          <p:cNvPr id="6861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6E33132-56AA-453C-A57B-15534BF18E76}" type="slidenum">
              <a:rPr lang="en-US" sz="1400">
                <a:solidFill>
                  <a:schemeClr val="accent1"/>
                </a:solidFill>
              </a:rPr>
              <a:pPr/>
              <a:t>34</a:t>
            </a:fld>
            <a:endParaRPr lang="en-US" sz="1400">
              <a:solidFill>
                <a:schemeClr val="accent1"/>
              </a:solidFill>
            </a:endParaRPr>
          </a:p>
        </p:txBody>
      </p:sp>
      <p:sp>
        <p:nvSpPr>
          <p:cNvPr id="68610" name="Rectangle 3"/>
          <p:cNvSpPr>
            <a:spLocks noGrp="1" noChangeArrowheads="1"/>
          </p:cNvSpPr>
          <p:nvPr>
            <p:ph type="body" idx="4294967295"/>
          </p:nvPr>
        </p:nvSpPr>
        <p:spPr>
          <a:xfrm>
            <a:off x="174622" y="1564005"/>
            <a:ext cx="7890085" cy="3352769"/>
          </a:xfrm>
        </p:spPr>
        <p:txBody>
          <a:bodyPr/>
          <a:lstStyle/>
          <a:p>
            <a:pPr algn="just" eaLnBrk="1" hangingPunct="1"/>
            <a:r>
              <a:rPr lang="en-US" dirty="0">
                <a:solidFill>
                  <a:srgbClr val="000000"/>
                </a:solidFill>
                <a:ea typeface="ＭＳ Ｐゴシック" pitchFamily="34" charset="-128"/>
              </a:rPr>
              <a:t>Many behavioral experiments rely on hiding the true purpose of the study.</a:t>
            </a:r>
          </a:p>
          <a:p>
            <a:pPr algn="just" eaLnBrk="1" hangingPunct="1"/>
            <a:r>
              <a:rPr lang="en-US" dirty="0">
                <a:solidFill>
                  <a:srgbClr val="000000"/>
                </a:solidFill>
                <a:ea typeface="ＭＳ Ｐゴシック" pitchFamily="34" charset="-128"/>
              </a:rPr>
              <a:t>Subjects would be likely to change their behavior if they were told in advance what investigators were looking for.</a:t>
            </a:r>
          </a:p>
          <a:p>
            <a:pPr algn="just" eaLnBrk="1" hangingPunct="1"/>
            <a:r>
              <a:rPr lang="en-US" dirty="0">
                <a:solidFill>
                  <a:srgbClr val="000000"/>
                </a:solidFill>
                <a:ea typeface="ＭＳ Ｐゴシック" pitchFamily="34" charset="-128"/>
              </a:rPr>
              <a:t>The </a:t>
            </a:r>
            <a:r>
              <a:rPr lang="en-US" altLang="en-US" dirty="0">
                <a:solidFill>
                  <a:srgbClr val="000000"/>
                </a:solidFill>
                <a:ea typeface="ＭＳ Ｐゴシック" pitchFamily="34" charset="-128"/>
              </a:rPr>
              <a:t>“</a:t>
            </a:r>
            <a:r>
              <a:rPr lang="en-US" dirty="0">
                <a:solidFill>
                  <a:srgbClr val="000000"/>
                </a:solidFill>
                <a:ea typeface="ＭＳ Ｐゴシック" pitchFamily="34" charset="-128"/>
              </a:rPr>
              <a:t>Ethical Principles</a:t>
            </a:r>
            <a:r>
              <a:rPr lang="en-US" altLang="en-US" dirty="0">
                <a:solidFill>
                  <a:srgbClr val="000000"/>
                </a:solidFill>
                <a:ea typeface="ＭＳ Ｐゴシック" pitchFamily="34" charset="-128"/>
              </a:rPr>
              <a:t>”</a:t>
            </a:r>
            <a:r>
              <a:rPr lang="en-US" dirty="0">
                <a:solidFill>
                  <a:srgbClr val="000000"/>
                </a:solidFill>
                <a:ea typeface="ＭＳ Ｐゴシック" pitchFamily="34" charset="-128"/>
              </a:rPr>
              <a:t> of the American Psychological Association require consent, unless a study merely observes behavior in a public space.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9705"/>
            <a:ext cx="6508750" cy="1143000"/>
          </a:xfrm>
        </p:spPr>
        <p:txBody>
          <a:bodyPr/>
          <a:lstStyle/>
          <a:p>
            <a:r>
              <a:rPr lang="en-US" b="1" dirty="0"/>
              <a:t>Chapter 3</a:t>
            </a:r>
            <a:br>
              <a:rPr lang="en-US" b="1" dirty="0"/>
            </a:br>
            <a:r>
              <a:rPr lang="en-US" b="1" dirty="0"/>
              <a:t>Producing Data (Review)</a:t>
            </a:r>
          </a:p>
        </p:txBody>
      </p:sp>
      <p:sp>
        <p:nvSpPr>
          <p:cNvPr id="3" name="Content Placeholder 2"/>
          <p:cNvSpPr>
            <a:spLocks noGrp="1"/>
          </p:cNvSpPr>
          <p:nvPr>
            <p:ph idx="1"/>
          </p:nvPr>
        </p:nvSpPr>
        <p:spPr>
          <a:xfrm>
            <a:off x="457200" y="1924987"/>
            <a:ext cx="6508750" cy="3916363"/>
          </a:xfrm>
        </p:spPr>
        <p:txBody>
          <a:bodyPr/>
          <a:lstStyle/>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Introduction</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3.1 Sources of Data</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3.2 Design of Experiments</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3.3 Sampling Design</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3.4 Ethics</a:t>
            </a:r>
          </a:p>
          <a:p>
            <a:endParaRPr lang="en-US" dirty="0"/>
          </a:p>
        </p:txBody>
      </p:sp>
      <p:sp>
        <p:nvSpPr>
          <p:cNvPr id="4" name="Slide Number Placeholder 3"/>
          <p:cNvSpPr>
            <a:spLocks noGrp="1"/>
          </p:cNvSpPr>
          <p:nvPr>
            <p:ph type="sldNum" sz="quarter" idx="10"/>
          </p:nvPr>
        </p:nvSpPr>
        <p:spPr/>
        <p:txBody>
          <a:bodyPr/>
          <a:lstStyle/>
          <a:p>
            <a:fld id="{BC3F43B1-2C8C-40C7-8E11-D55EE497CF20}" type="slidenum">
              <a:rPr lang="en-US" smtClean="0"/>
              <a:pPr/>
              <a:t>35</a:t>
            </a:fld>
            <a:endParaRPr lang="en-US"/>
          </a:p>
        </p:txBody>
      </p:sp>
    </p:spTree>
    <p:extLst>
      <p:ext uri="{BB962C8B-B14F-4D97-AF65-F5344CB8AC3E}">
        <p14:creationId xmlns:p14="http://schemas.microsoft.com/office/powerpoint/2010/main" val="2973703404"/>
      </p:ext>
    </p:extLst>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2329</TotalTime>
  <Words>3133</Words>
  <Application>Microsoft Office PowerPoint</Application>
  <PresentationFormat>On-screen Show (4:3)</PresentationFormat>
  <Paragraphs>289</Paragraphs>
  <Slides>35</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ＭＳ Ｐゴシック</vt:lpstr>
      <vt:lpstr>Arial</vt:lpstr>
      <vt:lpstr>Calibri</vt:lpstr>
      <vt:lpstr>Garamond</vt:lpstr>
      <vt:lpstr>Monotype Sorts</vt:lpstr>
      <vt:lpstr>Symbol</vt:lpstr>
      <vt:lpstr>Wingdings</vt:lpstr>
      <vt:lpstr>Wingdings 2</vt:lpstr>
      <vt:lpstr>ヒラギノ角ゴ Pro W3</vt:lpstr>
      <vt:lpstr>Plaza</vt:lpstr>
      <vt:lpstr>Chapter 3 Producing Data   Lecture Slides</vt:lpstr>
      <vt:lpstr>Chapter 3 Producing Data</vt:lpstr>
      <vt:lpstr>3.1 Sources of Data</vt:lpstr>
      <vt:lpstr>Obtaining Data</vt:lpstr>
      <vt:lpstr>Sample Surveys</vt:lpstr>
      <vt:lpstr>Observation vs. Experiment</vt:lpstr>
      <vt:lpstr>Confounding</vt:lpstr>
      <vt:lpstr>3.2 Design of Experiments</vt:lpstr>
      <vt:lpstr>Experimental Units, Subjects, Treatments, and Outcomes</vt:lpstr>
      <vt:lpstr>Need for Comparative Experiments</vt:lpstr>
      <vt:lpstr>Comparative Experiments</vt:lpstr>
      <vt:lpstr>Need for Randomization</vt:lpstr>
      <vt:lpstr>Randomized Comparative Experiments</vt:lpstr>
      <vt:lpstr>How to Randomize</vt:lpstr>
      <vt:lpstr>Principles of Experimental Design</vt:lpstr>
      <vt:lpstr>Cautions about Experimentation</vt:lpstr>
      <vt:lpstr>Matched Pairs</vt:lpstr>
      <vt:lpstr>Blocked Designs</vt:lpstr>
      <vt:lpstr>3.3 Sampling Design</vt:lpstr>
      <vt:lpstr>Population and Sample</vt:lpstr>
      <vt:lpstr>How to Sample Badly</vt:lpstr>
      <vt:lpstr>Simple Random Samples</vt:lpstr>
      <vt:lpstr>How to Choose an SRS</vt:lpstr>
      <vt:lpstr>SRS Example</vt:lpstr>
      <vt:lpstr>Probability Samples: Stratified Random Samples</vt:lpstr>
      <vt:lpstr>Probability Samples:  Multistage Random Samples</vt:lpstr>
      <vt:lpstr>Cautions about Sample Surveys</vt:lpstr>
      <vt:lpstr>3.4 Ethics</vt:lpstr>
      <vt:lpstr>Basic Data Ethics</vt:lpstr>
      <vt:lpstr>Institutional Review Boards</vt:lpstr>
      <vt:lpstr>Informed Consent</vt:lpstr>
      <vt:lpstr>Confidentiality</vt:lpstr>
      <vt:lpstr>Clinical Trials</vt:lpstr>
      <vt:lpstr>Behavioral and Social Science Experiments</vt:lpstr>
      <vt:lpstr>Chapter 3 Producing Data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Producing Data</dc:title>
  <dc:creator>Jason Molesky</dc:creator>
  <cp:lastModifiedBy>Newton, Andy</cp:lastModifiedBy>
  <cp:revision>201</cp:revision>
  <dcterms:created xsi:type="dcterms:W3CDTF">2012-01-09T12:55:25Z</dcterms:created>
  <dcterms:modified xsi:type="dcterms:W3CDTF">2020-12-08T20:58:15Z</dcterms:modified>
</cp:coreProperties>
</file>