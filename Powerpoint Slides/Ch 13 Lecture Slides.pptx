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137"/>
  </p:notesMasterIdLst>
  <p:sldIdLst>
    <p:sldId id="377" r:id="rId2"/>
    <p:sldId id="258" r:id="rId3"/>
    <p:sldId id="259" r:id="rId4"/>
    <p:sldId id="263" r:id="rId5"/>
    <p:sldId id="260" r:id="rId6"/>
    <p:sldId id="378" r:id="rId7"/>
    <p:sldId id="261" r:id="rId8"/>
    <p:sldId id="262" r:id="rId9"/>
    <p:sldId id="264" r:id="rId10"/>
    <p:sldId id="265" r:id="rId11"/>
    <p:sldId id="266" r:id="rId12"/>
    <p:sldId id="379" r:id="rId13"/>
    <p:sldId id="380" r:id="rId14"/>
    <p:sldId id="381" r:id="rId15"/>
    <p:sldId id="274" r:id="rId16"/>
    <p:sldId id="275" r:id="rId17"/>
    <p:sldId id="276" r:id="rId18"/>
    <p:sldId id="277" r:id="rId19"/>
    <p:sldId id="382" r:id="rId20"/>
    <p:sldId id="383" r:id="rId21"/>
    <p:sldId id="384" r:id="rId22"/>
    <p:sldId id="385" r:id="rId23"/>
    <p:sldId id="386" r:id="rId24"/>
    <p:sldId id="278" r:id="rId25"/>
    <p:sldId id="387" r:id="rId26"/>
    <p:sldId id="388" r:id="rId27"/>
    <p:sldId id="389" r:id="rId28"/>
    <p:sldId id="390" r:id="rId29"/>
    <p:sldId id="287" r:id="rId30"/>
    <p:sldId id="391" r:id="rId31"/>
    <p:sldId id="392" r:id="rId32"/>
    <p:sldId id="393" r:id="rId33"/>
    <p:sldId id="394" r:id="rId34"/>
    <p:sldId id="395" r:id="rId35"/>
    <p:sldId id="396" r:id="rId36"/>
    <p:sldId id="397" r:id="rId37"/>
    <p:sldId id="398" r:id="rId38"/>
    <p:sldId id="399" r:id="rId39"/>
    <p:sldId id="400" r:id="rId40"/>
    <p:sldId id="401" r:id="rId41"/>
    <p:sldId id="402" r:id="rId42"/>
    <p:sldId id="290" r:id="rId43"/>
    <p:sldId id="291" r:id="rId44"/>
    <p:sldId id="403" r:id="rId45"/>
    <p:sldId id="292" r:id="rId46"/>
    <p:sldId id="293" r:id="rId47"/>
    <p:sldId id="404" r:id="rId48"/>
    <p:sldId id="294" r:id="rId49"/>
    <p:sldId id="405" r:id="rId50"/>
    <p:sldId id="406" r:id="rId51"/>
    <p:sldId id="297" r:id="rId52"/>
    <p:sldId id="407" r:id="rId53"/>
    <p:sldId id="408" r:id="rId54"/>
    <p:sldId id="409" r:id="rId55"/>
    <p:sldId id="410" r:id="rId56"/>
    <p:sldId id="411" r:id="rId57"/>
    <p:sldId id="412" r:id="rId58"/>
    <p:sldId id="413" r:id="rId59"/>
    <p:sldId id="414" r:id="rId60"/>
    <p:sldId id="415" r:id="rId61"/>
    <p:sldId id="416" r:id="rId62"/>
    <p:sldId id="417" r:id="rId63"/>
    <p:sldId id="418" r:id="rId64"/>
    <p:sldId id="419" r:id="rId65"/>
    <p:sldId id="307" r:id="rId66"/>
    <p:sldId id="308" r:id="rId67"/>
    <p:sldId id="309" r:id="rId68"/>
    <p:sldId id="420" r:id="rId69"/>
    <p:sldId id="421" r:id="rId70"/>
    <p:sldId id="422" r:id="rId71"/>
    <p:sldId id="423" r:id="rId72"/>
    <p:sldId id="424" r:id="rId73"/>
    <p:sldId id="425" r:id="rId74"/>
    <p:sldId id="310" r:id="rId75"/>
    <p:sldId id="311" r:id="rId76"/>
    <p:sldId id="312" r:id="rId77"/>
    <p:sldId id="426" r:id="rId78"/>
    <p:sldId id="430" r:id="rId79"/>
    <p:sldId id="427" r:id="rId80"/>
    <p:sldId id="428" r:id="rId81"/>
    <p:sldId id="429" r:id="rId82"/>
    <p:sldId id="431" r:id="rId83"/>
    <p:sldId id="432" r:id="rId84"/>
    <p:sldId id="319" r:id="rId85"/>
    <p:sldId id="320" r:id="rId86"/>
    <p:sldId id="433" r:id="rId87"/>
    <p:sldId id="434" r:id="rId88"/>
    <p:sldId id="435" r:id="rId89"/>
    <p:sldId id="436" r:id="rId90"/>
    <p:sldId id="326" r:id="rId91"/>
    <p:sldId id="327" r:id="rId92"/>
    <p:sldId id="328" r:id="rId93"/>
    <p:sldId id="437" r:id="rId94"/>
    <p:sldId id="438" r:id="rId95"/>
    <p:sldId id="439" r:id="rId96"/>
    <p:sldId id="440" r:id="rId97"/>
    <p:sldId id="332" r:id="rId98"/>
    <p:sldId id="442" r:id="rId99"/>
    <p:sldId id="443" r:id="rId100"/>
    <p:sldId id="444" r:id="rId101"/>
    <p:sldId id="445" r:id="rId102"/>
    <p:sldId id="446" r:id="rId103"/>
    <p:sldId id="447" r:id="rId104"/>
    <p:sldId id="441" r:id="rId105"/>
    <p:sldId id="333" r:id="rId106"/>
    <p:sldId id="334" r:id="rId107"/>
    <p:sldId id="448" r:id="rId108"/>
    <p:sldId id="449" r:id="rId109"/>
    <p:sldId id="451" r:id="rId110"/>
    <p:sldId id="450" r:id="rId111"/>
    <p:sldId id="452" r:id="rId112"/>
    <p:sldId id="453" r:id="rId113"/>
    <p:sldId id="454" r:id="rId114"/>
    <p:sldId id="455" r:id="rId115"/>
    <p:sldId id="456" r:id="rId116"/>
    <p:sldId id="339" r:id="rId117"/>
    <p:sldId id="340" r:id="rId118"/>
    <p:sldId id="457" r:id="rId119"/>
    <p:sldId id="458" r:id="rId120"/>
    <p:sldId id="459" r:id="rId121"/>
    <p:sldId id="460" r:id="rId122"/>
    <p:sldId id="461" r:id="rId123"/>
    <p:sldId id="462" r:id="rId124"/>
    <p:sldId id="463" r:id="rId125"/>
    <p:sldId id="464" r:id="rId126"/>
    <p:sldId id="465" r:id="rId127"/>
    <p:sldId id="466" r:id="rId128"/>
    <p:sldId id="467" r:id="rId129"/>
    <p:sldId id="345" r:id="rId130"/>
    <p:sldId id="346" r:id="rId131"/>
    <p:sldId id="347" r:id="rId132"/>
    <p:sldId id="468" r:id="rId133"/>
    <p:sldId id="469" r:id="rId134"/>
    <p:sldId id="470" r:id="rId135"/>
    <p:sldId id="471" r:id="rId13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816">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e Glascoe" initials="SG" lastIdx="2" clrIdx="0">
    <p:extLst>
      <p:ext uri="{19B8F6BF-5375-455C-9EA6-DF929625EA0E}">
        <p15:presenceInfo xmlns:p15="http://schemas.microsoft.com/office/powerpoint/2012/main" userId="811cbc21041563aa" providerId="Windows Live"/>
      </p:ext>
    </p:extLst>
  </p:cmAuthor>
  <p:cmAuthor id="2" name="Pam Trim" initials="PT" lastIdx="3" clrIdx="1">
    <p:extLst>
      <p:ext uri="{19B8F6BF-5375-455C-9EA6-DF929625EA0E}">
        <p15:presenceInfo xmlns:p15="http://schemas.microsoft.com/office/powerpoint/2012/main" userId="Pam Tri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A00020"/>
    <a:srgbClr val="E6C127"/>
    <a:srgbClr val="FEF5E0"/>
    <a:srgbClr val="F5F9DF"/>
    <a:srgbClr val="009900"/>
    <a:srgbClr val="DEEAE8"/>
    <a:srgbClr val="0077B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84" autoAdjust="0"/>
    <p:restoredTop sz="94660"/>
  </p:normalViewPr>
  <p:slideViewPr>
    <p:cSldViewPr snapToGrid="0">
      <p:cViewPr varScale="1">
        <p:scale>
          <a:sx n="102" d="100"/>
          <a:sy n="102" d="100"/>
        </p:scale>
        <p:origin x="150" y="114"/>
      </p:cViewPr>
      <p:guideLst>
        <p:guide orient="horz" pos="816"/>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commentAuthors" Target="commentAuthor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5" Type="http://schemas.openxmlformats.org/officeDocument/2006/relationships/image" Target="../media/image22.wmf"/><Relationship Id="rId4"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 Id="rId6" Type="http://schemas.openxmlformats.org/officeDocument/2006/relationships/image" Target="../media/image65.wmf"/><Relationship Id="rId5" Type="http://schemas.openxmlformats.org/officeDocument/2006/relationships/image" Target="../media/image64.wmf"/><Relationship Id="rId4" Type="http://schemas.openxmlformats.org/officeDocument/2006/relationships/image" Target="../media/image63.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9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9027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0330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9166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8667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3176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2500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0383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3841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9023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8408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7931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6213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2205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3551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53693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22743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95707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40399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3354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79005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77009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8208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63734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87824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45919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05897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94449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87979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32262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49354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14542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39683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86519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44482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63572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85224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10869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44792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26539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8408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45678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7446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76647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23721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9514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19166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1621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05887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52303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41551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59347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8672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94615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17378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19747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12105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0298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53550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683490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11237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297612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64371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86123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19118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689133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848217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071725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10834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23085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38931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417578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459412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836847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3" name="Google Shape;493;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92500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0" name="Google Shape;500;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20767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979040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629722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122788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710273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620660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796604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48470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3" name="Google Shape;553;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557652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97055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319655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692067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244853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923270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1" name="Google Shape;601;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029703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8" name="Google Shape;608;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630973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995075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774216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993444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419150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802207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2" name="Google Shape;642;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568285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835218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687033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070809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119154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495022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005173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2" name="Google Shape;642;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581258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9" name="Google Shape;649;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30227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5" name="Google Shape;655;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304206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245393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224062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333275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100188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049765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237244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881631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31167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4050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5" name="Google Shape;695;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641536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661796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336590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841431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11487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783153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382087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755945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310630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304098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141383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287052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721470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9" name="Google Shape;739;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4840662"/>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6" name="Google Shape;746;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148176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2" name="Google Shape;752;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257345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811334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868909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268728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633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4"/>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13-</a:t>
            </a:r>
            <a:fld id="{00000000-1234-1234-1234-123412341234}" type="slidenum">
              <a:rPr lang="en-US" smtClean="0"/>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rot="5400000">
            <a:off x="4770438" y="2133600"/>
            <a:ext cx="57753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7"/>
          <p:cNvSpPr txBox="1">
            <a:spLocks noGrp="1"/>
          </p:cNvSpPr>
          <p:nvPr>
            <p:ph type="body" idx="1"/>
          </p:nvPr>
        </p:nvSpPr>
        <p:spPr>
          <a:xfrm rot="5400000">
            <a:off x="579438" y="152401"/>
            <a:ext cx="57753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9" name="Google Shape;39;p7"/>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13-</a:t>
            </a:r>
            <a:fld id="{00000000-1234-1234-1234-123412341234}" type="slidenum">
              <a:rPr lang="en-US" smtClean="0"/>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8"/>
          <p:cNvSpPr txBox="1">
            <a:spLocks noGrp="1"/>
          </p:cNvSpPr>
          <p:nvPr>
            <p:ph type="body" idx="1"/>
          </p:nvPr>
        </p:nvSpPr>
        <p:spPr>
          <a:xfrm rot="5400000">
            <a:off x="2309019" y="-3278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3" name="Google Shape;43;p8"/>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13-</a:t>
            </a:r>
            <a:fld id="{00000000-1234-1234-1234-123412341234}" type="slidenum">
              <a:rPr lang="en-US" smtClean="0"/>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 name="Google Shape;46;p9"/>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CC6600"/>
              </a:buClr>
              <a:buSzPts val="3200"/>
              <a:buFont typeface="Times New Roman"/>
              <a:buNone/>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chemeClr val="accent2"/>
              </a:buClr>
              <a:buSzPts val="2800"/>
              <a:buFont typeface="Noto Sans Symbols"/>
              <a:buNone/>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rgbClr val="CC6600"/>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chemeClr val="accent2"/>
              </a:buClr>
              <a:buSzPts val="2000"/>
              <a:buFont typeface="Noto Sans Symbols"/>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7" name="Google Shape;47;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Font typeface="Times New Roman"/>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
        <p:nvSpPr>
          <p:cNvPr id="48" name="Google Shape;48;p9"/>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1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A00020"/>
              </a:buClr>
              <a:buSzPts val="3200"/>
              <a:buFont typeface="Times New Roman"/>
              <a:buChar char="•"/>
              <a:defRPr sz="3200"/>
            </a:lvl1pPr>
            <a:lvl2pPr marL="914400" lvl="1" indent="-406400" algn="l">
              <a:spcBef>
                <a:spcPts val="560"/>
              </a:spcBef>
              <a:spcAft>
                <a:spcPts val="0"/>
              </a:spcAft>
              <a:buSzPts val="2800"/>
              <a:buChar char="▪"/>
              <a:defRPr sz="2800"/>
            </a:lvl2pPr>
            <a:lvl3pPr marL="1371600" lvl="2" indent="-381000" algn="l">
              <a:spcBef>
                <a:spcPts val="480"/>
              </a:spcBef>
              <a:spcAft>
                <a:spcPts val="0"/>
              </a:spcAft>
              <a:buSzPts val="2400"/>
              <a:buFont typeface="Times New Roman"/>
              <a:buChar char="•"/>
              <a:defRPr sz="2400"/>
            </a:lvl3pPr>
            <a:lvl4pPr marL="1828800" lvl="3" indent="-355600" algn="l">
              <a:spcBef>
                <a:spcPts val="400"/>
              </a:spcBef>
              <a:spcAft>
                <a:spcPts val="0"/>
              </a:spcAft>
              <a:buSzPts val="2000"/>
              <a:buChar char="▪"/>
              <a:defRPr sz="2000"/>
            </a:lvl4pPr>
            <a:lvl5pPr marL="2286000" lvl="4" indent="-355600" algn="l">
              <a:spcBef>
                <a:spcPts val="400"/>
              </a:spcBef>
              <a:spcAft>
                <a:spcPts val="0"/>
              </a:spcAft>
              <a:buSzPts val="2000"/>
              <a:buFont typeface="Times New Roman"/>
              <a:buChar char="•"/>
              <a:defRPr sz="2000"/>
            </a:lvl5pPr>
            <a:lvl6pPr marL="2743200" lvl="5" indent="-355600" algn="l">
              <a:spcBef>
                <a:spcPts val="400"/>
              </a:spcBef>
              <a:spcAft>
                <a:spcPts val="0"/>
              </a:spcAft>
              <a:buSzPts val="2000"/>
              <a:buFont typeface="Times New Roman"/>
              <a:buChar char="•"/>
              <a:defRPr sz="2000"/>
            </a:lvl6pPr>
            <a:lvl7pPr marL="3200400" lvl="6" indent="-355600" algn="l">
              <a:spcBef>
                <a:spcPts val="400"/>
              </a:spcBef>
              <a:spcAft>
                <a:spcPts val="0"/>
              </a:spcAft>
              <a:buSzPts val="2000"/>
              <a:buFont typeface="Times New Roman"/>
              <a:buChar char="•"/>
              <a:defRPr sz="2000"/>
            </a:lvl7pPr>
            <a:lvl8pPr marL="3657600" lvl="7" indent="-355600" algn="l">
              <a:spcBef>
                <a:spcPts val="400"/>
              </a:spcBef>
              <a:spcAft>
                <a:spcPts val="0"/>
              </a:spcAft>
              <a:buSzPts val="2000"/>
              <a:buFont typeface="Times New Roman"/>
              <a:buChar char="•"/>
              <a:defRPr sz="2000"/>
            </a:lvl8pPr>
            <a:lvl9pPr marL="4114800" lvl="8" indent="-355600" algn="l">
              <a:spcBef>
                <a:spcPts val="400"/>
              </a:spcBef>
              <a:spcAft>
                <a:spcPts val="0"/>
              </a:spcAft>
              <a:buSzPts val="2000"/>
              <a:buFont typeface="Times New Roman"/>
              <a:buChar char="•"/>
              <a:defRPr sz="2000"/>
            </a:lvl9pPr>
          </a:lstStyle>
          <a:p>
            <a:endParaRPr dirty="0"/>
          </a:p>
        </p:txBody>
      </p:sp>
      <p:sp>
        <p:nvSpPr>
          <p:cNvPr id="52" name="Google Shape;52;p1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Font typeface="Times New Roman"/>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
        <p:nvSpPr>
          <p:cNvPr id="53" name="Google Shape;53;p10"/>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1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6" name="Google Shape;56;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Font typeface="Times New Roman"/>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57" name="Google Shape;57;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Font typeface="Times New Roman"/>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Font typeface="Times New Roman"/>
              <a:buChar char="•"/>
              <a:defRPr sz="1600"/>
            </a:lvl5pPr>
            <a:lvl6pPr marL="2743200" lvl="5" indent="-330200" algn="l">
              <a:spcBef>
                <a:spcPts val="320"/>
              </a:spcBef>
              <a:spcAft>
                <a:spcPts val="0"/>
              </a:spcAft>
              <a:buSzPts val="1600"/>
              <a:buFont typeface="Times New Roman"/>
              <a:buChar char="•"/>
              <a:defRPr sz="1600"/>
            </a:lvl6pPr>
            <a:lvl7pPr marL="3200400" lvl="6" indent="-330200" algn="l">
              <a:spcBef>
                <a:spcPts val="320"/>
              </a:spcBef>
              <a:spcAft>
                <a:spcPts val="0"/>
              </a:spcAft>
              <a:buSzPts val="1600"/>
              <a:buFont typeface="Times New Roman"/>
              <a:buChar char="•"/>
              <a:defRPr sz="1600"/>
            </a:lvl7pPr>
            <a:lvl8pPr marL="3657600" lvl="7" indent="-330200" algn="l">
              <a:spcBef>
                <a:spcPts val="320"/>
              </a:spcBef>
              <a:spcAft>
                <a:spcPts val="0"/>
              </a:spcAft>
              <a:buSzPts val="1600"/>
              <a:buFont typeface="Times New Roman"/>
              <a:buChar char="•"/>
              <a:defRPr sz="1600"/>
            </a:lvl8pPr>
            <a:lvl9pPr marL="4114800" lvl="8" indent="-330200" algn="l">
              <a:spcBef>
                <a:spcPts val="320"/>
              </a:spcBef>
              <a:spcAft>
                <a:spcPts val="0"/>
              </a:spcAft>
              <a:buSzPts val="1600"/>
              <a:buFont typeface="Times New Roman"/>
              <a:buChar char="•"/>
              <a:defRPr sz="1600"/>
            </a:lvl9pPr>
          </a:lstStyle>
          <a:p>
            <a:endParaRPr/>
          </a:p>
        </p:txBody>
      </p:sp>
      <p:sp>
        <p:nvSpPr>
          <p:cNvPr id="58" name="Google Shape;58;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Font typeface="Times New Roman"/>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59" name="Google Shape;59;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Font typeface="Times New Roman"/>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Font typeface="Times New Roman"/>
              <a:buChar char="•"/>
              <a:defRPr sz="1600"/>
            </a:lvl5pPr>
            <a:lvl6pPr marL="2743200" lvl="5" indent="-330200" algn="l">
              <a:spcBef>
                <a:spcPts val="320"/>
              </a:spcBef>
              <a:spcAft>
                <a:spcPts val="0"/>
              </a:spcAft>
              <a:buSzPts val="1600"/>
              <a:buFont typeface="Times New Roman"/>
              <a:buChar char="•"/>
              <a:defRPr sz="1600"/>
            </a:lvl6pPr>
            <a:lvl7pPr marL="3200400" lvl="6" indent="-330200" algn="l">
              <a:spcBef>
                <a:spcPts val="320"/>
              </a:spcBef>
              <a:spcAft>
                <a:spcPts val="0"/>
              </a:spcAft>
              <a:buSzPts val="1600"/>
              <a:buFont typeface="Times New Roman"/>
              <a:buChar char="•"/>
              <a:defRPr sz="1600"/>
            </a:lvl7pPr>
            <a:lvl8pPr marL="3657600" lvl="7" indent="-330200" algn="l">
              <a:spcBef>
                <a:spcPts val="320"/>
              </a:spcBef>
              <a:spcAft>
                <a:spcPts val="0"/>
              </a:spcAft>
              <a:buSzPts val="1600"/>
              <a:buFont typeface="Times New Roman"/>
              <a:buChar char="•"/>
              <a:defRPr sz="1600"/>
            </a:lvl8pPr>
            <a:lvl9pPr marL="4114800" lvl="8" indent="-330200" algn="l">
              <a:spcBef>
                <a:spcPts val="320"/>
              </a:spcBef>
              <a:spcAft>
                <a:spcPts val="0"/>
              </a:spcAft>
              <a:buSzPts val="1600"/>
              <a:buFont typeface="Times New Roman"/>
              <a:buChar char="•"/>
              <a:defRPr sz="1600"/>
            </a:lvl9pPr>
          </a:lstStyle>
          <a:p>
            <a:endParaRPr/>
          </a:p>
        </p:txBody>
      </p:sp>
      <p:sp>
        <p:nvSpPr>
          <p:cNvPr id="60" name="Google Shape;60;p11"/>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3" name="Google Shape;63;p12"/>
          <p:cNvSpPr txBox="1">
            <a:spLocks noGrp="1"/>
          </p:cNvSpPr>
          <p:nvPr>
            <p:ph type="body" idx="1"/>
          </p:nvPr>
        </p:nvSpPr>
        <p:spPr>
          <a:xfrm>
            <a:off x="457200" y="15240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A00020"/>
              </a:buClr>
              <a:buSzPts val="2800"/>
              <a:buFont typeface="Times New Roman"/>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Font typeface="Times New Roman"/>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Font typeface="Times New Roman"/>
              <a:buChar char="•"/>
              <a:defRPr sz="1800"/>
            </a:lvl5pPr>
            <a:lvl6pPr marL="2743200" lvl="5" indent="-342900" algn="l">
              <a:spcBef>
                <a:spcPts val="360"/>
              </a:spcBef>
              <a:spcAft>
                <a:spcPts val="0"/>
              </a:spcAft>
              <a:buSzPts val="1800"/>
              <a:buFont typeface="Times New Roman"/>
              <a:buChar char="•"/>
              <a:defRPr sz="1800"/>
            </a:lvl6pPr>
            <a:lvl7pPr marL="3200400" lvl="6" indent="-342900" algn="l">
              <a:spcBef>
                <a:spcPts val="360"/>
              </a:spcBef>
              <a:spcAft>
                <a:spcPts val="0"/>
              </a:spcAft>
              <a:buSzPts val="1800"/>
              <a:buFont typeface="Times New Roman"/>
              <a:buChar char="•"/>
              <a:defRPr sz="1800"/>
            </a:lvl7pPr>
            <a:lvl8pPr marL="3657600" lvl="7" indent="-342900" algn="l">
              <a:spcBef>
                <a:spcPts val="360"/>
              </a:spcBef>
              <a:spcAft>
                <a:spcPts val="0"/>
              </a:spcAft>
              <a:buSzPts val="1800"/>
              <a:buFont typeface="Times New Roman"/>
              <a:buChar char="•"/>
              <a:defRPr sz="1800"/>
            </a:lvl8pPr>
            <a:lvl9pPr marL="4114800" lvl="8" indent="-342900" algn="l">
              <a:spcBef>
                <a:spcPts val="360"/>
              </a:spcBef>
              <a:spcAft>
                <a:spcPts val="0"/>
              </a:spcAft>
              <a:buSzPts val="1800"/>
              <a:buFont typeface="Times New Roman"/>
              <a:buChar char="•"/>
              <a:defRPr sz="1800"/>
            </a:lvl9pPr>
          </a:lstStyle>
          <a:p>
            <a:endParaRPr dirty="0"/>
          </a:p>
        </p:txBody>
      </p:sp>
      <p:sp>
        <p:nvSpPr>
          <p:cNvPr id="64" name="Google Shape;64;p12"/>
          <p:cNvSpPr txBox="1">
            <a:spLocks noGrp="1"/>
          </p:cNvSpPr>
          <p:nvPr>
            <p:ph type="body" idx="2"/>
          </p:nvPr>
        </p:nvSpPr>
        <p:spPr>
          <a:xfrm>
            <a:off x="4648200" y="15240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Font typeface="Times New Roman"/>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Font typeface="Times New Roman"/>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Font typeface="Times New Roman"/>
              <a:buChar char="•"/>
              <a:defRPr sz="1800"/>
            </a:lvl5pPr>
            <a:lvl6pPr marL="2743200" lvl="5" indent="-342900" algn="l">
              <a:spcBef>
                <a:spcPts val="360"/>
              </a:spcBef>
              <a:spcAft>
                <a:spcPts val="0"/>
              </a:spcAft>
              <a:buSzPts val="1800"/>
              <a:buFont typeface="Times New Roman"/>
              <a:buChar char="•"/>
              <a:defRPr sz="1800"/>
            </a:lvl6pPr>
            <a:lvl7pPr marL="3200400" lvl="6" indent="-342900" algn="l">
              <a:spcBef>
                <a:spcPts val="360"/>
              </a:spcBef>
              <a:spcAft>
                <a:spcPts val="0"/>
              </a:spcAft>
              <a:buSzPts val="1800"/>
              <a:buFont typeface="Times New Roman"/>
              <a:buChar char="•"/>
              <a:defRPr sz="1800"/>
            </a:lvl7pPr>
            <a:lvl8pPr marL="3657600" lvl="7" indent="-342900" algn="l">
              <a:spcBef>
                <a:spcPts val="360"/>
              </a:spcBef>
              <a:spcAft>
                <a:spcPts val="0"/>
              </a:spcAft>
              <a:buSzPts val="1800"/>
              <a:buFont typeface="Times New Roman"/>
              <a:buChar char="•"/>
              <a:defRPr sz="1800"/>
            </a:lvl8pPr>
            <a:lvl9pPr marL="4114800" lvl="8" indent="-342900" algn="l">
              <a:spcBef>
                <a:spcPts val="360"/>
              </a:spcBef>
              <a:spcAft>
                <a:spcPts val="0"/>
              </a:spcAft>
              <a:buSzPts val="1800"/>
              <a:buFont typeface="Times New Roman"/>
              <a:buChar char="•"/>
              <a:defRPr sz="1800"/>
            </a:lvl9pPr>
          </a:lstStyle>
          <a:p>
            <a:endParaRPr/>
          </a:p>
        </p:txBody>
      </p:sp>
      <p:sp>
        <p:nvSpPr>
          <p:cNvPr id="65" name="Google Shape;65;p12"/>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2000"/>
              <a:buFont typeface="Times New Roman"/>
              <a:buNone/>
              <a:defRPr sz="2000"/>
            </a:lvl1pPr>
            <a:lvl2pPr marL="914400" lvl="1" indent="-228600" algn="l">
              <a:spcBef>
                <a:spcPts val="360"/>
              </a:spcBef>
              <a:spcAft>
                <a:spcPts val="0"/>
              </a:spcAft>
              <a:buSzPts val="1800"/>
              <a:buNone/>
              <a:defRPr sz="1800"/>
            </a:lvl2pPr>
            <a:lvl3pPr marL="1371600" lvl="2" indent="-228600" algn="l">
              <a:spcBef>
                <a:spcPts val="320"/>
              </a:spcBef>
              <a:spcAft>
                <a:spcPts val="0"/>
              </a:spcAft>
              <a:buSzPts val="1600"/>
              <a:buFont typeface="Times New Roman"/>
              <a:buNone/>
              <a:defRPr sz="1600"/>
            </a:lvl3pPr>
            <a:lvl4pPr marL="1828800" lvl="3" indent="-228600" algn="l">
              <a:spcBef>
                <a:spcPts val="280"/>
              </a:spcBef>
              <a:spcAft>
                <a:spcPts val="0"/>
              </a:spcAft>
              <a:buSzPts val="1400"/>
              <a:buNone/>
              <a:defRPr sz="1400"/>
            </a:lvl4pPr>
            <a:lvl5pPr marL="2286000" lvl="4" indent="-228600" algn="l">
              <a:spcBef>
                <a:spcPts val="280"/>
              </a:spcBef>
              <a:spcAft>
                <a:spcPts val="0"/>
              </a:spcAft>
              <a:buSzPts val="1400"/>
              <a:buFont typeface="Times New Roman"/>
              <a:buNone/>
              <a:defRPr sz="1400"/>
            </a:lvl5pPr>
            <a:lvl6pPr marL="2743200" lvl="5" indent="-228600" algn="l">
              <a:spcBef>
                <a:spcPts val="280"/>
              </a:spcBef>
              <a:spcAft>
                <a:spcPts val="0"/>
              </a:spcAft>
              <a:buSzPts val="1400"/>
              <a:buFont typeface="Times New Roman"/>
              <a:buNone/>
              <a:defRPr sz="1400"/>
            </a:lvl6pPr>
            <a:lvl7pPr marL="3200400" lvl="6" indent="-228600" algn="l">
              <a:spcBef>
                <a:spcPts val="280"/>
              </a:spcBef>
              <a:spcAft>
                <a:spcPts val="0"/>
              </a:spcAft>
              <a:buSzPts val="1400"/>
              <a:buFont typeface="Times New Roman"/>
              <a:buNone/>
              <a:defRPr sz="1400"/>
            </a:lvl7pPr>
            <a:lvl8pPr marL="3657600" lvl="7" indent="-228600" algn="l">
              <a:spcBef>
                <a:spcPts val="280"/>
              </a:spcBef>
              <a:spcAft>
                <a:spcPts val="0"/>
              </a:spcAft>
              <a:buSzPts val="1400"/>
              <a:buFont typeface="Times New Roman"/>
              <a:buNone/>
              <a:defRPr sz="1400"/>
            </a:lvl8pPr>
            <a:lvl9pPr marL="4114800" lvl="8" indent="-228600" algn="l">
              <a:spcBef>
                <a:spcPts val="280"/>
              </a:spcBef>
              <a:spcAft>
                <a:spcPts val="0"/>
              </a:spcAft>
              <a:buSzPts val="1400"/>
              <a:buFont typeface="Times New Roman"/>
              <a:buNone/>
              <a:defRPr sz="1400"/>
            </a:lvl9pPr>
          </a:lstStyle>
          <a:p>
            <a:endParaRPr/>
          </a:p>
        </p:txBody>
      </p:sp>
      <p:sp>
        <p:nvSpPr>
          <p:cNvPr id="69" name="Google Shape;69;p13"/>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13-</a:t>
            </a:r>
            <a:fld id="{00000000-1234-1234-1234-123412341234}" type="slidenum">
              <a:rPr lang="en-US" smtClean="0"/>
              <a:pPr/>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0" name="Google Shape;30;p4"/>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a:t>13-</a:t>
            </a:r>
            <a:fld id="{00000000-1234-1234-1234-123412341234}" type="slidenum">
              <a:rPr lang="en-US"/>
              <a:t>‹#›</a:t>
            </a:fld>
            <a:endParaRPr/>
          </a:p>
        </p:txBody>
      </p:sp>
    </p:spTree>
    <p:extLst>
      <p:ext uri="{BB962C8B-B14F-4D97-AF65-F5344CB8AC3E}">
        <p14:creationId xmlns:p14="http://schemas.microsoft.com/office/powerpoint/2010/main" val="2803371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
        <p:cNvGrpSpPr/>
        <p:nvPr/>
      </p:nvGrpSpPr>
      <p:grpSpPr>
        <a:xfrm>
          <a:off x="0" y="0"/>
          <a:ext cx="0" cy="0"/>
          <a:chOff x="0" y="0"/>
          <a:chExt cx="0" cy="0"/>
        </a:xfrm>
      </p:grpSpPr>
      <p:sp>
        <p:nvSpPr>
          <p:cNvPr id="21" name="Google Shape;21;p3"/>
          <p:cNvSpPr txBox="1"/>
          <p:nvPr/>
        </p:nvSpPr>
        <p:spPr>
          <a:xfrm>
            <a:off x="0" y="6400800"/>
            <a:ext cx="9144000" cy="457200"/>
          </a:xfrm>
          <a:prstGeom prst="rect">
            <a:avLst/>
          </a:prstGeom>
          <a:solidFill>
            <a:srgbClr val="A00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22" name="Google Shape;22;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accent2"/>
                </a:solidFill>
                <a:latin typeface="Arial"/>
                <a:ea typeface="Arial"/>
                <a:cs typeface="Arial"/>
                <a:sym typeface="Arial"/>
              </a:defRPr>
            </a:lvl1pPr>
            <a:lvl2pPr marR="0" lvl="1" algn="ctr" rtl="0">
              <a:spcBef>
                <a:spcPts val="0"/>
              </a:spcBef>
              <a:spcAft>
                <a:spcPts val="0"/>
              </a:spcAft>
              <a:buSzPts val="1400"/>
              <a:buNone/>
              <a:defRPr sz="4400" b="0" i="0" u="none" strike="noStrike" cap="none">
                <a:solidFill>
                  <a:schemeClr val="accent2"/>
                </a:solidFill>
                <a:latin typeface="Arial"/>
                <a:ea typeface="Arial"/>
                <a:cs typeface="Arial"/>
                <a:sym typeface="Arial"/>
              </a:defRPr>
            </a:lvl2pPr>
            <a:lvl3pPr marR="0" lvl="2" algn="ctr" rtl="0">
              <a:spcBef>
                <a:spcPts val="0"/>
              </a:spcBef>
              <a:spcAft>
                <a:spcPts val="0"/>
              </a:spcAft>
              <a:buSzPts val="1400"/>
              <a:buNone/>
              <a:defRPr sz="4400" b="0" i="0" u="none" strike="noStrike" cap="none">
                <a:solidFill>
                  <a:schemeClr val="accent2"/>
                </a:solidFill>
                <a:latin typeface="Arial"/>
                <a:ea typeface="Arial"/>
                <a:cs typeface="Arial"/>
                <a:sym typeface="Arial"/>
              </a:defRPr>
            </a:lvl3pPr>
            <a:lvl4pPr marR="0" lvl="3" algn="ctr" rtl="0">
              <a:spcBef>
                <a:spcPts val="0"/>
              </a:spcBef>
              <a:spcAft>
                <a:spcPts val="0"/>
              </a:spcAft>
              <a:buSzPts val="1400"/>
              <a:buNone/>
              <a:defRPr sz="4400" b="0" i="0" u="none" strike="noStrike" cap="none">
                <a:solidFill>
                  <a:schemeClr val="accent2"/>
                </a:solidFill>
                <a:latin typeface="Arial"/>
                <a:ea typeface="Arial"/>
                <a:cs typeface="Arial"/>
                <a:sym typeface="Arial"/>
              </a:defRPr>
            </a:lvl4pPr>
            <a:lvl5pPr marR="0" lvl="4" algn="ctr" rtl="0">
              <a:spcBef>
                <a:spcPts val="0"/>
              </a:spcBef>
              <a:spcAft>
                <a:spcPts val="0"/>
              </a:spcAft>
              <a:buSzPts val="1400"/>
              <a:buNone/>
              <a:defRPr sz="4400" b="0" i="0" u="none" strike="noStrike" cap="none">
                <a:solidFill>
                  <a:schemeClr val="accent2"/>
                </a:solidFill>
                <a:latin typeface="Arial"/>
                <a:ea typeface="Arial"/>
                <a:cs typeface="Arial"/>
                <a:sym typeface="Arial"/>
              </a:defRPr>
            </a:lvl5pPr>
            <a:lvl6pPr marR="0" lvl="5" algn="ctr" rtl="0">
              <a:spcBef>
                <a:spcPts val="0"/>
              </a:spcBef>
              <a:spcAft>
                <a:spcPts val="0"/>
              </a:spcAft>
              <a:buSzPts val="1400"/>
              <a:buNone/>
              <a:defRPr sz="4400" b="0" i="0" u="none" strike="noStrike" cap="none">
                <a:solidFill>
                  <a:schemeClr val="accent2"/>
                </a:solidFill>
                <a:latin typeface="Arial"/>
                <a:ea typeface="Arial"/>
                <a:cs typeface="Arial"/>
                <a:sym typeface="Arial"/>
              </a:defRPr>
            </a:lvl6pPr>
            <a:lvl7pPr marR="0" lvl="6" algn="ctr" rtl="0">
              <a:spcBef>
                <a:spcPts val="0"/>
              </a:spcBef>
              <a:spcAft>
                <a:spcPts val="0"/>
              </a:spcAft>
              <a:buSzPts val="1400"/>
              <a:buNone/>
              <a:defRPr sz="4400" b="0" i="0" u="none" strike="noStrike" cap="none">
                <a:solidFill>
                  <a:schemeClr val="accent2"/>
                </a:solidFill>
                <a:latin typeface="Arial"/>
                <a:ea typeface="Arial"/>
                <a:cs typeface="Arial"/>
                <a:sym typeface="Arial"/>
              </a:defRPr>
            </a:lvl7pPr>
            <a:lvl8pPr marR="0" lvl="7" algn="ctr" rtl="0">
              <a:spcBef>
                <a:spcPts val="0"/>
              </a:spcBef>
              <a:spcAft>
                <a:spcPts val="0"/>
              </a:spcAft>
              <a:buSzPts val="1400"/>
              <a:buNone/>
              <a:defRPr sz="4400" b="0" i="0" u="none" strike="noStrike" cap="none">
                <a:solidFill>
                  <a:schemeClr val="accent2"/>
                </a:solidFill>
                <a:latin typeface="Arial"/>
                <a:ea typeface="Arial"/>
                <a:cs typeface="Arial"/>
                <a:sym typeface="Arial"/>
              </a:defRPr>
            </a:lvl8pPr>
            <a:lvl9pPr marR="0" lvl="8" algn="ctr" rtl="0">
              <a:spcBef>
                <a:spcPts val="0"/>
              </a:spcBef>
              <a:spcAft>
                <a:spcPts val="0"/>
              </a:spcAft>
              <a:buSzPts val="1400"/>
              <a:buNone/>
              <a:defRPr sz="4400" b="0" i="0" u="none" strike="noStrike" cap="none">
                <a:solidFill>
                  <a:schemeClr val="accent2"/>
                </a:solidFill>
                <a:latin typeface="Arial"/>
                <a:ea typeface="Arial"/>
                <a:cs typeface="Arial"/>
                <a:sym typeface="Arial"/>
              </a:defRPr>
            </a:lvl9pPr>
          </a:lstStyle>
          <a:p>
            <a:endParaRPr/>
          </a:p>
        </p:txBody>
      </p:sp>
      <p:sp>
        <p:nvSpPr>
          <p:cNvPr id="24" name="Google Shape;24;p3"/>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13-</a:t>
            </a:r>
            <a:fld id="{00000000-1234-1234-1234-123412341234}" type="slidenum">
              <a:rPr lang="en-US" smtClean="0"/>
              <a:pPr/>
              <a:t>‹#›</a:t>
            </a:fld>
            <a:endParaRPr b="0" dirty="0">
              <a:solidFill>
                <a:srgbClr val="000000"/>
              </a:solidFill>
              <a:latin typeface="Arial"/>
              <a:ea typeface="Arial"/>
              <a:cs typeface="Arial"/>
              <a:sym typeface="Arial"/>
            </a:endParaRPr>
          </a:p>
        </p:txBody>
      </p:sp>
      <p:sp>
        <p:nvSpPr>
          <p:cNvPr id="25" name="Google Shape;25;p3"/>
          <p:cNvSpPr txBox="1"/>
          <p:nvPr/>
        </p:nvSpPr>
        <p:spPr>
          <a:xfrm>
            <a:off x="1447800" y="6507162"/>
            <a:ext cx="5715000" cy="2746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1200"/>
              <a:buFont typeface="Arial"/>
              <a:buNone/>
            </a:pPr>
            <a:r>
              <a:rPr lang="en-US" sz="1200" b="0" i="0" u="none" dirty="0">
                <a:solidFill>
                  <a:schemeClr val="lt1"/>
                </a:solidFill>
                <a:latin typeface="Arial"/>
                <a:ea typeface="Arial"/>
                <a:cs typeface="Arial"/>
                <a:sym typeface="Arial"/>
              </a:rPr>
              <a:t>Copyright © 2021, 2017, 2013 Pearson Education, Inc.  All Rights Reserved</a:t>
            </a:r>
            <a:endParaRPr lang="en-US" sz="1200" dirty="0"/>
          </a:p>
        </p:txBody>
      </p:sp>
      <p:pic>
        <p:nvPicPr>
          <p:cNvPr id="26" name="Google Shape;26;p3" descr="PearsonLogo_Horizontal_Blk_RGB.jpg"/>
          <p:cNvPicPr preferRelativeResize="0"/>
          <p:nvPr/>
        </p:nvPicPr>
        <p:blipFill rotWithShape="1">
          <a:blip r:embed="rId11">
            <a:alphaModFix/>
          </a:blip>
          <a:srcRect/>
          <a:stretch/>
        </p:blipFill>
        <p:spPr>
          <a:xfrm>
            <a:off x="8072437" y="6440487"/>
            <a:ext cx="842962" cy="381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6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25400" marR="0" lvl="0" indent="0" algn="l" rtl="0">
        <a:lnSpc>
          <a:spcPct val="100000"/>
        </a:lnSpc>
        <a:spcBef>
          <a:spcPts val="0"/>
        </a:spcBef>
        <a:spcAft>
          <a:spcPts val="0"/>
        </a:spcAft>
        <a:buClr>
          <a:srgbClr val="A00020"/>
        </a:buClr>
        <a:buFontTx/>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image" Target="../media/image8.png"/><Relationship Id="rId5" Type="http://schemas.openxmlformats.org/officeDocument/2006/relationships/image" Target="../media/image7.w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9.xml"/><Relationship Id="rId1" Type="http://schemas.openxmlformats.org/officeDocument/2006/relationships/vmlDrawing" Target="../drawings/vmlDrawing2.vml"/><Relationship Id="rId5" Type="http://schemas.openxmlformats.org/officeDocument/2006/relationships/image" Target="../media/image9.w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9.xml"/><Relationship Id="rId1" Type="http://schemas.openxmlformats.org/officeDocument/2006/relationships/vmlDrawing" Target="../drawings/vmlDrawing3.vml"/><Relationship Id="rId5" Type="http://schemas.openxmlformats.org/officeDocument/2006/relationships/image" Target="../media/image10.wmf"/><Relationship Id="rId4"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20.xml"/><Relationship Id="rId7" Type="http://schemas.openxmlformats.org/officeDocument/2006/relationships/image" Target="../media/image12.wmf"/><Relationship Id="rId2" Type="http://schemas.openxmlformats.org/officeDocument/2006/relationships/slideLayout" Target="../slideLayouts/slideLayout9.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11.wmf"/><Relationship Id="rId4" Type="http://schemas.openxmlformats.org/officeDocument/2006/relationships/oleObject" Target="../embeddings/oleObject4.bin"/><Relationship Id="rId9" Type="http://schemas.openxmlformats.org/officeDocument/2006/relationships/image" Target="../media/image13.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9.xml"/><Relationship Id="rId1" Type="http://schemas.openxmlformats.org/officeDocument/2006/relationships/vmlDrawing" Target="../drawings/vmlDrawing5.vml"/><Relationship Id="rId5" Type="http://schemas.openxmlformats.org/officeDocument/2006/relationships/image" Target="../media/image14.wmf"/><Relationship Id="rId4"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16.wmf"/><Relationship Id="rId2" Type="http://schemas.openxmlformats.org/officeDocument/2006/relationships/slideLayout" Target="../slideLayouts/slideLayout9.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openxmlformats.org/officeDocument/2006/relationships/image" Target="../media/image15.wmf"/><Relationship Id="rId4" Type="http://schemas.openxmlformats.org/officeDocument/2006/relationships/oleObject" Target="../embeddings/oleObject8.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9.xml"/><Relationship Id="rId1" Type="http://schemas.openxmlformats.org/officeDocument/2006/relationships/vmlDrawing" Target="../drawings/vmlDrawing7.vml"/><Relationship Id="rId5" Type="http://schemas.openxmlformats.org/officeDocument/2006/relationships/image" Target="../media/image17.wmf"/><Relationship Id="rId4" Type="http://schemas.openxmlformats.org/officeDocument/2006/relationships/oleObject" Target="../embeddings/oleObject10.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2.wmf"/><Relationship Id="rId3" Type="http://schemas.openxmlformats.org/officeDocument/2006/relationships/notesSlide" Target="../notesSlides/notesSlide24.xml"/><Relationship Id="rId7" Type="http://schemas.openxmlformats.org/officeDocument/2006/relationships/image" Target="../media/image19.wmf"/><Relationship Id="rId12" Type="http://schemas.openxmlformats.org/officeDocument/2006/relationships/oleObject" Target="../embeddings/oleObject15.bin"/><Relationship Id="rId2" Type="http://schemas.openxmlformats.org/officeDocument/2006/relationships/slideLayout" Target="../slideLayouts/slideLayout9.xml"/><Relationship Id="rId1" Type="http://schemas.openxmlformats.org/officeDocument/2006/relationships/vmlDrawing" Target="../drawings/vmlDrawing8.vml"/><Relationship Id="rId6" Type="http://schemas.openxmlformats.org/officeDocument/2006/relationships/oleObject" Target="../embeddings/oleObject12.bin"/><Relationship Id="rId11" Type="http://schemas.openxmlformats.org/officeDocument/2006/relationships/image" Target="../media/image21.wmf"/><Relationship Id="rId5" Type="http://schemas.openxmlformats.org/officeDocument/2006/relationships/image" Target="../media/image18.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20.w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9.xml"/><Relationship Id="rId1" Type="http://schemas.openxmlformats.org/officeDocument/2006/relationships/vmlDrawing" Target="../drawings/vmlDrawing9.vml"/><Relationship Id="rId5" Type="http://schemas.openxmlformats.org/officeDocument/2006/relationships/image" Target="../media/image23.wmf"/><Relationship Id="rId4"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9.xml"/><Relationship Id="rId1" Type="http://schemas.openxmlformats.org/officeDocument/2006/relationships/vmlDrawing" Target="../drawings/vmlDrawing10.vml"/><Relationship Id="rId6" Type="http://schemas.openxmlformats.org/officeDocument/2006/relationships/image" Target="../media/image24.wmf"/><Relationship Id="rId5" Type="http://schemas.openxmlformats.org/officeDocument/2006/relationships/oleObject" Target="../embeddings/oleObject17.bin"/><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notesSlide" Target="../notesSlides/notesSlide27.xml"/><Relationship Id="rId7" Type="http://schemas.openxmlformats.org/officeDocument/2006/relationships/image" Target="../media/image27.wmf"/><Relationship Id="rId2" Type="http://schemas.openxmlformats.org/officeDocument/2006/relationships/slideLayout" Target="../slideLayouts/slideLayout9.xml"/><Relationship Id="rId1" Type="http://schemas.openxmlformats.org/officeDocument/2006/relationships/vmlDrawing" Target="../drawings/vmlDrawing11.vml"/><Relationship Id="rId6" Type="http://schemas.openxmlformats.org/officeDocument/2006/relationships/oleObject" Target="../embeddings/oleObject19.bin"/><Relationship Id="rId5" Type="http://schemas.openxmlformats.org/officeDocument/2006/relationships/image" Target="../media/image26.wmf"/><Relationship Id="rId4" Type="http://schemas.openxmlformats.org/officeDocument/2006/relationships/oleObject" Target="../embeddings/oleObject18.bin"/><Relationship Id="rId9" Type="http://schemas.openxmlformats.org/officeDocument/2006/relationships/image" Target="../media/image28.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notesSlide" Target="../notesSlides/notesSlide28.xml"/><Relationship Id="rId7" Type="http://schemas.openxmlformats.org/officeDocument/2006/relationships/image" Target="../media/image30.wmf"/><Relationship Id="rId2" Type="http://schemas.openxmlformats.org/officeDocument/2006/relationships/slideLayout" Target="../slideLayouts/slideLayout9.xml"/><Relationship Id="rId1" Type="http://schemas.openxmlformats.org/officeDocument/2006/relationships/vmlDrawing" Target="../drawings/vmlDrawing12.vml"/><Relationship Id="rId6" Type="http://schemas.openxmlformats.org/officeDocument/2006/relationships/oleObject" Target="../embeddings/oleObject22.bin"/><Relationship Id="rId5" Type="http://schemas.openxmlformats.org/officeDocument/2006/relationships/image" Target="../media/image29.wmf"/><Relationship Id="rId4" Type="http://schemas.openxmlformats.org/officeDocument/2006/relationships/oleObject" Target="../embeddings/oleObject21.bin"/><Relationship Id="rId9" Type="http://schemas.openxmlformats.org/officeDocument/2006/relationships/image" Target="../media/image31.wmf"/></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9.xml"/><Relationship Id="rId1" Type="http://schemas.openxmlformats.org/officeDocument/2006/relationships/vmlDrawing" Target="../drawings/vmlDrawing13.vml"/><Relationship Id="rId5" Type="http://schemas.openxmlformats.org/officeDocument/2006/relationships/image" Target="../media/image34.wmf"/><Relationship Id="rId4" Type="http://schemas.openxmlformats.org/officeDocument/2006/relationships/oleObject" Target="../embeddings/oleObject24.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9.xml"/><Relationship Id="rId1" Type="http://schemas.openxmlformats.org/officeDocument/2006/relationships/vmlDrawing" Target="../drawings/vmlDrawing14.vml"/><Relationship Id="rId5" Type="http://schemas.openxmlformats.org/officeDocument/2006/relationships/image" Target="../media/image39.wmf"/><Relationship Id="rId4" Type="http://schemas.openxmlformats.org/officeDocument/2006/relationships/oleObject" Target="../embeddings/oleObject25.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7" Type="http://schemas.openxmlformats.org/officeDocument/2006/relationships/image" Target="../media/image41.wmf"/><Relationship Id="rId2" Type="http://schemas.openxmlformats.org/officeDocument/2006/relationships/slideLayout" Target="../slideLayouts/slideLayout9.xml"/><Relationship Id="rId1" Type="http://schemas.openxmlformats.org/officeDocument/2006/relationships/vmlDrawing" Target="../drawings/vmlDrawing15.vml"/><Relationship Id="rId6" Type="http://schemas.openxmlformats.org/officeDocument/2006/relationships/oleObject" Target="../embeddings/oleObject27.bin"/><Relationship Id="rId5" Type="http://schemas.openxmlformats.org/officeDocument/2006/relationships/image" Target="../media/image40.wmf"/><Relationship Id="rId4" Type="http://schemas.openxmlformats.org/officeDocument/2006/relationships/oleObject" Target="../embeddings/oleObject26.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9.xml"/><Relationship Id="rId1" Type="http://schemas.openxmlformats.org/officeDocument/2006/relationships/vmlDrawing" Target="../drawings/vmlDrawing16.vml"/><Relationship Id="rId5" Type="http://schemas.openxmlformats.org/officeDocument/2006/relationships/image" Target="../media/image42.wmf"/><Relationship Id="rId4" Type="http://schemas.openxmlformats.org/officeDocument/2006/relationships/oleObject" Target="../embeddings/oleObject28.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9.xml"/><Relationship Id="rId1" Type="http://schemas.openxmlformats.org/officeDocument/2006/relationships/vmlDrawing" Target="../drawings/vmlDrawing17.vml"/><Relationship Id="rId5" Type="http://schemas.openxmlformats.org/officeDocument/2006/relationships/image" Target="../media/image43.wmf"/><Relationship Id="rId4" Type="http://schemas.openxmlformats.org/officeDocument/2006/relationships/oleObject" Target="../embeddings/oleObject29.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notesSlide" Target="../notesSlides/notesSlide51.xml"/><Relationship Id="rId7" Type="http://schemas.openxmlformats.org/officeDocument/2006/relationships/image" Target="../media/image46.wmf"/><Relationship Id="rId2" Type="http://schemas.openxmlformats.org/officeDocument/2006/relationships/slideLayout" Target="../slideLayouts/slideLayout9.xml"/><Relationship Id="rId1" Type="http://schemas.openxmlformats.org/officeDocument/2006/relationships/vmlDrawing" Target="../drawings/vmlDrawing18.vml"/><Relationship Id="rId6" Type="http://schemas.openxmlformats.org/officeDocument/2006/relationships/oleObject" Target="../embeddings/oleObject31.bin"/><Relationship Id="rId5" Type="http://schemas.openxmlformats.org/officeDocument/2006/relationships/image" Target="../media/image45.wmf"/><Relationship Id="rId4" Type="http://schemas.openxmlformats.org/officeDocument/2006/relationships/oleObject" Target="../embeddings/oleObject30.bin"/><Relationship Id="rId9" Type="http://schemas.openxmlformats.org/officeDocument/2006/relationships/image" Target="../media/image47.wmf"/></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7" Type="http://schemas.openxmlformats.org/officeDocument/2006/relationships/image" Target="../media/image49.wmf"/><Relationship Id="rId2" Type="http://schemas.openxmlformats.org/officeDocument/2006/relationships/slideLayout" Target="../slideLayouts/slideLayout9.xml"/><Relationship Id="rId1" Type="http://schemas.openxmlformats.org/officeDocument/2006/relationships/vmlDrawing" Target="../drawings/vmlDrawing19.vml"/><Relationship Id="rId6" Type="http://schemas.openxmlformats.org/officeDocument/2006/relationships/oleObject" Target="../embeddings/oleObject34.bin"/><Relationship Id="rId5" Type="http://schemas.openxmlformats.org/officeDocument/2006/relationships/image" Target="../media/image48.wmf"/><Relationship Id="rId4" Type="http://schemas.openxmlformats.org/officeDocument/2006/relationships/oleObject" Target="../embeddings/oleObject33.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notesSlide" Target="../notesSlides/notesSlide53.xml"/><Relationship Id="rId7" Type="http://schemas.openxmlformats.org/officeDocument/2006/relationships/image" Target="../media/image51.wmf"/><Relationship Id="rId2" Type="http://schemas.openxmlformats.org/officeDocument/2006/relationships/slideLayout" Target="../slideLayouts/slideLayout9.xml"/><Relationship Id="rId1" Type="http://schemas.openxmlformats.org/officeDocument/2006/relationships/vmlDrawing" Target="../drawings/vmlDrawing20.vml"/><Relationship Id="rId6" Type="http://schemas.openxmlformats.org/officeDocument/2006/relationships/oleObject" Target="../embeddings/oleObject36.bin"/><Relationship Id="rId5" Type="http://schemas.openxmlformats.org/officeDocument/2006/relationships/image" Target="../media/image50.wmf"/><Relationship Id="rId10" Type="http://schemas.openxmlformats.org/officeDocument/2006/relationships/image" Target="../media/image53.png"/><Relationship Id="rId4" Type="http://schemas.openxmlformats.org/officeDocument/2006/relationships/oleObject" Target="../embeddings/oleObject35.bin"/><Relationship Id="rId9" Type="http://schemas.openxmlformats.org/officeDocument/2006/relationships/image" Target="../media/image52.wmf"/></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7" Type="http://schemas.openxmlformats.org/officeDocument/2006/relationships/image" Target="../media/image55.wmf"/><Relationship Id="rId2" Type="http://schemas.openxmlformats.org/officeDocument/2006/relationships/slideLayout" Target="../slideLayouts/slideLayout9.xml"/><Relationship Id="rId1" Type="http://schemas.openxmlformats.org/officeDocument/2006/relationships/vmlDrawing" Target="../drawings/vmlDrawing21.vml"/><Relationship Id="rId6" Type="http://schemas.openxmlformats.org/officeDocument/2006/relationships/oleObject" Target="../embeddings/oleObject39.bin"/><Relationship Id="rId5" Type="http://schemas.openxmlformats.org/officeDocument/2006/relationships/image" Target="../media/image54.wmf"/><Relationship Id="rId4" Type="http://schemas.openxmlformats.org/officeDocument/2006/relationships/oleObject" Target="../embeddings/oleObject38.bin"/></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7" Type="http://schemas.openxmlformats.org/officeDocument/2006/relationships/image" Target="../media/image58.wmf"/><Relationship Id="rId2" Type="http://schemas.openxmlformats.org/officeDocument/2006/relationships/slideLayout" Target="../slideLayouts/slideLayout9.xml"/><Relationship Id="rId1" Type="http://schemas.openxmlformats.org/officeDocument/2006/relationships/vmlDrawing" Target="../drawings/vmlDrawing22.vml"/><Relationship Id="rId6" Type="http://schemas.openxmlformats.org/officeDocument/2006/relationships/oleObject" Target="../embeddings/oleObject41.bin"/><Relationship Id="rId5" Type="http://schemas.openxmlformats.org/officeDocument/2006/relationships/image" Target="../media/image57.wmf"/><Relationship Id="rId4" Type="http://schemas.openxmlformats.org/officeDocument/2006/relationships/oleObject" Target="../embeddings/oleObject40.bin"/></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64.wmf"/><Relationship Id="rId3" Type="http://schemas.openxmlformats.org/officeDocument/2006/relationships/notesSlide" Target="../notesSlides/notesSlide60.xml"/><Relationship Id="rId7" Type="http://schemas.openxmlformats.org/officeDocument/2006/relationships/image" Target="../media/image61.wmf"/><Relationship Id="rId12" Type="http://schemas.openxmlformats.org/officeDocument/2006/relationships/oleObject" Target="../embeddings/oleObject46.bin"/><Relationship Id="rId2" Type="http://schemas.openxmlformats.org/officeDocument/2006/relationships/slideLayout" Target="../slideLayouts/slideLayout9.xml"/><Relationship Id="rId1" Type="http://schemas.openxmlformats.org/officeDocument/2006/relationships/vmlDrawing" Target="../drawings/vmlDrawing23.vml"/><Relationship Id="rId6" Type="http://schemas.openxmlformats.org/officeDocument/2006/relationships/oleObject" Target="../embeddings/oleObject43.bin"/><Relationship Id="rId11" Type="http://schemas.openxmlformats.org/officeDocument/2006/relationships/image" Target="../media/image63.wmf"/><Relationship Id="rId5" Type="http://schemas.openxmlformats.org/officeDocument/2006/relationships/image" Target="../media/image60.wmf"/><Relationship Id="rId15" Type="http://schemas.openxmlformats.org/officeDocument/2006/relationships/image" Target="../media/image65.wmf"/><Relationship Id="rId10" Type="http://schemas.openxmlformats.org/officeDocument/2006/relationships/oleObject" Target="../embeddings/oleObject45.bin"/><Relationship Id="rId4" Type="http://schemas.openxmlformats.org/officeDocument/2006/relationships/oleObject" Target="../embeddings/oleObject42.bin"/><Relationship Id="rId9" Type="http://schemas.openxmlformats.org/officeDocument/2006/relationships/image" Target="../media/image62.wmf"/><Relationship Id="rId14" Type="http://schemas.openxmlformats.org/officeDocument/2006/relationships/oleObject" Target="../embeddings/oleObject47.bin"/></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9.xml"/><Relationship Id="rId1" Type="http://schemas.openxmlformats.org/officeDocument/2006/relationships/vmlDrawing" Target="../drawings/vmlDrawing24.vml"/><Relationship Id="rId5" Type="http://schemas.openxmlformats.org/officeDocument/2006/relationships/image" Target="../media/image66.wmf"/><Relationship Id="rId4" Type="http://schemas.openxmlformats.org/officeDocument/2006/relationships/oleObject" Target="../embeddings/oleObject48.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9.xml"/><Relationship Id="rId1" Type="http://schemas.openxmlformats.org/officeDocument/2006/relationships/vmlDrawing" Target="../drawings/vmlDrawing25.vml"/><Relationship Id="rId5" Type="http://schemas.openxmlformats.org/officeDocument/2006/relationships/image" Target="../media/image67.wmf"/><Relationship Id="rId4" Type="http://schemas.openxmlformats.org/officeDocument/2006/relationships/oleObject" Target="../embeddings/oleObject49.bin"/></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9.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0.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1.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3.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8.xm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0.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2.xm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6.xml"/><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9.xml"/><Relationship Id="rId1" Type="http://schemas.openxmlformats.org/officeDocument/2006/relationships/vmlDrawing" Target="../drawings/vmlDrawing26.vml"/><Relationship Id="rId5" Type="http://schemas.openxmlformats.org/officeDocument/2006/relationships/image" Target="../media/image74.wmf"/><Relationship Id="rId4" Type="http://schemas.openxmlformats.org/officeDocument/2006/relationships/oleObject" Target="../embeddings/oleObject50.bin"/></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96.xml"/><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98.xml"/><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9.xml"/><Relationship Id="rId1" Type="http://schemas.openxmlformats.org/officeDocument/2006/relationships/vmlDrawing" Target="../drawings/vmlDrawing27.vml"/><Relationship Id="rId5" Type="http://schemas.openxmlformats.org/officeDocument/2006/relationships/image" Target="../media/image78.wmf"/><Relationship Id="rId4" Type="http://schemas.openxmlformats.org/officeDocument/2006/relationships/oleObject" Target="../embeddings/oleObject51.bin"/></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9.xml"/><Relationship Id="rId1" Type="http://schemas.openxmlformats.org/officeDocument/2006/relationships/vmlDrawing" Target="../drawings/vmlDrawing28.vml"/><Relationship Id="rId5" Type="http://schemas.openxmlformats.org/officeDocument/2006/relationships/image" Target="../media/image79.wmf"/><Relationship Id="rId4" Type="http://schemas.openxmlformats.org/officeDocument/2006/relationships/oleObject" Target="../embeddings/oleObject52.bin"/></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9.xml"/><Relationship Id="rId1" Type="http://schemas.openxmlformats.org/officeDocument/2006/relationships/vmlDrawing" Target="../drawings/vmlDrawing29.vml"/><Relationship Id="rId5" Type="http://schemas.openxmlformats.org/officeDocument/2006/relationships/image" Target="../media/image80.wmf"/><Relationship Id="rId4" Type="http://schemas.openxmlformats.org/officeDocument/2006/relationships/oleObject" Target="../embeddings/oleObject53.bin"/></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9.xml"/><Relationship Id="rId1" Type="http://schemas.openxmlformats.org/officeDocument/2006/relationships/vmlDrawing" Target="../drawings/vmlDrawing30.vml"/><Relationship Id="rId5" Type="http://schemas.openxmlformats.org/officeDocument/2006/relationships/image" Target="../media/image81.wmf"/><Relationship Id="rId4" Type="http://schemas.openxmlformats.org/officeDocument/2006/relationships/oleObject" Target="../embeddings/oleObject54.bin"/></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7.xml"/><Relationship Id="rId1" Type="http://schemas.openxmlformats.org/officeDocument/2006/relationships/slideLayout" Target="../slideLayouts/slideLayout9.xml"/></Relationships>
</file>

<file path=ppt/slides/_rels/slide10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8.xml"/><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9.xml"/><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11.xml"/><Relationship Id="rId1" Type="http://schemas.openxmlformats.org/officeDocument/2006/relationships/slideLayout" Target="../slideLayouts/slideLayout9.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9.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14.xml"/><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9.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9.xml"/></Relationships>
</file>

<file path=ppt/slides/_rels/slide11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18.xml"/><Relationship Id="rId1" Type="http://schemas.openxmlformats.org/officeDocument/2006/relationships/slideLayout" Target="../slideLayouts/slideLayout9.xml"/></Relationships>
</file>

<file path=ppt/slides/_rels/slide11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19.xml"/><Relationship Id="rId1" Type="http://schemas.openxmlformats.org/officeDocument/2006/relationships/slideLayout" Target="../slideLayouts/slideLayout9.xml"/></Relationships>
</file>

<file path=ppt/slides/_rels/slide12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20.xml"/><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21.xml"/><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23.xml"/><Relationship Id="rId1" Type="http://schemas.openxmlformats.org/officeDocument/2006/relationships/slideLayout" Target="../slideLayouts/slideLayout9.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9.xml"/></Relationships>
</file>

<file path=ppt/slides/_rels/slide12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25.xml"/><Relationship Id="rId1" Type="http://schemas.openxmlformats.org/officeDocument/2006/relationships/slideLayout" Target="../slideLayouts/slideLayout9.xml"/></Relationships>
</file>

<file path=ppt/slides/_rels/slide12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26.xml"/><Relationship Id="rId1" Type="http://schemas.openxmlformats.org/officeDocument/2006/relationships/slideLayout" Target="../slideLayouts/slideLayout9.xml"/></Relationships>
</file>

<file path=ppt/slides/_rels/slide12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27.xml"/><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9.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9.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1.xml"/><Relationship Id="rId1" Type="http://schemas.openxmlformats.org/officeDocument/2006/relationships/vmlDrawing" Target="../drawings/vmlDrawing31.vml"/><Relationship Id="rId5" Type="http://schemas.openxmlformats.org/officeDocument/2006/relationships/image" Target="../media/image93.wmf"/><Relationship Id="rId4" Type="http://schemas.openxmlformats.org/officeDocument/2006/relationships/oleObject" Target="../embeddings/oleObject55.bin"/></Relationships>
</file>

<file path=ppt/slides/_rels/slide13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32.xml"/><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33.xml"/><Relationship Id="rId1" Type="http://schemas.openxmlformats.org/officeDocument/2006/relationships/slideLayout" Target="../slideLayouts/slideLayout9.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9.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13-</a:t>
            </a:r>
            <a:fld id="{00000000-1234-1234-1234-123412341234}" type="slidenum">
              <a:rPr lang="en-US" sz="1400" b="1" i="0" u="none" smtClean="0">
                <a:solidFill>
                  <a:schemeClr val="lt1"/>
                </a:solidFill>
                <a:latin typeface="Verdana"/>
                <a:ea typeface="Verdana"/>
                <a:cs typeface="Verdana"/>
                <a:sym typeface="Verdana"/>
              </a:rPr>
              <a:t>1</a:t>
            </a:fld>
            <a:endParaRPr dirty="0"/>
          </a:p>
        </p:txBody>
      </p:sp>
      <p:sp>
        <p:nvSpPr>
          <p:cNvPr id="89" name="Google Shape;89;p16"/>
          <p:cNvSpPr txBox="1"/>
          <p:nvPr/>
        </p:nvSpPr>
        <p:spPr>
          <a:xfrm>
            <a:off x="324035" y="229751"/>
            <a:ext cx="8229600" cy="11430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4400"/>
              <a:buFont typeface="Arial"/>
              <a:buNone/>
            </a:pPr>
            <a:r>
              <a:rPr lang="en-US" sz="4400" b="1" i="0" u="none" dirty="0">
                <a:solidFill>
                  <a:srgbClr val="333399"/>
                </a:solidFill>
                <a:latin typeface="Arial"/>
                <a:ea typeface="Arial"/>
                <a:cs typeface="Arial"/>
                <a:sym typeface="Arial"/>
              </a:rPr>
              <a:t>STATISTICS</a:t>
            </a:r>
          </a:p>
          <a:p>
            <a:pPr marL="0" marR="0" lvl="0" indent="0" rtl="0">
              <a:lnSpc>
                <a:spcPct val="100000"/>
              </a:lnSpc>
              <a:spcBef>
                <a:spcPts val="0"/>
              </a:spcBef>
              <a:spcAft>
                <a:spcPts val="0"/>
              </a:spcAft>
              <a:buClr>
                <a:schemeClr val="accent2"/>
              </a:buClr>
              <a:buSzPts val="4400"/>
              <a:buFont typeface="Arial"/>
              <a:buNone/>
            </a:pPr>
            <a:r>
              <a:rPr lang="en-US" sz="2800" b="1" dirty="0">
                <a:solidFill>
                  <a:srgbClr val="333399"/>
                </a:solidFill>
              </a:rPr>
              <a:t>INFORMED DECISIONS USING DATA</a:t>
            </a:r>
            <a:endParaRPr sz="2800" dirty="0"/>
          </a:p>
        </p:txBody>
      </p:sp>
      <p:sp>
        <p:nvSpPr>
          <p:cNvPr id="90" name="Google Shape;90;p16"/>
          <p:cNvSpPr txBox="1"/>
          <p:nvPr/>
        </p:nvSpPr>
        <p:spPr>
          <a:xfrm>
            <a:off x="4893815" y="1709606"/>
            <a:ext cx="3735280" cy="3563075"/>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r>
              <a:rPr lang="en-US" sz="4000" b="1" i="0" u="none" dirty="0">
                <a:solidFill>
                  <a:srgbClr val="333399"/>
                </a:solidFill>
                <a:latin typeface="+mn-lt"/>
                <a:ea typeface="Times New Roman"/>
                <a:cs typeface="Times New Roman"/>
                <a:sym typeface="Times New Roman"/>
              </a:rPr>
              <a:t>Chapter 13</a:t>
            </a:r>
          </a:p>
          <a:p>
            <a:pPr marR="0" lvl="0" algn="l" rtl="0">
              <a:lnSpc>
                <a:spcPct val="100000"/>
              </a:lnSpc>
              <a:spcBef>
                <a:spcPts val="0"/>
              </a:spcBef>
              <a:spcAft>
                <a:spcPts val="0"/>
              </a:spcAft>
              <a:buClr>
                <a:schemeClr val="dk1"/>
              </a:buClr>
              <a:buSzPts val="3200"/>
              <a:buFont typeface="Arial"/>
              <a:buNone/>
            </a:pPr>
            <a:r>
              <a:rPr lang="en-US" sz="3600" b="1" i="0" u="none" dirty="0">
                <a:solidFill>
                  <a:srgbClr val="333399"/>
                </a:solidFill>
                <a:latin typeface="+mn-lt"/>
                <a:ea typeface="Times New Roman"/>
                <a:cs typeface="Times New Roman"/>
                <a:sym typeface="Times New Roman"/>
              </a:rPr>
              <a:t>Comparing Three or More Means</a:t>
            </a:r>
            <a:endParaRPr sz="3600" dirty="0">
              <a:solidFill>
                <a:srgbClr val="333399"/>
              </a:solidFill>
              <a:latin typeface="+mn-lt"/>
            </a:endParaRPr>
          </a:p>
        </p:txBody>
      </p:sp>
      <p:pic>
        <p:nvPicPr>
          <p:cNvPr id="5" name="Google Shape;96;p12">
            <a:extLst>
              <a:ext uri="{FF2B5EF4-FFF2-40B4-BE49-F238E27FC236}">
                <a16:creationId xmlns:a16="http://schemas.microsoft.com/office/drawing/2014/main" id="{F3856100-DDB9-4233-8C17-5D49BE833F8D}"/>
              </a:ext>
            </a:extLst>
          </p:cNvPr>
          <p:cNvPicPr preferRelativeResize="0"/>
          <p:nvPr/>
        </p:nvPicPr>
        <p:blipFill rotWithShape="1">
          <a:blip r:embed="rId3">
            <a:alphaModFix/>
          </a:blip>
          <a:srcRect/>
          <a:stretch/>
        </p:blipFill>
        <p:spPr>
          <a:xfrm>
            <a:off x="658615" y="1647462"/>
            <a:ext cx="3505012" cy="4485537"/>
          </a:xfrm>
          <a:prstGeom prst="rect">
            <a:avLst/>
          </a:prstGeom>
          <a:noFill/>
          <a:ln>
            <a:noFill/>
          </a:ln>
        </p:spPr>
      </p:pic>
    </p:spTree>
    <p:extLst>
      <p:ext uri="{BB962C8B-B14F-4D97-AF65-F5344CB8AC3E}">
        <p14:creationId xmlns:p14="http://schemas.microsoft.com/office/powerpoint/2010/main" val="3777423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13-</a:t>
            </a:r>
            <a:fld id="{00000000-1234-1234-1234-123412341234}" type="slidenum">
              <a:rPr lang="en-US" sz="1400" b="1" i="0" u="none" smtClean="0">
                <a:solidFill>
                  <a:schemeClr val="lt1"/>
                </a:solidFill>
                <a:latin typeface="Verdana"/>
                <a:ea typeface="Verdana"/>
                <a:cs typeface="Verdana"/>
                <a:sym typeface="Verdana"/>
              </a:rPr>
              <a:t>2</a:t>
            </a:fld>
            <a:endParaRPr dirty="0"/>
          </a:p>
        </p:txBody>
      </p:sp>
      <p:sp>
        <p:nvSpPr>
          <p:cNvPr id="89" name="Google Shape;89;p16"/>
          <p:cNvSpPr txBox="1"/>
          <p:nvPr/>
        </p:nvSpPr>
        <p:spPr>
          <a:xfrm>
            <a:off x="457200" y="919883"/>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13.1 </a:t>
            </a:r>
            <a:r>
              <a:rPr lang="en-US" sz="4000" b="1" dirty="0">
                <a:solidFill>
                  <a:srgbClr val="333399"/>
                </a:solidFill>
                <a:latin typeface="+mn-lt"/>
                <a:cs typeface="Times New Roman"/>
                <a:sym typeface="Times New Roman"/>
              </a:rPr>
              <a:t>Comparing Three or More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Means (One-Way Analysis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of Variance)</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457200" y="2489733"/>
            <a:ext cx="8229600" cy="265153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a:pP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Verify the requirements to perform a one-way ANOVA</a:t>
            </a:r>
            <a:endParaRPr lang="en-US" sz="2800" dirty="0">
              <a:latin typeface="Times New Roman" panose="02020603050405020304" pitchFamily="18" charset="0"/>
              <a:cs typeface="Times New Roman" panose="02020603050405020304" pitchFamily="18" charset="0"/>
            </a:endParaRPr>
          </a:p>
          <a:p>
            <a:pPr marL="609600" lvl="0" indent="-609600">
              <a:spcBef>
                <a:spcPts val="640"/>
              </a:spcBef>
              <a:buClr>
                <a:srgbClr val="A00020"/>
              </a:buClr>
              <a:buSzPts val="3200"/>
              <a:buFont typeface="Times New Roman"/>
              <a:buAutoNum type="arabicPeriod"/>
            </a:pP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Test a hypothesis regarding three or more means using one-way ANOVA</a:t>
            </a:r>
            <a:endParaRPr lang="en-US" sz="2800" dirty="0">
              <a:latin typeface="Times New Roman" panose="02020603050405020304" pitchFamily="18" charset="0"/>
              <a:cs typeface="Times New Roman" panose="02020603050405020304" pitchFamily="18" charset="0"/>
            </a:endParaRPr>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536770" y="2027173"/>
            <a:ext cx="834662" cy="8432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4" name="Rectangle 3">
            <a:extLst>
              <a:ext uri="{FF2B5EF4-FFF2-40B4-BE49-F238E27FC236}">
                <a16:creationId xmlns:a16="http://schemas.microsoft.com/office/drawing/2014/main" id="{2E2D8A75-CE2D-475C-BB35-4835A2236024}"/>
              </a:ext>
            </a:extLst>
          </p:cNvPr>
          <p:cNvSpPr/>
          <p:nvPr/>
        </p:nvSpPr>
        <p:spPr>
          <a:xfrm>
            <a:off x="509047" y="1593130"/>
            <a:ext cx="8025353" cy="2055043"/>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Google Shape;95;p17"/>
          <p:cNvSpPr txBox="1"/>
          <p:nvPr/>
        </p:nvSpPr>
        <p:spPr>
          <a:xfrm>
            <a:off x="815828" y="1843570"/>
            <a:ext cx="7195794" cy="1554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Times New Roman"/>
                <a:ea typeface="Times New Roman"/>
                <a:cs typeface="Times New Roman"/>
                <a:sym typeface="Times New Roman"/>
              </a:rPr>
              <a:t>Analysis of Variance (ANOVA)</a:t>
            </a:r>
            <a:r>
              <a:rPr lang="en-US" sz="3200" b="0" i="0" u="none" dirty="0">
                <a:solidFill>
                  <a:schemeClr val="tx1"/>
                </a:solidFill>
                <a:latin typeface="Times New Roman"/>
                <a:ea typeface="Times New Roman"/>
                <a:cs typeface="Times New Roman"/>
                <a:sym typeface="Times New Roman"/>
              </a:rPr>
              <a:t> is an inferential method used to test the equality of three or more population means.</a:t>
            </a:r>
            <a:endParaRPr dirty="0">
              <a:solidFill>
                <a:schemeClr val="tx1"/>
              </a:solidFill>
            </a:endParaRPr>
          </a:p>
        </p:txBody>
      </p:sp>
      <p:sp>
        <p:nvSpPr>
          <p:cNvPr id="96" name="Google Shape;96;p1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3</a:t>
            </a:fld>
            <a:endParaRPr/>
          </a:p>
        </p:txBody>
      </p:sp>
    </p:spTree>
    <p:extLst>
      <p:ext uri="{BB962C8B-B14F-4D97-AF65-F5344CB8AC3E}">
        <p14:creationId xmlns:p14="http://schemas.microsoft.com/office/powerpoint/2010/main" val="4125898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3" name="Picture 2" descr="A group of people posing for the camera&#10;&#10;Description automatically generated">
            <a:extLst>
              <a:ext uri="{FF2B5EF4-FFF2-40B4-BE49-F238E27FC236}">
                <a16:creationId xmlns:a16="http://schemas.microsoft.com/office/drawing/2014/main" id="{ACF3AB13-E17E-4CAB-91D3-205A56D5CDCE}"/>
              </a:ext>
            </a:extLst>
          </p:cNvPr>
          <p:cNvPicPr>
            <a:picLocks noChangeAspect="1"/>
          </p:cNvPicPr>
          <p:nvPr/>
        </p:nvPicPr>
        <p:blipFill>
          <a:blip r:embed="rId3"/>
          <a:stretch>
            <a:fillRect/>
          </a:stretch>
        </p:blipFill>
        <p:spPr>
          <a:xfrm>
            <a:off x="428133" y="2174681"/>
            <a:ext cx="8154186" cy="2753736"/>
          </a:xfrm>
          <a:prstGeom prst="rect">
            <a:avLst/>
          </a:prstGeom>
        </p:spPr>
      </p:pic>
      <p:sp>
        <p:nvSpPr>
          <p:cNvPr id="121" name="Google Shape;121;p21"/>
          <p:cNvSpPr txBox="1">
            <a:spLocks noGrp="1"/>
          </p:cNvSpPr>
          <p:nvPr>
            <p:ph type="body" idx="1"/>
          </p:nvPr>
        </p:nvSpPr>
        <p:spPr>
          <a:xfrm>
            <a:off x="428133" y="360575"/>
            <a:ext cx="8229600" cy="5970375"/>
          </a:xfrm>
          <a:prstGeom prst="rect">
            <a:avLst/>
          </a:prstGeom>
          <a:noFill/>
          <a:ln>
            <a:noFill/>
          </a:ln>
        </p:spPr>
        <p:txBody>
          <a:bodyPr spcFirstLastPara="1" wrap="square" lIns="91425" tIns="45700" rIns="91425" bIns="45700" anchor="t" anchorCtr="0">
            <a:noAutofit/>
          </a:bodyPr>
          <a:lstStyle/>
          <a:p>
            <a:pPr marL="0" lvl="0" indent="0">
              <a:lnSpc>
                <a:spcPct val="90000"/>
              </a:lnSpc>
              <a:spcBef>
                <a:spcPts val="0"/>
              </a:spcBef>
              <a:buSzPts val="3000"/>
              <a:buNone/>
            </a:pPr>
            <a:r>
              <a:rPr lang="en-US" sz="2600" dirty="0">
                <a:latin typeface="Times New Roman" panose="02020603050405020304" pitchFamily="18" charset="0"/>
                <a:cs typeface="Times New Roman" panose="02020603050405020304" pitchFamily="18" charset="0"/>
              </a:rPr>
              <a:t>Suppose we are testing a hypothesis regarding three population means; we have</a:t>
            </a:r>
          </a:p>
          <a:p>
            <a:pPr marL="0" lvl="0" indent="0">
              <a:lnSpc>
                <a:spcPct val="90000"/>
              </a:lnSpc>
              <a:spcBef>
                <a:spcPts val="0"/>
              </a:spcBef>
              <a:buSzPts val="3000"/>
              <a:buNone/>
            </a:pPr>
            <a:r>
              <a:rPr lang="en-US" sz="2600" b="0" i="1" u="none" dirty="0">
                <a:solidFill>
                  <a:schemeClr val="dk1"/>
                </a:solidFill>
                <a:latin typeface="Times New Roman"/>
                <a:ea typeface="Times New Roman"/>
                <a:cs typeface="Times New Roman"/>
                <a:sym typeface="Times New Roman"/>
              </a:rPr>
              <a:t>	H</a:t>
            </a:r>
            <a:r>
              <a:rPr lang="en-US" sz="2600" b="0" i="0" u="none" baseline="-25000" dirty="0">
                <a:solidFill>
                  <a:schemeClr val="dk1"/>
                </a:solidFill>
                <a:latin typeface="Times New Roman"/>
                <a:ea typeface="Times New Roman"/>
                <a:cs typeface="Times New Roman"/>
                <a:sym typeface="Times New Roman"/>
              </a:rPr>
              <a:t>0</a:t>
            </a:r>
            <a:r>
              <a:rPr lang="en-US" sz="2600" b="0" i="0" u="none" dirty="0">
                <a:solidFill>
                  <a:schemeClr val="dk1"/>
                </a:solidFill>
                <a:latin typeface="Times New Roman"/>
                <a:ea typeface="Times New Roman"/>
                <a:cs typeface="Times New Roman"/>
                <a:sym typeface="Times New Roman"/>
              </a:rPr>
              <a:t>: </a:t>
            </a:r>
            <a:r>
              <a:rPr lang="en-US" sz="2600" b="0" i="1" u="none" dirty="0">
                <a:solidFill>
                  <a:schemeClr val="dk1"/>
                </a:solidFill>
                <a:latin typeface="Times New Roman"/>
                <a:ea typeface="Times New Roman"/>
                <a:cs typeface="Times New Roman"/>
                <a:sym typeface="Times New Roman"/>
              </a:rPr>
              <a:t>μ</a:t>
            </a:r>
            <a:r>
              <a:rPr lang="en-US" sz="2600" b="0" i="0" u="none" baseline="-25000" dirty="0">
                <a:solidFill>
                  <a:schemeClr val="dk1"/>
                </a:solidFill>
                <a:latin typeface="Times New Roman"/>
                <a:ea typeface="Times New Roman"/>
                <a:cs typeface="Times New Roman"/>
                <a:sym typeface="Times New Roman"/>
              </a:rPr>
              <a:t>1</a:t>
            </a:r>
            <a:r>
              <a:rPr lang="en-US" sz="2600" b="0" i="0" u="none" dirty="0">
                <a:solidFill>
                  <a:schemeClr val="dk1"/>
                </a:solidFill>
                <a:latin typeface="Times New Roman"/>
                <a:ea typeface="Times New Roman"/>
                <a:cs typeface="Times New Roman"/>
                <a:sym typeface="Times New Roman"/>
              </a:rPr>
              <a:t> = </a:t>
            </a:r>
            <a:r>
              <a:rPr lang="en-US" sz="2600" b="0" i="1" u="none" dirty="0">
                <a:solidFill>
                  <a:schemeClr val="dk1"/>
                </a:solidFill>
                <a:latin typeface="Times New Roman"/>
                <a:ea typeface="Times New Roman"/>
                <a:cs typeface="Times New Roman"/>
                <a:sym typeface="Times New Roman"/>
              </a:rPr>
              <a:t>μ</a:t>
            </a:r>
            <a:r>
              <a:rPr lang="en-US" sz="2600" b="0" i="0" u="none" baseline="-25000" dirty="0">
                <a:solidFill>
                  <a:schemeClr val="dk1"/>
                </a:solidFill>
                <a:latin typeface="Times New Roman"/>
                <a:ea typeface="Times New Roman"/>
                <a:cs typeface="Times New Roman"/>
                <a:sym typeface="Times New Roman"/>
              </a:rPr>
              <a:t>2</a:t>
            </a:r>
            <a:r>
              <a:rPr lang="en-US" sz="2600" b="0" i="0" u="none" dirty="0">
                <a:solidFill>
                  <a:schemeClr val="dk1"/>
                </a:solidFill>
                <a:latin typeface="Times New Roman"/>
                <a:ea typeface="Times New Roman"/>
                <a:cs typeface="Times New Roman"/>
                <a:sym typeface="Times New Roman"/>
              </a:rPr>
              <a:t> = </a:t>
            </a:r>
            <a:r>
              <a:rPr lang="en-US" sz="2600" b="0" i="1" u="none" dirty="0">
                <a:solidFill>
                  <a:schemeClr val="dk1"/>
                </a:solidFill>
                <a:latin typeface="Times New Roman"/>
                <a:ea typeface="Times New Roman"/>
                <a:cs typeface="Times New Roman"/>
                <a:sym typeface="Times New Roman"/>
              </a:rPr>
              <a:t>μ</a:t>
            </a:r>
            <a:r>
              <a:rPr lang="en-US" sz="2600" b="0" i="0" u="none" baseline="-25000" dirty="0">
                <a:solidFill>
                  <a:schemeClr val="dk1"/>
                </a:solidFill>
                <a:latin typeface="Times New Roman"/>
                <a:ea typeface="Times New Roman"/>
                <a:cs typeface="Times New Roman"/>
                <a:sym typeface="Times New Roman"/>
              </a:rPr>
              <a:t>3</a:t>
            </a:r>
            <a:endParaRPr sz="2600" dirty="0"/>
          </a:p>
          <a:p>
            <a:pPr marL="0" lvl="0" indent="0" algn="l" rtl="0">
              <a:lnSpc>
                <a:spcPct val="90000"/>
              </a:lnSpc>
              <a:spcBef>
                <a:spcPts val="600"/>
              </a:spcBef>
              <a:spcAft>
                <a:spcPts val="0"/>
              </a:spcAft>
              <a:buSzPts val="3000"/>
              <a:buFont typeface="Times New Roman"/>
              <a:buNone/>
            </a:pPr>
            <a:r>
              <a:rPr lang="en-US" sz="2600" b="0" i="1" u="none" dirty="0">
                <a:solidFill>
                  <a:schemeClr val="dk1"/>
                </a:solidFill>
                <a:latin typeface="Times New Roman"/>
                <a:ea typeface="Times New Roman"/>
                <a:cs typeface="Times New Roman"/>
                <a:sym typeface="Times New Roman"/>
              </a:rPr>
              <a:t>	H</a:t>
            </a:r>
            <a:r>
              <a:rPr lang="en-US" sz="2600" b="0" i="0" u="none" baseline="-25000" dirty="0">
                <a:solidFill>
                  <a:schemeClr val="dk1"/>
                </a:solidFill>
                <a:latin typeface="Times New Roman"/>
                <a:ea typeface="Times New Roman"/>
                <a:cs typeface="Times New Roman"/>
                <a:sym typeface="Times New Roman"/>
              </a:rPr>
              <a:t>1</a:t>
            </a:r>
            <a:r>
              <a:rPr lang="en-US" sz="2600" b="0" i="0" u="none" dirty="0">
                <a:solidFill>
                  <a:schemeClr val="dk1"/>
                </a:solidFill>
                <a:latin typeface="Times New Roman"/>
                <a:ea typeface="Times New Roman"/>
                <a:cs typeface="Times New Roman"/>
                <a:sym typeface="Times New Roman"/>
              </a:rPr>
              <a:t>: At least one population mean is different   	     </a:t>
            </a:r>
            <a:br>
              <a:rPr lang="en-US" sz="2600" b="0" i="0" u="none" dirty="0">
                <a:solidFill>
                  <a:schemeClr val="dk1"/>
                </a:solidFill>
                <a:latin typeface="Times New Roman"/>
                <a:ea typeface="Times New Roman"/>
                <a:cs typeface="Times New Roman"/>
                <a:sym typeface="Times New Roman"/>
              </a:rPr>
            </a:br>
            <a:r>
              <a:rPr lang="en-US" sz="2600" b="0" i="0" u="none" dirty="0">
                <a:solidFill>
                  <a:schemeClr val="dk1"/>
                </a:solidFill>
                <a:latin typeface="Times New Roman"/>
                <a:ea typeface="Times New Roman"/>
                <a:cs typeface="Times New Roman"/>
                <a:sym typeface="Times New Roman"/>
              </a:rPr>
              <a:t>                  from the others</a:t>
            </a:r>
          </a:p>
          <a:p>
            <a:pPr marL="0" lvl="0" indent="0" algn="l" rtl="0">
              <a:lnSpc>
                <a:spcPct val="90000"/>
              </a:lnSpc>
              <a:spcBef>
                <a:spcPts val="600"/>
              </a:spcBef>
              <a:spcAft>
                <a:spcPts val="0"/>
              </a:spcAft>
              <a:buSzPts val="3000"/>
              <a:buFont typeface="Times New Roman"/>
              <a:buNone/>
            </a:pPr>
            <a:endParaRPr lang="en-US" sz="3000" dirty="0">
              <a:solidFill>
                <a:schemeClr val="dk1"/>
              </a:solidFill>
              <a:latin typeface="Times New Roman"/>
              <a:cs typeface="Times New Roman"/>
              <a:sym typeface="Times New Roman"/>
            </a:endParaRPr>
          </a:p>
          <a:p>
            <a:pPr marL="0" lvl="0" indent="0" algn="l" rtl="0">
              <a:lnSpc>
                <a:spcPct val="90000"/>
              </a:lnSpc>
              <a:spcBef>
                <a:spcPts val="600"/>
              </a:spcBef>
              <a:spcAft>
                <a:spcPts val="0"/>
              </a:spcAft>
              <a:buSzPts val="3000"/>
              <a:buFont typeface="Times New Roman"/>
              <a:buNone/>
            </a:pPr>
            <a:endParaRPr lang="en-US" sz="3000" dirty="0">
              <a:solidFill>
                <a:schemeClr val="dk1"/>
              </a:solidFill>
              <a:latin typeface="Times New Roman"/>
              <a:cs typeface="Times New Roman"/>
              <a:sym typeface="Times New Roman"/>
            </a:endParaRPr>
          </a:p>
          <a:p>
            <a:pPr marL="0" lvl="0" indent="0" algn="l" rtl="0">
              <a:lnSpc>
                <a:spcPct val="90000"/>
              </a:lnSpc>
              <a:spcBef>
                <a:spcPts val="600"/>
              </a:spcBef>
              <a:spcAft>
                <a:spcPts val="0"/>
              </a:spcAft>
              <a:buSzPts val="3000"/>
              <a:buFont typeface="Times New Roman"/>
              <a:buNone/>
            </a:pPr>
            <a:endParaRPr lang="en-US" sz="3000" dirty="0">
              <a:solidFill>
                <a:schemeClr val="dk1"/>
              </a:solidFill>
              <a:latin typeface="Times New Roman"/>
              <a:cs typeface="Times New Roman"/>
              <a:sym typeface="Times New Roman"/>
            </a:endParaRPr>
          </a:p>
          <a:p>
            <a:pPr marL="0" lvl="0" indent="0" algn="l" rtl="0">
              <a:lnSpc>
                <a:spcPct val="90000"/>
              </a:lnSpc>
              <a:spcBef>
                <a:spcPts val="600"/>
              </a:spcBef>
              <a:spcAft>
                <a:spcPts val="0"/>
              </a:spcAft>
              <a:buSzPts val="3000"/>
              <a:buFont typeface="Times New Roman"/>
              <a:buNone/>
            </a:pPr>
            <a:endParaRPr lang="en-US" sz="3000" dirty="0">
              <a:solidFill>
                <a:schemeClr val="dk1"/>
              </a:solidFill>
              <a:latin typeface="Times New Roman"/>
              <a:cs typeface="Times New Roman"/>
              <a:sym typeface="Times New Roman"/>
            </a:endParaRPr>
          </a:p>
          <a:p>
            <a:pPr marL="0" lvl="0" indent="0" algn="l" rtl="0">
              <a:lnSpc>
                <a:spcPct val="90000"/>
              </a:lnSpc>
              <a:spcBef>
                <a:spcPts val="600"/>
              </a:spcBef>
              <a:spcAft>
                <a:spcPts val="0"/>
              </a:spcAft>
              <a:buSzPts val="3000"/>
              <a:buFont typeface="Times New Roman"/>
              <a:buNone/>
            </a:pPr>
            <a:endParaRPr lang="en-US" sz="3000" dirty="0">
              <a:solidFill>
                <a:schemeClr val="dk1"/>
              </a:solidFill>
              <a:latin typeface="Times New Roman"/>
              <a:cs typeface="Times New Roman"/>
              <a:sym typeface="Times New Roman"/>
            </a:endParaRPr>
          </a:p>
          <a:p>
            <a:pPr marL="114300" indent="0">
              <a:buNone/>
            </a:pPr>
            <a:endParaRPr lang="en-US" sz="800" dirty="0">
              <a:latin typeface="Times New Roman" panose="02020603050405020304" pitchFamily="18" charset="0"/>
              <a:cs typeface="Times New Roman" panose="02020603050405020304" pitchFamily="18" charset="0"/>
            </a:endParaRPr>
          </a:p>
          <a:p>
            <a:pPr marL="114300" indent="0">
              <a:buNone/>
            </a:pPr>
            <a:r>
              <a:rPr lang="en-US" sz="2400" dirty="0">
                <a:latin typeface="Times New Roman" panose="02020603050405020304" pitchFamily="18" charset="0"/>
                <a:cs typeface="Times New Roman" panose="02020603050405020304" pitchFamily="18" charset="0"/>
              </a:rPr>
              <a:t>Figure (a) shows the distribution of each population if the null hypothesis is true, and Figure (b) shows one example of what the distributions of the populations might look like if the alternative hypothesis is true.</a:t>
            </a:r>
            <a:endParaRPr sz="2400" dirty="0">
              <a:latin typeface="Times New Roman" panose="02020603050405020304" pitchFamily="18" charset="0"/>
              <a:cs typeface="Times New Roman" panose="02020603050405020304" pitchFamily="18" charset="0"/>
            </a:endParaRPr>
          </a:p>
        </p:txBody>
      </p:sp>
      <p:sp>
        <p:nvSpPr>
          <p:cNvPr id="123" name="Google Shape;123;p21"/>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4</a:t>
            </a:fld>
            <a:endParaRPr/>
          </a:p>
        </p:txBody>
      </p:sp>
    </p:spTree>
    <p:extLst>
      <p:ext uri="{BB962C8B-B14F-4D97-AF65-F5344CB8AC3E}">
        <p14:creationId xmlns:p14="http://schemas.microsoft.com/office/powerpoint/2010/main" val="3403570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121">
                                            <p:txEl>
                                              <p:pRg st="9" end="9"/>
                                            </p:txEl>
                                          </p:spTgt>
                                        </p:tgtEl>
                                        <p:attrNameLst>
                                          <p:attrName>style.visibility</p:attrName>
                                        </p:attrNameLst>
                                      </p:cBhvr>
                                      <p:to>
                                        <p:strVal val="visible"/>
                                      </p:to>
                                    </p:set>
                                    <p:animEffect transition="in" filter="fade">
                                      <p:cBhvr>
                                        <p:cTn id="10" dur="500"/>
                                        <p:tgtEl>
                                          <p:spTgt spid="12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body" idx="1"/>
          </p:nvPr>
        </p:nvSpPr>
        <p:spPr>
          <a:xfrm>
            <a:off x="457200" y="427037"/>
            <a:ext cx="8229600" cy="3763962"/>
          </a:xfrm>
          <a:prstGeom prst="rect">
            <a:avLst/>
          </a:prstGeom>
          <a:noFill/>
          <a:ln>
            <a:noFill/>
          </a:ln>
        </p:spPr>
        <p:txBody>
          <a:bodyPr spcFirstLastPara="1" wrap="square" lIns="91425" tIns="45700" rIns="91425" bIns="45700" anchor="t" anchorCtr="0">
            <a:noAutofit/>
          </a:bodyPr>
          <a:lstStyle/>
          <a:p>
            <a:pPr marL="342900" lvl="0" indent="-342900" rtl="0">
              <a:lnSpc>
                <a:spcPct val="90000"/>
              </a:lnSpc>
              <a:spcBef>
                <a:spcPts val="0"/>
              </a:spcBef>
              <a:spcAft>
                <a:spcPts val="0"/>
              </a:spcAft>
              <a:buSzPts val="3600"/>
              <a:buFont typeface="Times New Roman"/>
              <a:buNone/>
            </a:pPr>
            <a:r>
              <a:rPr lang="en-US" sz="3600" b="1" i="0" u="none" dirty="0">
                <a:solidFill>
                  <a:srgbClr val="A00020"/>
                </a:solidFill>
                <a:latin typeface="+mn-lt"/>
                <a:ea typeface="Times New Roman"/>
                <a:cs typeface="Times New Roman"/>
                <a:sym typeface="Times New Roman"/>
              </a:rPr>
              <a:t>   CAUTION!</a:t>
            </a:r>
            <a:endParaRPr dirty="0">
              <a:solidFill>
                <a:srgbClr val="A00020"/>
              </a:solidFill>
              <a:latin typeface="+mn-lt"/>
            </a:endParaRPr>
          </a:p>
          <a:p>
            <a:pPr marL="342900" lvl="0" indent="-342900" algn="ctr" rtl="0">
              <a:lnSpc>
                <a:spcPct val="90000"/>
              </a:lnSpc>
              <a:spcBef>
                <a:spcPts val="560"/>
              </a:spcBef>
              <a:spcAft>
                <a:spcPts val="0"/>
              </a:spcAft>
              <a:buSzPts val="2800"/>
              <a:buFont typeface="Times New Roman"/>
              <a:buNone/>
            </a:pPr>
            <a:endParaRPr sz="2800" b="0" i="0" u="none" dirty="0">
              <a:solidFill>
                <a:schemeClr val="dk1"/>
              </a:solidFill>
              <a:latin typeface="Times New Roman"/>
              <a:ea typeface="Times New Roman"/>
              <a:cs typeface="Times New Roman"/>
              <a:sym typeface="Times New Roman"/>
            </a:endParaRPr>
          </a:p>
          <a:p>
            <a:pPr marL="342900" lvl="0" indent="-342900" algn="l" rtl="0">
              <a:lnSpc>
                <a:spcPct val="90000"/>
              </a:lnSpc>
              <a:spcBef>
                <a:spcPts val="64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	Do not test </a:t>
            </a:r>
            <a:r>
              <a:rPr lang="en-US" sz="3200" b="0" i="1" u="none" dirty="0">
                <a:solidFill>
                  <a:schemeClr val="dk1"/>
                </a:solidFill>
                <a:latin typeface="Times New Roman"/>
                <a:ea typeface="Times New Roman"/>
                <a:cs typeface="Times New Roman"/>
                <a:sym typeface="Times New Roman"/>
              </a:rPr>
              <a:t>H</a:t>
            </a:r>
            <a:r>
              <a:rPr lang="en-US" sz="3200" b="0" i="0" u="none" baseline="-25000" dirty="0">
                <a:solidFill>
                  <a:schemeClr val="dk1"/>
                </a:solidFill>
                <a:latin typeface="Times New Roman"/>
                <a:ea typeface="Times New Roman"/>
                <a:cs typeface="Times New Roman"/>
                <a:sym typeface="Times New Roman"/>
              </a:rPr>
              <a:t>0</a:t>
            </a:r>
            <a:r>
              <a:rPr lang="en-US" sz="3200" b="0" i="0" u="none" dirty="0">
                <a:solidFill>
                  <a:schemeClr val="dk1"/>
                </a:solidFill>
                <a:latin typeface="Times New Roman"/>
                <a:ea typeface="Times New Roman"/>
                <a:cs typeface="Times New Roman"/>
                <a:sym typeface="Times New Roman"/>
              </a:rPr>
              <a:t>:  </a:t>
            </a:r>
            <a:r>
              <a:rPr lang="en-US" sz="3200" b="0" i="1" u="none" dirty="0">
                <a:solidFill>
                  <a:schemeClr val="dk1"/>
                </a:solidFill>
                <a:latin typeface="Times New Roman"/>
                <a:ea typeface="Times New Roman"/>
                <a:cs typeface="Times New Roman"/>
                <a:sym typeface="Times New Roman"/>
              </a:rPr>
              <a:t>μ</a:t>
            </a:r>
            <a:r>
              <a:rPr lang="en-US" sz="3200" b="0" i="0" u="none" baseline="-25000" dirty="0">
                <a:solidFill>
                  <a:schemeClr val="dk1"/>
                </a:solidFill>
                <a:latin typeface="Times New Roman"/>
                <a:ea typeface="Times New Roman"/>
                <a:cs typeface="Times New Roman"/>
                <a:sym typeface="Times New Roman"/>
              </a:rPr>
              <a:t>1 </a:t>
            </a:r>
            <a:r>
              <a:rPr lang="en-US" sz="3200" b="0" i="0" u="none" dirty="0">
                <a:solidFill>
                  <a:schemeClr val="dk1"/>
                </a:solidFill>
                <a:latin typeface="Times New Roman"/>
                <a:ea typeface="Times New Roman"/>
                <a:cs typeface="Times New Roman"/>
                <a:sym typeface="Times New Roman"/>
              </a:rPr>
              <a:t>= </a:t>
            </a:r>
            <a:r>
              <a:rPr lang="en-US" sz="3200" b="0" i="1" u="none" dirty="0">
                <a:solidFill>
                  <a:schemeClr val="dk1"/>
                </a:solidFill>
                <a:latin typeface="Times New Roman"/>
                <a:ea typeface="Times New Roman"/>
                <a:cs typeface="Times New Roman"/>
                <a:sym typeface="Times New Roman"/>
              </a:rPr>
              <a:t>μ</a:t>
            </a:r>
            <a:r>
              <a:rPr lang="en-US" sz="3200" b="0" i="0" u="none" baseline="-25000" dirty="0">
                <a:solidFill>
                  <a:schemeClr val="dk1"/>
                </a:solidFill>
                <a:latin typeface="Times New Roman"/>
                <a:ea typeface="Times New Roman"/>
                <a:cs typeface="Times New Roman"/>
                <a:sym typeface="Times New Roman"/>
              </a:rPr>
              <a:t>2 </a:t>
            </a:r>
            <a:r>
              <a:rPr lang="en-US" sz="3200" b="0" i="0" u="none" dirty="0">
                <a:solidFill>
                  <a:schemeClr val="dk1"/>
                </a:solidFill>
                <a:latin typeface="Times New Roman"/>
                <a:ea typeface="Times New Roman"/>
                <a:cs typeface="Times New Roman"/>
                <a:sym typeface="Times New Roman"/>
              </a:rPr>
              <a:t>= </a:t>
            </a:r>
            <a:r>
              <a:rPr lang="en-US" sz="3200" b="0" i="1" u="none" dirty="0">
                <a:solidFill>
                  <a:schemeClr val="dk1"/>
                </a:solidFill>
                <a:latin typeface="Times New Roman"/>
                <a:ea typeface="Times New Roman"/>
                <a:cs typeface="Times New Roman"/>
                <a:sym typeface="Times New Roman"/>
              </a:rPr>
              <a:t>μ</a:t>
            </a:r>
            <a:r>
              <a:rPr lang="en-US" sz="3200" b="0" i="0" u="none" baseline="-25000" dirty="0">
                <a:solidFill>
                  <a:schemeClr val="dk1"/>
                </a:solidFill>
                <a:latin typeface="Times New Roman"/>
                <a:ea typeface="Times New Roman"/>
                <a:cs typeface="Times New Roman"/>
                <a:sym typeface="Times New Roman"/>
              </a:rPr>
              <a:t>3 </a:t>
            </a:r>
            <a:r>
              <a:rPr lang="en-US" sz="3200" b="0" i="0" u="none" dirty="0">
                <a:solidFill>
                  <a:schemeClr val="dk1"/>
                </a:solidFill>
                <a:latin typeface="Times New Roman"/>
                <a:ea typeface="Times New Roman"/>
                <a:cs typeface="Times New Roman"/>
                <a:sym typeface="Times New Roman"/>
              </a:rPr>
              <a:t>by conducting three separate hypothesis tests, because the probability of making a Type I error will be much higher than </a:t>
            </a:r>
            <a:r>
              <a:rPr lang="en-US" sz="3200" b="0" i="1" u="none" dirty="0">
                <a:solidFill>
                  <a:schemeClr val="dk1"/>
                </a:solidFill>
                <a:latin typeface="Times New Roman"/>
                <a:ea typeface="Times New Roman"/>
                <a:cs typeface="Times New Roman"/>
                <a:sym typeface="Times New Roman"/>
              </a:rPr>
              <a:t>α</a:t>
            </a:r>
            <a:r>
              <a:rPr lang="en-US" sz="3200" b="0" i="0" u="none" dirty="0">
                <a:solidFill>
                  <a:schemeClr val="dk1"/>
                </a:solidFill>
                <a:latin typeface="Times New Roman"/>
                <a:ea typeface="Times New Roman"/>
                <a:cs typeface="Times New Roman"/>
                <a:sym typeface="Times New Roman"/>
              </a:rPr>
              <a:t>. </a:t>
            </a:r>
            <a:endParaRPr dirty="0"/>
          </a:p>
          <a:p>
            <a:pPr marL="342900" lvl="0" indent="-342900" algn="l" rtl="0">
              <a:lnSpc>
                <a:spcPct val="90000"/>
              </a:lnSpc>
              <a:spcBef>
                <a:spcPts val="640"/>
              </a:spcBef>
              <a:spcAft>
                <a:spcPts val="0"/>
              </a:spcAft>
              <a:buSzPts val="3200"/>
              <a:buFont typeface="Times New Roman"/>
              <a:buNone/>
            </a:pPr>
            <a:endParaRPr sz="3200" b="1" i="0" u="none" dirty="0">
              <a:solidFill>
                <a:schemeClr val="dk1"/>
              </a:solidFill>
              <a:latin typeface="Times New Roman"/>
              <a:ea typeface="Times New Roman"/>
              <a:cs typeface="Times New Roman"/>
              <a:sym typeface="Times New Roman"/>
            </a:endParaRPr>
          </a:p>
          <a:p>
            <a:pPr marL="342900" lvl="0" indent="-139700" algn="l" rtl="0">
              <a:spcBef>
                <a:spcPts val="640"/>
              </a:spcBef>
              <a:spcAft>
                <a:spcPts val="0"/>
              </a:spcAft>
              <a:buSzPts val="3200"/>
              <a:buFont typeface="Times New Roman"/>
              <a:buNone/>
            </a:pPr>
            <a:endParaRPr sz="3200" b="1" i="0" u="none" dirty="0">
              <a:solidFill>
                <a:schemeClr val="dk1"/>
              </a:solidFill>
              <a:latin typeface="Times New Roman"/>
              <a:ea typeface="Times New Roman"/>
              <a:cs typeface="Times New Roman"/>
              <a:sym typeface="Times New Roman"/>
            </a:endParaRPr>
          </a:p>
        </p:txBody>
      </p:sp>
      <p:sp>
        <p:nvSpPr>
          <p:cNvPr id="102" name="Google Shape;102;p1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5</a:t>
            </a:fld>
            <a:endParaRPr/>
          </a:p>
        </p:txBody>
      </p:sp>
    </p:spTree>
    <p:extLst>
      <p:ext uri="{BB962C8B-B14F-4D97-AF65-F5344CB8AC3E}">
        <p14:creationId xmlns:p14="http://schemas.microsoft.com/office/powerpoint/2010/main" val="452571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body" idx="1"/>
          </p:nvPr>
        </p:nvSpPr>
        <p:spPr>
          <a:xfrm>
            <a:off x="457200" y="851244"/>
            <a:ext cx="7565010" cy="4729424"/>
          </a:xfrm>
          <a:prstGeom prst="rect">
            <a:avLst/>
          </a:prstGeom>
          <a:noFill/>
          <a:ln>
            <a:noFill/>
          </a:ln>
        </p:spPr>
        <p:txBody>
          <a:bodyPr spcFirstLastPara="1" wrap="square" lIns="91425" tIns="45700" rIns="91425" bIns="45700" anchor="t" anchorCtr="0">
            <a:noAutofit/>
          </a:bodyPr>
          <a:lstStyle/>
          <a:p>
            <a:pPr marL="114300" indent="0">
              <a:buNone/>
            </a:pPr>
            <a:r>
              <a:rPr lang="en-US" sz="3200" dirty="0">
                <a:latin typeface="Times New Roman" panose="02020603050405020304" pitchFamily="18" charset="0"/>
                <a:cs typeface="Times New Roman" panose="02020603050405020304" pitchFamily="18" charset="0"/>
              </a:rPr>
              <a:t>Analysis of variance (ANOVA) involves a comparison of two estimates of the same population variance. </a:t>
            </a:r>
          </a:p>
          <a:p>
            <a:pPr marL="114300" indent="0">
              <a:buNone/>
            </a:pPr>
            <a:endParaRPr lang="en-US" sz="3200" dirty="0">
              <a:latin typeface="Times New Roman" panose="02020603050405020304" pitchFamily="18" charset="0"/>
              <a:cs typeface="Times New Roman" panose="02020603050405020304" pitchFamily="18" charset="0"/>
            </a:endParaRPr>
          </a:p>
          <a:p>
            <a:pPr marL="114300" indent="0">
              <a:buNone/>
            </a:pPr>
            <a:r>
              <a:rPr lang="en-US" sz="3200" dirty="0">
                <a:latin typeface="Times New Roman" panose="02020603050405020304" pitchFamily="18" charset="0"/>
                <a:cs typeface="Times New Roman" panose="02020603050405020304" pitchFamily="18" charset="0"/>
              </a:rPr>
              <a:t>The procedure used in this section is called </a:t>
            </a:r>
            <a:r>
              <a:rPr lang="en-US" sz="3200" i="1" dirty="0">
                <a:latin typeface="Times New Roman" panose="02020603050405020304" pitchFamily="18" charset="0"/>
                <a:cs typeface="Times New Roman" panose="02020603050405020304" pitchFamily="18" charset="0"/>
              </a:rPr>
              <a:t>one-way </a:t>
            </a:r>
            <a:r>
              <a:rPr lang="en-US" sz="3200" dirty="0">
                <a:latin typeface="Times New Roman" panose="02020603050405020304" pitchFamily="18" charset="0"/>
                <a:cs typeface="Times New Roman" panose="02020603050405020304" pitchFamily="18" charset="0"/>
              </a:rPr>
              <a:t>ANOVA because only one factor distinguishes the various populations in the study.</a:t>
            </a:r>
            <a:endParaRPr sz="3200" b="1"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102" name="Google Shape;102;p1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6</a:t>
            </a:fld>
            <a:endParaRPr/>
          </a:p>
        </p:txBody>
      </p:sp>
    </p:spTree>
    <p:extLst>
      <p:ext uri="{BB962C8B-B14F-4D97-AF65-F5344CB8AC3E}">
        <p14:creationId xmlns:p14="http://schemas.microsoft.com/office/powerpoint/2010/main" val="4268218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xEl>
                                              <p:pRg st="2" end="2"/>
                                            </p:txEl>
                                          </p:spTgt>
                                        </p:tgtEl>
                                        <p:attrNameLst>
                                          <p:attrName>style.visibility</p:attrName>
                                        </p:attrNameLst>
                                      </p:cBhvr>
                                      <p:to>
                                        <p:strVal val="visible"/>
                                      </p:to>
                                    </p:set>
                                    <p:animEffect transition="in" filter="fade">
                                      <p:cBhvr>
                                        <p:cTn id="7" dur="500"/>
                                        <p:tgtEl>
                                          <p:spTgt spid="10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1</a:t>
            </a:r>
            <a:endParaRPr/>
          </a:p>
        </p:txBody>
      </p:sp>
      <p:sp>
        <p:nvSpPr>
          <p:cNvPr id="108" name="Google Shape;108;p19"/>
          <p:cNvSpPr txBox="1">
            <a:spLocks noGrp="1"/>
          </p:cNvSpPr>
          <p:nvPr>
            <p:ph type="body" idx="1"/>
          </p:nvPr>
        </p:nvSpPr>
        <p:spPr>
          <a:xfrm>
            <a:off x="457200" y="1676400"/>
            <a:ext cx="8229600" cy="4525962"/>
          </a:xfrm>
          <a:prstGeom prst="rect">
            <a:avLst/>
          </a:prstGeom>
          <a:noFill/>
          <a:ln>
            <a:noFill/>
          </a:ln>
        </p:spPr>
        <p:txBody>
          <a:bodyPr spcFirstLastPara="1" wrap="square" lIns="91425" tIns="45700" rIns="91425" bIns="45700" anchor="t" anchorCtr="0">
            <a:noAutofit/>
          </a:bodyPr>
          <a:lstStyle/>
          <a:p>
            <a:pPr marL="344487" lvl="0" indent="-344487"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Verify the Requirements to Perform a One-Way ANOVA</a:t>
            </a:r>
            <a:endParaRPr dirty="0"/>
          </a:p>
        </p:txBody>
      </p:sp>
      <p:sp>
        <p:nvSpPr>
          <p:cNvPr id="109" name="Google Shape;109;p1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7</a:t>
            </a:fld>
            <a:endParaRPr/>
          </a:p>
        </p:txBody>
      </p:sp>
    </p:spTree>
    <p:extLst>
      <p:ext uri="{BB962C8B-B14F-4D97-AF65-F5344CB8AC3E}">
        <p14:creationId xmlns:p14="http://schemas.microsoft.com/office/powerpoint/2010/main" val="2509707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5" name="Rectangle 4">
            <a:extLst>
              <a:ext uri="{FF2B5EF4-FFF2-40B4-BE49-F238E27FC236}">
                <a16:creationId xmlns:a16="http://schemas.microsoft.com/office/drawing/2014/main" id="{71301321-95BF-421F-A43A-6146690F11B9}"/>
              </a:ext>
            </a:extLst>
          </p:cNvPr>
          <p:cNvSpPr/>
          <p:nvPr/>
        </p:nvSpPr>
        <p:spPr>
          <a:xfrm>
            <a:off x="245095" y="265209"/>
            <a:ext cx="8653809" cy="565482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Google Shape;114;p20"/>
          <p:cNvSpPr txBox="1">
            <a:spLocks noGrp="1"/>
          </p:cNvSpPr>
          <p:nvPr>
            <p:ph type="body" idx="1"/>
          </p:nvPr>
        </p:nvSpPr>
        <p:spPr>
          <a:xfrm>
            <a:off x="381000" y="759370"/>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lnSpc>
                <a:spcPct val="90000"/>
              </a:lnSpc>
              <a:spcBef>
                <a:spcPts val="560"/>
              </a:spcBef>
              <a:spcAft>
                <a:spcPts val="0"/>
              </a:spcAft>
              <a:buSzPts val="2800"/>
              <a:buFont typeface="Times New Roman"/>
              <a:buNone/>
            </a:pPr>
            <a:endParaRPr sz="2800" b="0" i="0" u="none" dirty="0">
              <a:solidFill>
                <a:schemeClr val="dk1"/>
              </a:solidFill>
              <a:latin typeface="Times New Roman"/>
              <a:ea typeface="Times New Roman"/>
              <a:cs typeface="Times New Roman"/>
              <a:sym typeface="Times New Roman"/>
            </a:endParaRPr>
          </a:p>
          <a:p>
            <a:pPr marL="609600" lvl="0" indent="-609600" algn="l" rtl="0">
              <a:lnSpc>
                <a:spcPct val="90000"/>
              </a:lnSpc>
              <a:spcBef>
                <a:spcPts val="600"/>
              </a:spcBef>
              <a:spcAft>
                <a:spcPts val="0"/>
              </a:spcAft>
              <a:buClrTx/>
              <a:buSzPts val="3000"/>
              <a:buFont typeface="Times New Roman"/>
              <a:buAutoNum type="arabicPeriod"/>
            </a:pPr>
            <a:r>
              <a:rPr lang="en-US" sz="3000" b="0" i="0" u="none" dirty="0">
                <a:solidFill>
                  <a:schemeClr val="dk1"/>
                </a:solidFill>
                <a:latin typeface="Times New Roman"/>
                <a:ea typeface="Times New Roman"/>
                <a:cs typeface="Times New Roman"/>
                <a:sym typeface="Times New Roman"/>
              </a:rPr>
              <a:t>There must be </a:t>
            </a:r>
            <a:r>
              <a:rPr lang="en-US" sz="3000" b="0" i="1" u="none" dirty="0">
                <a:solidFill>
                  <a:schemeClr val="dk1"/>
                </a:solidFill>
                <a:latin typeface="Times New Roman"/>
                <a:ea typeface="Times New Roman"/>
                <a:cs typeface="Times New Roman"/>
                <a:sym typeface="Times New Roman"/>
              </a:rPr>
              <a:t>k </a:t>
            </a:r>
            <a:r>
              <a:rPr lang="en-US" sz="3000" b="0" i="0" u="none" dirty="0">
                <a:solidFill>
                  <a:schemeClr val="dk1"/>
                </a:solidFill>
                <a:latin typeface="Times New Roman"/>
                <a:ea typeface="Times New Roman"/>
                <a:cs typeface="Times New Roman"/>
                <a:sym typeface="Times New Roman"/>
              </a:rPr>
              <a:t>simple random samples, one from each of </a:t>
            </a:r>
            <a:r>
              <a:rPr lang="en-US" sz="3000" b="0" i="1" u="none" dirty="0">
                <a:solidFill>
                  <a:schemeClr val="dk1"/>
                </a:solidFill>
                <a:latin typeface="Times New Roman"/>
                <a:ea typeface="Times New Roman"/>
                <a:cs typeface="Times New Roman"/>
                <a:sym typeface="Times New Roman"/>
              </a:rPr>
              <a:t>k</a:t>
            </a:r>
            <a:r>
              <a:rPr lang="en-US" sz="3000" b="0" i="0" u="none" dirty="0">
                <a:solidFill>
                  <a:schemeClr val="dk1"/>
                </a:solidFill>
                <a:latin typeface="Times New Roman"/>
                <a:ea typeface="Times New Roman"/>
                <a:cs typeface="Times New Roman"/>
                <a:sym typeface="Times New Roman"/>
              </a:rPr>
              <a:t> populations, or a randomized experiment with </a:t>
            </a:r>
            <a:r>
              <a:rPr lang="en-US" sz="3000" b="0" i="1" u="none" dirty="0">
                <a:solidFill>
                  <a:schemeClr val="dk1"/>
                </a:solidFill>
                <a:latin typeface="Times New Roman"/>
                <a:ea typeface="Times New Roman"/>
                <a:cs typeface="Times New Roman"/>
                <a:sym typeface="Times New Roman"/>
              </a:rPr>
              <a:t>k</a:t>
            </a:r>
            <a:r>
              <a:rPr lang="en-US" sz="3000" b="0" i="0" u="none" dirty="0">
                <a:solidFill>
                  <a:schemeClr val="dk1"/>
                </a:solidFill>
                <a:latin typeface="Times New Roman"/>
                <a:ea typeface="Times New Roman"/>
                <a:cs typeface="Times New Roman"/>
                <a:sym typeface="Times New Roman"/>
              </a:rPr>
              <a:t> treatments.</a:t>
            </a:r>
            <a:endParaRPr dirty="0"/>
          </a:p>
          <a:p>
            <a:pPr marL="609600" lvl="0" indent="-609600" algn="l" rtl="0">
              <a:lnSpc>
                <a:spcPct val="90000"/>
              </a:lnSpc>
              <a:spcBef>
                <a:spcPts val="600"/>
              </a:spcBef>
              <a:spcAft>
                <a:spcPts val="0"/>
              </a:spcAft>
              <a:buClrTx/>
              <a:buSzPts val="3000"/>
              <a:buFont typeface="Times New Roman"/>
              <a:buAutoNum type="arabicPeriod"/>
            </a:pPr>
            <a:r>
              <a:rPr lang="en-US" sz="3000" b="0" i="0" u="none" dirty="0">
                <a:solidFill>
                  <a:schemeClr val="dk1"/>
                </a:solidFill>
                <a:latin typeface="Times New Roman"/>
                <a:ea typeface="Times New Roman"/>
                <a:cs typeface="Times New Roman"/>
                <a:sym typeface="Times New Roman"/>
              </a:rPr>
              <a:t>The </a:t>
            </a:r>
            <a:r>
              <a:rPr lang="en-US" sz="3000" b="0" i="1" u="none" dirty="0">
                <a:solidFill>
                  <a:schemeClr val="dk1"/>
                </a:solidFill>
                <a:latin typeface="Times New Roman"/>
                <a:ea typeface="Times New Roman"/>
                <a:cs typeface="Times New Roman"/>
                <a:sym typeface="Times New Roman"/>
              </a:rPr>
              <a:t>k</a:t>
            </a:r>
            <a:r>
              <a:rPr lang="en-US" sz="3000" b="0" i="0" u="none" dirty="0">
                <a:solidFill>
                  <a:schemeClr val="dk1"/>
                </a:solidFill>
                <a:latin typeface="Times New Roman"/>
                <a:ea typeface="Times New Roman"/>
                <a:cs typeface="Times New Roman"/>
                <a:sym typeface="Times New Roman"/>
              </a:rPr>
              <a:t> samples are independent of each other; that is, the subjects in one group cannot be related in any way to subjects in a second group.</a:t>
            </a:r>
            <a:endParaRPr dirty="0"/>
          </a:p>
          <a:p>
            <a:pPr marL="609600" lvl="0" indent="-609600" algn="l" rtl="0">
              <a:lnSpc>
                <a:spcPct val="90000"/>
              </a:lnSpc>
              <a:spcBef>
                <a:spcPts val="600"/>
              </a:spcBef>
              <a:spcAft>
                <a:spcPts val="0"/>
              </a:spcAft>
              <a:buClrTx/>
              <a:buSzPts val="3000"/>
              <a:buFont typeface="Times New Roman"/>
              <a:buAutoNum type="arabicPeriod"/>
            </a:pPr>
            <a:r>
              <a:rPr lang="en-US" sz="3000" b="0" i="0" u="none" dirty="0">
                <a:solidFill>
                  <a:schemeClr val="dk1"/>
                </a:solidFill>
                <a:latin typeface="Times New Roman"/>
                <a:ea typeface="Times New Roman"/>
                <a:cs typeface="Times New Roman"/>
                <a:sym typeface="Times New Roman"/>
              </a:rPr>
              <a:t>The populations are normally distributed.</a:t>
            </a:r>
            <a:endParaRPr dirty="0"/>
          </a:p>
          <a:p>
            <a:pPr marL="609600" lvl="0" indent="-609600" algn="l" rtl="0">
              <a:lnSpc>
                <a:spcPct val="90000"/>
              </a:lnSpc>
              <a:spcBef>
                <a:spcPts val="680"/>
              </a:spcBef>
              <a:spcAft>
                <a:spcPts val="0"/>
              </a:spcAft>
              <a:buClrTx/>
              <a:buSzPts val="3000"/>
              <a:buFont typeface="Times New Roman"/>
              <a:buAutoNum type="arabicPeriod"/>
            </a:pPr>
            <a:r>
              <a:rPr lang="en-US" sz="3000" b="0" i="0" u="none" dirty="0">
                <a:solidFill>
                  <a:schemeClr val="dk1"/>
                </a:solidFill>
                <a:latin typeface="Times New Roman"/>
                <a:ea typeface="Times New Roman"/>
                <a:cs typeface="Times New Roman"/>
                <a:sym typeface="Times New Roman"/>
              </a:rPr>
              <a:t>The populations must have the same variance; that is, each treatment group has the population variance </a:t>
            </a:r>
            <a:r>
              <a:rPr lang="en-US" sz="3400" b="0" i="1" u="none" dirty="0">
                <a:solidFill>
                  <a:schemeClr val="dk1"/>
                </a:solidFill>
                <a:latin typeface="Times New Roman"/>
                <a:ea typeface="Times New Roman"/>
                <a:cs typeface="Times New Roman"/>
                <a:sym typeface="Times New Roman"/>
              </a:rPr>
              <a:t>σ</a:t>
            </a:r>
            <a:r>
              <a:rPr lang="en-US" sz="3400" b="0" i="0" u="none" baseline="30000" dirty="0">
                <a:solidFill>
                  <a:schemeClr val="dk1"/>
                </a:solidFill>
                <a:latin typeface="Times New Roman"/>
                <a:ea typeface="Times New Roman"/>
                <a:cs typeface="Times New Roman"/>
                <a:sym typeface="Times New Roman"/>
              </a:rPr>
              <a:t>2</a:t>
            </a:r>
            <a:r>
              <a:rPr lang="en-US" sz="3400" b="0" i="0" u="none" dirty="0">
                <a:solidFill>
                  <a:schemeClr val="dk1"/>
                </a:solidFill>
                <a:latin typeface="Times New Roman"/>
                <a:ea typeface="Times New Roman"/>
                <a:cs typeface="Times New Roman"/>
                <a:sym typeface="Times New Roman"/>
              </a:rPr>
              <a:t>.</a:t>
            </a:r>
            <a:endParaRPr dirty="0"/>
          </a:p>
        </p:txBody>
      </p:sp>
      <p:sp>
        <p:nvSpPr>
          <p:cNvPr id="115" name="Google Shape;115;p20"/>
          <p:cNvSpPr txBox="1"/>
          <p:nvPr/>
        </p:nvSpPr>
        <p:spPr>
          <a:xfrm>
            <a:off x="381000" y="340626"/>
            <a:ext cx="8153400" cy="8382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Requirements to Perform a One-Way ANOVA Test</a:t>
            </a:r>
            <a:endParaRPr dirty="0">
              <a:solidFill>
                <a:schemeClr val="tx1"/>
              </a:solidFill>
              <a:latin typeface="+mn-lt"/>
            </a:endParaRPr>
          </a:p>
        </p:txBody>
      </p:sp>
      <p:sp>
        <p:nvSpPr>
          <p:cNvPr id="116" name="Google Shape;116;p2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8</a:t>
            </a:fld>
            <a:endParaRPr/>
          </a:p>
        </p:txBody>
      </p:sp>
    </p:spTree>
    <p:extLst>
      <p:ext uri="{BB962C8B-B14F-4D97-AF65-F5344CB8AC3E}">
        <p14:creationId xmlns:p14="http://schemas.microsoft.com/office/powerpoint/2010/main" val="309899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xEl>
                                              <p:pRg st="1" end="1"/>
                                            </p:txEl>
                                          </p:spTgt>
                                        </p:tgtEl>
                                        <p:attrNameLst>
                                          <p:attrName>style.visibility</p:attrName>
                                        </p:attrNameLst>
                                      </p:cBhvr>
                                      <p:to>
                                        <p:strVal val="visible"/>
                                      </p:to>
                                    </p:set>
                                    <p:animEffect transition="in" filter="fade">
                                      <p:cBhvr>
                                        <p:cTn id="7" dur="500"/>
                                        <p:tgtEl>
                                          <p:spTgt spid="11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
                                            <p:txEl>
                                              <p:pRg st="2" end="2"/>
                                            </p:txEl>
                                          </p:spTgt>
                                        </p:tgtEl>
                                        <p:attrNameLst>
                                          <p:attrName>style.visibility</p:attrName>
                                        </p:attrNameLst>
                                      </p:cBhvr>
                                      <p:to>
                                        <p:strVal val="visible"/>
                                      </p:to>
                                    </p:set>
                                    <p:animEffect transition="in" filter="fade">
                                      <p:cBhvr>
                                        <p:cTn id="12" dur="500"/>
                                        <p:tgtEl>
                                          <p:spTgt spid="1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4">
                                            <p:txEl>
                                              <p:pRg st="3" end="3"/>
                                            </p:txEl>
                                          </p:spTgt>
                                        </p:tgtEl>
                                        <p:attrNameLst>
                                          <p:attrName>style.visibility</p:attrName>
                                        </p:attrNameLst>
                                      </p:cBhvr>
                                      <p:to>
                                        <p:strVal val="visible"/>
                                      </p:to>
                                    </p:set>
                                    <p:animEffect transition="in" filter="fade">
                                      <p:cBhvr>
                                        <p:cTn id="17" dur="500"/>
                                        <p:tgtEl>
                                          <p:spTgt spid="11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4">
                                            <p:txEl>
                                              <p:pRg st="4" end="4"/>
                                            </p:txEl>
                                          </p:spTgt>
                                        </p:tgtEl>
                                        <p:attrNameLst>
                                          <p:attrName>style.visibility</p:attrName>
                                        </p:attrNameLst>
                                      </p:cBhvr>
                                      <p:to>
                                        <p:strVal val="visible"/>
                                      </p:to>
                                    </p:set>
                                    <p:animEffect transition="in" filter="fade">
                                      <p:cBhvr>
                                        <p:cTn id="22" dur="500"/>
                                        <p:tgtEl>
                                          <p:spTgt spid="1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txBox="1">
            <a:spLocks noGrp="1"/>
          </p:cNvSpPr>
          <p:nvPr>
            <p:ph type="body" idx="1"/>
          </p:nvPr>
        </p:nvSpPr>
        <p:spPr>
          <a:xfrm>
            <a:off x="454450" y="1004740"/>
            <a:ext cx="8235099" cy="4267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The methods of one-way ANOVA are </a:t>
            </a:r>
            <a:r>
              <a:rPr lang="en-US" sz="3200" b="1" i="0" u="none" dirty="0">
                <a:solidFill>
                  <a:schemeClr val="dk1"/>
                </a:solidFill>
                <a:latin typeface="Times New Roman"/>
                <a:ea typeface="Times New Roman"/>
                <a:cs typeface="Times New Roman"/>
                <a:sym typeface="Times New Roman"/>
              </a:rPr>
              <a:t>robust</a:t>
            </a:r>
            <a:r>
              <a:rPr lang="en-US" sz="3200" b="0" i="0" u="none" dirty="0">
                <a:solidFill>
                  <a:schemeClr val="dk1"/>
                </a:solidFill>
                <a:latin typeface="Times New Roman"/>
                <a:ea typeface="Times New Roman"/>
                <a:cs typeface="Times New Roman"/>
                <a:sym typeface="Times New Roman"/>
              </a:rPr>
              <a:t>, so small departures from the normality requirement will not significantly affect the results of the procedure. In addition, the requirement of equal population variances does not need to be strictly adhered to, </a:t>
            </a:r>
            <a:r>
              <a:rPr lang="en-US" sz="3200" b="0" i="1" u="none" dirty="0">
                <a:solidFill>
                  <a:schemeClr val="dk1"/>
                </a:solidFill>
                <a:latin typeface="Times New Roman"/>
                <a:ea typeface="Times New Roman"/>
                <a:cs typeface="Times New Roman"/>
                <a:sym typeface="Times New Roman"/>
              </a:rPr>
              <a:t>especially if the sample size for each treatment group is the same</a:t>
            </a:r>
            <a:r>
              <a:rPr lang="en-US" sz="3200" b="0" i="0" u="none" dirty="0">
                <a:solidFill>
                  <a:schemeClr val="dk1"/>
                </a:solidFill>
                <a:latin typeface="Times New Roman"/>
                <a:ea typeface="Times New Roman"/>
                <a:cs typeface="Times New Roman"/>
                <a:sym typeface="Times New Roman"/>
              </a:rPr>
              <a:t>. Therefore, it is worthwhile to design an experiment in which the samples from the populations are roughly equal in size.</a:t>
            </a:r>
            <a:endParaRPr dirty="0"/>
          </a:p>
        </p:txBody>
      </p:sp>
      <p:sp>
        <p:nvSpPr>
          <p:cNvPr id="131" name="Google Shape;131;p2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9</a:t>
            </a:fld>
            <a:endParaRPr/>
          </a:p>
        </p:txBody>
      </p:sp>
    </p:spTree>
    <p:extLst>
      <p:ext uri="{BB962C8B-B14F-4D97-AF65-F5344CB8AC3E}">
        <p14:creationId xmlns:p14="http://schemas.microsoft.com/office/powerpoint/2010/main" val="1774099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5" name="Rectangle 4">
            <a:extLst>
              <a:ext uri="{FF2B5EF4-FFF2-40B4-BE49-F238E27FC236}">
                <a16:creationId xmlns:a16="http://schemas.microsoft.com/office/drawing/2014/main" id="{A32A1C47-9297-4CFE-8332-19039A9A8342}"/>
              </a:ext>
            </a:extLst>
          </p:cNvPr>
          <p:cNvSpPr/>
          <p:nvPr/>
        </p:nvSpPr>
        <p:spPr>
          <a:xfrm>
            <a:off x="283195" y="636689"/>
            <a:ext cx="8653809" cy="3699642"/>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Google Shape;136;p23"/>
          <p:cNvSpPr txBox="1">
            <a:spLocks noGrp="1"/>
          </p:cNvSpPr>
          <p:nvPr>
            <p:ph type="body" idx="1"/>
          </p:nvPr>
        </p:nvSpPr>
        <p:spPr>
          <a:xfrm>
            <a:off x="495300" y="1974915"/>
            <a:ext cx="8229600" cy="34591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The one-way ANOVA procedures may be used if the largest sample standard deviation is no more than twice the smallest sample standard deviation.</a:t>
            </a:r>
            <a:endParaRPr dirty="0"/>
          </a:p>
        </p:txBody>
      </p:sp>
      <p:sp>
        <p:nvSpPr>
          <p:cNvPr id="137" name="Google Shape;137;p23"/>
          <p:cNvSpPr txBox="1"/>
          <p:nvPr/>
        </p:nvSpPr>
        <p:spPr>
          <a:xfrm>
            <a:off x="533400" y="655163"/>
            <a:ext cx="8153400" cy="1201737"/>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Verifying the Requirement of Equal </a:t>
            </a:r>
            <a:endParaRPr sz="3200" dirty="0">
              <a:solidFill>
                <a:schemeClr val="tx1"/>
              </a:solidFill>
              <a:latin typeface="+mn-lt"/>
            </a:endParaRPr>
          </a:p>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Population Variance</a:t>
            </a:r>
            <a:endParaRPr sz="3200" dirty="0">
              <a:solidFill>
                <a:schemeClr val="tx1"/>
              </a:solidFill>
              <a:latin typeface="+mn-lt"/>
            </a:endParaRPr>
          </a:p>
        </p:txBody>
      </p:sp>
      <p:sp>
        <p:nvSpPr>
          <p:cNvPr id="138" name="Google Shape;138;p2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10</a:t>
            </a:fld>
            <a:endParaRPr/>
          </a:p>
        </p:txBody>
      </p:sp>
    </p:spTree>
    <p:extLst>
      <p:ext uri="{BB962C8B-B14F-4D97-AF65-F5344CB8AC3E}">
        <p14:creationId xmlns:p14="http://schemas.microsoft.com/office/powerpoint/2010/main" val="2059842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11</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the Requirements of One-Way</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4)                                  </a:t>
            </a:r>
            <a:r>
              <a:rPr lang="en-US" sz="2400" b="0" i="1" u="none" dirty="0">
                <a:solidFill>
                  <a:schemeClr val="dk1"/>
                </a:solidFill>
                <a:latin typeface="Arial"/>
                <a:ea typeface="Arial"/>
                <a:cs typeface="Arial"/>
                <a:sym typeface="Arial"/>
              </a:rPr>
              <a:t>ANOVA</a:t>
            </a:r>
            <a:endParaRPr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050219"/>
            <a:ext cx="8839199" cy="5478423"/>
          </a:xfrm>
          <a:prstGeom prst="rect">
            <a:avLst/>
          </a:prstGeom>
        </p:spPr>
        <p:txBody>
          <a:bodyPr wrap="square">
            <a:spAutoFit/>
          </a:bodyPr>
          <a:lstStyle/>
          <a:p>
            <a:r>
              <a:rPr lang="en-US" sz="2500" dirty="0">
                <a:latin typeface="Times New Roman" panose="02020603050405020304" pitchFamily="18" charset="0"/>
                <a:cs typeface="Times New Roman" panose="02020603050405020304" pitchFamily="18" charset="0"/>
              </a:rPr>
              <a:t>Prosthodontists specialize in the restoration of oral function, including the use of dental implants, veneers, dentures, and crowns. Since repairing chipped veneer is less costly and time-consuming than complete restoration, a researcher wanted to compare the shear bond strength of different repair kits for repairs of chipped porcelain veneer in fixed prosthodontics. He randomly divided 20 porcelain specimens into four treatment groups. Group 1 specimens used the </a:t>
            </a:r>
            <a:r>
              <a:rPr lang="en-US" sz="2500" dirty="0" err="1">
                <a:latin typeface="Times New Roman" panose="02020603050405020304" pitchFamily="18" charset="0"/>
                <a:cs typeface="Times New Roman" panose="02020603050405020304" pitchFamily="18" charset="0"/>
              </a:rPr>
              <a:t>Cojet</a:t>
            </a:r>
            <a:r>
              <a:rPr lang="en-US" sz="2500" dirty="0">
                <a:latin typeface="Times New Roman" panose="02020603050405020304" pitchFamily="18" charset="0"/>
                <a:cs typeface="Times New Roman" panose="02020603050405020304" pitchFamily="18" charset="0"/>
              </a:rPr>
              <a:t> system, group 2 used the </a:t>
            </a:r>
            <a:r>
              <a:rPr lang="en-US" sz="2500" dirty="0" err="1">
                <a:latin typeface="Times New Roman" panose="02020603050405020304" pitchFamily="18" charset="0"/>
                <a:cs typeface="Times New Roman" panose="02020603050405020304" pitchFamily="18" charset="0"/>
              </a:rPr>
              <a:t>Silistor</a:t>
            </a:r>
            <a:r>
              <a:rPr lang="en-US" sz="2500" dirty="0">
                <a:latin typeface="Times New Roman" panose="02020603050405020304" pitchFamily="18" charset="0"/>
                <a:cs typeface="Times New Roman" panose="02020603050405020304" pitchFamily="18" charset="0"/>
              </a:rPr>
              <a:t> system, group 3 used the </a:t>
            </a:r>
            <a:r>
              <a:rPr lang="en-US" sz="2500" dirty="0" err="1">
                <a:latin typeface="Times New Roman" panose="02020603050405020304" pitchFamily="18" charset="0"/>
                <a:cs typeface="Times New Roman" panose="02020603050405020304" pitchFamily="18" charset="0"/>
              </a:rPr>
              <a:t>Cimara</a:t>
            </a:r>
            <a:r>
              <a:rPr lang="en-US" sz="2500" dirty="0">
                <a:latin typeface="Times New Roman" panose="02020603050405020304" pitchFamily="18" charset="0"/>
                <a:cs typeface="Times New Roman" panose="02020603050405020304" pitchFamily="18" charset="0"/>
              </a:rPr>
              <a:t> system, and group 4 specimens used the Ceramic Repair system. At the conclusion of the study, shear bond strength (in megapascals, MPa) was measured according to ISO 10477. </a:t>
            </a:r>
          </a:p>
          <a:p>
            <a:r>
              <a:rPr lang="en-US" sz="2500" dirty="0">
                <a:latin typeface="Times New Roman" panose="02020603050405020304" pitchFamily="18" charset="0"/>
                <a:cs typeface="Times New Roman" panose="02020603050405020304" pitchFamily="18" charset="0"/>
              </a:rPr>
              <a:t>The data in Table 1, on the next slide, are based on the results of the study. Verify that the requirements to perform one-way ANOVA are satisfied.  </a:t>
            </a:r>
          </a:p>
        </p:txBody>
      </p:sp>
    </p:spTree>
    <p:extLst>
      <p:ext uri="{BB962C8B-B14F-4D97-AF65-F5344CB8AC3E}">
        <p14:creationId xmlns:p14="http://schemas.microsoft.com/office/powerpoint/2010/main" val="2671601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12</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the Requirements of One-Way</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4)                                  </a:t>
            </a:r>
            <a:r>
              <a:rPr lang="en-US" sz="2400" b="0" i="1" u="none" dirty="0">
                <a:solidFill>
                  <a:schemeClr val="dk1"/>
                </a:solidFill>
                <a:latin typeface="Arial"/>
                <a:ea typeface="Arial"/>
                <a:cs typeface="Arial"/>
                <a:sym typeface="Arial"/>
              </a:rPr>
              <a:t>ANOVA</a:t>
            </a:r>
            <a:endParaRPr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4893647"/>
          </a:xfrm>
          <a:prstGeom prst="rect">
            <a:avLst/>
          </a:prstGeom>
        </p:spPr>
        <p:txBody>
          <a:bodyPr wrap="square">
            <a:spAutoFit/>
          </a:bodyPr>
          <a:lstStyle/>
          <a:p>
            <a:endParaRPr lang="en-US" sz="2600" b="1" dirty="0"/>
          </a:p>
          <a:p>
            <a:endParaRPr lang="en-US" sz="2600" b="1" dirty="0"/>
          </a:p>
          <a:p>
            <a:endParaRPr lang="en-US" sz="2600" b="1" dirty="0"/>
          </a:p>
          <a:p>
            <a:endParaRPr lang="en-US" sz="2600" b="1" dirty="0"/>
          </a:p>
          <a:p>
            <a:endParaRPr lang="en-US" sz="2600" b="1" dirty="0"/>
          </a:p>
          <a:p>
            <a:endParaRPr lang="en-US" sz="2600" b="1" dirty="0"/>
          </a:p>
          <a:p>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1. </a:t>
            </a:r>
            <a:r>
              <a:rPr lang="en-US" sz="2600" dirty="0">
                <a:latin typeface="Times New Roman" panose="02020603050405020304" pitchFamily="18" charset="0"/>
                <a:cs typeface="Times New Roman" panose="02020603050405020304" pitchFamily="18" charset="0"/>
              </a:rPr>
              <a:t>The data are obtained from a completely randomized design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with four treatments.</a:t>
            </a:r>
          </a:p>
          <a:p>
            <a:r>
              <a:rPr lang="en-US" sz="2600" b="1" dirty="0">
                <a:latin typeface="Times New Roman" panose="02020603050405020304" pitchFamily="18" charset="0"/>
                <a:cs typeface="Times New Roman" panose="02020603050405020304" pitchFamily="18" charset="0"/>
              </a:rPr>
              <a:t>2. </a:t>
            </a:r>
            <a:r>
              <a:rPr lang="en-US" sz="2600" dirty="0">
                <a:latin typeface="Times New Roman" panose="02020603050405020304" pitchFamily="18" charset="0"/>
                <a:cs typeface="Times New Roman" panose="02020603050405020304" pitchFamily="18" charset="0"/>
              </a:rPr>
              <a:t>The specimens were assigned randomly to each group, so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samples are independent.</a:t>
            </a:r>
          </a:p>
        </p:txBody>
      </p:sp>
      <p:pic>
        <p:nvPicPr>
          <p:cNvPr id="3" name="Picture 2" descr="A screenshot of a cell phone&#10;&#10;Description automatically generated">
            <a:extLst>
              <a:ext uri="{FF2B5EF4-FFF2-40B4-BE49-F238E27FC236}">
                <a16:creationId xmlns:a16="http://schemas.microsoft.com/office/drawing/2014/main" id="{D5264853-B11B-4681-971C-F68488BCBA83}"/>
              </a:ext>
            </a:extLst>
          </p:cNvPr>
          <p:cNvPicPr>
            <a:picLocks noChangeAspect="1"/>
          </p:cNvPicPr>
          <p:nvPr/>
        </p:nvPicPr>
        <p:blipFill>
          <a:blip r:embed="rId3"/>
          <a:stretch>
            <a:fillRect/>
          </a:stretch>
        </p:blipFill>
        <p:spPr>
          <a:xfrm>
            <a:off x="1216058" y="1189266"/>
            <a:ext cx="6438508" cy="2925433"/>
          </a:xfrm>
          <a:prstGeom prst="rect">
            <a:avLst/>
          </a:prstGeom>
        </p:spPr>
      </p:pic>
    </p:spTree>
    <p:extLst>
      <p:ext uri="{BB962C8B-B14F-4D97-AF65-F5344CB8AC3E}">
        <p14:creationId xmlns:p14="http://schemas.microsoft.com/office/powerpoint/2010/main" val="4228674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fade">
                                      <p:cBhvr>
                                        <p:cTn id="7" dur="500"/>
                                        <p:tgtEl>
                                          <p:spTgt spid="4">
                                            <p:txEl>
                                              <p:pRg st="8"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9" end="9"/>
                                            </p:txEl>
                                          </p:spTgt>
                                        </p:tgtEl>
                                        <p:attrNameLst>
                                          <p:attrName>style.visibility</p:attrName>
                                        </p:attrNameLst>
                                      </p:cBhvr>
                                      <p:to>
                                        <p:strVal val="visible"/>
                                      </p:to>
                                    </p:set>
                                    <p:animEffect transition="in" filter="fade">
                                      <p:cBhvr>
                                        <p:cTn id="12"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13</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the Requirements of One-Way</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4)                                  </a:t>
            </a:r>
            <a:r>
              <a:rPr lang="en-US" sz="2400" b="0" i="1" u="none" dirty="0">
                <a:solidFill>
                  <a:schemeClr val="dk1"/>
                </a:solidFill>
                <a:latin typeface="Arial"/>
                <a:ea typeface="Arial"/>
                <a:cs typeface="Arial"/>
                <a:sym typeface="Arial"/>
              </a:rPr>
              <a:t>ANOVA</a:t>
            </a:r>
            <a:endParaRPr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4893647"/>
          </a:xfrm>
          <a:prstGeom prst="rect">
            <a:avLst/>
          </a:prstGeom>
        </p:spPr>
        <p:txBody>
          <a:bodyPr wrap="square">
            <a:spAutoFit/>
          </a:bodyPr>
          <a:lstStyle/>
          <a:p>
            <a:r>
              <a:rPr lang="en-US" sz="2600" b="1" dirty="0">
                <a:latin typeface="Times New Roman" panose="02020603050405020304" pitchFamily="18" charset="0"/>
                <a:cs typeface="Times New Roman" panose="02020603050405020304" pitchFamily="18" charset="0"/>
              </a:rPr>
              <a:t>3. </a:t>
            </a:r>
            <a:r>
              <a:rPr lang="en-US" sz="2600" dirty="0">
                <a:latin typeface="Times New Roman" panose="02020603050405020304" pitchFamily="18" charset="0"/>
                <a:cs typeface="Times New Roman" panose="02020603050405020304" pitchFamily="18" charset="0"/>
              </a:rPr>
              <a:t>The figure shows the normal probability plots for each group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drawn in StatCrunch along with the correlation between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score and expected </a:t>
            </a:r>
            <a:r>
              <a:rPr lang="en-US" sz="2600" i="1" dirty="0">
                <a:latin typeface="Times New Roman" panose="02020603050405020304" pitchFamily="18" charset="0"/>
                <a:cs typeface="Times New Roman" panose="02020603050405020304" pitchFamily="18" charset="0"/>
              </a:rPr>
              <a:t>z</a:t>
            </a:r>
            <a:r>
              <a:rPr lang="en-US" sz="2600" dirty="0">
                <a:latin typeface="Times New Roman" panose="02020603050405020304" pitchFamily="18" charset="0"/>
                <a:cs typeface="Times New Roman" panose="02020603050405020304" pitchFamily="18" charset="0"/>
              </a:rPr>
              <a:t>-score. Each correlation is greater than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0.880, the critical value for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5 observations from Table VI.</a:t>
            </a:r>
          </a:p>
          <a:p>
            <a:r>
              <a:rPr lang="en-US" sz="2600" dirty="0">
                <a:latin typeface="Times New Roman" panose="02020603050405020304" pitchFamily="18" charset="0"/>
                <a:cs typeface="Times New Roman" panose="02020603050405020304" pitchFamily="18" charset="0"/>
              </a:rPr>
              <a:t>     </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Therefore, it is reasonable to conclude each data set comes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from a population that is normally distributed.</a:t>
            </a:r>
          </a:p>
        </p:txBody>
      </p:sp>
      <p:pic>
        <p:nvPicPr>
          <p:cNvPr id="6" name="Picture 5" descr="A close up of a map&#10;&#10;Description automatically generated">
            <a:extLst>
              <a:ext uri="{FF2B5EF4-FFF2-40B4-BE49-F238E27FC236}">
                <a16:creationId xmlns:a16="http://schemas.microsoft.com/office/drawing/2014/main" id="{1246A65D-7257-4DFF-9655-F95DEA44D29A}"/>
              </a:ext>
            </a:extLst>
          </p:cNvPr>
          <p:cNvPicPr>
            <a:picLocks noChangeAspect="1"/>
          </p:cNvPicPr>
          <p:nvPr/>
        </p:nvPicPr>
        <p:blipFill>
          <a:blip r:embed="rId3"/>
          <a:stretch>
            <a:fillRect/>
          </a:stretch>
        </p:blipFill>
        <p:spPr>
          <a:xfrm>
            <a:off x="389955" y="2938826"/>
            <a:ext cx="8364089" cy="18612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0345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14</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Testing the Requirements of One-Way</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4)                                  </a:t>
            </a:r>
            <a:r>
              <a:rPr lang="en-US" sz="2400" b="0" i="1" u="none" dirty="0">
                <a:solidFill>
                  <a:schemeClr val="dk1"/>
                </a:solidFill>
                <a:latin typeface="Arial"/>
                <a:ea typeface="Arial"/>
                <a:cs typeface="Arial"/>
                <a:sym typeface="Arial"/>
              </a:rPr>
              <a:t>ANOVA</a:t>
            </a:r>
            <a:endParaRPr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5293757"/>
          </a:xfrm>
          <a:prstGeom prst="rect">
            <a:avLst/>
          </a:prstGeom>
        </p:spPr>
        <p:txBody>
          <a:bodyPr wrap="square">
            <a:spAutoFit/>
          </a:bodyPr>
          <a:lstStyle/>
          <a:p>
            <a:r>
              <a:rPr lang="en-US" sz="2600" b="1" dirty="0">
                <a:latin typeface="Times New Roman" panose="02020603050405020304" pitchFamily="18" charset="0"/>
                <a:cs typeface="Times New Roman" panose="02020603050405020304" pitchFamily="18" charset="0"/>
              </a:rPr>
              <a:t>4. </a:t>
            </a:r>
            <a:r>
              <a:rPr lang="en-US" sz="2600" dirty="0">
                <a:latin typeface="Times New Roman" panose="02020603050405020304" pitchFamily="18" charset="0"/>
                <a:cs typeface="Times New Roman" panose="02020603050405020304" pitchFamily="18" charset="0"/>
              </a:rPr>
              <a:t>The sample standard deviations for each sample are computed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using Minitab and presented as part of the figure shown.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largest standard deviation is 4.22 MPa; the smallest is 2.28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MPa. Because the largest standard deviation is not more than</a:t>
            </a:r>
          </a:p>
          <a:p>
            <a:r>
              <a:rPr lang="en-US" sz="2600" dirty="0">
                <a:latin typeface="Times New Roman" panose="02020603050405020304" pitchFamily="18" charset="0"/>
                <a:cs typeface="Times New Roman" panose="02020603050405020304" pitchFamily="18" charset="0"/>
              </a:rPr>
              <a:t>     twice the smallest                                      the requirement of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equal population variances is satisfied.</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Since all four requirements are satisfied, we can perform a one-way ANOVA.</a:t>
            </a:r>
          </a:p>
        </p:txBody>
      </p:sp>
      <p:graphicFrame>
        <p:nvGraphicFramePr>
          <p:cNvPr id="2" name="Object 1">
            <a:extLst>
              <a:ext uri="{FF2B5EF4-FFF2-40B4-BE49-F238E27FC236}">
                <a16:creationId xmlns:a16="http://schemas.microsoft.com/office/drawing/2014/main" id="{E29AC836-B580-46D8-BEC8-93A162B65D67}"/>
              </a:ext>
            </a:extLst>
          </p:cNvPr>
          <p:cNvGraphicFramePr>
            <a:graphicFrameLocks noChangeAspect="1"/>
          </p:cNvGraphicFramePr>
          <p:nvPr>
            <p:extLst>
              <p:ext uri="{D42A27DB-BD31-4B8C-83A1-F6EECF244321}">
                <p14:modId xmlns:p14="http://schemas.microsoft.com/office/powerpoint/2010/main" val="1320731365"/>
              </p:ext>
            </p:extLst>
          </p:nvPr>
        </p:nvGraphicFramePr>
        <p:xfrm>
          <a:off x="3048000" y="2817813"/>
          <a:ext cx="3048000" cy="368300"/>
        </p:xfrm>
        <a:graphic>
          <a:graphicData uri="http://schemas.openxmlformats.org/presentationml/2006/ole">
            <mc:AlternateContent xmlns:mc="http://schemas.openxmlformats.org/markup-compatibility/2006">
              <mc:Choice xmlns:v="urn:schemas-microsoft-com:vml" Requires="v">
                <p:oleObj spid="_x0000_s46237" name="Equation" r:id="rId4" imgW="3047760" imgH="368280" progId="Equation.DSMT4">
                  <p:embed/>
                </p:oleObj>
              </mc:Choice>
              <mc:Fallback>
                <p:oleObj name="Equation" r:id="rId4" imgW="3047760" imgH="368280" progId="Equation.DSMT4">
                  <p:embed/>
                  <p:pic>
                    <p:nvPicPr>
                      <p:cNvPr id="0" name=""/>
                      <p:cNvPicPr/>
                      <p:nvPr/>
                    </p:nvPicPr>
                    <p:blipFill>
                      <a:blip r:embed="rId5"/>
                      <a:stretch>
                        <a:fillRect/>
                      </a:stretch>
                    </p:blipFill>
                    <p:spPr>
                      <a:xfrm>
                        <a:off x="3048000" y="2817813"/>
                        <a:ext cx="3048000" cy="368300"/>
                      </a:xfrm>
                      <a:prstGeom prst="rect">
                        <a:avLst/>
                      </a:prstGeom>
                    </p:spPr>
                  </p:pic>
                </p:oleObj>
              </mc:Fallback>
            </mc:AlternateContent>
          </a:graphicData>
        </a:graphic>
      </p:graphicFrame>
      <p:pic>
        <p:nvPicPr>
          <p:cNvPr id="7" name="Picture 6" descr="A screenshot of a cell phone&#10;&#10;Description automatically generated">
            <a:extLst>
              <a:ext uri="{FF2B5EF4-FFF2-40B4-BE49-F238E27FC236}">
                <a16:creationId xmlns:a16="http://schemas.microsoft.com/office/drawing/2014/main" id="{AD20D865-D876-4966-A33D-0E6011C1C90D}"/>
              </a:ext>
            </a:extLst>
          </p:cNvPr>
          <p:cNvPicPr>
            <a:picLocks noChangeAspect="1"/>
          </p:cNvPicPr>
          <p:nvPr/>
        </p:nvPicPr>
        <p:blipFill>
          <a:blip r:embed="rId6"/>
          <a:stretch>
            <a:fillRect/>
          </a:stretch>
        </p:blipFill>
        <p:spPr>
          <a:xfrm>
            <a:off x="1480401" y="3671485"/>
            <a:ext cx="6183198" cy="17531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02759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2</a:t>
            </a:r>
            <a:endParaRPr/>
          </a:p>
        </p:txBody>
      </p:sp>
      <p:sp>
        <p:nvSpPr>
          <p:cNvPr id="196" name="Google Shape;196;p32"/>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Test a Hypothesis Regarding Three or More Means Using One-Way ANOVA</a:t>
            </a:r>
            <a:endParaRPr dirty="0"/>
          </a:p>
        </p:txBody>
      </p:sp>
      <p:sp>
        <p:nvSpPr>
          <p:cNvPr id="197" name="Google Shape;197;p3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15</a:t>
            </a:fld>
            <a:endParaRPr/>
          </a:p>
        </p:txBody>
      </p:sp>
    </p:spTree>
    <p:extLst>
      <p:ext uri="{BB962C8B-B14F-4D97-AF65-F5344CB8AC3E}">
        <p14:creationId xmlns:p14="http://schemas.microsoft.com/office/powerpoint/2010/main" val="2695418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3"/>
          <p:cNvSpPr txBox="1">
            <a:spLocks noGrp="1"/>
          </p:cNvSpPr>
          <p:nvPr>
            <p:ph type="body" idx="1"/>
          </p:nvPr>
        </p:nvSpPr>
        <p:spPr>
          <a:xfrm>
            <a:off x="457200" y="731837"/>
            <a:ext cx="8229600" cy="452596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The basic idea in one-way ANOVA is to determine if the sample data could come from populations with the same mean, </a:t>
            </a:r>
            <a:r>
              <a:rPr lang="en-US" sz="3200" b="0" i="1" u="none" dirty="0">
                <a:solidFill>
                  <a:schemeClr val="dk1"/>
                </a:solidFill>
                <a:latin typeface="Times New Roman"/>
                <a:ea typeface="Times New Roman"/>
                <a:cs typeface="Times New Roman"/>
                <a:sym typeface="Times New Roman"/>
              </a:rPr>
              <a:t>μ</a:t>
            </a:r>
            <a:r>
              <a:rPr lang="en-US" sz="3200" b="0" i="0" u="none" dirty="0">
                <a:solidFill>
                  <a:schemeClr val="dk1"/>
                </a:solidFill>
                <a:latin typeface="Times New Roman"/>
                <a:ea typeface="Times New Roman"/>
                <a:cs typeface="Times New Roman"/>
                <a:sym typeface="Times New Roman"/>
              </a:rPr>
              <a:t>, or suggests that at least one sample comes from a population whose mean is different from the others.</a:t>
            </a:r>
            <a:endParaRPr dirty="0"/>
          </a:p>
          <a:p>
            <a:pPr marL="0" lvl="0" indent="0" algn="l" rtl="0">
              <a:lnSpc>
                <a:spcPct val="100000"/>
              </a:lnSpc>
              <a:spcBef>
                <a:spcPts val="64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To make this decision, we compare the variability among the sample means to the variability within each sample.</a:t>
            </a:r>
            <a:endParaRPr dirty="0"/>
          </a:p>
        </p:txBody>
      </p:sp>
      <p:sp>
        <p:nvSpPr>
          <p:cNvPr id="203" name="Google Shape;203;p3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16</a:t>
            </a:fld>
            <a:endParaRPr/>
          </a:p>
        </p:txBody>
      </p:sp>
    </p:spTree>
    <p:extLst>
      <p:ext uri="{BB962C8B-B14F-4D97-AF65-F5344CB8AC3E}">
        <p14:creationId xmlns:p14="http://schemas.microsoft.com/office/powerpoint/2010/main" val="636733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
                                            <p:txEl>
                                              <p:pRg st="1" end="1"/>
                                            </p:txEl>
                                          </p:spTgt>
                                        </p:tgtEl>
                                        <p:attrNameLst>
                                          <p:attrName>style.visibility</p:attrName>
                                        </p:attrNameLst>
                                      </p:cBhvr>
                                      <p:to>
                                        <p:strVal val="visible"/>
                                      </p:to>
                                    </p:set>
                                    <p:animEffect transition="in" filter="fade">
                                      <p:cBhvr>
                                        <p:cTn id="7" dur="500"/>
                                        <p:tgtEl>
                                          <p:spTgt spid="20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4"/>
          <p:cNvSpPr txBox="1">
            <a:spLocks noGrp="1"/>
          </p:cNvSpPr>
          <p:nvPr>
            <p:ph type="body" idx="1"/>
          </p:nvPr>
        </p:nvSpPr>
        <p:spPr>
          <a:xfrm>
            <a:off x="457200" y="1219200"/>
            <a:ext cx="8229600" cy="452596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We call the variability among the sample means the </a:t>
            </a:r>
            <a:r>
              <a:rPr lang="en-US" sz="3200" b="1" i="0" u="none" dirty="0">
                <a:solidFill>
                  <a:schemeClr val="dk1"/>
                </a:solidFill>
                <a:latin typeface="Times New Roman"/>
                <a:ea typeface="Times New Roman"/>
                <a:cs typeface="Times New Roman"/>
                <a:sym typeface="Times New Roman"/>
              </a:rPr>
              <a:t>between-sample variability</a:t>
            </a:r>
            <a:r>
              <a:rPr lang="en-US" sz="3200" b="0" i="0" u="none" dirty="0">
                <a:solidFill>
                  <a:schemeClr val="dk1"/>
                </a:solidFill>
                <a:latin typeface="Times New Roman"/>
                <a:ea typeface="Times New Roman"/>
                <a:cs typeface="Times New Roman"/>
                <a:sym typeface="Times New Roman"/>
              </a:rPr>
              <a:t>, and the variability of each sample the </a:t>
            </a:r>
            <a:r>
              <a:rPr lang="en-US" sz="3200" b="1" i="0" u="none" dirty="0">
                <a:solidFill>
                  <a:schemeClr val="dk1"/>
                </a:solidFill>
                <a:latin typeface="Times New Roman"/>
                <a:ea typeface="Times New Roman"/>
                <a:cs typeface="Times New Roman"/>
                <a:sym typeface="Times New Roman"/>
              </a:rPr>
              <a:t>within-sample</a:t>
            </a:r>
            <a:r>
              <a:rPr lang="en-US" sz="3200" b="0" i="0" u="none" dirty="0">
                <a:solidFill>
                  <a:schemeClr val="dk1"/>
                </a:solidFill>
                <a:latin typeface="Times New Roman"/>
                <a:ea typeface="Times New Roman"/>
                <a:cs typeface="Times New Roman"/>
                <a:sym typeface="Times New Roman"/>
              </a:rPr>
              <a:t> variability.</a:t>
            </a:r>
            <a:endParaRPr dirty="0"/>
          </a:p>
          <a:p>
            <a:pPr marL="0" lvl="0" indent="0" algn="l" rtl="0">
              <a:lnSpc>
                <a:spcPct val="100000"/>
              </a:lnSpc>
              <a:spcBef>
                <a:spcPts val="64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If the between-sample variability is large relative to the within-sample variability, we have evidence to suggest that the samples come from populations with different means.</a:t>
            </a:r>
            <a:endParaRPr dirty="0"/>
          </a:p>
        </p:txBody>
      </p:sp>
      <p:sp>
        <p:nvSpPr>
          <p:cNvPr id="209" name="Google Shape;209;p3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17</a:t>
            </a:fld>
            <a:endParaRPr/>
          </a:p>
        </p:txBody>
      </p:sp>
    </p:spTree>
    <p:extLst>
      <p:ext uri="{BB962C8B-B14F-4D97-AF65-F5344CB8AC3E}">
        <p14:creationId xmlns:p14="http://schemas.microsoft.com/office/powerpoint/2010/main" val="413971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8">
                                            <p:txEl>
                                              <p:pRg st="1" end="1"/>
                                            </p:txEl>
                                          </p:spTgt>
                                        </p:tgtEl>
                                        <p:attrNameLst>
                                          <p:attrName>style.visibility</p:attrName>
                                        </p:attrNameLst>
                                      </p:cBhvr>
                                      <p:to>
                                        <p:strVal val="visible"/>
                                      </p:to>
                                    </p:set>
                                    <p:animEffect transition="in" filter="fade">
                                      <p:cBhvr>
                                        <p:cTn id="7" dur="500"/>
                                        <p:tgtEl>
                                          <p:spTgt spid="20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7" name="Rectangle 6">
            <a:extLst>
              <a:ext uri="{FF2B5EF4-FFF2-40B4-BE49-F238E27FC236}">
                <a16:creationId xmlns:a16="http://schemas.microsoft.com/office/drawing/2014/main" id="{B74A4081-11CF-49FE-BA05-A17550C04D47}"/>
              </a:ext>
            </a:extLst>
          </p:cNvPr>
          <p:cNvSpPr/>
          <p:nvPr/>
        </p:nvSpPr>
        <p:spPr>
          <a:xfrm>
            <a:off x="468258" y="1008668"/>
            <a:ext cx="8440075" cy="3242822"/>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Google Shape;214;p35"/>
          <p:cNvSpPr txBox="1">
            <a:spLocks noGrp="1"/>
          </p:cNvSpPr>
          <p:nvPr>
            <p:ph type="body" idx="1"/>
          </p:nvPr>
        </p:nvSpPr>
        <p:spPr>
          <a:xfrm>
            <a:off x="495693" y="1896754"/>
            <a:ext cx="8229600" cy="2354735"/>
          </a:xfrm>
          <a:prstGeom prst="rect">
            <a:avLst/>
          </a:prstGeom>
          <a:noFill/>
          <a:ln>
            <a:noFill/>
          </a:ln>
        </p:spPr>
        <p:txBody>
          <a:bodyPr spcFirstLastPara="1" wrap="square" lIns="91425" tIns="45700" rIns="91425" bIns="45700" anchor="t" anchorCtr="0">
            <a:noAutofit/>
          </a:bodyPr>
          <a:lstStyle/>
          <a:p>
            <a:pPr marL="609600" lvl="0" indent="-609600" algn="l" rtl="0">
              <a:lnSpc>
                <a:spcPct val="90000"/>
              </a:lnSpc>
              <a:spcBef>
                <a:spcPts val="0"/>
              </a:spcBef>
              <a:spcAft>
                <a:spcPts val="0"/>
              </a:spcAft>
              <a:buSzPts val="3000"/>
              <a:buFont typeface="Times New Roman"/>
              <a:buNone/>
            </a:pPr>
            <a:r>
              <a:rPr lang="en-US" sz="3000" b="0" i="0" u="none" dirty="0">
                <a:solidFill>
                  <a:schemeClr val="dk1"/>
                </a:solidFill>
                <a:latin typeface="Times New Roman"/>
                <a:ea typeface="Times New Roman"/>
                <a:cs typeface="Times New Roman"/>
                <a:sym typeface="Times New Roman"/>
              </a:rPr>
              <a:t>The analysis of variance </a:t>
            </a:r>
            <a:r>
              <a:rPr lang="en-US" sz="3000" b="1" i="1" u="none" dirty="0">
                <a:solidFill>
                  <a:schemeClr val="dk1"/>
                </a:solidFill>
                <a:latin typeface="Times New Roman"/>
                <a:ea typeface="Times New Roman"/>
                <a:cs typeface="Times New Roman"/>
                <a:sym typeface="Times New Roman"/>
              </a:rPr>
              <a:t>F</a:t>
            </a:r>
            <a:r>
              <a:rPr lang="en-US" sz="3000" b="1" i="0" u="none" dirty="0">
                <a:solidFill>
                  <a:schemeClr val="dk1"/>
                </a:solidFill>
                <a:latin typeface="Times New Roman"/>
                <a:ea typeface="Times New Roman"/>
                <a:cs typeface="Times New Roman"/>
                <a:sym typeface="Times New Roman"/>
              </a:rPr>
              <a:t>-test statistic</a:t>
            </a:r>
            <a:r>
              <a:rPr lang="en-US" sz="3000" b="0" i="0" u="none" dirty="0">
                <a:solidFill>
                  <a:schemeClr val="dk1"/>
                </a:solidFill>
                <a:latin typeface="Times New Roman"/>
                <a:ea typeface="Times New Roman"/>
                <a:cs typeface="Times New Roman"/>
                <a:sym typeface="Times New Roman"/>
              </a:rPr>
              <a:t> is given by</a:t>
            </a:r>
            <a:endParaRPr dirty="0"/>
          </a:p>
          <a:p>
            <a:pPr marL="609600" lvl="0" indent="-609600" algn="l" rtl="0">
              <a:lnSpc>
                <a:spcPct val="90000"/>
              </a:lnSpc>
              <a:spcBef>
                <a:spcPts val="600"/>
              </a:spcBef>
              <a:spcAft>
                <a:spcPts val="0"/>
              </a:spcAft>
              <a:buSzPts val="3000"/>
              <a:buFont typeface="Times New Roman"/>
              <a:buNone/>
            </a:pPr>
            <a:endParaRPr sz="3000" b="0" i="0" u="none" dirty="0">
              <a:solidFill>
                <a:schemeClr val="dk1"/>
              </a:solidFill>
              <a:latin typeface="Times New Roman"/>
              <a:ea typeface="Times New Roman"/>
              <a:cs typeface="Times New Roman"/>
              <a:sym typeface="Times New Roman"/>
            </a:endParaRPr>
          </a:p>
          <a:p>
            <a:pPr marL="342900" lvl="0" indent="-152400" algn="l" rtl="0">
              <a:spcBef>
                <a:spcPts val="600"/>
              </a:spcBef>
              <a:spcAft>
                <a:spcPts val="0"/>
              </a:spcAft>
              <a:buSzPts val="3000"/>
              <a:buFont typeface="Times New Roman"/>
              <a:buNone/>
            </a:pPr>
            <a:endParaRPr sz="3000" b="0" i="0" u="none" dirty="0">
              <a:solidFill>
                <a:schemeClr val="dk1"/>
              </a:solidFill>
              <a:latin typeface="Times New Roman"/>
              <a:ea typeface="Times New Roman"/>
              <a:cs typeface="Times New Roman"/>
              <a:sym typeface="Times New Roman"/>
            </a:endParaRPr>
          </a:p>
        </p:txBody>
      </p:sp>
      <p:sp>
        <p:nvSpPr>
          <p:cNvPr id="215" name="Google Shape;215;p35"/>
          <p:cNvSpPr txBox="1"/>
          <p:nvPr/>
        </p:nvSpPr>
        <p:spPr>
          <a:xfrm>
            <a:off x="457200" y="1096653"/>
            <a:ext cx="8153400" cy="8382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ANOVA </a:t>
            </a:r>
            <a:r>
              <a:rPr lang="en-US" sz="3200" b="1"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F</a:t>
            </a:r>
            <a:r>
              <a:rPr lang="en-US" sz="3200" b="1" i="0" u="none" dirty="0">
                <a:solidFill>
                  <a:schemeClr val="tx1"/>
                </a:solidFill>
                <a:latin typeface="+mn-lt"/>
                <a:ea typeface="Times New Roman"/>
                <a:cs typeface="Times New Roman"/>
                <a:sym typeface="Times New Roman"/>
              </a:rPr>
              <a:t>-Test Statistic</a:t>
            </a:r>
            <a:endParaRPr dirty="0">
              <a:solidFill>
                <a:schemeClr val="tx1"/>
              </a:solidFill>
              <a:latin typeface="+mn-lt"/>
            </a:endParaRPr>
          </a:p>
        </p:txBody>
      </p:sp>
      <p:sp>
        <p:nvSpPr>
          <p:cNvPr id="217" name="Google Shape;217;p3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18</a:t>
            </a:fld>
            <a:endParaRPr/>
          </a:p>
        </p:txBody>
      </p:sp>
      <p:graphicFrame>
        <p:nvGraphicFramePr>
          <p:cNvPr id="2" name="Object 1">
            <a:extLst>
              <a:ext uri="{FF2B5EF4-FFF2-40B4-BE49-F238E27FC236}">
                <a16:creationId xmlns:a16="http://schemas.microsoft.com/office/drawing/2014/main" id="{63C89957-15EA-4506-B769-14C132DBB05F}"/>
              </a:ext>
            </a:extLst>
          </p:cNvPr>
          <p:cNvGraphicFramePr>
            <a:graphicFrameLocks noChangeAspect="1"/>
          </p:cNvGraphicFramePr>
          <p:nvPr>
            <p:extLst>
              <p:ext uri="{D42A27DB-BD31-4B8C-83A1-F6EECF244321}">
                <p14:modId xmlns:p14="http://schemas.microsoft.com/office/powerpoint/2010/main" val="717917263"/>
              </p:ext>
            </p:extLst>
          </p:nvPr>
        </p:nvGraphicFramePr>
        <p:xfrm>
          <a:off x="2234366" y="2776652"/>
          <a:ext cx="4279900" cy="850900"/>
        </p:xfrm>
        <a:graphic>
          <a:graphicData uri="http://schemas.openxmlformats.org/presentationml/2006/ole">
            <mc:AlternateContent xmlns:mc="http://schemas.openxmlformats.org/markup-compatibility/2006">
              <mc:Choice xmlns:v="urn:schemas-microsoft-com:vml" Requires="v">
                <p:oleObj spid="_x0000_s47257" name="Equation" r:id="rId4" imgW="4279680" imgH="850680" progId="Equation.DSMT4">
                  <p:embed/>
                </p:oleObj>
              </mc:Choice>
              <mc:Fallback>
                <p:oleObj name="Equation" r:id="rId4" imgW="4279680" imgH="850680" progId="Equation.DSMT4">
                  <p:embed/>
                  <p:pic>
                    <p:nvPicPr>
                      <p:cNvPr id="0" name=""/>
                      <p:cNvPicPr/>
                      <p:nvPr/>
                    </p:nvPicPr>
                    <p:blipFill>
                      <a:blip r:embed="rId5"/>
                      <a:stretch>
                        <a:fillRect/>
                      </a:stretch>
                    </p:blipFill>
                    <p:spPr>
                      <a:xfrm>
                        <a:off x="2234366" y="2776652"/>
                        <a:ext cx="4279900" cy="850900"/>
                      </a:xfrm>
                      <a:prstGeom prst="rect">
                        <a:avLst/>
                      </a:prstGeom>
                    </p:spPr>
                  </p:pic>
                </p:oleObj>
              </mc:Fallback>
            </mc:AlternateContent>
          </a:graphicData>
        </a:graphic>
      </p:graphicFrame>
    </p:spTree>
    <p:extLst>
      <p:ext uri="{BB962C8B-B14F-4D97-AF65-F5344CB8AC3E}">
        <p14:creationId xmlns:p14="http://schemas.microsoft.com/office/powerpoint/2010/main" val="1602046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9" name="Google Shape;209;p3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19</a:t>
            </a:fld>
            <a:endParaRPr/>
          </a:p>
        </p:txBody>
      </p:sp>
      <p:sp>
        <p:nvSpPr>
          <p:cNvPr id="4" name="Rectangle 3">
            <a:extLst>
              <a:ext uri="{FF2B5EF4-FFF2-40B4-BE49-F238E27FC236}">
                <a16:creationId xmlns:a16="http://schemas.microsoft.com/office/drawing/2014/main" id="{04D42A0C-4A3C-4485-8FDC-5FC3F3EFFF1E}"/>
              </a:ext>
            </a:extLst>
          </p:cNvPr>
          <p:cNvSpPr/>
          <p:nvPr/>
        </p:nvSpPr>
        <p:spPr>
          <a:xfrm>
            <a:off x="457199" y="505004"/>
            <a:ext cx="8234313" cy="529375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computation of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 is based on </a:t>
            </a:r>
            <a:r>
              <a:rPr lang="en-US" sz="2600" i="1" dirty="0">
                <a:latin typeface="Times New Roman" panose="02020603050405020304" pitchFamily="18" charset="0"/>
                <a:cs typeface="Times New Roman" panose="02020603050405020304" pitchFamily="18" charset="0"/>
              </a:rPr>
              <a:t>mean squares. </a:t>
            </a:r>
            <a:r>
              <a:rPr lang="en-US" sz="2600" dirty="0">
                <a:latin typeface="Times New Roman" panose="02020603050405020304" pitchFamily="18" charset="0"/>
                <a:cs typeface="Times New Roman" panose="02020603050405020304" pitchFamily="18" charset="0"/>
              </a:rPr>
              <a:t>A </a:t>
            </a:r>
            <a:r>
              <a:rPr lang="en-US" sz="2600" b="1" dirty="0">
                <a:latin typeface="Times New Roman" panose="02020603050405020304" pitchFamily="18" charset="0"/>
                <a:cs typeface="Times New Roman" panose="02020603050405020304" pitchFamily="18" charset="0"/>
              </a:rPr>
              <a:t>mean square </a:t>
            </a:r>
            <a:r>
              <a:rPr lang="en-US" sz="2600" dirty="0">
                <a:latin typeface="Times New Roman" panose="02020603050405020304" pitchFamily="18" charset="0"/>
                <a:cs typeface="Times New Roman" panose="02020603050405020304" pitchFamily="18" charset="0"/>
              </a:rPr>
              <a:t>is an average (mean) of squared values.</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population variance,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is estimated by the sample variance</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numerator of </a:t>
            </a:r>
            <a:r>
              <a:rPr lang="en-US" sz="2600" i="1" dirty="0">
                <a:latin typeface="Times New Roman" panose="02020603050405020304" pitchFamily="18" charset="0"/>
                <a:cs typeface="Times New Roman" panose="02020603050405020304" pitchFamily="18" charset="0"/>
              </a:rPr>
              <a:t>s</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is called the </a:t>
            </a:r>
            <a:r>
              <a:rPr lang="en-US" sz="2600" b="1" dirty="0">
                <a:latin typeface="Times New Roman" panose="02020603050405020304" pitchFamily="18" charset="0"/>
                <a:cs typeface="Times New Roman" panose="02020603050405020304" pitchFamily="18" charset="0"/>
              </a:rPr>
              <a:t>sum of squares</a:t>
            </a:r>
            <a:r>
              <a:rPr lang="en-US" sz="2600" dirty="0">
                <a:latin typeface="Times New Roman" panose="02020603050405020304" pitchFamily="18" charset="0"/>
                <a:cs typeface="Times New Roman" panose="02020603050405020304" pitchFamily="18" charset="0"/>
              </a:rPr>
              <a:t>. It gives a measure of the variability of the data about the sample mean. The denominator of </a:t>
            </a:r>
            <a:r>
              <a:rPr lang="en-US" sz="2600" i="1" dirty="0">
                <a:latin typeface="Times New Roman" panose="02020603050405020304" pitchFamily="18" charset="0"/>
                <a:cs typeface="Times New Roman" panose="02020603050405020304" pitchFamily="18" charset="0"/>
              </a:rPr>
              <a:t>s</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1, represents the </a:t>
            </a:r>
            <a:r>
              <a:rPr lang="en-US" sz="2600" i="1" dirty="0">
                <a:latin typeface="Times New Roman" panose="02020603050405020304" pitchFamily="18" charset="0"/>
                <a:cs typeface="Times New Roman" panose="02020603050405020304" pitchFamily="18" charset="0"/>
              </a:rPr>
              <a:t>degrees of freedom</a:t>
            </a:r>
            <a:r>
              <a:rPr lang="en-US" sz="2600" dirty="0">
                <a:latin typeface="Times New Roman" panose="02020603050405020304" pitchFamily="18" charset="0"/>
                <a:cs typeface="Times New Roman" panose="02020603050405020304" pitchFamily="18" charset="0"/>
              </a:rPr>
              <a:t>.</a:t>
            </a:r>
          </a:p>
        </p:txBody>
      </p:sp>
      <p:graphicFrame>
        <p:nvGraphicFramePr>
          <p:cNvPr id="5" name="Object 4">
            <a:extLst>
              <a:ext uri="{FF2B5EF4-FFF2-40B4-BE49-F238E27FC236}">
                <a16:creationId xmlns:a16="http://schemas.microsoft.com/office/drawing/2014/main" id="{882CD48D-FAB5-40A9-967F-009DAE80AD4D}"/>
              </a:ext>
            </a:extLst>
          </p:cNvPr>
          <p:cNvGraphicFramePr>
            <a:graphicFrameLocks noChangeAspect="1"/>
          </p:cNvGraphicFramePr>
          <p:nvPr>
            <p:extLst>
              <p:ext uri="{D42A27DB-BD31-4B8C-83A1-F6EECF244321}">
                <p14:modId xmlns:p14="http://schemas.microsoft.com/office/powerpoint/2010/main" val="2217731550"/>
              </p:ext>
            </p:extLst>
          </p:nvPr>
        </p:nvGraphicFramePr>
        <p:xfrm>
          <a:off x="2970164" y="2599441"/>
          <a:ext cx="2298700" cy="914400"/>
        </p:xfrm>
        <a:graphic>
          <a:graphicData uri="http://schemas.openxmlformats.org/presentationml/2006/ole">
            <mc:AlternateContent xmlns:mc="http://schemas.openxmlformats.org/markup-compatibility/2006">
              <mc:Choice xmlns:v="urn:schemas-microsoft-com:vml" Requires="v">
                <p:oleObj spid="_x0000_s48280" name="Equation" r:id="rId4" imgW="2298600" imgH="914400" progId="Equation.DSMT4">
                  <p:embed/>
                </p:oleObj>
              </mc:Choice>
              <mc:Fallback>
                <p:oleObj name="Equation" r:id="rId4" imgW="2298600" imgH="914400" progId="Equation.DSMT4">
                  <p:embed/>
                  <p:pic>
                    <p:nvPicPr>
                      <p:cNvPr id="0" name=""/>
                      <p:cNvPicPr/>
                      <p:nvPr/>
                    </p:nvPicPr>
                    <p:blipFill>
                      <a:blip r:embed="rId5"/>
                      <a:stretch>
                        <a:fillRect/>
                      </a:stretch>
                    </p:blipFill>
                    <p:spPr>
                      <a:xfrm>
                        <a:off x="2970164" y="2599441"/>
                        <a:ext cx="2298700" cy="914400"/>
                      </a:xfrm>
                      <a:prstGeom prst="rect">
                        <a:avLst/>
                      </a:prstGeom>
                    </p:spPr>
                  </p:pic>
                </p:oleObj>
              </mc:Fallback>
            </mc:AlternateContent>
          </a:graphicData>
        </a:graphic>
      </p:graphicFrame>
    </p:spTree>
    <p:extLst>
      <p:ext uri="{BB962C8B-B14F-4D97-AF65-F5344CB8AC3E}">
        <p14:creationId xmlns:p14="http://schemas.microsoft.com/office/powerpoint/2010/main" val="63933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animEffect transition="in" filter="fade">
                                      <p:cBhvr>
                                        <p:cTn id="15"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9" name="Google Shape;209;p3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20</a:t>
            </a:fld>
            <a:endParaRPr/>
          </a:p>
        </p:txBody>
      </p:sp>
      <p:sp>
        <p:nvSpPr>
          <p:cNvPr id="4" name="Rectangle 3">
            <a:extLst>
              <a:ext uri="{FF2B5EF4-FFF2-40B4-BE49-F238E27FC236}">
                <a16:creationId xmlns:a16="http://schemas.microsoft.com/office/drawing/2014/main" id="{04D42A0C-4A3C-4485-8FDC-5FC3F3EFFF1E}"/>
              </a:ext>
            </a:extLst>
          </p:cNvPr>
          <p:cNvSpPr/>
          <p:nvPr/>
        </p:nvSpPr>
        <p:spPr>
          <a:xfrm>
            <a:off x="457199" y="505004"/>
            <a:ext cx="8234313" cy="4493538"/>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quantity                   represents the total variability about the mean of the entire set of data, </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and is called the </a:t>
            </a:r>
            <a:r>
              <a:rPr lang="en-US" sz="2600" b="1" dirty="0">
                <a:latin typeface="Times New Roman" panose="02020603050405020304" pitchFamily="18" charset="0"/>
                <a:cs typeface="Times New Roman" panose="02020603050405020304" pitchFamily="18" charset="0"/>
              </a:rPr>
              <a:t>total sum of squares </a:t>
            </a:r>
            <a:r>
              <a:rPr lang="en-US" sz="2600" dirty="0">
                <a:latin typeface="Times New Roman" panose="02020603050405020304" pitchFamily="18" charset="0"/>
                <a:cs typeface="Times New Roman" panose="02020603050405020304" pitchFamily="18" charset="0"/>
              </a:rPr>
              <a:t>or </a:t>
            </a:r>
            <a:r>
              <a:rPr lang="en-US" sz="2600" b="1" dirty="0">
                <a:latin typeface="Times New Roman" panose="02020603050405020304" pitchFamily="18" charset="0"/>
                <a:cs typeface="Times New Roman" panose="02020603050405020304" pitchFamily="18" charset="0"/>
              </a:rPr>
              <a:t>SS (Total)</a:t>
            </a:r>
            <a:r>
              <a:rPr lang="en-US" sz="2600" dirty="0">
                <a:latin typeface="Times New Roman" panose="02020603050405020304" pitchFamily="18" charset="0"/>
                <a:cs typeface="Times New Roman" panose="02020603050405020304" pitchFamily="18" charset="0"/>
              </a:rPr>
              <a:t>.</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variability within each treatment group, or within-sample variability estimate of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(or denominator of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 is a weighted average of the sample variances from each treatment (or sample), where the weights are based on the size of each sample. We call this estimate of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the </a:t>
            </a:r>
            <a:r>
              <a:rPr lang="en-US" sz="2600" b="1" dirty="0">
                <a:latin typeface="Times New Roman" panose="02020603050405020304" pitchFamily="18" charset="0"/>
                <a:cs typeface="Times New Roman" panose="02020603050405020304" pitchFamily="18" charset="0"/>
              </a:rPr>
              <a:t>mean square due to error</a:t>
            </a:r>
            <a:r>
              <a:rPr lang="en-US" sz="2600" dirty="0">
                <a:latin typeface="Times New Roman" panose="02020603050405020304" pitchFamily="18" charset="0"/>
                <a:cs typeface="Times New Roman" panose="02020603050405020304" pitchFamily="18" charset="0"/>
              </a:rPr>
              <a:t>, or </a:t>
            </a:r>
            <a:r>
              <a:rPr lang="en-US" sz="2600" b="1" dirty="0">
                <a:latin typeface="Times New Roman" panose="02020603050405020304" pitchFamily="18" charset="0"/>
                <a:cs typeface="Times New Roman" panose="02020603050405020304" pitchFamily="18" charset="0"/>
              </a:rPr>
              <a:t>MSE</a:t>
            </a:r>
            <a:r>
              <a:rPr lang="en-US" sz="2600" dirty="0">
                <a:latin typeface="Times New Roman" panose="02020603050405020304" pitchFamily="18" charset="0"/>
                <a:cs typeface="Times New Roman" panose="02020603050405020304" pitchFamily="18" charset="0"/>
              </a:rPr>
              <a:t>. To find the MSE, first compute the </a:t>
            </a:r>
            <a:r>
              <a:rPr lang="en-US" sz="2600" b="1" dirty="0">
                <a:latin typeface="Times New Roman" panose="02020603050405020304" pitchFamily="18" charset="0"/>
                <a:cs typeface="Times New Roman" panose="02020603050405020304" pitchFamily="18" charset="0"/>
              </a:rPr>
              <a:t>sum of squares due to error</a:t>
            </a:r>
            <a:r>
              <a:rPr lang="en-US" sz="2600" dirty="0">
                <a:latin typeface="Times New Roman" panose="02020603050405020304" pitchFamily="18" charset="0"/>
                <a:cs typeface="Times New Roman" panose="02020603050405020304" pitchFamily="18" charset="0"/>
              </a:rPr>
              <a:t>, or </a:t>
            </a:r>
            <a:r>
              <a:rPr lang="en-US" sz="2600" b="1" dirty="0">
                <a:latin typeface="Times New Roman" panose="02020603050405020304" pitchFamily="18" charset="0"/>
                <a:cs typeface="Times New Roman" panose="02020603050405020304" pitchFamily="18" charset="0"/>
              </a:rPr>
              <a:t>SSE</a:t>
            </a:r>
            <a:r>
              <a:rPr lang="en-US" sz="2600" dirty="0">
                <a:latin typeface="Times New Roman" panose="02020603050405020304" pitchFamily="18" charset="0"/>
                <a:cs typeface="Times New Roman" panose="02020603050405020304" pitchFamily="18" charset="0"/>
              </a:rPr>
              <a:t>.</a:t>
            </a:r>
          </a:p>
        </p:txBody>
      </p:sp>
      <p:graphicFrame>
        <p:nvGraphicFramePr>
          <p:cNvPr id="5" name="Object 4">
            <a:extLst>
              <a:ext uri="{FF2B5EF4-FFF2-40B4-BE49-F238E27FC236}">
                <a16:creationId xmlns:a16="http://schemas.microsoft.com/office/drawing/2014/main" id="{882CD48D-FAB5-40A9-967F-009DAE80AD4D}"/>
              </a:ext>
            </a:extLst>
          </p:cNvPr>
          <p:cNvGraphicFramePr>
            <a:graphicFrameLocks noChangeAspect="1"/>
          </p:cNvGraphicFramePr>
          <p:nvPr>
            <p:extLst>
              <p:ext uri="{D42A27DB-BD31-4B8C-83A1-F6EECF244321}">
                <p14:modId xmlns:p14="http://schemas.microsoft.com/office/powerpoint/2010/main" val="1139642235"/>
              </p:ext>
            </p:extLst>
          </p:nvPr>
        </p:nvGraphicFramePr>
        <p:xfrm>
          <a:off x="2235577" y="432537"/>
          <a:ext cx="1562100" cy="533400"/>
        </p:xfrm>
        <a:graphic>
          <a:graphicData uri="http://schemas.openxmlformats.org/presentationml/2006/ole">
            <mc:AlternateContent xmlns:mc="http://schemas.openxmlformats.org/markup-compatibility/2006">
              <mc:Choice xmlns:v="urn:schemas-microsoft-com:vml" Requires="v">
                <p:oleObj spid="_x0000_s49601" name="Equation" r:id="rId4" imgW="1562040" imgH="533160" progId="Equation.DSMT4">
                  <p:embed/>
                </p:oleObj>
              </mc:Choice>
              <mc:Fallback>
                <p:oleObj name="Equation" r:id="rId4" imgW="1562040" imgH="533160" progId="Equation.DSMT4">
                  <p:embed/>
                  <p:pic>
                    <p:nvPicPr>
                      <p:cNvPr id="5" name="Object 4">
                        <a:extLst>
                          <a:ext uri="{FF2B5EF4-FFF2-40B4-BE49-F238E27FC236}">
                            <a16:creationId xmlns:a16="http://schemas.microsoft.com/office/drawing/2014/main" id="{882CD48D-FAB5-40A9-967F-009DAE80AD4D}"/>
                          </a:ext>
                        </a:extLst>
                      </p:cNvPr>
                      <p:cNvPicPr/>
                      <p:nvPr/>
                    </p:nvPicPr>
                    <p:blipFill>
                      <a:blip r:embed="rId5"/>
                      <a:stretch>
                        <a:fillRect/>
                      </a:stretch>
                    </p:blipFill>
                    <p:spPr>
                      <a:xfrm>
                        <a:off x="2235577" y="432537"/>
                        <a:ext cx="1562100" cy="533400"/>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EFBCFF71-A1B1-49EA-81E2-D098EB660E9A}"/>
              </a:ext>
            </a:extLst>
          </p:cNvPr>
          <p:cNvGraphicFramePr>
            <a:graphicFrameLocks noChangeAspect="1"/>
          </p:cNvGraphicFramePr>
          <p:nvPr>
            <p:extLst>
              <p:ext uri="{D42A27DB-BD31-4B8C-83A1-F6EECF244321}">
                <p14:modId xmlns:p14="http://schemas.microsoft.com/office/powerpoint/2010/main" val="1452016654"/>
              </p:ext>
            </p:extLst>
          </p:nvPr>
        </p:nvGraphicFramePr>
        <p:xfrm>
          <a:off x="4985208" y="1029568"/>
          <a:ext cx="304800" cy="330200"/>
        </p:xfrm>
        <a:graphic>
          <a:graphicData uri="http://schemas.openxmlformats.org/presentationml/2006/ole">
            <mc:AlternateContent xmlns:mc="http://schemas.openxmlformats.org/markup-compatibility/2006">
              <mc:Choice xmlns:v="urn:schemas-microsoft-com:vml" Requires="v">
                <p:oleObj spid="_x0000_s49602" name="Equation" r:id="rId6" imgW="304560" imgH="330120" progId="Equation.DSMT4">
                  <p:embed/>
                </p:oleObj>
              </mc:Choice>
              <mc:Fallback>
                <p:oleObj name="Equation" r:id="rId6" imgW="304560" imgH="330120" progId="Equation.DSMT4">
                  <p:embed/>
                  <p:pic>
                    <p:nvPicPr>
                      <p:cNvPr id="0" name=""/>
                      <p:cNvPicPr/>
                      <p:nvPr/>
                    </p:nvPicPr>
                    <p:blipFill>
                      <a:blip r:embed="rId7"/>
                      <a:stretch>
                        <a:fillRect/>
                      </a:stretch>
                    </p:blipFill>
                    <p:spPr>
                      <a:xfrm>
                        <a:off x="4985208" y="1029568"/>
                        <a:ext cx="304800" cy="3302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D1044D61-814D-4F10-BC9B-0574C23AD5D0}"/>
              </a:ext>
            </a:extLst>
          </p:cNvPr>
          <p:cNvGraphicFramePr>
            <a:graphicFrameLocks noChangeAspect="1"/>
          </p:cNvGraphicFramePr>
          <p:nvPr>
            <p:extLst>
              <p:ext uri="{D42A27DB-BD31-4B8C-83A1-F6EECF244321}">
                <p14:modId xmlns:p14="http://schemas.microsoft.com/office/powerpoint/2010/main" val="2641991995"/>
              </p:ext>
            </p:extLst>
          </p:nvPr>
        </p:nvGraphicFramePr>
        <p:xfrm>
          <a:off x="1403612" y="5248868"/>
          <a:ext cx="5676900" cy="444500"/>
        </p:xfrm>
        <a:graphic>
          <a:graphicData uri="http://schemas.openxmlformats.org/presentationml/2006/ole">
            <mc:AlternateContent xmlns:mc="http://schemas.openxmlformats.org/markup-compatibility/2006">
              <mc:Choice xmlns:v="urn:schemas-microsoft-com:vml" Requires="v">
                <p:oleObj spid="_x0000_s49603" name="Equation" r:id="rId8" imgW="5676840" imgH="444240" progId="Equation.DSMT4">
                  <p:embed/>
                </p:oleObj>
              </mc:Choice>
              <mc:Fallback>
                <p:oleObj name="Equation" r:id="rId8" imgW="5676840" imgH="444240" progId="Equation.DSMT4">
                  <p:embed/>
                  <p:pic>
                    <p:nvPicPr>
                      <p:cNvPr id="0" name=""/>
                      <p:cNvPicPr/>
                      <p:nvPr/>
                    </p:nvPicPr>
                    <p:blipFill>
                      <a:blip r:embed="rId9"/>
                      <a:stretch>
                        <a:fillRect/>
                      </a:stretch>
                    </p:blipFill>
                    <p:spPr>
                      <a:xfrm>
                        <a:off x="1403612" y="5248868"/>
                        <a:ext cx="5676900" cy="444500"/>
                      </a:xfrm>
                      <a:prstGeom prst="rect">
                        <a:avLst/>
                      </a:prstGeom>
                    </p:spPr>
                  </p:pic>
                </p:oleObj>
              </mc:Fallback>
            </mc:AlternateContent>
          </a:graphicData>
        </a:graphic>
      </p:graphicFrame>
    </p:spTree>
    <p:extLst>
      <p:ext uri="{BB962C8B-B14F-4D97-AF65-F5344CB8AC3E}">
        <p14:creationId xmlns:p14="http://schemas.microsoft.com/office/powerpoint/2010/main" val="1375519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9" name="Google Shape;209;p3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21</a:t>
            </a:fld>
            <a:endParaRPr/>
          </a:p>
        </p:txBody>
      </p:sp>
      <p:sp>
        <p:nvSpPr>
          <p:cNvPr id="4" name="Rectangle 3">
            <a:extLst>
              <a:ext uri="{FF2B5EF4-FFF2-40B4-BE49-F238E27FC236}">
                <a16:creationId xmlns:a16="http://schemas.microsoft.com/office/drawing/2014/main" id="{04D42A0C-4A3C-4485-8FDC-5FC3F3EFFF1E}"/>
              </a:ext>
            </a:extLst>
          </p:cNvPr>
          <p:cNvSpPr/>
          <p:nvPr/>
        </p:nvSpPr>
        <p:spPr>
          <a:xfrm>
            <a:off x="457199" y="505004"/>
            <a:ext cx="8234313" cy="5693866"/>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mean square due to error is an unbiased estimator of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whether the null hypothesis of equal means is true or not. It is computed as follows: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between-sample variability estimate of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30000" dirty="0">
                <a:latin typeface="Times New Roman" panose="02020603050405020304" pitchFamily="18" charset="0"/>
                <a:cs typeface="Times New Roman" panose="02020603050405020304" pitchFamily="18" charset="0"/>
              </a:rPr>
              <a:t>2 </a:t>
            </a:r>
            <a:r>
              <a:rPr lang="en-US" sz="2600" dirty="0">
                <a:latin typeface="Times New Roman" panose="02020603050405020304" pitchFamily="18" charset="0"/>
                <a:cs typeface="Times New Roman" panose="02020603050405020304" pitchFamily="18" charset="0"/>
              </a:rPr>
              <a:t> (or numerator of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 is called the </a:t>
            </a:r>
            <a:r>
              <a:rPr lang="en-US" sz="2600" b="1" dirty="0">
                <a:latin typeface="Times New Roman" panose="02020603050405020304" pitchFamily="18" charset="0"/>
                <a:cs typeface="Times New Roman" panose="02020603050405020304" pitchFamily="18" charset="0"/>
              </a:rPr>
              <a:t>mean square due to treatment</a:t>
            </a:r>
            <a:r>
              <a:rPr lang="en-US" sz="2600" dirty="0">
                <a:latin typeface="Times New Roman" panose="02020603050405020304" pitchFamily="18" charset="0"/>
                <a:cs typeface="Times New Roman" panose="02020603050405020304" pitchFamily="18" charset="0"/>
              </a:rPr>
              <a:t>, or </a:t>
            </a:r>
            <a:r>
              <a:rPr lang="en-US" sz="2600" b="1" dirty="0">
                <a:latin typeface="Times New Roman" panose="02020603050405020304" pitchFamily="18" charset="0"/>
                <a:cs typeface="Times New Roman" panose="02020603050405020304" pitchFamily="18" charset="0"/>
              </a:rPr>
              <a:t>MST</a:t>
            </a:r>
            <a:r>
              <a:rPr lang="en-US" sz="2600" dirty="0">
                <a:latin typeface="Times New Roman" panose="02020603050405020304" pitchFamily="18" charset="0"/>
                <a:cs typeface="Times New Roman" panose="02020603050405020304" pitchFamily="18" charset="0"/>
              </a:rPr>
              <a:t>, since any differences in the sample means could be attributed to the different levels of the treatment. </a:t>
            </a:r>
          </a:p>
        </p:txBody>
      </p:sp>
      <p:graphicFrame>
        <p:nvGraphicFramePr>
          <p:cNvPr id="3" name="Object 2">
            <a:extLst>
              <a:ext uri="{FF2B5EF4-FFF2-40B4-BE49-F238E27FC236}">
                <a16:creationId xmlns:a16="http://schemas.microsoft.com/office/drawing/2014/main" id="{D1044D61-814D-4F10-BC9B-0574C23AD5D0}"/>
              </a:ext>
            </a:extLst>
          </p:cNvPr>
          <p:cNvGraphicFramePr>
            <a:graphicFrameLocks noChangeAspect="1"/>
          </p:cNvGraphicFramePr>
          <p:nvPr>
            <p:extLst>
              <p:ext uri="{D42A27DB-BD31-4B8C-83A1-F6EECF244321}">
                <p14:modId xmlns:p14="http://schemas.microsoft.com/office/powerpoint/2010/main" val="1782786284"/>
              </p:ext>
            </p:extLst>
          </p:nvPr>
        </p:nvGraphicFramePr>
        <p:xfrm>
          <a:off x="1547109" y="1903476"/>
          <a:ext cx="5880100" cy="1790700"/>
        </p:xfrm>
        <a:graphic>
          <a:graphicData uri="http://schemas.openxmlformats.org/presentationml/2006/ole">
            <mc:AlternateContent xmlns:mc="http://schemas.openxmlformats.org/markup-compatibility/2006">
              <mc:Choice xmlns:v="urn:schemas-microsoft-com:vml" Requires="v">
                <p:oleObj spid="_x0000_s50326" name="Equation" r:id="rId4" imgW="5879880" imgH="1790640" progId="Equation.DSMT4">
                  <p:embed/>
                </p:oleObj>
              </mc:Choice>
              <mc:Fallback>
                <p:oleObj name="Equation" r:id="rId4" imgW="5879880" imgH="1790640" progId="Equation.DSMT4">
                  <p:embed/>
                  <p:pic>
                    <p:nvPicPr>
                      <p:cNvPr id="3" name="Object 2">
                        <a:extLst>
                          <a:ext uri="{FF2B5EF4-FFF2-40B4-BE49-F238E27FC236}">
                            <a16:creationId xmlns:a16="http://schemas.microsoft.com/office/drawing/2014/main" id="{D1044D61-814D-4F10-BC9B-0574C23AD5D0}"/>
                          </a:ext>
                        </a:extLst>
                      </p:cNvPr>
                      <p:cNvPicPr/>
                      <p:nvPr/>
                    </p:nvPicPr>
                    <p:blipFill>
                      <a:blip r:embed="rId5"/>
                      <a:stretch>
                        <a:fillRect/>
                      </a:stretch>
                    </p:blipFill>
                    <p:spPr>
                      <a:xfrm>
                        <a:off x="1547109" y="1903476"/>
                        <a:ext cx="5880100" cy="1790700"/>
                      </a:xfrm>
                      <a:prstGeom prst="rect">
                        <a:avLst/>
                      </a:prstGeom>
                    </p:spPr>
                  </p:pic>
                </p:oleObj>
              </mc:Fallback>
            </mc:AlternateContent>
          </a:graphicData>
        </a:graphic>
      </p:graphicFrame>
    </p:spTree>
    <p:extLst>
      <p:ext uri="{BB962C8B-B14F-4D97-AF65-F5344CB8AC3E}">
        <p14:creationId xmlns:p14="http://schemas.microsoft.com/office/powerpoint/2010/main" val="3293510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9" name="Google Shape;209;p3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22</a:t>
            </a:fld>
            <a:endParaRPr/>
          </a:p>
        </p:txBody>
      </p:sp>
      <p:sp>
        <p:nvSpPr>
          <p:cNvPr id="4" name="Rectangle 3">
            <a:extLst>
              <a:ext uri="{FF2B5EF4-FFF2-40B4-BE49-F238E27FC236}">
                <a16:creationId xmlns:a16="http://schemas.microsoft.com/office/drawing/2014/main" id="{04D42A0C-4A3C-4485-8FDC-5FC3F3EFFF1E}"/>
              </a:ext>
            </a:extLst>
          </p:cNvPr>
          <p:cNvSpPr/>
          <p:nvPr/>
        </p:nvSpPr>
        <p:spPr>
          <a:xfrm>
            <a:off x="457199" y="505004"/>
            <a:ext cx="8234313" cy="4093428"/>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To find the MST, first compute the </a:t>
            </a:r>
            <a:r>
              <a:rPr lang="en-US" sz="2600" b="1" dirty="0">
                <a:latin typeface="Times New Roman" panose="02020603050405020304" pitchFamily="18" charset="0"/>
                <a:cs typeface="Times New Roman" panose="02020603050405020304" pitchFamily="18" charset="0"/>
              </a:rPr>
              <a:t>sum of squares due to treatment </a:t>
            </a:r>
            <a:r>
              <a:rPr lang="en-US" sz="2600" dirty="0">
                <a:latin typeface="Times New Roman" panose="02020603050405020304" pitchFamily="18" charset="0"/>
                <a:cs typeface="Times New Roman" panose="02020603050405020304" pitchFamily="18" charset="0"/>
              </a:rPr>
              <a:t>or </a:t>
            </a:r>
            <a:r>
              <a:rPr lang="en-US" sz="2600" b="1" dirty="0">
                <a:latin typeface="Times New Roman" panose="02020603050405020304" pitchFamily="18" charset="0"/>
                <a:cs typeface="Times New Roman" panose="02020603050405020304" pitchFamily="18" charset="0"/>
              </a:rPr>
              <a:t>SST. </a:t>
            </a:r>
            <a:r>
              <a:rPr lang="en-US" sz="2600" dirty="0">
                <a:latin typeface="Times New Roman" panose="02020603050405020304" pitchFamily="18" charset="0"/>
                <a:cs typeface="Times New Roman" panose="02020603050405020304" pitchFamily="18" charset="0"/>
              </a:rPr>
              <a:t>The SST is the sum of the squared</a:t>
            </a:r>
          </a:p>
          <a:p>
            <a:r>
              <a:rPr lang="en-US" sz="2600" dirty="0">
                <a:latin typeface="Times New Roman" panose="02020603050405020304" pitchFamily="18" charset="0"/>
                <a:cs typeface="Times New Roman" panose="02020603050405020304" pitchFamily="18" charset="0"/>
              </a:rPr>
              <a:t>differences between each treatment (or sample) mean and the overall mean, where each squared difference is weighted by its sample size. That is,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Since there are </a:t>
            </a:r>
            <a:r>
              <a:rPr lang="en-US" sz="2600" i="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sample means and SST measures how these vary from the overall mean, this sum of squares has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 1 degrees of freedom. The MST is computed as follows:</a:t>
            </a:r>
          </a:p>
        </p:txBody>
      </p:sp>
      <p:graphicFrame>
        <p:nvGraphicFramePr>
          <p:cNvPr id="5" name="Object 4">
            <a:extLst>
              <a:ext uri="{FF2B5EF4-FFF2-40B4-BE49-F238E27FC236}">
                <a16:creationId xmlns:a16="http://schemas.microsoft.com/office/drawing/2014/main" id="{2F17F38D-E913-4B7D-8ECA-9D5195E922C3}"/>
              </a:ext>
            </a:extLst>
          </p:cNvPr>
          <p:cNvGraphicFramePr>
            <a:graphicFrameLocks noChangeAspect="1"/>
          </p:cNvGraphicFramePr>
          <p:nvPr>
            <p:extLst>
              <p:ext uri="{D42A27DB-BD31-4B8C-83A1-F6EECF244321}">
                <p14:modId xmlns:p14="http://schemas.microsoft.com/office/powerpoint/2010/main" val="3298715761"/>
              </p:ext>
            </p:extLst>
          </p:nvPr>
        </p:nvGraphicFramePr>
        <p:xfrm>
          <a:off x="1192933" y="2712956"/>
          <a:ext cx="6362700" cy="444500"/>
        </p:xfrm>
        <a:graphic>
          <a:graphicData uri="http://schemas.openxmlformats.org/presentationml/2006/ole">
            <mc:AlternateContent xmlns:mc="http://schemas.openxmlformats.org/markup-compatibility/2006">
              <mc:Choice xmlns:v="urn:schemas-microsoft-com:vml" Requires="v">
                <p:oleObj spid="_x0000_s51498" name="Equation" r:id="rId4" imgW="6362640" imgH="444240" progId="Equation.DSMT4">
                  <p:embed/>
                </p:oleObj>
              </mc:Choice>
              <mc:Fallback>
                <p:oleObj name="Equation" r:id="rId4" imgW="6362640" imgH="444240" progId="Equation.DSMT4">
                  <p:embed/>
                  <p:pic>
                    <p:nvPicPr>
                      <p:cNvPr id="3" name="Object 2">
                        <a:extLst>
                          <a:ext uri="{FF2B5EF4-FFF2-40B4-BE49-F238E27FC236}">
                            <a16:creationId xmlns:a16="http://schemas.microsoft.com/office/drawing/2014/main" id="{D1044D61-814D-4F10-BC9B-0574C23AD5D0}"/>
                          </a:ext>
                        </a:extLst>
                      </p:cNvPr>
                      <p:cNvPicPr/>
                      <p:nvPr/>
                    </p:nvPicPr>
                    <p:blipFill>
                      <a:blip r:embed="rId5"/>
                      <a:stretch>
                        <a:fillRect/>
                      </a:stretch>
                    </p:blipFill>
                    <p:spPr>
                      <a:xfrm>
                        <a:off x="1192933" y="2712956"/>
                        <a:ext cx="6362700" cy="444500"/>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3A819BE4-2384-4F22-9394-FF580813CD40}"/>
              </a:ext>
            </a:extLst>
          </p:cNvPr>
          <p:cNvGraphicFramePr>
            <a:graphicFrameLocks noChangeAspect="1"/>
          </p:cNvGraphicFramePr>
          <p:nvPr>
            <p:extLst>
              <p:ext uri="{D42A27DB-BD31-4B8C-83A1-F6EECF244321}">
                <p14:modId xmlns:p14="http://schemas.microsoft.com/office/powerpoint/2010/main" val="3311905526"/>
              </p:ext>
            </p:extLst>
          </p:nvPr>
        </p:nvGraphicFramePr>
        <p:xfrm>
          <a:off x="990600" y="4540250"/>
          <a:ext cx="6565900" cy="1790700"/>
        </p:xfrm>
        <a:graphic>
          <a:graphicData uri="http://schemas.openxmlformats.org/presentationml/2006/ole">
            <mc:AlternateContent xmlns:mc="http://schemas.openxmlformats.org/markup-compatibility/2006">
              <mc:Choice xmlns:v="urn:schemas-microsoft-com:vml" Requires="v">
                <p:oleObj spid="_x0000_s51499" name="Equation" r:id="rId6" imgW="6565680" imgH="1790640" progId="Equation.DSMT4">
                  <p:embed/>
                </p:oleObj>
              </mc:Choice>
              <mc:Fallback>
                <p:oleObj name="Equation" r:id="rId6" imgW="6565680" imgH="1790640" progId="Equation.DSMT4">
                  <p:embed/>
                  <p:pic>
                    <p:nvPicPr>
                      <p:cNvPr id="0" name=""/>
                      <p:cNvPicPr/>
                      <p:nvPr/>
                    </p:nvPicPr>
                    <p:blipFill>
                      <a:blip r:embed="rId7"/>
                      <a:stretch>
                        <a:fillRect/>
                      </a:stretch>
                    </p:blipFill>
                    <p:spPr>
                      <a:xfrm>
                        <a:off x="990600" y="4540250"/>
                        <a:ext cx="6565900" cy="1790700"/>
                      </a:xfrm>
                      <a:prstGeom prst="rect">
                        <a:avLst/>
                      </a:prstGeom>
                    </p:spPr>
                  </p:pic>
                </p:oleObj>
              </mc:Fallback>
            </mc:AlternateContent>
          </a:graphicData>
        </a:graphic>
      </p:graphicFrame>
    </p:spTree>
    <p:extLst>
      <p:ext uri="{BB962C8B-B14F-4D97-AF65-F5344CB8AC3E}">
        <p14:creationId xmlns:p14="http://schemas.microsoft.com/office/powerpoint/2010/main" val="710399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7" name="Rectangle 6">
            <a:extLst>
              <a:ext uri="{FF2B5EF4-FFF2-40B4-BE49-F238E27FC236}">
                <a16:creationId xmlns:a16="http://schemas.microsoft.com/office/drawing/2014/main" id="{B74A4081-11CF-49FE-BA05-A17550C04D47}"/>
              </a:ext>
            </a:extLst>
          </p:cNvPr>
          <p:cNvSpPr/>
          <p:nvPr/>
        </p:nvSpPr>
        <p:spPr>
          <a:xfrm>
            <a:off x="468258" y="1008668"/>
            <a:ext cx="8440075" cy="2648932"/>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Google Shape;215;p35"/>
          <p:cNvSpPr txBox="1"/>
          <p:nvPr/>
        </p:nvSpPr>
        <p:spPr>
          <a:xfrm>
            <a:off x="457200" y="1096653"/>
            <a:ext cx="8153400" cy="8382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F</a:t>
            </a:r>
            <a:r>
              <a:rPr lang="en-US" sz="3200" b="1" i="0" u="none" dirty="0">
                <a:solidFill>
                  <a:schemeClr val="tx1"/>
                </a:solidFill>
                <a:latin typeface="+mn-lt"/>
                <a:ea typeface="Times New Roman"/>
                <a:cs typeface="Times New Roman"/>
                <a:sym typeface="Times New Roman"/>
              </a:rPr>
              <a:t>-Test Statistic</a:t>
            </a:r>
            <a:endParaRPr dirty="0">
              <a:solidFill>
                <a:schemeClr val="tx1"/>
              </a:solidFill>
              <a:latin typeface="+mn-lt"/>
            </a:endParaRPr>
          </a:p>
        </p:txBody>
      </p:sp>
      <p:sp>
        <p:nvSpPr>
          <p:cNvPr id="217" name="Google Shape;217;p3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23</a:t>
            </a:fld>
            <a:endParaRPr/>
          </a:p>
        </p:txBody>
      </p:sp>
      <p:graphicFrame>
        <p:nvGraphicFramePr>
          <p:cNvPr id="2" name="Object 1">
            <a:extLst>
              <a:ext uri="{FF2B5EF4-FFF2-40B4-BE49-F238E27FC236}">
                <a16:creationId xmlns:a16="http://schemas.microsoft.com/office/drawing/2014/main" id="{63C89957-15EA-4506-B769-14C132DBB05F}"/>
              </a:ext>
            </a:extLst>
          </p:cNvPr>
          <p:cNvGraphicFramePr>
            <a:graphicFrameLocks noChangeAspect="1"/>
          </p:cNvGraphicFramePr>
          <p:nvPr>
            <p:extLst>
              <p:ext uri="{D42A27DB-BD31-4B8C-83A1-F6EECF244321}">
                <p14:modId xmlns:p14="http://schemas.microsoft.com/office/powerpoint/2010/main" val="2965788487"/>
              </p:ext>
            </p:extLst>
          </p:nvPr>
        </p:nvGraphicFramePr>
        <p:xfrm>
          <a:off x="1331913" y="2179638"/>
          <a:ext cx="6121400" cy="901700"/>
        </p:xfrm>
        <a:graphic>
          <a:graphicData uri="http://schemas.openxmlformats.org/presentationml/2006/ole">
            <mc:AlternateContent xmlns:mc="http://schemas.openxmlformats.org/markup-compatibility/2006">
              <mc:Choice xmlns:v="urn:schemas-microsoft-com:vml" Requires="v">
                <p:oleObj spid="_x0000_s52373" name="Equation" r:id="rId4" imgW="6121080" imgH="901440" progId="Equation.DSMT4">
                  <p:embed/>
                </p:oleObj>
              </mc:Choice>
              <mc:Fallback>
                <p:oleObj name="Equation" r:id="rId4" imgW="6121080" imgH="901440" progId="Equation.DSMT4">
                  <p:embed/>
                  <p:pic>
                    <p:nvPicPr>
                      <p:cNvPr id="2" name="Object 1">
                        <a:extLst>
                          <a:ext uri="{FF2B5EF4-FFF2-40B4-BE49-F238E27FC236}">
                            <a16:creationId xmlns:a16="http://schemas.microsoft.com/office/drawing/2014/main" id="{63C89957-15EA-4506-B769-14C132DBB05F}"/>
                          </a:ext>
                        </a:extLst>
                      </p:cNvPr>
                      <p:cNvPicPr/>
                      <p:nvPr/>
                    </p:nvPicPr>
                    <p:blipFill>
                      <a:blip r:embed="rId5"/>
                      <a:stretch>
                        <a:fillRect/>
                      </a:stretch>
                    </p:blipFill>
                    <p:spPr>
                      <a:xfrm>
                        <a:off x="1331913" y="2179638"/>
                        <a:ext cx="6121400" cy="901700"/>
                      </a:xfrm>
                      <a:prstGeom prst="rect">
                        <a:avLst/>
                      </a:prstGeom>
                    </p:spPr>
                  </p:pic>
                </p:oleObj>
              </mc:Fallback>
            </mc:AlternateContent>
          </a:graphicData>
        </a:graphic>
      </p:graphicFrame>
    </p:spTree>
    <p:extLst>
      <p:ext uri="{BB962C8B-B14F-4D97-AF65-F5344CB8AC3E}">
        <p14:creationId xmlns:p14="http://schemas.microsoft.com/office/powerpoint/2010/main" val="147853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16" name="Rectangle 15">
            <a:extLst>
              <a:ext uri="{FF2B5EF4-FFF2-40B4-BE49-F238E27FC236}">
                <a16:creationId xmlns:a16="http://schemas.microsoft.com/office/drawing/2014/main" id="{D2F4E61C-7C98-4B16-B098-7A14C05F1335}"/>
              </a:ext>
            </a:extLst>
          </p:cNvPr>
          <p:cNvSpPr/>
          <p:nvPr/>
        </p:nvSpPr>
        <p:spPr>
          <a:xfrm>
            <a:off x="313862" y="346446"/>
            <a:ext cx="8440075" cy="5762123"/>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5E9BE52-AE9F-4051-A223-8AFB019B9866}"/>
              </a:ext>
            </a:extLst>
          </p:cNvPr>
          <p:cNvSpPr/>
          <p:nvPr/>
        </p:nvSpPr>
        <p:spPr>
          <a:xfrm>
            <a:off x="604507" y="1001984"/>
            <a:ext cx="7747642" cy="4893647"/>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Compute the sample mean of the combined data set by adding up all the observations and dividing by the number of observations. Call this value </a:t>
            </a: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Find the sample mean for each sample (or treatment). Let     represent the sample mean of sample 1, </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represent the sample mean of sample 2, and so on.</a:t>
            </a: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3 </a:t>
            </a:r>
            <a:r>
              <a:rPr lang="en-US" sz="2600" dirty="0">
                <a:latin typeface="Times New Roman" panose="02020603050405020304" pitchFamily="18" charset="0"/>
                <a:cs typeface="Times New Roman" panose="02020603050405020304" pitchFamily="18" charset="0"/>
              </a:rPr>
              <a:t>Find the sample variance for each sample (or treatment). Let </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represent the sample variance for sample 1,     represent the sample variance for sample 2, and so on.</a:t>
            </a:r>
          </a:p>
        </p:txBody>
      </p:sp>
      <p:sp>
        <p:nvSpPr>
          <p:cNvPr id="223" name="Google Shape;223;p36"/>
          <p:cNvSpPr txBox="1"/>
          <p:nvPr/>
        </p:nvSpPr>
        <p:spPr>
          <a:xfrm>
            <a:off x="598986" y="346447"/>
            <a:ext cx="8153400" cy="8382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Computing the </a:t>
            </a:r>
            <a:r>
              <a:rPr lang="en-US" sz="3200" b="1" i="1" u="none" dirty="0">
                <a:solidFill>
                  <a:schemeClr val="tx1"/>
                </a:solidFill>
                <a:latin typeface="+mn-lt"/>
                <a:ea typeface="Times New Roman"/>
                <a:cs typeface="Times New Roman"/>
                <a:sym typeface="Times New Roman"/>
              </a:rPr>
              <a:t>F</a:t>
            </a:r>
            <a:r>
              <a:rPr lang="en-US" sz="3200" b="1" i="0" u="none" dirty="0">
                <a:solidFill>
                  <a:schemeClr val="tx1"/>
                </a:solidFill>
                <a:latin typeface="+mn-lt"/>
                <a:ea typeface="Times New Roman"/>
                <a:cs typeface="Times New Roman"/>
                <a:sym typeface="Times New Roman"/>
              </a:rPr>
              <a:t>-Test Statistic</a:t>
            </a:r>
            <a:endParaRPr sz="3200" dirty="0">
              <a:solidFill>
                <a:schemeClr val="tx1"/>
              </a:solidFill>
              <a:latin typeface="+mn-lt"/>
            </a:endParaRPr>
          </a:p>
        </p:txBody>
      </p:sp>
      <p:sp>
        <p:nvSpPr>
          <p:cNvPr id="229" name="Google Shape;229;p3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24</a:t>
            </a:fld>
            <a:endParaRPr/>
          </a:p>
        </p:txBody>
      </p:sp>
      <p:graphicFrame>
        <p:nvGraphicFramePr>
          <p:cNvPr id="3" name="Object 2">
            <a:extLst>
              <a:ext uri="{FF2B5EF4-FFF2-40B4-BE49-F238E27FC236}">
                <a16:creationId xmlns:a16="http://schemas.microsoft.com/office/drawing/2014/main" id="{D02F8181-CFC6-46FF-B0BA-ED724952CBB4}"/>
              </a:ext>
            </a:extLst>
          </p:cNvPr>
          <p:cNvGraphicFramePr>
            <a:graphicFrameLocks noChangeAspect="1"/>
          </p:cNvGraphicFramePr>
          <p:nvPr>
            <p:extLst>
              <p:ext uri="{D42A27DB-BD31-4B8C-83A1-F6EECF244321}">
                <p14:modId xmlns:p14="http://schemas.microsoft.com/office/powerpoint/2010/main" val="2041441044"/>
              </p:ext>
            </p:extLst>
          </p:nvPr>
        </p:nvGraphicFramePr>
        <p:xfrm>
          <a:off x="5939998" y="1909948"/>
          <a:ext cx="279400" cy="279400"/>
        </p:xfrm>
        <a:graphic>
          <a:graphicData uri="http://schemas.openxmlformats.org/presentationml/2006/ole">
            <mc:AlternateContent xmlns:mc="http://schemas.openxmlformats.org/markup-compatibility/2006">
              <mc:Choice xmlns:v="urn:schemas-microsoft-com:vml" Requires="v">
                <p:oleObj spid="_x0000_s53965" name="Equation" r:id="rId4" imgW="279360" imgH="279360" progId="Equation.DSMT4">
                  <p:embed/>
                </p:oleObj>
              </mc:Choice>
              <mc:Fallback>
                <p:oleObj name="Equation" r:id="rId4" imgW="279360" imgH="279360" progId="Equation.DSMT4">
                  <p:embed/>
                  <p:pic>
                    <p:nvPicPr>
                      <p:cNvPr id="0" name=""/>
                      <p:cNvPicPr/>
                      <p:nvPr/>
                    </p:nvPicPr>
                    <p:blipFill>
                      <a:blip r:embed="rId5"/>
                      <a:stretch>
                        <a:fillRect/>
                      </a:stretch>
                    </p:blipFill>
                    <p:spPr>
                      <a:xfrm>
                        <a:off x="5939998" y="1909948"/>
                        <a:ext cx="279400" cy="2794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F34849F0-B54C-418B-831B-CBABA19CDBB5}"/>
              </a:ext>
            </a:extLst>
          </p:cNvPr>
          <p:cNvGraphicFramePr>
            <a:graphicFrameLocks noChangeAspect="1"/>
          </p:cNvGraphicFramePr>
          <p:nvPr>
            <p:extLst>
              <p:ext uri="{D42A27DB-BD31-4B8C-83A1-F6EECF244321}">
                <p14:modId xmlns:p14="http://schemas.microsoft.com/office/powerpoint/2010/main" val="2174320112"/>
              </p:ext>
            </p:extLst>
          </p:nvPr>
        </p:nvGraphicFramePr>
        <p:xfrm>
          <a:off x="990600" y="3473450"/>
          <a:ext cx="292100" cy="393700"/>
        </p:xfrm>
        <a:graphic>
          <a:graphicData uri="http://schemas.openxmlformats.org/presentationml/2006/ole">
            <mc:AlternateContent xmlns:mc="http://schemas.openxmlformats.org/markup-compatibility/2006">
              <mc:Choice xmlns:v="urn:schemas-microsoft-com:vml" Requires="v">
                <p:oleObj spid="_x0000_s53966" name="Equation" r:id="rId6" imgW="291960" imgH="393480" progId="Equation.DSMT4">
                  <p:embed/>
                </p:oleObj>
              </mc:Choice>
              <mc:Fallback>
                <p:oleObj name="Equation" r:id="rId6" imgW="291960" imgH="393480" progId="Equation.DSMT4">
                  <p:embed/>
                  <p:pic>
                    <p:nvPicPr>
                      <p:cNvPr id="0" name=""/>
                      <p:cNvPicPr/>
                      <p:nvPr/>
                    </p:nvPicPr>
                    <p:blipFill>
                      <a:blip r:embed="rId7"/>
                      <a:stretch>
                        <a:fillRect/>
                      </a:stretch>
                    </p:blipFill>
                    <p:spPr>
                      <a:xfrm>
                        <a:off x="990600" y="3473450"/>
                        <a:ext cx="292100" cy="3937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83796293-755D-4096-8F3D-EC2B847B5C1B}"/>
              </a:ext>
            </a:extLst>
          </p:cNvPr>
          <p:cNvGraphicFramePr>
            <a:graphicFrameLocks noChangeAspect="1"/>
          </p:cNvGraphicFramePr>
          <p:nvPr>
            <p:extLst>
              <p:ext uri="{D42A27DB-BD31-4B8C-83A1-F6EECF244321}">
                <p14:modId xmlns:p14="http://schemas.microsoft.com/office/powerpoint/2010/main" val="4153131960"/>
              </p:ext>
            </p:extLst>
          </p:nvPr>
        </p:nvGraphicFramePr>
        <p:xfrm>
          <a:off x="2724150" y="4581525"/>
          <a:ext cx="292100" cy="444500"/>
        </p:xfrm>
        <a:graphic>
          <a:graphicData uri="http://schemas.openxmlformats.org/presentationml/2006/ole">
            <mc:AlternateContent xmlns:mc="http://schemas.openxmlformats.org/markup-compatibility/2006">
              <mc:Choice xmlns:v="urn:schemas-microsoft-com:vml" Requires="v">
                <p:oleObj spid="_x0000_s53967" name="Equation" r:id="rId8" imgW="291960" imgH="444240" progId="Equation.DSMT4">
                  <p:embed/>
                </p:oleObj>
              </mc:Choice>
              <mc:Fallback>
                <p:oleObj name="Equation" r:id="rId8" imgW="291960" imgH="444240" progId="Equation.DSMT4">
                  <p:embed/>
                  <p:pic>
                    <p:nvPicPr>
                      <p:cNvPr id="0" name=""/>
                      <p:cNvPicPr/>
                      <p:nvPr/>
                    </p:nvPicPr>
                    <p:blipFill>
                      <a:blip r:embed="rId9"/>
                      <a:stretch>
                        <a:fillRect/>
                      </a:stretch>
                    </p:blipFill>
                    <p:spPr>
                      <a:xfrm>
                        <a:off x="2724150" y="4581525"/>
                        <a:ext cx="292100" cy="4445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C0144A49-A156-469C-A18E-69C130BC6016}"/>
              </a:ext>
            </a:extLst>
          </p:cNvPr>
          <p:cNvGraphicFramePr>
            <a:graphicFrameLocks noChangeAspect="1"/>
          </p:cNvGraphicFramePr>
          <p:nvPr>
            <p:extLst>
              <p:ext uri="{D42A27DB-BD31-4B8C-83A1-F6EECF244321}">
                <p14:modId xmlns:p14="http://schemas.microsoft.com/office/powerpoint/2010/main" val="2051380187"/>
              </p:ext>
            </p:extLst>
          </p:nvPr>
        </p:nvGraphicFramePr>
        <p:xfrm>
          <a:off x="1992555" y="4988317"/>
          <a:ext cx="292100" cy="444500"/>
        </p:xfrm>
        <a:graphic>
          <a:graphicData uri="http://schemas.openxmlformats.org/presentationml/2006/ole">
            <mc:AlternateContent xmlns:mc="http://schemas.openxmlformats.org/markup-compatibility/2006">
              <mc:Choice xmlns:v="urn:schemas-microsoft-com:vml" Requires="v">
                <p:oleObj spid="_x0000_s53968" name="Equation" r:id="rId10" imgW="291960" imgH="444240" progId="Equation.DSMT4">
                  <p:embed/>
                </p:oleObj>
              </mc:Choice>
              <mc:Fallback>
                <p:oleObj name="Equation" r:id="rId10" imgW="291960" imgH="444240" progId="Equation.DSMT4">
                  <p:embed/>
                  <p:pic>
                    <p:nvPicPr>
                      <p:cNvPr id="0" name=""/>
                      <p:cNvPicPr/>
                      <p:nvPr/>
                    </p:nvPicPr>
                    <p:blipFill>
                      <a:blip r:embed="rId11"/>
                      <a:stretch>
                        <a:fillRect/>
                      </a:stretch>
                    </p:blipFill>
                    <p:spPr>
                      <a:xfrm>
                        <a:off x="1992555" y="4988317"/>
                        <a:ext cx="292100" cy="4445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20CDFF7A-D0F4-4051-9D36-A7E249C17AB7}"/>
              </a:ext>
            </a:extLst>
          </p:cNvPr>
          <p:cNvGraphicFramePr>
            <a:graphicFrameLocks noChangeAspect="1"/>
          </p:cNvGraphicFramePr>
          <p:nvPr>
            <p:extLst>
              <p:ext uri="{D42A27DB-BD31-4B8C-83A1-F6EECF244321}">
                <p14:modId xmlns:p14="http://schemas.microsoft.com/office/powerpoint/2010/main" val="1729688734"/>
              </p:ext>
            </p:extLst>
          </p:nvPr>
        </p:nvGraphicFramePr>
        <p:xfrm>
          <a:off x="2736850" y="3079750"/>
          <a:ext cx="266700" cy="393700"/>
        </p:xfrm>
        <a:graphic>
          <a:graphicData uri="http://schemas.openxmlformats.org/presentationml/2006/ole">
            <mc:AlternateContent xmlns:mc="http://schemas.openxmlformats.org/markup-compatibility/2006">
              <mc:Choice xmlns:v="urn:schemas-microsoft-com:vml" Requires="v">
                <p:oleObj spid="_x0000_s53969" name="Equation" r:id="rId12" imgW="266400" imgH="393480" progId="Equation.DSMT4">
                  <p:embed/>
                </p:oleObj>
              </mc:Choice>
              <mc:Fallback>
                <p:oleObj name="Equation" r:id="rId12" imgW="266400" imgH="393480" progId="Equation.DSMT4">
                  <p:embed/>
                  <p:pic>
                    <p:nvPicPr>
                      <p:cNvPr id="0" name=""/>
                      <p:cNvPicPr/>
                      <p:nvPr/>
                    </p:nvPicPr>
                    <p:blipFill>
                      <a:blip r:embed="rId13"/>
                      <a:stretch>
                        <a:fillRect/>
                      </a:stretch>
                    </p:blipFill>
                    <p:spPr>
                      <a:xfrm>
                        <a:off x="2736850" y="3079750"/>
                        <a:ext cx="266700" cy="393700"/>
                      </a:xfrm>
                      <a:prstGeom prst="rect">
                        <a:avLst/>
                      </a:prstGeom>
                    </p:spPr>
                  </p:pic>
                </p:oleObj>
              </mc:Fallback>
            </mc:AlternateContent>
          </a:graphicData>
        </a:graphic>
      </p:graphicFrame>
    </p:spTree>
    <p:extLst>
      <p:ext uri="{BB962C8B-B14F-4D97-AF65-F5344CB8AC3E}">
        <p14:creationId xmlns:p14="http://schemas.microsoft.com/office/powerpoint/2010/main" val="3162050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xEl>
                                              <p:pRg st="4" end="4"/>
                                            </p:txEl>
                                          </p:spTgt>
                                        </p:tgtEl>
                                        <p:attrNameLst>
                                          <p:attrName>style.visibility</p:attrName>
                                        </p:attrNameLst>
                                      </p:cBhvr>
                                      <p:to>
                                        <p:strVal val="visible"/>
                                      </p:to>
                                    </p:set>
                                    <p:animEffect transition="in" filter="fade">
                                      <p:cBhvr>
                                        <p:cTn id="18" dur="500"/>
                                        <p:tgtEl>
                                          <p:spTgt spid="10">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16" name="Rectangle 15">
            <a:extLst>
              <a:ext uri="{FF2B5EF4-FFF2-40B4-BE49-F238E27FC236}">
                <a16:creationId xmlns:a16="http://schemas.microsoft.com/office/drawing/2014/main" id="{D2F4E61C-7C98-4B16-B098-7A14C05F1335}"/>
              </a:ext>
            </a:extLst>
          </p:cNvPr>
          <p:cNvSpPr/>
          <p:nvPr/>
        </p:nvSpPr>
        <p:spPr>
          <a:xfrm>
            <a:off x="313862" y="346446"/>
            <a:ext cx="8440075" cy="538505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5E9BE52-AE9F-4051-A223-8AFB019B9866}"/>
              </a:ext>
            </a:extLst>
          </p:cNvPr>
          <p:cNvSpPr/>
          <p:nvPr/>
        </p:nvSpPr>
        <p:spPr>
          <a:xfrm>
            <a:off x="604507" y="1001984"/>
            <a:ext cx="7747642" cy="3293209"/>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Compute the sum of squares due to treatments, SST, and the sum of squares due to error, SSE.</a:t>
            </a: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Divide each sum of squares by its corresponding degrees of freedom (</a:t>
            </a:r>
            <a:r>
              <a:rPr lang="en-US" sz="2600" i="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 1 and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k</a:t>
            </a:r>
            <a:r>
              <a:rPr lang="en-US" sz="2600" dirty="0">
                <a:latin typeface="Times New Roman" panose="02020603050405020304" pitchFamily="18" charset="0"/>
                <a:cs typeface="Times New Roman" panose="02020603050405020304" pitchFamily="18" charset="0"/>
              </a:rPr>
              <a:t>, respectively) to obtain the mean squares, MST and MSE.</a:t>
            </a: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6 </a:t>
            </a:r>
            <a:r>
              <a:rPr lang="en-US" sz="2600" dirty="0">
                <a:latin typeface="Times New Roman" panose="02020603050405020304" pitchFamily="18" charset="0"/>
                <a:cs typeface="Times New Roman" panose="02020603050405020304" pitchFamily="18" charset="0"/>
              </a:rPr>
              <a:t>Compute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a:t>
            </a:r>
          </a:p>
        </p:txBody>
      </p:sp>
      <p:sp>
        <p:nvSpPr>
          <p:cNvPr id="223" name="Google Shape;223;p36"/>
          <p:cNvSpPr txBox="1"/>
          <p:nvPr/>
        </p:nvSpPr>
        <p:spPr>
          <a:xfrm>
            <a:off x="598986" y="346447"/>
            <a:ext cx="8153400" cy="8382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Computing the </a:t>
            </a:r>
            <a:r>
              <a:rPr lang="en-US" sz="3200" b="1" i="1" u="none" dirty="0">
                <a:solidFill>
                  <a:schemeClr val="tx1"/>
                </a:solidFill>
                <a:latin typeface="+mn-lt"/>
                <a:ea typeface="Times New Roman"/>
                <a:cs typeface="Times New Roman"/>
                <a:sym typeface="Times New Roman"/>
              </a:rPr>
              <a:t>F</a:t>
            </a:r>
            <a:r>
              <a:rPr lang="en-US" sz="3200" b="1" i="0" u="none" dirty="0">
                <a:solidFill>
                  <a:schemeClr val="tx1"/>
                </a:solidFill>
                <a:latin typeface="+mn-lt"/>
                <a:ea typeface="Times New Roman"/>
                <a:cs typeface="Times New Roman"/>
                <a:sym typeface="Times New Roman"/>
              </a:rPr>
              <a:t>-Test Statistic</a:t>
            </a:r>
            <a:endParaRPr sz="3200" dirty="0">
              <a:solidFill>
                <a:schemeClr val="tx1"/>
              </a:solidFill>
              <a:latin typeface="+mn-lt"/>
            </a:endParaRPr>
          </a:p>
        </p:txBody>
      </p:sp>
      <p:sp>
        <p:nvSpPr>
          <p:cNvPr id="229" name="Google Shape;229;p3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25</a:t>
            </a:fld>
            <a:endParaRPr/>
          </a:p>
        </p:txBody>
      </p:sp>
      <p:graphicFrame>
        <p:nvGraphicFramePr>
          <p:cNvPr id="12" name="Object 11">
            <a:extLst>
              <a:ext uri="{FF2B5EF4-FFF2-40B4-BE49-F238E27FC236}">
                <a16:creationId xmlns:a16="http://schemas.microsoft.com/office/drawing/2014/main" id="{E9ABC76E-ACBA-41E5-855C-B2EA98A42F58}"/>
              </a:ext>
            </a:extLst>
          </p:cNvPr>
          <p:cNvGraphicFramePr>
            <a:graphicFrameLocks noChangeAspect="1"/>
          </p:cNvGraphicFramePr>
          <p:nvPr>
            <p:extLst>
              <p:ext uri="{D42A27DB-BD31-4B8C-83A1-F6EECF244321}">
                <p14:modId xmlns:p14="http://schemas.microsoft.com/office/powerpoint/2010/main" val="1954490740"/>
              </p:ext>
            </p:extLst>
          </p:nvPr>
        </p:nvGraphicFramePr>
        <p:xfrm>
          <a:off x="1639878" y="4412255"/>
          <a:ext cx="5676900" cy="850900"/>
        </p:xfrm>
        <a:graphic>
          <a:graphicData uri="http://schemas.openxmlformats.org/presentationml/2006/ole">
            <mc:AlternateContent xmlns:mc="http://schemas.openxmlformats.org/markup-compatibility/2006">
              <mc:Choice xmlns:v="urn:schemas-microsoft-com:vml" Requires="v">
                <p:oleObj spid="_x0000_s54415" name="Equation" r:id="rId4" imgW="5676840" imgH="850680" progId="Equation.DSMT4">
                  <p:embed/>
                </p:oleObj>
              </mc:Choice>
              <mc:Fallback>
                <p:oleObj name="Equation" r:id="rId4" imgW="5676840" imgH="850680" progId="Equation.DSMT4">
                  <p:embed/>
                  <p:pic>
                    <p:nvPicPr>
                      <p:cNvPr id="2" name="Object 1">
                        <a:extLst>
                          <a:ext uri="{FF2B5EF4-FFF2-40B4-BE49-F238E27FC236}">
                            <a16:creationId xmlns:a16="http://schemas.microsoft.com/office/drawing/2014/main" id="{63C89957-15EA-4506-B769-14C132DBB05F}"/>
                          </a:ext>
                        </a:extLst>
                      </p:cNvPr>
                      <p:cNvPicPr/>
                      <p:nvPr/>
                    </p:nvPicPr>
                    <p:blipFill>
                      <a:blip r:embed="rId5"/>
                      <a:stretch>
                        <a:fillRect/>
                      </a:stretch>
                    </p:blipFill>
                    <p:spPr>
                      <a:xfrm>
                        <a:off x="1639878" y="4412255"/>
                        <a:ext cx="5676900" cy="850900"/>
                      </a:xfrm>
                      <a:prstGeom prst="rect">
                        <a:avLst/>
                      </a:prstGeom>
                    </p:spPr>
                  </p:pic>
                </p:oleObj>
              </mc:Fallback>
            </mc:AlternateContent>
          </a:graphicData>
        </a:graphic>
      </p:graphicFrame>
    </p:spTree>
    <p:extLst>
      <p:ext uri="{BB962C8B-B14F-4D97-AF65-F5344CB8AC3E}">
        <p14:creationId xmlns:p14="http://schemas.microsoft.com/office/powerpoint/2010/main" val="231161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4" end="4"/>
                                            </p:txEl>
                                          </p:spTgt>
                                        </p:tgtEl>
                                        <p:attrNameLst>
                                          <p:attrName>style.visibility</p:attrName>
                                        </p:attrNameLst>
                                      </p:cBhvr>
                                      <p:to>
                                        <p:strVal val="visible"/>
                                      </p:to>
                                    </p:set>
                                    <p:animEffect transition="in" filter="fade">
                                      <p:cBhvr>
                                        <p:cTn id="12" dur="500"/>
                                        <p:tgtEl>
                                          <p:spTgt spid="10">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26</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Computing the </a:t>
            </a:r>
            <a:r>
              <a:rPr lang="en-US" sz="2400" b="0" i="1" u="none" dirty="0">
                <a:solidFill>
                  <a:schemeClr val="dk1"/>
                </a:solidFill>
                <a:latin typeface="Times New Roman" panose="02020603050405020304" pitchFamily="18" charset="0"/>
                <a:cs typeface="Times New Roman" panose="02020603050405020304" pitchFamily="18" charset="0"/>
                <a:sym typeface="Arial"/>
              </a:rPr>
              <a:t>F</a:t>
            </a:r>
            <a:r>
              <a:rPr lang="en-US" sz="2400" b="0" i="1" u="none" dirty="0">
                <a:solidFill>
                  <a:schemeClr val="dk1"/>
                </a:solidFill>
                <a:latin typeface="Arial"/>
                <a:ea typeface="Arial"/>
                <a:cs typeface="Arial"/>
                <a:sym typeface="Arial"/>
              </a:rPr>
              <a:t>-Test Statistic by Hand</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3) </a:t>
            </a:r>
            <a:endParaRPr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4339650"/>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Compute the </a:t>
            </a:r>
            <a:r>
              <a:rPr lang="en-US" sz="2800" i="1" dirty="0">
                <a:latin typeface="Times New Roman" panose="02020603050405020304" pitchFamily="18" charset="0"/>
                <a:cs typeface="Times New Roman" panose="02020603050405020304" pitchFamily="18" charset="0"/>
              </a:rPr>
              <a:t>F</a:t>
            </a:r>
            <a:r>
              <a:rPr lang="en-US" sz="2800" dirty="0">
                <a:latin typeface="Times New Roman" panose="02020603050405020304" pitchFamily="18" charset="0"/>
                <a:cs typeface="Times New Roman" panose="02020603050405020304" pitchFamily="18" charset="0"/>
              </a:rPr>
              <a:t>-test statistic for the data in Table 2(a). The data are presented again for convenience.</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Compute the mean of the entire set of data, or the overall mean.</a:t>
            </a:r>
          </a:p>
        </p:txBody>
      </p:sp>
      <p:pic>
        <p:nvPicPr>
          <p:cNvPr id="6" name="Picture 5" descr="A picture containing clock&#10;&#10;Description automatically generated">
            <a:extLst>
              <a:ext uri="{FF2B5EF4-FFF2-40B4-BE49-F238E27FC236}">
                <a16:creationId xmlns:a16="http://schemas.microsoft.com/office/drawing/2014/main" id="{25D7503D-32B5-41A0-8515-6B4704488331}"/>
              </a:ext>
            </a:extLst>
          </p:cNvPr>
          <p:cNvPicPr>
            <a:picLocks noChangeAspect="1"/>
          </p:cNvPicPr>
          <p:nvPr/>
        </p:nvPicPr>
        <p:blipFill>
          <a:blip r:embed="rId4"/>
          <a:stretch>
            <a:fillRect/>
          </a:stretch>
        </p:blipFill>
        <p:spPr>
          <a:xfrm>
            <a:off x="3408423" y="2083241"/>
            <a:ext cx="2327153" cy="2382017"/>
          </a:xfrm>
          <a:prstGeom prst="rect">
            <a:avLst/>
          </a:prstGeom>
        </p:spPr>
      </p:pic>
      <p:graphicFrame>
        <p:nvGraphicFramePr>
          <p:cNvPr id="8" name="Object 7">
            <a:extLst>
              <a:ext uri="{FF2B5EF4-FFF2-40B4-BE49-F238E27FC236}">
                <a16:creationId xmlns:a16="http://schemas.microsoft.com/office/drawing/2014/main" id="{7AB1ECD3-9AE1-45B2-B2F8-B53AC67644DB}"/>
              </a:ext>
            </a:extLst>
          </p:cNvPr>
          <p:cNvGraphicFramePr>
            <a:graphicFrameLocks noChangeAspect="1"/>
          </p:cNvGraphicFramePr>
          <p:nvPr>
            <p:extLst>
              <p:ext uri="{D42A27DB-BD31-4B8C-83A1-F6EECF244321}">
                <p14:modId xmlns:p14="http://schemas.microsoft.com/office/powerpoint/2010/main" val="4208712254"/>
              </p:ext>
            </p:extLst>
          </p:nvPr>
        </p:nvGraphicFramePr>
        <p:xfrm>
          <a:off x="2622549" y="5259289"/>
          <a:ext cx="3898900" cy="787400"/>
        </p:xfrm>
        <a:graphic>
          <a:graphicData uri="http://schemas.openxmlformats.org/presentationml/2006/ole">
            <mc:AlternateContent xmlns:mc="http://schemas.openxmlformats.org/markup-compatibility/2006">
              <mc:Choice xmlns:v="urn:schemas-microsoft-com:vml" Requires="v">
                <p:oleObj spid="_x0000_s55437" name="Equation" r:id="rId5" imgW="3898800" imgH="787320" progId="Equation.DSMT4">
                  <p:embed/>
                </p:oleObj>
              </mc:Choice>
              <mc:Fallback>
                <p:oleObj name="Equation" r:id="rId5" imgW="3898800" imgH="787320" progId="Equation.DSMT4">
                  <p:embed/>
                  <p:pic>
                    <p:nvPicPr>
                      <p:cNvPr id="0" name=""/>
                      <p:cNvPicPr/>
                      <p:nvPr/>
                    </p:nvPicPr>
                    <p:blipFill>
                      <a:blip r:embed="rId6"/>
                      <a:stretch>
                        <a:fillRect/>
                      </a:stretch>
                    </p:blipFill>
                    <p:spPr>
                      <a:xfrm>
                        <a:off x="2622549" y="5259289"/>
                        <a:ext cx="3898900" cy="787400"/>
                      </a:xfrm>
                      <a:prstGeom prst="rect">
                        <a:avLst/>
                      </a:prstGeom>
                    </p:spPr>
                  </p:pic>
                </p:oleObj>
              </mc:Fallback>
            </mc:AlternateContent>
          </a:graphicData>
        </a:graphic>
      </p:graphicFrame>
    </p:spTree>
    <p:extLst>
      <p:ext uri="{BB962C8B-B14F-4D97-AF65-F5344CB8AC3E}">
        <p14:creationId xmlns:p14="http://schemas.microsoft.com/office/powerpoint/2010/main" val="3562479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27</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Computing the </a:t>
            </a:r>
            <a:r>
              <a:rPr lang="en-US" sz="2400" b="0" i="1" u="none" dirty="0">
                <a:solidFill>
                  <a:schemeClr val="dk1"/>
                </a:solidFill>
                <a:latin typeface="Times New Roman" panose="02020603050405020304" pitchFamily="18" charset="0"/>
                <a:cs typeface="Times New Roman" panose="02020603050405020304" pitchFamily="18" charset="0"/>
                <a:sym typeface="Arial"/>
              </a:rPr>
              <a:t>F</a:t>
            </a:r>
            <a:r>
              <a:rPr lang="en-US" sz="2400" b="0" i="1" u="none" dirty="0">
                <a:solidFill>
                  <a:schemeClr val="dk1"/>
                </a:solidFill>
                <a:latin typeface="Arial"/>
                <a:ea typeface="Arial"/>
                <a:cs typeface="Arial"/>
                <a:sym typeface="Arial"/>
              </a:rPr>
              <a:t>-Test Statistic by Hand</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3) </a:t>
            </a:r>
            <a:endParaRPr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5016758"/>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Find the sample mean for each treatment (or sample).</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3 </a:t>
            </a:r>
            <a:r>
              <a:rPr lang="en-US" sz="2600" dirty="0">
                <a:latin typeface="Times New Roman" panose="02020603050405020304" pitchFamily="18" charset="0"/>
                <a:cs typeface="Times New Roman" panose="02020603050405020304" pitchFamily="18" charset="0"/>
              </a:rPr>
              <a:t>Find the sample variance for each treatment (or sample).</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Compute the sum of squares due to treatment, SST, and the sum of squares due to error, SSE.</a:t>
            </a:r>
          </a:p>
          <a:p>
            <a:endParaRPr lang="en-US" sz="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SST = 5(5 – 8)</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+ 5(8 – 8)</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+ 5(11 – 8)</a:t>
            </a:r>
            <a:r>
              <a:rPr lang="en-US" sz="2600" baseline="30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 90</a:t>
            </a:r>
          </a:p>
          <a:p>
            <a:r>
              <a:rPr lang="en-US" sz="2600" dirty="0">
                <a:latin typeface="Times New Roman" panose="02020603050405020304" pitchFamily="18" charset="0"/>
                <a:cs typeface="Times New Roman" panose="02020603050405020304" pitchFamily="18" charset="0"/>
              </a:rPr>
              <a:t>            SSE = (5 – 1)1 + (5 – 1)1 + (5 – 1)1.5 = 14</a:t>
            </a:r>
          </a:p>
        </p:txBody>
      </p:sp>
      <p:graphicFrame>
        <p:nvGraphicFramePr>
          <p:cNvPr id="2" name="Object 1">
            <a:extLst>
              <a:ext uri="{FF2B5EF4-FFF2-40B4-BE49-F238E27FC236}">
                <a16:creationId xmlns:a16="http://schemas.microsoft.com/office/drawing/2014/main" id="{7830537E-C944-4AE7-9029-367829848EAD}"/>
              </a:ext>
            </a:extLst>
          </p:cNvPr>
          <p:cNvGraphicFramePr>
            <a:graphicFrameLocks noChangeAspect="1"/>
          </p:cNvGraphicFramePr>
          <p:nvPr>
            <p:extLst>
              <p:ext uri="{D42A27DB-BD31-4B8C-83A1-F6EECF244321}">
                <p14:modId xmlns:p14="http://schemas.microsoft.com/office/powerpoint/2010/main" val="3796488169"/>
              </p:ext>
            </p:extLst>
          </p:nvPr>
        </p:nvGraphicFramePr>
        <p:xfrm>
          <a:off x="2651125" y="1768475"/>
          <a:ext cx="3200400" cy="393700"/>
        </p:xfrm>
        <a:graphic>
          <a:graphicData uri="http://schemas.openxmlformats.org/presentationml/2006/ole">
            <mc:AlternateContent xmlns:mc="http://schemas.openxmlformats.org/markup-compatibility/2006">
              <mc:Choice xmlns:v="urn:schemas-microsoft-com:vml" Requires="v">
                <p:oleObj spid="_x0000_s56736" name="Equation" r:id="rId4" imgW="3200400" imgH="393480" progId="Equation.DSMT4">
                  <p:embed/>
                </p:oleObj>
              </mc:Choice>
              <mc:Fallback>
                <p:oleObj name="Equation" r:id="rId4" imgW="3200400" imgH="393480" progId="Equation.DSMT4">
                  <p:embed/>
                  <p:pic>
                    <p:nvPicPr>
                      <p:cNvPr id="0" name=""/>
                      <p:cNvPicPr/>
                      <p:nvPr/>
                    </p:nvPicPr>
                    <p:blipFill>
                      <a:blip r:embed="rId5"/>
                      <a:stretch>
                        <a:fillRect/>
                      </a:stretch>
                    </p:blipFill>
                    <p:spPr>
                      <a:xfrm>
                        <a:off x="2651125" y="1768475"/>
                        <a:ext cx="3200400" cy="3937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23C41AE2-7499-4F2C-B2E0-9BB3E0730324}"/>
              </a:ext>
            </a:extLst>
          </p:cNvPr>
          <p:cNvGraphicFramePr>
            <a:graphicFrameLocks noChangeAspect="1"/>
          </p:cNvGraphicFramePr>
          <p:nvPr>
            <p:extLst>
              <p:ext uri="{D42A27DB-BD31-4B8C-83A1-F6EECF244321}">
                <p14:modId xmlns:p14="http://schemas.microsoft.com/office/powerpoint/2010/main" val="764009375"/>
              </p:ext>
            </p:extLst>
          </p:nvPr>
        </p:nvGraphicFramePr>
        <p:xfrm>
          <a:off x="914400" y="2885720"/>
          <a:ext cx="7315200" cy="901700"/>
        </p:xfrm>
        <a:graphic>
          <a:graphicData uri="http://schemas.openxmlformats.org/presentationml/2006/ole">
            <mc:AlternateContent xmlns:mc="http://schemas.openxmlformats.org/markup-compatibility/2006">
              <mc:Choice xmlns:v="urn:schemas-microsoft-com:vml" Requires="v">
                <p:oleObj spid="_x0000_s56737" name="Equation" r:id="rId6" imgW="7315200" imgH="901440" progId="Equation.DSMT4">
                  <p:embed/>
                </p:oleObj>
              </mc:Choice>
              <mc:Fallback>
                <p:oleObj name="Equation" r:id="rId6" imgW="7315200" imgH="901440" progId="Equation.DSMT4">
                  <p:embed/>
                  <p:pic>
                    <p:nvPicPr>
                      <p:cNvPr id="0" name=""/>
                      <p:cNvPicPr/>
                      <p:nvPr/>
                    </p:nvPicPr>
                    <p:blipFill>
                      <a:blip r:embed="rId7"/>
                      <a:stretch>
                        <a:fillRect/>
                      </a:stretch>
                    </p:blipFill>
                    <p:spPr>
                      <a:xfrm>
                        <a:off x="914400" y="2885720"/>
                        <a:ext cx="7315200" cy="9017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72AE4E30-CC6A-445E-BB14-4F6F40E8CE60}"/>
              </a:ext>
            </a:extLst>
          </p:cNvPr>
          <p:cNvGraphicFramePr>
            <a:graphicFrameLocks noChangeAspect="1"/>
          </p:cNvGraphicFramePr>
          <p:nvPr>
            <p:extLst>
              <p:ext uri="{D42A27DB-BD31-4B8C-83A1-F6EECF244321}">
                <p14:modId xmlns:p14="http://schemas.microsoft.com/office/powerpoint/2010/main" val="2611476241"/>
              </p:ext>
            </p:extLst>
          </p:nvPr>
        </p:nvGraphicFramePr>
        <p:xfrm>
          <a:off x="3059146" y="3795852"/>
          <a:ext cx="3365500" cy="444500"/>
        </p:xfrm>
        <a:graphic>
          <a:graphicData uri="http://schemas.openxmlformats.org/presentationml/2006/ole">
            <mc:AlternateContent xmlns:mc="http://schemas.openxmlformats.org/markup-compatibility/2006">
              <mc:Choice xmlns:v="urn:schemas-microsoft-com:vml" Requires="v">
                <p:oleObj spid="_x0000_s56738" name="Equation" r:id="rId8" imgW="3365280" imgH="444240" progId="Equation.DSMT4">
                  <p:embed/>
                </p:oleObj>
              </mc:Choice>
              <mc:Fallback>
                <p:oleObj name="Equation" r:id="rId8" imgW="3365280" imgH="444240" progId="Equation.DSMT4">
                  <p:embed/>
                  <p:pic>
                    <p:nvPicPr>
                      <p:cNvPr id="0" name=""/>
                      <p:cNvPicPr/>
                      <p:nvPr/>
                    </p:nvPicPr>
                    <p:blipFill>
                      <a:blip r:embed="rId9"/>
                      <a:stretch>
                        <a:fillRect/>
                      </a:stretch>
                    </p:blipFill>
                    <p:spPr>
                      <a:xfrm>
                        <a:off x="3059146" y="3795852"/>
                        <a:ext cx="3365500" cy="444500"/>
                      </a:xfrm>
                      <a:prstGeom prst="rect">
                        <a:avLst/>
                      </a:prstGeom>
                    </p:spPr>
                  </p:pic>
                </p:oleObj>
              </mc:Fallback>
            </mc:AlternateContent>
          </a:graphicData>
        </a:graphic>
      </p:graphicFrame>
    </p:spTree>
    <p:extLst>
      <p:ext uri="{BB962C8B-B14F-4D97-AF65-F5344CB8AC3E}">
        <p14:creationId xmlns:p14="http://schemas.microsoft.com/office/powerpoint/2010/main" val="1450689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500"/>
                                        <p:tgtEl>
                                          <p:spTgt spid="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10" end="10"/>
                                            </p:txEl>
                                          </p:spTgt>
                                        </p:tgtEl>
                                        <p:attrNameLst>
                                          <p:attrName>style.visibility</p:attrName>
                                        </p:attrNameLst>
                                      </p:cBhvr>
                                      <p:to>
                                        <p:strVal val="visible"/>
                                      </p:to>
                                    </p:set>
                                    <p:animEffect transition="in" filter="fade">
                                      <p:cBhvr>
                                        <p:cTn id="32" dur="500"/>
                                        <p:tgtEl>
                                          <p:spTgt spid="4">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animEffect transition="in" filter="fade">
                                      <p:cBhvr>
                                        <p:cTn id="37"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28</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Computing the </a:t>
            </a:r>
            <a:r>
              <a:rPr lang="en-US" sz="2400" b="0" i="1" u="none" dirty="0">
                <a:solidFill>
                  <a:schemeClr val="dk1"/>
                </a:solidFill>
                <a:latin typeface="Times New Roman" panose="02020603050405020304" pitchFamily="18" charset="0"/>
                <a:cs typeface="Times New Roman" panose="02020603050405020304" pitchFamily="18" charset="0"/>
                <a:sym typeface="Arial"/>
              </a:rPr>
              <a:t>F</a:t>
            </a:r>
            <a:r>
              <a:rPr lang="en-US" sz="2400" b="0" i="1" u="none" dirty="0">
                <a:solidFill>
                  <a:schemeClr val="dk1"/>
                </a:solidFill>
                <a:latin typeface="Arial"/>
                <a:ea typeface="Arial"/>
                <a:cs typeface="Arial"/>
                <a:sym typeface="Arial"/>
              </a:rPr>
              <a:t>-Test Statistic by Hand</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3) </a:t>
            </a:r>
            <a:endParaRPr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4893647"/>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Compute the mean square due to treatment, MST, and the mean square due to error, MSE.</a:t>
            </a:r>
          </a:p>
          <a:p>
            <a:endParaRPr lang="en-US" sz="2600" dirty="0">
              <a:latin typeface="Times New Roman" panose="02020603050405020304" pitchFamily="18" charset="0"/>
              <a:cs typeface="Times New Roman" panose="02020603050405020304" pitchFamily="18" charset="0"/>
            </a:endParaRPr>
          </a:p>
          <a:p>
            <a:endParaRPr lang="en-US" sz="2600" b="1" i="1" dirty="0">
              <a:latin typeface="Times New Roman" panose="02020603050405020304" pitchFamily="18" charset="0"/>
              <a:cs typeface="Times New Roman" panose="02020603050405020304" pitchFamily="18" charset="0"/>
            </a:endParaRPr>
          </a:p>
          <a:p>
            <a:endParaRPr lang="en-US" sz="2600" b="1" i="1" dirty="0">
              <a:latin typeface="Times New Roman" panose="02020603050405020304" pitchFamily="18" charset="0"/>
              <a:cs typeface="Times New Roman" panose="02020603050405020304" pitchFamily="18" charset="0"/>
            </a:endParaRP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6 </a:t>
            </a:r>
            <a:r>
              <a:rPr lang="en-US" sz="2600" dirty="0">
                <a:latin typeface="Times New Roman" panose="02020603050405020304" pitchFamily="18" charset="0"/>
                <a:cs typeface="Times New Roman" panose="02020603050405020304" pitchFamily="18" charset="0"/>
              </a:rPr>
              <a:t>Compute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large value of </a:t>
            </a:r>
            <a:r>
              <a:rPr lang="en-US" sz="2600" i="1" dirty="0">
                <a:latin typeface="Times New Roman" panose="02020603050405020304" pitchFamily="18" charset="0"/>
                <a:cs typeface="Times New Roman" panose="02020603050405020304" pitchFamily="18" charset="0"/>
              </a:rPr>
              <a:t>F</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suggests that the sample means for each treatment differ.</a:t>
            </a:r>
          </a:p>
        </p:txBody>
      </p:sp>
      <p:graphicFrame>
        <p:nvGraphicFramePr>
          <p:cNvPr id="6" name="Object 5">
            <a:extLst>
              <a:ext uri="{FF2B5EF4-FFF2-40B4-BE49-F238E27FC236}">
                <a16:creationId xmlns:a16="http://schemas.microsoft.com/office/drawing/2014/main" id="{C1A0C6B3-393C-4763-8E64-4A671AA9E30E}"/>
              </a:ext>
            </a:extLst>
          </p:cNvPr>
          <p:cNvGraphicFramePr>
            <a:graphicFrameLocks noChangeAspect="1"/>
          </p:cNvGraphicFramePr>
          <p:nvPr>
            <p:extLst>
              <p:ext uri="{D42A27DB-BD31-4B8C-83A1-F6EECF244321}">
                <p14:modId xmlns:p14="http://schemas.microsoft.com/office/powerpoint/2010/main" val="1413212660"/>
              </p:ext>
            </p:extLst>
          </p:nvPr>
        </p:nvGraphicFramePr>
        <p:xfrm>
          <a:off x="622300" y="2190495"/>
          <a:ext cx="3149600" cy="787400"/>
        </p:xfrm>
        <a:graphic>
          <a:graphicData uri="http://schemas.openxmlformats.org/presentationml/2006/ole">
            <mc:AlternateContent xmlns:mc="http://schemas.openxmlformats.org/markup-compatibility/2006">
              <mc:Choice xmlns:v="urn:schemas-microsoft-com:vml" Requires="v">
                <p:oleObj spid="_x0000_s57757" name="Equation" r:id="rId4" imgW="3149280" imgH="787320" progId="Equation.DSMT4">
                  <p:embed/>
                </p:oleObj>
              </mc:Choice>
              <mc:Fallback>
                <p:oleObj name="Equation" r:id="rId4" imgW="3149280" imgH="787320" progId="Equation.DSMT4">
                  <p:embed/>
                  <p:pic>
                    <p:nvPicPr>
                      <p:cNvPr id="0" name=""/>
                      <p:cNvPicPr/>
                      <p:nvPr/>
                    </p:nvPicPr>
                    <p:blipFill>
                      <a:blip r:embed="rId5"/>
                      <a:stretch>
                        <a:fillRect/>
                      </a:stretch>
                    </p:blipFill>
                    <p:spPr>
                      <a:xfrm>
                        <a:off x="622300" y="2190495"/>
                        <a:ext cx="3149600" cy="7874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1B8D33F3-EBC5-47BB-92AB-36039D7B85C0}"/>
              </a:ext>
            </a:extLst>
          </p:cNvPr>
          <p:cNvGraphicFramePr>
            <a:graphicFrameLocks noChangeAspect="1"/>
          </p:cNvGraphicFramePr>
          <p:nvPr>
            <p:extLst>
              <p:ext uri="{D42A27DB-BD31-4B8C-83A1-F6EECF244321}">
                <p14:modId xmlns:p14="http://schemas.microsoft.com/office/powerpoint/2010/main" val="4092609135"/>
              </p:ext>
            </p:extLst>
          </p:nvPr>
        </p:nvGraphicFramePr>
        <p:xfrm>
          <a:off x="4572000" y="2123883"/>
          <a:ext cx="3949700" cy="787400"/>
        </p:xfrm>
        <a:graphic>
          <a:graphicData uri="http://schemas.openxmlformats.org/presentationml/2006/ole">
            <mc:AlternateContent xmlns:mc="http://schemas.openxmlformats.org/markup-compatibility/2006">
              <mc:Choice xmlns:v="urn:schemas-microsoft-com:vml" Requires="v">
                <p:oleObj spid="_x0000_s57758" name="Equation" r:id="rId6" imgW="3949560" imgH="787320" progId="Equation.DSMT4">
                  <p:embed/>
                </p:oleObj>
              </mc:Choice>
              <mc:Fallback>
                <p:oleObj name="Equation" r:id="rId6" imgW="3949560" imgH="787320" progId="Equation.DSMT4">
                  <p:embed/>
                  <p:pic>
                    <p:nvPicPr>
                      <p:cNvPr id="0" name=""/>
                      <p:cNvPicPr/>
                      <p:nvPr/>
                    </p:nvPicPr>
                    <p:blipFill>
                      <a:blip r:embed="rId7"/>
                      <a:stretch>
                        <a:fillRect/>
                      </a:stretch>
                    </p:blipFill>
                    <p:spPr>
                      <a:xfrm>
                        <a:off x="4572000" y="2123883"/>
                        <a:ext cx="3949700" cy="7874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F8BD829B-1795-42F9-8C56-03146C29290A}"/>
              </a:ext>
            </a:extLst>
          </p:cNvPr>
          <p:cNvGraphicFramePr>
            <a:graphicFrameLocks noChangeAspect="1"/>
          </p:cNvGraphicFramePr>
          <p:nvPr>
            <p:extLst>
              <p:ext uri="{D42A27DB-BD31-4B8C-83A1-F6EECF244321}">
                <p14:modId xmlns:p14="http://schemas.microsoft.com/office/powerpoint/2010/main" val="884830501"/>
              </p:ext>
            </p:extLst>
          </p:nvPr>
        </p:nvGraphicFramePr>
        <p:xfrm>
          <a:off x="2705100" y="4100175"/>
          <a:ext cx="3733800" cy="787400"/>
        </p:xfrm>
        <a:graphic>
          <a:graphicData uri="http://schemas.openxmlformats.org/presentationml/2006/ole">
            <mc:AlternateContent xmlns:mc="http://schemas.openxmlformats.org/markup-compatibility/2006">
              <mc:Choice xmlns:v="urn:schemas-microsoft-com:vml" Requires="v">
                <p:oleObj spid="_x0000_s57759" name="Equation" r:id="rId8" imgW="3733560" imgH="787320" progId="Equation.DSMT4">
                  <p:embed/>
                </p:oleObj>
              </mc:Choice>
              <mc:Fallback>
                <p:oleObj name="Equation" r:id="rId8" imgW="3733560" imgH="787320" progId="Equation.DSMT4">
                  <p:embed/>
                  <p:pic>
                    <p:nvPicPr>
                      <p:cNvPr id="0" name=""/>
                      <p:cNvPicPr/>
                      <p:nvPr/>
                    </p:nvPicPr>
                    <p:blipFill>
                      <a:blip r:embed="rId9"/>
                      <a:stretch>
                        <a:fillRect/>
                      </a:stretch>
                    </p:blipFill>
                    <p:spPr>
                      <a:xfrm>
                        <a:off x="2705100" y="4100175"/>
                        <a:ext cx="3733800" cy="787400"/>
                      </a:xfrm>
                      <a:prstGeom prst="rect">
                        <a:avLst/>
                      </a:prstGeom>
                    </p:spPr>
                  </p:pic>
                </p:oleObj>
              </mc:Fallback>
            </mc:AlternateContent>
          </a:graphicData>
        </a:graphic>
      </p:graphicFrame>
    </p:spTree>
    <p:extLst>
      <p:ext uri="{BB962C8B-B14F-4D97-AF65-F5344CB8AC3E}">
        <p14:creationId xmlns:p14="http://schemas.microsoft.com/office/powerpoint/2010/main" val="703179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500"/>
                                        <p:tgtEl>
                                          <p:spTgt spid="4">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animEffect transition="in" filter="fade">
                                      <p:cBhvr>
                                        <p:cTn id="27"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5" name="Google Shape;305;p4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29</a:t>
            </a:fld>
            <a:endParaRPr/>
          </a:p>
        </p:txBody>
      </p:sp>
      <p:sp>
        <p:nvSpPr>
          <p:cNvPr id="4" name="Rectangle 3">
            <a:extLst>
              <a:ext uri="{FF2B5EF4-FFF2-40B4-BE49-F238E27FC236}">
                <a16:creationId xmlns:a16="http://schemas.microsoft.com/office/drawing/2014/main" id="{5EF3FF05-D081-45C2-8699-2C0D34E6A6E8}"/>
              </a:ext>
            </a:extLst>
          </p:cNvPr>
          <p:cNvSpPr/>
          <p:nvPr/>
        </p:nvSpPr>
        <p:spPr>
          <a:xfrm>
            <a:off x="447774" y="237119"/>
            <a:ext cx="8394568" cy="4093428"/>
          </a:xfrm>
          <a:prstGeom prst="rect">
            <a:avLst/>
          </a:prstGeom>
        </p:spPr>
        <p:txBody>
          <a:bodyPr wrap="square">
            <a:spAutoFit/>
          </a:bodyPr>
          <a:lstStyle/>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For the data in Table 2(b), MST = 45,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MSE = 24.1667, and </a:t>
            </a:r>
            <a:r>
              <a:rPr lang="en-US" sz="2600" i="1" dirty="0">
                <a:latin typeface="Times New Roman" panose="02020603050405020304" pitchFamily="18" charset="0"/>
                <a:cs typeface="Times New Roman" panose="02020603050405020304" pitchFamily="18" charset="0"/>
              </a:rPr>
              <a:t>F</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 1.86.</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small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 is evidence that the sample means for each treatment do not differ. In addition, notice that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MST = 45 for the data in both tables. </a:t>
            </a:r>
          </a:p>
          <a:p>
            <a:r>
              <a:rPr lang="en-US" sz="2600" dirty="0">
                <a:latin typeface="Times New Roman" panose="02020603050405020304" pitchFamily="18" charset="0"/>
                <a:cs typeface="Times New Roman" panose="02020603050405020304" pitchFamily="18" charset="0"/>
              </a:rPr>
              <a:t>The results of the computations for the data in Table 2(a) that led to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 are presented in Table 4, which is called an </a:t>
            </a:r>
            <a:r>
              <a:rPr lang="en-US" sz="2600" b="1" dirty="0">
                <a:latin typeface="Times New Roman" panose="02020603050405020304" pitchFamily="18" charset="0"/>
                <a:cs typeface="Times New Roman" panose="02020603050405020304" pitchFamily="18" charset="0"/>
              </a:rPr>
              <a:t>ANOVA table</a:t>
            </a:r>
            <a:r>
              <a:rPr lang="en-US" sz="2600" dirty="0">
                <a:latin typeface="Times New Roman" panose="02020603050405020304" pitchFamily="18" charset="0"/>
                <a:cs typeface="Times New Roman" panose="02020603050405020304" pitchFamily="18" charset="0"/>
              </a:rPr>
              <a:t>.</a:t>
            </a:r>
          </a:p>
        </p:txBody>
      </p:sp>
      <p:pic>
        <p:nvPicPr>
          <p:cNvPr id="6" name="Picture 5" descr="A picture containing clock, keyboard&#10;&#10;Description automatically generated">
            <a:extLst>
              <a:ext uri="{FF2B5EF4-FFF2-40B4-BE49-F238E27FC236}">
                <a16:creationId xmlns:a16="http://schemas.microsoft.com/office/drawing/2014/main" id="{71DC0789-E9EF-4A49-9FDE-2744DA62B49C}"/>
              </a:ext>
            </a:extLst>
          </p:cNvPr>
          <p:cNvPicPr>
            <a:picLocks noChangeAspect="1"/>
          </p:cNvPicPr>
          <p:nvPr/>
        </p:nvPicPr>
        <p:blipFill>
          <a:blip r:embed="rId3"/>
          <a:stretch>
            <a:fillRect/>
          </a:stretch>
        </p:blipFill>
        <p:spPr>
          <a:xfrm>
            <a:off x="5912298" y="133424"/>
            <a:ext cx="1657426" cy="1741592"/>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CE2CF92A-4F77-4065-B09A-5DA54B7B6A22}"/>
              </a:ext>
            </a:extLst>
          </p:cNvPr>
          <p:cNvPicPr>
            <a:picLocks noChangeAspect="1"/>
          </p:cNvPicPr>
          <p:nvPr/>
        </p:nvPicPr>
        <p:blipFill>
          <a:blip r:embed="rId4"/>
          <a:stretch>
            <a:fillRect/>
          </a:stretch>
        </p:blipFill>
        <p:spPr>
          <a:xfrm>
            <a:off x="764356" y="4330547"/>
            <a:ext cx="7931870" cy="1908193"/>
          </a:xfrm>
          <a:prstGeom prst="rect">
            <a:avLst/>
          </a:prstGeom>
        </p:spPr>
      </p:pic>
    </p:spTree>
    <p:extLst>
      <p:ext uri="{BB962C8B-B14F-4D97-AF65-F5344CB8AC3E}">
        <p14:creationId xmlns:p14="http://schemas.microsoft.com/office/powerpoint/2010/main" val="191996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5" name="Rectangle 4">
            <a:extLst>
              <a:ext uri="{FF2B5EF4-FFF2-40B4-BE49-F238E27FC236}">
                <a16:creationId xmlns:a16="http://schemas.microsoft.com/office/drawing/2014/main" id="{F405CC3A-82F3-446B-AC9C-48D6DB60A168}"/>
              </a:ext>
            </a:extLst>
          </p:cNvPr>
          <p:cNvSpPr/>
          <p:nvPr/>
        </p:nvSpPr>
        <p:spPr>
          <a:xfrm>
            <a:off x="678733" y="989813"/>
            <a:ext cx="7795964" cy="2969445"/>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Google Shape;303;p45"/>
          <p:cNvSpPr txBox="1">
            <a:spLocks noGrp="1"/>
          </p:cNvSpPr>
          <p:nvPr>
            <p:ph type="body" idx="1"/>
          </p:nvPr>
        </p:nvSpPr>
        <p:spPr>
          <a:xfrm>
            <a:off x="381000" y="1905000"/>
            <a:ext cx="8229600" cy="4038600"/>
          </a:xfrm>
          <a:prstGeom prst="rect">
            <a:avLst/>
          </a:prstGeom>
          <a:noFill/>
          <a:ln>
            <a:noFill/>
          </a:ln>
        </p:spPr>
        <p:txBody>
          <a:bodyPr spcFirstLastPara="1" wrap="square" lIns="91425" tIns="45700" rIns="91425" bIns="45700" anchor="t" anchorCtr="0">
            <a:noAutofit/>
          </a:bodyPr>
          <a:lstStyle/>
          <a:p>
            <a:pPr marL="609600" lvl="0" indent="-609600" algn="l" rtl="0">
              <a:lnSpc>
                <a:spcPct val="90000"/>
              </a:lnSpc>
              <a:spcBef>
                <a:spcPts val="0"/>
              </a:spcBef>
              <a:spcAft>
                <a:spcPts val="0"/>
              </a:spcAft>
              <a:buSzPts val="3000"/>
              <a:buFont typeface="Times New Roman"/>
              <a:buNone/>
            </a:pPr>
            <a:endParaRPr sz="3000" b="0" i="0" u="none">
              <a:solidFill>
                <a:schemeClr val="dk1"/>
              </a:solidFill>
              <a:latin typeface="Times New Roman"/>
              <a:ea typeface="Times New Roman"/>
              <a:cs typeface="Times New Roman"/>
              <a:sym typeface="Times New Roman"/>
            </a:endParaRPr>
          </a:p>
          <a:p>
            <a:pPr marL="609600" lvl="0" indent="-609600" algn="l" rtl="0">
              <a:lnSpc>
                <a:spcPct val="90000"/>
              </a:lnSpc>
              <a:spcBef>
                <a:spcPts val="640"/>
              </a:spcBef>
              <a:spcAft>
                <a:spcPts val="0"/>
              </a:spcAft>
              <a:buSzPts val="3200"/>
              <a:buFont typeface="Times New Roman"/>
              <a:buNone/>
            </a:pPr>
            <a:r>
              <a:rPr lang="en-US" sz="3200" b="0" i="0" u="none">
                <a:solidFill>
                  <a:schemeClr val="dk1"/>
                </a:solidFill>
                <a:latin typeface="Times New Roman"/>
                <a:ea typeface="Times New Roman"/>
                <a:cs typeface="Times New Roman"/>
                <a:sym typeface="Times New Roman"/>
              </a:rPr>
              <a:t>	If the </a:t>
            </a:r>
            <a:r>
              <a:rPr lang="en-US" sz="3200" b="0" i="1" u="none">
                <a:solidFill>
                  <a:schemeClr val="dk1"/>
                </a:solidFill>
                <a:latin typeface="Times New Roman"/>
                <a:ea typeface="Times New Roman"/>
                <a:cs typeface="Times New Roman"/>
                <a:sym typeface="Times New Roman"/>
              </a:rPr>
              <a:t>P-</a:t>
            </a:r>
            <a:r>
              <a:rPr lang="en-US" sz="3200" b="0" i="0" u="none">
                <a:solidFill>
                  <a:schemeClr val="dk1"/>
                </a:solidFill>
                <a:latin typeface="Times New Roman"/>
                <a:ea typeface="Times New Roman"/>
                <a:cs typeface="Times New Roman"/>
                <a:sym typeface="Times New Roman"/>
              </a:rPr>
              <a:t>value is less than the level of significance, </a:t>
            </a:r>
            <a:r>
              <a:rPr lang="en-US" sz="3200" b="0" i="1" u="none">
                <a:solidFill>
                  <a:schemeClr val="dk1"/>
                </a:solidFill>
                <a:latin typeface="Times New Roman"/>
                <a:ea typeface="Times New Roman"/>
                <a:cs typeface="Times New Roman"/>
                <a:sym typeface="Times New Roman"/>
              </a:rPr>
              <a:t>α</a:t>
            </a:r>
            <a:r>
              <a:rPr lang="en-US" sz="3200" b="0" i="0" u="none">
                <a:solidFill>
                  <a:schemeClr val="dk1"/>
                </a:solidFill>
                <a:latin typeface="Times New Roman"/>
                <a:ea typeface="Times New Roman"/>
                <a:cs typeface="Times New Roman"/>
                <a:sym typeface="Times New Roman"/>
              </a:rPr>
              <a:t>, reject the null hypothesis.</a:t>
            </a:r>
            <a:endParaRPr/>
          </a:p>
        </p:txBody>
      </p:sp>
      <p:sp>
        <p:nvSpPr>
          <p:cNvPr id="304" name="Google Shape;304;p45"/>
          <p:cNvSpPr txBox="1"/>
          <p:nvPr/>
        </p:nvSpPr>
        <p:spPr>
          <a:xfrm>
            <a:off x="1001598" y="1325612"/>
            <a:ext cx="7140804" cy="8382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Decision Rule in the One-Way ANOVA Test </a:t>
            </a:r>
            <a:endParaRPr dirty="0">
              <a:solidFill>
                <a:schemeClr val="tx1"/>
              </a:solidFill>
              <a:latin typeface="+mn-lt"/>
            </a:endParaRPr>
          </a:p>
        </p:txBody>
      </p:sp>
      <p:sp>
        <p:nvSpPr>
          <p:cNvPr id="305" name="Google Shape;305;p4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30</a:t>
            </a:fld>
            <a:endParaRPr/>
          </a:p>
        </p:txBody>
      </p:sp>
    </p:spTree>
    <p:extLst>
      <p:ext uri="{BB962C8B-B14F-4D97-AF65-F5344CB8AC3E}">
        <p14:creationId xmlns:p14="http://schemas.microsoft.com/office/powerpoint/2010/main" val="3232786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31</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One-Way ANOVA Using</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3)                              </a:t>
            </a:r>
            <a:r>
              <a:rPr lang="en-US" sz="2400" i="1" dirty="0">
                <a:solidFill>
                  <a:schemeClr val="dk1"/>
                </a:solidFill>
              </a:rPr>
              <a:t>Technology</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5047536"/>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 researcher in a previous example wants to determine if there is a difference in the mean shear bond strength among the four treatment groups at the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 level of</a:t>
            </a:r>
          </a:p>
          <a:p>
            <a:r>
              <a:rPr lang="en-US" sz="2800" dirty="0">
                <a:latin typeface="Times New Roman" panose="02020603050405020304" pitchFamily="18" charset="0"/>
                <a:cs typeface="Times New Roman" panose="02020603050405020304" pitchFamily="18" charset="0"/>
              </a:rPr>
              <a:t>significance.</a:t>
            </a:r>
          </a:p>
          <a:p>
            <a:endParaRPr lang="en-US" sz="2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null hypothesis is always a statement of “no difference.” So the null hypothesis is that the mean shear bond strength among the four treatment groups is the same, or</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versus the alternative hypothesis</a:t>
            </a:r>
          </a:p>
          <a:p>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at least one population mean is different from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others</a:t>
            </a:r>
          </a:p>
        </p:txBody>
      </p:sp>
      <p:graphicFrame>
        <p:nvGraphicFramePr>
          <p:cNvPr id="2" name="Object 1">
            <a:extLst>
              <a:ext uri="{FF2B5EF4-FFF2-40B4-BE49-F238E27FC236}">
                <a16:creationId xmlns:a16="http://schemas.microsoft.com/office/drawing/2014/main" id="{D0EAF5DD-3DDD-43DF-8C39-6DF88259ACA4}"/>
              </a:ext>
            </a:extLst>
          </p:cNvPr>
          <p:cNvGraphicFramePr>
            <a:graphicFrameLocks noChangeAspect="1"/>
          </p:cNvGraphicFramePr>
          <p:nvPr>
            <p:extLst>
              <p:ext uri="{D42A27DB-BD31-4B8C-83A1-F6EECF244321}">
                <p14:modId xmlns:p14="http://schemas.microsoft.com/office/powerpoint/2010/main" val="1990278664"/>
              </p:ext>
            </p:extLst>
          </p:nvPr>
        </p:nvGraphicFramePr>
        <p:xfrm>
          <a:off x="1701080" y="4506745"/>
          <a:ext cx="5270500" cy="444500"/>
        </p:xfrm>
        <a:graphic>
          <a:graphicData uri="http://schemas.openxmlformats.org/presentationml/2006/ole">
            <mc:AlternateContent xmlns:mc="http://schemas.openxmlformats.org/markup-compatibility/2006">
              <mc:Choice xmlns:v="urn:schemas-microsoft-com:vml" Requires="v">
                <p:oleObj spid="_x0000_s58506" name="Equation" r:id="rId4" imgW="5270400" imgH="444240" progId="Equation.DSMT4">
                  <p:embed/>
                </p:oleObj>
              </mc:Choice>
              <mc:Fallback>
                <p:oleObj name="Equation" r:id="rId4" imgW="5270400" imgH="444240" progId="Equation.DSMT4">
                  <p:embed/>
                  <p:pic>
                    <p:nvPicPr>
                      <p:cNvPr id="0" name=""/>
                      <p:cNvPicPr/>
                      <p:nvPr/>
                    </p:nvPicPr>
                    <p:blipFill>
                      <a:blip r:embed="rId5"/>
                      <a:stretch>
                        <a:fillRect/>
                      </a:stretch>
                    </p:blipFill>
                    <p:spPr>
                      <a:xfrm>
                        <a:off x="1701080" y="4506745"/>
                        <a:ext cx="5270500" cy="444500"/>
                      </a:xfrm>
                      <a:prstGeom prst="rect">
                        <a:avLst/>
                      </a:prstGeom>
                    </p:spPr>
                  </p:pic>
                </p:oleObj>
              </mc:Fallback>
            </mc:AlternateContent>
          </a:graphicData>
        </a:graphic>
      </p:graphicFrame>
    </p:spTree>
    <p:extLst>
      <p:ext uri="{BB962C8B-B14F-4D97-AF65-F5344CB8AC3E}">
        <p14:creationId xmlns:p14="http://schemas.microsoft.com/office/powerpoint/2010/main" val="996738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Effect transition="in" filter="fade">
                                      <p:cBhvr>
                                        <p:cTn id="15" dur="500"/>
                                        <p:tgtEl>
                                          <p:spTgt spid="4">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6" end="6"/>
                                            </p:txEl>
                                          </p:spTgt>
                                        </p:tgtEl>
                                        <p:attrNameLst>
                                          <p:attrName>style.visibility</p:attrName>
                                        </p:attrNameLst>
                                      </p:cBhvr>
                                      <p:to>
                                        <p:strVal val="visible"/>
                                      </p:to>
                                    </p:set>
                                    <p:animEffect transition="in" filter="fade">
                                      <p:cBhvr>
                                        <p:cTn id="18"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32</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One-Way ANOVA Using</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3)                              </a:t>
            </a:r>
            <a:r>
              <a:rPr lang="en-US" sz="2400" i="1" dirty="0">
                <a:solidFill>
                  <a:schemeClr val="dk1"/>
                </a:solidFill>
              </a:rPr>
              <a:t>Technology</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3693319"/>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figure on the next slide shows (a) the output from StatCrunch, (b) the output from Minitab, (c) the output from Excel, and (d) the output from a TI-84 Plus C graphing calculator.</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Because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0.002, is less than the level of significance,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we reject the statement in the null hypothesis. There is sufficient evidence to indicate that at least one population mean shear bond strength is different from the others.</a:t>
            </a:r>
          </a:p>
        </p:txBody>
      </p:sp>
    </p:spTree>
    <p:extLst>
      <p:ext uri="{BB962C8B-B14F-4D97-AF65-F5344CB8AC3E}">
        <p14:creationId xmlns:p14="http://schemas.microsoft.com/office/powerpoint/2010/main" val="26056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33</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One-Way ANOVA Using</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3)                              </a:t>
            </a:r>
            <a:r>
              <a:rPr lang="en-US" sz="2400" i="1" dirty="0">
                <a:solidFill>
                  <a:schemeClr val="dk1"/>
                </a:solidFill>
              </a:rPr>
              <a:t>Technology</a:t>
            </a:r>
            <a:endParaRPr i="1" dirty="0"/>
          </a:p>
        </p:txBody>
      </p:sp>
      <p:pic>
        <p:nvPicPr>
          <p:cNvPr id="6" name="Picture 5" descr="A screenshot of a cell phone&#10;&#10;Description automatically generated">
            <a:extLst>
              <a:ext uri="{FF2B5EF4-FFF2-40B4-BE49-F238E27FC236}">
                <a16:creationId xmlns:a16="http://schemas.microsoft.com/office/drawing/2014/main" id="{F6B2E989-E10F-4736-8E86-0D42ACA7AE8A}"/>
              </a:ext>
            </a:extLst>
          </p:cNvPr>
          <p:cNvPicPr>
            <a:picLocks noChangeAspect="1"/>
          </p:cNvPicPr>
          <p:nvPr/>
        </p:nvPicPr>
        <p:blipFill>
          <a:blip r:embed="rId3"/>
          <a:stretch>
            <a:fillRect/>
          </a:stretch>
        </p:blipFill>
        <p:spPr>
          <a:xfrm>
            <a:off x="839771" y="1267739"/>
            <a:ext cx="7031610" cy="49364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91370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5" name="Google Shape;305;p4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34</a:t>
            </a:fld>
            <a:endParaRPr/>
          </a:p>
        </p:txBody>
      </p:sp>
      <p:sp>
        <p:nvSpPr>
          <p:cNvPr id="4" name="Rectangle 3">
            <a:extLst>
              <a:ext uri="{FF2B5EF4-FFF2-40B4-BE49-F238E27FC236}">
                <a16:creationId xmlns:a16="http://schemas.microsoft.com/office/drawing/2014/main" id="{1DB690FB-134F-4FFE-BC18-4AF1C93C7491}"/>
              </a:ext>
            </a:extLst>
          </p:cNvPr>
          <p:cNvSpPr/>
          <p:nvPr/>
        </p:nvSpPr>
        <p:spPr>
          <a:xfrm>
            <a:off x="419492" y="541835"/>
            <a:ext cx="8309729" cy="3539430"/>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Whenever performing ANOVA, it is a good idea to present visual evidence that supports the conclusions of the test. Side-by-side boxplots are a great way to help visually reinforce the results of the ANOVA procedure.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figure on the next slide shows the side-by-side boxplots of the data presented in Table 1. The boxplots support the ANOVA results from the previous example.</a:t>
            </a:r>
          </a:p>
        </p:txBody>
      </p:sp>
    </p:spTree>
    <p:extLst>
      <p:ext uri="{BB962C8B-B14F-4D97-AF65-F5344CB8AC3E}">
        <p14:creationId xmlns:p14="http://schemas.microsoft.com/office/powerpoint/2010/main" val="139180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5" name="Google Shape;305;p4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35</a:t>
            </a:fld>
            <a:endParaRPr/>
          </a:p>
        </p:txBody>
      </p:sp>
      <p:pic>
        <p:nvPicPr>
          <p:cNvPr id="3" name="Picture 2" descr="A picture containing clock&#10;&#10;Description automatically generated">
            <a:extLst>
              <a:ext uri="{FF2B5EF4-FFF2-40B4-BE49-F238E27FC236}">
                <a16:creationId xmlns:a16="http://schemas.microsoft.com/office/drawing/2014/main" id="{095E521C-056A-4D87-A251-C8DC6EAAF5F9}"/>
              </a:ext>
            </a:extLst>
          </p:cNvPr>
          <p:cNvPicPr>
            <a:picLocks noChangeAspect="1"/>
          </p:cNvPicPr>
          <p:nvPr/>
        </p:nvPicPr>
        <p:blipFill>
          <a:blip r:embed="rId3"/>
          <a:stretch>
            <a:fillRect/>
          </a:stretch>
        </p:blipFill>
        <p:spPr>
          <a:xfrm>
            <a:off x="321297" y="445790"/>
            <a:ext cx="8282246" cy="5812102"/>
          </a:xfrm>
          <a:prstGeom prst="rect">
            <a:avLst/>
          </a:prstGeom>
        </p:spPr>
      </p:pic>
    </p:spTree>
    <p:extLst>
      <p:ext uri="{BB962C8B-B14F-4D97-AF65-F5344CB8AC3E}">
        <p14:creationId xmlns:p14="http://schemas.microsoft.com/office/powerpoint/2010/main" val="1164789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5" name="Google Shape;305;p4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36</a:t>
            </a:fld>
            <a:endParaRPr/>
          </a:p>
        </p:txBody>
      </p:sp>
      <p:sp>
        <p:nvSpPr>
          <p:cNvPr id="4" name="Rectangle 3">
            <a:extLst>
              <a:ext uri="{FF2B5EF4-FFF2-40B4-BE49-F238E27FC236}">
                <a16:creationId xmlns:a16="http://schemas.microsoft.com/office/drawing/2014/main" id="{1DB690FB-134F-4FFE-BC18-4AF1C93C7491}"/>
              </a:ext>
            </a:extLst>
          </p:cNvPr>
          <p:cNvSpPr/>
          <p:nvPr/>
        </p:nvSpPr>
        <p:spPr>
          <a:xfrm>
            <a:off x="417135" y="1446808"/>
            <a:ext cx="8309729" cy="3108543"/>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If we were conducting this ANOVA test by hand using the classical method, we would compare the </a:t>
            </a:r>
            <a:r>
              <a:rPr lang="en-US" sz="2800" i="1" dirty="0">
                <a:latin typeface="Times New Roman" panose="02020603050405020304" pitchFamily="18" charset="0"/>
                <a:cs typeface="Times New Roman" panose="02020603050405020304" pitchFamily="18" charset="0"/>
              </a:rPr>
              <a:t>F</a:t>
            </a:r>
            <a:r>
              <a:rPr lang="en-US" sz="2800" dirty="0">
                <a:latin typeface="Times New Roman" panose="02020603050405020304" pitchFamily="18" charset="0"/>
                <a:cs typeface="Times New Roman" panose="02020603050405020304" pitchFamily="18" charset="0"/>
              </a:rPr>
              <a:t>-test statistic with a critical </a:t>
            </a:r>
            <a:r>
              <a:rPr lang="en-US" sz="2800" i="1" dirty="0">
                <a:latin typeface="Times New Roman" panose="02020603050405020304" pitchFamily="18" charset="0"/>
                <a:cs typeface="Times New Roman" panose="02020603050405020304" pitchFamily="18" charset="0"/>
              </a:rPr>
              <a:t>F</a:t>
            </a:r>
            <a:r>
              <a:rPr lang="en-US" sz="2800" dirty="0">
                <a:latin typeface="Times New Roman" panose="02020603050405020304" pitchFamily="18" charset="0"/>
                <a:cs typeface="Times New Roman" panose="02020603050405020304" pitchFamily="18" charset="0"/>
              </a:rPr>
              <a:t>-value. The ANOVA test is a right-tailed test, so the </a:t>
            </a:r>
            <a:r>
              <a:rPr lang="en-US" sz="2800" b="1" dirty="0">
                <a:latin typeface="Times New Roman" panose="02020603050405020304" pitchFamily="18" charset="0"/>
                <a:cs typeface="Times New Roman" panose="02020603050405020304" pitchFamily="18" charset="0"/>
              </a:rPr>
              <a:t>critical </a:t>
            </a:r>
            <a:r>
              <a:rPr lang="en-US" sz="2800" b="1" i="1" dirty="0">
                <a:latin typeface="Times New Roman" panose="02020603050405020304" pitchFamily="18" charset="0"/>
                <a:cs typeface="Times New Roman" panose="02020603050405020304" pitchFamily="18" charset="0"/>
              </a:rPr>
              <a:t>F</a:t>
            </a:r>
            <a:r>
              <a:rPr lang="en-US" sz="2800" b="1" dirty="0">
                <a:latin typeface="Times New Roman" panose="02020603050405020304" pitchFamily="18" charset="0"/>
                <a:cs typeface="Times New Roman" panose="02020603050405020304" pitchFamily="18" charset="0"/>
              </a:rPr>
              <a:t>-value </a:t>
            </a:r>
            <a:r>
              <a:rPr lang="en-US" sz="2800" dirty="0">
                <a:latin typeface="Times New Roman" panose="02020603050405020304" pitchFamily="18" charset="0"/>
                <a:cs typeface="Times New Roman" panose="02020603050405020304" pitchFamily="18" charset="0"/>
              </a:rPr>
              <a:t>is the </a:t>
            </a:r>
            <a:r>
              <a:rPr lang="en-US" sz="2800" i="1" dirty="0">
                <a:latin typeface="Times New Roman" panose="02020603050405020304" pitchFamily="18" charset="0"/>
                <a:cs typeface="Times New Roman" panose="02020603050405020304" pitchFamily="18" charset="0"/>
              </a:rPr>
              <a:t>F</a:t>
            </a:r>
            <a:r>
              <a:rPr lang="en-US" sz="2800" dirty="0">
                <a:latin typeface="Times New Roman" panose="02020603050405020304" pitchFamily="18" charset="0"/>
                <a:cs typeface="Times New Roman" panose="02020603050405020304" pitchFamily="18" charset="0"/>
              </a:rPr>
              <a:t>-value whose area in the right tail is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with </a:t>
            </a:r>
            <a:r>
              <a:rPr lang="en-US" sz="2800" i="1" dirty="0">
                <a:latin typeface="Times New Roman" panose="02020603050405020304" pitchFamily="18" charset="0"/>
                <a:cs typeface="Times New Roman" panose="02020603050405020304" pitchFamily="18" charset="0"/>
              </a:rPr>
              <a:t>k </a:t>
            </a:r>
            <a:r>
              <a:rPr lang="en-US" sz="2800" dirty="0">
                <a:latin typeface="Times New Roman" panose="02020603050405020304" pitchFamily="18" charset="0"/>
                <a:cs typeface="Times New Roman" panose="02020603050405020304" pitchFamily="18" charset="0"/>
              </a:rPr>
              <a:t>– 1 degrees of freedom in the numerator and </a:t>
            </a:r>
            <a:r>
              <a:rPr lang="en-US" sz="2800" i="1" dirty="0">
                <a:latin typeface="Times New Roman" panose="02020603050405020304" pitchFamily="18" charset="0"/>
                <a:cs typeface="Times New Roman" panose="02020603050405020304" pitchFamily="18" charset="0"/>
              </a:rPr>
              <a:t>n </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k </a:t>
            </a:r>
            <a:r>
              <a:rPr lang="en-US" sz="2800" dirty="0">
                <a:latin typeface="Times New Roman" panose="02020603050405020304" pitchFamily="18" charset="0"/>
                <a:cs typeface="Times New Roman" panose="02020603050405020304" pitchFamily="18" charset="0"/>
              </a:rPr>
              <a:t>degrees of freedom in the denominator.</a:t>
            </a:r>
          </a:p>
        </p:txBody>
      </p:sp>
    </p:spTree>
    <p:extLst>
      <p:ext uri="{BB962C8B-B14F-4D97-AF65-F5344CB8AC3E}">
        <p14:creationId xmlns:p14="http://schemas.microsoft.com/office/powerpoint/2010/main" val="1887121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5" name="Google Shape;305;p4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37</a:t>
            </a:fld>
            <a:endParaRPr/>
          </a:p>
        </p:txBody>
      </p:sp>
      <p:sp>
        <p:nvSpPr>
          <p:cNvPr id="4" name="Rectangle 3">
            <a:extLst>
              <a:ext uri="{FF2B5EF4-FFF2-40B4-BE49-F238E27FC236}">
                <a16:creationId xmlns:a16="http://schemas.microsoft.com/office/drawing/2014/main" id="{1DB690FB-134F-4FFE-BC18-4AF1C93C7491}"/>
              </a:ext>
            </a:extLst>
          </p:cNvPr>
          <p:cNvSpPr/>
          <p:nvPr/>
        </p:nvSpPr>
        <p:spPr>
          <a:xfrm>
            <a:off x="417135" y="334445"/>
            <a:ext cx="8309729" cy="5878532"/>
          </a:xfrm>
          <a:prstGeom prst="rect">
            <a:avLst/>
          </a:prstGeom>
        </p:spPr>
        <p:txBody>
          <a:bodyPr wrap="square">
            <a:spAutoFit/>
          </a:bodyPr>
          <a:lstStyle/>
          <a:p>
            <a:r>
              <a:rPr lang="en-US" sz="2800" b="1" dirty="0">
                <a:latin typeface="+mn-lt"/>
                <a:cs typeface="Times New Roman" panose="02020603050405020304" pitchFamily="18" charset="0"/>
              </a:rPr>
              <a:t>Verifying the Normality Requirement in a One-Way ANOVA</a:t>
            </a:r>
          </a:p>
          <a:p>
            <a:endParaRPr lang="en-US" sz="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One requirement that must be satisfied to conduct a one-way ANOVA is that the </a:t>
            </a:r>
            <a:r>
              <a:rPr lang="en-US" sz="2600" i="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populations must be normally distributed. We verified this requirement in the shear</a:t>
            </a:r>
          </a:p>
          <a:p>
            <a:r>
              <a:rPr lang="en-US" sz="2600" dirty="0">
                <a:latin typeface="Times New Roman" panose="02020603050405020304" pitchFamily="18" charset="0"/>
                <a:cs typeface="Times New Roman" panose="02020603050405020304" pitchFamily="18" charset="0"/>
              </a:rPr>
              <a:t>bond strength example by drawing normal probability plots for each of the </a:t>
            </a:r>
            <a:r>
              <a:rPr lang="en-US" sz="2600" i="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 4 samples to see if the plots suggested that the data could come from a population that is normally distributed.</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A potential problem with this approach is that if the sample sizes are small, then drawing normal probability plots for each sample does not shed enough light on whether the normality requirement is satisfied.</a:t>
            </a:r>
          </a:p>
        </p:txBody>
      </p:sp>
    </p:spTree>
    <p:extLst>
      <p:ext uri="{BB962C8B-B14F-4D97-AF65-F5344CB8AC3E}">
        <p14:creationId xmlns:p14="http://schemas.microsoft.com/office/powerpoint/2010/main" val="3342848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38</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Verifying the Normality Requirement by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3)                          </a:t>
            </a:r>
            <a:r>
              <a:rPr lang="en-US" sz="2400" i="1" dirty="0">
                <a:solidFill>
                  <a:schemeClr val="dk1"/>
                </a:solidFill>
              </a:rPr>
              <a:t>Analyzing Residuals</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954107"/>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Verify the normality requirement for the data analyzed in the example that used Table 1.</a:t>
            </a:r>
          </a:p>
        </p:txBody>
      </p:sp>
      <p:pic>
        <p:nvPicPr>
          <p:cNvPr id="3" name="Picture 2" descr="A screenshot of a cell phone&#10;&#10;Description automatically generated">
            <a:extLst>
              <a:ext uri="{FF2B5EF4-FFF2-40B4-BE49-F238E27FC236}">
                <a16:creationId xmlns:a16="http://schemas.microsoft.com/office/drawing/2014/main" id="{DFCB0312-F78D-4F88-A466-83B2A4E326A4}"/>
              </a:ext>
            </a:extLst>
          </p:cNvPr>
          <p:cNvPicPr>
            <a:picLocks noChangeAspect="1"/>
          </p:cNvPicPr>
          <p:nvPr/>
        </p:nvPicPr>
        <p:blipFill>
          <a:blip r:embed="rId3"/>
          <a:stretch>
            <a:fillRect/>
          </a:stretch>
        </p:blipFill>
        <p:spPr>
          <a:xfrm>
            <a:off x="889318" y="2309636"/>
            <a:ext cx="6912878" cy="3140970"/>
          </a:xfrm>
          <a:prstGeom prst="rect">
            <a:avLst/>
          </a:prstGeom>
        </p:spPr>
      </p:pic>
    </p:spTree>
    <p:extLst>
      <p:ext uri="{BB962C8B-B14F-4D97-AF65-F5344CB8AC3E}">
        <p14:creationId xmlns:p14="http://schemas.microsoft.com/office/powerpoint/2010/main" val="177746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39</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Verifying the Normality Requirement by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3)                          </a:t>
            </a:r>
            <a:r>
              <a:rPr lang="en-US" sz="2400" i="1" dirty="0">
                <a:solidFill>
                  <a:schemeClr val="dk1"/>
                </a:solidFill>
              </a:rPr>
              <a:t>Analyzing Residuals</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0" y="1965324"/>
            <a:ext cx="4419600" cy="3293209"/>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first two columns of Table 5 show the level of the factor and the value of the response variable, shear bond strength. Column 3 of Table 5 shows the sample mean for each level of the factor. Column 4 shows the residuals.</a:t>
            </a:r>
          </a:p>
        </p:txBody>
      </p:sp>
      <p:pic>
        <p:nvPicPr>
          <p:cNvPr id="6" name="Picture 5" descr="A screenshot of a cell phone&#10;&#10;Description automatically generated">
            <a:extLst>
              <a:ext uri="{FF2B5EF4-FFF2-40B4-BE49-F238E27FC236}">
                <a16:creationId xmlns:a16="http://schemas.microsoft.com/office/drawing/2014/main" id="{DD1EE6C5-4E21-4FE8-A423-B8B1CF425E2A}"/>
              </a:ext>
            </a:extLst>
          </p:cNvPr>
          <p:cNvPicPr>
            <a:picLocks noChangeAspect="1"/>
          </p:cNvPicPr>
          <p:nvPr/>
        </p:nvPicPr>
        <p:blipFill>
          <a:blip r:embed="rId3"/>
          <a:stretch>
            <a:fillRect/>
          </a:stretch>
        </p:blipFill>
        <p:spPr>
          <a:xfrm>
            <a:off x="4572000" y="1135062"/>
            <a:ext cx="4298103" cy="5236238"/>
          </a:xfrm>
          <a:prstGeom prst="rect">
            <a:avLst/>
          </a:prstGeom>
        </p:spPr>
      </p:pic>
    </p:spTree>
    <p:extLst>
      <p:ext uri="{BB962C8B-B14F-4D97-AF65-F5344CB8AC3E}">
        <p14:creationId xmlns:p14="http://schemas.microsoft.com/office/powerpoint/2010/main" val="1183268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40</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Verifying the Normality Requirement by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3)                          </a:t>
            </a:r>
            <a:r>
              <a:rPr lang="en-US" sz="2400" i="1" dirty="0">
                <a:solidFill>
                  <a:schemeClr val="dk1"/>
                </a:solidFill>
              </a:rPr>
              <a:t>Analyzing Residuals</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4093428"/>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figure shows the normal probability plot of the residuals. The correlation between the residuals and expected </a:t>
            </a:r>
            <a:r>
              <a:rPr lang="en-US" sz="2600" i="1" dirty="0">
                <a:latin typeface="Times New Roman" panose="02020603050405020304" pitchFamily="18" charset="0"/>
                <a:cs typeface="Times New Roman" panose="02020603050405020304" pitchFamily="18" charset="0"/>
              </a:rPr>
              <a:t>z</a:t>
            </a:r>
            <a:r>
              <a:rPr lang="en-US" sz="2600" dirty="0">
                <a:latin typeface="Times New Roman" panose="02020603050405020304" pitchFamily="18" charset="0"/>
                <a:cs typeface="Times New Roman" panose="02020603050405020304" pitchFamily="18" charset="0"/>
              </a:rPr>
              <a:t>-scores is 0.993 [Tech: 0.991].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Because 0.993 &gt; 0.951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(critical value from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Table VI with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20),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it is reasonable to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conclude the residuals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are normally distributed.</a:t>
            </a:r>
          </a:p>
        </p:txBody>
      </p:sp>
      <p:pic>
        <p:nvPicPr>
          <p:cNvPr id="3" name="Picture 2" descr="A picture containing sitting, parking, white, light&#10;&#10;Description automatically generated">
            <a:extLst>
              <a:ext uri="{FF2B5EF4-FFF2-40B4-BE49-F238E27FC236}">
                <a16:creationId xmlns:a16="http://schemas.microsoft.com/office/drawing/2014/main" id="{B674AD86-7266-4FC2-886D-E49FB725B4E0}"/>
              </a:ext>
            </a:extLst>
          </p:cNvPr>
          <p:cNvPicPr>
            <a:picLocks noChangeAspect="1"/>
          </p:cNvPicPr>
          <p:nvPr/>
        </p:nvPicPr>
        <p:blipFill>
          <a:blip r:embed="rId3"/>
          <a:stretch>
            <a:fillRect/>
          </a:stretch>
        </p:blipFill>
        <p:spPr>
          <a:xfrm>
            <a:off x="3638832" y="2242822"/>
            <a:ext cx="5156376" cy="36910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80036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13-</a:t>
            </a:r>
            <a:fld id="{00000000-1234-1234-1234-123412341234}" type="slidenum">
              <a:rPr lang="en-US" sz="1400" b="1" i="0" u="none" smtClean="0">
                <a:solidFill>
                  <a:schemeClr val="lt1"/>
                </a:solidFill>
                <a:latin typeface="Verdana"/>
                <a:ea typeface="Verdana"/>
                <a:cs typeface="Verdana"/>
                <a:sym typeface="Verdana"/>
              </a:rPr>
              <a:t>41</a:t>
            </a:fld>
            <a:endParaRPr dirty="0"/>
          </a:p>
        </p:txBody>
      </p:sp>
      <p:sp>
        <p:nvSpPr>
          <p:cNvPr id="89" name="Google Shape;89;p16"/>
          <p:cNvSpPr txBox="1"/>
          <p:nvPr/>
        </p:nvSpPr>
        <p:spPr>
          <a:xfrm>
            <a:off x="457200" y="919883"/>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13.2 </a:t>
            </a:r>
            <a:r>
              <a:rPr lang="en-US" sz="4000" b="1" dirty="0">
                <a:solidFill>
                  <a:srgbClr val="333399"/>
                </a:solidFill>
                <a:latin typeface="+mn-lt"/>
                <a:cs typeface="Times New Roman"/>
                <a:sym typeface="Times New Roman"/>
              </a:rPr>
              <a:t>Post Hoc Tests on One-Way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Analysis of Variance</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457200" y="2386039"/>
            <a:ext cx="8229600" cy="265153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a:pPr>
            <a:r>
              <a:rPr lang="en-US" sz="2800" dirty="0">
                <a:solidFill>
                  <a:schemeClr val="dk1"/>
                </a:solidFill>
                <a:latin typeface="Times New Roman"/>
                <a:ea typeface="Times New Roman"/>
                <a:cs typeface="Times New Roman"/>
                <a:sym typeface="Times New Roman"/>
              </a:rPr>
              <a:t>Perform the Tukey Test</a:t>
            </a:r>
            <a:endParaRPr lang="en-US" sz="2800" dirty="0"/>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489636" y="1734942"/>
            <a:ext cx="834662" cy="843267"/>
          </a:xfrm>
          <a:prstGeom prst="rect">
            <a:avLst/>
          </a:prstGeom>
        </p:spPr>
      </p:pic>
    </p:spTree>
    <p:extLst>
      <p:ext uri="{BB962C8B-B14F-4D97-AF65-F5344CB8AC3E}">
        <p14:creationId xmlns:p14="http://schemas.microsoft.com/office/powerpoint/2010/main" val="2736430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8"/>
          <p:cNvSpPr txBox="1"/>
          <p:nvPr/>
        </p:nvSpPr>
        <p:spPr>
          <a:xfrm>
            <a:off x="609600" y="1220787"/>
            <a:ext cx="8077200" cy="35036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a:ea typeface="Times New Roman"/>
                <a:cs typeface="Times New Roman"/>
                <a:sym typeface="Times New Roman"/>
              </a:rPr>
              <a:t>When the results from a one-way ANOVA lead us to conclude that at least one population mean is different from the others, we can make additional comparisons between the means to determine which means differ significantly.  The procedures for making these comparisons are called </a:t>
            </a:r>
            <a:r>
              <a:rPr lang="en-US" sz="3200" b="1" i="0" u="none" dirty="0">
                <a:solidFill>
                  <a:schemeClr val="dk1"/>
                </a:solidFill>
                <a:latin typeface="Times New Roman"/>
                <a:ea typeface="Times New Roman"/>
                <a:cs typeface="Times New Roman"/>
                <a:sym typeface="Times New Roman"/>
              </a:rPr>
              <a:t>multiple comparison methods.</a:t>
            </a:r>
            <a:endParaRPr dirty="0"/>
          </a:p>
        </p:txBody>
      </p:sp>
      <p:sp>
        <p:nvSpPr>
          <p:cNvPr id="325" name="Google Shape;325;p48"/>
          <p:cNvSpPr txBox="1"/>
          <p:nvPr/>
        </p:nvSpPr>
        <p:spPr>
          <a:xfrm>
            <a:off x="4156075" y="223837"/>
            <a:ext cx="1841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326" name="Google Shape;326;p4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42</a:t>
            </a:fld>
            <a:endParaRPr/>
          </a:p>
        </p:txBody>
      </p:sp>
    </p:spTree>
    <p:extLst>
      <p:ext uri="{BB962C8B-B14F-4D97-AF65-F5344CB8AC3E}">
        <p14:creationId xmlns:p14="http://schemas.microsoft.com/office/powerpoint/2010/main" val="3863596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1</a:t>
            </a:r>
            <a:endParaRPr/>
          </a:p>
        </p:txBody>
      </p:sp>
      <p:sp>
        <p:nvSpPr>
          <p:cNvPr id="332" name="Google Shape;332;p49"/>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Perform the Tukey Test</a:t>
            </a:r>
            <a:endParaRPr dirty="0"/>
          </a:p>
        </p:txBody>
      </p:sp>
      <p:sp>
        <p:nvSpPr>
          <p:cNvPr id="333" name="Google Shape;333;p4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43</a:t>
            </a:fld>
            <a:endParaRPr/>
          </a:p>
        </p:txBody>
      </p:sp>
    </p:spTree>
    <p:extLst>
      <p:ext uri="{BB962C8B-B14F-4D97-AF65-F5344CB8AC3E}">
        <p14:creationId xmlns:p14="http://schemas.microsoft.com/office/powerpoint/2010/main" val="4163991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8"/>
          <p:cNvSpPr txBox="1"/>
          <p:nvPr/>
        </p:nvSpPr>
        <p:spPr>
          <a:xfrm>
            <a:off x="609600" y="1220787"/>
            <a:ext cx="8077200" cy="3503612"/>
          </a:xfrm>
          <a:prstGeom prst="rect">
            <a:avLst/>
          </a:prstGeom>
          <a:noFill/>
          <a:ln>
            <a:noFill/>
          </a:ln>
        </p:spPr>
        <p:txBody>
          <a:bodyPr spcFirstLastPara="1" wrap="square" lIns="91425" tIns="45700" rIns="91425" bIns="45700" anchor="t" anchorCtr="0">
            <a:noAutofit/>
          </a:bodyPr>
          <a:lstStyle/>
          <a:p>
            <a:r>
              <a:rPr lang="en-US" sz="3200" dirty="0">
                <a:latin typeface="Times New Roman" panose="02020603050405020304" pitchFamily="18" charset="0"/>
                <a:cs typeface="Times New Roman" panose="02020603050405020304" pitchFamily="18" charset="0"/>
              </a:rPr>
              <a:t>The Tukey test, also known as the </a:t>
            </a:r>
            <a:r>
              <a:rPr lang="en-US" sz="3200" i="1" dirty="0">
                <a:latin typeface="Times New Roman" panose="02020603050405020304" pitchFamily="18" charset="0"/>
                <a:cs typeface="Times New Roman" panose="02020603050405020304" pitchFamily="18" charset="0"/>
              </a:rPr>
              <a:t>Honestly Significant Difference Test </a:t>
            </a:r>
            <a:r>
              <a:rPr lang="en-US" sz="3200" dirty="0">
                <a:latin typeface="Times New Roman" panose="02020603050405020304" pitchFamily="18" charset="0"/>
                <a:cs typeface="Times New Roman" panose="02020603050405020304" pitchFamily="18" charset="0"/>
              </a:rPr>
              <a:t>and the </a:t>
            </a:r>
            <a:r>
              <a:rPr lang="en-US" sz="3200" i="1" dirty="0">
                <a:latin typeface="Times New Roman" panose="02020603050405020304" pitchFamily="18" charset="0"/>
                <a:cs typeface="Times New Roman" panose="02020603050405020304" pitchFamily="18" charset="0"/>
              </a:rPr>
              <a:t>Wholly</a:t>
            </a:r>
          </a:p>
          <a:p>
            <a:r>
              <a:rPr lang="en-US" sz="3200" i="1" dirty="0">
                <a:latin typeface="Times New Roman" panose="02020603050405020304" pitchFamily="18" charset="0"/>
                <a:cs typeface="Times New Roman" panose="02020603050405020304" pitchFamily="18" charset="0"/>
              </a:rPr>
              <a:t>Significant Difference Test</a:t>
            </a:r>
            <a:r>
              <a:rPr lang="en-US" sz="3200" dirty="0">
                <a:latin typeface="Times New Roman" panose="02020603050405020304" pitchFamily="18" charset="0"/>
                <a:cs typeface="Times New Roman" panose="02020603050405020304" pitchFamily="18" charset="0"/>
              </a:rPr>
              <a:t>, compares pairs of means after the null hypothesis of equal means has been rejected.</a:t>
            </a:r>
            <a:endParaRPr sz="3200" dirty="0">
              <a:latin typeface="Times New Roman" panose="02020603050405020304" pitchFamily="18" charset="0"/>
              <a:cs typeface="Times New Roman" panose="02020603050405020304" pitchFamily="18" charset="0"/>
            </a:endParaRPr>
          </a:p>
        </p:txBody>
      </p:sp>
      <p:sp>
        <p:nvSpPr>
          <p:cNvPr id="325" name="Google Shape;325;p48"/>
          <p:cNvSpPr txBox="1"/>
          <p:nvPr/>
        </p:nvSpPr>
        <p:spPr>
          <a:xfrm>
            <a:off x="4156075" y="223837"/>
            <a:ext cx="1841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326" name="Google Shape;326;p4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44</a:t>
            </a:fld>
            <a:endParaRPr/>
          </a:p>
        </p:txBody>
      </p:sp>
    </p:spTree>
    <p:extLst>
      <p:ext uri="{BB962C8B-B14F-4D97-AF65-F5344CB8AC3E}">
        <p14:creationId xmlns:p14="http://schemas.microsoft.com/office/powerpoint/2010/main" val="2637069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0"/>
          <p:cNvSpPr txBox="1"/>
          <p:nvPr/>
        </p:nvSpPr>
        <p:spPr>
          <a:xfrm>
            <a:off x="609600" y="304800"/>
            <a:ext cx="8077200" cy="64944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r>
              <a:rPr lang="en-US"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The computation of the test statistic for Tukey’s test for comparing pairs of means follows the same logic as the test for comparing two means from independent sampling.  However, the standard error that is used is</a:t>
            </a:r>
            <a:endParaRPr sz="30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3200"/>
              <a:buFont typeface="Arial"/>
              <a:buNone/>
            </a:pPr>
            <a:endParaRPr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3200"/>
              <a:buFont typeface="Arial"/>
              <a:buNone/>
            </a:pPr>
            <a:endParaRPr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3200"/>
              <a:buFont typeface="Arial"/>
              <a:buNone/>
            </a:pPr>
            <a:endParaRPr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where </a:t>
            </a:r>
            <a:r>
              <a:rPr lang="en-US" sz="30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s</a:t>
            </a:r>
            <a:r>
              <a:rPr lang="en-US" sz="3000" b="0" i="0" u="none"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is the mean square error estimate (MSE) of </a:t>
            </a:r>
            <a:r>
              <a:rPr lang="en-US" sz="30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σ</a:t>
            </a:r>
            <a:r>
              <a:rPr lang="en-US" sz="3000" b="0" i="0" u="none"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from the one-way ANOVA, </a:t>
            </a:r>
            <a:r>
              <a:rPr lang="en-US" sz="30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n</a:t>
            </a:r>
            <a:r>
              <a:rPr lang="en-US" sz="3000" b="0" i="0" u="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is the sample size from population 1, and </a:t>
            </a:r>
            <a:r>
              <a:rPr lang="en-US" sz="30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n</a:t>
            </a:r>
            <a:r>
              <a:rPr lang="en-US" sz="3000" b="0" i="0" u="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is the sample size from population 2.</a:t>
            </a:r>
            <a:endParaRPr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None/>
            </a:pPr>
            <a:endParaRPr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339" name="Google Shape;339;p50"/>
          <p:cNvSpPr txBox="1"/>
          <p:nvPr/>
        </p:nvSpPr>
        <p:spPr>
          <a:xfrm>
            <a:off x="4156075" y="223837"/>
            <a:ext cx="1841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341" name="Google Shape;341;p5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45</a:t>
            </a:fld>
            <a:endParaRPr/>
          </a:p>
        </p:txBody>
      </p:sp>
      <p:graphicFrame>
        <p:nvGraphicFramePr>
          <p:cNvPr id="2" name="Object 1">
            <a:extLst>
              <a:ext uri="{FF2B5EF4-FFF2-40B4-BE49-F238E27FC236}">
                <a16:creationId xmlns:a16="http://schemas.microsoft.com/office/drawing/2014/main" id="{6EB8198D-B611-40F0-8A50-7383A713595A}"/>
              </a:ext>
            </a:extLst>
          </p:cNvPr>
          <p:cNvGraphicFramePr>
            <a:graphicFrameLocks noChangeAspect="1"/>
          </p:cNvGraphicFramePr>
          <p:nvPr>
            <p:extLst>
              <p:ext uri="{D42A27DB-BD31-4B8C-83A1-F6EECF244321}">
                <p14:modId xmlns:p14="http://schemas.microsoft.com/office/powerpoint/2010/main" val="1697406779"/>
              </p:ext>
            </p:extLst>
          </p:nvPr>
        </p:nvGraphicFramePr>
        <p:xfrm>
          <a:off x="2827321" y="2637214"/>
          <a:ext cx="3187700" cy="1206500"/>
        </p:xfrm>
        <a:graphic>
          <a:graphicData uri="http://schemas.openxmlformats.org/presentationml/2006/ole">
            <mc:AlternateContent xmlns:mc="http://schemas.openxmlformats.org/markup-compatibility/2006">
              <mc:Choice xmlns:v="urn:schemas-microsoft-com:vml" Requires="v">
                <p:oleObj spid="_x0000_s59509" name="Equation" r:id="rId4" imgW="3187440" imgH="1206360" progId="Equation.DSMT4">
                  <p:embed/>
                </p:oleObj>
              </mc:Choice>
              <mc:Fallback>
                <p:oleObj name="Equation" r:id="rId4" imgW="3187440" imgH="1206360" progId="Equation.DSMT4">
                  <p:embed/>
                  <p:pic>
                    <p:nvPicPr>
                      <p:cNvPr id="0" name=""/>
                      <p:cNvPicPr/>
                      <p:nvPr/>
                    </p:nvPicPr>
                    <p:blipFill>
                      <a:blip r:embed="rId5"/>
                      <a:stretch>
                        <a:fillRect/>
                      </a:stretch>
                    </p:blipFill>
                    <p:spPr>
                      <a:xfrm>
                        <a:off x="2827321" y="2637214"/>
                        <a:ext cx="3187700" cy="1206500"/>
                      </a:xfrm>
                      <a:prstGeom prst="rect">
                        <a:avLst/>
                      </a:prstGeom>
                    </p:spPr>
                  </p:pic>
                </p:oleObj>
              </mc:Fallback>
            </mc:AlternateContent>
          </a:graphicData>
        </a:graphic>
      </p:graphicFrame>
    </p:spTree>
    <p:extLst>
      <p:ext uri="{BB962C8B-B14F-4D97-AF65-F5344CB8AC3E}">
        <p14:creationId xmlns:p14="http://schemas.microsoft.com/office/powerpoint/2010/main" val="2493593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10" name="Rectangle 9">
            <a:extLst>
              <a:ext uri="{FF2B5EF4-FFF2-40B4-BE49-F238E27FC236}">
                <a16:creationId xmlns:a16="http://schemas.microsoft.com/office/drawing/2014/main" id="{3CB73D7D-33F4-4D2F-85B4-F8E4C16D4156}"/>
              </a:ext>
            </a:extLst>
          </p:cNvPr>
          <p:cNvSpPr/>
          <p:nvPr/>
        </p:nvSpPr>
        <p:spPr>
          <a:xfrm>
            <a:off x="273378" y="273054"/>
            <a:ext cx="8634956" cy="6057895"/>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Google Shape;346;p51"/>
          <p:cNvSpPr txBox="1">
            <a:spLocks noGrp="1"/>
          </p:cNvSpPr>
          <p:nvPr>
            <p:ph type="body" idx="1"/>
          </p:nvPr>
        </p:nvSpPr>
        <p:spPr>
          <a:xfrm>
            <a:off x="381000" y="1021234"/>
            <a:ext cx="8229600" cy="5211762"/>
          </a:xfrm>
          <a:prstGeom prst="rect">
            <a:avLst/>
          </a:prstGeom>
          <a:noFill/>
          <a:ln>
            <a:noFill/>
          </a:ln>
        </p:spPr>
        <p:txBody>
          <a:bodyPr spcFirstLastPara="1" wrap="square" lIns="91425" tIns="45700" rIns="91425" bIns="45700" anchor="t" anchorCtr="0">
            <a:noAutofit/>
          </a:bodyPr>
          <a:lstStyle/>
          <a:p>
            <a:pPr marL="609600" lvl="0" indent="-609600" algn="l" rtl="0">
              <a:spcBef>
                <a:spcPts val="0"/>
              </a:spcBef>
              <a:spcAft>
                <a:spcPts val="0"/>
              </a:spcAft>
              <a:buSzPts val="3200"/>
              <a:buFont typeface="Times New Roman"/>
              <a:buNone/>
            </a:pP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The test statistic for Tukey’s test when testing</a:t>
            </a:r>
          </a:p>
          <a:p>
            <a:pPr marL="609600" lvl="0" indent="-609600" algn="l" rtl="0">
              <a:spcBef>
                <a:spcPts val="0"/>
              </a:spcBef>
              <a:spcAft>
                <a:spcPts val="0"/>
              </a:spcAft>
              <a:buSzPts val="3200"/>
              <a:buFont typeface="Times New Roman"/>
              <a:buNone/>
            </a:pP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H</a:t>
            </a:r>
            <a:r>
              <a:rPr lang="en-US" sz="2800" b="0" i="0" u="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0</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μ</a:t>
            </a:r>
            <a:r>
              <a:rPr lang="en-US" sz="2800" b="0" i="0" u="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μ</a:t>
            </a:r>
            <a:r>
              <a:rPr lang="en-US" sz="2800" b="0" i="0" u="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versus </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H</a:t>
            </a:r>
            <a:r>
              <a:rPr lang="en-US" sz="2800" b="0" i="0" u="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μ</a:t>
            </a:r>
            <a:r>
              <a:rPr lang="en-US" sz="2800" b="0" i="0" u="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μ</a:t>
            </a:r>
            <a:r>
              <a:rPr lang="en-US" sz="2800" b="0" i="0" u="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is given by</a:t>
            </a:r>
            <a:endParaRPr sz="2800" dirty="0">
              <a:latin typeface="Times New Roman" panose="02020603050405020304" pitchFamily="18" charset="0"/>
              <a:cs typeface="Times New Roman" panose="02020603050405020304" pitchFamily="18" charset="0"/>
            </a:endParaRPr>
          </a:p>
          <a:p>
            <a:pPr marL="609600" lvl="0" indent="-609600" algn="l" rtl="0">
              <a:spcBef>
                <a:spcPts val="640"/>
              </a:spcBef>
              <a:spcAft>
                <a:spcPts val="0"/>
              </a:spcAft>
              <a:buSzPts val="3200"/>
              <a:buFont typeface="Times New Roman"/>
              <a:buNone/>
            </a:pPr>
            <a:endParaRPr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609600" lvl="0" indent="-609600" algn="l" rtl="0">
              <a:spcBef>
                <a:spcPts val="640"/>
              </a:spcBef>
              <a:spcAft>
                <a:spcPts val="0"/>
              </a:spcAft>
              <a:buSzPts val="3200"/>
              <a:buFont typeface="Times New Roman"/>
              <a:buNone/>
            </a:pPr>
            <a:endParaRPr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609600" lvl="0" indent="-609600" algn="l" rtl="0">
              <a:spcBef>
                <a:spcPts val="640"/>
              </a:spcBef>
              <a:spcAft>
                <a:spcPts val="0"/>
              </a:spcAft>
              <a:buSzPts val="3200"/>
              <a:buFont typeface="Times New Roman"/>
              <a:buNone/>
            </a:pPr>
            <a:endParaRPr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l" rtl="0">
              <a:spcBef>
                <a:spcPts val="0"/>
              </a:spcBef>
              <a:spcAft>
                <a:spcPts val="0"/>
              </a:spcAft>
              <a:buSzPts val="3200"/>
              <a:buFont typeface="Times New Roman"/>
              <a:buNone/>
            </a:pPr>
            <a:endPar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l" rtl="0">
              <a:spcBef>
                <a:spcPts val="0"/>
              </a:spcBef>
              <a:spcAft>
                <a:spcPts val="0"/>
              </a:spcAft>
              <a:buSzPts val="3200"/>
              <a:buFont typeface="Times New Roman"/>
              <a:buNone/>
            </a:pP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where </a:t>
            </a:r>
            <a:endParaRPr sz="28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SzPts val="3200"/>
              <a:buFont typeface="Times New Roman"/>
              <a:buNone/>
            </a:pPr>
            <a:r>
              <a:rPr lang="en-US" sz="2800" i="1"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s</a:t>
            </a:r>
            <a:r>
              <a:rPr lang="en-US" sz="2800" b="0" i="0" u="none"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is the mean square estimate of</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 σ</a:t>
            </a:r>
            <a:r>
              <a:rPr lang="en-US" sz="2800" b="0" i="0" u="none"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(MSE) from   </a:t>
            </a:r>
            <a:b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b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ANOVA</a:t>
            </a:r>
            <a:endParaRPr sz="2800" dirty="0">
              <a:latin typeface="Times New Roman" panose="02020603050405020304" pitchFamily="18" charset="0"/>
              <a:cs typeface="Times New Roman" panose="02020603050405020304" pitchFamily="18" charset="0"/>
            </a:endParaRPr>
          </a:p>
          <a:p>
            <a:pPr marL="609600" lvl="0" indent="0" algn="l" rtl="0">
              <a:spcBef>
                <a:spcPts val="640"/>
              </a:spcBef>
              <a:spcAft>
                <a:spcPts val="0"/>
              </a:spcAft>
              <a:buSzPts val="3200"/>
              <a:buFont typeface="Times New Roman"/>
              <a:buNone/>
            </a:pP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    n</a:t>
            </a:r>
            <a:r>
              <a:rPr lang="en-US" sz="2800" b="0" i="0" u="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 </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is the sample size from population 1</a:t>
            </a:r>
            <a:endParaRPr sz="2800" dirty="0">
              <a:latin typeface="Times New Roman" panose="02020603050405020304" pitchFamily="18" charset="0"/>
              <a:cs typeface="Times New Roman" panose="02020603050405020304" pitchFamily="18" charset="0"/>
            </a:endParaRPr>
          </a:p>
          <a:p>
            <a:pPr marL="609600" lvl="0" indent="0" algn="l" rtl="0">
              <a:spcBef>
                <a:spcPts val="640"/>
              </a:spcBef>
              <a:spcAft>
                <a:spcPts val="0"/>
              </a:spcAft>
              <a:buSzPts val="3200"/>
              <a:buFont typeface="Times New Roman"/>
              <a:buNone/>
            </a:pP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    n</a:t>
            </a:r>
            <a:r>
              <a:rPr lang="en-US" sz="2800" b="0" i="0" u="none"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 </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is the sample size from population 2</a:t>
            </a:r>
            <a:endParaRPr sz="2800" dirty="0">
              <a:latin typeface="Times New Roman" panose="02020603050405020304" pitchFamily="18" charset="0"/>
              <a:cs typeface="Times New Roman" panose="02020603050405020304" pitchFamily="18" charset="0"/>
            </a:endParaRPr>
          </a:p>
        </p:txBody>
      </p:sp>
      <p:sp>
        <p:nvSpPr>
          <p:cNvPr id="347" name="Google Shape;347;p51"/>
          <p:cNvSpPr txBox="1"/>
          <p:nvPr/>
        </p:nvSpPr>
        <p:spPr>
          <a:xfrm>
            <a:off x="381000" y="288775"/>
            <a:ext cx="8153400" cy="8382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Test Statistic for Tukey’s Test</a:t>
            </a:r>
            <a:endParaRPr dirty="0">
              <a:solidFill>
                <a:schemeClr val="tx1"/>
              </a:solidFill>
              <a:latin typeface="+mn-lt"/>
            </a:endParaRPr>
          </a:p>
        </p:txBody>
      </p:sp>
      <p:sp>
        <p:nvSpPr>
          <p:cNvPr id="350" name="Google Shape;350;p51"/>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46</a:t>
            </a:fld>
            <a:endParaRPr/>
          </a:p>
        </p:txBody>
      </p:sp>
      <p:graphicFrame>
        <p:nvGraphicFramePr>
          <p:cNvPr id="2" name="Object 1">
            <a:extLst>
              <a:ext uri="{FF2B5EF4-FFF2-40B4-BE49-F238E27FC236}">
                <a16:creationId xmlns:a16="http://schemas.microsoft.com/office/drawing/2014/main" id="{FC995207-236D-4D0F-98A0-089D15AC8F52}"/>
              </a:ext>
            </a:extLst>
          </p:cNvPr>
          <p:cNvGraphicFramePr>
            <a:graphicFrameLocks noChangeAspect="1"/>
          </p:cNvGraphicFramePr>
          <p:nvPr>
            <p:extLst>
              <p:ext uri="{D42A27DB-BD31-4B8C-83A1-F6EECF244321}">
                <p14:modId xmlns:p14="http://schemas.microsoft.com/office/powerpoint/2010/main" val="888843304"/>
              </p:ext>
            </p:extLst>
          </p:nvPr>
        </p:nvGraphicFramePr>
        <p:xfrm>
          <a:off x="1390273" y="2187973"/>
          <a:ext cx="6096000" cy="1638300"/>
        </p:xfrm>
        <a:graphic>
          <a:graphicData uri="http://schemas.openxmlformats.org/presentationml/2006/ole">
            <mc:AlternateContent xmlns:mc="http://schemas.openxmlformats.org/markup-compatibility/2006">
              <mc:Choice xmlns:v="urn:schemas-microsoft-com:vml" Requires="v">
                <p:oleObj spid="_x0000_s60646" name="Equation" r:id="rId4" imgW="6095880" imgH="1638000" progId="Equation.DSMT4">
                  <p:embed/>
                </p:oleObj>
              </mc:Choice>
              <mc:Fallback>
                <p:oleObj name="Equation" r:id="rId4" imgW="6095880" imgH="1638000" progId="Equation.DSMT4">
                  <p:embed/>
                  <p:pic>
                    <p:nvPicPr>
                      <p:cNvPr id="0" name=""/>
                      <p:cNvPicPr/>
                      <p:nvPr/>
                    </p:nvPicPr>
                    <p:blipFill>
                      <a:blip r:embed="rId5"/>
                      <a:stretch>
                        <a:fillRect/>
                      </a:stretch>
                    </p:blipFill>
                    <p:spPr>
                      <a:xfrm>
                        <a:off x="1390273" y="2187973"/>
                        <a:ext cx="6096000" cy="16383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2952BE4E-7040-480C-B1FE-D45F535F26E7}"/>
              </a:ext>
            </a:extLst>
          </p:cNvPr>
          <p:cNvGraphicFramePr>
            <a:graphicFrameLocks noChangeAspect="1"/>
          </p:cNvGraphicFramePr>
          <p:nvPr>
            <p:extLst>
              <p:ext uri="{D42A27DB-BD31-4B8C-83A1-F6EECF244321}">
                <p14:modId xmlns:p14="http://schemas.microsoft.com/office/powerpoint/2010/main" val="796311950"/>
              </p:ext>
            </p:extLst>
          </p:nvPr>
        </p:nvGraphicFramePr>
        <p:xfrm>
          <a:off x="1399700" y="3892261"/>
          <a:ext cx="939800" cy="431800"/>
        </p:xfrm>
        <a:graphic>
          <a:graphicData uri="http://schemas.openxmlformats.org/presentationml/2006/ole">
            <mc:AlternateContent xmlns:mc="http://schemas.openxmlformats.org/markup-compatibility/2006">
              <mc:Choice xmlns:v="urn:schemas-microsoft-com:vml" Requires="v">
                <p:oleObj spid="_x0000_s60647" name="Equation" r:id="rId6" imgW="939600" imgH="431640" progId="Equation.DSMT4">
                  <p:embed/>
                </p:oleObj>
              </mc:Choice>
              <mc:Fallback>
                <p:oleObj name="Equation" r:id="rId6" imgW="939600" imgH="431640" progId="Equation.DSMT4">
                  <p:embed/>
                  <p:pic>
                    <p:nvPicPr>
                      <p:cNvPr id="0" name=""/>
                      <p:cNvPicPr/>
                      <p:nvPr/>
                    </p:nvPicPr>
                    <p:blipFill>
                      <a:blip r:embed="rId7"/>
                      <a:stretch>
                        <a:fillRect/>
                      </a:stretch>
                    </p:blipFill>
                    <p:spPr>
                      <a:xfrm>
                        <a:off x="1399700" y="3892261"/>
                        <a:ext cx="939800" cy="431800"/>
                      </a:xfrm>
                      <a:prstGeom prst="rect">
                        <a:avLst/>
                      </a:prstGeom>
                    </p:spPr>
                  </p:pic>
                </p:oleObj>
              </mc:Fallback>
            </mc:AlternateContent>
          </a:graphicData>
        </a:graphic>
      </p:graphicFrame>
    </p:spTree>
    <p:extLst>
      <p:ext uri="{BB962C8B-B14F-4D97-AF65-F5344CB8AC3E}">
        <p14:creationId xmlns:p14="http://schemas.microsoft.com/office/powerpoint/2010/main" val="4004941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8"/>
          <p:cNvSpPr txBox="1"/>
          <p:nvPr/>
        </p:nvSpPr>
        <p:spPr>
          <a:xfrm>
            <a:off x="609600" y="1220787"/>
            <a:ext cx="8077200" cy="3503612"/>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The </a:t>
            </a:r>
            <a:r>
              <a:rPr lang="en-US" sz="2800" i="1" dirty="0">
                <a:latin typeface="Times New Roman" panose="02020603050405020304" pitchFamily="18" charset="0"/>
                <a:cs typeface="Times New Roman" panose="02020603050405020304" pitchFamily="18" charset="0"/>
              </a:rPr>
              <a:t>q</a:t>
            </a:r>
            <a:r>
              <a:rPr lang="en-US" sz="2800" dirty="0">
                <a:latin typeface="Times New Roman" panose="02020603050405020304" pitchFamily="18" charset="0"/>
                <a:cs typeface="Times New Roman" panose="02020603050405020304" pitchFamily="18" charset="0"/>
              </a:rPr>
              <a:t>-test statistic follows the </a:t>
            </a:r>
            <a:r>
              <a:rPr lang="en-US" sz="2800" b="1" dirty="0">
                <a:latin typeface="Times New Roman" panose="02020603050405020304" pitchFamily="18" charset="0"/>
                <a:cs typeface="Times New Roman" panose="02020603050405020304" pitchFamily="18" charset="0"/>
              </a:rPr>
              <a:t>Studentized range distribution</a:t>
            </a:r>
            <a:r>
              <a:rPr lang="en-US" sz="2800" dirty="0">
                <a:latin typeface="Times New Roman" panose="02020603050405020304" pitchFamily="18" charset="0"/>
                <a:cs typeface="Times New Roman" panose="02020603050405020304" pitchFamily="18" charset="0"/>
              </a:rPr>
              <a:t>. The shape of the distribution depends on the error degrees of freedom,</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and the total number of means being compared, </a:t>
            </a:r>
            <a:r>
              <a:rPr lang="en-US" sz="2800" i="1" dirty="0">
                <a:latin typeface="Times New Roman" panose="02020603050405020304" pitchFamily="18" charset="0"/>
                <a:cs typeface="Times New Roman" panose="02020603050405020304" pitchFamily="18" charset="0"/>
              </a:rPr>
              <a:t>k</a:t>
            </a:r>
            <a:r>
              <a:rPr lang="en-US" sz="2800" dirty="0">
                <a:latin typeface="Times New Roman" panose="02020603050405020304" pitchFamily="18" charset="0"/>
                <a:cs typeface="Times New Roman" panose="02020603050405020304" pitchFamily="18" charset="0"/>
              </a:rPr>
              <a:t>. We will compare the test statistic, </a:t>
            </a:r>
            <a:r>
              <a:rPr lang="en-US" sz="2800" i="1" dirty="0">
                <a:latin typeface="Times New Roman" panose="02020603050405020304" pitchFamily="18" charset="0"/>
                <a:cs typeface="Times New Roman" panose="02020603050405020304" pitchFamily="18" charset="0"/>
              </a:rPr>
              <a:t>q</a:t>
            </a:r>
            <a:r>
              <a:rPr lang="en-US" sz="2800" baseline="-25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to a critical value from this distribution,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where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is the level of significance of the test and therefore the probability of making a Type I error. The level of significance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is called the </a:t>
            </a:r>
            <a:r>
              <a:rPr lang="en-US" sz="2800" b="1" dirty="0" err="1">
                <a:latin typeface="Times New Roman" panose="02020603050405020304" pitchFamily="18" charset="0"/>
                <a:cs typeface="Times New Roman" panose="02020603050405020304" pitchFamily="18" charset="0"/>
              </a:rPr>
              <a:t>experimentwise</a:t>
            </a:r>
            <a:r>
              <a:rPr lang="en-US" sz="2800" b="1" dirty="0">
                <a:latin typeface="Times New Roman" panose="02020603050405020304" pitchFamily="18" charset="0"/>
                <a:cs typeface="Times New Roman" panose="02020603050405020304" pitchFamily="18" charset="0"/>
              </a:rPr>
              <a:t> error rate </a:t>
            </a:r>
            <a:r>
              <a:rPr lang="en-US" sz="2800" dirty="0">
                <a:latin typeface="Times New Roman" panose="02020603050405020304" pitchFamily="18" charset="0"/>
                <a:cs typeface="Times New Roman" panose="02020603050405020304" pitchFamily="18" charset="0"/>
              </a:rPr>
              <a:t>or the </a:t>
            </a:r>
            <a:r>
              <a:rPr lang="en-US" sz="2800" b="1" dirty="0">
                <a:latin typeface="Times New Roman" panose="02020603050405020304" pitchFamily="18" charset="0"/>
                <a:cs typeface="Times New Roman" panose="02020603050405020304" pitchFamily="18" charset="0"/>
              </a:rPr>
              <a:t>familywise error rate</a:t>
            </a:r>
            <a:r>
              <a:rPr lang="en-US" sz="2800"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p:txBody>
      </p:sp>
      <p:sp>
        <p:nvSpPr>
          <p:cNvPr id="325" name="Google Shape;325;p48"/>
          <p:cNvSpPr txBox="1"/>
          <p:nvPr/>
        </p:nvSpPr>
        <p:spPr>
          <a:xfrm>
            <a:off x="4156075" y="223837"/>
            <a:ext cx="1841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326" name="Google Shape;326;p4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47</a:t>
            </a:fld>
            <a:endParaRPr/>
          </a:p>
        </p:txBody>
      </p:sp>
      <p:graphicFrame>
        <p:nvGraphicFramePr>
          <p:cNvPr id="2" name="Object 1">
            <a:extLst>
              <a:ext uri="{FF2B5EF4-FFF2-40B4-BE49-F238E27FC236}">
                <a16:creationId xmlns:a16="http://schemas.microsoft.com/office/drawing/2014/main" id="{561226FD-8117-4CBE-88F8-556F67AF4FF5}"/>
              </a:ext>
            </a:extLst>
          </p:cNvPr>
          <p:cNvGraphicFramePr>
            <a:graphicFrameLocks noChangeAspect="1"/>
          </p:cNvGraphicFramePr>
          <p:nvPr>
            <p:extLst>
              <p:ext uri="{D42A27DB-BD31-4B8C-83A1-F6EECF244321}">
                <p14:modId xmlns:p14="http://schemas.microsoft.com/office/powerpoint/2010/main" val="1207102374"/>
              </p:ext>
            </p:extLst>
          </p:nvPr>
        </p:nvGraphicFramePr>
        <p:xfrm>
          <a:off x="670023" y="3410146"/>
          <a:ext cx="825500" cy="469900"/>
        </p:xfrm>
        <a:graphic>
          <a:graphicData uri="http://schemas.openxmlformats.org/presentationml/2006/ole">
            <mc:AlternateContent xmlns:mc="http://schemas.openxmlformats.org/markup-compatibility/2006">
              <mc:Choice xmlns:v="urn:schemas-microsoft-com:vml" Requires="v">
                <p:oleObj spid="_x0000_s61555" name="Equation" r:id="rId4" imgW="825480" imgH="469800" progId="Equation.DSMT4">
                  <p:embed/>
                </p:oleObj>
              </mc:Choice>
              <mc:Fallback>
                <p:oleObj name="Equation" r:id="rId4" imgW="825480" imgH="469800" progId="Equation.DSMT4">
                  <p:embed/>
                  <p:pic>
                    <p:nvPicPr>
                      <p:cNvPr id="0" name=""/>
                      <p:cNvPicPr/>
                      <p:nvPr/>
                    </p:nvPicPr>
                    <p:blipFill>
                      <a:blip r:embed="rId5"/>
                      <a:stretch>
                        <a:fillRect/>
                      </a:stretch>
                    </p:blipFill>
                    <p:spPr>
                      <a:xfrm>
                        <a:off x="670023" y="3410146"/>
                        <a:ext cx="825500" cy="469900"/>
                      </a:xfrm>
                      <a:prstGeom prst="rect">
                        <a:avLst/>
                      </a:prstGeom>
                    </p:spPr>
                  </p:pic>
                </p:oleObj>
              </mc:Fallback>
            </mc:AlternateContent>
          </a:graphicData>
        </a:graphic>
      </p:graphicFrame>
    </p:spTree>
    <p:extLst>
      <p:ext uri="{BB962C8B-B14F-4D97-AF65-F5344CB8AC3E}">
        <p14:creationId xmlns:p14="http://schemas.microsoft.com/office/powerpoint/2010/main" val="2105579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8" name="Rectangle 7">
            <a:extLst>
              <a:ext uri="{FF2B5EF4-FFF2-40B4-BE49-F238E27FC236}">
                <a16:creationId xmlns:a16="http://schemas.microsoft.com/office/drawing/2014/main" id="{05E68428-1F84-4635-B44A-FEE675E8D635}"/>
              </a:ext>
            </a:extLst>
          </p:cNvPr>
          <p:cNvSpPr/>
          <p:nvPr/>
        </p:nvSpPr>
        <p:spPr>
          <a:xfrm>
            <a:off x="292231" y="410362"/>
            <a:ext cx="8474697" cy="5424610"/>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Google Shape;355;p52"/>
          <p:cNvSpPr txBox="1">
            <a:spLocks noGrp="1"/>
          </p:cNvSpPr>
          <p:nvPr>
            <p:ph type="body" idx="1"/>
          </p:nvPr>
        </p:nvSpPr>
        <p:spPr>
          <a:xfrm>
            <a:off x="596900" y="1089819"/>
            <a:ext cx="8001000" cy="39163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3000"/>
              <a:buFont typeface="Times New Roman"/>
              <a:buNone/>
            </a:pP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The critical value for Tukey’s test using a familywise error rate </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α</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is given by</a:t>
            </a:r>
            <a:endParaRPr sz="2800" dirty="0">
              <a:latin typeface="Times New Roman" panose="02020603050405020304" pitchFamily="18" charset="0"/>
              <a:cs typeface="Times New Roman" panose="02020603050405020304" pitchFamily="18" charset="0"/>
            </a:endParaRPr>
          </a:p>
          <a:p>
            <a:pPr marL="0" lvl="0" indent="0" algn="l" rtl="0">
              <a:lnSpc>
                <a:spcPct val="90000"/>
              </a:lnSpc>
              <a:spcBef>
                <a:spcPts val="600"/>
              </a:spcBef>
              <a:spcAft>
                <a:spcPts val="0"/>
              </a:spcAft>
              <a:buSzPts val="3000"/>
              <a:buFont typeface="Times New Roman"/>
              <a:buNone/>
            </a:pP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endParaRPr sz="2800" dirty="0">
              <a:latin typeface="Times New Roman" panose="02020603050405020304" pitchFamily="18" charset="0"/>
              <a:cs typeface="Times New Roman" panose="02020603050405020304" pitchFamily="18" charset="0"/>
            </a:endParaRPr>
          </a:p>
          <a:p>
            <a:pPr marL="0" lvl="0" indent="0" algn="l" rtl="0">
              <a:lnSpc>
                <a:spcPct val="90000"/>
              </a:lnSpc>
              <a:spcBef>
                <a:spcPts val="600"/>
              </a:spcBef>
              <a:spcAft>
                <a:spcPts val="0"/>
              </a:spcAft>
              <a:buSzPts val="3000"/>
              <a:buFont typeface="Times New Roman"/>
              <a:buNone/>
            </a:pP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endParaRPr sz="2800" dirty="0">
              <a:latin typeface="Times New Roman" panose="02020603050405020304" pitchFamily="18" charset="0"/>
              <a:cs typeface="Times New Roman" panose="02020603050405020304" pitchFamily="18" charset="0"/>
            </a:endParaRPr>
          </a:p>
          <a:p>
            <a:pPr marL="0" lvl="0" indent="0" algn="l" rtl="0">
              <a:lnSpc>
                <a:spcPct val="90000"/>
              </a:lnSpc>
              <a:spcBef>
                <a:spcPts val="600"/>
              </a:spcBef>
              <a:spcAft>
                <a:spcPts val="0"/>
              </a:spcAft>
              <a:buSzPts val="3000"/>
              <a:buFont typeface="Times New Roman"/>
              <a:buNone/>
            </a:pP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where</a:t>
            </a:r>
            <a:endParaRPr sz="2800" dirty="0">
              <a:latin typeface="Times New Roman" panose="02020603050405020304" pitchFamily="18" charset="0"/>
              <a:cs typeface="Times New Roman" panose="02020603050405020304" pitchFamily="18" charset="0"/>
            </a:endParaRPr>
          </a:p>
          <a:p>
            <a:pPr marL="114300" indent="0">
              <a:buNone/>
            </a:pPr>
            <a:r>
              <a:rPr lang="en-US" sz="2800" i="1"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ν</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is the degrees of freedom due to error, </a:t>
            </a:r>
            <a:r>
              <a:rPr lang="en-US" sz="2800" dirty="0">
                <a:latin typeface="Times New Roman" panose="02020603050405020304" pitchFamily="18" charset="0"/>
                <a:cs typeface="Times New Roman" panose="02020603050405020304" pitchFamily="18" charset="0"/>
              </a:rPr>
              <a:t>which 	   is the total number of subjects sampled minus 	   the number of means being compared, or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n – k</a:t>
            </a:r>
            <a:endParaRPr sz="2800" dirty="0">
              <a:latin typeface="Times New Roman" panose="02020603050405020304" pitchFamily="18" charset="0"/>
              <a:cs typeface="Times New Roman" panose="02020603050405020304" pitchFamily="18" charset="0"/>
            </a:endParaRPr>
          </a:p>
          <a:p>
            <a:pPr marL="0" lvl="0" indent="0" algn="l" rtl="0">
              <a:lnSpc>
                <a:spcPct val="90000"/>
              </a:lnSpc>
              <a:spcBef>
                <a:spcPts val="600"/>
              </a:spcBef>
              <a:spcAft>
                <a:spcPts val="0"/>
              </a:spcAft>
              <a:buSzPts val="3000"/>
              <a:buFont typeface="Times New Roman"/>
              <a:buNone/>
            </a:pP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  	k</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is the total number of means being compared</a:t>
            </a:r>
            <a:endParaRPr sz="2800" dirty="0">
              <a:latin typeface="Times New Roman" panose="02020603050405020304" pitchFamily="18" charset="0"/>
              <a:cs typeface="Times New Roman" panose="02020603050405020304" pitchFamily="18" charset="0"/>
            </a:endParaRPr>
          </a:p>
        </p:txBody>
      </p:sp>
      <p:sp>
        <p:nvSpPr>
          <p:cNvPr id="356" name="Google Shape;356;p52"/>
          <p:cNvSpPr txBox="1"/>
          <p:nvPr/>
        </p:nvSpPr>
        <p:spPr>
          <a:xfrm>
            <a:off x="533400" y="400935"/>
            <a:ext cx="8153400" cy="790574"/>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Critical Value for Tukey’s Test</a:t>
            </a:r>
            <a:endParaRPr dirty="0">
              <a:solidFill>
                <a:schemeClr val="tx1"/>
              </a:solidFill>
              <a:latin typeface="+mn-lt"/>
            </a:endParaRPr>
          </a:p>
        </p:txBody>
      </p:sp>
      <p:sp>
        <p:nvSpPr>
          <p:cNvPr id="357" name="Google Shape;357;p5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48</a:t>
            </a:fld>
            <a:endParaRPr/>
          </a:p>
        </p:txBody>
      </p:sp>
      <p:graphicFrame>
        <p:nvGraphicFramePr>
          <p:cNvPr id="3" name="Object 2">
            <a:extLst>
              <a:ext uri="{FF2B5EF4-FFF2-40B4-BE49-F238E27FC236}">
                <a16:creationId xmlns:a16="http://schemas.microsoft.com/office/drawing/2014/main" id="{E8DBAF4A-BDE7-44EC-AD84-36CAC7981E0F}"/>
              </a:ext>
            </a:extLst>
          </p:cNvPr>
          <p:cNvGraphicFramePr>
            <a:graphicFrameLocks noChangeAspect="1"/>
          </p:cNvGraphicFramePr>
          <p:nvPr>
            <p:extLst>
              <p:ext uri="{D42A27DB-BD31-4B8C-83A1-F6EECF244321}">
                <p14:modId xmlns:p14="http://schemas.microsoft.com/office/powerpoint/2010/main" val="1702063507"/>
              </p:ext>
            </p:extLst>
          </p:nvPr>
        </p:nvGraphicFramePr>
        <p:xfrm>
          <a:off x="3898900" y="2266916"/>
          <a:ext cx="711200" cy="469900"/>
        </p:xfrm>
        <a:graphic>
          <a:graphicData uri="http://schemas.openxmlformats.org/presentationml/2006/ole">
            <mc:AlternateContent xmlns:mc="http://schemas.openxmlformats.org/markup-compatibility/2006">
              <mc:Choice xmlns:v="urn:schemas-microsoft-com:vml" Requires="v">
                <p:oleObj spid="_x0000_s62579" name="Equation" r:id="rId4" imgW="711000" imgH="469800" progId="Equation.DSMT4">
                  <p:embed/>
                </p:oleObj>
              </mc:Choice>
              <mc:Fallback>
                <p:oleObj name="Equation" r:id="rId4" imgW="711000" imgH="469800" progId="Equation.DSMT4">
                  <p:embed/>
                  <p:pic>
                    <p:nvPicPr>
                      <p:cNvPr id="0" name=""/>
                      <p:cNvPicPr/>
                      <p:nvPr/>
                    </p:nvPicPr>
                    <p:blipFill>
                      <a:blip r:embed="rId5"/>
                      <a:stretch>
                        <a:fillRect/>
                      </a:stretch>
                    </p:blipFill>
                    <p:spPr>
                      <a:xfrm>
                        <a:off x="3898900" y="2266916"/>
                        <a:ext cx="711200" cy="469900"/>
                      </a:xfrm>
                      <a:prstGeom prst="rect">
                        <a:avLst/>
                      </a:prstGeom>
                    </p:spPr>
                  </p:pic>
                </p:oleObj>
              </mc:Fallback>
            </mc:AlternateContent>
          </a:graphicData>
        </a:graphic>
      </p:graphicFrame>
    </p:spTree>
    <p:extLst>
      <p:ext uri="{BB962C8B-B14F-4D97-AF65-F5344CB8AC3E}">
        <p14:creationId xmlns:p14="http://schemas.microsoft.com/office/powerpoint/2010/main" val="479861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49</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Finding the Critical Value from the Studentized</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2)                          </a:t>
            </a:r>
            <a:r>
              <a:rPr lang="en-US" sz="2400" i="1" dirty="0">
                <a:solidFill>
                  <a:schemeClr val="dk1"/>
                </a:solidFill>
              </a:rPr>
              <a:t>Range Distribution</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1384995"/>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Find the critical value from the Studentized range distribution with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7 degrees of freedom and </a:t>
            </a:r>
            <a:r>
              <a:rPr lang="en-US" sz="2800" i="1" dirty="0">
                <a:latin typeface="Times New Roman" panose="02020603050405020304" pitchFamily="18" charset="0"/>
                <a:cs typeface="Times New Roman" panose="02020603050405020304" pitchFamily="18" charset="0"/>
              </a:rPr>
              <a:t>k </a:t>
            </a:r>
            <a:r>
              <a:rPr lang="en-US" sz="2800" dirty="0">
                <a:latin typeface="Times New Roman" panose="02020603050405020304" pitchFamily="18" charset="0"/>
                <a:cs typeface="Times New Roman" panose="02020603050405020304" pitchFamily="18" charset="0"/>
              </a:rPr>
              <a:t>= 3 degrees of freedom, with a familywise error rate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a:t>
            </a:r>
          </a:p>
        </p:txBody>
      </p:sp>
    </p:spTree>
    <p:extLst>
      <p:ext uri="{BB962C8B-B14F-4D97-AF65-F5344CB8AC3E}">
        <p14:creationId xmlns:p14="http://schemas.microsoft.com/office/powerpoint/2010/main" val="3821023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50</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Finding the Critical Value from the Studentized</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2)                          </a:t>
            </a:r>
            <a:r>
              <a:rPr lang="en-US" sz="2400" i="1" dirty="0">
                <a:solidFill>
                  <a:schemeClr val="dk1"/>
                </a:solidFill>
              </a:rPr>
              <a:t>Range Distribution</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337728"/>
            <a:ext cx="8839199" cy="523220"/>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 critical value is </a:t>
            </a:r>
            <a:r>
              <a:rPr lang="en-US" sz="2800" i="1" dirty="0">
                <a:latin typeface="Times New Roman" panose="02020603050405020304" pitchFamily="18" charset="0"/>
                <a:cs typeface="Times New Roman" panose="02020603050405020304" pitchFamily="18" charset="0"/>
              </a:rPr>
              <a:t>q</a:t>
            </a:r>
            <a:r>
              <a:rPr lang="en-US" sz="2800" baseline="-25000" dirty="0">
                <a:latin typeface="Times New Roman" panose="02020603050405020304" pitchFamily="18" charset="0"/>
                <a:cs typeface="Times New Roman" panose="02020603050405020304" pitchFamily="18" charset="0"/>
              </a:rPr>
              <a:t>0.05,7,3</a:t>
            </a:r>
            <a:r>
              <a:rPr lang="en-US" sz="2800" dirty="0">
                <a:latin typeface="Times New Roman" panose="02020603050405020304" pitchFamily="18" charset="0"/>
                <a:cs typeface="Times New Roman" panose="02020603050405020304" pitchFamily="18" charset="0"/>
              </a:rPr>
              <a:t> = 4.165.</a:t>
            </a:r>
          </a:p>
        </p:txBody>
      </p:sp>
      <p:pic>
        <p:nvPicPr>
          <p:cNvPr id="6" name="Picture 5" descr="A screenshot of a cell phone&#10;&#10;Description automatically generated">
            <a:extLst>
              <a:ext uri="{FF2B5EF4-FFF2-40B4-BE49-F238E27FC236}">
                <a16:creationId xmlns:a16="http://schemas.microsoft.com/office/drawing/2014/main" id="{8E56B3EA-F30C-4597-9435-BD388F304E48}"/>
              </a:ext>
            </a:extLst>
          </p:cNvPr>
          <p:cNvPicPr>
            <a:picLocks noChangeAspect="1"/>
          </p:cNvPicPr>
          <p:nvPr/>
        </p:nvPicPr>
        <p:blipFill>
          <a:blip r:embed="rId3"/>
          <a:stretch>
            <a:fillRect/>
          </a:stretch>
        </p:blipFill>
        <p:spPr>
          <a:xfrm>
            <a:off x="497141" y="2071155"/>
            <a:ext cx="8149717" cy="3449117"/>
          </a:xfrm>
          <a:prstGeom prst="rect">
            <a:avLst/>
          </a:prstGeom>
        </p:spPr>
      </p:pic>
    </p:spTree>
    <p:extLst>
      <p:ext uri="{BB962C8B-B14F-4D97-AF65-F5344CB8AC3E}">
        <p14:creationId xmlns:p14="http://schemas.microsoft.com/office/powerpoint/2010/main" val="1398355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11" name="Rectangle 10">
            <a:extLst>
              <a:ext uri="{FF2B5EF4-FFF2-40B4-BE49-F238E27FC236}">
                <a16:creationId xmlns:a16="http://schemas.microsoft.com/office/drawing/2014/main" id="{3CD687A2-F173-495A-9C73-CB5A47C50CD0}"/>
              </a:ext>
            </a:extLst>
          </p:cNvPr>
          <p:cNvSpPr/>
          <p:nvPr/>
        </p:nvSpPr>
        <p:spPr>
          <a:xfrm>
            <a:off x="296551" y="495606"/>
            <a:ext cx="8474697" cy="569710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Google Shape;381;p55"/>
          <p:cNvSpPr txBox="1"/>
          <p:nvPr/>
        </p:nvSpPr>
        <p:spPr>
          <a:xfrm>
            <a:off x="457200" y="505736"/>
            <a:ext cx="8153400" cy="8382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Tukey’s Test</a:t>
            </a:r>
            <a:endParaRPr dirty="0">
              <a:solidFill>
                <a:schemeClr val="tx1"/>
              </a:solidFill>
              <a:latin typeface="+mn-lt"/>
            </a:endParaRPr>
          </a:p>
        </p:txBody>
      </p:sp>
      <p:sp>
        <p:nvSpPr>
          <p:cNvPr id="382" name="Google Shape;382;p5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51</a:t>
            </a:fld>
            <a:endParaRPr/>
          </a:p>
        </p:txBody>
      </p:sp>
      <p:sp>
        <p:nvSpPr>
          <p:cNvPr id="4" name="Rectangle 3">
            <a:extLst>
              <a:ext uri="{FF2B5EF4-FFF2-40B4-BE49-F238E27FC236}">
                <a16:creationId xmlns:a16="http://schemas.microsoft.com/office/drawing/2014/main" id="{6C3DBB82-F3A0-4175-B83E-D9585DFEFD4A}"/>
              </a:ext>
            </a:extLst>
          </p:cNvPr>
          <p:cNvSpPr/>
          <p:nvPr/>
        </p:nvSpPr>
        <p:spPr>
          <a:xfrm>
            <a:off x="457200" y="1140736"/>
            <a:ext cx="7979790" cy="4358116"/>
          </a:xfrm>
          <a:prstGeom prst="rect">
            <a:avLst/>
          </a:prstGeom>
        </p:spPr>
        <p:txBody>
          <a:bodyPr wrap="square">
            <a:spAutoFit/>
          </a:bodyPr>
          <a:lstStyle/>
          <a:p>
            <a:pPr marL="609600" lvl="0" indent="-609600">
              <a:lnSpc>
                <a:spcPct val="90000"/>
              </a:lnSpc>
              <a:buSzPts val="2800"/>
            </a:pP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After rejecting the null hypothesis </a:t>
            </a:r>
            <a:r>
              <a:rPr lang="en-US" sz="2800" i="1" dirty="0">
                <a:solidFill>
                  <a:schemeClr val="dk1"/>
                </a:solidFill>
                <a:latin typeface="Times New Roman" panose="02020603050405020304" pitchFamily="18" charset="0"/>
                <a:ea typeface="Times New Roman"/>
                <a:cs typeface="Times New Roman" panose="02020603050405020304" pitchFamily="18" charset="0"/>
                <a:sym typeface="Times New Roman"/>
              </a:rPr>
              <a:t>H</a:t>
            </a:r>
            <a:r>
              <a:rPr lang="en-US" sz="28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0</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800" i="1" dirty="0">
                <a:solidFill>
                  <a:schemeClr val="dk1"/>
                </a:solidFill>
                <a:latin typeface="Times New Roman" panose="02020603050405020304" pitchFamily="18" charset="0"/>
                <a:ea typeface="Times New Roman"/>
                <a:cs typeface="Times New Roman" panose="02020603050405020304" pitchFamily="18" charset="0"/>
                <a:sym typeface="Times New Roman"/>
              </a:rPr>
              <a:t>μ</a:t>
            </a:r>
            <a:r>
              <a:rPr lang="en-US" sz="28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1</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2800" i="1" dirty="0">
                <a:solidFill>
                  <a:schemeClr val="dk1"/>
                </a:solidFill>
                <a:latin typeface="Times New Roman" panose="02020603050405020304" pitchFamily="18" charset="0"/>
                <a:ea typeface="Times New Roman"/>
                <a:cs typeface="Times New Roman" panose="02020603050405020304" pitchFamily="18" charset="0"/>
                <a:sym typeface="Times New Roman"/>
              </a:rPr>
              <a:t>μ</a:t>
            </a:r>
            <a:r>
              <a:rPr lang="en-US" sz="28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 = </a:t>
            </a:r>
            <a:r>
              <a:rPr lang="en-US" sz="2800" i="1" dirty="0" err="1">
                <a:solidFill>
                  <a:schemeClr val="dk1"/>
                </a:solidFill>
                <a:latin typeface="Times New Roman" panose="02020603050405020304" pitchFamily="18" charset="0"/>
                <a:ea typeface="Times New Roman"/>
                <a:cs typeface="Times New Roman" panose="02020603050405020304" pitchFamily="18" charset="0"/>
                <a:sym typeface="Times New Roman"/>
              </a:rPr>
              <a:t>μ</a:t>
            </a:r>
            <a:r>
              <a:rPr lang="en-US" sz="2800" i="1" baseline="-25000" dirty="0" err="1">
                <a:solidFill>
                  <a:schemeClr val="dk1"/>
                </a:solidFill>
                <a:latin typeface="Times New Roman" panose="02020603050405020304" pitchFamily="18" charset="0"/>
                <a:ea typeface="Times New Roman"/>
                <a:cs typeface="Times New Roman" panose="02020603050405020304" pitchFamily="18" charset="0"/>
                <a:sym typeface="Times New Roman"/>
              </a:rPr>
              <a:t>k</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use Steps 1 through 6 to compare pairs of means for significant differences.</a:t>
            </a:r>
          </a:p>
          <a:p>
            <a:r>
              <a:rPr lang="en-US" sz="2800" b="1" i="1" dirty="0">
                <a:latin typeface="Times New Roman" panose="02020603050405020304" pitchFamily="18" charset="0"/>
                <a:cs typeface="Times New Roman" panose="02020603050405020304" pitchFamily="18" charset="0"/>
              </a:rPr>
              <a:t>Step 1 </a:t>
            </a:r>
            <a:r>
              <a:rPr lang="en-US" sz="2800" dirty="0">
                <a:latin typeface="Times New Roman" panose="02020603050405020304" pitchFamily="18" charset="0"/>
                <a:cs typeface="Times New Roman" panose="02020603050405020304" pitchFamily="18" charset="0"/>
              </a:rPr>
              <a:t>Arrange the sample means in ascending order.</a:t>
            </a:r>
          </a:p>
          <a:p>
            <a:endParaRPr lang="en-US" sz="2800" b="1" i="1"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2 </a:t>
            </a:r>
            <a:r>
              <a:rPr lang="en-US" sz="2800" dirty="0">
                <a:latin typeface="Times New Roman" panose="02020603050405020304" pitchFamily="18" charset="0"/>
                <a:cs typeface="Times New Roman" panose="02020603050405020304" pitchFamily="18" charset="0"/>
              </a:rPr>
              <a:t>Compute the pairwise differences</a:t>
            </a:r>
          </a:p>
          <a:p>
            <a:endParaRPr lang="en-US" sz="2800" dirty="0">
              <a:latin typeface="Times New Roman" panose="02020603050405020304" pitchFamily="18" charset="0"/>
              <a:cs typeface="Times New Roman" panose="02020603050405020304" pitchFamily="18" charset="0"/>
            </a:endParaRPr>
          </a:p>
          <a:p>
            <a:endParaRPr lang="en-US" sz="2800" b="1" i="1"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3 </a:t>
            </a:r>
            <a:r>
              <a:rPr lang="en-US" sz="2800" dirty="0">
                <a:latin typeface="Times New Roman" panose="02020603050405020304" pitchFamily="18" charset="0"/>
                <a:cs typeface="Times New Roman" panose="02020603050405020304" pitchFamily="18" charset="0"/>
              </a:rPr>
              <a:t>Compute the test statistic,</a:t>
            </a:r>
          </a:p>
          <a:p>
            <a:r>
              <a:rPr lang="en-US" sz="2800" dirty="0">
                <a:latin typeface="Times New Roman" panose="02020603050405020304" pitchFamily="18" charset="0"/>
                <a:cs typeface="Times New Roman" panose="02020603050405020304" pitchFamily="18" charset="0"/>
              </a:rPr>
              <a:t>for each pairwise difference.</a:t>
            </a:r>
          </a:p>
        </p:txBody>
      </p:sp>
      <p:graphicFrame>
        <p:nvGraphicFramePr>
          <p:cNvPr id="5" name="Object 4">
            <a:extLst>
              <a:ext uri="{FF2B5EF4-FFF2-40B4-BE49-F238E27FC236}">
                <a16:creationId xmlns:a16="http://schemas.microsoft.com/office/drawing/2014/main" id="{8C441CD3-CAE9-4A5A-9858-4FD52DE7F4E8}"/>
              </a:ext>
            </a:extLst>
          </p:cNvPr>
          <p:cNvGraphicFramePr>
            <a:graphicFrameLocks noChangeAspect="1"/>
          </p:cNvGraphicFramePr>
          <p:nvPr>
            <p:extLst>
              <p:ext uri="{D42A27DB-BD31-4B8C-83A1-F6EECF244321}">
                <p14:modId xmlns:p14="http://schemas.microsoft.com/office/powerpoint/2010/main" val="3130490469"/>
              </p:ext>
            </p:extLst>
          </p:nvPr>
        </p:nvGraphicFramePr>
        <p:xfrm>
          <a:off x="6403855" y="3344157"/>
          <a:ext cx="1016000" cy="469900"/>
        </p:xfrm>
        <a:graphic>
          <a:graphicData uri="http://schemas.openxmlformats.org/presentationml/2006/ole">
            <mc:AlternateContent xmlns:mc="http://schemas.openxmlformats.org/markup-compatibility/2006">
              <mc:Choice xmlns:v="urn:schemas-microsoft-com:vml" Requires="v">
                <p:oleObj spid="_x0000_s63802" name="Equation" r:id="rId4" imgW="1015920" imgH="469800" progId="Equation.DSMT4">
                  <p:embed/>
                </p:oleObj>
              </mc:Choice>
              <mc:Fallback>
                <p:oleObj name="Equation" r:id="rId4" imgW="1015920" imgH="469800" progId="Equation.DSMT4">
                  <p:embed/>
                  <p:pic>
                    <p:nvPicPr>
                      <p:cNvPr id="0" name=""/>
                      <p:cNvPicPr/>
                      <p:nvPr/>
                    </p:nvPicPr>
                    <p:blipFill>
                      <a:blip r:embed="rId5"/>
                      <a:stretch>
                        <a:fillRect/>
                      </a:stretch>
                    </p:blipFill>
                    <p:spPr>
                      <a:xfrm>
                        <a:off x="6403855" y="3344157"/>
                        <a:ext cx="1016000" cy="4699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0665EFD2-FEE6-47E5-8D1A-D2CBC6F1C88B}"/>
              </a:ext>
            </a:extLst>
          </p:cNvPr>
          <p:cNvGraphicFramePr>
            <a:graphicFrameLocks noChangeAspect="1"/>
          </p:cNvGraphicFramePr>
          <p:nvPr>
            <p:extLst>
              <p:ext uri="{D42A27DB-BD31-4B8C-83A1-F6EECF244321}">
                <p14:modId xmlns:p14="http://schemas.microsoft.com/office/powerpoint/2010/main" val="137037673"/>
              </p:ext>
            </p:extLst>
          </p:nvPr>
        </p:nvGraphicFramePr>
        <p:xfrm>
          <a:off x="533400" y="3721394"/>
          <a:ext cx="1968500" cy="469900"/>
        </p:xfrm>
        <a:graphic>
          <a:graphicData uri="http://schemas.openxmlformats.org/presentationml/2006/ole">
            <mc:AlternateContent xmlns:mc="http://schemas.openxmlformats.org/markup-compatibility/2006">
              <mc:Choice xmlns:v="urn:schemas-microsoft-com:vml" Requires="v">
                <p:oleObj spid="_x0000_s63803" name="Equation" r:id="rId6" imgW="1968480" imgH="469800" progId="Equation.DSMT4">
                  <p:embed/>
                </p:oleObj>
              </mc:Choice>
              <mc:Fallback>
                <p:oleObj name="Equation" r:id="rId6" imgW="1968480" imgH="469800" progId="Equation.DSMT4">
                  <p:embed/>
                  <p:pic>
                    <p:nvPicPr>
                      <p:cNvPr id="0" name=""/>
                      <p:cNvPicPr/>
                      <p:nvPr/>
                    </p:nvPicPr>
                    <p:blipFill>
                      <a:blip r:embed="rId7"/>
                      <a:stretch>
                        <a:fillRect/>
                      </a:stretch>
                    </p:blipFill>
                    <p:spPr>
                      <a:xfrm>
                        <a:off x="533400" y="3721394"/>
                        <a:ext cx="1968500" cy="4699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FD177EFD-453C-444C-B3E6-437EB59DAC9B}"/>
              </a:ext>
            </a:extLst>
          </p:cNvPr>
          <p:cNvGraphicFramePr>
            <a:graphicFrameLocks noChangeAspect="1"/>
          </p:cNvGraphicFramePr>
          <p:nvPr>
            <p:extLst>
              <p:ext uri="{D42A27DB-BD31-4B8C-83A1-F6EECF244321}">
                <p14:modId xmlns:p14="http://schemas.microsoft.com/office/powerpoint/2010/main" val="1135681133"/>
              </p:ext>
            </p:extLst>
          </p:nvPr>
        </p:nvGraphicFramePr>
        <p:xfrm>
          <a:off x="5303470" y="4302978"/>
          <a:ext cx="3035300" cy="1714500"/>
        </p:xfrm>
        <a:graphic>
          <a:graphicData uri="http://schemas.openxmlformats.org/presentationml/2006/ole">
            <mc:AlternateContent xmlns:mc="http://schemas.openxmlformats.org/markup-compatibility/2006">
              <mc:Choice xmlns:v="urn:schemas-microsoft-com:vml" Requires="v">
                <p:oleObj spid="_x0000_s63804" name="Equation" r:id="rId8" imgW="3035160" imgH="1714320" progId="Equation.DSMT4">
                  <p:embed/>
                </p:oleObj>
              </mc:Choice>
              <mc:Fallback>
                <p:oleObj name="Equation" r:id="rId8" imgW="3035160" imgH="1714320" progId="Equation.DSMT4">
                  <p:embed/>
                  <p:pic>
                    <p:nvPicPr>
                      <p:cNvPr id="0" name=""/>
                      <p:cNvPicPr/>
                      <p:nvPr/>
                    </p:nvPicPr>
                    <p:blipFill>
                      <a:blip r:embed="rId9"/>
                      <a:stretch>
                        <a:fillRect/>
                      </a:stretch>
                    </p:blipFill>
                    <p:spPr>
                      <a:xfrm>
                        <a:off x="5303470" y="4302978"/>
                        <a:ext cx="3035300" cy="1714500"/>
                      </a:xfrm>
                      <a:prstGeom prst="rect">
                        <a:avLst/>
                      </a:prstGeom>
                    </p:spPr>
                  </p:pic>
                </p:oleObj>
              </mc:Fallback>
            </mc:AlternateContent>
          </a:graphicData>
        </a:graphic>
      </p:graphicFrame>
    </p:spTree>
    <p:extLst>
      <p:ext uri="{BB962C8B-B14F-4D97-AF65-F5344CB8AC3E}">
        <p14:creationId xmlns:p14="http://schemas.microsoft.com/office/powerpoint/2010/main" val="2921487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animEffect transition="in" filter="fade">
                                      <p:cBhvr>
                                        <p:cTn id="23" dur="500"/>
                                        <p:tgtEl>
                                          <p:spTgt spid="4">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8" end="8"/>
                                            </p:txEl>
                                          </p:spTgt>
                                        </p:tgtEl>
                                        <p:attrNameLst>
                                          <p:attrName>style.visibility</p:attrName>
                                        </p:attrNameLst>
                                      </p:cBhvr>
                                      <p:to>
                                        <p:strVal val="visible"/>
                                      </p:to>
                                    </p:set>
                                    <p:animEffect transition="in" filter="fade">
                                      <p:cBhvr>
                                        <p:cTn id="26" dur="500"/>
                                        <p:tgtEl>
                                          <p:spTgt spid="4">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11" name="Rectangle 10">
            <a:extLst>
              <a:ext uri="{FF2B5EF4-FFF2-40B4-BE49-F238E27FC236}">
                <a16:creationId xmlns:a16="http://schemas.microsoft.com/office/drawing/2014/main" id="{3CD687A2-F173-495A-9C73-CB5A47C50CD0}"/>
              </a:ext>
            </a:extLst>
          </p:cNvPr>
          <p:cNvSpPr/>
          <p:nvPr/>
        </p:nvSpPr>
        <p:spPr>
          <a:xfrm>
            <a:off x="334651" y="505737"/>
            <a:ext cx="8474697" cy="4509324"/>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Google Shape;381;p55"/>
          <p:cNvSpPr txBox="1"/>
          <p:nvPr/>
        </p:nvSpPr>
        <p:spPr>
          <a:xfrm>
            <a:off x="457200" y="505736"/>
            <a:ext cx="8153400" cy="8382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Tukey’s Test</a:t>
            </a:r>
            <a:endParaRPr dirty="0">
              <a:solidFill>
                <a:schemeClr val="tx1"/>
              </a:solidFill>
              <a:latin typeface="+mn-lt"/>
            </a:endParaRPr>
          </a:p>
        </p:txBody>
      </p:sp>
      <p:sp>
        <p:nvSpPr>
          <p:cNvPr id="382" name="Google Shape;382;p5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52</a:t>
            </a:fld>
            <a:endParaRPr/>
          </a:p>
        </p:txBody>
      </p:sp>
      <p:sp>
        <p:nvSpPr>
          <p:cNvPr id="4" name="Rectangle 3">
            <a:extLst>
              <a:ext uri="{FF2B5EF4-FFF2-40B4-BE49-F238E27FC236}">
                <a16:creationId xmlns:a16="http://schemas.microsoft.com/office/drawing/2014/main" id="{6C3DBB82-F3A0-4175-B83E-D9585DFEFD4A}"/>
              </a:ext>
            </a:extLst>
          </p:cNvPr>
          <p:cNvSpPr/>
          <p:nvPr/>
        </p:nvSpPr>
        <p:spPr>
          <a:xfrm>
            <a:off x="457200" y="1140736"/>
            <a:ext cx="8153400" cy="3970318"/>
          </a:xfrm>
          <a:prstGeom prst="rect">
            <a:avLst/>
          </a:prstGeom>
        </p:spPr>
        <p:txBody>
          <a:bodyPr wrap="square">
            <a:spAutoFit/>
          </a:bodyPr>
          <a:lstStyle/>
          <a:p>
            <a:r>
              <a:rPr lang="en-US" sz="2800" b="1" i="1" dirty="0">
                <a:latin typeface="Times New Roman" panose="02020603050405020304" pitchFamily="18" charset="0"/>
                <a:cs typeface="Times New Roman" panose="02020603050405020304" pitchFamily="18" charset="0"/>
              </a:rPr>
              <a:t>Step 4 </a:t>
            </a:r>
            <a:r>
              <a:rPr lang="en-US" sz="2800" dirty="0">
                <a:latin typeface="Times New Roman" panose="02020603050405020304" pitchFamily="18" charset="0"/>
                <a:cs typeface="Times New Roman" panose="02020603050405020304" pitchFamily="18" charset="0"/>
              </a:rPr>
              <a:t>Determine the critical value, </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where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is the level of significance (the familywise error rate).</a:t>
            </a:r>
          </a:p>
          <a:p>
            <a:endParaRPr lang="en-US" sz="2800"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5 </a:t>
            </a:r>
            <a:r>
              <a:rPr lang="en-US" sz="2800" dirty="0">
                <a:latin typeface="Times New Roman" panose="02020603050405020304" pitchFamily="18" charset="0"/>
                <a:cs typeface="Times New Roman" panose="02020603050405020304" pitchFamily="18" charset="0"/>
              </a:rPr>
              <a:t>If      </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reject the null hypothesis            </a:t>
            </a:r>
            <a:r>
              <a:rPr lang="en-US" sz="2800" i="1" dirty="0">
                <a:latin typeface="Times New Roman" panose="02020603050405020304" pitchFamily="18" charset="0"/>
                <a:cs typeface="Times New Roman" panose="02020603050405020304" pitchFamily="18" charset="0"/>
              </a:rPr>
              <a:t>H</a:t>
            </a:r>
            <a:r>
              <a:rPr lang="en-US" sz="2800" baseline="-25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i="1" baseline="-25000" dirty="0" err="1">
                <a:latin typeface="Times New Roman" panose="02020603050405020304" pitchFamily="18" charset="0"/>
                <a:cs typeface="Times New Roman" panose="02020603050405020304" pitchFamily="18" charset="0"/>
              </a:rPr>
              <a:t>i</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i="1" baseline="-25000" dirty="0">
                <a:latin typeface="Times New Roman" panose="02020603050405020304" pitchFamily="18" charset="0"/>
                <a:cs typeface="Times New Roman" panose="02020603050405020304" pitchFamily="18" charset="0"/>
              </a:rPr>
              <a:t>j</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and conclude that the means are significantly different.</a:t>
            </a:r>
          </a:p>
          <a:p>
            <a:endParaRPr lang="en-US" sz="2800" b="1" i="1"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6 </a:t>
            </a:r>
            <a:r>
              <a:rPr lang="en-US" sz="2800" dirty="0">
                <a:latin typeface="Times New Roman" panose="02020603050405020304" pitchFamily="18" charset="0"/>
                <a:cs typeface="Times New Roman" panose="02020603050405020304" pitchFamily="18" charset="0"/>
              </a:rPr>
              <a:t>Compare all pairwise differences to identify which means differ.</a:t>
            </a:r>
          </a:p>
        </p:txBody>
      </p:sp>
      <p:graphicFrame>
        <p:nvGraphicFramePr>
          <p:cNvPr id="2" name="Object 1">
            <a:extLst>
              <a:ext uri="{FF2B5EF4-FFF2-40B4-BE49-F238E27FC236}">
                <a16:creationId xmlns:a16="http://schemas.microsoft.com/office/drawing/2014/main" id="{0268A761-2CAC-47A5-A0CC-9FCDBED6523E}"/>
              </a:ext>
            </a:extLst>
          </p:cNvPr>
          <p:cNvGraphicFramePr>
            <a:graphicFrameLocks noChangeAspect="1"/>
          </p:cNvGraphicFramePr>
          <p:nvPr>
            <p:extLst>
              <p:ext uri="{D42A27DB-BD31-4B8C-83A1-F6EECF244321}">
                <p14:modId xmlns:p14="http://schemas.microsoft.com/office/powerpoint/2010/main" val="1535076491"/>
              </p:ext>
            </p:extLst>
          </p:nvPr>
        </p:nvGraphicFramePr>
        <p:xfrm>
          <a:off x="5677146" y="1173043"/>
          <a:ext cx="825500" cy="469900"/>
        </p:xfrm>
        <a:graphic>
          <a:graphicData uri="http://schemas.openxmlformats.org/presentationml/2006/ole">
            <mc:AlternateContent xmlns:mc="http://schemas.openxmlformats.org/markup-compatibility/2006">
              <mc:Choice xmlns:v="urn:schemas-microsoft-com:vml" Requires="v">
                <p:oleObj spid="_x0000_s64722" name="Equation" r:id="rId4" imgW="825480" imgH="469800" progId="Equation.DSMT4">
                  <p:embed/>
                </p:oleObj>
              </mc:Choice>
              <mc:Fallback>
                <p:oleObj name="Equation" r:id="rId4" imgW="825480" imgH="469800" progId="Equation.DSMT4">
                  <p:embed/>
                  <p:pic>
                    <p:nvPicPr>
                      <p:cNvPr id="0" name=""/>
                      <p:cNvPicPr/>
                      <p:nvPr/>
                    </p:nvPicPr>
                    <p:blipFill>
                      <a:blip r:embed="rId5"/>
                      <a:stretch>
                        <a:fillRect/>
                      </a:stretch>
                    </p:blipFill>
                    <p:spPr>
                      <a:xfrm>
                        <a:off x="5677146" y="1173043"/>
                        <a:ext cx="825500" cy="4699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C02278C7-B0B0-4192-B1CE-A1EC91441227}"/>
              </a:ext>
            </a:extLst>
          </p:cNvPr>
          <p:cNvGraphicFramePr>
            <a:graphicFrameLocks noChangeAspect="1"/>
          </p:cNvGraphicFramePr>
          <p:nvPr>
            <p:extLst>
              <p:ext uri="{D42A27DB-BD31-4B8C-83A1-F6EECF244321}">
                <p14:modId xmlns:p14="http://schemas.microsoft.com/office/powerpoint/2010/main" val="2749952587"/>
              </p:ext>
            </p:extLst>
          </p:nvPr>
        </p:nvGraphicFramePr>
        <p:xfrm>
          <a:off x="1877555" y="2494364"/>
          <a:ext cx="1485900" cy="469900"/>
        </p:xfrm>
        <a:graphic>
          <a:graphicData uri="http://schemas.openxmlformats.org/presentationml/2006/ole">
            <mc:AlternateContent xmlns:mc="http://schemas.openxmlformats.org/markup-compatibility/2006">
              <mc:Choice xmlns:v="urn:schemas-microsoft-com:vml" Requires="v">
                <p:oleObj spid="_x0000_s64723" name="Equation" r:id="rId6" imgW="1485720" imgH="469800" progId="Equation.DSMT4">
                  <p:embed/>
                </p:oleObj>
              </mc:Choice>
              <mc:Fallback>
                <p:oleObj name="Equation" r:id="rId6" imgW="1485720" imgH="469800" progId="Equation.DSMT4">
                  <p:embed/>
                  <p:pic>
                    <p:nvPicPr>
                      <p:cNvPr id="0" name=""/>
                      <p:cNvPicPr/>
                      <p:nvPr/>
                    </p:nvPicPr>
                    <p:blipFill>
                      <a:blip r:embed="rId7"/>
                      <a:stretch>
                        <a:fillRect/>
                      </a:stretch>
                    </p:blipFill>
                    <p:spPr>
                      <a:xfrm>
                        <a:off x="1877555" y="2494364"/>
                        <a:ext cx="1485900" cy="469900"/>
                      </a:xfrm>
                      <a:prstGeom prst="rect">
                        <a:avLst/>
                      </a:prstGeom>
                    </p:spPr>
                  </p:pic>
                </p:oleObj>
              </mc:Fallback>
            </mc:AlternateContent>
          </a:graphicData>
        </a:graphic>
      </p:graphicFrame>
    </p:spTree>
    <p:extLst>
      <p:ext uri="{BB962C8B-B14F-4D97-AF65-F5344CB8AC3E}">
        <p14:creationId xmlns:p14="http://schemas.microsoft.com/office/powerpoint/2010/main" val="1687118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fade">
                                      <p:cBhvr>
                                        <p:cTn id="15"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53</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Tukey’s Test by Hand</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5)</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3016210"/>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In a previous example, we rejected the null hypothesis</a:t>
            </a:r>
          </a:p>
          <a:p>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Use Tukey’s test to determine which pairwise means differ using a familywise error rate of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a:t>
            </a: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The means for each category are given in Table 6. The means, in ascending order, are</a:t>
            </a:r>
          </a:p>
        </p:txBody>
      </p:sp>
      <p:graphicFrame>
        <p:nvGraphicFramePr>
          <p:cNvPr id="2" name="Object 1">
            <a:extLst>
              <a:ext uri="{FF2B5EF4-FFF2-40B4-BE49-F238E27FC236}">
                <a16:creationId xmlns:a16="http://schemas.microsoft.com/office/drawing/2014/main" id="{60FDB416-E4CE-4251-9022-27493DCA8DE2}"/>
              </a:ext>
            </a:extLst>
          </p:cNvPr>
          <p:cNvGraphicFramePr>
            <a:graphicFrameLocks noChangeAspect="1"/>
          </p:cNvGraphicFramePr>
          <p:nvPr>
            <p:extLst>
              <p:ext uri="{D42A27DB-BD31-4B8C-83A1-F6EECF244321}">
                <p14:modId xmlns:p14="http://schemas.microsoft.com/office/powerpoint/2010/main" val="1946097633"/>
              </p:ext>
            </p:extLst>
          </p:nvPr>
        </p:nvGraphicFramePr>
        <p:xfrm>
          <a:off x="218519" y="1619773"/>
          <a:ext cx="5765800" cy="469900"/>
        </p:xfrm>
        <a:graphic>
          <a:graphicData uri="http://schemas.openxmlformats.org/presentationml/2006/ole">
            <mc:AlternateContent xmlns:mc="http://schemas.openxmlformats.org/markup-compatibility/2006">
              <mc:Choice xmlns:v="urn:schemas-microsoft-com:vml" Requires="v">
                <p:oleObj spid="_x0000_s65841" name="Equation" r:id="rId4" imgW="5765760" imgH="469800" progId="Equation.DSMT4">
                  <p:embed/>
                </p:oleObj>
              </mc:Choice>
              <mc:Fallback>
                <p:oleObj name="Equation" r:id="rId4" imgW="5765760" imgH="469800" progId="Equation.DSMT4">
                  <p:embed/>
                  <p:pic>
                    <p:nvPicPr>
                      <p:cNvPr id="0" name=""/>
                      <p:cNvPicPr/>
                      <p:nvPr/>
                    </p:nvPicPr>
                    <p:blipFill>
                      <a:blip r:embed="rId5"/>
                      <a:stretch>
                        <a:fillRect/>
                      </a:stretch>
                    </p:blipFill>
                    <p:spPr>
                      <a:xfrm>
                        <a:off x="218519" y="1619773"/>
                        <a:ext cx="5765800" cy="4699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2A58FB58-3B71-461F-AB1A-902B13676BB8}"/>
              </a:ext>
            </a:extLst>
          </p:cNvPr>
          <p:cNvGraphicFramePr>
            <a:graphicFrameLocks noChangeAspect="1"/>
          </p:cNvGraphicFramePr>
          <p:nvPr>
            <p:extLst>
              <p:ext uri="{D42A27DB-BD31-4B8C-83A1-F6EECF244321}">
                <p14:modId xmlns:p14="http://schemas.microsoft.com/office/powerpoint/2010/main" val="387268808"/>
              </p:ext>
            </p:extLst>
          </p:nvPr>
        </p:nvGraphicFramePr>
        <p:xfrm>
          <a:off x="4346019" y="3729291"/>
          <a:ext cx="3276600" cy="393700"/>
        </p:xfrm>
        <a:graphic>
          <a:graphicData uri="http://schemas.openxmlformats.org/presentationml/2006/ole">
            <mc:AlternateContent xmlns:mc="http://schemas.openxmlformats.org/markup-compatibility/2006">
              <mc:Choice xmlns:v="urn:schemas-microsoft-com:vml" Requires="v">
                <p:oleObj spid="_x0000_s65842" name="Equation" r:id="rId6" imgW="3276360" imgH="393480" progId="Equation.DSMT4">
                  <p:embed/>
                </p:oleObj>
              </mc:Choice>
              <mc:Fallback>
                <p:oleObj name="Equation" r:id="rId6" imgW="3276360" imgH="393480" progId="Equation.DSMT4">
                  <p:embed/>
                  <p:pic>
                    <p:nvPicPr>
                      <p:cNvPr id="0" name=""/>
                      <p:cNvPicPr/>
                      <p:nvPr/>
                    </p:nvPicPr>
                    <p:blipFill>
                      <a:blip r:embed="rId7"/>
                      <a:stretch>
                        <a:fillRect/>
                      </a:stretch>
                    </p:blipFill>
                    <p:spPr>
                      <a:xfrm>
                        <a:off x="4346019" y="3729291"/>
                        <a:ext cx="3276600" cy="3937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62F0EBEF-AD39-4B88-BD0C-E287A130790B}"/>
              </a:ext>
            </a:extLst>
          </p:cNvPr>
          <p:cNvGraphicFramePr>
            <a:graphicFrameLocks noChangeAspect="1"/>
          </p:cNvGraphicFramePr>
          <p:nvPr>
            <p:extLst>
              <p:ext uri="{D42A27DB-BD31-4B8C-83A1-F6EECF244321}">
                <p14:modId xmlns:p14="http://schemas.microsoft.com/office/powerpoint/2010/main" val="607875512"/>
              </p:ext>
            </p:extLst>
          </p:nvPr>
        </p:nvGraphicFramePr>
        <p:xfrm>
          <a:off x="218519" y="4072501"/>
          <a:ext cx="3784600" cy="393700"/>
        </p:xfrm>
        <a:graphic>
          <a:graphicData uri="http://schemas.openxmlformats.org/presentationml/2006/ole">
            <mc:AlternateContent xmlns:mc="http://schemas.openxmlformats.org/markup-compatibility/2006">
              <mc:Choice xmlns:v="urn:schemas-microsoft-com:vml" Requires="v">
                <p:oleObj spid="_x0000_s65843" name="Equation" r:id="rId8" imgW="3784320" imgH="393480" progId="Equation.DSMT4">
                  <p:embed/>
                </p:oleObj>
              </mc:Choice>
              <mc:Fallback>
                <p:oleObj name="Equation" r:id="rId8" imgW="3784320" imgH="393480" progId="Equation.DSMT4">
                  <p:embed/>
                  <p:pic>
                    <p:nvPicPr>
                      <p:cNvPr id="0" name=""/>
                      <p:cNvPicPr/>
                      <p:nvPr/>
                    </p:nvPicPr>
                    <p:blipFill>
                      <a:blip r:embed="rId9"/>
                      <a:stretch>
                        <a:fillRect/>
                      </a:stretch>
                    </p:blipFill>
                    <p:spPr>
                      <a:xfrm>
                        <a:off x="218519" y="4072501"/>
                        <a:ext cx="3784600" cy="393700"/>
                      </a:xfrm>
                      <a:prstGeom prst="rect">
                        <a:avLst/>
                      </a:prstGeom>
                    </p:spPr>
                  </p:pic>
                </p:oleObj>
              </mc:Fallback>
            </mc:AlternateContent>
          </a:graphicData>
        </a:graphic>
      </p:graphicFrame>
      <p:pic>
        <p:nvPicPr>
          <p:cNvPr id="8" name="Picture 7" descr="A screenshot of a cell phone&#10;&#10;Description automatically generated">
            <a:extLst>
              <a:ext uri="{FF2B5EF4-FFF2-40B4-BE49-F238E27FC236}">
                <a16:creationId xmlns:a16="http://schemas.microsoft.com/office/drawing/2014/main" id="{3A046B85-F677-48F9-A54B-3F672D18A4FD}"/>
              </a:ext>
            </a:extLst>
          </p:cNvPr>
          <p:cNvPicPr>
            <a:picLocks noChangeAspect="1"/>
          </p:cNvPicPr>
          <p:nvPr/>
        </p:nvPicPr>
        <p:blipFill>
          <a:blip r:embed="rId10"/>
          <a:stretch>
            <a:fillRect/>
          </a:stretch>
        </p:blipFill>
        <p:spPr>
          <a:xfrm>
            <a:off x="4418256" y="4269351"/>
            <a:ext cx="3268986" cy="1641351"/>
          </a:xfrm>
          <a:prstGeom prst="rect">
            <a:avLst/>
          </a:prstGeom>
        </p:spPr>
      </p:pic>
    </p:spTree>
    <p:extLst>
      <p:ext uri="{BB962C8B-B14F-4D97-AF65-F5344CB8AC3E}">
        <p14:creationId xmlns:p14="http://schemas.microsoft.com/office/powerpoint/2010/main" val="664746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54</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Tukey’s Test by Hand</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5)</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4093428"/>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Now compute the pairwise differences, </a:t>
            </a:r>
          </a:p>
          <a:p>
            <a:r>
              <a:rPr lang="en-US" sz="2600" dirty="0">
                <a:latin typeface="Times New Roman" panose="02020603050405020304" pitchFamily="18" charset="0"/>
                <a:cs typeface="Times New Roman" panose="02020603050405020304" pitchFamily="18" charset="0"/>
              </a:rPr>
              <a:t>             That is, subtract the smaller sample mean from the larger sample mean, as shown in Column 2 of Table 7, on the next slide.  It is helpful to write the differences in descending order.</a:t>
            </a: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3 </a:t>
            </a:r>
            <a:r>
              <a:rPr lang="en-US" sz="2600" dirty="0">
                <a:latin typeface="Times New Roman" panose="02020603050405020304" pitchFamily="18" charset="0"/>
                <a:cs typeface="Times New Roman" panose="02020603050405020304" pitchFamily="18" charset="0"/>
              </a:rPr>
              <a:t>Compute the test statistic </a:t>
            </a:r>
            <a:r>
              <a:rPr lang="en-US" sz="2600" i="1" dirty="0">
                <a:latin typeface="Times New Roman" panose="02020603050405020304" pitchFamily="18" charset="0"/>
                <a:cs typeface="Times New Roman" panose="02020603050405020304" pitchFamily="18" charset="0"/>
              </a:rPr>
              <a:t>q</a:t>
            </a:r>
            <a:r>
              <a:rPr lang="en-US" sz="2600" baseline="-25000" dirty="0">
                <a:latin typeface="Times New Roman" panose="02020603050405020304" pitchFamily="18" charset="0"/>
                <a:cs typeface="Times New Roman" panose="02020603050405020304" pitchFamily="18" charset="0"/>
              </a:rPr>
              <a:t>0 </a:t>
            </a:r>
            <a:r>
              <a:rPr lang="en-US" sz="2600" dirty="0">
                <a:latin typeface="Times New Roman" panose="02020603050405020304" pitchFamily="18" charset="0"/>
                <a:cs typeface="Times New Roman" panose="02020603050405020304" pitchFamily="18" charset="0"/>
              </a:rPr>
              <a:t>for each pairwise difference. From the ANOVA table shown previously, we have the mean square error = 8.835. This is the value of </a:t>
            </a:r>
            <a:r>
              <a:rPr lang="en-US" sz="2600" i="1" dirty="0">
                <a:latin typeface="Times New Roman" panose="02020603050405020304" pitchFamily="18" charset="0"/>
                <a:cs typeface="Times New Roman" panose="02020603050405020304" pitchFamily="18" charset="0"/>
              </a:rPr>
              <a:t>s</a:t>
            </a:r>
            <a:r>
              <a:rPr lang="en-US" sz="2600" baseline="30000" dirty="0">
                <a:latin typeface="Times New Roman" panose="02020603050405020304" pitchFamily="18" charset="0"/>
                <a:cs typeface="Times New Roman" panose="02020603050405020304" pitchFamily="18" charset="0"/>
              </a:rPr>
              <a:t>2 </a:t>
            </a:r>
            <a:r>
              <a:rPr lang="en-US" sz="2600" dirty="0">
                <a:latin typeface="Times New Roman" panose="02020603050405020304" pitchFamily="18" charset="0"/>
                <a:cs typeface="Times New Roman" panose="02020603050405020304" pitchFamily="18" charset="0"/>
              </a:rPr>
              <a:t>in the computation of the test statistic </a:t>
            </a:r>
            <a:r>
              <a:rPr lang="en-US" sz="2600" i="1" dirty="0">
                <a:latin typeface="Times New Roman" panose="02020603050405020304" pitchFamily="18" charset="0"/>
                <a:cs typeface="Times New Roman" panose="02020603050405020304" pitchFamily="18" charset="0"/>
              </a:rPr>
              <a:t>q</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The test statistic for each pairwise difference is shown in Column 3 of Table 7.</a:t>
            </a:r>
          </a:p>
        </p:txBody>
      </p:sp>
      <p:graphicFrame>
        <p:nvGraphicFramePr>
          <p:cNvPr id="3" name="Object 2">
            <a:extLst>
              <a:ext uri="{FF2B5EF4-FFF2-40B4-BE49-F238E27FC236}">
                <a16:creationId xmlns:a16="http://schemas.microsoft.com/office/drawing/2014/main" id="{2A58FB58-3B71-461F-AB1A-902B13676BB8}"/>
              </a:ext>
            </a:extLst>
          </p:cNvPr>
          <p:cNvGraphicFramePr>
            <a:graphicFrameLocks noChangeAspect="1"/>
          </p:cNvGraphicFramePr>
          <p:nvPr>
            <p:extLst>
              <p:ext uri="{D42A27DB-BD31-4B8C-83A1-F6EECF244321}">
                <p14:modId xmlns:p14="http://schemas.microsoft.com/office/powerpoint/2010/main" val="2334504396"/>
              </p:ext>
            </p:extLst>
          </p:nvPr>
        </p:nvGraphicFramePr>
        <p:xfrm>
          <a:off x="6380245" y="1206502"/>
          <a:ext cx="1879600" cy="444500"/>
        </p:xfrm>
        <a:graphic>
          <a:graphicData uri="http://schemas.openxmlformats.org/presentationml/2006/ole">
            <mc:AlternateContent xmlns:mc="http://schemas.openxmlformats.org/markup-compatibility/2006">
              <mc:Choice xmlns:v="urn:schemas-microsoft-com:vml" Requires="v">
                <p:oleObj spid="_x0000_s66764" name="Equation" r:id="rId4" imgW="1879560" imgH="444240" progId="Equation.DSMT4">
                  <p:embed/>
                </p:oleObj>
              </mc:Choice>
              <mc:Fallback>
                <p:oleObj name="Equation" r:id="rId4" imgW="1879560" imgH="444240" progId="Equation.DSMT4">
                  <p:embed/>
                  <p:pic>
                    <p:nvPicPr>
                      <p:cNvPr id="3" name="Object 2">
                        <a:extLst>
                          <a:ext uri="{FF2B5EF4-FFF2-40B4-BE49-F238E27FC236}">
                            <a16:creationId xmlns:a16="http://schemas.microsoft.com/office/drawing/2014/main" id="{2A58FB58-3B71-461F-AB1A-902B13676BB8}"/>
                          </a:ext>
                        </a:extLst>
                      </p:cNvPr>
                      <p:cNvPicPr/>
                      <p:nvPr/>
                    </p:nvPicPr>
                    <p:blipFill>
                      <a:blip r:embed="rId5"/>
                      <a:stretch>
                        <a:fillRect/>
                      </a:stretch>
                    </p:blipFill>
                    <p:spPr>
                      <a:xfrm>
                        <a:off x="6380245" y="1206502"/>
                        <a:ext cx="1879600" cy="4445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87C6FC4A-3808-44F2-885A-E0EB381976E2}"/>
              </a:ext>
            </a:extLst>
          </p:cNvPr>
          <p:cNvGraphicFramePr>
            <a:graphicFrameLocks noChangeAspect="1"/>
          </p:cNvGraphicFramePr>
          <p:nvPr>
            <p:extLst>
              <p:ext uri="{D42A27DB-BD31-4B8C-83A1-F6EECF244321}">
                <p14:modId xmlns:p14="http://schemas.microsoft.com/office/powerpoint/2010/main" val="3879173680"/>
              </p:ext>
            </p:extLst>
          </p:nvPr>
        </p:nvGraphicFramePr>
        <p:xfrm>
          <a:off x="218519" y="1622936"/>
          <a:ext cx="952500" cy="444500"/>
        </p:xfrm>
        <a:graphic>
          <a:graphicData uri="http://schemas.openxmlformats.org/presentationml/2006/ole">
            <mc:AlternateContent xmlns:mc="http://schemas.openxmlformats.org/markup-compatibility/2006">
              <mc:Choice xmlns:v="urn:schemas-microsoft-com:vml" Requires="v">
                <p:oleObj spid="_x0000_s66765" name="Equation" r:id="rId6" imgW="952200" imgH="444240" progId="Equation.DSMT4">
                  <p:embed/>
                </p:oleObj>
              </mc:Choice>
              <mc:Fallback>
                <p:oleObj name="Equation" r:id="rId6" imgW="952200" imgH="444240" progId="Equation.DSMT4">
                  <p:embed/>
                  <p:pic>
                    <p:nvPicPr>
                      <p:cNvPr id="0" name=""/>
                      <p:cNvPicPr/>
                      <p:nvPr/>
                    </p:nvPicPr>
                    <p:blipFill>
                      <a:blip r:embed="rId7"/>
                      <a:stretch>
                        <a:fillRect/>
                      </a:stretch>
                    </p:blipFill>
                    <p:spPr>
                      <a:xfrm>
                        <a:off x="218519" y="1622936"/>
                        <a:ext cx="952500" cy="444500"/>
                      </a:xfrm>
                      <a:prstGeom prst="rect">
                        <a:avLst/>
                      </a:prstGeom>
                    </p:spPr>
                  </p:pic>
                </p:oleObj>
              </mc:Fallback>
            </mc:AlternateContent>
          </a:graphicData>
        </a:graphic>
      </p:graphicFrame>
    </p:spTree>
    <p:extLst>
      <p:ext uri="{BB962C8B-B14F-4D97-AF65-F5344CB8AC3E}">
        <p14:creationId xmlns:p14="http://schemas.microsoft.com/office/powerpoint/2010/main" val="1253335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55</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Tukey’s Test by Hand</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5)</a:t>
            </a:r>
            <a:endParaRPr i="1" dirty="0"/>
          </a:p>
        </p:txBody>
      </p:sp>
      <p:pic>
        <p:nvPicPr>
          <p:cNvPr id="10" name="Picture 9">
            <a:extLst>
              <a:ext uri="{FF2B5EF4-FFF2-40B4-BE49-F238E27FC236}">
                <a16:creationId xmlns:a16="http://schemas.microsoft.com/office/drawing/2014/main" id="{204B8B25-4A73-46D6-8AD3-FC01BAB5A002}"/>
              </a:ext>
            </a:extLst>
          </p:cNvPr>
          <p:cNvPicPr>
            <a:picLocks noChangeAspect="1"/>
          </p:cNvPicPr>
          <p:nvPr/>
        </p:nvPicPr>
        <p:blipFill>
          <a:blip r:embed="rId3"/>
          <a:stretch>
            <a:fillRect/>
          </a:stretch>
        </p:blipFill>
        <p:spPr>
          <a:xfrm>
            <a:off x="152400" y="1135062"/>
            <a:ext cx="8605036" cy="5195888"/>
          </a:xfrm>
          <a:prstGeom prst="rect">
            <a:avLst/>
          </a:prstGeom>
        </p:spPr>
      </p:pic>
    </p:spTree>
    <p:extLst>
      <p:ext uri="{BB962C8B-B14F-4D97-AF65-F5344CB8AC3E}">
        <p14:creationId xmlns:p14="http://schemas.microsoft.com/office/powerpoint/2010/main" val="1252955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56</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Tukey’s Test by Hand</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5)</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4493538"/>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Find the critical value using an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familywise error rate with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 20 </a:t>
            </a:r>
            <a:r>
              <a:rPr lang="en-US" sz="2600" i="1"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4 = 16 and </a:t>
            </a:r>
            <a:r>
              <a:rPr lang="en-US" sz="2600" i="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 4. From Table X, the critical value is </a:t>
            </a:r>
            <a:r>
              <a:rPr lang="en-US" sz="2600" i="1" dirty="0">
                <a:latin typeface="Times New Roman" panose="02020603050405020304" pitchFamily="18" charset="0"/>
                <a:cs typeface="Times New Roman" panose="02020603050405020304" pitchFamily="18" charset="0"/>
              </a:rPr>
              <a:t>q</a:t>
            </a:r>
            <a:r>
              <a:rPr lang="en-US" sz="2600" baseline="-25000" dirty="0">
                <a:latin typeface="Times New Roman" panose="02020603050405020304" pitchFamily="18" charset="0"/>
                <a:cs typeface="Times New Roman" panose="02020603050405020304" pitchFamily="18" charset="0"/>
              </a:rPr>
              <a:t>0.05,16,4</a:t>
            </a:r>
            <a:r>
              <a:rPr lang="en-US" sz="2600" dirty="0">
                <a:latin typeface="Times New Roman" panose="02020603050405020304" pitchFamily="18" charset="0"/>
                <a:cs typeface="Times New Roman" panose="02020603050405020304" pitchFamily="18" charset="0"/>
              </a:rPr>
              <a:t> = 4.046. (If the critical value were not in Table X because of the value for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use the entry corresponding to the value closest to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The critical value is in Column 4 of Table 7.</a:t>
            </a: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If </a:t>
            </a:r>
            <a:r>
              <a:rPr lang="en-US" sz="2600" i="1" dirty="0">
                <a:latin typeface="Times New Roman" panose="02020603050405020304" pitchFamily="18" charset="0"/>
                <a:cs typeface="Times New Roman" panose="02020603050405020304" pitchFamily="18" charset="0"/>
              </a:rPr>
              <a:t>q</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&gt; </a:t>
            </a:r>
            <a:r>
              <a:rPr lang="en-US" sz="2600" i="1" dirty="0">
                <a:latin typeface="Times New Roman" panose="02020603050405020304" pitchFamily="18" charset="0"/>
                <a:cs typeface="Times New Roman" panose="02020603050405020304" pitchFamily="18" charset="0"/>
              </a:rPr>
              <a:t>q</a:t>
            </a:r>
            <a:r>
              <a:rPr lang="en-US" sz="2600" baseline="-25000" dirty="0">
                <a:latin typeface="Times New Roman" panose="02020603050405020304" pitchFamily="18" charset="0"/>
                <a:cs typeface="Times New Roman" panose="02020603050405020304" pitchFamily="18" charset="0"/>
              </a:rPr>
              <a:t>0.05,16,4</a:t>
            </a:r>
            <a:r>
              <a:rPr lang="en-US" sz="2600" dirty="0">
                <a:latin typeface="Times New Roman" panose="02020603050405020304" pitchFamily="18" charset="0"/>
                <a:cs typeface="Times New Roman" panose="02020603050405020304" pitchFamily="18" charset="0"/>
              </a:rPr>
              <a:t>, reject the null hypothesis and state the conclusion in Column 5 of Table 7. By writing the differences in descending order, once we “do not reject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we can stop because we will not reject smaller differences either!</a:t>
            </a:r>
          </a:p>
        </p:txBody>
      </p:sp>
    </p:spTree>
    <p:extLst>
      <p:ext uri="{BB962C8B-B14F-4D97-AF65-F5344CB8AC3E}">
        <p14:creationId xmlns:p14="http://schemas.microsoft.com/office/powerpoint/2010/main" val="3066891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57</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Tukey’s Test by Hand</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5)</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5293757"/>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6 </a:t>
            </a:r>
            <a:r>
              <a:rPr lang="en-US" sz="2600" dirty="0">
                <a:latin typeface="Times New Roman" panose="02020603050405020304" pitchFamily="18" charset="0"/>
                <a:cs typeface="Times New Roman" panose="02020603050405020304" pitchFamily="18" charset="0"/>
              </a:rPr>
              <a:t>The conclusions of Tukey’s test are</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Use lines to indicate which sample means are not significantly different:</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means listed over a common line are equal. So the evidence indicates that veneer repairs using the </a:t>
            </a:r>
            <a:r>
              <a:rPr lang="en-US" sz="2600" dirty="0" err="1">
                <a:latin typeface="Times New Roman" panose="02020603050405020304" pitchFamily="18" charset="0"/>
                <a:cs typeface="Times New Roman" panose="02020603050405020304" pitchFamily="18" charset="0"/>
              </a:rPr>
              <a:t>Cojet</a:t>
            </a:r>
            <a:r>
              <a:rPr lang="en-US" sz="2600" dirty="0">
                <a:latin typeface="Times New Roman" panose="02020603050405020304" pitchFamily="18" charset="0"/>
                <a:cs typeface="Times New Roman" panose="02020603050405020304" pitchFamily="18" charset="0"/>
              </a:rPr>
              <a:t> or </a:t>
            </a:r>
            <a:r>
              <a:rPr lang="en-US" sz="2600" dirty="0" err="1">
                <a:latin typeface="Times New Roman" panose="02020603050405020304" pitchFamily="18" charset="0"/>
                <a:cs typeface="Times New Roman" panose="02020603050405020304" pitchFamily="18" charset="0"/>
              </a:rPr>
              <a:t>Silistor</a:t>
            </a:r>
            <a:r>
              <a:rPr lang="en-US" sz="2600" dirty="0">
                <a:latin typeface="Times New Roman" panose="02020603050405020304" pitchFamily="18" charset="0"/>
                <a:cs typeface="Times New Roman" panose="02020603050405020304" pitchFamily="18" charset="0"/>
              </a:rPr>
              <a:t> treatment have the highest shear bond strength.</a:t>
            </a:r>
          </a:p>
          <a:p>
            <a:r>
              <a:rPr lang="en-US" sz="2600" dirty="0">
                <a:latin typeface="Times New Roman" panose="02020603050405020304" pitchFamily="18" charset="0"/>
                <a:cs typeface="Times New Roman" panose="02020603050405020304" pitchFamily="18" charset="0"/>
              </a:rPr>
              <a:t>The </a:t>
            </a:r>
            <a:r>
              <a:rPr lang="en-US" sz="2600" dirty="0" err="1">
                <a:latin typeface="Times New Roman" panose="02020603050405020304" pitchFamily="18" charset="0"/>
                <a:cs typeface="Times New Roman" panose="02020603050405020304" pitchFamily="18" charset="0"/>
              </a:rPr>
              <a:t>Cimara</a:t>
            </a:r>
            <a:r>
              <a:rPr lang="en-US" sz="2600" dirty="0">
                <a:latin typeface="Times New Roman" panose="02020603050405020304" pitchFamily="18" charset="0"/>
                <a:cs typeface="Times New Roman" panose="02020603050405020304" pitchFamily="18" charset="0"/>
              </a:rPr>
              <a:t> and Ceramic Repair treatments were not significantly different, but were weaker in terms of shear bond strength than the other treatments.</a:t>
            </a:r>
          </a:p>
        </p:txBody>
      </p:sp>
      <p:graphicFrame>
        <p:nvGraphicFramePr>
          <p:cNvPr id="6" name="Object 5">
            <a:extLst>
              <a:ext uri="{FF2B5EF4-FFF2-40B4-BE49-F238E27FC236}">
                <a16:creationId xmlns:a16="http://schemas.microsoft.com/office/drawing/2014/main" id="{119682B0-5CCF-4052-9AF1-F66EB020D172}"/>
              </a:ext>
            </a:extLst>
          </p:cNvPr>
          <p:cNvGraphicFramePr>
            <a:graphicFrameLocks noChangeAspect="1"/>
          </p:cNvGraphicFramePr>
          <p:nvPr>
            <p:extLst>
              <p:ext uri="{D42A27DB-BD31-4B8C-83A1-F6EECF244321}">
                <p14:modId xmlns:p14="http://schemas.microsoft.com/office/powerpoint/2010/main" val="1468176794"/>
              </p:ext>
            </p:extLst>
          </p:nvPr>
        </p:nvGraphicFramePr>
        <p:xfrm>
          <a:off x="2633467" y="1688615"/>
          <a:ext cx="2933700" cy="431800"/>
        </p:xfrm>
        <a:graphic>
          <a:graphicData uri="http://schemas.openxmlformats.org/presentationml/2006/ole">
            <mc:AlternateContent xmlns:mc="http://schemas.openxmlformats.org/markup-compatibility/2006">
              <mc:Choice xmlns:v="urn:schemas-microsoft-com:vml" Requires="v">
                <p:oleObj spid="_x0000_s68806" name="Equation" r:id="rId4" imgW="2933640" imgH="431640" progId="Equation.DSMT4">
                  <p:embed/>
                </p:oleObj>
              </mc:Choice>
              <mc:Fallback>
                <p:oleObj name="Equation" r:id="rId4" imgW="2933640" imgH="431640" progId="Equation.DSMT4">
                  <p:embed/>
                  <p:pic>
                    <p:nvPicPr>
                      <p:cNvPr id="2" name="Object 1">
                        <a:extLst>
                          <a:ext uri="{FF2B5EF4-FFF2-40B4-BE49-F238E27FC236}">
                            <a16:creationId xmlns:a16="http://schemas.microsoft.com/office/drawing/2014/main" id="{60FDB416-E4CE-4251-9022-27493DCA8DE2}"/>
                          </a:ext>
                        </a:extLst>
                      </p:cNvPr>
                      <p:cNvPicPr/>
                      <p:nvPr/>
                    </p:nvPicPr>
                    <p:blipFill>
                      <a:blip r:embed="rId5"/>
                      <a:stretch>
                        <a:fillRect/>
                      </a:stretch>
                    </p:blipFill>
                    <p:spPr>
                      <a:xfrm>
                        <a:off x="2633467" y="1688615"/>
                        <a:ext cx="2933700" cy="431800"/>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31678C71-4B0D-464D-93B4-61D1A2AEBC8A}"/>
              </a:ext>
            </a:extLst>
          </p:cNvPr>
          <p:cNvGraphicFramePr>
            <a:graphicFrameLocks noChangeAspect="1"/>
          </p:cNvGraphicFramePr>
          <p:nvPr>
            <p:extLst>
              <p:ext uri="{D42A27DB-BD31-4B8C-83A1-F6EECF244321}">
                <p14:modId xmlns:p14="http://schemas.microsoft.com/office/powerpoint/2010/main" val="3140903108"/>
              </p:ext>
            </p:extLst>
          </p:nvPr>
        </p:nvGraphicFramePr>
        <p:xfrm>
          <a:off x="3269351" y="3112499"/>
          <a:ext cx="2057400" cy="495300"/>
        </p:xfrm>
        <a:graphic>
          <a:graphicData uri="http://schemas.openxmlformats.org/presentationml/2006/ole">
            <mc:AlternateContent xmlns:mc="http://schemas.openxmlformats.org/markup-compatibility/2006">
              <mc:Choice xmlns:v="urn:schemas-microsoft-com:vml" Requires="v">
                <p:oleObj spid="_x0000_s68807" name="Equation" r:id="rId6" imgW="2057400" imgH="495000" progId="Equation.DSMT4">
                  <p:embed/>
                </p:oleObj>
              </mc:Choice>
              <mc:Fallback>
                <p:oleObj name="Equation" r:id="rId6" imgW="2057400" imgH="495000" progId="Equation.DSMT4">
                  <p:embed/>
                  <p:pic>
                    <p:nvPicPr>
                      <p:cNvPr id="0" name=""/>
                      <p:cNvPicPr/>
                      <p:nvPr/>
                    </p:nvPicPr>
                    <p:blipFill>
                      <a:blip r:embed="rId7"/>
                      <a:stretch>
                        <a:fillRect/>
                      </a:stretch>
                    </p:blipFill>
                    <p:spPr>
                      <a:xfrm>
                        <a:off x="3269351" y="3112499"/>
                        <a:ext cx="2057400" cy="495300"/>
                      </a:xfrm>
                      <a:prstGeom prst="rect">
                        <a:avLst/>
                      </a:prstGeom>
                    </p:spPr>
                  </p:pic>
                </p:oleObj>
              </mc:Fallback>
            </mc:AlternateContent>
          </a:graphicData>
        </a:graphic>
      </p:graphicFrame>
    </p:spTree>
    <p:extLst>
      <p:ext uri="{BB962C8B-B14F-4D97-AF65-F5344CB8AC3E}">
        <p14:creationId xmlns:p14="http://schemas.microsoft.com/office/powerpoint/2010/main" val="2659180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animEffect transition="in" filter="fade">
                                      <p:cBhvr>
                                        <p:cTn id="15" dur="500"/>
                                        <p:tgtEl>
                                          <p:spTgt spid="4">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7" end="7"/>
                                            </p:txEl>
                                          </p:spTgt>
                                        </p:tgtEl>
                                        <p:attrNameLst>
                                          <p:attrName>style.visibility</p:attrName>
                                        </p:attrNameLst>
                                      </p:cBhvr>
                                      <p:to>
                                        <p:strVal val="visible"/>
                                      </p:to>
                                    </p:set>
                                    <p:animEffect transition="in" filter="fade">
                                      <p:cBhvr>
                                        <p:cTn id="20"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58</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Tukey’s Test Using Technology</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5)</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954107"/>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Use Minitab to obtain the results of Tukey’s test for the shear bond strength data from a previous example.</a:t>
            </a:r>
          </a:p>
        </p:txBody>
      </p:sp>
      <p:pic>
        <p:nvPicPr>
          <p:cNvPr id="7" name="Picture 6" descr="A screenshot of a cell phone&#10;&#10;Description automatically generated">
            <a:extLst>
              <a:ext uri="{FF2B5EF4-FFF2-40B4-BE49-F238E27FC236}">
                <a16:creationId xmlns:a16="http://schemas.microsoft.com/office/drawing/2014/main" id="{86D13D3D-3500-4B0C-BF58-3BD606EA8818}"/>
              </a:ext>
            </a:extLst>
          </p:cNvPr>
          <p:cNvPicPr>
            <a:picLocks noChangeAspect="1"/>
          </p:cNvPicPr>
          <p:nvPr/>
        </p:nvPicPr>
        <p:blipFill>
          <a:blip r:embed="rId3"/>
          <a:stretch>
            <a:fillRect/>
          </a:stretch>
        </p:blipFill>
        <p:spPr>
          <a:xfrm>
            <a:off x="868865" y="2190507"/>
            <a:ext cx="7406270" cy="3365150"/>
          </a:xfrm>
          <a:prstGeom prst="rect">
            <a:avLst/>
          </a:prstGeom>
        </p:spPr>
      </p:pic>
    </p:spTree>
    <p:extLst>
      <p:ext uri="{BB962C8B-B14F-4D97-AF65-F5344CB8AC3E}">
        <p14:creationId xmlns:p14="http://schemas.microsoft.com/office/powerpoint/2010/main" val="4135499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59</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Tukey’s Test Using Technology</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5)</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1292662"/>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figure shows the results of Tukey’s test using Minitab. Instead of reporting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-values to test each hypothesis that the pairwise means are equal, Minitab reports confidence intervals. </a:t>
            </a:r>
          </a:p>
        </p:txBody>
      </p:sp>
      <p:pic>
        <p:nvPicPr>
          <p:cNvPr id="10" name="Picture 9" descr="A screenshot of a social media post&#10;&#10;Description automatically generated">
            <a:extLst>
              <a:ext uri="{FF2B5EF4-FFF2-40B4-BE49-F238E27FC236}">
                <a16:creationId xmlns:a16="http://schemas.microsoft.com/office/drawing/2014/main" id="{597C2150-403B-4D77-A616-81BFB9C5A071}"/>
              </a:ext>
            </a:extLst>
          </p:cNvPr>
          <p:cNvPicPr>
            <a:picLocks noChangeAspect="1"/>
          </p:cNvPicPr>
          <p:nvPr/>
        </p:nvPicPr>
        <p:blipFill rotWithShape="1">
          <a:blip r:embed="rId3"/>
          <a:srcRect t="1917"/>
          <a:stretch/>
        </p:blipFill>
        <p:spPr>
          <a:xfrm>
            <a:off x="1273011" y="2402707"/>
            <a:ext cx="5938495" cy="3928243"/>
          </a:xfrm>
          <a:prstGeom prst="rect">
            <a:avLst/>
          </a:prstGeom>
        </p:spPr>
      </p:pic>
    </p:spTree>
    <p:extLst>
      <p:ext uri="{BB962C8B-B14F-4D97-AF65-F5344CB8AC3E}">
        <p14:creationId xmlns:p14="http://schemas.microsoft.com/office/powerpoint/2010/main" val="261253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60</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Tukey’s Test Using Technology</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5)</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529375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Recall, we can use confidence intervals to test       </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versus                     (or, equivalently,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by determining whether the interval contains 0. If the interval contains 0, we do not reject the null hypothesis,</a:t>
            </a:r>
          </a:p>
          <a:p>
            <a:r>
              <a:rPr lang="en-US" sz="2600" dirty="0">
                <a:latin typeface="Times New Roman" panose="02020603050405020304" pitchFamily="18" charset="0"/>
                <a:cs typeface="Times New Roman" panose="02020603050405020304" pitchFamily="18" charset="0"/>
              </a:rPr>
              <a:t>but if the interval does not contain 0, we reject the null hypothesis at the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level of significance.</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If we reject,   </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we can look at the bounds of the confidence interval to determine which mean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or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is greater. For example, if the interval contains only positive numbers, then     </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is positive, so we have evidence that</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br>
              <a:rPr lang="en-US" sz="2600" i="1" dirty="0">
                <a:latin typeface="Times New Roman" panose="02020603050405020304" pitchFamily="18" charset="0"/>
                <a:cs typeface="Times New Roman" panose="02020603050405020304" pitchFamily="18" charset="0"/>
                <a:sym typeface="Symbol" panose="05050102010706020507" pitchFamily="18" charset="2"/>
              </a:rPr>
            </a:b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&gt;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Similarly, if the confidence interval contains only negative numbers, we have evidence that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&lt;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a:t>
            </a:r>
          </a:p>
        </p:txBody>
      </p:sp>
      <p:graphicFrame>
        <p:nvGraphicFramePr>
          <p:cNvPr id="2" name="Object 1">
            <a:extLst>
              <a:ext uri="{FF2B5EF4-FFF2-40B4-BE49-F238E27FC236}">
                <a16:creationId xmlns:a16="http://schemas.microsoft.com/office/drawing/2014/main" id="{C27BA4A9-D726-4247-9C4D-DB922D932C03}"/>
              </a:ext>
            </a:extLst>
          </p:cNvPr>
          <p:cNvGraphicFramePr>
            <a:graphicFrameLocks noChangeAspect="1"/>
          </p:cNvGraphicFramePr>
          <p:nvPr>
            <p:extLst>
              <p:ext uri="{D42A27DB-BD31-4B8C-83A1-F6EECF244321}">
                <p14:modId xmlns:p14="http://schemas.microsoft.com/office/powerpoint/2010/main" val="1164652887"/>
              </p:ext>
            </p:extLst>
          </p:nvPr>
        </p:nvGraphicFramePr>
        <p:xfrm>
          <a:off x="1161854" y="1619149"/>
          <a:ext cx="1524000" cy="393700"/>
        </p:xfrm>
        <a:graphic>
          <a:graphicData uri="http://schemas.openxmlformats.org/presentationml/2006/ole">
            <mc:AlternateContent xmlns:mc="http://schemas.openxmlformats.org/markup-compatibility/2006">
              <mc:Choice xmlns:v="urn:schemas-microsoft-com:vml" Requires="v">
                <p:oleObj spid="_x0000_s71230" name="Equation" r:id="rId4" imgW="1523880" imgH="393480" progId="Equation.DSMT4">
                  <p:embed/>
                </p:oleObj>
              </mc:Choice>
              <mc:Fallback>
                <p:oleObj name="Equation" r:id="rId4" imgW="1523880" imgH="393480" progId="Equation.DSMT4">
                  <p:embed/>
                  <p:pic>
                    <p:nvPicPr>
                      <p:cNvPr id="2" name="Object 1">
                        <a:extLst>
                          <a:ext uri="{FF2B5EF4-FFF2-40B4-BE49-F238E27FC236}">
                            <a16:creationId xmlns:a16="http://schemas.microsoft.com/office/drawing/2014/main" id="{C27BA4A9-D726-4247-9C4D-DB922D932C03}"/>
                          </a:ext>
                        </a:extLst>
                      </p:cNvPr>
                      <p:cNvPicPr/>
                      <p:nvPr/>
                    </p:nvPicPr>
                    <p:blipFill>
                      <a:blip r:embed="rId5"/>
                      <a:stretch>
                        <a:fillRect/>
                      </a:stretch>
                    </p:blipFill>
                    <p:spPr>
                      <a:xfrm>
                        <a:off x="1161854" y="1619149"/>
                        <a:ext cx="1524000" cy="3937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974926A5-8BC6-4363-A260-E9D153858B65}"/>
              </a:ext>
            </a:extLst>
          </p:cNvPr>
          <p:cNvGraphicFramePr>
            <a:graphicFrameLocks noChangeAspect="1"/>
          </p:cNvGraphicFramePr>
          <p:nvPr>
            <p:extLst>
              <p:ext uri="{D42A27DB-BD31-4B8C-83A1-F6EECF244321}">
                <p14:modId xmlns:p14="http://schemas.microsoft.com/office/powerpoint/2010/main" val="965842739"/>
              </p:ext>
            </p:extLst>
          </p:nvPr>
        </p:nvGraphicFramePr>
        <p:xfrm>
          <a:off x="6412010" y="1206596"/>
          <a:ext cx="1562100" cy="393700"/>
        </p:xfrm>
        <a:graphic>
          <a:graphicData uri="http://schemas.openxmlformats.org/presentationml/2006/ole">
            <mc:AlternateContent xmlns:mc="http://schemas.openxmlformats.org/markup-compatibility/2006">
              <mc:Choice xmlns:v="urn:schemas-microsoft-com:vml" Requires="v">
                <p:oleObj spid="_x0000_s71231" name="Equation" r:id="rId6" imgW="1562040" imgH="393480" progId="Equation.DSMT4">
                  <p:embed/>
                </p:oleObj>
              </mc:Choice>
              <mc:Fallback>
                <p:oleObj name="Equation" r:id="rId6" imgW="1562040" imgH="393480" progId="Equation.DSMT4">
                  <p:embed/>
                  <p:pic>
                    <p:nvPicPr>
                      <p:cNvPr id="3" name="Object 2">
                        <a:extLst>
                          <a:ext uri="{FF2B5EF4-FFF2-40B4-BE49-F238E27FC236}">
                            <a16:creationId xmlns:a16="http://schemas.microsoft.com/office/drawing/2014/main" id="{974926A5-8BC6-4363-A260-E9D153858B65}"/>
                          </a:ext>
                        </a:extLst>
                      </p:cNvPr>
                      <p:cNvPicPr/>
                      <p:nvPr/>
                    </p:nvPicPr>
                    <p:blipFill>
                      <a:blip r:embed="rId7"/>
                      <a:stretch>
                        <a:fillRect/>
                      </a:stretch>
                    </p:blipFill>
                    <p:spPr>
                      <a:xfrm>
                        <a:off x="6412010" y="1206596"/>
                        <a:ext cx="1562100" cy="3937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FFF1BF2E-CFDD-432D-B271-3304F0D7C638}"/>
              </a:ext>
            </a:extLst>
          </p:cNvPr>
          <p:cNvGraphicFramePr>
            <a:graphicFrameLocks noChangeAspect="1"/>
          </p:cNvGraphicFramePr>
          <p:nvPr>
            <p:extLst>
              <p:ext uri="{D42A27DB-BD31-4B8C-83A1-F6EECF244321}">
                <p14:modId xmlns:p14="http://schemas.microsoft.com/office/powerpoint/2010/main" val="3514977609"/>
              </p:ext>
            </p:extLst>
          </p:nvPr>
        </p:nvGraphicFramePr>
        <p:xfrm>
          <a:off x="5146168" y="1604053"/>
          <a:ext cx="3149600" cy="393700"/>
        </p:xfrm>
        <a:graphic>
          <a:graphicData uri="http://schemas.openxmlformats.org/presentationml/2006/ole">
            <mc:AlternateContent xmlns:mc="http://schemas.openxmlformats.org/markup-compatibility/2006">
              <mc:Choice xmlns:v="urn:schemas-microsoft-com:vml" Requires="v">
                <p:oleObj spid="_x0000_s71232" name="Equation" r:id="rId8" imgW="3149280" imgH="393480" progId="Equation.DSMT4">
                  <p:embed/>
                </p:oleObj>
              </mc:Choice>
              <mc:Fallback>
                <p:oleObj name="Equation" r:id="rId8" imgW="3149280" imgH="393480" progId="Equation.DSMT4">
                  <p:embed/>
                  <p:pic>
                    <p:nvPicPr>
                      <p:cNvPr id="6" name="Object 5">
                        <a:extLst>
                          <a:ext uri="{FF2B5EF4-FFF2-40B4-BE49-F238E27FC236}">
                            <a16:creationId xmlns:a16="http://schemas.microsoft.com/office/drawing/2014/main" id="{FFF1BF2E-CFDD-432D-B271-3304F0D7C638}"/>
                          </a:ext>
                        </a:extLst>
                      </p:cNvPr>
                      <p:cNvPicPr/>
                      <p:nvPr/>
                    </p:nvPicPr>
                    <p:blipFill>
                      <a:blip r:embed="rId9"/>
                      <a:stretch>
                        <a:fillRect/>
                      </a:stretch>
                    </p:blipFill>
                    <p:spPr>
                      <a:xfrm>
                        <a:off x="5146168" y="1604053"/>
                        <a:ext cx="3149600" cy="3937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0B9E46AA-0BFF-4541-AED3-356916DA924D}"/>
              </a:ext>
            </a:extLst>
          </p:cNvPr>
          <p:cNvGraphicFramePr>
            <a:graphicFrameLocks noChangeAspect="1"/>
          </p:cNvGraphicFramePr>
          <p:nvPr>
            <p:extLst>
              <p:ext uri="{D42A27DB-BD31-4B8C-83A1-F6EECF244321}">
                <p14:modId xmlns:p14="http://schemas.microsoft.com/office/powerpoint/2010/main" val="1179595413"/>
              </p:ext>
            </p:extLst>
          </p:nvPr>
        </p:nvGraphicFramePr>
        <p:xfrm>
          <a:off x="224362" y="2010493"/>
          <a:ext cx="2133600" cy="393700"/>
        </p:xfrm>
        <a:graphic>
          <a:graphicData uri="http://schemas.openxmlformats.org/presentationml/2006/ole">
            <mc:AlternateContent xmlns:mc="http://schemas.openxmlformats.org/markup-compatibility/2006">
              <mc:Choice xmlns:v="urn:schemas-microsoft-com:vml" Requires="v">
                <p:oleObj spid="_x0000_s71233" name="Equation" r:id="rId10" imgW="2133360" imgH="393480" progId="Equation.DSMT4">
                  <p:embed/>
                </p:oleObj>
              </mc:Choice>
              <mc:Fallback>
                <p:oleObj name="Equation" r:id="rId10" imgW="2133360" imgH="393480" progId="Equation.DSMT4">
                  <p:embed/>
                  <p:pic>
                    <p:nvPicPr>
                      <p:cNvPr id="8" name="Object 7">
                        <a:extLst>
                          <a:ext uri="{FF2B5EF4-FFF2-40B4-BE49-F238E27FC236}">
                            <a16:creationId xmlns:a16="http://schemas.microsoft.com/office/drawing/2014/main" id="{0B9E46AA-0BFF-4541-AED3-356916DA924D}"/>
                          </a:ext>
                        </a:extLst>
                      </p:cNvPr>
                      <p:cNvPicPr/>
                      <p:nvPr/>
                    </p:nvPicPr>
                    <p:blipFill>
                      <a:blip r:embed="rId11"/>
                      <a:stretch>
                        <a:fillRect/>
                      </a:stretch>
                    </p:blipFill>
                    <p:spPr>
                      <a:xfrm>
                        <a:off x="224362" y="2010493"/>
                        <a:ext cx="2133600" cy="3937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1D4C35DB-5A40-42BC-9332-FAB176F45DA7}"/>
              </a:ext>
            </a:extLst>
          </p:cNvPr>
          <p:cNvGraphicFramePr>
            <a:graphicFrameLocks noChangeAspect="1"/>
          </p:cNvGraphicFramePr>
          <p:nvPr>
            <p:extLst>
              <p:ext uri="{D42A27DB-BD31-4B8C-83A1-F6EECF244321}">
                <p14:modId xmlns:p14="http://schemas.microsoft.com/office/powerpoint/2010/main" val="2686936052"/>
              </p:ext>
            </p:extLst>
          </p:nvPr>
        </p:nvGraphicFramePr>
        <p:xfrm>
          <a:off x="1854004" y="3973871"/>
          <a:ext cx="1663700" cy="393700"/>
        </p:xfrm>
        <a:graphic>
          <a:graphicData uri="http://schemas.openxmlformats.org/presentationml/2006/ole">
            <mc:AlternateContent xmlns:mc="http://schemas.openxmlformats.org/markup-compatibility/2006">
              <mc:Choice xmlns:v="urn:schemas-microsoft-com:vml" Requires="v">
                <p:oleObj spid="_x0000_s71234" name="Equation" r:id="rId12" imgW="1663560" imgH="393480" progId="Equation.DSMT4">
                  <p:embed/>
                </p:oleObj>
              </mc:Choice>
              <mc:Fallback>
                <p:oleObj name="Equation" r:id="rId12" imgW="1663560" imgH="393480" progId="Equation.DSMT4">
                  <p:embed/>
                  <p:pic>
                    <p:nvPicPr>
                      <p:cNvPr id="0" name=""/>
                      <p:cNvPicPr/>
                      <p:nvPr/>
                    </p:nvPicPr>
                    <p:blipFill>
                      <a:blip r:embed="rId13"/>
                      <a:stretch>
                        <a:fillRect/>
                      </a:stretch>
                    </p:blipFill>
                    <p:spPr>
                      <a:xfrm>
                        <a:off x="1854004" y="3973871"/>
                        <a:ext cx="1663700" cy="3937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3BD4AACE-B142-4F9C-A214-9F8A2409B289}"/>
              </a:ext>
            </a:extLst>
          </p:cNvPr>
          <p:cNvGraphicFramePr>
            <a:graphicFrameLocks noChangeAspect="1"/>
          </p:cNvGraphicFramePr>
          <p:nvPr>
            <p:extLst>
              <p:ext uri="{D42A27DB-BD31-4B8C-83A1-F6EECF244321}">
                <p14:modId xmlns:p14="http://schemas.microsoft.com/office/powerpoint/2010/main" val="891720399"/>
              </p:ext>
            </p:extLst>
          </p:nvPr>
        </p:nvGraphicFramePr>
        <p:xfrm>
          <a:off x="2180571" y="5197833"/>
          <a:ext cx="850900" cy="393700"/>
        </p:xfrm>
        <a:graphic>
          <a:graphicData uri="http://schemas.openxmlformats.org/presentationml/2006/ole">
            <mc:AlternateContent xmlns:mc="http://schemas.openxmlformats.org/markup-compatibility/2006">
              <mc:Choice xmlns:v="urn:schemas-microsoft-com:vml" Requires="v">
                <p:oleObj spid="_x0000_s71235" name="Equation" r:id="rId14" imgW="850680" imgH="393480" progId="Equation.DSMT4">
                  <p:embed/>
                </p:oleObj>
              </mc:Choice>
              <mc:Fallback>
                <p:oleObj name="Equation" r:id="rId14" imgW="850680" imgH="393480" progId="Equation.DSMT4">
                  <p:embed/>
                  <p:pic>
                    <p:nvPicPr>
                      <p:cNvPr id="3" name="Object 2">
                        <a:extLst>
                          <a:ext uri="{FF2B5EF4-FFF2-40B4-BE49-F238E27FC236}">
                            <a16:creationId xmlns:a16="http://schemas.microsoft.com/office/drawing/2014/main" id="{2A58FB58-3B71-461F-AB1A-902B13676BB8}"/>
                          </a:ext>
                        </a:extLst>
                      </p:cNvPr>
                      <p:cNvPicPr/>
                      <p:nvPr/>
                    </p:nvPicPr>
                    <p:blipFill>
                      <a:blip r:embed="rId15"/>
                      <a:stretch>
                        <a:fillRect/>
                      </a:stretch>
                    </p:blipFill>
                    <p:spPr>
                      <a:xfrm>
                        <a:off x="2180571" y="5197833"/>
                        <a:ext cx="850900" cy="393700"/>
                      </a:xfrm>
                      <a:prstGeom prst="rect">
                        <a:avLst/>
                      </a:prstGeom>
                    </p:spPr>
                  </p:pic>
                </p:oleObj>
              </mc:Fallback>
            </mc:AlternateContent>
          </a:graphicData>
        </a:graphic>
      </p:graphicFrame>
    </p:spTree>
    <p:extLst>
      <p:ext uri="{BB962C8B-B14F-4D97-AF65-F5344CB8AC3E}">
        <p14:creationId xmlns:p14="http://schemas.microsoft.com/office/powerpoint/2010/main" val="2632280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61</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Tukey’s Test Using Technology</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5)</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529375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If we look at the first group of confidence intervals, we are comparing means from the </a:t>
            </a:r>
            <a:r>
              <a:rPr lang="en-US" sz="2600" dirty="0" err="1">
                <a:latin typeface="Times New Roman" panose="02020603050405020304" pitchFamily="18" charset="0"/>
                <a:cs typeface="Times New Roman" panose="02020603050405020304" pitchFamily="18" charset="0"/>
              </a:rPr>
              <a:t>Cojet</a:t>
            </a:r>
            <a:r>
              <a:rPr lang="en-US" sz="2600" dirty="0">
                <a:latin typeface="Times New Roman" panose="02020603050405020304" pitchFamily="18" charset="0"/>
                <a:cs typeface="Times New Roman" panose="02020603050405020304" pitchFamily="18" charset="0"/>
              </a:rPr>
              <a:t> treatment and the other three treatments. The lower bound on the confidence interval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err="1">
                <a:latin typeface="Times New Roman" panose="02020603050405020304" pitchFamily="18" charset="0"/>
                <a:cs typeface="Times New Roman" panose="02020603050405020304" pitchFamily="18" charset="0"/>
              </a:rPr>
              <a:t>Silistor</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err="1">
                <a:latin typeface="Times New Roman" panose="02020603050405020304" pitchFamily="18" charset="0"/>
                <a:cs typeface="Times New Roman" panose="02020603050405020304" pitchFamily="18" charset="0"/>
              </a:rPr>
              <a:t>Cojet</a:t>
            </a:r>
            <a:r>
              <a:rPr lang="en-US" sz="2600" dirty="0">
                <a:latin typeface="Times New Roman" panose="02020603050405020304" pitchFamily="18" charset="0"/>
                <a:cs typeface="Times New Roman" panose="02020603050405020304" pitchFamily="18" charset="0"/>
              </a:rPr>
              <a:t> is –4.024 MPa and the upper bound is 6.744 MPa. Because the interval contains 0, do not reject the null hypothesis that the mean shear strength of the </a:t>
            </a:r>
            <a:r>
              <a:rPr lang="en-US" sz="2600" dirty="0" err="1">
                <a:latin typeface="Times New Roman" panose="02020603050405020304" pitchFamily="18" charset="0"/>
                <a:cs typeface="Times New Roman" panose="02020603050405020304" pitchFamily="18" charset="0"/>
              </a:rPr>
              <a:t>Silistor</a:t>
            </a:r>
            <a:r>
              <a:rPr lang="en-US" sz="2600" dirty="0">
                <a:latin typeface="Times New Roman" panose="02020603050405020304" pitchFamily="18" charset="0"/>
                <a:cs typeface="Times New Roman" panose="02020603050405020304" pitchFamily="18" charset="0"/>
              </a:rPr>
              <a:t> treatment is the same as the mean shear strength of the </a:t>
            </a:r>
            <a:r>
              <a:rPr lang="en-US" sz="2600" dirty="0" err="1">
                <a:latin typeface="Times New Roman" panose="02020603050405020304" pitchFamily="18" charset="0"/>
                <a:cs typeface="Times New Roman" panose="02020603050405020304" pitchFamily="18" charset="0"/>
              </a:rPr>
              <a:t>Cojet</a:t>
            </a:r>
            <a:r>
              <a:rPr lang="en-US" sz="2600" dirty="0">
                <a:latin typeface="Times New Roman" panose="02020603050405020304" pitchFamily="18" charset="0"/>
                <a:cs typeface="Times New Roman" panose="02020603050405020304" pitchFamily="18" charset="0"/>
              </a:rPr>
              <a:t> treatment.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Next, compare the </a:t>
            </a:r>
            <a:r>
              <a:rPr lang="en-US" sz="2600" dirty="0" err="1">
                <a:latin typeface="Times New Roman" panose="02020603050405020304" pitchFamily="18" charset="0"/>
                <a:cs typeface="Times New Roman" panose="02020603050405020304" pitchFamily="18" charset="0"/>
              </a:rPr>
              <a:t>Cojet</a:t>
            </a:r>
            <a:r>
              <a:rPr lang="en-US" sz="2600" dirty="0">
                <a:latin typeface="Times New Roman" panose="02020603050405020304" pitchFamily="18" charset="0"/>
                <a:cs typeface="Times New Roman" panose="02020603050405020304" pitchFamily="18" charset="0"/>
              </a:rPr>
              <a:t> treatment to the </a:t>
            </a:r>
            <a:r>
              <a:rPr lang="en-US" sz="2600" dirty="0" err="1">
                <a:latin typeface="Times New Roman" panose="02020603050405020304" pitchFamily="18" charset="0"/>
                <a:cs typeface="Times New Roman" panose="02020603050405020304" pitchFamily="18" charset="0"/>
              </a:rPr>
              <a:t>Cimara</a:t>
            </a:r>
            <a:r>
              <a:rPr lang="en-US" sz="2600" dirty="0">
                <a:latin typeface="Times New Roman" panose="02020603050405020304" pitchFamily="18" charset="0"/>
                <a:cs typeface="Times New Roman" panose="02020603050405020304" pitchFamily="18" charset="0"/>
              </a:rPr>
              <a:t> treatment. The lower bound is –11.024 MPa and the upper bound is – 0.256 MPa. Because the interval does not contain 0, reject the null hypothesis that the mean shear strength of the </a:t>
            </a:r>
            <a:r>
              <a:rPr lang="en-US" sz="2600" dirty="0" err="1">
                <a:latin typeface="Times New Roman" panose="02020603050405020304" pitchFamily="18" charset="0"/>
                <a:cs typeface="Times New Roman" panose="02020603050405020304" pitchFamily="18" charset="0"/>
              </a:rPr>
              <a:t>Cojet</a:t>
            </a:r>
            <a:r>
              <a:rPr lang="en-US" sz="2600" dirty="0">
                <a:latin typeface="Times New Roman" panose="02020603050405020304" pitchFamily="18" charset="0"/>
                <a:cs typeface="Times New Roman" panose="02020603050405020304" pitchFamily="18" charset="0"/>
              </a:rPr>
              <a:t> treatment is the same as the mean shear strength of the </a:t>
            </a:r>
            <a:r>
              <a:rPr lang="en-US" sz="2600" dirty="0" err="1">
                <a:latin typeface="Times New Roman" panose="02020603050405020304" pitchFamily="18" charset="0"/>
                <a:cs typeface="Times New Roman" panose="02020603050405020304" pitchFamily="18" charset="0"/>
              </a:rPr>
              <a:t>Cimara</a:t>
            </a:r>
            <a:r>
              <a:rPr lang="en-US" sz="2600" dirty="0">
                <a:latin typeface="Times New Roman" panose="02020603050405020304" pitchFamily="18" charset="0"/>
                <a:cs typeface="Times New Roman" panose="02020603050405020304" pitchFamily="18" charset="0"/>
              </a:rPr>
              <a:t> treatment. </a:t>
            </a:r>
          </a:p>
        </p:txBody>
      </p:sp>
    </p:spTree>
    <p:extLst>
      <p:ext uri="{BB962C8B-B14F-4D97-AF65-F5344CB8AC3E}">
        <p14:creationId xmlns:p14="http://schemas.microsoft.com/office/powerpoint/2010/main" val="3321607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62</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Tukey’s Test Using Technology</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5)</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2893100"/>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In addition, because        </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is negative, we have evidence that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Co</a:t>
            </a:r>
            <a:r>
              <a:rPr lang="en-US" sz="2600" dirty="0">
                <a:latin typeface="Times New Roman" panose="02020603050405020304" pitchFamily="18" charset="0"/>
                <a:cs typeface="Times New Roman" panose="02020603050405020304" pitchFamily="18" charset="0"/>
              </a:rPr>
              <a:t> &gt;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Ci</a:t>
            </a:r>
            <a:r>
              <a:rPr lang="en-US" sz="2600" dirty="0">
                <a:latin typeface="Times New Roman" panose="02020603050405020304" pitchFamily="18" charset="0"/>
                <a:cs typeface="Times New Roman" panose="02020603050405020304" pitchFamily="18" charset="0"/>
              </a:rPr>
              <a:t>. Reading the remainder of the output in a similar</a:t>
            </a:r>
          </a:p>
          <a:p>
            <a:r>
              <a:rPr lang="en-US" sz="2600" dirty="0">
                <a:latin typeface="Times New Roman" panose="02020603050405020304" pitchFamily="18" charset="0"/>
                <a:cs typeface="Times New Roman" panose="02020603050405020304" pitchFamily="18" charset="0"/>
              </a:rPr>
              <a:t>manner, we have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Co</a:t>
            </a:r>
            <a:r>
              <a:rPr lang="en-US" sz="2600" dirty="0">
                <a:latin typeface="Times New Roman" panose="02020603050405020304" pitchFamily="18" charset="0"/>
                <a:cs typeface="Times New Roman" panose="02020603050405020304" pitchFamily="18" charset="0"/>
              </a:rPr>
              <a:t> &gt;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Ce</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Si</a:t>
            </a:r>
            <a:r>
              <a:rPr lang="en-US" sz="2600" dirty="0">
                <a:latin typeface="Times New Roman" panose="02020603050405020304" pitchFamily="18" charset="0"/>
                <a:cs typeface="Times New Roman" panose="02020603050405020304" pitchFamily="18" charset="0"/>
              </a:rPr>
              <a:t> &gt;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Ci</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Si</a:t>
            </a:r>
            <a:r>
              <a:rPr lang="en-US" sz="2600" dirty="0">
                <a:latin typeface="Times New Roman" panose="02020603050405020304" pitchFamily="18" charset="0"/>
                <a:cs typeface="Times New Roman" panose="02020603050405020304" pitchFamily="18" charset="0"/>
              </a:rPr>
              <a:t> &gt;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Ce</a:t>
            </a:r>
            <a:r>
              <a:rPr lang="en-US" sz="2600" dirty="0">
                <a:latin typeface="Times New Roman" panose="02020603050405020304" pitchFamily="18" charset="0"/>
                <a:cs typeface="Times New Roman" panose="02020603050405020304" pitchFamily="18" charset="0"/>
              </a:rPr>
              <a:t>, and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Ce</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Ci</a:t>
            </a:r>
            <a:r>
              <a:rPr lang="en-US" sz="2600" dirty="0">
                <a:latin typeface="Times New Roman" panose="02020603050405020304" pitchFamily="18" charset="0"/>
                <a:cs typeface="Times New Roman" panose="02020603050405020304" pitchFamily="18" charset="0"/>
              </a:rPr>
              <a:t>.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Summarizing all six statements,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Co</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Si</a:t>
            </a:r>
            <a:r>
              <a:rPr lang="en-US" sz="2600" dirty="0">
                <a:latin typeface="Times New Roman" panose="02020603050405020304" pitchFamily="18" charset="0"/>
                <a:cs typeface="Times New Roman" panose="02020603050405020304" pitchFamily="18" charset="0"/>
              </a:rPr>
              <a:t> &gt;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Ce</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 </a:t>
            </a:r>
            <a:r>
              <a:rPr lang="en-US" sz="2600" baseline="-25000" dirty="0">
                <a:latin typeface="Times New Roman" panose="02020603050405020304" pitchFamily="18" charset="0"/>
                <a:cs typeface="Times New Roman" panose="02020603050405020304" pitchFamily="18" charset="0"/>
              </a:rPr>
              <a:t>Ci</a:t>
            </a:r>
            <a:r>
              <a:rPr lang="en-US" sz="2600" dirty="0">
                <a:latin typeface="Times New Roman" panose="02020603050405020304" pitchFamily="18" charset="0"/>
                <a:cs typeface="Times New Roman" panose="02020603050405020304" pitchFamily="18" charset="0"/>
              </a:rPr>
              <a:t> which agrees with our results from a previous example.</a:t>
            </a:r>
          </a:p>
        </p:txBody>
      </p:sp>
      <p:graphicFrame>
        <p:nvGraphicFramePr>
          <p:cNvPr id="2" name="Object 1">
            <a:extLst>
              <a:ext uri="{FF2B5EF4-FFF2-40B4-BE49-F238E27FC236}">
                <a16:creationId xmlns:a16="http://schemas.microsoft.com/office/drawing/2014/main" id="{8A128B8F-0F75-471A-A6D4-8747A9AC846A}"/>
              </a:ext>
            </a:extLst>
          </p:cNvPr>
          <p:cNvGraphicFramePr>
            <a:graphicFrameLocks noChangeAspect="1"/>
          </p:cNvGraphicFramePr>
          <p:nvPr>
            <p:extLst>
              <p:ext uri="{D42A27DB-BD31-4B8C-83A1-F6EECF244321}">
                <p14:modId xmlns:p14="http://schemas.microsoft.com/office/powerpoint/2010/main" val="1432682899"/>
              </p:ext>
            </p:extLst>
          </p:nvPr>
        </p:nvGraphicFramePr>
        <p:xfrm>
          <a:off x="2989082" y="1212932"/>
          <a:ext cx="1676400" cy="444500"/>
        </p:xfrm>
        <a:graphic>
          <a:graphicData uri="http://schemas.openxmlformats.org/presentationml/2006/ole">
            <mc:AlternateContent xmlns:mc="http://schemas.openxmlformats.org/markup-compatibility/2006">
              <mc:Choice xmlns:v="urn:schemas-microsoft-com:vml" Requires="v">
                <p:oleObj spid="_x0000_s71775" name="Equation" r:id="rId4" imgW="1676160" imgH="444240" progId="Equation.DSMT4">
                  <p:embed/>
                </p:oleObj>
              </mc:Choice>
              <mc:Fallback>
                <p:oleObj name="Equation" r:id="rId4" imgW="1676160" imgH="444240" progId="Equation.DSMT4">
                  <p:embed/>
                  <p:pic>
                    <p:nvPicPr>
                      <p:cNvPr id="0" name=""/>
                      <p:cNvPicPr/>
                      <p:nvPr/>
                    </p:nvPicPr>
                    <p:blipFill>
                      <a:blip r:embed="rId5"/>
                      <a:stretch>
                        <a:fillRect/>
                      </a:stretch>
                    </p:blipFill>
                    <p:spPr>
                      <a:xfrm>
                        <a:off x="2989082" y="1212932"/>
                        <a:ext cx="1676400" cy="444500"/>
                      </a:xfrm>
                      <a:prstGeom prst="rect">
                        <a:avLst/>
                      </a:prstGeom>
                    </p:spPr>
                  </p:pic>
                </p:oleObj>
              </mc:Fallback>
            </mc:AlternateContent>
          </a:graphicData>
        </a:graphic>
      </p:graphicFrame>
    </p:spTree>
    <p:extLst>
      <p:ext uri="{BB962C8B-B14F-4D97-AF65-F5344CB8AC3E}">
        <p14:creationId xmlns:p14="http://schemas.microsoft.com/office/powerpoint/2010/main" val="670114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63</a:t>
            </a:fld>
            <a:endParaRPr/>
          </a:p>
        </p:txBody>
      </p:sp>
      <p:sp>
        <p:nvSpPr>
          <p:cNvPr id="4" name="Rectangle 3">
            <a:extLst>
              <a:ext uri="{FF2B5EF4-FFF2-40B4-BE49-F238E27FC236}">
                <a16:creationId xmlns:a16="http://schemas.microsoft.com/office/drawing/2014/main" id="{0B745670-8724-414E-BD3B-1100AA6AB89A}"/>
              </a:ext>
            </a:extLst>
          </p:cNvPr>
          <p:cNvSpPr/>
          <p:nvPr/>
        </p:nvSpPr>
        <p:spPr>
          <a:xfrm>
            <a:off x="533400" y="920604"/>
            <a:ext cx="8452700" cy="3970318"/>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Sometimes the results of Tukey’s test are ambiguous. Suppose the null hypothesis </a:t>
            </a:r>
            <a:r>
              <a:rPr lang="en-US" sz="2800" i="1" dirty="0">
                <a:latin typeface="Times New Roman" panose="02020603050405020304" pitchFamily="18" charset="0"/>
                <a:cs typeface="Times New Roman" panose="02020603050405020304" pitchFamily="18" charset="0"/>
              </a:rPr>
              <a:t>H</a:t>
            </a:r>
            <a:r>
              <a:rPr lang="en-US" sz="2800" baseline="-25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baseline="-25000" dirty="0">
                <a:latin typeface="Times New Roman" panose="02020603050405020304" pitchFamily="18" charset="0"/>
                <a:cs typeface="Times New Roman" panose="02020603050405020304" pitchFamily="18" charset="0"/>
              </a:rPr>
              <a:t>3</a:t>
            </a:r>
            <a:r>
              <a:rPr lang="en-US" sz="2800" dirty="0">
                <a:latin typeface="Times New Roman" panose="02020603050405020304" pitchFamily="18" charset="0"/>
                <a:cs typeface="Times New Roman" panose="02020603050405020304" pitchFamily="18" charset="0"/>
              </a:rPr>
              <a:t> =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baseline="-25000" dirty="0">
                <a:latin typeface="Times New Roman" panose="02020603050405020304" pitchFamily="18" charset="0"/>
                <a:cs typeface="Times New Roman" panose="02020603050405020304" pitchFamily="18" charset="0"/>
              </a:rPr>
              <a:t>4</a:t>
            </a:r>
            <a:r>
              <a:rPr lang="en-US" sz="2800" dirty="0">
                <a:latin typeface="Times New Roman" panose="02020603050405020304" pitchFamily="18" charset="0"/>
                <a:cs typeface="Times New Roman" panose="02020603050405020304" pitchFamily="18" charset="0"/>
              </a:rPr>
              <a:t> is rejected and the results of Tukey’s test indicate the following</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It appears that populations 1, 2, and 3 have a population mean that is different from that of populations 3 and 4. Clearly, this is impossible.</a:t>
            </a:r>
          </a:p>
        </p:txBody>
      </p:sp>
      <p:grpSp>
        <p:nvGrpSpPr>
          <p:cNvPr id="8" name="Group 7">
            <a:extLst>
              <a:ext uri="{FF2B5EF4-FFF2-40B4-BE49-F238E27FC236}">
                <a16:creationId xmlns:a16="http://schemas.microsoft.com/office/drawing/2014/main" id="{A4C159BD-D1B9-493E-BB24-6F90548862DC}"/>
              </a:ext>
            </a:extLst>
          </p:cNvPr>
          <p:cNvGrpSpPr/>
          <p:nvPr/>
        </p:nvGrpSpPr>
        <p:grpSpPr>
          <a:xfrm>
            <a:off x="3385597" y="2677163"/>
            <a:ext cx="1572901" cy="466627"/>
            <a:chOff x="2565465" y="2630029"/>
            <a:chExt cx="1572901" cy="466627"/>
          </a:xfrm>
        </p:grpSpPr>
        <p:graphicFrame>
          <p:nvGraphicFramePr>
            <p:cNvPr id="3" name="Object 2">
              <a:extLst>
                <a:ext uri="{FF2B5EF4-FFF2-40B4-BE49-F238E27FC236}">
                  <a16:creationId xmlns:a16="http://schemas.microsoft.com/office/drawing/2014/main" id="{944AFBA2-2166-4403-B156-A05D59BBB7E8}"/>
                </a:ext>
              </a:extLst>
            </p:cNvPr>
            <p:cNvGraphicFramePr>
              <a:graphicFrameLocks noChangeAspect="1"/>
            </p:cNvGraphicFramePr>
            <p:nvPr>
              <p:extLst>
                <p:ext uri="{D42A27DB-BD31-4B8C-83A1-F6EECF244321}">
                  <p14:modId xmlns:p14="http://schemas.microsoft.com/office/powerpoint/2010/main" val="4019301082"/>
                </p:ext>
              </p:extLst>
            </p:nvPr>
          </p:nvGraphicFramePr>
          <p:xfrm>
            <a:off x="2565465" y="2630029"/>
            <a:ext cx="1562100" cy="457200"/>
          </p:xfrm>
          <a:graphic>
            <a:graphicData uri="http://schemas.openxmlformats.org/presentationml/2006/ole">
              <mc:AlternateContent xmlns:mc="http://schemas.openxmlformats.org/markup-compatibility/2006">
                <mc:Choice xmlns:v="urn:schemas-microsoft-com:vml" Requires="v">
                  <p:oleObj spid="_x0000_s72797" name="Equation" r:id="rId4" imgW="1562040" imgH="457200" progId="Equation.DSMT4">
                    <p:embed/>
                  </p:oleObj>
                </mc:Choice>
                <mc:Fallback>
                  <p:oleObj name="Equation" r:id="rId4" imgW="1562040" imgH="457200" progId="Equation.DSMT4">
                    <p:embed/>
                    <p:pic>
                      <p:nvPicPr>
                        <p:cNvPr id="0" name=""/>
                        <p:cNvPicPr/>
                        <p:nvPr/>
                      </p:nvPicPr>
                      <p:blipFill>
                        <a:blip r:embed="rId5"/>
                        <a:stretch>
                          <a:fillRect/>
                        </a:stretch>
                      </p:blipFill>
                      <p:spPr>
                        <a:xfrm>
                          <a:off x="2565465" y="2630029"/>
                          <a:ext cx="1562100" cy="457200"/>
                        </a:xfrm>
                        <a:prstGeom prst="rect">
                          <a:avLst/>
                        </a:prstGeom>
                      </p:spPr>
                    </p:pic>
                  </p:oleObj>
                </mc:Fallback>
              </mc:AlternateContent>
            </a:graphicData>
          </a:graphic>
        </p:graphicFrame>
        <p:cxnSp>
          <p:nvCxnSpPr>
            <p:cNvPr id="7" name="Straight Connector 6">
              <a:extLst>
                <a:ext uri="{FF2B5EF4-FFF2-40B4-BE49-F238E27FC236}">
                  <a16:creationId xmlns:a16="http://schemas.microsoft.com/office/drawing/2014/main" id="{095D710F-74A4-4668-8124-228E665D5EB5}"/>
                </a:ext>
              </a:extLst>
            </p:cNvPr>
            <p:cNvCxnSpPr/>
            <p:nvPr/>
          </p:nvCxnSpPr>
          <p:spPr>
            <a:xfrm>
              <a:off x="3346515" y="3096656"/>
              <a:ext cx="7918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18940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13-</a:t>
            </a:r>
            <a:fld id="{00000000-1234-1234-1234-123412341234}" type="slidenum">
              <a:rPr lang="en-US" sz="1400" b="1" i="0" u="none" smtClean="0">
                <a:solidFill>
                  <a:schemeClr val="lt1"/>
                </a:solidFill>
                <a:latin typeface="Verdana"/>
                <a:ea typeface="Verdana"/>
                <a:cs typeface="Verdana"/>
                <a:sym typeface="Verdana"/>
              </a:rPr>
              <a:t>64</a:t>
            </a:fld>
            <a:endParaRPr dirty="0"/>
          </a:p>
        </p:txBody>
      </p:sp>
      <p:sp>
        <p:nvSpPr>
          <p:cNvPr id="89" name="Google Shape;89;p16"/>
          <p:cNvSpPr txBox="1"/>
          <p:nvPr/>
        </p:nvSpPr>
        <p:spPr>
          <a:xfrm>
            <a:off x="457200" y="919883"/>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13.3 </a:t>
            </a:r>
            <a:r>
              <a:rPr lang="en-US" sz="4000" b="1" dirty="0">
                <a:solidFill>
                  <a:srgbClr val="333399"/>
                </a:solidFill>
                <a:latin typeface="+mn-lt"/>
                <a:cs typeface="Times New Roman"/>
                <a:sym typeface="Times New Roman"/>
              </a:rPr>
              <a:t>The Randomized Complete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Block Design</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457200" y="2386039"/>
            <a:ext cx="8229600" cy="265153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a:pP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Conduct analysis of variance on the randomized complete block design</a:t>
            </a:r>
            <a:endParaRPr lang="en-US" sz="2800" dirty="0">
              <a:latin typeface="Times New Roman" panose="02020603050405020304" pitchFamily="18" charset="0"/>
              <a:cs typeface="Times New Roman" panose="02020603050405020304" pitchFamily="18" charset="0"/>
            </a:endParaRPr>
          </a:p>
          <a:p>
            <a:pPr marL="609600" lvl="0" indent="-609600">
              <a:spcBef>
                <a:spcPts val="640"/>
              </a:spcBef>
              <a:buClr>
                <a:srgbClr val="A00020"/>
              </a:buClr>
              <a:buSzPts val="3200"/>
              <a:buFont typeface="Times New Roman"/>
              <a:buAutoNum type="arabicPeriod"/>
            </a:pP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Perform the Tukey test</a:t>
            </a:r>
            <a:endParaRPr lang="en-US" sz="2800" dirty="0">
              <a:latin typeface="Times New Roman" panose="02020603050405020304" pitchFamily="18" charset="0"/>
              <a:cs typeface="Times New Roman" panose="02020603050405020304" pitchFamily="18" charset="0"/>
            </a:endParaRPr>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489636" y="1734942"/>
            <a:ext cx="834662" cy="843267"/>
          </a:xfrm>
          <a:prstGeom prst="rect">
            <a:avLst/>
          </a:prstGeom>
        </p:spPr>
      </p:pic>
    </p:spTree>
    <p:extLst>
      <p:ext uri="{BB962C8B-B14F-4D97-AF65-F5344CB8AC3E}">
        <p14:creationId xmlns:p14="http://schemas.microsoft.com/office/powerpoint/2010/main" val="1192179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65"/>
          <p:cNvSpPr txBox="1"/>
          <p:nvPr/>
        </p:nvSpPr>
        <p:spPr>
          <a:xfrm>
            <a:off x="609600" y="1220787"/>
            <a:ext cx="8077200" cy="3990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a:ea typeface="Times New Roman"/>
                <a:cs typeface="Times New Roman"/>
                <a:sym typeface="Times New Roman"/>
              </a:rPr>
              <a:t>In the completely randomized design, the researcher manipulates a single factor and fixes it at two or more levels and then randomly assigns experimental units to a treatment.  This design is not always sufficient because the researcher may be aware of additional factors that cannot be fixed at a single level throughout the experiment.</a:t>
            </a:r>
            <a:endParaRPr dirty="0"/>
          </a:p>
        </p:txBody>
      </p:sp>
      <p:sp>
        <p:nvSpPr>
          <p:cNvPr id="468" name="Google Shape;468;p65"/>
          <p:cNvSpPr txBox="1"/>
          <p:nvPr/>
        </p:nvSpPr>
        <p:spPr>
          <a:xfrm>
            <a:off x="4156075" y="223837"/>
            <a:ext cx="1841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469" name="Google Shape;469;p6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65</a:t>
            </a:fld>
            <a:endParaRPr/>
          </a:p>
        </p:txBody>
      </p:sp>
    </p:spTree>
    <p:extLst>
      <p:ext uri="{BB962C8B-B14F-4D97-AF65-F5344CB8AC3E}">
        <p14:creationId xmlns:p14="http://schemas.microsoft.com/office/powerpoint/2010/main" val="4147189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66"/>
          <p:cNvSpPr txBox="1"/>
          <p:nvPr/>
        </p:nvSpPr>
        <p:spPr>
          <a:xfrm>
            <a:off x="990600" y="1635568"/>
            <a:ext cx="7545372" cy="20415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a:ea typeface="Times New Roman"/>
                <a:cs typeface="Times New Roman"/>
                <a:sym typeface="Times New Roman"/>
              </a:rPr>
              <a:t>The randomized block design is an experimental design that captures more information and therefore reduces experimental error.</a:t>
            </a:r>
            <a:endParaRPr dirty="0"/>
          </a:p>
        </p:txBody>
      </p:sp>
      <p:sp>
        <p:nvSpPr>
          <p:cNvPr id="475" name="Google Shape;475;p66"/>
          <p:cNvSpPr txBox="1"/>
          <p:nvPr/>
        </p:nvSpPr>
        <p:spPr>
          <a:xfrm>
            <a:off x="4156075" y="223837"/>
            <a:ext cx="1841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476" name="Google Shape;476;p6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66</a:t>
            </a:fld>
            <a:endParaRPr/>
          </a:p>
        </p:txBody>
      </p:sp>
    </p:spTree>
    <p:extLst>
      <p:ext uri="{BB962C8B-B14F-4D97-AF65-F5344CB8AC3E}">
        <p14:creationId xmlns:p14="http://schemas.microsoft.com/office/powerpoint/2010/main" val="1428343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67"/>
          <p:cNvSpPr txBox="1"/>
          <p:nvPr/>
        </p:nvSpPr>
        <p:spPr>
          <a:xfrm>
            <a:off x="627668" y="975675"/>
            <a:ext cx="8077200" cy="4524375"/>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1" u="none" dirty="0">
                <a:solidFill>
                  <a:schemeClr val="tx1"/>
                </a:solidFill>
                <a:latin typeface="+mn-lt"/>
                <a:ea typeface="Times New Roman"/>
                <a:cs typeface="Times New Roman" panose="02020603050405020304" pitchFamily="18" charset="0"/>
                <a:sym typeface="Times New Roman"/>
              </a:rPr>
              <a:t>In Other Words</a:t>
            </a:r>
            <a:endParaRPr sz="3200" b="1" i="0" u="none" dirty="0">
              <a:solidFill>
                <a:schemeClr val="accent2"/>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A block is a method for controlling experimental error.  Blocks should form a homogenous group.  For example, if gender is thought to explain some of the variability in the response variable, remove gender from the experimental error by forming blocks of experimental units with the same gender.</a:t>
            </a:r>
            <a:endParaRPr dirty="0">
              <a:latin typeface="Times New Roman" panose="02020603050405020304" pitchFamily="18" charset="0"/>
              <a:cs typeface="Times New Roman" panose="02020603050405020304" pitchFamily="18" charset="0"/>
            </a:endParaRPr>
          </a:p>
        </p:txBody>
      </p:sp>
      <p:sp>
        <p:nvSpPr>
          <p:cNvPr id="482" name="Google Shape;482;p67"/>
          <p:cNvSpPr txBox="1"/>
          <p:nvPr/>
        </p:nvSpPr>
        <p:spPr>
          <a:xfrm>
            <a:off x="4156075" y="223837"/>
            <a:ext cx="1841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483" name="Google Shape;483;p6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67</a:t>
            </a:fld>
            <a:endParaRPr/>
          </a:p>
        </p:txBody>
      </p:sp>
    </p:spTree>
    <p:extLst>
      <p:ext uri="{BB962C8B-B14F-4D97-AF65-F5344CB8AC3E}">
        <p14:creationId xmlns:p14="http://schemas.microsoft.com/office/powerpoint/2010/main" val="569891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68</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Randomized Complete Block Design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6)</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529375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A researcher wants to determine the tread wear on four different tires after 5000 miles of highway driving. The researcher has four of each brand of tire, four cars, and four drivers. For simplicity, we call the tire types A, B, C, and D. The researcher wants to test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A</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B</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C</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D</a:t>
            </a:r>
            <a:r>
              <a:rPr lang="en-US" sz="2600" dirty="0">
                <a:latin typeface="Times New Roman" panose="02020603050405020304" pitchFamily="18" charset="0"/>
                <a:cs typeface="Times New Roman" panose="02020603050405020304" pitchFamily="18" charset="0"/>
              </a:rPr>
              <a:t> versus the alternative that at least one of the means differs, where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i="1" baseline="-25000" dirty="0" err="1">
                <a:latin typeface="Times New Roman" panose="02020603050405020304" pitchFamily="18" charset="0"/>
                <a:cs typeface="Times New Roman" panose="02020603050405020304" pitchFamily="18" charset="0"/>
              </a:rPr>
              <a:t>i</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represents the mean tread loss for each tire type.</a:t>
            </a:r>
          </a:p>
          <a:p>
            <a:r>
              <a:rPr lang="en-US" sz="2600" dirty="0">
                <a:latin typeface="Times New Roman" panose="02020603050405020304" pitchFamily="18" charset="0"/>
                <a:cs typeface="Times New Roman" panose="02020603050405020304" pitchFamily="18" charset="0"/>
              </a:rPr>
              <a:t>The researcher must first determine the variables that affect tire wear: the type of car, the driver, tire inflation, and road conditions are a few. To save time, the researcher decides to use all four cars in the experiment rather than one. He decides to set the inflation of each tire at 32 pounds, drive the cars on the same oval track, and assign one driver to each car.</a:t>
            </a:r>
          </a:p>
        </p:txBody>
      </p:sp>
    </p:spTree>
    <p:extLst>
      <p:ext uri="{BB962C8B-B14F-4D97-AF65-F5344CB8AC3E}">
        <p14:creationId xmlns:p14="http://schemas.microsoft.com/office/powerpoint/2010/main" val="3123129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69</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Randomized Complete Block Design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6)</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1692771"/>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One possible experimental design would be to randomly assign the tires to the cars. First, name each tire: name the first A-tire, tire 1A, the second A-tire, tire 2A, and so on. Then number the car and location of the tires in the cells as shown in Table 8(a). </a:t>
            </a:r>
          </a:p>
        </p:txBody>
      </p:sp>
      <p:pic>
        <p:nvPicPr>
          <p:cNvPr id="3" name="Picture 2" descr="A screenshot of a cell phone&#10;&#10;Description automatically generated">
            <a:extLst>
              <a:ext uri="{FF2B5EF4-FFF2-40B4-BE49-F238E27FC236}">
                <a16:creationId xmlns:a16="http://schemas.microsoft.com/office/drawing/2014/main" id="{EA8C823E-0141-4386-B3F3-3DC528BC9439}"/>
              </a:ext>
            </a:extLst>
          </p:cNvPr>
          <p:cNvPicPr>
            <a:picLocks noChangeAspect="1"/>
          </p:cNvPicPr>
          <p:nvPr/>
        </p:nvPicPr>
        <p:blipFill rotWithShape="1">
          <a:blip r:embed="rId3"/>
          <a:srcRect r="49467"/>
          <a:stretch/>
        </p:blipFill>
        <p:spPr>
          <a:xfrm>
            <a:off x="1696038" y="3078383"/>
            <a:ext cx="5751924" cy="2242933"/>
          </a:xfrm>
          <a:prstGeom prst="rect">
            <a:avLst/>
          </a:prstGeom>
        </p:spPr>
      </p:pic>
    </p:spTree>
    <p:extLst>
      <p:ext uri="{BB962C8B-B14F-4D97-AF65-F5344CB8AC3E}">
        <p14:creationId xmlns:p14="http://schemas.microsoft.com/office/powerpoint/2010/main" val="171650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70</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Randomized Complete Block Design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6)</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2893100"/>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Now use a random-number generator to assign the tires to the cars: the first number generated is 15, so place tire 1A on car 4’s back-left position. If the next random number is 12, tire 2A is placed on car 3’s back-right position. We continue until all the tires are assigned to the cars. Let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1A</a:t>
            </a:r>
            <a:r>
              <a:rPr lang="en-US" sz="2600" dirty="0">
                <a:latin typeface="Times New Roman" panose="02020603050405020304" pitchFamily="18" charset="0"/>
                <a:cs typeface="Times New Roman" panose="02020603050405020304" pitchFamily="18" charset="0"/>
              </a:rPr>
              <a:t> represent the tread loss for the first tire A, let </a:t>
            </a:r>
            <a:r>
              <a:rPr lang="en-US" sz="2600" i="1" dirty="0">
                <a:latin typeface="Times New Roman" panose="02020603050405020304" pitchFamily="18" charset="0"/>
                <a:cs typeface="Times New Roman" panose="02020603050405020304" pitchFamily="18" charset="0"/>
              </a:rPr>
              <a:t>X</a:t>
            </a:r>
            <a:r>
              <a:rPr lang="en-US" sz="2600" baseline="-25000" dirty="0">
                <a:latin typeface="Times New Roman" panose="02020603050405020304" pitchFamily="18" charset="0"/>
                <a:cs typeface="Times New Roman" panose="02020603050405020304" pitchFamily="18" charset="0"/>
              </a:rPr>
              <a:t>2A</a:t>
            </a:r>
            <a:r>
              <a:rPr lang="en-US" sz="2600" dirty="0">
                <a:latin typeface="Times New Roman" panose="02020603050405020304" pitchFamily="18" charset="0"/>
                <a:cs typeface="Times New Roman" panose="02020603050405020304" pitchFamily="18" charset="0"/>
              </a:rPr>
              <a:t> represent the tread loss for the second tire A, and so on. Table 8(b) shows the design we could end up with.</a:t>
            </a:r>
          </a:p>
        </p:txBody>
      </p:sp>
      <p:pic>
        <p:nvPicPr>
          <p:cNvPr id="6" name="Picture 5" descr="A screenshot of a cell phone&#10;&#10;Description automatically generated">
            <a:extLst>
              <a:ext uri="{FF2B5EF4-FFF2-40B4-BE49-F238E27FC236}">
                <a16:creationId xmlns:a16="http://schemas.microsoft.com/office/drawing/2014/main" id="{36435815-14B7-4D58-A0FB-31D7D13FDD1C}"/>
              </a:ext>
            </a:extLst>
          </p:cNvPr>
          <p:cNvPicPr>
            <a:picLocks noChangeAspect="1"/>
          </p:cNvPicPr>
          <p:nvPr/>
        </p:nvPicPr>
        <p:blipFill rotWithShape="1">
          <a:blip r:embed="rId3"/>
          <a:srcRect l="50205" t="2669" r="346" b="-2669"/>
          <a:stretch/>
        </p:blipFill>
        <p:spPr>
          <a:xfrm>
            <a:off x="1757705" y="4088017"/>
            <a:ext cx="5628589" cy="2242933"/>
          </a:xfrm>
          <a:prstGeom prst="rect">
            <a:avLst/>
          </a:prstGeom>
        </p:spPr>
      </p:pic>
    </p:spTree>
    <p:extLst>
      <p:ext uri="{BB962C8B-B14F-4D97-AF65-F5344CB8AC3E}">
        <p14:creationId xmlns:p14="http://schemas.microsoft.com/office/powerpoint/2010/main" val="3829045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71</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Randomized Complete Block Design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6)</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1" y="1135062"/>
            <a:ext cx="8839199" cy="2092881"/>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A quick look at Table 8(b) indicates that tire A is not on car 1, tires C and D are not on car 2, and tire B is not on cars 3 or 4. Therefore, any effect that the car might have on tire wear is not completely accounted for. That is, tire wear variability might be confounded with car variability.</a:t>
            </a:r>
          </a:p>
        </p:txBody>
      </p:sp>
      <p:pic>
        <p:nvPicPr>
          <p:cNvPr id="7" name="Picture 6" descr="A screenshot of a cell phone&#10;&#10;Description automatically generated">
            <a:extLst>
              <a:ext uri="{FF2B5EF4-FFF2-40B4-BE49-F238E27FC236}">
                <a16:creationId xmlns:a16="http://schemas.microsoft.com/office/drawing/2014/main" id="{5FE3A3D5-2DB6-49D6-813D-11909D97EB17}"/>
              </a:ext>
            </a:extLst>
          </p:cNvPr>
          <p:cNvPicPr>
            <a:picLocks noChangeAspect="1"/>
          </p:cNvPicPr>
          <p:nvPr/>
        </p:nvPicPr>
        <p:blipFill rotWithShape="1">
          <a:blip r:embed="rId3"/>
          <a:srcRect l="50205" t="2669" r="346" b="-2669"/>
          <a:stretch/>
        </p:blipFill>
        <p:spPr>
          <a:xfrm>
            <a:off x="1757705" y="4088017"/>
            <a:ext cx="5628589" cy="2242933"/>
          </a:xfrm>
          <a:prstGeom prst="rect">
            <a:avLst/>
          </a:prstGeom>
        </p:spPr>
      </p:pic>
    </p:spTree>
    <p:extLst>
      <p:ext uri="{BB962C8B-B14F-4D97-AF65-F5344CB8AC3E}">
        <p14:creationId xmlns:p14="http://schemas.microsoft.com/office/powerpoint/2010/main" val="1633731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72</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Randomized Complete Block Design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6)</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489364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To resolve this issue, we might require that each car must have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all four tire types on it. This would result in a </a:t>
            </a:r>
            <a:r>
              <a:rPr lang="en-US" sz="2600" b="1" dirty="0">
                <a:latin typeface="Times New Roman" panose="02020603050405020304" pitchFamily="18" charset="0"/>
                <a:cs typeface="Times New Roman" panose="02020603050405020304" pitchFamily="18" charset="0"/>
              </a:rPr>
              <a:t>randomized complete block design</a:t>
            </a:r>
            <a:r>
              <a:rPr lang="en-US" sz="2600" dirty="0">
                <a:latin typeface="Times New Roman" panose="02020603050405020304" pitchFamily="18" charset="0"/>
                <a:cs typeface="Times New Roman" panose="02020603050405020304" pitchFamily="18" charset="0"/>
              </a:rPr>
              <a:t>. We say </a:t>
            </a:r>
            <a:r>
              <a:rPr lang="en-US" sz="2600" i="1" dirty="0">
                <a:latin typeface="Times New Roman" panose="02020603050405020304" pitchFamily="18" charset="0"/>
                <a:cs typeface="Times New Roman" panose="02020603050405020304" pitchFamily="18" charset="0"/>
              </a:rPr>
              <a:t>complete </a:t>
            </a:r>
            <a:r>
              <a:rPr lang="en-US" sz="2600" dirty="0">
                <a:latin typeface="Times New Roman" panose="02020603050405020304" pitchFamily="18" charset="0"/>
                <a:cs typeface="Times New Roman" panose="02020603050405020304" pitchFamily="18" charset="0"/>
              </a:rPr>
              <a:t>because each block (car) gets every treatment (tire type). We say </a:t>
            </a:r>
            <a:r>
              <a:rPr lang="en-US" sz="2600" i="1" dirty="0">
                <a:latin typeface="Times New Roman" panose="02020603050405020304" pitchFamily="18" charset="0"/>
                <a:cs typeface="Times New Roman" panose="02020603050405020304" pitchFamily="18" charset="0"/>
              </a:rPr>
              <a:t>randomized </a:t>
            </a:r>
            <a:r>
              <a:rPr lang="en-US" sz="2600" dirty="0">
                <a:latin typeface="Times New Roman" panose="02020603050405020304" pitchFamily="18" charset="0"/>
                <a:cs typeface="Times New Roman" panose="02020603050405020304" pitchFamily="18" charset="0"/>
              </a:rPr>
              <a:t>because the order in which the treatment is applied within each block is random. To obtain the randomness, randomly assign one treatment (tire brand) to each block (car). </a:t>
            </a:r>
          </a:p>
          <a:p>
            <a:r>
              <a:rPr lang="en-US" sz="2600" dirty="0">
                <a:latin typeface="Times New Roman" panose="02020603050405020304" pitchFamily="18" charset="0"/>
                <a:cs typeface="Times New Roman" panose="02020603050405020304" pitchFamily="18" charset="0"/>
              </a:rPr>
              <a:t>For example, we have four treatments (tire brand), so randomly select an integer between 1 and 4 for the tire number and a second random integer between 1 and 4 for the tire brand. For example, if a random-number generator gives 2 then 1, place tire 2 of brand A on car 1. </a:t>
            </a:r>
          </a:p>
        </p:txBody>
      </p:sp>
    </p:spTree>
    <p:extLst>
      <p:ext uri="{BB962C8B-B14F-4D97-AF65-F5344CB8AC3E}">
        <p14:creationId xmlns:p14="http://schemas.microsoft.com/office/powerpoint/2010/main" val="3634631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73</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Randomized Complete Block Design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(6 of 6)</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529375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Continuing to place tires on car 1, we repeat the process, but omitting brand A because each brand must be represented on car 1. By randomly assigning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each treatment to each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block, we might end up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with the design in Table 9.</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Notice that horizontal lines help the reader see how the blocks are formed. Using this randomized complete block design, the null hypothesis is</a:t>
            </a:r>
          </a:p>
          <a:p>
            <a:r>
              <a:rPr lang="en-US" sz="2600" i="1" dirty="0">
                <a:latin typeface="Times New Roman" panose="02020603050405020304" pitchFamily="18" charset="0"/>
                <a:cs typeface="Times New Roman" panose="02020603050405020304" pitchFamily="18" charset="0"/>
              </a:rPr>
              <a:t>	</a:t>
            </a:r>
            <a:r>
              <a:rPr lang="pl-PL" sz="2600" i="1" dirty="0">
                <a:latin typeface="Times New Roman" panose="02020603050405020304" pitchFamily="18" charset="0"/>
                <a:cs typeface="Times New Roman" panose="02020603050405020304" pitchFamily="18" charset="0"/>
              </a:rPr>
              <a:t>H</a:t>
            </a:r>
            <a:r>
              <a:rPr lang="pl-PL" sz="2600" baseline="-25000" dirty="0">
                <a:latin typeface="Times New Roman" panose="02020603050405020304" pitchFamily="18" charset="0"/>
                <a:cs typeface="Times New Roman" panose="02020603050405020304" pitchFamily="18" charset="0"/>
              </a:rPr>
              <a:t>0</a:t>
            </a:r>
            <a:r>
              <a:rPr lang="pl-PL" sz="2600" dirty="0">
                <a:latin typeface="Times New Roman" panose="02020603050405020304" pitchFamily="18" charset="0"/>
                <a:cs typeface="Times New Roman" panose="02020603050405020304" pitchFamily="18" charset="0"/>
              </a:rPr>
              <a:t>: </a:t>
            </a:r>
            <a:r>
              <a:rPr lang="pl-PL" sz="2600" i="1" dirty="0">
                <a:latin typeface="Times New Roman" panose="02020603050405020304" pitchFamily="18" charset="0"/>
                <a:cs typeface="Times New Roman" panose="02020603050405020304" pitchFamily="18" charset="0"/>
                <a:sym typeface="Symbol" panose="05050102010706020507" pitchFamily="18" charset="2"/>
              </a:rPr>
              <a:t></a:t>
            </a:r>
            <a:r>
              <a:rPr lang="pl-PL" sz="2600" baseline="-25000" dirty="0">
                <a:latin typeface="Times New Roman" panose="02020603050405020304" pitchFamily="18" charset="0"/>
                <a:cs typeface="Times New Roman" panose="02020603050405020304" pitchFamily="18" charset="0"/>
              </a:rPr>
              <a:t>A</a:t>
            </a:r>
            <a:r>
              <a:rPr lang="pl-PL" sz="2600" dirty="0">
                <a:latin typeface="Times New Roman" panose="02020603050405020304" pitchFamily="18" charset="0"/>
                <a:cs typeface="Times New Roman" panose="02020603050405020304" pitchFamily="18" charset="0"/>
              </a:rPr>
              <a:t> = </a:t>
            </a:r>
            <a:r>
              <a:rPr lang="pl-PL" sz="2600" i="1" dirty="0">
                <a:latin typeface="Times New Roman" panose="02020603050405020304" pitchFamily="18" charset="0"/>
                <a:cs typeface="Times New Roman" panose="02020603050405020304" pitchFamily="18" charset="0"/>
                <a:sym typeface="Symbol" panose="05050102010706020507" pitchFamily="18" charset="2"/>
              </a:rPr>
              <a:t></a:t>
            </a:r>
            <a:r>
              <a:rPr lang="pl-PL" sz="2600" baseline="-25000" dirty="0">
                <a:latin typeface="Times New Roman" panose="02020603050405020304" pitchFamily="18" charset="0"/>
                <a:cs typeface="Times New Roman" panose="02020603050405020304" pitchFamily="18" charset="0"/>
              </a:rPr>
              <a:t>B</a:t>
            </a:r>
            <a:r>
              <a:rPr lang="pl-PL" sz="2600" dirty="0">
                <a:latin typeface="Times New Roman" panose="02020603050405020304" pitchFamily="18" charset="0"/>
                <a:cs typeface="Times New Roman" panose="02020603050405020304" pitchFamily="18" charset="0"/>
              </a:rPr>
              <a:t> = </a:t>
            </a:r>
            <a:r>
              <a:rPr lang="pl-PL" sz="2600" i="1" dirty="0">
                <a:latin typeface="Times New Roman" panose="02020603050405020304" pitchFamily="18" charset="0"/>
                <a:cs typeface="Times New Roman" panose="02020603050405020304" pitchFamily="18" charset="0"/>
                <a:sym typeface="Symbol" panose="05050102010706020507" pitchFamily="18" charset="2"/>
              </a:rPr>
              <a:t></a:t>
            </a:r>
            <a:r>
              <a:rPr lang="pl-PL" sz="2600" baseline="-25000" dirty="0">
                <a:latin typeface="Times New Roman" panose="02020603050405020304" pitchFamily="18" charset="0"/>
                <a:cs typeface="Times New Roman" panose="02020603050405020304" pitchFamily="18" charset="0"/>
              </a:rPr>
              <a:t>C</a:t>
            </a:r>
            <a:r>
              <a:rPr lang="pl-PL" sz="2600" dirty="0">
                <a:latin typeface="Times New Roman" panose="02020603050405020304" pitchFamily="18" charset="0"/>
                <a:cs typeface="Times New Roman" panose="02020603050405020304" pitchFamily="18" charset="0"/>
              </a:rPr>
              <a:t> = </a:t>
            </a:r>
            <a:r>
              <a:rPr lang="pl-PL" sz="2600" i="1" dirty="0">
                <a:latin typeface="Times New Roman" panose="02020603050405020304" pitchFamily="18" charset="0"/>
                <a:cs typeface="Times New Roman" panose="02020603050405020304" pitchFamily="18" charset="0"/>
                <a:sym typeface="Symbol" panose="05050102010706020507" pitchFamily="18" charset="2"/>
              </a:rPr>
              <a:t></a:t>
            </a:r>
            <a:r>
              <a:rPr lang="pl-PL" sz="2600" baseline="-25000" dirty="0">
                <a:latin typeface="Times New Roman" panose="02020603050405020304" pitchFamily="18" charset="0"/>
                <a:cs typeface="Times New Roman" panose="02020603050405020304" pitchFamily="18" charset="0"/>
              </a:rPr>
              <a:t>D</a:t>
            </a:r>
            <a:r>
              <a:rPr lang="en-US" sz="2600" dirty="0">
                <a:latin typeface="Times New Roman" panose="02020603050405020304" pitchFamily="18" charset="0"/>
                <a:cs typeface="Times New Roman" panose="02020603050405020304" pitchFamily="18" charset="0"/>
              </a:rPr>
              <a:t>            </a:t>
            </a:r>
          </a:p>
          <a:p>
            <a:r>
              <a:rPr lang="en-US" sz="2600" dirty="0">
                <a:latin typeface="Times New Roman" panose="02020603050405020304" pitchFamily="18" charset="0"/>
                <a:cs typeface="Times New Roman" panose="02020603050405020304" pitchFamily="18" charset="0"/>
              </a:rPr>
              <a:t>versus</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at least one of the means is different</a:t>
            </a:r>
          </a:p>
        </p:txBody>
      </p:sp>
      <p:pic>
        <p:nvPicPr>
          <p:cNvPr id="3" name="Picture 2" descr="A screenshot of a cell phone&#10;&#10;Description automatically generated">
            <a:extLst>
              <a:ext uri="{FF2B5EF4-FFF2-40B4-BE49-F238E27FC236}">
                <a16:creationId xmlns:a16="http://schemas.microsoft.com/office/drawing/2014/main" id="{15D42350-E7A9-4734-9DB0-CEFF0262721B}"/>
              </a:ext>
            </a:extLst>
          </p:cNvPr>
          <p:cNvPicPr>
            <a:picLocks noChangeAspect="1"/>
          </p:cNvPicPr>
          <p:nvPr/>
        </p:nvPicPr>
        <p:blipFill>
          <a:blip r:embed="rId3"/>
          <a:stretch>
            <a:fillRect/>
          </a:stretch>
        </p:blipFill>
        <p:spPr>
          <a:xfrm>
            <a:off x="3933363" y="2040739"/>
            <a:ext cx="5058235" cy="1748526"/>
          </a:xfrm>
          <a:prstGeom prst="rect">
            <a:avLst/>
          </a:prstGeom>
        </p:spPr>
      </p:pic>
    </p:spTree>
    <p:extLst>
      <p:ext uri="{BB962C8B-B14F-4D97-AF65-F5344CB8AC3E}">
        <p14:creationId xmlns:p14="http://schemas.microsoft.com/office/powerpoint/2010/main" val="3501968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500"/>
                                        <p:tgtEl>
                                          <p:spTgt spid="4">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8"/>
          <p:cNvSpPr txBox="1"/>
          <p:nvPr/>
        </p:nvSpPr>
        <p:spPr>
          <a:xfrm>
            <a:off x="804028" y="1341232"/>
            <a:ext cx="7535944" cy="3565525"/>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FF0000"/>
              </a:buClr>
              <a:buSzPts val="3600"/>
              <a:buFont typeface="Times New Roman"/>
              <a:buNone/>
            </a:pPr>
            <a:r>
              <a:rPr lang="en-US" sz="3600" b="1" i="0" u="none" dirty="0">
                <a:solidFill>
                  <a:srgbClr val="A00020"/>
                </a:solidFill>
                <a:latin typeface="+mn-lt"/>
                <a:ea typeface="Times New Roman"/>
                <a:cs typeface="Times New Roman"/>
                <a:sym typeface="Times New Roman"/>
              </a:rPr>
              <a:t>CAUTION!</a:t>
            </a:r>
            <a:endParaRPr sz="3600" dirty="0">
              <a:solidFill>
                <a:srgbClr val="A00020"/>
              </a:solidFill>
              <a:latin typeface="+mn-lt"/>
            </a:endParaRPr>
          </a:p>
          <a:p>
            <a:pPr marL="0" marR="0" lvl="0" indent="0" algn="ctr"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3000" b="0" i="0" u="none" dirty="0">
                <a:solidFill>
                  <a:schemeClr val="dk1"/>
                </a:solidFill>
                <a:latin typeface="Times New Roman"/>
                <a:ea typeface="Times New Roman"/>
                <a:cs typeface="Times New Roman"/>
                <a:sym typeface="Times New Roman"/>
              </a:rPr>
              <a:t>When we block, we are not interested in determining whether the block is significant.  We only want to remove experimental error to reduce the mean square error.</a:t>
            </a:r>
            <a:endParaRPr sz="3000" dirty="0"/>
          </a:p>
        </p:txBody>
      </p:sp>
      <p:sp>
        <p:nvSpPr>
          <p:cNvPr id="489" name="Google Shape;489;p68"/>
          <p:cNvSpPr txBox="1"/>
          <p:nvPr/>
        </p:nvSpPr>
        <p:spPr>
          <a:xfrm>
            <a:off x="4156075" y="223837"/>
            <a:ext cx="1841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490" name="Google Shape;490;p6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74</a:t>
            </a:fld>
            <a:endParaRPr/>
          </a:p>
        </p:txBody>
      </p:sp>
    </p:spTree>
    <p:extLst>
      <p:ext uri="{BB962C8B-B14F-4D97-AF65-F5344CB8AC3E}">
        <p14:creationId xmlns:p14="http://schemas.microsoft.com/office/powerpoint/2010/main" val="3001426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6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1</a:t>
            </a:r>
            <a:endParaRPr/>
          </a:p>
        </p:txBody>
      </p:sp>
      <p:sp>
        <p:nvSpPr>
          <p:cNvPr id="496" name="Google Shape;496;p69"/>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Conduct Analysis of Variance on the Randomized Complete Block Design</a:t>
            </a:r>
            <a:endParaRPr dirty="0"/>
          </a:p>
        </p:txBody>
      </p:sp>
      <p:sp>
        <p:nvSpPr>
          <p:cNvPr id="497" name="Google Shape;497;p6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75</a:t>
            </a:fld>
            <a:endParaRPr/>
          </a:p>
        </p:txBody>
      </p:sp>
    </p:spTree>
    <p:extLst>
      <p:ext uri="{BB962C8B-B14F-4D97-AF65-F5344CB8AC3E}">
        <p14:creationId xmlns:p14="http://schemas.microsoft.com/office/powerpoint/2010/main" val="907941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 name="Rectangle 4">
            <a:extLst>
              <a:ext uri="{FF2B5EF4-FFF2-40B4-BE49-F238E27FC236}">
                <a16:creationId xmlns:a16="http://schemas.microsoft.com/office/drawing/2014/main" id="{A415BC40-50DD-4DB2-9147-59566F2F49A5}"/>
              </a:ext>
            </a:extLst>
          </p:cNvPr>
          <p:cNvSpPr/>
          <p:nvPr/>
        </p:nvSpPr>
        <p:spPr>
          <a:xfrm>
            <a:off x="322925" y="716436"/>
            <a:ext cx="8440075" cy="4760537"/>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Google Shape;502;p70"/>
          <p:cNvSpPr txBox="1">
            <a:spLocks noGrp="1"/>
          </p:cNvSpPr>
          <p:nvPr>
            <p:ph type="body" idx="1"/>
          </p:nvPr>
        </p:nvSpPr>
        <p:spPr>
          <a:xfrm>
            <a:off x="484697" y="1981200"/>
            <a:ext cx="8229600" cy="3260103"/>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Tx/>
              <a:buSzPts val="3200"/>
              <a:buFont typeface="Times New Roman"/>
              <a:buAutoNum type="arabicPeriod"/>
            </a:pPr>
            <a:r>
              <a:rPr lang="en-US" sz="3200" b="1"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The response variable for each of the </a:t>
            </a:r>
            <a:r>
              <a:rPr lang="en-US" sz="32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k</a:t>
            </a: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b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b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populations must be normally distributed. </a:t>
            </a:r>
            <a:endParaRPr dirty="0">
              <a:latin typeface="Times New Roman" panose="02020603050405020304" pitchFamily="18" charset="0"/>
              <a:cs typeface="Times New Roman" panose="02020603050405020304" pitchFamily="18" charset="0"/>
            </a:endParaRPr>
          </a:p>
          <a:p>
            <a:pPr marL="609600" lvl="0" indent="-609600" algn="l" rtl="0">
              <a:lnSpc>
                <a:spcPct val="100000"/>
              </a:lnSpc>
              <a:spcBef>
                <a:spcPts val="640"/>
              </a:spcBef>
              <a:spcAft>
                <a:spcPts val="0"/>
              </a:spcAft>
              <a:buClrTx/>
              <a:buSzPts val="3200"/>
              <a:buFont typeface="Times New Roman"/>
              <a:buAutoNum type="arabicPeriod"/>
            </a:pPr>
            <a:r>
              <a:rPr lang="en-US" sz="3200" b="1"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The response variable for each of the </a:t>
            </a:r>
            <a:r>
              <a:rPr lang="en-US" sz="32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k </a:t>
            </a: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b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b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populations must have the same variance;  </a:t>
            </a:r>
            <a:b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b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that is, each treatment group has population </a:t>
            </a:r>
            <a:b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b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variance </a:t>
            </a:r>
            <a:r>
              <a:rPr lang="en-US" sz="32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σ</a:t>
            </a:r>
            <a:r>
              <a:rPr lang="en-US" sz="3200" b="0" i="0" u="none"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endParaRPr dirty="0">
              <a:latin typeface="Times New Roman" panose="02020603050405020304" pitchFamily="18" charset="0"/>
              <a:cs typeface="Times New Roman" panose="02020603050405020304" pitchFamily="18" charset="0"/>
            </a:endParaRPr>
          </a:p>
        </p:txBody>
      </p:sp>
      <p:sp>
        <p:nvSpPr>
          <p:cNvPr id="503" name="Google Shape;503;p70"/>
          <p:cNvSpPr txBox="1"/>
          <p:nvPr/>
        </p:nvSpPr>
        <p:spPr>
          <a:xfrm>
            <a:off x="484697" y="914400"/>
            <a:ext cx="8153400" cy="10668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Requirements for Analyzing Data from a </a:t>
            </a:r>
            <a:endParaRPr sz="3200" dirty="0">
              <a:solidFill>
                <a:schemeClr val="tx1"/>
              </a:solidFill>
              <a:latin typeface="+mn-lt"/>
            </a:endParaRPr>
          </a:p>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Randomized Complete Block Design</a:t>
            </a:r>
            <a:endParaRPr sz="3200" dirty="0">
              <a:solidFill>
                <a:schemeClr val="tx1"/>
              </a:solidFill>
              <a:latin typeface="+mn-lt"/>
            </a:endParaRPr>
          </a:p>
        </p:txBody>
      </p:sp>
      <p:sp>
        <p:nvSpPr>
          <p:cNvPr id="504" name="Google Shape;504;p7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76</a:t>
            </a:fld>
            <a:endParaRPr/>
          </a:p>
        </p:txBody>
      </p:sp>
    </p:spTree>
    <p:extLst>
      <p:ext uri="{BB962C8B-B14F-4D97-AF65-F5344CB8AC3E}">
        <p14:creationId xmlns:p14="http://schemas.microsoft.com/office/powerpoint/2010/main" val="1806301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2">
                                            <p:txEl>
                                              <p:pRg st="0" end="0"/>
                                            </p:txEl>
                                          </p:spTgt>
                                        </p:tgtEl>
                                        <p:attrNameLst>
                                          <p:attrName>style.visibility</p:attrName>
                                        </p:attrNameLst>
                                      </p:cBhvr>
                                      <p:to>
                                        <p:strVal val="visible"/>
                                      </p:to>
                                    </p:set>
                                    <p:animEffect transition="in" filter="fade">
                                      <p:cBhvr>
                                        <p:cTn id="7" dur="500"/>
                                        <p:tgtEl>
                                          <p:spTgt spid="5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2">
                                            <p:txEl>
                                              <p:pRg st="1" end="1"/>
                                            </p:txEl>
                                          </p:spTgt>
                                        </p:tgtEl>
                                        <p:attrNameLst>
                                          <p:attrName>style.visibility</p:attrName>
                                        </p:attrNameLst>
                                      </p:cBhvr>
                                      <p:to>
                                        <p:strVal val="visible"/>
                                      </p:to>
                                    </p:set>
                                    <p:animEffect transition="in" filter="fade">
                                      <p:cBhvr>
                                        <p:cTn id="12" dur="500"/>
                                        <p:tgtEl>
                                          <p:spTgt spid="50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77</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Randomized Complete</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5)                                 </a:t>
            </a:r>
            <a:r>
              <a:rPr lang="en-US" sz="2400" i="1" dirty="0">
                <a:solidFill>
                  <a:schemeClr val="dk1"/>
                </a:solidFill>
              </a:rPr>
              <a:t>Block Design</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4401205"/>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A researcher is interested in the effect of four diets on the weight gain of newborn rats. The researcher randomly assigns rats from the same mother to each treatment so that a set of four rats constitutes a block. In blocking by mother, we are removing any variability in weight gain due to genetic differences. The researcher identifies five mother rats that each had four offspring, for a total of 20 rats. For each block (sibling rats), the researcher randomly assigns the experimental units (rats) to a treatment using randomly generated integers from 1 to 4. </a:t>
            </a:r>
          </a:p>
        </p:txBody>
      </p:sp>
    </p:spTree>
    <p:extLst>
      <p:ext uri="{BB962C8B-B14F-4D97-AF65-F5344CB8AC3E}">
        <p14:creationId xmlns:p14="http://schemas.microsoft.com/office/powerpoint/2010/main" val="2739239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78</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Randomized Complete</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5)                                 </a:t>
            </a:r>
            <a:r>
              <a:rPr lang="en-US" sz="2400" i="1" dirty="0">
                <a:solidFill>
                  <a:schemeClr val="dk1"/>
                </a:solidFill>
              </a:rPr>
              <a:t>Block Design</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2246769"/>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After six months, she records the weight gain of the 20 rats (in grams) and obtains the data in Table 10. Is there</a:t>
            </a:r>
          </a:p>
          <a:p>
            <a:r>
              <a:rPr lang="en-US" sz="2800" dirty="0">
                <a:latin typeface="Times New Roman" panose="02020603050405020304" pitchFamily="18" charset="0"/>
                <a:cs typeface="Times New Roman" panose="02020603050405020304" pitchFamily="18" charset="0"/>
              </a:rPr>
              <a:t>sufficient evidence to conclude that the weight gains of the rats on the four diets differ at the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 level of significance?</a:t>
            </a:r>
          </a:p>
        </p:txBody>
      </p:sp>
      <p:pic>
        <p:nvPicPr>
          <p:cNvPr id="6" name="Picture 5" descr="A screenshot of a cell phone&#10;&#10;Description automatically generated">
            <a:extLst>
              <a:ext uri="{FF2B5EF4-FFF2-40B4-BE49-F238E27FC236}">
                <a16:creationId xmlns:a16="http://schemas.microsoft.com/office/drawing/2014/main" id="{D11BF38C-F9E2-433E-B852-C4A6FD0E526C}"/>
              </a:ext>
            </a:extLst>
          </p:cNvPr>
          <p:cNvPicPr>
            <a:picLocks noChangeAspect="1"/>
          </p:cNvPicPr>
          <p:nvPr/>
        </p:nvPicPr>
        <p:blipFill>
          <a:blip r:embed="rId3"/>
          <a:stretch>
            <a:fillRect/>
          </a:stretch>
        </p:blipFill>
        <p:spPr>
          <a:xfrm>
            <a:off x="1520184" y="3429000"/>
            <a:ext cx="6103632" cy="2656337"/>
          </a:xfrm>
          <a:prstGeom prst="rect">
            <a:avLst/>
          </a:prstGeom>
        </p:spPr>
      </p:pic>
    </p:spTree>
    <p:extLst>
      <p:ext uri="{BB962C8B-B14F-4D97-AF65-F5344CB8AC3E}">
        <p14:creationId xmlns:p14="http://schemas.microsoft.com/office/powerpoint/2010/main" val="2140490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79</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Randomized Complete</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5)                                 </a:t>
            </a:r>
            <a:r>
              <a:rPr lang="en-US" sz="2400" i="1" dirty="0">
                <a:solidFill>
                  <a:schemeClr val="dk1"/>
                </a:solidFill>
              </a:rPr>
              <a:t>Block Design</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4493538"/>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We want to test</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3</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4</a:t>
            </a:r>
            <a:r>
              <a:rPr lang="en-US" sz="2600" dirty="0">
                <a:latin typeface="Times New Roman" panose="02020603050405020304" pitchFamily="18" charset="0"/>
                <a:cs typeface="Times New Roman" panose="02020603050405020304" pitchFamily="18" charset="0"/>
              </a:rPr>
              <a:t> </a:t>
            </a:r>
          </a:p>
          <a:p>
            <a:r>
              <a:rPr lang="en-US" sz="2600" dirty="0">
                <a:latin typeface="Times New Roman" panose="02020603050405020304" pitchFamily="18" charset="0"/>
                <a:cs typeface="Times New Roman" panose="02020603050405020304" pitchFamily="18" charset="0"/>
              </a:rPr>
              <a:t>versus</a:t>
            </a:r>
          </a:p>
          <a:p>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at least one of the means is different</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A normal probability plot for the data for each of the four diets indicates that the requirement of normality is satisfied. The highest standard deviation, diet 3 with </a:t>
            </a:r>
            <a:r>
              <a:rPr lang="en-US" sz="2600" i="1" dirty="0">
                <a:latin typeface="Times New Roman" panose="02020603050405020304" pitchFamily="18" charset="0"/>
                <a:cs typeface="Times New Roman" panose="02020603050405020304" pitchFamily="18" charset="0"/>
              </a:rPr>
              <a:t>s</a:t>
            </a:r>
            <a:r>
              <a:rPr lang="en-US" sz="2600" baseline="-25000" dirty="0">
                <a:latin typeface="Times New Roman" panose="02020603050405020304" pitchFamily="18" charset="0"/>
                <a:cs typeface="Times New Roman" panose="02020603050405020304" pitchFamily="18" charset="0"/>
              </a:rPr>
              <a:t>3</a:t>
            </a:r>
            <a:r>
              <a:rPr lang="en-US" sz="2600" dirty="0">
                <a:latin typeface="Times New Roman" panose="02020603050405020304" pitchFamily="18" charset="0"/>
                <a:cs typeface="Times New Roman" panose="02020603050405020304" pitchFamily="18" charset="0"/>
              </a:rPr>
              <a:t> = 2.018, is not more than twice the lowest standard deviation, diet 1 with </a:t>
            </a:r>
            <a:r>
              <a:rPr lang="en-US" sz="2600" i="1" dirty="0">
                <a:latin typeface="Times New Roman" panose="02020603050405020304" pitchFamily="18" charset="0"/>
                <a:cs typeface="Times New Roman" panose="02020603050405020304" pitchFamily="18" charset="0"/>
              </a:rPr>
              <a:t>s</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1.268, so we can proceed with the analysis.</a:t>
            </a:r>
          </a:p>
          <a:p>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3956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80</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Randomized Complete</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5)                                 </a:t>
            </a:r>
            <a:r>
              <a:rPr lang="en-US" sz="2400" i="1" dirty="0">
                <a:solidFill>
                  <a:schemeClr val="dk1"/>
                </a:solidFill>
              </a:rPr>
              <a:t>Block Design</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2893100"/>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Enter the data into Minitab in three columns. Column 1 represents the block, Column 2 the diet, and Column 3 the response variable, weight gain. So, for the block 1, diet 1 rat, we enter a 1 in column C1, a 1 in C2, and 15 in C3. For the block 1, diet 2 rat, we enter 1 in C1, 2 in C2, and 14.6 in C3, and so on.</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results from Minitab are shown.</a:t>
            </a:r>
          </a:p>
        </p:txBody>
      </p:sp>
      <p:pic>
        <p:nvPicPr>
          <p:cNvPr id="6" name="Picture 5" descr="A screenshot of a cell phone&#10;&#10;Description automatically generated">
            <a:extLst>
              <a:ext uri="{FF2B5EF4-FFF2-40B4-BE49-F238E27FC236}">
                <a16:creationId xmlns:a16="http://schemas.microsoft.com/office/drawing/2014/main" id="{CFE3FCA6-79CA-4F9C-8D5E-7CBFE6BCE636}"/>
              </a:ext>
            </a:extLst>
          </p:cNvPr>
          <p:cNvPicPr>
            <a:picLocks noChangeAspect="1"/>
          </p:cNvPicPr>
          <p:nvPr/>
        </p:nvPicPr>
        <p:blipFill>
          <a:blip r:embed="rId3"/>
          <a:stretch>
            <a:fillRect/>
          </a:stretch>
        </p:blipFill>
        <p:spPr>
          <a:xfrm>
            <a:off x="990600" y="4148779"/>
            <a:ext cx="7329965" cy="20615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05224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81</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Randomized Complete</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5)                                 </a:t>
            </a:r>
            <a:r>
              <a:rPr lang="en-US" sz="2400" i="1" dirty="0">
                <a:solidFill>
                  <a:schemeClr val="dk1"/>
                </a:solidFill>
              </a:rPr>
              <a:t>Block Design</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4493538"/>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We are not interested in whether the weight gains among the blocks are equal, so we will ignore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blocks. We are interested in whether the treatment appears to result in different weight gains.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of 0.012 due to treatment is evidence against the null hypothesis of equal weight gain among treatments.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Therefore, we conclude that the treatment, diet, does result in significantly different weight gain. However, we do not know which diets result in different mean weight gains. To determine this, we again rely on the pairwise comparisons of Tukey’s test.</a:t>
            </a:r>
          </a:p>
        </p:txBody>
      </p:sp>
    </p:spTree>
    <p:extLst>
      <p:ext uri="{BB962C8B-B14F-4D97-AF65-F5344CB8AC3E}">
        <p14:creationId xmlns:p14="http://schemas.microsoft.com/office/powerpoint/2010/main" val="3412063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82</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Verifying the Normality Requirement in the</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2)                </a:t>
            </a:r>
            <a:r>
              <a:rPr lang="en-US" sz="2400" i="1" dirty="0">
                <a:solidFill>
                  <a:schemeClr val="dk1"/>
                </a:solidFill>
              </a:rPr>
              <a:t>Randomized Complete Block Design</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1384995"/>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Verify the normality requirement for the data analyzed in the previous example.</a:t>
            </a:r>
          </a:p>
          <a:p>
            <a:endParaRPr lang="en-US" sz="2800" dirty="0">
              <a:latin typeface="Times New Roman" panose="02020603050405020304" pitchFamily="18" charset="0"/>
              <a:cs typeface="Times New Roman" panose="02020603050405020304" pitchFamily="18" charset="0"/>
            </a:endParaRPr>
          </a:p>
        </p:txBody>
      </p:sp>
      <p:pic>
        <p:nvPicPr>
          <p:cNvPr id="3" name="Picture 2" descr="A close up of a map&#10;&#10;Description automatically generated">
            <a:extLst>
              <a:ext uri="{FF2B5EF4-FFF2-40B4-BE49-F238E27FC236}">
                <a16:creationId xmlns:a16="http://schemas.microsoft.com/office/drawing/2014/main" id="{2CC0F24E-155D-4640-82D5-92E14A09338B}"/>
              </a:ext>
            </a:extLst>
          </p:cNvPr>
          <p:cNvPicPr>
            <a:picLocks noChangeAspect="1"/>
          </p:cNvPicPr>
          <p:nvPr/>
        </p:nvPicPr>
        <p:blipFill>
          <a:blip r:embed="rId3"/>
          <a:stretch>
            <a:fillRect/>
          </a:stretch>
        </p:blipFill>
        <p:spPr>
          <a:xfrm>
            <a:off x="1846305" y="2165451"/>
            <a:ext cx="4942342" cy="4091948"/>
          </a:xfrm>
          <a:prstGeom prst="rect">
            <a:avLst/>
          </a:prstGeom>
        </p:spPr>
      </p:pic>
    </p:spTree>
    <p:extLst>
      <p:ext uri="{BB962C8B-B14F-4D97-AF65-F5344CB8AC3E}">
        <p14:creationId xmlns:p14="http://schemas.microsoft.com/office/powerpoint/2010/main" val="87965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83</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Verifying the Normality Requirement in the</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2)                </a:t>
            </a:r>
            <a:r>
              <a:rPr lang="en-US" sz="2400" i="1" dirty="0">
                <a:solidFill>
                  <a:schemeClr val="dk1"/>
                </a:solidFill>
              </a:rPr>
              <a:t>Randomized Complete Block Design</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2092881"/>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figure on the previous slide shows the normal probability plot of the residuals drawn in StatCrunch. The correlation between the residuals and expected </a:t>
            </a:r>
            <a:r>
              <a:rPr lang="en-US" sz="2600" i="1" dirty="0">
                <a:latin typeface="Times New Roman" panose="02020603050405020304" pitchFamily="18" charset="0"/>
                <a:cs typeface="Times New Roman" panose="02020603050405020304" pitchFamily="18" charset="0"/>
              </a:rPr>
              <a:t>z</a:t>
            </a:r>
            <a:r>
              <a:rPr lang="en-US" sz="2600" dirty="0">
                <a:latin typeface="Times New Roman" panose="02020603050405020304" pitchFamily="18" charset="0"/>
                <a:cs typeface="Times New Roman" panose="02020603050405020304" pitchFamily="18" charset="0"/>
              </a:rPr>
              <a:t>-scores is 0.99. Because 0.99 &gt; 0.959 (critical value from Table VI with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25), it is reasonable to conclude the residuals are normally distributed.</a:t>
            </a:r>
          </a:p>
        </p:txBody>
      </p:sp>
    </p:spTree>
    <p:extLst>
      <p:ext uri="{BB962C8B-B14F-4D97-AF65-F5344CB8AC3E}">
        <p14:creationId xmlns:p14="http://schemas.microsoft.com/office/powerpoint/2010/main" val="2198934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7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2</a:t>
            </a:r>
            <a:endParaRPr/>
          </a:p>
        </p:txBody>
      </p:sp>
      <p:sp>
        <p:nvSpPr>
          <p:cNvPr id="556" name="Google Shape;556;p77"/>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Perform the Tukey Test</a:t>
            </a:r>
            <a:endParaRPr dirty="0"/>
          </a:p>
        </p:txBody>
      </p:sp>
      <p:sp>
        <p:nvSpPr>
          <p:cNvPr id="557" name="Google Shape;557;p7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84</a:t>
            </a:fld>
            <a:endParaRPr/>
          </a:p>
        </p:txBody>
      </p:sp>
    </p:spTree>
    <p:extLst>
      <p:ext uri="{BB962C8B-B14F-4D97-AF65-F5344CB8AC3E}">
        <p14:creationId xmlns:p14="http://schemas.microsoft.com/office/powerpoint/2010/main" val="3923199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78"/>
          <p:cNvSpPr txBox="1">
            <a:spLocks noGrp="1"/>
          </p:cNvSpPr>
          <p:nvPr>
            <p:ph type="body" idx="1"/>
          </p:nvPr>
        </p:nvSpPr>
        <p:spPr>
          <a:xfrm>
            <a:off x="381000" y="533400"/>
            <a:ext cx="8229600" cy="520752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Once the null hypothesis of equal population means is rejected, we can proceed to determine which means differ significantly using Tukey’s test.  The steps are identical to those for comparing means in the one-way ANOVA.  The critical value is </a:t>
            </a:r>
            <a:r>
              <a:rPr lang="en-US" sz="3200" b="0" i="1" u="none" dirty="0">
                <a:solidFill>
                  <a:schemeClr val="dk1"/>
                </a:solidFill>
                <a:latin typeface="Times New Roman"/>
                <a:ea typeface="Times New Roman"/>
                <a:cs typeface="Times New Roman"/>
                <a:sym typeface="Times New Roman"/>
              </a:rPr>
              <a:t>q</a:t>
            </a:r>
            <a:r>
              <a:rPr lang="en-US" sz="3200" b="0" i="1" u="none" baseline="-25000" dirty="0">
                <a:solidFill>
                  <a:schemeClr val="dk1"/>
                </a:solidFill>
                <a:latin typeface="Times New Roman"/>
                <a:ea typeface="Times New Roman"/>
                <a:cs typeface="Times New Roman"/>
                <a:sym typeface="Times New Roman"/>
              </a:rPr>
              <a:t>α,</a:t>
            </a:r>
            <a:r>
              <a:rPr lang="en-US" sz="3200" b="0" i="1" u="none" baseline="-25000" dirty="0" err="1">
                <a:solidFill>
                  <a:schemeClr val="dk1"/>
                </a:solidFill>
                <a:latin typeface="Times New Roman"/>
                <a:ea typeface="Times New Roman"/>
                <a:cs typeface="Times New Roman"/>
                <a:sym typeface="Times New Roman"/>
              </a:rPr>
              <a:t>ν,k</a:t>
            </a:r>
            <a:r>
              <a:rPr lang="en-US" sz="3200" b="0" i="0" u="none" dirty="0">
                <a:solidFill>
                  <a:schemeClr val="dk1"/>
                </a:solidFill>
                <a:latin typeface="Times New Roman"/>
                <a:ea typeface="Times New Roman"/>
                <a:cs typeface="Times New Roman"/>
                <a:sym typeface="Times New Roman"/>
              </a:rPr>
              <a:t> using a familywise error rate of </a:t>
            </a:r>
            <a:r>
              <a:rPr lang="en-US" sz="3200" b="0" i="1" u="none" dirty="0">
                <a:solidFill>
                  <a:schemeClr val="dk1"/>
                </a:solidFill>
                <a:latin typeface="Times New Roman"/>
                <a:ea typeface="Times New Roman"/>
                <a:cs typeface="Times New Roman"/>
                <a:sym typeface="Times New Roman"/>
              </a:rPr>
              <a:t>α</a:t>
            </a:r>
            <a:r>
              <a:rPr lang="en-US" sz="3200" b="0" i="0" u="none" dirty="0">
                <a:solidFill>
                  <a:schemeClr val="dk1"/>
                </a:solidFill>
                <a:latin typeface="Times New Roman"/>
                <a:ea typeface="Times New Roman"/>
                <a:cs typeface="Times New Roman"/>
                <a:sym typeface="Times New Roman"/>
              </a:rPr>
              <a:t> with </a:t>
            </a:r>
            <a:r>
              <a:rPr lang="en-US" sz="3200" b="0" i="1" u="none" dirty="0">
                <a:solidFill>
                  <a:schemeClr val="dk1"/>
                </a:solidFill>
                <a:latin typeface="Times New Roman"/>
                <a:ea typeface="Times New Roman"/>
                <a:cs typeface="Times New Roman"/>
                <a:sym typeface="Times New Roman"/>
              </a:rPr>
              <a:t>ν </a:t>
            </a:r>
            <a:r>
              <a:rPr lang="en-US" sz="3200" b="0" i="0" u="none" dirty="0">
                <a:solidFill>
                  <a:schemeClr val="dk1"/>
                </a:solidFill>
                <a:latin typeface="Times New Roman"/>
                <a:ea typeface="Times New Roman"/>
                <a:cs typeface="Times New Roman"/>
                <a:sym typeface="Times New Roman"/>
              </a:rPr>
              <a:t>= (</a:t>
            </a:r>
            <a:r>
              <a:rPr lang="en-US" sz="3200" b="0" i="1" u="none" dirty="0">
                <a:solidFill>
                  <a:schemeClr val="dk1"/>
                </a:solidFill>
                <a:latin typeface="Times New Roman"/>
                <a:ea typeface="Times New Roman"/>
                <a:cs typeface="Times New Roman"/>
                <a:sym typeface="Times New Roman"/>
              </a:rPr>
              <a:t>r</a:t>
            </a:r>
            <a:r>
              <a:rPr lang="en-US" sz="3200" b="0" i="0" u="none" dirty="0">
                <a:solidFill>
                  <a:schemeClr val="dk1"/>
                </a:solidFill>
                <a:latin typeface="Times New Roman"/>
                <a:ea typeface="Times New Roman"/>
                <a:cs typeface="Times New Roman"/>
                <a:sym typeface="Times New Roman"/>
              </a:rPr>
              <a:t> – 1)(</a:t>
            </a:r>
            <a:r>
              <a:rPr lang="en-US" sz="3200" b="0" i="1" u="none" dirty="0">
                <a:solidFill>
                  <a:schemeClr val="dk1"/>
                </a:solidFill>
                <a:latin typeface="Times New Roman"/>
                <a:ea typeface="Times New Roman"/>
                <a:cs typeface="Times New Roman"/>
                <a:sym typeface="Times New Roman"/>
              </a:rPr>
              <a:t>c</a:t>
            </a:r>
            <a:r>
              <a:rPr lang="en-US" sz="3200" b="0" i="0" u="none" dirty="0">
                <a:solidFill>
                  <a:schemeClr val="dk1"/>
                </a:solidFill>
                <a:latin typeface="Times New Roman"/>
                <a:ea typeface="Times New Roman"/>
                <a:cs typeface="Times New Roman"/>
                <a:sym typeface="Times New Roman"/>
              </a:rPr>
              <a:t> – 1) = the error degrees of freedom (</a:t>
            </a:r>
            <a:r>
              <a:rPr lang="en-US" sz="3200" b="0" i="1" u="none" dirty="0">
                <a:solidFill>
                  <a:schemeClr val="dk1"/>
                </a:solidFill>
                <a:latin typeface="Times New Roman"/>
                <a:ea typeface="Times New Roman"/>
                <a:cs typeface="Times New Roman"/>
                <a:sym typeface="Times New Roman"/>
              </a:rPr>
              <a:t>r</a:t>
            </a:r>
            <a:r>
              <a:rPr lang="en-US" sz="3200" b="0" i="0" u="none" dirty="0">
                <a:solidFill>
                  <a:schemeClr val="dk1"/>
                </a:solidFill>
                <a:latin typeface="Times New Roman"/>
                <a:ea typeface="Times New Roman"/>
                <a:cs typeface="Times New Roman"/>
                <a:sym typeface="Times New Roman"/>
              </a:rPr>
              <a:t> is the number of blocks and </a:t>
            </a:r>
            <a:r>
              <a:rPr lang="en-US" sz="3200" b="0" i="1" u="none" dirty="0">
                <a:solidFill>
                  <a:schemeClr val="dk1"/>
                </a:solidFill>
                <a:latin typeface="Times New Roman"/>
                <a:ea typeface="Times New Roman"/>
                <a:cs typeface="Times New Roman"/>
                <a:sym typeface="Times New Roman"/>
              </a:rPr>
              <a:t>c</a:t>
            </a:r>
            <a:r>
              <a:rPr lang="en-US" sz="3200" b="0" i="0" u="none" dirty="0">
                <a:solidFill>
                  <a:schemeClr val="dk1"/>
                </a:solidFill>
                <a:latin typeface="Times New Roman"/>
                <a:ea typeface="Times New Roman"/>
                <a:cs typeface="Times New Roman"/>
                <a:sym typeface="Times New Roman"/>
              </a:rPr>
              <a:t> is the number of treatments) and </a:t>
            </a:r>
            <a:r>
              <a:rPr lang="en-US" sz="3200" b="0" i="1" u="none" dirty="0">
                <a:solidFill>
                  <a:schemeClr val="dk1"/>
                </a:solidFill>
                <a:latin typeface="Times New Roman"/>
                <a:ea typeface="Times New Roman"/>
                <a:cs typeface="Times New Roman"/>
                <a:sym typeface="Times New Roman"/>
              </a:rPr>
              <a:t>k</a:t>
            </a:r>
            <a:r>
              <a:rPr lang="en-US" sz="3200" b="0" i="0" u="none" dirty="0">
                <a:solidFill>
                  <a:schemeClr val="dk1"/>
                </a:solidFill>
                <a:latin typeface="Times New Roman"/>
                <a:ea typeface="Times New Roman"/>
                <a:cs typeface="Times New Roman"/>
                <a:sym typeface="Times New Roman"/>
              </a:rPr>
              <a:t> is the number of means being tested.</a:t>
            </a:r>
            <a:endParaRPr dirty="0"/>
          </a:p>
        </p:txBody>
      </p:sp>
      <p:sp>
        <p:nvSpPr>
          <p:cNvPr id="563" name="Google Shape;563;p7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85</a:t>
            </a:fld>
            <a:endParaRPr/>
          </a:p>
        </p:txBody>
      </p:sp>
    </p:spTree>
    <p:extLst>
      <p:ext uri="{BB962C8B-B14F-4D97-AF65-F5344CB8AC3E}">
        <p14:creationId xmlns:p14="http://schemas.microsoft.com/office/powerpoint/2010/main" val="1484865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86</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Multiple Comparisons Using Tukey’s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3)</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1384995"/>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Use Tukey’s test to determine which pairwise means differ for the data used in a previous example, with a familywise error rate of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 using Minitab.</a:t>
            </a:r>
          </a:p>
        </p:txBody>
      </p:sp>
      <p:pic>
        <p:nvPicPr>
          <p:cNvPr id="3" name="Picture 2" descr="A screenshot of a cell phone&#10;&#10;Description automatically generated">
            <a:extLst>
              <a:ext uri="{FF2B5EF4-FFF2-40B4-BE49-F238E27FC236}">
                <a16:creationId xmlns:a16="http://schemas.microsoft.com/office/drawing/2014/main" id="{155EC777-2281-4798-9010-51B1259C8DE5}"/>
              </a:ext>
            </a:extLst>
          </p:cNvPr>
          <p:cNvPicPr>
            <a:picLocks noChangeAspect="1"/>
          </p:cNvPicPr>
          <p:nvPr/>
        </p:nvPicPr>
        <p:blipFill>
          <a:blip r:embed="rId3"/>
          <a:stretch>
            <a:fillRect/>
          </a:stretch>
        </p:blipFill>
        <p:spPr>
          <a:xfrm>
            <a:off x="1623879" y="2751280"/>
            <a:ext cx="6103632" cy="2656337"/>
          </a:xfrm>
          <a:prstGeom prst="rect">
            <a:avLst/>
          </a:prstGeom>
        </p:spPr>
      </p:pic>
    </p:spTree>
    <p:extLst>
      <p:ext uri="{BB962C8B-B14F-4D97-AF65-F5344CB8AC3E}">
        <p14:creationId xmlns:p14="http://schemas.microsoft.com/office/powerpoint/2010/main" val="1370781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87</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Multiple Comparisons Using Tukey’s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3)</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892552"/>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results of Tukey’s test using Minitab are presented in the figure. </a:t>
            </a:r>
          </a:p>
        </p:txBody>
      </p:sp>
      <p:pic>
        <p:nvPicPr>
          <p:cNvPr id="6" name="Picture 5" descr="A screenshot of a computer&#10;&#10;Description automatically generated">
            <a:extLst>
              <a:ext uri="{FF2B5EF4-FFF2-40B4-BE49-F238E27FC236}">
                <a16:creationId xmlns:a16="http://schemas.microsoft.com/office/drawing/2014/main" id="{6A2FD548-1B95-4F40-98F0-543544225E07}"/>
              </a:ext>
            </a:extLst>
          </p:cNvPr>
          <p:cNvPicPr>
            <a:picLocks noChangeAspect="1"/>
          </p:cNvPicPr>
          <p:nvPr/>
        </p:nvPicPr>
        <p:blipFill rotWithShape="1">
          <a:blip r:embed="rId3"/>
          <a:srcRect l="2454" t="1565" r="664" b="2213"/>
          <a:stretch/>
        </p:blipFill>
        <p:spPr>
          <a:xfrm>
            <a:off x="1451728" y="1750479"/>
            <a:ext cx="6806153" cy="4525465"/>
          </a:xfrm>
          <a:prstGeom prst="rect">
            <a:avLst/>
          </a:prstGeom>
        </p:spPr>
      </p:pic>
    </p:spTree>
    <p:extLst>
      <p:ext uri="{BB962C8B-B14F-4D97-AF65-F5344CB8AC3E}">
        <p14:creationId xmlns:p14="http://schemas.microsoft.com/office/powerpoint/2010/main" val="3010526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88</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Multiple Comparisons Using Tukey’s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3)</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489364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Minitab performs pairwise comparisons using confidence intervals. The figure on the previous slide shows the pairwise comparisons using 95% confidence intervals. The first sets of confidence intervals compare diet 1 to diets 2, 3, and 4. We can see that the interval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Diet 4</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Diet 1 </a:t>
            </a:r>
            <a:r>
              <a:rPr lang="en-US" sz="2600" dirty="0">
                <a:latin typeface="Times New Roman" panose="02020603050405020304" pitchFamily="18" charset="0"/>
                <a:cs typeface="Times New Roman" panose="02020603050405020304" pitchFamily="18" charset="0"/>
              </a:rPr>
              <a:t>does not include 0. Therefore, we reject the null hypothesis that the mean weight gain from diets 1 and 4 are equal. In addition, the interval contains all negative numbers, so the mean weight gain from diet 1 is greater than that from diet 4. Continuing the comparisons leads us to conclude that diet 4 results in significantly less weight gain</a:t>
            </a:r>
          </a:p>
          <a:p>
            <a:r>
              <a:rPr lang="en-US" sz="2600" dirty="0">
                <a:latin typeface="Times New Roman" panose="02020603050405020304" pitchFamily="18" charset="0"/>
                <a:cs typeface="Times New Roman" panose="02020603050405020304" pitchFamily="18" charset="0"/>
              </a:rPr>
              <a:t>than the other diets. </a:t>
            </a:r>
          </a:p>
          <a:p>
            <a:r>
              <a:rPr lang="en-US" sz="2600" dirty="0">
                <a:latin typeface="Times New Roman" panose="02020603050405020304" pitchFamily="18" charset="0"/>
                <a:cs typeface="Times New Roman" panose="02020603050405020304" pitchFamily="18" charset="0"/>
              </a:rPr>
              <a:t>The conclusions of Tukey’s test are</a:t>
            </a:r>
          </a:p>
        </p:txBody>
      </p:sp>
      <p:graphicFrame>
        <p:nvGraphicFramePr>
          <p:cNvPr id="2" name="Object 1">
            <a:extLst>
              <a:ext uri="{FF2B5EF4-FFF2-40B4-BE49-F238E27FC236}">
                <a16:creationId xmlns:a16="http://schemas.microsoft.com/office/drawing/2014/main" id="{1CB9085D-48B8-4678-8008-D8D1B6882BC8}"/>
              </a:ext>
            </a:extLst>
          </p:cNvPr>
          <p:cNvGraphicFramePr>
            <a:graphicFrameLocks noChangeAspect="1"/>
          </p:cNvGraphicFramePr>
          <p:nvPr>
            <p:extLst>
              <p:ext uri="{D42A27DB-BD31-4B8C-83A1-F6EECF244321}">
                <p14:modId xmlns:p14="http://schemas.microsoft.com/office/powerpoint/2010/main" val="1560908015"/>
              </p:ext>
            </p:extLst>
          </p:nvPr>
        </p:nvGraphicFramePr>
        <p:xfrm>
          <a:off x="3655505" y="5873750"/>
          <a:ext cx="1625600" cy="457200"/>
        </p:xfrm>
        <a:graphic>
          <a:graphicData uri="http://schemas.openxmlformats.org/presentationml/2006/ole">
            <mc:AlternateContent xmlns:mc="http://schemas.openxmlformats.org/markup-compatibility/2006">
              <mc:Choice xmlns:v="urn:schemas-microsoft-com:vml" Requires="v">
                <p:oleObj spid="_x0000_s73800" name="Equation" r:id="rId4" imgW="1625400" imgH="457200" progId="Equation.DSMT4">
                  <p:embed/>
                </p:oleObj>
              </mc:Choice>
              <mc:Fallback>
                <p:oleObj name="Equation" r:id="rId4" imgW="1625400" imgH="457200" progId="Equation.DSMT4">
                  <p:embed/>
                  <p:pic>
                    <p:nvPicPr>
                      <p:cNvPr id="0" name=""/>
                      <p:cNvPicPr/>
                      <p:nvPr/>
                    </p:nvPicPr>
                    <p:blipFill>
                      <a:blip r:embed="rId5"/>
                      <a:stretch>
                        <a:fillRect/>
                      </a:stretch>
                    </p:blipFill>
                    <p:spPr>
                      <a:xfrm>
                        <a:off x="3655505" y="5873750"/>
                        <a:ext cx="1625600" cy="457200"/>
                      </a:xfrm>
                      <a:prstGeom prst="rect">
                        <a:avLst/>
                      </a:prstGeom>
                    </p:spPr>
                  </p:pic>
                </p:oleObj>
              </mc:Fallback>
            </mc:AlternateContent>
          </a:graphicData>
        </a:graphic>
      </p:graphicFrame>
    </p:spTree>
    <p:extLst>
      <p:ext uri="{BB962C8B-B14F-4D97-AF65-F5344CB8AC3E}">
        <p14:creationId xmlns:p14="http://schemas.microsoft.com/office/powerpoint/2010/main" val="101134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13-</a:t>
            </a:r>
            <a:fld id="{00000000-1234-1234-1234-123412341234}" type="slidenum">
              <a:rPr lang="en-US" sz="1400" b="1" i="0" u="none" smtClean="0">
                <a:solidFill>
                  <a:schemeClr val="lt1"/>
                </a:solidFill>
                <a:latin typeface="Verdana"/>
                <a:ea typeface="Verdana"/>
                <a:cs typeface="Verdana"/>
                <a:sym typeface="Verdana"/>
              </a:rPr>
              <a:t>89</a:t>
            </a:fld>
            <a:endParaRPr dirty="0"/>
          </a:p>
        </p:txBody>
      </p:sp>
      <p:sp>
        <p:nvSpPr>
          <p:cNvPr id="89" name="Google Shape;89;p16"/>
          <p:cNvSpPr txBox="1"/>
          <p:nvPr/>
        </p:nvSpPr>
        <p:spPr>
          <a:xfrm>
            <a:off x="457200" y="919883"/>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13.4 </a:t>
            </a:r>
            <a:r>
              <a:rPr lang="en-US" sz="4000" b="1" dirty="0">
                <a:solidFill>
                  <a:srgbClr val="333399"/>
                </a:solidFill>
                <a:latin typeface="+mn-lt"/>
                <a:cs typeface="Times New Roman"/>
                <a:sym typeface="Times New Roman"/>
              </a:rPr>
              <a:t>Two-Way Analysis of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Variance</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457200" y="2386039"/>
            <a:ext cx="8229600" cy="265153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a:pP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Analyze a two-way ANOVA design</a:t>
            </a:r>
            <a:endParaRPr lang="en-US" sz="2800" dirty="0">
              <a:latin typeface="Times New Roman" panose="02020603050405020304" pitchFamily="18" charset="0"/>
              <a:cs typeface="Times New Roman" panose="02020603050405020304" pitchFamily="18" charset="0"/>
            </a:endParaRPr>
          </a:p>
          <a:p>
            <a:pPr marL="609600" lvl="0" indent="-609600">
              <a:spcBef>
                <a:spcPts val="640"/>
              </a:spcBef>
              <a:buClr>
                <a:srgbClr val="A00020"/>
              </a:buClr>
              <a:buSzPts val="3200"/>
              <a:buFont typeface="Times New Roman"/>
              <a:buAutoNum type="arabicPeriod"/>
            </a:pP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Draw interaction plots</a:t>
            </a:r>
            <a:endParaRPr lang="en-US" sz="2800" dirty="0">
              <a:latin typeface="Times New Roman" panose="02020603050405020304" pitchFamily="18" charset="0"/>
              <a:cs typeface="Times New Roman" panose="02020603050405020304" pitchFamily="18" charset="0"/>
            </a:endParaRPr>
          </a:p>
          <a:p>
            <a:pPr marL="609600" lvl="0" indent="-609600">
              <a:spcBef>
                <a:spcPts val="640"/>
              </a:spcBef>
              <a:buClr>
                <a:srgbClr val="A00020"/>
              </a:buClr>
              <a:buSzPts val="3200"/>
              <a:buFont typeface="Times New Roman"/>
              <a:buAutoNum type="arabicPeriod"/>
            </a:pP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Perform the Tukey test</a:t>
            </a:r>
            <a:endParaRPr lang="en-US" sz="2800" dirty="0">
              <a:latin typeface="Times New Roman" panose="02020603050405020304" pitchFamily="18" charset="0"/>
              <a:cs typeface="Times New Roman" panose="02020603050405020304" pitchFamily="18" charset="0"/>
            </a:endParaRPr>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489636" y="1734942"/>
            <a:ext cx="834662" cy="843267"/>
          </a:xfrm>
          <a:prstGeom prst="rect">
            <a:avLst/>
          </a:prstGeom>
        </p:spPr>
      </p:pic>
    </p:spTree>
    <p:extLst>
      <p:ext uri="{BB962C8B-B14F-4D97-AF65-F5344CB8AC3E}">
        <p14:creationId xmlns:p14="http://schemas.microsoft.com/office/powerpoint/2010/main" val="254768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8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1</a:t>
            </a:r>
            <a:endParaRPr/>
          </a:p>
        </p:txBody>
      </p:sp>
      <p:sp>
        <p:nvSpPr>
          <p:cNvPr id="604" name="Google Shape;604;p84"/>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Analyze a Two-Way ANOVA Design</a:t>
            </a:r>
            <a:endParaRPr dirty="0"/>
          </a:p>
        </p:txBody>
      </p:sp>
      <p:sp>
        <p:nvSpPr>
          <p:cNvPr id="605" name="Google Shape;605;p8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90</a:t>
            </a:fld>
            <a:endParaRPr/>
          </a:p>
        </p:txBody>
      </p:sp>
    </p:spTree>
    <p:extLst>
      <p:ext uri="{BB962C8B-B14F-4D97-AF65-F5344CB8AC3E}">
        <p14:creationId xmlns:p14="http://schemas.microsoft.com/office/powerpoint/2010/main" val="3160008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85"/>
          <p:cNvSpPr txBox="1"/>
          <p:nvPr/>
        </p:nvSpPr>
        <p:spPr>
          <a:xfrm>
            <a:off x="853993" y="920750"/>
            <a:ext cx="8132762" cy="50165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Recall, there are two ways to deal with factors:</a:t>
            </a:r>
          </a:p>
          <a:p>
            <a:pPr marL="514350" marR="0" lvl="0" indent="-514350" algn="l" rtl="0">
              <a:lnSpc>
                <a:spcPct val="100000"/>
              </a:lnSpc>
              <a:spcBef>
                <a:spcPts val="0"/>
              </a:spcBef>
              <a:spcAft>
                <a:spcPts val="0"/>
              </a:spcAft>
              <a:buClr>
                <a:schemeClr val="dk1"/>
              </a:buClr>
              <a:buSzPts val="3200"/>
              <a:buFont typeface="+mj-lt"/>
              <a:buAutoNum type="arabicPeriod"/>
            </a:pPr>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C</a:t>
            </a: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ontrol the factors by fixing them at a single level or by fixing them at different levels,</a:t>
            </a:r>
          </a:p>
          <a:p>
            <a:pPr marL="514350" marR="0" lvl="0" indent="-514350" algn="l" rtl="0">
              <a:lnSpc>
                <a:spcPct val="100000"/>
              </a:lnSpc>
              <a:spcBef>
                <a:spcPts val="0"/>
              </a:spcBef>
              <a:spcAft>
                <a:spcPts val="0"/>
              </a:spcAft>
              <a:buClr>
                <a:schemeClr val="dk1"/>
              </a:buClr>
              <a:buSzPts val="3200"/>
              <a:buFont typeface="+mj-lt"/>
              <a:buAutoNum type="arabicPeriod"/>
            </a:pPr>
            <a:r>
              <a:rPr lang="en-US" sz="3200" dirty="0">
                <a:solidFill>
                  <a:schemeClr val="dk1"/>
                </a:solidFill>
                <a:latin typeface="Times New Roman" panose="02020603050405020304" pitchFamily="18" charset="0"/>
                <a:ea typeface="Times New Roman"/>
                <a:cs typeface="Times New Roman" panose="02020603050405020304" pitchFamily="18" charset="0"/>
                <a:sym typeface="Times New Roman"/>
              </a:rPr>
              <a:t>R</a:t>
            </a: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andomize so that their effect on the response variable is minimized.  </a:t>
            </a:r>
            <a:endParaRPr dirty="0">
              <a:latin typeface="Times New Roman" panose="02020603050405020304" pitchFamily="18" charset="0"/>
              <a:cs typeface="Times New Roman" panose="02020603050405020304" pitchFamily="18" charset="0"/>
            </a:endParaRPr>
          </a:p>
          <a:p>
            <a:pPr marL="342900" marR="0" lvl="0" indent="-342900" algn="l" rtl="0">
              <a:lnSpc>
                <a:spcPct val="100000"/>
              </a:lnSpc>
              <a:spcBef>
                <a:spcPts val="0"/>
              </a:spcBef>
              <a:spcAft>
                <a:spcPts val="0"/>
              </a:spcAft>
              <a:buClr>
                <a:schemeClr val="dk1"/>
              </a:buClr>
              <a:buSzPts val="3200"/>
              <a:buFont typeface="Arial"/>
              <a:buNone/>
            </a:pPr>
            <a:endParaRPr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R="0" lvl="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In both the completely randomized design and the randomized complete block design, we manipulated one factor to see how varying it affected the response variable.</a:t>
            </a:r>
            <a:endParaRPr dirty="0">
              <a:latin typeface="Times New Roman" panose="02020603050405020304" pitchFamily="18" charset="0"/>
              <a:cs typeface="Times New Roman" panose="02020603050405020304" pitchFamily="18" charset="0"/>
            </a:endParaRPr>
          </a:p>
        </p:txBody>
      </p:sp>
      <p:sp>
        <p:nvSpPr>
          <p:cNvPr id="611" name="Google Shape;611;p8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91</a:t>
            </a:fld>
            <a:endParaRPr/>
          </a:p>
        </p:txBody>
      </p:sp>
    </p:spTree>
    <p:extLst>
      <p:ext uri="{BB962C8B-B14F-4D97-AF65-F5344CB8AC3E}">
        <p14:creationId xmlns:p14="http://schemas.microsoft.com/office/powerpoint/2010/main" val="3850760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0">
                                            <p:txEl>
                                              <p:pRg st="4" end="4"/>
                                            </p:txEl>
                                          </p:spTgt>
                                        </p:tgtEl>
                                        <p:attrNameLst>
                                          <p:attrName>style.visibility</p:attrName>
                                        </p:attrNameLst>
                                      </p:cBhvr>
                                      <p:to>
                                        <p:strVal val="visible"/>
                                      </p:to>
                                    </p:set>
                                    <p:animEffect transition="in" filter="fade">
                                      <p:cBhvr>
                                        <p:cTn id="7" dur="500"/>
                                        <p:tgtEl>
                                          <p:spTgt spid="6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86"/>
          <p:cNvSpPr txBox="1"/>
          <p:nvPr/>
        </p:nvSpPr>
        <p:spPr>
          <a:xfrm>
            <a:off x="533400" y="718810"/>
            <a:ext cx="8386762" cy="45100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In a Two-Way Analysis of Variance design, two </a:t>
            </a:r>
            <a:endParaRPr sz="32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factors are used to explain the variability in the </a:t>
            </a:r>
            <a:endParaRPr sz="3200" dirty="0">
              <a:latin typeface="Times New Roman" panose="02020603050405020304" pitchFamily="18" charset="0"/>
              <a:cs typeface="Times New Roman" panose="02020603050405020304" pitchFamily="18" charset="0"/>
            </a:endParaRPr>
          </a:p>
          <a:p>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response variable. </a:t>
            </a:r>
            <a:r>
              <a:rPr lang="en-US" sz="3200" dirty="0">
                <a:latin typeface="Times New Roman" panose="02020603050405020304" pitchFamily="18" charset="0"/>
                <a:cs typeface="Times New Roman" panose="02020603050405020304" pitchFamily="18" charset="0"/>
              </a:rPr>
              <a:t>We deal with the two factors by manipulating both factors and setting</a:t>
            </a:r>
          </a:p>
          <a:p>
            <a:r>
              <a:rPr lang="en-US" sz="3200" dirty="0">
                <a:latin typeface="Times New Roman" panose="02020603050405020304" pitchFamily="18" charset="0"/>
                <a:cs typeface="Times New Roman" panose="02020603050405020304" pitchFamily="18" charset="0"/>
              </a:rPr>
              <a:t>each at different levels.</a:t>
            </a: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a:p>
            <a:endPar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We refer to the </a:t>
            </a:r>
            <a:r>
              <a:rPr lang="en-US" sz="3200" dirty="0">
                <a:latin typeface="Times New Roman" panose="02020603050405020304" pitchFamily="18" charset="0"/>
                <a:ea typeface="Times New Roman"/>
                <a:cs typeface="Times New Roman" panose="02020603050405020304" pitchFamily="18" charset="0"/>
              </a:rPr>
              <a:t> </a:t>
            </a: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two factors as factor A and factor B.  If factor A has two levels and factor B has two levels, </a:t>
            </a:r>
            <a:r>
              <a:rPr lang="en-US" sz="3200" dirty="0">
                <a:latin typeface="Times New Roman" panose="02020603050405020304" pitchFamily="18" charset="0"/>
                <a:cs typeface="Times New Roman" panose="02020603050405020304" pitchFamily="18" charset="0"/>
              </a:rPr>
              <a:t>we have a </a:t>
            </a:r>
            <a:r>
              <a:rPr lang="en-US" sz="3200" b="1" dirty="0">
                <a:latin typeface="Times New Roman" panose="02020603050405020304" pitchFamily="18" charset="0"/>
                <a:cs typeface="Times New Roman" panose="02020603050405020304" pitchFamily="18" charset="0"/>
              </a:rPr>
              <a:t>2 </a:t>
            </a:r>
            <a:r>
              <a:rPr lang="en-US" sz="3200" b="1" dirty="0">
                <a:latin typeface="Times New Roman" panose="02020603050405020304" pitchFamily="18" charset="0"/>
                <a:cs typeface="Times New Roman" panose="02020603050405020304" pitchFamily="18" charset="0"/>
                <a:sym typeface="Symbol" panose="05050102010706020507" pitchFamily="18" charset="2"/>
              </a:rPr>
              <a:t></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2 factorial design </a:t>
            </a:r>
            <a:r>
              <a:rPr lang="en-US" sz="3200" dirty="0">
                <a:latin typeface="Times New Roman" panose="02020603050405020304" pitchFamily="18" charset="0"/>
                <a:cs typeface="Times New Roman" panose="02020603050405020304" pitchFamily="18" charset="0"/>
              </a:rPr>
              <a:t>(read “two by two factorial design”).</a:t>
            </a:r>
            <a:endParaRPr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None/>
            </a:pPr>
            <a:endParaRPr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618" name="Google Shape;618;p8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92</a:t>
            </a:fld>
            <a:endParaRPr/>
          </a:p>
        </p:txBody>
      </p:sp>
    </p:spTree>
    <p:extLst>
      <p:ext uri="{BB962C8B-B14F-4D97-AF65-F5344CB8AC3E}">
        <p14:creationId xmlns:p14="http://schemas.microsoft.com/office/powerpoint/2010/main" val="221957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6">
                                            <p:txEl>
                                              <p:pRg st="5" end="5"/>
                                            </p:txEl>
                                          </p:spTgt>
                                        </p:tgtEl>
                                        <p:attrNameLst>
                                          <p:attrName>style.visibility</p:attrName>
                                        </p:attrNameLst>
                                      </p:cBhvr>
                                      <p:to>
                                        <p:strVal val="visible"/>
                                      </p:to>
                                    </p:set>
                                    <p:animEffect transition="in" filter="fade">
                                      <p:cBhvr>
                                        <p:cTn id="7" dur="500"/>
                                        <p:tgtEl>
                                          <p:spTgt spid="6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86"/>
          <p:cNvSpPr txBox="1"/>
          <p:nvPr/>
        </p:nvSpPr>
        <p:spPr>
          <a:xfrm>
            <a:off x="637095" y="460976"/>
            <a:ext cx="8386762" cy="4510087"/>
          </a:xfrm>
          <a:prstGeom prst="rect">
            <a:avLst/>
          </a:prstGeom>
          <a:noFill/>
          <a:ln>
            <a:noFill/>
          </a:ln>
        </p:spPr>
        <p:txBody>
          <a:bodyPr spcFirstLastPara="1" wrap="square" lIns="91425" tIns="45700" rIns="91425" bIns="45700" anchor="t" anchorCtr="0">
            <a:noAutofit/>
          </a:bodyPr>
          <a:lstStyle/>
          <a:p>
            <a:r>
              <a:rPr lang="en-US" sz="2800" dirty="0">
                <a:latin typeface="Times New Roman" panose="02020603050405020304" pitchFamily="18" charset="0"/>
                <a:cs typeface="Times New Roman" panose="02020603050405020304" pitchFamily="18" charset="0"/>
              </a:rPr>
              <a:t>In general, the two-factor design looks as presented in the figure, where there are </a:t>
            </a:r>
            <a:r>
              <a:rPr lang="en-US" sz="2800" i="1" dirty="0">
                <a:latin typeface="Times New Roman" panose="02020603050405020304" pitchFamily="18" charset="0"/>
                <a:cs typeface="Times New Roman" panose="02020603050405020304" pitchFamily="18" charset="0"/>
              </a:rPr>
              <a:t>n </a:t>
            </a:r>
            <a:r>
              <a:rPr lang="en-US" sz="2800" dirty="0">
                <a:latin typeface="Times New Roman" panose="02020603050405020304" pitchFamily="18" charset="0"/>
                <a:cs typeface="Times New Roman" panose="02020603050405020304" pitchFamily="18" charset="0"/>
              </a:rPr>
              <a:t>replications for each combination of factor A and factor B. Factor A has </a:t>
            </a:r>
            <a:r>
              <a:rPr lang="en-US" sz="2800" i="1" dirty="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levels and factor B has </a:t>
            </a:r>
            <a:r>
              <a:rPr lang="en-US" sz="2800" i="1" dirty="0">
                <a:latin typeface="Times New Roman" panose="02020603050405020304" pitchFamily="18" charset="0"/>
                <a:cs typeface="Times New Roman" panose="02020603050405020304" pitchFamily="18" charset="0"/>
              </a:rPr>
              <a:t>b </a:t>
            </a:r>
            <a:r>
              <a:rPr lang="en-US" sz="2800" dirty="0">
                <a:latin typeface="Times New Roman" panose="02020603050405020304" pitchFamily="18" charset="0"/>
                <a:cs typeface="Times New Roman" panose="02020603050405020304" pitchFamily="18" charset="0"/>
              </a:rPr>
              <a:t>levels. Each combination of factor levels is a treatment.</a:t>
            </a:r>
            <a:endParaRPr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618" name="Google Shape;618;p8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93</a:t>
            </a:fld>
            <a:endParaRPr/>
          </a:p>
        </p:txBody>
      </p:sp>
      <p:pic>
        <p:nvPicPr>
          <p:cNvPr id="3" name="Picture 2" descr="A screenshot of a cell phone&#10;&#10;Description automatically generated">
            <a:extLst>
              <a:ext uri="{FF2B5EF4-FFF2-40B4-BE49-F238E27FC236}">
                <a16:creationId xmlns:a16="http://schemas.microsoft.com/office/drawing/2014/main" id="{283E43C6-2E22-44A6-9102-33FC4F8F1B7B}"/>
              </a:ext>
            </a:extLst>
          </p:cNvPr>
          <p:cNvPicPr>
            <a:picLocks noChangeAspect="1"/>
          </p:cNvPicPr>
          <p:nvPr/>
        </p:nvPicPr>
        <p:blipFill>
          <a:blip r:embed="rId3"/>
          <a:stretch>
            <a:fillRect/>
          </a:stretch>
        </p:blipFill>
        <p:spPr>
          <a:xfrm>
            <a:off x="151557" y="3026003"/>
            <a:ext cx="8840885" cy="2806426"/>
          </a:xfrm>
          <a:prstGeom prst="rect">
            <a:avLst/>
          </a:prstGeom>
        </p:spPr>
      </p:pic>
    </p:spTree>
    <p:extLst>
      <p:ext uri="{BB962C8B-B14F-4D97-AF65-F5344CB8AC3E}">
        <p14:creationId xmlns:p14="http://schemas.microsoft.com/office/powerpoint/2010/main" val="1862545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86"/>
          <p:cNvSpPr txBox="1"/>
          <p:nvPr/>
        </p:nvSpPr>
        <p:spPr>
          <a:xfrm>
            <a:off x="806778" y="866329"/>
            <a:ext cx="7979004" cy="4510087"/>
          </a:xfrm>
          <a:prstGeom prst="rect">
            <a:avLst/>
          </a:prstGeom>
          <a:noFill/>
          <a:ln>
            <a:noFill/>
          </a:ln>
        </p:spPr>
        <p:txBody>
          <a:bodyPr spcFirstLastPara="1" wrap="square" lIns="91425" tIns="45700" rIns="91425" bIns="45700" anchor="t" anchorCtr="0">
            <a:noAutofit/>
          </a:bodyPr>
          <a:lstStyle/>
          <a:p>
            <a:r>
              <a:rPr lang="en-US" sz="3200" dirty="0">
                <a:latin typeface="Times New Roman" panose="02020603050405020304" pitchFamily="18" charset="0"/>
                <a:cs typeface="Times New Roman" panose="02020603050405020304" pitchFamily="18" charset="0"/>
              </a:rPr>
              <a:t>Each of the </a:t>
            </a:r>
            <a:r>
              <a:rPr lang="en-US" sz="3200" i="1" dirty="0">
                <a:latin typeface="Times New Roman" panose="02020603050405020304" pitchFamily="18" charset="0"/>
                <a:cs typeface="Times New Roman" panose="02020603050405020304" pitchFamily="18" charset="0"/>
              </a:rPr>
              <a:t>n </a:t>
            </a:r>
            <a:r>
              <a:rPr lang="en-US" sz="3200" dirty="0">
                <a:latin typeface="Times New Roman" panose="02020603050405020304" pitchFamily="18" charset="0"/>
                <a:cs typeface="Times New Roman" panose="02020603050405020304" pitchFamily="18" charset="0"/>
              </a:rPr>
              <a:t>observations of the response variable for the different levels of the factors exists within a </a:t>
            </a:r>
            <a:r>
              <a:rPr lang="en-US" sz="3200" b="1" dirty="0">
                <a:latin typeface="Times New Roman" panose="02020603050405020304" pitchFamily="18" charset="0"/>
                <a:cs typeface="Times New Roman" panose="02020603050405020304" pitchFamily="18" charset="0"/>
              </a:rPr>
              <a:t>cell</a:t>
            </a:r>
            <a:r>
              <a:rPr lang="en-US" sz="3200" dirty="0">
                <a:latin typeface="Times New Roman" panose="02020603050405020304" pitchFamily="18" charset="0"/>
                <a:cs typeface="Times New Roman" panose="02020603050405020304" pitchFamily="18" charset="0"/>
              </a:rPr>
              <a:t>. In a 2 </a:t>
            </a:r>
            <a:r>
              <a:rPr lang="en-US" sz="3200" dirty="0">
                <a:latin typeface="Times New Roman" panose="02020603050405020304" pitchFamily="18" charset="0"/>
                <a:cs typeface="Times New Roman" panose="02020603050405020304" pitchFamily="18" charset="0"/>
                <a:sym typeface="Symbol" panose="05050102010706020507" pitchFamily="18" charset="2"/>
              </a:rPr>
              <a:t></a:t>
            </a:r>
            <a:r>
              <a:rPr lang="en-US" sz="3200" dirty="0">
                <a:latin typeface="Times New Roman" panose="02020603050405020304" pitchFamily="18" charset="0"/>
                <a:cs typeface="Times New Roman" panose="02020603050405020304" pitchFamily="18" charset="0"/>
              </a:rPr>
              <a:t> 3 factorial design, there are six cells with </a:t>
            </a:r>
            <a:r>
              <a:rPr lang="en-US" sz="3200" i="1" dirty="0">
                <a:latin typeface="Times New Roman" panose="02020603050405020304" pitchFamily="18" charset="0"/>
                <a:cs typeface="Times New Roman" panose="02020603050405020304" pitchFamily="18" charset="0"/>
              </a:rPr>
              <a:t>n </a:t>
            </a:r>
            <a:r>
              <a:rPr lang="en-US" sz="3200" dirty="0">
                <a:latin typeface="Times New Roman" panose="02020603050405020304" pitchFamily="18" charset="0"/>
                <a:cs typeface="Times New Roman" panose="02020603050405020304" pitchFamily="18" charset="0"/>
              </a:rPr>
              <a:t>observations within each cell. Each cell corresponds to a specific treatment.</a:t>
            </a:r>
            <a:endParaRPr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618" name="Google Shape;618;p8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94</a:t>
            </a:fld>
            <a:endParaRPr/>
          </a:p>
        </p:txBody>
      </p:sp>
    </p:spTree>
    <p:extLst>
      <p:ext uri="{BB962C8B-B14F-4D97-AF65-F5344CB8AC3E}">
        <p14:creationId xmlns:p14="http://schemas.microsoft.com/office/powerpoint/2010/main" val="1431692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95</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a:t>
            </a:r>
            <a:r>
              <a:rPr lang="en-US" sz="2400" b="0" u="none" dirty="0">
                <a:solidFill>
                  <a:schemeClr val="dk1"/>
                </a:solidFill>
                <a:latin typeface="Arial"/>
                <a:ea typeface="Arial"/>
                <a:cs typeface="Arial"/>
                <a:sym typeface="Arial"/>
              </a:rPr>
              <a:t>2 </a:t>
            </a:r>
            <a:r>
              <a:rPr lang="en-US" sz="2400" b="0" u="none" dirty="0">
                <a:solidFill>
                  <a:schemeClr val="dk1"/>
                </a:solidFill>
                <a:latin typeface="Arial"/>
                <a:ea typeface="Arial"/>
                <a:cs typeface="Arial"/>
                <a:sym typeface="Symbol" panose="05050102010706020507" pitchFamily="18" charset="2"/>
              </a:rPr>
              <a:t></a:t>
            </a:r>
            <a:r>
              <a:rPr lang="en-US" sz="2400" b="0" u="none" dirty="0">
                <a:solidFill>
                  <a:schemeClr val="dk1"/>
                </a:solidFill>
                <a:latin typeface="Arial"/>
                <a:ea typeface="Arial"/>
                <a:cs typeface="Arial"/>
                <a:sym typeface="Arial"/>
              </a:rPr>
              <a:t> 3</a:t>
            </a:r>
            <a:r>
              <a:rPr lang="en-US" sz="2400" b="0" i="1" u="none" dirty="0">
                <a:solidFill>
                  <a:schemeClr val="dk1"/>
                </a:solidFill>
                <a:latin typeface="Arial"/>
                <a:ea typeface="Arial"/>
                <a:cs typeface="Arial"/>
                <a:sym typeface="Arial"/>
              </a:rPr>
              <a:t> Factorial Design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2)</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489364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High-density lipoprotein (HDL) cholesterol is called good cholesterol because it helps to reduce the amount of bad cholesterol in your system. A pharmaceutical company developed a drug that is meant to increase HDL levels in patients. They obtained volunteers whose HDL cholesterol was roughly the same and randomly assigned them to one of three groups. Group 1, a placebo group, received a sugar tablet. Group 2 received 5 mg of the drug, and group 3 received 10 mg of the drug. In addition to drug dosage, the researchers considered age to be a factor in the analysis; so they divided patients into an 18- to 39-year-old category and a 40 and older category. The design</a:t>
            </a:r>
          </a:p>
          <a:p>
            <a:r>
              <a:rPr lang="en-US" sz="2600" dirty="0">
                <a:latin typeface="Times New Roman" panose="02020603050405020304" pitchFamily="18" charset="0"/>
                <a:cs typeface="Times New Roman" panose="02020603050405020304" pitchFamily="18" charset="0"/>
              </a:rPr>
              <a:t>results in a 2 </a:t>
            </a:r>
            <a:r>
              <a:rPr lang="en-US" sz="2600"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3 factorial design. </a:t>
            </a:r>
          </a:p>
        </p:txBody>
      </p:sp>
    </p:spTree>
    <p:extLst>
      <p:ext uri="{BB962C8B-B14F-4D97-AF65-F5344CB8AC3E}">
        <p14:creationId xmlns:p14="http://schemas.microsoft.com/office/powerpoint/2010/main" val="3166447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96</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a:t>
            </a:r>
            <a:r>
              <a:rPr lang="en-US" sz="2400" b="0" u="none" dirty="0">
                <a:solidFill>
                  <a:schemeClr val="dk1"/>
                </a:solidFill>
                <a:latin typeface="Arial"/>
                <a:ea typeface="Arial"/>
                <a:cs typeface="Arial"/>
                <a:sym typeface="Arial"/>
              </a:rPr>
              <a:t>2 </a:t>
            </a:r>
            <a:r>
              <a:rPr lang="en-US" sz="2400" b="0" u="none" dirty="0">
                <a:solidFill>
                  <a:schemeClr val="dk1"/>
                </a:solidFill>
                <a:latin typeface="Arial"/>
                <a:ea typeface="Arial"/>
                <a:cs typeface="Arial"/>
                <a:sym typeface="Symbol" panose="05050102010706020507" pitchFamily="18" charset="2"/>
              </a:rPr>
              <a:t></a:t>
            </a:r>
            <a:r>
              <a:rPr lang="en-US" sz="2400" b="0" u="none" dirty="0">
                <a:solidFill>
                  <a:schemeClr val="dk1"/>
                </a:solidFill>
                <a:latin typeface="Arial"/>
                <a:ea typeface="Arial"/>
                <a:cs typeface="Arial"/>
                <a:sym typeface="Arial"/>
              </a:rPr>
              <a:t> 3</a:t>
            </a:r>
            <a:r>
              <a:rPr lang="en-US" sz="2400" b="0" i="1" u="none" dirty="0">
                <a:solidFill>
                  <a:schemeClr val="dk1"/>
                </a:solidFill>
                <a:latin typeface="Arial"/>
                <a:ea typeface="Arial"/>
                <a:cs typeface="Arial"/>
                <a:sym typeface="Arial"/>
              </a:rPr>
              <a:t> Factorial Design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2)</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1292662"/>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Table 11 shows the increase in HDL cholesterol in milligrams per deciliter (mg/dL) for each patient after 10 weeks. Each cell has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3 replications.</a:t>
            </a:r>
          </a:p>
        </p:txBody>
      </p:sp>
      <p:pic>
        <p:nvPicPr>
          <p:cNvPr id="3" name="Picture 2" descr="A screenshot of a cell phone&#10;&#10;Description automatically generated">
            <a:extLst>
              <a:ext uri="{FF2B5EF4-FFF2-40B4-BE49-F238E27FC236}">
                <a16:creationId xmlns:a16="http://schemas.microsoft.com/office/drawing/2014/main" id="{235D21A5-FCE3-4458-982D-04FBD1EDE66F}"/>
              </a:ext>
            </a:extLst>
          </p:cNvPr>
          <p:cNvPicPr>
            <a:picLocks noChangeAspect="1"/>
          </p:cNvPicPr>
          <p:nvPr/>
        </p:nvPicPr>
        <p:blipFill>
          <a:blip r:embed="rId3"/>
          <a:stretch>
            <a:fillRect/>
          </a:stretch>
        </p:blipFill>
        <p:spPr>
          <a:xfrm>
            <a:off x="1263609" y="2691742"/>
            <a:ext cx="6837135" cy="2134781"/>
          </a:xfrm>
          <a:prstGeom prst="rect">
            <a:avLst/>
          </a:prstGeom>
        </p:spPr>
      </p:pic>
    </p:spTree>
    <p:extLst>
      <p:ext uri="{BB962C8B-B14F-4D97-AF65-F5344CB8AC3E}">
        <p14:creationId xmlns:p14="http://schemas.microsoft.com/office/powerpoint/2010/main" val="409794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6" name="Google Shape;646;p9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97</a:t>
            </a:fld>
            <a:endParaRPr/>
          </a:p>
        </p:txBody>
      </p:sp>
      <p:sp>
        <p:nvSpPr>
          <p:cNvPr id="2" name="Rectangle 1">
            <a:extLst>
              <a:ext uri="{FF2B5EF4-FFF2-40B4-BE49-F238E27FC236}">
                <a16:creationId xmlns:a16="http://schemas.microsoft.com/office/drawing/2014/main" id="{6706ACD3-A998-4F8C-933B-21782FE946BF}"/>
              </a:ext>
            </a:extLst>
          </p:cNvPr>
          <p:cNvSpPr/>
          <p:nvPr/>
        </p:nvSpPr>
        <p:spPr>
          <a:xfrm>
            <a:off x="533400" y="748912"/>
            <a:ext cx="8149471" cy="4832092"/>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In the factorial design, all levels of factors A and B are combined, so we say that the factors are </a:t>
            </a:r>
            <a:r>
              <a:rPr lang="en-US" sz="2800" b="1" dirty="0">
                <a:latin typeface="Times New Roman" panose="02020603050405020304" pitchFamily="18" charset="0"/>
                <a:cs typeface="Times New Roman" panose="02020603050405020304" pitchFamily="18" charset="0"/>
              </a:rPr>
              <a:t>crossed</a:t>
            </a:r>
            <a:r>
              <a:rPr lang="en-US" sz="2800" dirty="0">
                <a:latin typeface="Times New Roman" panose="02020603050405020304" pitchFamily="18" charset="0"/>
                <a:cs typeface="Times New Roman" panose="02020603050405020304" pitchFamily="18" charset="0"/>
              </a:rPr>
              <a:t>. The effect of factor A is the change in the response variable that results from changing the level of factor A. The effect of factor B is the change in the response variable that results from changing the level of factor B. Together these two effects are called the </a:t>
            </a:r>
            <a:r>
              <a:rPr lang="en-US" sz="2800" b="1" dirty="0">
                <a:latin typeface="Times New Roman" panose="02020603050405020304" pitchFamily="18" charset="0"/>
                <a:cs typeface="Times New Roman" panose="02020603050405020304" pitchFamily="18" charset="0"/>
              </a:rPr>
              <a:t>main effects</a:t>
            </a:r>
            <a:r>
              <a:rPr lang="en-US" sz="2800" dirty="0">
                <a:latin typeface="Times New Roman" panose="02020603050405020304" pitchFamily="18" charset="0"/>
                <a:cs typeface="Times New Roman" panose="02020603050405020304" pitchFamily="18" charset="0"/>
              </a:rPr>
              <a:t>. If changes in the level of factor A result in different</a:t>
            </a:r>
          </a:p>
          <a:p>
            <a:r>
              <a:rPr lang="en-US" sz="2800" dirty="0">
                <a:latin typeface="Times New Roman" panose="02020603050405020304" pitchFamily="18" charset="0"/>
                <a:cs typeface="Times New Roman" panose="02020603050405020304" pitchFamily="18" charset="0"/>
              </a:rPr>
              <a:t>changes in the value of the response variable for the different levels of factor B, we say that there is an </a:t>
            </a:r>
            <a:r>
              <a:rPr lang="en-US" sz="2800" b="1" dirty="0">
                <a:latin typeface="Times New Roman" panose="02020603050405020304" pitchFamily="18" charset="0"/>
                <a:cs typeface="Times New Roman" panose="02020603050405020304" pitchFamily="18" charset="0"/>
              </a:rPr>
              <a:t>interaction effect </a:t>
            </a:r>
            <a:r>
              <a:rPr lang="en-US" sz="2800" dirty="0">
                <a:latin typeface="Times New Roman" panose="02020603050405020304" pitchFamily="18" charset="0"/>
                <a:cs typeface="Times New Roman" panose="02020603050405020304" pitchFamily="18" charset="0"/>
              </a:rPr>
              <a:t>between the factors. </a:t>
            </a:r>
          </a:p>
        </p:txBody>
      </p:sp>
    </p:spTree>
    <p:extLst>
      <p:ext uri="{BB962C8B-B14F-4D97-AF65-F5344CB8AC3E}">
        <p14:creationId xmlns:p14="http://schemas.microsoft.com/office/powerpoint/2010/main" val="73562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98</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Main Effects and Interaction Effect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6)</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2246769"/>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Suppose we have two factors, A and B, each fixed at two levels, high and low. The value of the response variable at each level is presented in Table 12. For example, the response variables when both factor A and B are set to low are 5 and 3.</a:t>
            </a:r>
          </a:p>
        </p:txBody>
      </p:sp>
      <p:pic>
        <p:nvPicPr>
          <p:cNvPr id="6" name="Picture 5" descr="A screenshot of a cell phone&#10;&#10;Description automatically generated">
            <a:extLst>
              <a:ext uri="{FF2B5EF4-FFF2-40B4-BE49-F238E27FC236}">
                <a16:creationId xmlns:a16="http://schemas.microsoft.com/office/drawing/2014/main" id="{8C65303C-F76B-4E76-923F-C49CF0747D2E}"/>
              </a:ext>
            </a:extLst>
          </p:cNvPr>
          <p:cNvPicPr>
            <a:picLocks noChangeAspect="1"/>
          </p:cNvPicPr>
          <p:nvPr/>
        </p:nvPicPr>
        <p:blipFill>
          <a:blip r:embed="rId3"/>
          <a:stretch>
            <a:fillRect/>
          </a:stretch>
        </p:blipFill>
        <p:spPr>
          <a:xfrm>
            <a:off x="2492089" y="3246464"/>
            <a:ext cx="3955845" cy="2111402"/>
          </a:xfrm>
          <a:prstGeom prst="rect">
            <a:avLst/>
          </a:prstGeom>
        </p:spPr>
      </p:pic>
    </p:spTree>
    <p:extLst>
      <p:ext uri="{BB962C8B-B14F-4D97-AF65-F5344CB8AC3E}">
        <p14:creationId xmlns:p14="http://schemas.microsoft.com/office/powerpoint/2010/main" val="1901967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99</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Main Effects and Interaction Effect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6)</a:t>
            </a:r>
            <a:endParaRPr i="1" dirty="0"/>
          </a:p>
        </p:txBody>
      </p:sp>
      <p:sp>
        <p:nvSpPr>
          <p:cNvPr id="4" name="Rectangle 3">
            <a:extLst>
              <a:ext uri="{FF2B5EF4-FFF2-40B4-BE49-F238E27FC236}">
                <a16:creationId xmlns:a16="http://schemas.microsoft.com/office/drawing/2014/main" id="{0B745670-8724-414E-BD3B-1100AA6AB89A}"/>
              </a:ext>
            </a:extLst>
          </p:cNvPr>
          <p:cNvSpPr/>
          <p:nvPr/>
        </p:nvSpPr>
        <p:spPr>
          <a:xfrm>
            <a:off x="152402" y="1135062"/>
            <a:ext cx="8839198" cy="3693319"/>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main effect of factor A is the difference between the mean values of the response variable when factor A is set at high and at low:</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Increasing factor A from low level to high level increases the value of the response variable by 6.25 units, on average.</a:t>
            </a:r>
          </a:p>
        </p:txBody>
      </p:sp>
      <p:graphicFrame>
        <p:nvGraphicFramePr>
          <p:cNvPr id="2" name="Object 1">
            <a:extLst>
              <a:ext uri="{FF2B5EF4-FFF2-40B4-BE49-F238E27FC236}">
                <a16:creationId xmlns:a16="http://schemas.microsoft.com/office/drawing/2014/main" id="{C6FB9FB2-F21C-42C5-B5A0-E9237823EAA4}"/>
              </a:ext>
            </a:extLst>
          </p:cNvPr>
          <p:cNvGraphicFramePr>
            <a:graphicFrameLocks noChangeAspect="1"/>
          </p:cNvGraphicFramePr>
          <p:nvPr>
            <p:extLst>
              <p:ext uri="{D42A27DB-BD31-4B8C-83A1-F6EECF244321}">
                <p14:modId xmlns:p14="http://schemas.microsoft.com/office/powerpoint/2010/main" val="3173252717"/>
              </p:ext>
            </p:extLst>
          </p:nvPr>
        </p:nvGraphicFramePr>
        <p:xfrm>
          <a:off x="386961" y="2723611"/>
          <a:ext cx="8102600" cy="723900"/>
        </p:xfrm>
        <a:graphic>
          <a:graphicData uri="http://schemas.openxmlformats.org/presentationml/2006/ole">
            <mc:AlternateContent xmlns:mc="http://schemas.openxmlformats.org/markup-compatibility/2006">
              <mc:Choice xmlns:v="urn:schemas-microsoft-com:vml" Requires="v">
                <p:oleObj spid="_x0000_s74815" name="Equation" r:id="rId4" imgW="8102520" imgH="723600" progId="Equation.DSMT4">
                  <p:embed/>
                </p:oleObj>
              </mc:Choice>
              <mc:Fallback>
                <p:oleObj name="Equation" r:id="rId4" imgW="8102520" imgH="723600" progId="Equation.DSMT4">
                  <p:embed/>
                  <p:pic>
                    <p:nvPicPr>
                      <p:cNvPr id="0" name=""/>
                      <p:cNvPicPr/>
                      <p:nvPr/>
                    </p:nvPicPr>
                    <p:blipFill>
                      <a:blip r:embed="rId5"/>
                      <a:stretch>
                        <a:fillRect/>
                      </a:stretch>
                    </p:blipFill>
                    <p:spPr>
                      <a:xfrm>
                        <a:off x="386961" y="2723611"/>
                        <a:ext cx="8102600" cy="723900"/>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1EB0BB49-F4D2-490F-906F-7ADE06D4FF08}"/>
              </a:ext>
            </a:extLst>
          </p:cNvPr>
          <p:cNvSpPr txBox="1"/>
          <p:nvPr/>
        </p:nvSpPr>
        <p:spPr>
          <a:xfrm>
            <a:off x="3556906" y="2109013"/>
            <a:ext cx="1706251" cy="369332"/>
          </a:xfrm>
          <a:prstGeom prst="rect">
            <a:avLst/>
          </a:prstGeom>
          <a:noFill/>
        </p:spPr>
        <p:txBody>
          <a:bodyPr wrap="square" rtlCol="0">
            <a:spAutoFit/>
          </a:bodyPr>
          <a:lstStyle/>
          <a:p>
            <a:r>
              <a:rPr lang="en-US" sz="1800" dirty="0">
                <a:solidFill>
                  <a:srgbClr val="333399"/>
                </a:solidFill>
              </a:rPr>
              <a:t>Factor A High</a:t>
            </a:r>
          </a:p>
        </p:txBody>
      </p:sp>
      <p:sp>
        <p:nvSpPr>
          <p:cNvPr id="8" name="TextBox 7">
            <a:extLst>
              <a:ext uri="{FF2B5EF4-FFF2-40B4-BE49-F238E27FC236}">
                <a16:creationId xmlns:a16="http://schemas.microsoft.com/office/drawing/2014/main" id="{8B7BA500-FF43-49FF-A058-CD95CC1748FD}"/>
              </a:ext>
            </a:extLst>
          </p:cNvPr>
          <p:cNvSpPr txBox="1"/>
          <p:nvPr/>
        </p:nvSpPr>
        <p:spPr>
          <a:xfrm>
            <a:off x="5389775" y="2098239"/>
            <a:ext cx="1706251" cy="369332"/>
          </a:xfrm>
          <a:prstGeom prst="rect">
            <a:avLst/>
          </a:prstGeom>
          <a:noFill/>
        </p:spPr>
        <p:txBody>
          <a:bodyPr wrap="square" rtlCol="0">
            <a:spAutoFit/>
          </a:bodyPr>
          <a:lstStyle/>
          <a:p>
            <a:r>
              <a:rPr lang="en-US" sz="1800" dirty="0">
                <a:solidFill>
                  <a:srgbClr val="333399"/>
                </a:solidFill>
              </a:rPr>
              <a:t>Factor A Low</a:t>
            </a:r>
          </a:p>
        </p:txBody>
      </p:sp>
      <p:sp>
        <p:nvSpPr>
          <p:cNvPr id="7" name="Left Brace 6">
            <a:extLst>
              <a:ext uri="{FF2B5EF4-FFF2-40B4-BE49-F238E27FC236}">
                <a16:creationId xmlns:a16="http://schemas.microsoft.com/office/drawing/2014/main" id="{A3417C6A-2C7D-4135-8FC2-2151E06BFCED}"/>
              </a:ext>
            </a:extLst>
          </p:cNvPr>
          <p:cNvSpPr/>
          <p:nvPr/>
        </p:nvSpPr>
        <p:spPr>
          <a:xfrm rot="5400000">
            <a:off x="4268467" y="1727871"/>
            <a:ext cx="282968" cy="1706412"/>
          </a:xfrm>
          <a:prstGeom prst="leftBrace">
            <a:avLst>
              <a:gd name="adj1" fmla="val 61652"/>
              <a:gd name="adj2" fmla="val 50495"/>
            </a:avLst>
          </a:prstGeom>
          <a:ln w="19050">
            <a:solidFill>
              <a:srgbClr val="33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C3C8476F-5C55-4F5F-8131-6F668D930948}"/>
              </a:ext>
            </a:extLst>
          </p:cNvPr>
          <p:cNvSpPr/>
          <p:nvPr/>
        </p:nvSpPr>
        <p:spPr>
          <a:xfrm rot="5400000">
            <a:off x="6114121" y="1907677"/>
            <a:ext cx="282968" cy="1402755"/>
          </a:xfrm>
          <a:prstGeom prst="leftBrace">
            <a:avLst>
              <a:gd name="adj1" fmla="val 61652"/>
              <a:gd name="adj2" fmla="val 50495"/>
            </a:avLst>
          </a:prstGeom>
          <a:ln w="19050">
            <a:solidFill>
              <a:srgbClr val="33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9989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100</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Main Effects and Interaction Effect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6)</a:t>
            </a:r>
            <a:endParaRPr i="1" dirty="0"/>
          </a:p>
        </p:txBody>
      </p:sp>
      <p:sp>
        <p:nvSpPr>
          <p:cNvPr id="12" name="TextBox 11">
            <a:extLst>
              <a:ext uri="{FF2B5EF4-FFF2-40B4-BE49-F238E27FC236}">
                <a16:creationId xmlns:a16="http://schemas.microsoft.com/office/drawing/2014/main" id="{3208C069-57ED-4683-B05D-BBAB0F1C456C}"/>
              </a:ext>
            </a:extLst>
          </p:cNvPr>
          <p:cNvSpPr txBox="1"/>
          <p:nvPr/>
        </p:nvSpPr>
        <p:spPr>
          <a:xfrm>
            <a:off x="3585025" y="1320999"/>
            <a:ext cx="1706251" cy="369332"/>
          </a:xfrm>
          <a:prstGeom prst="rect">
            <a:avLst/>
          </a:prstGeom>
          <a:noFill/>
        </p:spPr>
        <p:txBody>
          <a:bodyPr wrap="square" rtlCol="0">
            <a:spAutoFit/>
          </a:bodyPr>
          <a:lstStyle/>
          <a:p>
            <a:r>
              <a:rPr lang="en-US" sz="1800" dirty="0">
                <a:solidFill>
                  <a:srgbClr val="333399"/>
                </a:solidFill>
              </a:rPr>
              <a:t>Factor B High</a:t>
            </a:r>
          </a:p>
        </p:txBody>
      </p:sp>
      <p:sp>
        <p:nvSpPr>
          <p:cNvPr id="13" name="TextBox 12">
            <a:extLst>
              <a:ext uri="{FF2B5EF4-FFF2-40B4-BE49-F238E27FC236}">
                <a16:creationId xmlns:a16="http://schemas.microsoft.com/office/drawing/2014/main" id="{32B6782B-CDF5-405C-AF9A-302ED4761CDF}"/>
              </a:ext>
            </a:extLst>
          </p:cNvPr>
          <p:cNvSpPr txBox="1"/>
          <p:nvPr/>
        </p:nvSpPr>
        <p:spPr>
          <a:xfrm>
            <a:off x="5435186" y="1326880"/>
            <a:ext cx="1706251" cy="369332"/>
          </a:xfrm>
          <a:prstGeom prst="rect">
            <a:avLst/>
          </a:prstGeom>
          <a:noFill/>
        </p:spPr>
        <p:txBody>
          <a:bodyPr wrap="square" rtlCol="0">
            <a:spAutoFit/>
          </a:bodyPr>
          <a:lstStyle/>
          <a:p>
            <a:r>
              <a:rPr lang="en-US" sz="1800" dirty="0">
                <a:solidFill>
                  <a:srgbClr val="333399"/>
                </a:solidFill>
              </a:rPr>
              <a:t>Factor B Low</a:t>
            </a:r>
          </a:p>
        </p:txBody>
      </p:sp>
      <p:sp>
        <p:nvSpPr>
          <p:cNvPr id="14" name="Left Brace 13">
            <a:extLst>
              <a:ext uri="{FF2B5EF4-FFF2-40B4-BE49-F238E27FC236}">
                <a16:creationId xmlns:a16="http://schemas.microsoft.com/office/drawing/2014/main" id="{9CFA9241-1C04-4012-9DB5-3985AD20DEB7}"/>
              </a:ext>
            </a:extLst>
          </p:cNvPr>
          <p:cNvSpPr/>
          <p:nvPr/>
        </p:nvSpPr>
        <p:spPr>
          <a:xfrm rot="5400000">
            <a:off x="4249613" y="993280"/>
            <a:ext cx="282968" cy="1706412"/>
          </a:xfrm>
          <a:prstGeom prst="leftBrace">
            <a:avLst>
              <a:gd name="adj1" fmla="val 61652"/>
              <a:gd name="adj2" fmla="val 50495"/>
            </a:avLst>
          </a:prstGeom>
          <a:ln w="19050">
            <a:solidFill>
              <a:srgbClr val="33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Left Brace 14">
            <a:extLst>
              <a:ext uri="{FF2B5EF4-FFF2-40B4-BE49-F238E27FC236}">
                <a16:creationId xmlns:a16="http://schemas.microsoft.com/office/drawing/2014/main" id="{82E25377-DEEA-428B-A639-F168477D5F53}"/>
              </a:ext>
            </a:extLst>
          </p:cNvPr>
          <p:cNvSpPr/>
          <p:nvPr/>
        </p:nvSpPr>
        <p:spPr>
          <a:xfrm rot="5400000">
            <a:off x="6101417" y="1160686"/>
            <a:ext cx="282968" cy="1371600"/>
          </a:xfrm>
          <a:prstGeom prst="leftBrace">
            <a:avLst>
              <a:gd name="adj1" fmla="val 61652"/>
              <a:gd name="adj2" fmla="val 50495"/>
            </a:avLst>
          </a:prstGeom>
          <a:ln w="19050">
            <a:solidFill>
              <a:srgbClr val="33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9" name="Object 8">
            <a:extLst>
              <a:ext uri="{FF2B5EF4-FFF2-40B4-BE49-F238E27FC236}">
                <a16:creationId xmlns:a16="http://schemas.microsoft.com/office/drawing/2014/main" id="{030B985C-9CC5-4104-A69E-53138EB8599A}"/>
              </a:ext>
            </a:extLst>
          </p:cNvPr>
          <p:cNvGraphicFramePr>
            <a:graphicFrameLocks noChangeAspect="1"/>
          </p:cNvGraphicFramePr>
          <p:nvPr>
            <p:extLst>
              <p:ext uri="{D42A27DB-BD31-4B8C-83A1-F6EECF244321}">
                <p14:modId xmlns:p14="http://schemas.microsoft.com/office/powerpoint/2010/main" val="2704148815"/>
              </p:ext>
            </p:extLst>
          </p:nvPr>
        </p:nvGraphicFramePr>
        <p:xfrm>
          <a:off x="399550" y="1987970"/>
          <a:ext cx="8077200" cy="723900"/>
        </p:xfrm>
        <a:graphic>
          <a:graphicData uri="http://schemas.openxmlformats.org/presentationml/2006/ole">
            <mc:AlternateContent xmlns:mc="http://schemas.openxmlformats.org/markup-compatibility/2006">
              <mc:Choice xmlns:v="urn:schemas-microsoft-com:vml" Requires="v">
                <p:oleObj spid="_x0000_s75839" name="Equation" r:id="rId4" imgW="8076960" imgH="723600" progId="Equation.DSMT4">
                  <p:embed/>
                </p:oleObj>
              </mc:Choice>
              <mc:Fallback>
                <p:oleObj name="Equation" r:id="rId4" imgW="8076960" imgH="723600" progId="Equation.DSMT4">
                  <p:embed/>
                  <p:pic>
                    <p:nvPicPr>
                      <p:cNvPr id="9" name="Object 8">
                        <a:extLst>
                          <a:ext uri="{FF2B5EF4-FFF2-40B4-BE49-F238E27FC236}">
                            <a16:creationId xmlns:a16="http://schemas.microsoft.com/office/drawing/2014/main" id="{030B985C-9CC5-4104-A69E-53138EB8599A}"/>
                          </a:ext>
                        </a:extLst>
                      </p:cNvPr>
                      <p:cNvPicPr/>
                      <p:nvPr/>
                    </p:nvPicPr>
                    <p:blipFill>
                      <a:blip r:embed="rId5"/>
                      <a:stretch>
                        <a:fillRect/>
                      </a:stretch>
                    </p:blipFill>
                    <p:spPr>
                      <a:xfrm>
                        <a:off x="399550" y="1987970"/>
                        <a:ext cx="8077200" cy="723900"/>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8BA8EA1C-A908-4B93-A4EA-05260B9DB435}"/>
              </a:ext>
            </a:extLst>
          </p:cNvPr>
          <p:cNvSpPr/>
          <p:nvPr/>
        </p:nvSpPr>
        <p:spPr>
          <a:xfrm>
            <a:off x="280448" y="2764572"/>
            <a:ext cx="8583104" cy="2492990"/>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Increasing factor B from low level to high level increases the value of the response variable by 7.25 units, on average.</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To see the interaction effect between the factors, we first look at one level of one factor and see how changing the other factor affects the value of the response variable.</a:t>
            </a:r>
          </a:p>
        </p:txBody>
      </p:sp>
    </p:spTree>
    <p:extLst>
      <p:ext uri="{BB962C8B-B14F-4D97-AF65-F5344CB8AC3E}">
        <p14:creationId xmlns:p14="http://schemas.microsoft.com/office/powerpoint/2010/main" val="195410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583104" cy="4093428"/>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For example, if we look only at the low level of factor B, we can see that the effect of changing factor A from low to high is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So, if we are at the low level of factor B, increasing factor A from low to high increases the response variable by 2 units, on average. </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101</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Main Effects and Interaction Effect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6)</a:t>
            </a:r>
            <a:endParaRPr i="1" dirty="0"/>
          </a:p>
        </p:txBody>
      </p:sp>
      <p:sp>
        <p:nvSpPr>
          <p:cNvPr id="12" name="TextBox 11">
            <a:extLst>
              <a:ext uri="{FF2B5EF4-FFF2-40B4-BE49-F238E27FC236}">
                <a16:creationId xmlns:a16="http://schemas.microsoft.com/office/drawing/2014/main" id="{3208C069-57ED-4683-B05D-BBAB0F1C456C}"/>
              </a:ext>
            </a:extLst>
          </p:cNvPr>
          <p:cNvSpPr txBox="1"/>
          <p:nvPr/>
        </p:nvSpPr>
        <p:spPr>
          <a:xfrm>
            <a:off x="2494728" y="2037430"/>
            <a:ext cx="1090669" cy="584775"/>
          </a:xfrm>
          <a:prstGeom prst="rect">
            <a:avLst/>
          </a:prstGeom>
          <a:noFill/>
        </p:spPr>
        <p:txBody>
          <a:bodyPr wrap="square" rtlCol="0">
            <a:spAutoFit/>
          </a:bodyPr>
          <a:lstStyle/>
          <a:p>
            <a:pPr algn="ctr"/>
            <a:r>
              <a:rPr lang="en-US" sz="1600" dirty="0">
                <a:solidFill>
                  <a:srgbClr val="333399"/>
                </a:solidFill>
              </a:rPr>
              <a:t>Factor A</a:t>
            </a:r>
            <a:br>
              <a:rPr lang="en-US" sz="1600" dirty="0">
                <a:solidFill>
                  <a:srgbClr val="333399"/>
                </a:solidFill>
              </a:rPr>
            </a:br>
            <a:r>
              <a:rPr lang="en-US" sz="1600" dirty="0">
                <a:solidFill>
                  <a:srgbClr val="333399"/>
                </a:solidFill>
              </a:rPr>
              <a:t> High</a:t>
            </a:r>
          </a:p>
        </p:txBody>
      </p:sp>
      <p:sp>
        <p:nvSpPr>
          <p:cNvPr id="13" name="TextBox 12">
            <a:extLst>
              <a:ext uri="{FF2B5EF4-FFF2-40B4-BE49-F238E27FC236}">
                <a16:creationId xmlns:a16="http://schemas.microsoft.com/office/drawing/2014/main" id="{32B6782B-CDF5-405C-AF9A-302ED4761CDF}"/>
              </a:ext>
            </a:extLst>
          </p:cNvPr>
          <p:cNvSpPr txBox="1"/>
          <p:nvPr/>
        </p:nvSpPr>
        <p:spPr>
          <a:xfrm>
            <a:off x="3348016" y="2026297"/>
            <a:ext cx="1090670" cy="584775"/>
          </a:xfrm>
          <a:prstGeom prst="rect">
            <a:avLst/>
          </a:prstGeom>
          <a:noFill/>
        </p:spPr>
        <p:txBody>
          <a:bodyPr wrap="square" rtlCol="0">
            <a:spAutoFit/>
          </a:bodyPr>
          <a:lstStyle/>
          <a:p>
            <a:pPr algn="ctr"/>
            <a:r>
              <a:rPr lang="en-US" sz="1600" dirty="0">
                <a:solidFill>
                  <a:srgbClr val="333399"/>
                </a:solidFill>
              </a:rPr>
              <a:t>Factor A </a:t>
            </a:r>
          </a:p>
          <a:p>
            <a:pPr algn="ctr"/>
            <a:r>
              <a:rPr lang="en-US" sz="1600" dirty="0">
                <a:solidFill>
                  <a:srgbClr val="333399"/>
                </a:solidFill>
              </a:rPr>
              <a:t>Low</a:t>
            </a:r>
          </a:p>
        </p:txBody>
      </p:sp>
      <p:sp>
        <p:nvSpPr>
          <p:cNvPr id="14" name="Left Brace 13">
            <a:extLst>
              <a:ext uri="{FF2B5EF4-FFF2-40B4-BE49-F238E27FC236}">
                <a16:creationId xmlns:a16="http://schemas.microsoft.com/office/drawing/2014/main" id="{9CFA9241-1C04-4012-9DB5-3985AD20DEB7}"/>
              </a:ext>
            </a:extLst>
          </p:cNvPr>
          <p:cNvSpPr/>
          <p:nvPr/>
        </p:nvSpPr>
        <p:spPr>
          <a:xfrm rot="5400000">
            <a:off x="2979165" y="2404588"/>
            <a:ext cx="121797" cy="594049"/>
          </a:xfrm>
          <a:prstGeom prst="leftBrace">
            <a:avLst>
              <a:gd name="adj1" fmla="val 61652"/>
              <a:gd name="adj2" fmla="val 50495"/>
            </a:avLst>
          </a:prstGeom>
          <a:ln w="19050">
            <a:solidFill>
              <a:srgbClr val="33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9" name="Object 8">
            <a:extLst>
              <a:ext uri="{FF2B5EF4-FFF2-40B4-BE49-F238E27FC236}">
                <a16:creationId xmlns:a16="http://schemas.microsoft.com/office/drawing/2014/main" id="{030B985C-9CC5-4104-A69E-53138EB8599A}"/>
              </a:ext>
            </a:extLst>
          </p:cNvPr>
          <p:cNvGraphicFramePr>
            <a:graphicFrameLocks noChangeAspect="1"/>
          </p:cNvGraphicFramePr>
          <p:nvPr>
            <p:extLst>
              <p:ext uri="{D42A27DB-BD31-4B8C-83A1-F6EECF244321}">
                <p14:modId xmlns:p14="http://schemas.microsoft.com/office/powerpoint/2010/main" val="1108788070"/>
              </p:ext>
            </p:extLst>
          </p:nvPr>
        </p:nvGraphicFramePr>
        <p:xfrm>
          <a:off x="2639342" y="2762511"/>
          <a:ext cx="2882900" cy="787400"/>
        </p:xfrm>
        <a:graphic>
          <a:graphicData uri="http://schemas.openxmlformats.org/presentationml/2006/ole">
            <mc:AlternateContent xmlns:mc="http://schemas.openxmlformats.org/markup-compatibility/2006">
              <mc:Choice xmlns:v="urn:schemas-microsoft-com:vml" Requires="v">
                <p:oleObj spid="_x0000_s76862" name="Equation" r:id="rId4" imgW="2882880" imgH="787320" progId="Equation.DSMT4">
                  <p:embed/>
                </p:oleObj>
              </mc:Choice>
              <mc:Fallback>
                <p:oleObj name="Equation" r:id="rId4" imgW="2882880" imgH="787320" progId="Equation.DSMT4">
                  <p:embed/>
                  <p:pic>
                    <p:nvPicPr>
                      <p:cNvPr id="9" name="Object 8">
                        <a:extLst>
                          <a:ext uri="{FF2B5EF4-FFF2-40B4-BE49-F238E27FC236}">
                            <a16:creationId xmlns:a16="http://schemas.microsoft.com/office/drawing/2014/main" id="{030B985C-9CC5-4104-A69E-53138EB8599A}"/>
                          </a:ext>
                        </a:extLst>
                      </p:cNvPr>
                      <p:cNvPicPr/>
                      <p:nvPr/>
                    </p:nvPicPr>
                    <p:blipFill>
                      <a:blip r:embed="rId5"/>
                      <a:stretch>
                        <a:fillRect/>
                      </a:stretch>
                    </p:blipFill>
                    <p:spPr>
                      <a:xfrm>
                        <a:off x="2639342" y="2762511"/>
                        <a:ext cx="2882900" cy="787400"/>
                      </a:xfrm>
                      <a:prstGeom prst="rect">
                        <a:avLst/>
                      </a:prstGeom>
                    </p:spPr>
                  </p:pic>
                </p:oleObj>
              </mc:Fallback>
            </mc:AlternateContent>
          </a:graphicData>
        </a:graphic>
      </p:graphicFrame>
      <p:sp>
        <p:nvSpPr>
          <p:cNvPr id="10" name="Left Brace 9">
            <a:extLst>
              <a:ext uri="{FF2B5EF4-FFF2-40B4-BE49-F238E27FC236}">
                <a16:creationId xmlns:a16="http://schemas.microsoft.com/office/drawing/2014/main" id="{44A4946E-3F01-42B1-A2D0-442047F08374}"/>
              </a:ext>
            </a:extLst>
          </p:cNvPr>
          <p:cNvSpPr/>
          <p:nvPr/>
        </p:nvSpPr>
        <p:spPr>
          <a:xfrm rot="5400000">
            <a:off x="3832452" y="2423148"/>
            <a:ext cx="121797" cy="594049"/>
          </a:xfrm>
          <a:prstGeom prst="leftBrace">
            <a:avLst>
              <a:gd name="adj1" fmla="val 61652"/>
              <a:gd name="adj2" fmla="val 50495"/>
            </a:avLst>
          </a:prstGeom>
          <a:ln w="19050">
            <a:solidFill>
              <a:srgbClr val="33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64773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animEffect transition="in" filter="fade">
                                      <p:cBhvr>
                                        <p:cTn id="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583104" cy="529375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If we look only at the high level of factor B, we see the effect of changing factor A from low to high is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So, if we are at the high level of factor B, increasing factor A from low to high increases the response variable by 10.5 units, on average.</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main effect of factor A is 6.25 units, but this is misleading because, at the low level of factor B, the mean increase in the response variable is only 2 units; but at the high level of factor B, the mean increase in the response variable is 10.5 units. </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102</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Main Effects and Interaction Effect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6)</a:t>
            </a:r>
            <a:endParaRPr i="1" dirty="0"/>
          </a:p>
        </p:txBody>
      </p:sp>
      <p:graphicFrame>
        <p:nvGraphicFramePr>
          <p:cNvPr id="2" name="Object 1">
            <a:extLst>
              <a:ext uri="{FF2B5EF4-FFF2-40B4-BE49-F238E27FC236}">
                <a16:creationId xmlns:a16="http://schemas.microsoft.com/office/drawing/2014/main" id="{AD539E80-B1FB-4797-8C9C-FB76CFE7625D}"/>
              </a:ext>
            </a:extLst>
          </p:cNvPr>
          <p:cNvGraphicFramePr>
            <a:graphicFrameLocks noChangeAspect="1"/>
          </p:cNvGraphicFramePr>
          <p:nvPr>
            <p:extLst>
              <p:ext uri="{D42A27DB-BD31-4B8C-83A1-F6EECF244321}">
                <p14:modId xmlns:p14="http://schemas.microsoft.com/office/powerpoint/2010/main" val="2531118349"/>
              </p:ext>
            </p:extLst>
          </p:nvPr>
        </p:nvGraphicFramePr>
        <p:xfrm>
          <a:off x="2573355" y="2279747"/>
          <a:ext cx="3543300" cy="787400"/>
        </p:xfrm>
        <a:graphic>
          <a:graphicData uri="http://schemas.openxmlformats.org/presentationml/2006/ole">
            <mc:AlternateContent xmlns:mc="http://schemas.openxmlformats.org/markup-compatibility/2006">
              <mc:Choice xmlns:v="urn:schemas-microsoft-com:vml" Requires="v">
                <p:oleObj spid="_x0000_s77886" name="Equation" r:id="rId4" imgW="3543120" imgH="787320" progId="Equation.DSMT4">
                  <p:embed/>
                </p:oleObj>
              </mc:Choice>
              <mc:Fallback>
                <p:oleObj name="Equation" r:id="rId4" imgW="3543120" imgH="787320" progId="Equation.DSMT4">
                  <p:embed/>
                  <p:pic>
                    <p:nvPicPr>
                      <p:cNvPr id="2" name="Object 1">
                        <a:extLst>
                          <a:ext uri="{FF2B5EF4-FFF2-40B4-BE49-F238E27FC236}">
                            <a16:creationId xmlns:a16="http://schemas.microsoft.com/office/drawing/2014/main" id="{AD539E80-B1FB-4797-8C9C-FB76CFE7625D}"/>
                          </a:ext>
                        </a:extLst>
                      </p:cNvPr>
                      <p:cNvPicPr/>
                      <p:nvPr/>
                    </p:nvPicPr>
                    <p:blipFill>
                      <a:blip r:embed="rId5"/>
                      <a:stretch>
                        <a:fillRect/>
                      </a:stretch>
                    </p:blipFill>
                    <p:spPr>
                      <a:xfrm>
                        <a:off x="2573355" y="2279747"/>
                        <a:ext cx="3543300" cy="787400"/>
                      </a:xfrm>
                      <a:prstGeom prst="rect">
                        <a:avLst/>
                      </a:prstGeom>
                    </p:spPr>
                  </p:pic>
                </p:oleObj>
              </mc:Fallback>
            </mc:AlternateContent>
          </a:graphicData>
        </a:graphic>
      </p:graphicFrame>
    </p:spTree>
    <p:extLst>
      <p:ext uri="{BB962C8B-B14F-4D97-AF65-F5344CB8AC3E}">
        <p14:creationId xmlns:p14="http://schemas.microsoft.com/office/powerpoint/2010/main" val="361052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fade">
                                      <p:cBhvr>
                                        <p:cTn id="7" dur="500"/>
                                        <p:tgtEl>
                                          <p:spTgt spid="6">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6" end="6"/>
                                            </p:txEl>
                                          </p:spTgt>
                                        </p:tgtEl>
                                        <p:attrNameLst>
                                          <p:attrName>style.visibility</p:attrName>
                                        </p:attrNameLst>
                                      </p:cBhvr>
                                      <p:to>
                                        <p:strVal val="visible"/>
                                      </p:to>
                                    </p:set>
                                    <p:animEffect transition="in" filter="fade">
                                      <p:cBhvr>
                                        <p:cTn id="1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583104" cy="2492990"/>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So the increase in the value of the response variable depends on the level of factor B. For this reason, we say there is an interaction effect between factors A and B.</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moral: If interaction between two factors exists, looking at main effects is misleading.</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103</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Main Effects and Interaction Effect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(6 of 6)</a:t>
            </a:r>
            <a:endParaRPr i="1" dirty="0"/>
          </a:p>
        </p:txBody>
      </p:sp>
    </p:spTree>
    <p:extLst>
      <p:ext uri="{BB962C8B-B14F-4D97-AF65-F5344CB8AC3E}">
        <p14:creationId xmlns:p14="http://schemas.microsoft.com/office/powerpoint/2010/main" val="990689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5" name="Rectangle 4">
            <a:extLst>
              <a:ext uri="{FF2B5EF4-FFF2-40B4-BE49-F238E27FC236}">
                <a16:creationId xmlns:a16="http://schemas.microsoft.com/office/drawing/2014/main" id="{81A69D96-EB2F-4FA7-B85E-D2DDED2A55F5}"/>
              </a:ext>
            </a:extLst>
          </p:cNvPr>
          <p:cNvSpPr/>
          <p:nvPr/>
        </p:nvSpPr>
        <p:spPr>
          <a:xfrm>
            <a:off x="372359" y="782425"/>
            <a:ext cx="8399282" cy="3685880"/>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Google Shape;644;p90"/>
          <p:cNvSpPr txBox="1"/>
          <p:nvPr/>
        </p:nvSpPr>
        <p:spPr>
          <a:xfrm>
            <a:off x="533400" y="1967223"/>
            <a:ext cx="8132762" cy="2041525"/>
          </a:xfrm>
          <a:prstGeom prst="rect">
            <a:avLst/>
          </a:prstGeom>
          <a:noFill/>
          <a:ln>
            <a:noFill/>
          </a:ln>
        </p:spPr>
        <p:txBody>
          <a:bodyPr spcFirstLastPara="1" wrap="square" lIns="91425" tIns="45700" rIns="91425" bIns="45700" anchor="t" anchorCtr="0">
            <a:noAutofit/>
          </a:bodyPr>
          <a:lstStyle/>
          <a:p>
            <a:r>
              <a:rPr lang="en-US" sz="3200" b="1" dirty="0">
                <a:latin typeface="Times New Roman" panose="02020603050405020304" pitchFamily="18" charset="0"/>
                <a:cs typeface="Times New Roman" panose="02020603050405020304" pitchFamily="18" charset="0"/>
              </a:rPr>
              <a:t>1. </a:t>
            </a:r>
            <a:r>
              <a:rPr lang="en-US" sz="3200" dirty="0">
                <a:latin typeface="Times New Roman" panose="02020603050405020304" pitchFamily="18" charset="0"/>
                <a:cs typeface="Times New Roman" panose="02020603050405020304" pitchFamily="18" charset="0"/>
              </a:rPr>
              <a:t>The populations from which the samples are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drawn must be normal.</a:t>
            </a:r>
          </a:p>
          <a:p>
            <a:r>
              <a:rPr lang="en-US" sz="3200" b="1" dirty="0">
                <a:latin typeface="Times New Roman" panose="02020603050405020304" pitchFamily="18" charset="0"/>
                <a:cs typeface="Times New Roman" panose="02020603050405020304" pitchFamily="18" charset="0"/>
              </a:rPr>
              <a:t>2. </a:t>
            </a:r>
            <a:r>
              <a:rPr lang="en-US" sz="3200" dirty="0">
                <a:latin typeface="Times New Roman" panose="02020603050405020304" pitchFamily="18" charset="0"/>
                <a:cs typeface="Times New Roman" panose="02020603050405020304" pitchFamily="18" charset="0"/>
              </a:rPr>
              <a:t>The samples must be independent.</a:t>
            </a:r>
          </a:p>
          <a:p>
            <a:r>
              <a:rPr lang="en-US" sz="3200" b="1" dirty="0">
                <a:latin typeface="Times New Roman" panose="02020603050405020304" pitchFamily="18" charset="0"/>
                <a:cs typeface="Times New Roman" panose="02020603050405020304" pitchFamily="18" charset="0"/>
              </a:rPr>
              <a:t>3. </a:t>
            </a:r>
            <a:r>
              <a:rPr lang="en-US" sz="3200" dirty="0">
                <a:latin typeface="Times New Roman" panose="02020603050405020304" pitchFamily="18" charset="0"/>
                <a:cs typeface="Times New Roman" panose="02020603050405020304" pitchFamily="18" charset="0"/>
              </a:rPr>
              <a:t>The populations must have the same variance.</a:t>
            </a:r>
            <a:endParaRPr sz="3200" dirty="0">
              <a:latin typeface="Times New Roman" panose="02020603050405020304" pitchFamily="18" charset="0"/>
              <a:cs typeface="Times New Roman" panose="02020603050405020304" pitchFamily="18" charset="0"/>
            </a:endParaRPr>
          </a:p>
        </p:txBody>
      </p:sp>
      <p:sp>
        <p:nvSpPr>
          <p:cNvPr id="645" name="Google Shape;645;p90"/>
          <p:cNvSpPr txBox="1"/>
          <p:nvPr/>
        </p:nvSpPr>
        <p:spPr>
          <a:xfrm>
            <a:off x="533400" y="976623"/>
            <a:ext cx="8001000" cy="9906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Requirements to Perform the Two-Way </a:t>
            </a:r>
            <a:endParaRPr sz="3200" dirty="0">
              <a:solidFill>
                <a:schemeClr val="tx1"/>
              </a:solidFill>
              <a:latin typeface="+mn-lt"/>
            </a:endParaRPr>
          </a:p>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a:sym typeface="Times New Roman"/>
              </a:rPr>
              <a:t>Analysis of Variance</a:t>
            </a:r>
            <a:endParaRPr sz="3200" dirty="0">
              <a:solidFill>
                <a:schemeClr val="tx1"/>
              </a:solidFill>
              <a:latin typeface="+mn-lt"/>
            </a:endParaRPr>
          </a:p>
        </p:txBody>
      </p:sp>
      <p:sp>
        <p:nvSpPr>
          <p:cNvPr id="646" name="Google Shape;646;p90"/>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104</a:t>
            </a:fld>
            <a:endParaRPr/>
          </a:p>
        </p:txBody>
      </p:sp>
    </p:spTree>
    <p:extLst>
      <p:ext uri="{BB962C8B-B14F-4D97-AF65-F5344CB8AC3E}">
        <p14:creationId xmlns:p14="http://schemas.microsoft.com/office/powerpoint/2010/main" val="3169867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4">
                                            <p:txEl>
                                              <p:pRg st="0" end="0"/>
                                            </p:txEl>
                                          </p:spTgt>
                                        </p:tgtEl>
                                        <p:attrNameLst>
                                          <p:attrName>style.visibility</p:attrName>
                                        </p:attrNameLst>
                                      </p:cBhvr>
                                      <p:to>
                                        <p:strVal val="visible"/>
                                      </p:to>
                                    </p:set>
                                    <p:animEffect transition="in" filter="fade">
                                      <p:cBhvr>
                                        <p:cTn id="7" dur="500"/>
                                        <p:tgtEl>
                                          <p:spTgt spid="6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4">
                                            <p:txEl>
                                              <p:pRg st="1" end="1"/>
                                            </p:txEl>
                                          </p:spTgt>
                                        </p:tgtEl>
                                        <p:attrNameLst>
                                          <p:attrName>style.visibility</p:attrName>
                                        </p:attrNameLst>
                                      </p:cBhvr>
                                      <p:to>
                                        <p:strVal val="visible"/>
                                      </p:to>
                                    </p:set>
                                    <p:animEffect transition="in" filter="fade">
                                      <p:cBhvr>
                                        <p:cTn id="12" dur="500"/>
                                        <p:tgtEl>
                                          <p:spTgt spid="6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44">
                                            <p:txEl>
                                              <p:pRg st="2" end="2"/>
                                            </p:txEl>
                                          </p:spTgt>
                                        </p:tgtEl>
                                        <p:attrNameLst>
                                          <p:attrName>style.visibility</p:attrName>
                                        </p:attrNameLst>
                                      </p:cBhvr>
                                      <p:to>
                                        <p:strVal val="visible"/>
                                      </p:to>
                                    </p:set>
                                    <p:animEffect transition="in" filter="fade">
                                      <p:cBhvr>
                                        <p:cTn id="17" dur="500"/>
                                        <p:tgtEl>
                                          <p:spTgt spid="6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91"/>
          <p:cNvSpPr txBox="1"/>
          <p:nvPr/>
        </p:nvSpPr>
        <p:spPr>
          <a:xfrm>
            <a:off x="381000" y="631825"/>
            <a:ext cx="8643937" cy="5054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800"/>
              <a:buFont typeface="Times New Roman"/>
              <a:buNone/>
            </a:pPr>
            <a:r>
              <a:rPr lang="en-US" sz="2800" b="0" i="0" u="none" dirty="0">
                <a:solidFill>
                  <a:schemeClr val="dk1"/>
                </a:solidFill>
                <a:latin typeface="Times New Roman"/>
                <a:ea typeface="Times New Roman"/>
                <a:cs typeface="Times New Roman"/>
                <a:sym typeface="Times New Roman"/>
              </a:rPr>
              <a:t>In a two-way ANOVA, we test three separate hypotheses.</a:t>
            </a:r>
            <a:endParaRPr dirty="0"/>
          </a:p>
          <a:p>
            <a:pPr marL="0" marR="0" lvl="0" indent="0" algn="l" rtl="0">
              <a:lnSpc>
                <a:spcPct val="80000"/>
              </a:lnSpc>
              <a:spcBef>
                <a:spcPts val="0"/>
              </a:spcBef>
              <a:spcAft>
                <a:spcPts val="0"/>
              </a:spcAft>
              <a:buClr>
                <a:schemeClr val="dk1"/>
              </a:buClr>
              <a:buSzPts val="2800"/>
              <a:buFont typeface="Arial"/>
              <a:buNone/>
            </a:pPr>
            <a:endParaRPr sz="2800" b="0" i="0" u="none" dirty="0">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2800"/>
              <a:buFont typeface="Times New Roman"/>
              <a:buNone/>
            </a:pPr>
            <a:r>
              <a:rPr lang="en-US" sz="2800" b="1" i="0" u="none" dirty="0">
                <a:solidFill>
                  <a:schemeClr val="dk1"/>
                </a:solidFill>
                <a:latin typeface="Times New Roman"/>
                <a:ea typeface="Times New Roman"/>
                <a:cs typeface="Times New Roman"/>
                <a:sym typeface="Times New Roman"/>
              </a:rPr>
              <a:t>Hypotheses Regarding Interaction Effect</a:t>
            </a:r>
            <a:endParaRPr dirty="0"/>
          </a:p>
          <a:p>
            <a:pPr marL="0" marR="0" lvl="0" indent="0" algn="l" rtl="0">
              <a:lnSpc>
                <a:spcPct val="90000"/>
              </a:lnSpc>
              <a:spcBef>
                <a:spcPts val="0"/>
              </a:spcBef>
              <a:spcAft>
                <a:spcPts val="0"/>
              </a:spcAft>
              <a:buClr>
                <a:schemeClr val="dk1"/>
              </a:buClr>
              <a:buSzPts val="2800"/>
              <a:buFont typeface="Times New Roman"/>
              <a:buNone/>
            </a:pPr>
            <a:r>
              <a:rPr lang="en-US" sz="2800" b="0" i="1" u="none" dirty="0">
                <a:solidFill>
                  <a:schemeClr val="dk1"/>
                </a:solidFill>
                <a:latin typeface="Times New Roman"/>
                <a:ea typeface="Times New Roman"/>
                <a:cs typeface="Times New Roman"/>
                <a:sym typeface="Times New Roman"/>
              </a:rPr>
              <a:t>H</a:t>
            </a:r>
            <a:r>
              <a:rPr lang="en-US" sz="2800" b="0" i="0" u="none" baseline="-25000" dirty="0">
                <a:solidFill>
                  <a:schemeClr val="dk1"/>
                </a:solidFill>
                <a:latin typeface="Times New Roman"/>
                <a:ea typeface="Times New Roman"/>
                <a:cs typeface="Times New Roman"/>
                <a:sym typeface="Times New Roman"/>
              </a:rPr>
              <a:t>0</a:t>
            </a:r>
            <a:r>
              <a:rPr lang="en-US" sz="2800" b="0" i="0" u="none" dirty="0">
                <a:solidFill>
                  <a:schemeClr val="dk1"/>
                </a:solidFill>
                <a:latin typeface="Times New Roman"/>
                <a:ea typeface="Times New Roman"/>
                <a:cs typeface="Times New Roman"/>
                <a:sym typeface="Times New Roman"/>
              </a:rPr>
              <a:t>:  there is no interaction effect between the factors</a:t>
            </a:r>
            <a:endParaRPr dirty="0"/>
          </a:p>
          <a:p>
            <a:pPr marL="0" marR="0" lvl="0" indent="0" algn="l" rtl="0">
              <a:lnSpc>
                <a:spcPct val="90000"/>
              </a:lnSpc>
              <a:spcBef>
                <a:spcPts val="0"/>
              </a:spcBef>
              <a:spcAft>
                <a:spcPts val="0"/>
              </a:spcAft>
              <a:buClr>
                <a:schemeClr val="dk1"/>
              </a:buClr>
              <a:buSzPts val="2800"/>
              <a:buFont typeface="Times New Roman"/>
              <a:buNone/>
            </a:pPr>
            <a:r>
              <a:rPr lang="en-US" sz="2800" b="0" i="1" u="none" dirty="0">
                <a:solidFill>
                  <a:schemeClr val="dk1"/>
                </a:solidFill>
                <a:latin typeface="Times New Roman"/>
                <a:ea typeface="Times New Roman"/>
                <a:cs typeface="Times New Roman"/>
                <a:sym typeface="Times New Roman"/>
              </a:rPr>
              <a:t>H</a:t>
            </a:r>
            <a:r>
              <a:rPr lang="en-US" sz="2800" b="0" i="0" u="none" baseline="-25000" dirty="0">
                <a:solidFill>
                  <a:schemeClr val="dk1"/>
                </a:solidFill>
                <a:latin typeface="Times New Roman"/>
                <a:ea typeface="Times New Roman"/>
                <a:cs typeface="Times New Roman"/>
                <a:sym typeface="Times New Roman"/>
              </a:rPr>
              <a:t>1</a:t>
            </a:r>
            <a:r>
              <a:rPr lang="en-US" sz="2800" b="0" i="0" u="none" dirty="0">
                <a:solidFill>
                  <a:schemeClr val="dk1"/>
                </a:solidFill>
                <a:latin typeface="Times New Roman"/>
                <a:ea typeface="Times New Roman"/>
                <a:cs typeface="Times New Roman"/>
                <a:sym typeface="Times New Roman"/>
              </a:rPr>
              <a:t>:  there is interaction between the factors</a:t>
            </a:r>
            <a:endParaRPr dirty="0"/>
          </a:p>
          <a:p>
            <a:pPr marL="0" marR="0" lvl="0" indent="0" algn="l" rtl="0">
              <a:lnSpc>
                <a:spcPct val="80000"/>
              </a:lnSpc>
              <a:spcBef>
                <a:spcPts val="0"/>
              </a:spcBef>
              <a:spcAft>
                <a:spcPts val="0"/>
              </a:spcAft>
              <a:buClr>
                <a:schemeClr val="dk1"/>
              </a:buClr>
              <a:buSzPts val="2800"/>
              <a:buFont typeface="Arial"/>
              <a:buNone/>
            </a:pPr>
            <a:endParaRPr sz="2800" b="0" i="0" u="none" dirty="0">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2800"/>
              <a:buFont typeface="Times New Roman"/>
              <a:buNone/>
            </a:pPr>
            <a:r>
              <a:rPr lang="en-US" sz="2800" b="1" i="0" u="none" dirty="0">
                <a:solidFill>
                  <a:schemeClr val="dk1"/>
                </a:solidFill>
                <a:latin typeface="Times New Roman"/>
                <a:ea typeface="Times New Roman"/>
                <a:cs typeface="Times New Roman"/>
                <a:sym typeface="Times New Roman"/>
              </a:rPr>
              <a:t>Hypotheses Regarding Main Effects</a:t>
            </a:r>
            <a:endParaRPr dirty="0"/>
          </a:p>
          <a:p>
            <a:pPr marL="0" marR="0" lvl="0" indent="0" algn="l" rtl="0">
              <a:lnSpc>
                <a:spcPct val="90000"/>
              </a:lnSpc>
              <a:spcBef>
                <a:spcPts val="0"/>
              </a:spcBef>
              <a:spcAft>
                <a:spcPts val="0"/>
              </a:spcAft>
              <a:buClr>
                <a:schemeClr val="dk1"/>
              </a:buClr>
              <a:buSzPts val="2800"/>
              <a:buFont typeface="Times New Roman"/>
              <a:buNone/>
            </a:pPr>
            <a:r>
              <a:rPr lang="en-US" sz="2800" b="0" i="1" u="none" dirty="0">
                <a:solidFill>
                  <a:schemeClr val="dk1"/>
                </a:solidFill>
                <a:latin typeface="Times New Roman"/>
                <a:ea typeface="Times New Roman"/>
                <a:cs typeface="Times New Roman"/>
                <a:sym typeface="Times New Roman"/>
              </a:rPr>
              <a:t>H</a:t>
            </a:r>
            <a:r>
              <a:rPr lang="en-US" sz="2800" b="0" i="0" u="none" baseline="-25000" dirty="0">
                <a:solidFill>
                  <a:schemeClr val="dk1"/>
                </a:solidFill>
                <a:latin typeface="Times New Roman"/>
                <a:ea typeface="Times New Roman"/>
                <a:cs typeface="Times New Roman"/>
                <a:sym typeface="Times New Roman"/>
              </a:rPr>
              <a:t>0</a:t>
            </a:r>
            <a:r>
              <a:rPr lang="en-US" sz="2800" b="0" i="0" u="none" dirty="0">
                <a:solidFill>
                  <a:schemeClr val="dk1"/>
                </a:solidFill>
                <a:latin typeface="Times New Roman"/>
                <a:ea typeface="Times New Roman"/>
                <a:cs typeface="Times New Roman"/>
                <a:sym typeface="Times New Roman"/>
              </a:rPr>
              <a:t>:  there is no effect of factor A on the response variable</a:t>
            </a:r>
            <a:endParaRPr dirty="0"/>
          </a:p>
          <a:p>
            <a:pPr marL="0" marR="0" lvl="0" indent="0" algn="l" rtl="0">
              <a:lnSpc>
                <a:spcPct val="90000"/>
              </a:lnSpc>
              <a:spcBef>
                <a:spcPts val="0"/>
              </a:spcBef>
              <a:spcAft>
                <a:spcPts val="0"/>
              </a:spcAft>
              <a:buClr>
                <a:schemeClr val="dk1"/>
              </a:buClr>
              <a:buSzPts val="2800"/>
              <a:buFont typeface="Times New Roman"/>
              <a:buNone/>
            </a:pPr>
            <a:r>
              <a:rPr lang="en-US" sz="2800" b="0" i="1" u="none" dirty="0">
                <a:solidFill>
                  <a:schemeClr val="dk1"/>
                </a:solidFill>
                <a:latin typeface="Times New Roman"/>
                <a:ea typeface="Times New Roman"/>
                <a:cs typeface="Times New Roman"/>
                <a:sym typeface="Times New Roman"/>
              </a:rPr>
              <a:t>H</a:t>
            </a:r>
            <a:r>
              <a:rPr lang="en-US" sz="2800" b="0" i="0" u="none" baseline="-25000" dirty="0">
                <a:solidFill>
                  <a:schemeClr val="dk1"/>
                </a:solidFill>
                <a:latin typeface="Times New Roman"/>
                <a:ea typeface="Times New Roman"/>
                <a:cs typeface="Times New Roman"/>
                <a:sym typeface="Times New Roman"/>
              </a:rPr>
              <a:t>1</a:t>
            </a:r>
            <a:r>
              <a:rPr lang="en-US" sz="2800" b="0" i="0" u="none" dirty="0">
                <a:solidFill>
                  <a:schemeClr val="dk1"/>
                </a:solidFill>
                <a:latin typeface="Times New Roman"/>
                <a:ea typeface="Times New Roman"/>
                <a:cs typeface="Times New Roman"/>
                <a:sym typeface="Times New Roman"/>
              </a:rPr>
              <a:t>:  there is an effect of factor A on the response variable</a:t>
            </a:r>
            <a:endParaRPr dirty="0"/>
          </a:p>
          <a:p>
            <a:pPr marL="0" marR="0" lvl="0" indent="0" algn="l" rtl="0">
              <a:lnSpc>
                <a:spcPct val="90000"/>
              </a:lnSpc>
              <a:spcBef>
                <a:spcPts val="0"/>
              </a:spcBef>
              <a:spcAft>
                <a:spcPts val="0"/>
              </a:spcAft>
              <a:buClr>
                <a:schemeClr val="dk1"/>
              </a:buClr>
              <a:buSzPts val="2800"/>
              <a:buFont typeface="Arial"/>
              <a:buNone/>
            </a:pPr>
            <a:endParaRPr sz="2800" b="0" i="0" u="none" dirty="0">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chemeClr val="dk1"/>
              </a:buClr>
              <a:buSzPts val="2800"/>
              <a:buFont typeface="Times New Roman"/>
              <a:buNone/>
            </a:pPr>
            <a:r>
              <a:rPr lang="en-US" sz="2800" b="0" i="1" u="none" dirty="0">
                <a:solidFill>
                  <a:schemeClr val="dk1"/>
                </a:solidFill>
                <a:latin typeface="Times New Roman"/>
                <a:ea typeface="Times New Roman"/>
                <a:cs typeface="Times New Roman"/>
                <a:sym typeface="Times New Roman"/>
              </a:rPr>
              <a:t>H</a:t>
            </a:r>
            <a:r>
              <a:rPr lang="en-US" sz="2800" b="0" i="0" u="none" baseline="-25000" dirty="0">
                <a:solidFill>
                  <a:schemeClr val="dk1"/>
                </a:solidFill>
                <a:latin typeface="Times New Roman"/>
                <a:ea typeface="Times New Roman"/>
                <a:cs typeface="Times New Roman"/>
                <a:sym typeface="Times New Roman"/>
              </a:rPr>
              <a:t>0</a:t>
            </a:r>
            <a:r>
              <a:rPr lang="en-US" sz="2800" b="0" i="0" u="none" dirty="0">
                <a:solidFill>
                  <a:schemeClr val="dk1"/>
                </a:solidFill>
                <a:latin typeface="Times New Roman"/>
                <a:ea typeface="Times New Roman"/>
                <a:cs typeface="Times New Roman"/>
                <a:sym typeface="Times New Roman"/>
              </a:rPr>
              <a:t>:  there is no effect of factor B on the response variable</a:t>
            </a:r>
            <a:endParaRPr dirty="0"/>
          </a:p>
          <a:p>
            <a:pPr marL="0" marR="0" lvl="0" indent="0" algn="l" rtl="0">
              <a:lnSpc>
                <a:spcPct val="90000"/>
              </a:lnSpc>
              <a:spcBef>
                <a:spcPts val="0"/>
              </a:spcBef>
              <a:spcAft>
                <a:spcPts val="0"/>
              </a:spcAft>
              <a:buClr>
                <a:schemeClr val="dk1"/>
              </a:buClr>
              <a:buSzPts val="2800"/>
              <a:buFont typeface="Times New Roman"/>
              <a:buNone/>
            </a:pPr>
            <a:r>
              <a:rPr lang="en-US" sz="2800" b="0" i="1" u="none" dirty="0">
                <a:solidFill>
                  <a:schemeClr val="dk1"/>
                </a:solidFill>
                <a:latin typeface="Times New Roman"/>
                <a:ea typeface="Times New Roman"/>
                <a:cs typeface="Times New Roman"/>
                <a:sym typeface="Times New Roman"/>
              </a:rPr>
              <a:t>H</a:t>
            </a:r>
            <a:r>
              <a:rPr lang="en-US" sz="2800" b="0" i="0" u="none" baseline="-25000" dirty="0">
                <a:solidFill>
                  <a:schemeClr val="dk1"/>
                </a:solidFill>
                <a:latin typeface="Times New Roman"/>
                <a:ea typeface="Times New Roman"/>
                <a:cs typeface="Times New Roman"/>
                <a:sym typeface="Times New Roman"/>
              </a:rPr>
              <a:t>1</a:t>
            </a:r>
            <a:r>
              <a:rPr lang="en-US" sz="2800" b="0" i="0" u="none" dirty="0">
                <a:solidFill>
                  <a:schemeClr val="dk1"/>
                </a:solidFill>
                <a:latin typeface="Times New Roman"/>
                <a:ea typeface="Times New Roman"/>
                <a:cs typeface="Times New Roman"/>
                <a:sym typeface="Times New Roman"/>
              </a:rPr>
              <a:t>:  there is an effect of factor B on the response variable</a:t>
            </a:r>
            <a:endParaRPr dirty="0"/>
          </a:p>
          <a:p>
            <a:pPr marL="0" marR="0" lvl="0" indent="0" algn="l" rtl="0">
              <a:lnSpc>
                <a:spcPct val="100000"/>
              </a:lnSpc>
              <a:spcBef>
                <a:spcPts val="0"/>
              </a:spcBef>
              <a:spcAft>
                <a:spcPts val="0"/>
              </a:spcAft>
              <a:buNone/>
            </a:pPr>
            <a:endParaRPr sz="2800" b="0" i="0" u="none" dirty="0">
              <a:solidFill>
                <a:schemeClr val="dk1"/>
              </a:solidFill>
              <a:latin typeface="Times New Roman"/>
              <a:ea typeface="Times New Roman"/>
              <a:cs typeface="Times New Roman"/>
              <a:sym typeface="Times New Roman"/>
            </a:endParaRPr>
          </a:p>
        </p:txBody>
      </p:sp>
      <p:sp>
        <p:nvSpPr>
          <p:cNvPr id="652" name="Google Shape;652;p91"/>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105</a:t>
            </a:fld>
            <a:endParaRPr/>
          </a:p>
        </p:txBody>
      </p:sp>
    </p:spTree>
    <p:extLst>
      <p:ext uri="{BB962C8B-B14F-4D97-AF65-F5344CB8AC3E}">
        <p14:creationId xmlns:p14="http://schemas.microsoft.com/office/powerpoint/2010/main" val="1395673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1">
                                            <p:txEl>
                                              <p:pRg st="2" end="2"/>
                                            </p:txEl>
                                          </p:spTgt>
                                        </p:tgtEl>
                                        <p:attrNameLst>
                                          <p:attrName>style.visibility</p:attrName>
                                        </p:attrNameLst>
                                      </p:cBhvr>
                                      <p:to>
                                        <p:strVal val="visible"/>
                                      </p:to>
                                    </p:set>
                                    <p:animEffect transition="in" filter="fade">
                                      <p:cBhvr>
                                        <p:cTn id="7" dur="500"/>
                                        <p:tgtEl>
                                          <p:spTgt spid="651">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51">
                                            <p:txEl>
                                              <p:pRg st="3" end="3"/>
                                            </p:txEl>
                                          </p:spTgt>
                                        </p:tgtEl>
                                        <p:attrNameLst>
                                          <p:attrName>style.visibility</p:attrName>
                                        </p:attrNameLst>
                                      </p:cBhvr>
                                      <p:to>
                                        <p:strVal val="visible"/>
                                      </p:to>
                                    </p:set>
                                    <p:animEffect transition="in" filter="fade">
                                      <p:cBhvr>
                                        <p:cTn id="10" dur="500"/>
                                        <p:tgtEl>
                                          <p:spTgt spid="651">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51">
                                            <p:txEl>
                                              <p:pRg st="4" end="4"/>
                                            </p:txEl>
                                          </p:spTgt>
                                        </p:tgtEl>
                                        <p:attrNameLst>
                                          <p:attrName>style.visibility</p:attrName>
                                        </p:attrNameLst>
                                      </p:cBhvr>
                                      <p:to>
                                        <p:strVal val="visible"/>
                                      </p:to>
                                    </p:set>
                                    <p:animEffect transition="in" filter="fade">
                                      <p:cBhvr>
                                        <p:cTn id="13" dur="500"/>
                                        <p:tgtEl>
                                          <p:spTgt spid="651">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51">
                                            <p:txEl>
                                              <p:pRg st="6" end="6"/>
                                            </p:txEl>
                                          </p:spTgt>
                                        </p:tgtEl>
                                        <p:attrNameLst>
                                          <p:attrName>style.visibility</p:attrName>
                                        </p:attrNameLst>
                                      </p:cBhvr>
                                      <p:to>
                                        <p:strVal val="visible"/>
                                      </p:to>
                                    </p:set>
                                    <p:animEffect transition="in" filter="fade">
                                      <p:cBhvr>
                                        <p:cTn id="18" dur="500"/>
                                        <p:tgtEl>
                                          <p:spTgt spid="651">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51">
                                            <p:txEl>
                                              <p:pRg st="7" end="7"/>
                                            </p:txEl>
                                          </p:spTgt>
                                        </p:tgtEl>
                                        <p:attrNameLst>
                                          <p:attrName>style.visibility</p:attrName>
                                        </p:attrNameLst>
                                      </p:cBhvr>
                                      <p:to>
                                        <p:strVal val="visible"/>
                                      </p:to>
                                    </p:set>
                                    <p:animEffect transition="in" filter="fade">
                                      <p:cBhvr>
                                        <p:cTn id="21" dur="500"/>
                                        <p:tgtEl>
                                          <p:spTgt spid="651">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51">
                                            <p:txEl>
                                              <p:pRg st="8" end="8"/>
                                            </p:txEl>
                                          </p:spTgt>
                                        </p:tgtEl>
                                        <p:attrNameLst>
                                          <p:attrName>style.visibility</p:attrName>
                                        </p:attrNameLst>
                                      </p:cBhvr>
                                      <p:to>
                                        <p:strVal val="visible"/>
                                      </p:to>
                                    </p:set>
                                    <p:animEffect transition="in" filter="fade">
                                      <p:cBhvr>
                                        <p:cTn id="24" dur="500"/>
                                        <p:tgtEl>
                                          <p:spTgt spid="651">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651">
                                            <p:txEl>
                                              <p:pRg st="10" end="10"/>
                                            </p:txEl>
                                          </p:spTgt>
                                        </p:tgtEl>
                                        <p:attrNameLst>
                                          <p:attrName>style.visibility</p:attrName>
                                        </p:attrNameLst>
                                      </p:cBhvr>
                                      <p:to>
                                        <p:strVal val="visible"/>
                                      </p:to>
                                    </p:set>
                                    <p:animEffect transition="in" filter="fade">
                                      <p:cBhvr>
                                        <p:cTn id="27" dur="500"/>
                                        <p:tgtEl>
                                          <p:spTgt spid="651">
                                            <p:txEl>
                                              <p:pRg st="10" end="1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651">
                                            <p:txEl>
                                              <p:pRg st="11" end="11"/>
                                            </p:txEl>
                                          </p:spTgt>
                                        </p:tgtEl>
                                        <p:attrNameLst>
                                          <p:attrName>style.visibility</p:attrName>
                                        </p:attrNameLst>
                                      </p:cBhvr>
                                      <p:to>
                                        <p:strVal val="visible"/>
                                      </p:to>
                                    </p:set>
                                    <p:animEffect transition="in" filter="fade">
                                      <p:cBhvr>
                                        <p:cTn id="30" dur="500"/>
                                        <p:tgtEl>
                                          <p:spTgt spid="65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4" name="Rectangle 3">
            <a:extLst>
              <a:ext uri="{FF2B5EF4-FFF2-40B4-BE49-F238E27FC236}">
                <a16:creationId xmlns:a16="http://schemas.microsoft.com/office/drawing/2014/main" id="{B343B199-4C04-4310-AE11-F22B131416D3}"/>
              </a:ext>
            </a:extLst>
          </p:cNvPr>
          <p:cNvSpPr/>
          <p:nvPr/>
        </p:nvSpPr>
        <p:spPr>
          <a:xfrm>
            <a:off x="468258" y="1300899"/>
            <a:ext cx="8440075" cy="3733800"/>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Google Shape;657;p92"/>
          <p:cNvSpPr txBox="1"/>
          <p:nvPr/>
        </p:nvSpPr>
        <p:spPr>
          <a:xfrm>
            <a:off x="533400" y="1219200"/>
            <a:ext cx="8077200" cy="37338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accent2"/>
              </a:buClr>
              <a:buSzPts val="3200"/>
              <a:buFont typeface="Times New Roman"/>
              <a:buNone/>
            </a:pP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Whenever conducting a two-way ANOVA, </a:t>
            </a:r>
            <a:endParaRPr sz="3200" dirty="0">
              <a:solidFill>
                <a:schemeClr val="tx1"/>
              </a:solidFill>
              <a:latin typeface="Times New Roman" panose="02020603050405020304" pitchFamily="18" charset="0"/>
              <a:cs typeface="Times New Roman" panose="02020603050405020304" pitchFamily="18" charset="0"/>
            </a:endParaRPr>
          </a:p>
          <a:p>
            <a:pPr marL="0" marR="0" lvl="0" indent="0" algn="l" rtl="0">
              <a:lnSpc>
                <a:spcPct val="90000"/>
              </a:lnSpc>
              <a:spcBef>
                <a:spcPts val="0"/>
              </a:spcBef>
              <a:spcAft>
                <a:spcPts val="0"/>
              </a:spcAft>
              <a:buClr>
                <a:schemeClr val="accent2"/>
              </a:buClr>
              <a:buSzPts val="3200"/>
              <a:buFont typeface="Times New Roman"/>
              <a:buNone/>
            </a:pP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we always first test the hypothesis regarding </a:t>
            </a:r>
            <a:endParaRPr sz="3200" dirty="0">
              <a:solidFill>
                <a:schemeClr val="tx1"/>
              </a:solidFill>
              <a:latin typeface="Times New Roman" panose="02020603050405020304" pitchFamily="18" charset="0"/>
              <a:cs typeface="Times New Roman" panose="02020603050405020304" pitchFamily="18" charset="0"/>
            </a:endParaRPr>
          </a:p>
          <a:p>
            <a:pPr marL="0" marR="0" lvl="0" indent="0" algn="l" rtl="0">
              <a:lnSpc>
                <a:spcPct val="90000"/>
              </a:lnSpc>
              <a:spcBef>
                <a:spcPts val="0"/>
              </a:spcBef>
              <a:spcAft>
                <a:spcPts val="0"/>
              </a:spcAft>
              <a:buClr>
                <a:schemeClr val="accent2"/>
              </a:buClr>
              <a:buSzPts val="3200"/>
              <a:buFont typeface="Times New Roman"/>
              <a:buNone/>
            </a:pP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interaction effect.  If the null hypothesis </a:t>
            </a:r>
            <a:endParaRPr sz="3200" dirty="0">
              <a:solidFill>
                <a:schemeClr val="tx1"/>
              </a:solidFill>
              <a:latin typeface="Times New Roman" panose="02020603050405020304" pitchFamily="18" charset="0"/>
              <a:cs typeface="Times New Roman" panose="02020603050405020304" pitchFamily="18" charset="0"/>
            </a:endParaRPr>
          </a:p>
          <a:p>
            <a:pPr marL="0" marR="0" lvl="0" indent="0" algn="l" rtl="0">
              <a:lnSpc>
                <a:spcPct val="90000"/>
              </a:lnSpc>
              <a:spcBef>
                <a:spcPts val="0"/>
              </a:spcBef>
              <a:spcAft>
                <a:spcPts val="0"/>
              </a:spcAft>
              <a:buClr>
                <a:schemeClr val="accent2"/>
              </a:buClr>
              <a:buSzPts val="3200"/>
              <a:buFont typeface="Times New Roman"/>
              <a:buNone/>
            </a:pP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of no interaction is rejected, we do not interpret the result of the hypotheses involving the main effects.  This is because the interaction clouds the interpretation of the main effects.</a:t>
            </a:r>
            <a:endParaRPr sz="3200" dirty="0">
              <a:solidFill>
                <a:schemeClr val="tx1"/>
              </a:solidFill>
              <a:latin typeface="Times New Roman" panose="02020603050405020304" pitchFamily="18" charset="0"/>
              <a:cs typeface="Times New Roman" panose="02020603050405020304" pitchFamily="18" charset="0"/>
            </a:endParaRPr>
          </a:p>
        </p:txBody>
      </p:sp>
      <p:sp>
        <p:nvSpPr>
          <p:cNvPr id="658" name="Google Shape;658;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106</a:t>
            </a:fld>
            <a:endParaRPr/>
          </a:p>
        </p:txBody>
      </p:sp>
    </p:spTree>
    <p:extLst>
      <p:ext uri="{BB962C8B-B14F-4D97-AF65-F5344CB8AC3E}">
        <p14:creationId xmlns:p14="http://schemas.microsoft.com/office/powerpoint/2010/main" val="3815714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399" y="1135062"/>
            <a:ext cx="8839200" cy="3539430"/>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In a previous example, we presented data for an experimental drug that was meant to increase HDL cholesterol. The data are represented in Table 13 for convenience.</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107</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Examining a Two-Way ANOVA</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7)</a:t>
            </a:r>
            <a:endParaRPr i="1" dirty="0"/>
          </a:p>
        </p:txBody>
      </p:sp>
      <p:pic>
        <p:nvPicPr>
          <p:cNvPr id="3" name="Picture 2" descr="A screenshot of a cell phone&#10;&#10;Description automatically generated">
            <a:extLst>
              <a:ext uri="{FF2B5EF4-FFF2-40B4-BE49-F238E27FC236}">
                <a16:creationId xmlns:a16="http://schemas.microsoft.com/office/drawing/2014/main" id="{5DE792B4-00C9-44EF-A588-A52875ABB37D}"/>
              </a:ext>
            </a:extLst>
          </p:cNvPr>
          <p:cNvPicPr>
            <a:picLocks noChangeAspect="1"/>
          </p:cNvPicPr>
          <p:nvPr/>
        </p:nvPicPr>
        <p:blipFill>
          <a:blip r:embed="rId3"/>
          <a:stretch>
            <a:fillRect/>
          </a:stretch>
        </p:blipFill>
        <p:spPr>
          <a:xfrm>
            <a:off x="1489434" y="3228361"/>
            <a:ext cx="6372520" cy="1779234"/>
          </a:xfrm>
          <a:prstGeom prst="rect">
            <a:avLst/>
          </a:prstGeom>
        </p:spPr>
      </p:pic>
    </p:spTree>
    <p:extLst>
      <p:ext uri="{BB962C8B-B14F-4D97-AF65-F5344CB8AC3E}">
        <p14:creationId xmlns:p14="http://schemas.microsoft.com/office/powerpoint/2010/main" val="3707671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3154710"/>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HDL cholesterol levels are known to have a distribution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that is approximately normal. Verify that the largest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sample standard deviation of any cell is no more than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twice the smallest sample standard deviation of any cell.</a:t>
            </a:r>
          </a:p>
          <a:p>
            <a:endParaRPr lang="en-US" sz="9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The descriptive statistics from Minitab are shown in the figure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 partial printout). </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108</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Examining a Two-Way ANOVA</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7)</a:t>
            </a:r>
            <a:endParaRPr i="1" dirty="0"/>
          </a:p>
        </p:txBody>
      </p:sp>
      <p:pic>
        <p:nvPicPr>
          <p:cNvPr id="4" name="Picture 3" descr="A screenshot of a cell phone&#10;&#10;Description automatically generated">
            <a:extLst>
              <a:ext uri="{FF2B5EF4-FFF2-40B4-BE49-F238E27FC236}">
                <a16:creationId xmlns:a16="http://schemas.microsoft.com/office/drawing/2014/main" id="{853DF3D0-DB8A-4D16-A8C1-A1ACCCE98501}"/>
              </a:ext>
            </a:extLst>
          </p:cNvPr>
          <p:cNvPicPr>
            <a:picLocks noChangeAspect="1"/>
          </p:cNvPicPr>
          <p:nvPr/>
        </p:nvPicPr>
        <p:blipFill>
          <a:blip r:embed="rId3"/>
          <a:stretch>
            <a:fillRect/>
          </a:stretch>
        </p:blipFill>
        <p:spPr>
          <a:xfrm>
            <a:off x="2224112" y="3886442"/>
            <a:ext cx="4695775" cy="22597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135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2092881"/>
          </a:xfrm>
          <a:prstGeom prst="rect">
            <a:avLst/>
          </a:prstGeom>
        </p:spPr>
        <p:txBody>
          <a:bodyPr wrap="square">
            <a:spAutoFit/>
          </a:bodyPr>
          <a:lstStyle/>
          <a:p>
            <a:r>
              <a:rPr lang="en-US" sz="2600" b="1" dirty="0">
                <a:latin typeface="Times New Roman" panose="02020603050405020304" pitchFamily="18" charset="0"/>
                <a:cs typeface="Times New Roman" panose="02020603050405020304" pitchFamily="18" charset="0"/>
              </a:rPr>
              <a:t>(a)</a:t>
            </a:r>
          </a:p>
          <a:p>
            <a:r>
              <a:rPr lang="en-US" sz="2600" dirty="0">
                <a:latin typeface="Times New Roman" panose="02020603050405020304" pitchFamily="18" charset="0"/>
                <a:cs typeface="Times New Roman" panose="02020603050405020304" pitchFamily="18" charset="0"/>
              </a:rPr>
              <a:t>      The largest sample standard deviation, 2.65 mg/dL, is not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twice as large as the smallest sample standard deviation,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1.528 mg/dL, so the requirement of equal population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variances is satisfied.</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109</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Examining a Two-Way ANOVA</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7)</a:t>
            </a:r>
            <a:endParaRPr i="1" dirty="0"/>
          </a:p>
        </p:txBody>
      </p:sp>
      <p:pic>
        <p:nvPicPr>
          <p:cNvPr id="8" name="Picture 7" descr="A screenshot of a cell phone&#10;&#10;Description automatically generated">
            <a:extLst>
              <a:ext uri="{FF2B5EF4-FFF2-40B4-BE49-F238E27FC236}">
                <a16:creationId xmlns:a16="http://schemas.microsoft.com/office/drawing/2014/main" id="{19F07664-A04F-43EF-B760-B00C4D86BE58}"/>
              </a:ext>
            </a:extLst>
          </p:cNvPr>
          <p:cNvPicPr>
            <a:picLocks noChangeAspect="1"/>
          </p:cNvPicPr>
          <p:nvPr/>
        </p:nvPicPr>
        <p:blipFill>
          <a:blip r:embed="rId3"/>
          <a:stretch>
            <a:fillRect/>
          </a:stretch>
        </p:blipFill>
        <p:spPr>
          <a:xfrm>
            <a:off x="2224112" y="3886442"/>
            <a:ext cx="4695775" cy="22597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8097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5093702"/>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(b) </a:t>
            </a:r>
            <a:r>
              <a:rPr lang="en-US" sz="2800" dirty="0">
                <a:latin typeface="Times New Roman" panose="02020603050405020304" pitchFamily="18" charset="0"/>
                <a:cs typeface="Times New Roman" panose="02020603050405020304" pitchFamily="18" charset="0"/>
              </a:rPr>
              <a:t>Test whether there is an interaction effect between the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drug dosage and age.</a:t>
            </a:r>
          </a:p>
          <a:p>
            <a:endParaRPr lang="en-US" sz="9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First test the hypotheses</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there is no interaction between drug dosage and age</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l</a:t>
            </a:r>
            <a:r>
              <a:rPr lang="en-US" sz="2600" dirty="0">
                <a:latin typeface="Times New Roman" panose="02020603050405020304" pitchFamily="18" charset="0"/>
                <a:cs typeface="Times New Roman" panose="02020603050405020304" pitchFamily="18" charset="0"/>
              </a:rPr>
              <a:t>: there is an interaction between drug dosage and age</a:t>
            </a:r>
          </a:p>
          <a:p>
            <a:r>
              <a:rPr lang="en-US" sz="2600" dirty="0">
                <a:latin typeface="Times New Roman" panose="02020603050405020304" pitchFamily="18" charset="0"/>
                <a:cs typeface="Times New Roman" panose="02020603050405020304" pitchFamily="18" charset="0"/>
              </a:rPr>
              <a:t>      Enter the data into Minitab. Let column 1 represent the drug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dosage; so enter 1 if the observation is from the placebo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group, 2 if the observation is from 5 mg, and so on. Let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column 2 represent the age and enter 1 for 18- to 39-year-</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olds</a:t>
            </a:r>
            <a:r>
              <a:rPr lang="en-US" sz="2600" dirty="0">
                <a:latin typeface="Times New Roman" panose="02020603050405020304" pitchFamily="18" charset="0"/>
                <a:cs typeface="Times New Roman" panose="02020603050405020304" pitchFamily="18" charset="0"/>
              </a:rPr>
              <a:t> and 2 for 40 or older. Column 3 gets the value of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response variable, increase in HDL cholesterol. The results of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two-way ANOVA appear in the figure on the next slide.</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110</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Examining a Two-Way ANOVA</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7)</a:t>
            </a:r>
            <a:endParaRPr i="1" dirty="0"/>
          </a:p>
        </p:txBody>
      </p:sp>
    </p:spTree>
    <p:extLst>
      <p:ext uri="{BB962C8B-B14F-4D97-AF65-F5344CB8AC3E}">
        <p14:creationId xmlns:p14="http://schemas.microsoft.com/office/powerpoint/2010/main" val="473839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fade">
                                      <p:cBhvr>
                                        <p:cTn id="10" dur="500"/>
                                        <p:tgtEl>
                                          <p:spTgt spid="6">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Effect transition="in" filter="fade">
                                      <p:cBhvr>
                                        <p:cTn id="13" dur="500"/>
                                        <p:tgtEl>
                                          <p:spTgt spid="6">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5139869"/>
          </a:xfrm>
          <a:prstGeom prst="rect">
            <a:avLst/>
          </a:prstGeom>
        </p:spPr>
        <p:txBody>
          <a:bodyPr wrap="square">
            <a:spAutoFit/>
          </a:bodyPr>
          <a:lstStyle/>
          <a:p>
            <a:r>
              <a:rPr lang="en-US" sz="2600" b="1" dirty="0">
                <a:latin typeface="Times New Roman" panose="02020603050405020304" pitchFamily="18" charset="0"/>
                <a:cs typeface="Times New Roman" panose="02020603050405020304" pitchFamily="18" charset="0"/>
              </a:rPr>
              <a:t>(b)</a:t>
            </a:r>
          </a:p>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the interaction effect is 0.370.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large, so we do not reject the null hypothesis and conclude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that there is no interaction effect.</a:t>
            </a:r>
            <a:endParaRPr lang="en-US" sz="2600" b="1" dirty="0">
              <a:latin typeface="Times New Roman" panose="02020603050405020304" pitchFamily="18" charset="0"/>
              <a:cs typeface="Times New Roman" panose="02020603050405020304" pitchFamily="18" charset="0"/>
            </a:endParaRP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111</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Examining a Two-Way ANOVA</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7)</a:t>
            </a:r>
            <a:endParaRPr i="1" dirty="0"/>
          </a:p>
        </p:txBody>
      </p:sp>
      <p:pic>
        <p:nvPicPr>
          <p:cNvPr id="3" name="Picture 2" descr="A screenshot of a cell phone&#10;&#10;Description automatically generated">
            <a:extLst>
              <a:ext uri="{FF2B5EF4-FFF2-40B4-BE49-F238E27FC236}">
                <a16:creationId xmlns:a16="http://schemas.microsoft.com/office/drawing/2014/main" id="{FFC46E54-249B-4AEE-833C-94DA0BA28FCE}"/>
              </a:ext>
            </a:extLst>
          </p:cNvPr>
          <p:cNvPicPr>
            <a:picLocks noChangeAspect="1"/>
          </p:cNvPicPr>
          <p:nvPr/>
        </p:nvPicPr>
        <p:blipFill>
          <a:blip r:embed="rId3"/>
          <a:stretch>
            <a:fillRect/>
          </a:stretch>
        </p:blipFill>
        <p:spPr>
          <a:xfrm>
            <a:off x="1320020" y="1853671"/>
            <a:ext cx="6503959" cy="26361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9864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9" end="9"/>
                                            </p:txEl>
                                          </p:spTgt>
                                        </p:tgtEl>
                                        <p:attrNameLst>
                                          <p:attrName>style.visibility</p:attrName>
                                        </p:attrNameLst>
                                      </p:cBhvr>
                                      <p:to>
                                        <p:strVal val="visible"/>
                                      </p:to>
                                    </p:set>
                                    <p:animEffect transition="in" filter="fade">
                                      <p:cBhvr>
                                        <p:cTn id="7"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5078313"/>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If the null hypothesis of no interaction is not rejected,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determine whether there is sufficient evidence to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conclude that the mean increase in HDL cholesterol is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different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among each drug dosage group, (ii) for each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age group.</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Now test the hypothesis regarding the main effect, drug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dosage, which is</a:t>
            </a:r>
          </a:p>
          <a:p>
            <a:r>
              <a:rPr lang="pt-BR" sz="2600" i="1" dirty="0">
                <a:latin typeface="Times New Roman" panose="02020603050405020304" pitchFamily="18" charset="0"/>
                <a:cs typeface="Times New Roman" panose="02020603050405020304" pitchFamily="18" charset="0"/>
              </a:rPr>
              <a:t>	H</a:t>
            </a:r>
            <a:r>
              <a:rPr lang="pt-BR" sz="2600" baseline="-25000" dirty="0">
                <a:latin typeface="Times New Roman" panose="02020603050405020304" pitchFamily="18" charset="0"/>
                <a:cs typeface="Times New Roman" panose="02020603050405020304" pitchFamily="18" charset="0"/>
              </a:rPr>
              <a:t>0</a:t>
            </a:r>
            <a:r>
              <a:rPr lang="pt-BR" sz="2600" dirty="0">
                <a:latin typeface="Times New Roman" panose="02020603050405020304" pitchFamily="18" charset="0"/>
                <a:cs typeface="Times New Roman" panose="02020603050405020304" pitchFamily="18" charset="0"/>
              </a:rPr>
              <a:t>: </a:t>
            </a:r>
            <a:r>
              <a:rPr lang="pt-BR" sz="2600" i="1" dirty="0">
                <a:latin typeface="Times New Roman" panose="02020603050405020304" pitchFamily="18" charset="0"/>
                <a:cs typeface="Times New Roman" panose="02020603050405020304" pitchFamily="18" charset="0"/>
                <a:sym typeface="Symbol" panose="05050102010706020507" pitchFamily="18" charset="2"/>
              </a:rPr>
              <a:t></a:t>
            </a:r>
            <a:r>
              <a:rPr lang="pt-BR" sz="2600" baseline="-25000" dirty="0">
                <a:latin typeface="Times New Roman" panose="02020603050405020304" pitchFamily="18" charset="0"/>
                <a:cs typeface="Times New Roman" panose="02020603050405020304" pitchFamily="18" charset="0"/>
              </a:rPr>
              <a:t>placebo</a:t>
            </a:r>
            <a:r>
              <a:rPr lang="pt-BR" sz="2600" dirty="0">
                <a:latin typeface="Times New Roman" panose="02020603050405020304" pitchFamily="18" charset="0"/>
                <a:cs typeface="Times New Roman" panose="02020603050405020304" pitchFamily="18" charset="0"/>
              </a:rPr>
              <a:t> = </a:t>
            </a:r>
            <a:r>
              <a:rPr lang="pt-BR" sz="2600" i="1" dirty="0">
                <a:latin typeface="Times New Roman" panose="02020603050405020304" pitchFamily="18" charset="0"/>
                <a:cs typeface="Times New Roman" panose="02020603050405020304" pitchFamily="18" charset="0"/>
                <a:sym typeface="Symbol" panose="05050102010706020507" pitchFamily="18" charset="2"/>
              </a:rPr>
              <a:t></a:t>
            </a:r>
            <a:r>
              <a:rPr lang="pt-BR" sz="2600" baseline="-25000" dirty="0">
                <a:latin typeface="Times New Roman" panose="02020603050405020304" pitchFamily="18" charset="0"/>
                <a:cs typeface="Times New Roman" panose="02020603050405020304" pitchFamily="18" charset="0"/>
              </a:rPr>
              <a:t>5 mg </a:t>
            </a:r>
            <a:r>
              <a:rPr lang="pt-BR" sz="2600" dirty="0">
                <a:latin typeface="Times New Roman" panose="02020603050405020304" pitchFamily="18" charset="0"/>
                <a:cs typeface="Times New Roman" panose="02020603050405020304" pitchFamily="18" charset="0"/>
              </a:rPr>
              <a:t>= </a:t>
            </a:r>
            <a:r>
              <a:rPr lang="pt-BR" sz="2600" i="1" dirty="0">
                <a:latin typeface="Times New Roman" panose="02020603050405020304" pitchFamily="18" charset="0"/>
                <a:cs typeface="Times New Roman" panose="02020603050405020304" pitchFamily="18" charset="0"/>
                <a:sym typeface="Symbol" panose="05050102010706020507" pitchFamily="18" charset="2"/>
              </a:rPr>
              <a:t></a:t>
            </a:r>
            <a:r>
              <a:rPr lang="pt-BR" sz="2600" baseline="-25000" dirty="0">
                <a:latin typeface="Times New Roman" panose="02020603050405020304" pitchFamily="18" charset="0"/>
                <a:cs typeface="Times New Roman" panose="02020603050405020304" pitchFamily="18" charset="0"/>
              </a:rPr>
              <a:t>10 mg</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l</a:t>
            </a:r>
            <a:r>
              <a:rPr lang="en-US" sz="2600" dirty="0">
                <a:latin typeface="Times New Roman" panose="02020603050405020304" pitchFamily="18" charset="0"/>
                <a:cs typeface="Times New Roman" panose="02020603050405020304" pitchFamily="18" charset="0"/>
              </a:rPr>
              <a:t>: at least one of the means differs</a:t>
            </a:r>
          </a:p>
          <a:p>
            <a:r>
              <a:rPr lang="en-US" sz="2600" dirty="0">
                <a:latin typeface="Times New Roman" panose="02020603050405020304" pitchFamily="18" charset="0"/>
                <a:cs typeface="Times New Roman" panose="02020603050405020304" pitchFamily="18" charset="0"/>
              </a:rPr>
              <a:t>      and the hypothesis regarding the main effect, age, which is</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a:t>
            </a:r>
            <a:r>
              <a:rPr lang="pt-BR"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18-39</a:t>
            </a:r>
            <a:r>
              <a:rPr lang="en-US" sz="2600" dirty="0">
                <a:latin typeface="Times New Roman" panose="02020603050405020304" pitchFamily="18" charset="0"/>
                <a:cs typeface="Times New Roman" panose="02020603050405020304" pitchFamily="18" charset="0"/>
              </a:rPr>
              <a:t> = </a:t>
            </a:r>
            <a:r>
              <a:rPr lang="pt-BR"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40 or older   </a:t>
            </a:r>
            <a:r>
              <a:rPr lang="en-US" sz="2600" dirty="0">
                <a:latin typeface="Times New Roman" panose="02020603050405020304" pitchFamily="18" charset="0"/>
                <a:cs typeface="Times New Roman" panose="02020603050405020304" pitchFamily="18" charset="0"/>
              </a:rPr>
              <a:t>versus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l</a:t>
            </a:r>
            <a:r>
              <a:rPr lang="en-US" sz="2600" dirty="0">
                <a:latin typeface="Times New Roman" panose="02020603050405020304" pitchFamily="18" charset="0"/>
                <a:cs typeface="Times New Roman" panose="02020603050405020304" pitchFamily="18" charset="0"/>
              </a:rPr>
              <a:t>: the means differ</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112</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Examining a Two-Way ANOVA</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(6 of 7)</a:t>
            </a:r>
            <a:endParaRPr i="1" dirty="0"/>
          </a:p>
        </p:txBody>
      </p:sp>
    </p:spTree>
    <p:extLst>
      <p:ext uri="{BB962C8B-B14F-4D97-AF65-F5344CB8AC3E}">
        <p14:creationId xmlns:p14="http://schemas.microsoft.com/office/powerpoint/2010/main" val="710740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500"/>
                                        <p:tgtEl>
                                          <p:spTgt spid="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fade">
                                      <p:cBhvr>
                                        <p:cTn id="13" dur="500"/>
                                        <p:tgtEl>
                                          <p:spTgt spid="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500"/>
                                        <p:tgtEl>
                                          <p:spTgt spid="6">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fade">
                                      <p:cBhvr>
                                        <p:cTn id="21"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4893647"/>
          </a:xfrm>
          <a:prstGeom prst="rect">
            <a:avLst/>
          </a:prstGeom>
        </p:spPr>
        <p:txBody>
          <a:bodyPr wrap="square">
            <a:spAutoFit/>
          </a:bodyPr>
          <a:lstStyle/>
          <a:p>
            <a:r>
              <a:rPr lang="en-US" sz="2600" b="1" dirty="0">
                <a:latin typeface="Times New Roman" panose="02020603050405020304" pitchFamily="18" charset="0"/>
                <a:cs typeface="Times New Roman" panose="02020603050405020304" pitchFamily="18" charset="0"/>
              </a:rPr>
              <a:t>(c) </a:t>
            </a:r>
            <a:br>
              <a:rPr lang="en-US" sz="26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drug dosage is 0.000. The small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taken as evidence against the null hypothesis. We conclude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that at least one of the mean increases in HDL is different for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different levels of drug dosage. Therefore, the level of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drug dosage is a significant contributor to explaining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increase in HDL cholesterol.</a:t>
            </a:r>
          </a:p>
          <a:p>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age is given as 0.086. Because this is greater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than the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level of significance, do not reject the null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hypothesis and conclude that the mean increase in HDL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cholesterol does not change with age.</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113</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Examining a Two-Way ANOVA</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(7 of 7)</a:t>
            </a:r>
            <a:endParaRPr i="1" dirty="0"/>
          </a:p>
        </p:txBody>
      </p:sp>
    </p:spTree>
    <p:extLst>
      <p:ext uri="{BB962C8B-B14F-4D97-AF65-F5344CB8AC3E}">
        <p14:creationId xmlns:p14="http://schemas.microsoft.com/office/powerpoint/2010/main" val="1269872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4154984"/>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Verify the normality requirement for the HDL data analyzed in the previous example.</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figure from</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Minitab shows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normal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probability plot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of the residuals. </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114</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Verifying the Normality Requirement in</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2)                      </a:t>
            </a:r>
            <a:r>
              <a:rPr lang="en-US" sz="2400" i="1" dirty="0">
                <a:solidFill>
                  <a:schemeClr val="dk1"/>
                </a:solidFill>
              </a:rPr>
              <a:t>a Two-Way Analysis of Variance</a:t>
            </a:r>
            <a:endParaRPr i="1" dirty="0"/>
          </a:p>
        </p:txBody>
      </p:sp>
      <p:pic>
        <p:nvPicPr>
          <p:cNvPr id="3" name="Picture 2" descr="A close up of a map&#10;&#10;Description automatically generated">
            <a:extLst>
              <a:ext uri="{FF2B5EF4-FFF2-40B4-BE49-F238E27FC236}">
                <a16:creationId xmlns:a16="http://schemas.microsoft.com/office/drawing/2014/main" id="{A86294DB-9147-4867-8773-AAC4E65825A9}"/>
              </a:ext>
            </a:extLst>
          </p:cNvPr>
          <p:cNvPicPr>
            <a:picLocks noChangeAspect="1"/>
          </p:cNvPicPr>
          <p:nvPr/>
        </p:nvPicPr>
        <p:blipFill rotWithShape="1">
          <a:blip r:embed="rId3"/>
          <a:srcRect t="1745"/>
          <a:stretch/>
        </p:blipFill>
        <p:spPr>
          <a:xfrm>
            <a:off x="2843413" y="2259580"/>
            <a:ext cx="5978504" cy="3990707"/>
          </a:xfrm>
          <a:prstGeom prst="rect">
            <a:avLst/>
          </a:prstGeom>
        </p:spPr>
      </p:pic>
    </p:spTree>
    <p:extLst>
      <p:ext uri="{BB962C8B-B14F-4D97-AF65-F5344CB8AC3E}">
        <p14:creationId xmlns:p14="http://schemas.microsoft.com/office/powerpoint/2010/main" val="10725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fade">
                                      <p:cBhvr>
                                        <p:cTn id="7" dur="500"/>
                                        <p:tgtEl>
                                          <p:spTgt spid="6">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3293209"/>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Because the residuals all lie within the confidence bands, the normality requirement is satisfied.</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If we use StatCrunch to assess normality of the residuals, we find the correlation between the residuals and expected </a:t>
            </a:r>
            <a:r>
              <a:rPr lang="en-US" sz="2600" i="1" dirty="0">
                <a:latin typeface="Times New Roman" panose="02020603050405020304" pitchFamily="18" charset="0"/>
                <a:cs typeface="Times New Roman" panose="02020603050405020304" pitchFamily="18" charset="0"/>
              </a:rPr>
              <a:t>z</a:t>
            </a:r>
            <a:r>
              <a:rPr lang="en-US" sz="2600" dirty="0">
                <a:latin typeface="Times New Roman" panose="02020603050405020304" pitchFamily="18" charset="0"/>
                <a:cs typeface="Times New Roman" panose="02020603050405020304" pitchFamily="18" charset="0"/>
              </a:rPr>
              <a:t>-scores is 0.981. Because 0.981 &gt; 0.946 (critical value from Table VI with </a:t>
            </a:r>
            <a:r>
              <a:rPr lang="en-US" sz="2600" i="1" dirty="0">
                <a:latin typeface="Times New Roman" panose="02020603050405020304" pitchFamily="18" charset="0"/>
                <a:cs typeface="Times New Roman" panose="02020603050405020304" pitchFamily="18" charset="0"/>
              </a:rPr>
              <a:t>n </a:t>
            </a:r>
            <a:r>
              <a:rPr lang="en-US" sz="2600" dirty="0">
                <a:latin typeface="Times New Roman" panose="02020603050405020304" pitchFamily="18" charset="0"/>
                <a:cs typeface="Times New Roman" panose="02020603050405020304" pitchFamily="18" charset="0"/>
              </a:rPr>
              <a:t>= 18), it is reasonable to conclude the residuals are normally distributed.</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115</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83920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Verifying the Normality Requirement in</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2)                      </a:t>
            </a:r>
            <a:r>
              <a:rPr lang="en-US" sz="2400" i="1" dirty="0">
                <a:solidFill>
                  <a:schemeClr val="dk1"/>
                </a:solidFill>
              </a:rPr>
              <a:t>a Two-Way Analysis of Variance</a:t>
            </a:r>
            <a:endParaRPr i="1" dirty="0"/>
          </a:p>
        </p:txBody>
      </p:sp>
    </p:spTree>
    <p:extLst>
      <p:ext uri="{BB962C8B-B14F-4D97-AF65-F5344CB8AC3E}">
        <p14:creationId xmlns:p14="http://schemas.microsoft.com/office/powerpoint/2010/main" val="834679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9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2</a:t>
            </a:r>
            <a:endParaRPr/>
          </a:p>
        </p:txBody>
      </p:sp>
      <p:sp>
        <p:nvSpPr>
          <p:cNvPr id="698" name="Google Shape;698;p97"/>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Draw Interaction Plots</a:t>
            </a:r>
            <a:endParaRPr dirty="0"/>
          </a:p>
        </p:txBody>
      </p:sp>
      <p:sp>
        <p:nvSpPr>
          <p:cNvPr id="699" name="Google Shape;699;p9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116</a:t>
            </a:fld>
            <a:endParaRPr/>
          </a:p>
        </p:txBody>
      </p:sp>
    </p:spTree>
    <p:extLst>
      <p:ext uri="{BB962C8B-B14F-4D97-AF65-F5344CB8AC3E}">
        <p14:creationId xmlns:p14="http://schemas.microsoft.com/office/powerpoint/2010/main" val="1911951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5" name="Rectangle 4">
            <a:extLst>
              <a:ext uri="{FF2B5EF4-FFF2-40B4-BE49-F238E27FC236}">
                <a16:creationId xmlns:a16="http://schemas.microsoft.com/office/drawing/2014/main" id="{A484FDAA-F1D2-4AE0-9A0F-9BEE34443C2F}"/>
              </a:ext>
            </a:extLst>
          </p:cNvPr>
          <p:cNvSpPr/>
          <p:nvPr/>
        </p:nvSpPr>
        <p:spPr>
          <a:xfrm>
            <a:off x="296944" y="273055"/>
            <a:ext cx="8611389" cy="5767284"/>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Google Shape;704;p98"/>
          <p:cNvSpPr txBox="1">
            <a:spLocks noGrp="1"/>
          </p:cNvSpPr>
          <p:nvPr>
            <p:ph type="body" idx="1"/>
          </p:nvPr>
        </p:nvSpPr>
        <p:spPr>
          <a:xfrm>
            <a:off x="296944" y="817661"/>
            <a:ext cx="8229600" cy="4968679"/>
          </a:xfrm>
          <a:prstGeom prst="rect">
            <a:avLst/>
          </a:prstGeom>
          <a:noFill/>
          <a:ln>
            <a:noFill/>
          </a:ln>
        </p:spPr>
        <p:txBody>
          <a:bodyPr spcFirstLastPara="1" wrap="square" lIns="91425" tIns="45700" rIns="91425" bIns="45700" anchor="t" anchorCtr="0">
            <a:noAutofit/>
          </a:bodyPr>
          <a:lstStyle/>
          <a:p>
            <a:pPr marL="114300" indent="0">
              <a:buNone/>
            </a:pPr>
            <a:r>
              <a:rPr lang="en-US" sz="2800" b="1" i="1" dirty="0">
                <a:latin typeface="Times New Roman" panose="02020603050405020304" pitchFamily="18" charset="0"/>
                <a:cs typeface="Times New Roman" panose="02020603050405020304" pitchFamily="18" charset="0"/>
              </a:rPr>
              <a:t>Step 1 </a:t>
            </a:r>
            <a:r>
              <a:rPr lang="en-US" sz="2800" dirty="0">
                <a:latin typeface="Times New Roman" panose="02020603050405020304" pitchFamily="18" charset="0"/>
                <a:cs typeface="Times New Roman" panose="02020603050405020304" pitchFamily="18" charset="0"/>
              </a:rPr>
              <a:t>Compute the mean value of the response variable within each cell.</a:t>
            </a:r>
          </a:p>
          <a:p>
            <a:pPr marL="114300" indent="0">
              <a:buNone/>
            </a:pPr>
            <a:endParaRPr lang="en-US" sz="800" b="1" i="1" dirty="0">
              <a:latin typeface="Times New Roman" panose="02020603050405020304" pitchFamily="18" charset="0"/>
              <a:cs typeface="Times New Roman" panose="02020603050405020304" pitchFamily="18" charset="0"/>
            </a:endParaRPr>
          </a:p>
          <a:p>
            <a:pPr marL="114300" indent="0">
              <a:buNone/>
            </a:pPr>
            <a:r>
              <a:rPr lang="en-US" sz="2800" b="1" i="1" dirty="0">
                <a:latin typeface="Times New Roman" panose="02020603050405020304" pitchFamily="18" charset="0"/>
                <a:cs typeface="Times New Roman" panose="02020603050405020304" pitchFamily="18" charset="0"/>
              </a:rPr>
              <a:t>Step 2 </a:t>
            </a:r>
            <a:r>
              <a:rPr lang="en-US" sz="2800" dirty="0">
                <a:latin typeface="Times New Roman" panose="02020603050405020304" pitchFamily="18" charset="0"/>
                <a:cs typeface="Times New Roman" panose="02020603050405020304" pitchFamily="18" charset="0"/>
              </a:rPr>
              <a:t>In a Cartesian plane, label the horizontal axis for each level of factor A. Let the vertical axis represent the mean value of the response variable. For each level of factor A, plot the mean value of the response variable for each level of factor B. Draw straight lines connecting the points for the common level of factor B. You should have as many lines as there are levels of factor B. The more difference there is in the slopes of the lines, the stronger the evidence of interaction.</a:t>
            </a:r>
            <a:endParaRPr sz="2800" dirty="0">
              <a:solidFill>
                <a:schemeClr val="tx1"/>
              </a:solidFill>
              <a:latin typeface="Times New Roman" panose="02020603050405020304" pitchFamily="18" charset="0"/>
              <a:cs typeface="Times New Roman" panose="02020603050405020304" pitchFamily="18" charset="0"/>
            </a:endParaRPr>
          </a:p>
        </p:txBody>
      </p:sp>
      <p:sp>
        <p:nvSpPr>
          <p:cNvPr id="705" name="Google Shape;705;p98"/>
          <p:cNvSpPr txBox="1"/>
          <p:nvPr/>
        </p:nvSpPr>
        <p:spPr>
          <a:xfrm>
            <a:off x="391212" y="189757"/>
            <a:ext cx="8229600" cy="8382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4400"/>
              <a:buFont typeface="Times New Roman"/>
              <a:buNone/>
            </a:pPr>
            <a:r>
              <a:rPr lang="en-US" sz="3600" b="1" i="0" u="none" dirty="0">
                <a:solidFill>
                  <a:schemeClr val="tx1"/>
                </a:solidFill>
                <a:latin typeface="+mn-lt"/>
                <a:ea typeface="Times New Roman"/>
                <a:cs typeface="Times New Roman"/>
                <a:sym typeface="Times New Roman"/>
              </a:rPr>
              <a:t>Constructing Interaction Plots</a:t>
            </a:r>
            <a:endParaRPr sz="3600" dirty="0">
              <a:solidFill>
                <a:schemeClr val="tx1"/>
              </a:solidFill>
              <a:latin typeface="+mn-lt"/>
            </a:endParaRPr>
          </a:p>
        </p:txBody>
      </p:sp>
      <p:sp>
        <p:nvSpPr>
          <p:cNvPr id="706" name="Google Shape;706;p9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117</a:t>
            </a:fld>
            <a:endParaRPr/>
          </a:p>
        </p:txBody>
      </p:sp>
    </p:spTree>
    <p:extLst>
      <p:ext uri="{BB962C8B-B14F-4D97-AF65-F5344CB8AC3E}">
        <p14:creationId xmlns:p14="http://schemas.microsoft.com/office/powerpoint/2010/main" val="3160412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4">
                                            <p:txEl>
                                              <p:pRg st="0" end="0"/>
                                            </p:txEl>
                                          </p:spTgt>
                                        </p:tgtEl>
                                        <p:attrNameLst>
                                          <p:attrName>style.visibility</p:attrName>
                                        </p:attrNameLst>
                                      </p:cBhvr>
                                      <p:to>
                                        <p:strVal val="visible"/>
                                      </p:to>
                                    </p:set>
                                    <p:animEffect transition="in" filter="fade">
                                      <p:cBhvr>
                                        <p:cTn id="7" dur="500"/>
                                        <p:tgtEl>
                                          <p:spTgt spid="7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4">
                                            <p:txEl>
                                              <p:pRg st="2" end="2"/>
                                            </p:txEl>
                                          </p:spTgt>
                                        </p:tgtEl>
                                        <p:attrNameLst>
                                          <p:attrName>style.visibility</p:attrName>
                                        </p:attrNameLst>
                                      </p:cBhvr>
                                      <p:to>
                                        <p:strVal val="visible"/>
                                      </p:to>
                                    </p:set>
                                    <p:animEffect transition="in" filter="fade">
                                      <p:cBhvr>
                                        <p:cTn id="12" dur="500"/>
                                        <p:tgtEl>
                                          <p:spTgt spid="70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954107"/>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Draw an interaction plot for the data from a previous example, which is shown again below.</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118</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Drawing an Interaction Plot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5)</a:t>
            </a:r>
            <a:endParaRPr i="1" dirty="0"/>
          </a:p>
        </p:txBody>
      </p:sp>
      <p:pic>
        <p:nvPicPr>
          <p:cNvPr id="3" name="Picture 2" descr="A screenshot of a cell phone&#10;&#10;Description automatically generated">
            <a:extLst>
              <a:ext uri="{FF2B5EF4-FFF2-40B4-BE49-F238E27FC236}">
                <a16:creationId xmlns:a16="http://schemas.microsoft.com/office/drawing/2014/main" id="{6925D3A5-D364-41D4-99D8-E403D81AD3A8}"/>
              </a:ext>
            </a:extLst>
          </p:cNvPr>
          <p:cNvPicPr>
            <a:picLocks noChangeAspect="1"/>
          </p:cNvPicPr>
          <p:nvPr/>
        </p:nvPicPr>
        <p:blipFill>
          <a:blip r:embed="rId3"/>
          <a:stretch>
            <a:fillRect/>
          </a:stretch>
        </p:blipFill>
        <p:spPr>
          <a:xfrm>
            <a:off x="794374" y="2089169"/>
            <a:ext cx="7123190" cy="1988824"/>
          </a:xfrm>
          <a:prstGeom prst="rect">
            <a:avLst/>
          </a:prstGeom>
        </p:spPr>
      </p:pic>
    </p:spTree>
    <p:extLst>
      <p:ext uri="{BB962C8B-B14F-4D97-AF65-F5344CB8AC3E}">
        <p14:creationId xmlns:p14="http://schemas.microsoft.com/office/powerpoint/2010/main" val="1215463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1292662"/>
          </a:xfrm>
          <a:prstGeom prst="rect">
            <a:avLst/>
          </a:prstGeom>
        </p:spPr>
        <p:txBody>
          <a:bodyPr wrap="square">
            <a:spAutoFit/>
          </a:bodyPr>
          <a:lstStyle/>
          <a:p>
            <a:r>
              <a:rPr lang="en-US" sz="2600" b="1" dirty="0">
                <a:latin typeface="+mn-lt"/>
                <a:cs typeface="Times New Roman" panose="02020603050405020304" pitchFamily="18" charset="0"/>
              </a:rPr>
              <a:t>By Hand Solution</a:t>
            </a:r>
          </a:p>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Table 14 shows the mean value of the response</a:t>
            </a:r>
          </a:p>
          <a:p>
            <a:r>
              <a:rPr lang="en-US" sz="2600" dirty="0">
                <a:latin typeface="Times New Roman" panose="02020603050405020304" pitchFamily="18" charset="0"/>
                <a:cs typeface="Times New Roman" panose="02020603050405020304" pitchFamily="18" charset="0"/>
              </a:rPr>
              <a:t>variable for each cell.</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119</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Drawing an Interaction Plot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5)</a:t>
            </a:r>
            <a:endParaRPr i="1" dirty="0"/>
          </a:p>
        </p:txBody>
      </p:sp>
      <p:pic>
        <p:nvPicPr>
          <p:cNvPr id="4" name="Picture 3" descr="A screenshot of a cell phone&#10;&#10;Description automatically generated">
            <a:extLst>
              <a:ext uri="{FF2B5EF4-FFF2-40B4-BE49-F238E27FC236}">
                <a16:creationId xmlns:a16="http://schemas.microsoft.com/office/drawing/2014/main" id="{6B7787AB-8651-48D8-BC37-92C55C0BBAF2}"/>
              </a:ext>
            </a:extLst>
          </p:cNvPr>
          <p:cNvPicPr>
            <a:picLocks noChangeAspect="1"/>
          </p:cNvPicPr>
          <p:nvPr/>
        </p:nvPicPr>
        <p:blipFill>
          <a:blip r:embed="rId3"/>
          <a:stretch>
            <a:fillRect/>
          </a:stretch>
        </p:blipFill>
        <p:spPr>
          <a:xfrm>
            <a:off x="886905" y="2567034"/>
            <a:ext cx="6771145" cy="2628905"/>
          </a:xfrm>
          <a:prstGeom prst="rect">
            <a:avLst/>
          </a:prstGeom>
        </p:spPr>
      </p:pic>
    </p:spTree>
    <p:extLst>
      <p:ext uri="{BB962C8B-B14F-4D97-AF65-F5344CB8AC3E}">
        <p14:creationId xmlns:p14="http://schemas.microsoft.com/office/powerpoint/2010/main" val="3778549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2492990"/>
          </a:xfrm>
          <a:prstGeom prst="rect">
            <a:avLst/>
          </a:prstGeom>
        </p:spPr>
        <p:txBody>
          <a:bodyPr wrap="square">
            <a:spAutoFit/>
          </a:bodyPr>
          <a:lstStyle/>
          <a:p>
            <a:r>
              <a:rPr lang="en-US" sz="2600" b="1" dirty="0">
                <a:latin typeface="+mn-lt"/>
                <a:cs typeface="Times New Roman" panose="02020603050405020304" pitchFamily="18" charset="0"/>
              </a:rPr>
              <a:t>By Hand Solution</a:t>
            </a:r>
          </a:p>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Draw a Cartesian plane, label the horizontal axis Age, and indicate the levels 18 to 39 and 40 or older. The vertical axis is labeled as the response. For each age group, plot the mean values of the response variable for drug. Connect the points and label each line with its drug dosage.</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120</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Drawing an Interaction Plot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5)</a:t>
            </a:r>
            <a:endParaRPr i="1" dirty="0"/>
          </a:p>
        </p:txBody>
      </p:sp>
      <p:pic>
        <p:nvPicPr>
          <p:cNvPr id="8" name="Picture 7" descr="A screenshot of a cell phone&#10;&#10;Description automatically generated">
            <a:extLst>
              <a:ext uri="{FF2B5EF4-FFF2-40B4-BE49-F238E27FC236}">
                <a16:creationId xmlns:a16="http://schemas.microsoft.com/office/drawing/2014/main" id="{D8CC8AEE-ADE7-4960-B202-CBFD2F501278}"/>
              </a:ext>
            </a:extLst>
          </p:cNvPr>
          <p:cNvPicPr>
            <a:picLocks noChangeAspect="1"/>
          </p:cNvPicPr>
          <p:nvPr/>
        </p:nvPicPr>
        <p:blipFill>
          <a:blip r:embed="rId3"/>
          <a:stretch>
            <a:fillRect/>
          </a:stretch>
        </p:blipFill>
        <p:spPr>
          <a:xfrm>
            <a:off x="2433132" y="3628052"/>
            <a:ext cx="3977648" cy="2697485"/>
          </a:xfrm>
          <a:prstGeom prst="rect">
            <a:avLst/>
          </a:prstGeom>
        </p:spPr>
      </p:pic>
    </p:spTree>
    <p:extLst>
      <p:ext uri="{BB962C8B-B14F-4D97-AF65-F5344CB8AC3E}">
        <p14:creationId xmlns:p14="http://schemas.microsoft.com/office/powerpoint/2010/main" val="305923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1292662"/>
          </a:xfrm>
          <a:prstGeom prst="rect">
            <a:avLst/>
          </a:prstGeom>
        </p:spPr>
        <p:txBody>
          <a:bodyPr wrap="square">
            <a:spAutoFit/>
          </a:bodyPr>
          <a:lstStyle/>
          <a:p>
            <a:r>
              <a:rPr lang="en-US" sz="2600" b="1" dirty="0">
                <a:latin typeface="+mn-lt"/>
                <a:cs typeface="Times New Roman" panose="02020603050405020304" pitchFamily="18" charset="0"/>
              </a:rPr>
              <a:t>Technology Solution</a:t>
            </a:r>
          </a:p>
          <a:p>
            <a:r>
              <a:rPr lang="en-US" sz="2600" dirty="0">
                <a:latin typeface="Times New Roman" panose="02020603050405020304" pitchFamily="18" charset="0"/>
                <a:cs typeface="Times New Roman" panose="02020603050405020304" pitchFamily="18" charset="0"/>
              </a:rPr>
              <a:t>The figure shows the interaction plot from Minitab using the data.</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121</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Drawing an Interaction Plot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5)</a:t>
            </a:r>
            <a:endParaRPr i="1" dirty="0"/>
          </a:p>
        </p:txBody>
      </p:sp>
      <p:pic>
        <p:nvPicPr>
          <p:cNvPr id="3" name="Picture 2" descr="A screenshot of a social media post&#10;&#10;Description automatically generated">
            <a:extLst>
              <a:ext uri="{FF2B5EF4-FFF2-40B4-BE49-F238E27FC236}">
                <a16:creationId xmlns:a16="http://schemas.microsoft.com/office/drawing/2014/main" id="{FB613A00-467C-4B07-BD86-0D207A806D9E}"/>
              </a:ext>
            </a:extLst>
          </p:cNvPr>
          <p:cNvPicPr>
            <a:picLocks noChangeAspect="1"/>
          </p:cNvPicPr>
          <p:nvPr/>
        </p:nvPicPr>
        <p:blipFill>
          <a:blip r:embed="rId3"/>
          <a:stretch>
            <a:fillRect/>
          </a:stretch>
        </p:blipFill>
        <p:spPr>
          <a:xfrm>
            <a:off x="1831009" y="2427724"/>
            <a:ext cx="5707216" cy="3794551"/>
          </a:xfrm>
          <a:prstGeom prst="rect">
            <a:avLst/>
          </a:prstGeom>
        </p:spPr>
      </p:pic>
    </p:spTree>
    <p:extLst>
      <p:ext uri="{BB962C8B-B14F-4D97-AF65-F5344CB8AC3E}">
        <p14:creationId xmlns:p14="http://schemas.microsoft.com/office/powerpoint/2010/main" val="320835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135062"/>
            <a:ext cx="8839200" cy="4093428"/>
          </a:xfrm>
          <a:prstGeom prst="rect">
            <a:avLst/>
          </a:prstGeom>
        </p:spPr>
        <p:txBody>
          <a:bodyPr wrap="square">
            <a:spAutoFit/>
          </a:bodyPr>
          <a:lstStyle/>
          <a:p>
            <a:r>
              <a:rPr lang="en-US" sz="2600" dirty="0">
                <a:latin typeface="+mn-lt"/>
                <a:cs typeface="Times New Roman" panose="02020603050405020304" pitchFamily="18" charset="0"/>
              </a:rPr>
              <a:t>Interpretation </a:t>
            </a:r>
            <a:r>
              <a:rPr lang="en-US" sz="2600" dirty="0">
                <a:latin typeface="Times New Roman" panose="02020603050405020304" pitchFamily="18" charset="0"/>
                <a:cs typeface="Times New Roman" panose="02020603050405020304" pitchFamily="18" charset="0"/>
              </a:rPr>
              <a:t>When interpreting interaction plots, look at the level of parallelism among the lines. The more parallel the lines seem to be, the stronger the visual evidence is of no interaction.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From the figures shown, the roughly parallel lines verify our</a:t>
            </a:r>
          </a:p>
          <a:p>
            <a:r>
              <a:rPr lang="en-US" sz="2600" dirty="0">
                <a:latin typeface="Times New Roman" panose="02020603050405020304" pitchFamily="18" charset="0"/>
                <a:cs typeface="Times New Roman" panose="02020603050405020304" pitchFamily="18" charset="0"/>
              </a:rPr>
              <a:t>conclusion of no interaction. Another bit of information that can be learned from the interaction plot is the effect age has on the response variable, change in HDL. Notice that change in HDL decreases as age increases. The increase in HDL cholesterol is largest for the 10-mg dose and smallest for the placebo.</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122</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Drawing an Interaction Plot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5)</a:t>
            </a:r>
            <a:endParaRPr i="1" dirty="0"/>
          </a:p>
        </p:txBody>
      </p:sp>
    </p:spTree>
    <p:extLst>
      <p:ext uri="{BB962C8B-B14F-4D97-AF65-F5344CB8AC3E}">
        <p14:creationId xmlns:p14="http://schemas.microsoft.com/office/powerpoint/2010/main" val="2486844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fade">
                                      <p:cBhvr>
                                        <p:cTn id="10"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467412" y="220533"/>
            <a:ext cx="8209175" cy="3693319"/>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Some interaction plots are shown in the figure, where A</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and A</a:t>
            </a:r>
            <a:r>
              <a:rPr lang="en-US" sz="2600" baseline="-25000" dirty="0">
                <a:latin typeface="Times New Roman" panose="02020603050405020304" pitchFamily="18" charset="0"/>
                <a:cs typeface="Times New Roman" panose="02020603050405020304" pitchFamily="18" charset="0"/>
              </a:rPr>
              <a:t>3</a:t>
            </a:r>
            <a:r>
              <a:rPr lang="en-US" sz="2600" dirty="0">
                <a:latin typeface="Times New Roman" panose="02020603050405020304" pitchFamily="18" charset="0"/>
                <a:cs typeface="Times New Roman" panose="02020603050405020304" pitchFamily="18" charset="0"/>
              </a:rPr>
              <a:t> represent three levels of factor A, and B</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B</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and B</a:t>
            </a:r>
            <a:r>
              <a:rPr lang="en-US" sz="2600" baseline="-25000" dirty="0">
                <a:latin typeface="Times New Roman" panose="02020603050405020304" pitchFamily="18" charset="0"/>
                <a:cs typeface="Times New Roman" panose="02020603050405020304" pitchFamily="18" charset="0"/>
              </a:rPr>
              <a:t>3</a:t>
            </a:r>
            <a:r>
              <a:rPr lang="en-US" sz="2600" dirty="0">
                <a:latin typeface="Times New Roman" panose="02020603050405020304" pitchFamily="18" charset="0"/>
                <a:cs typeface="Times New Roman" panose="02020603050405020304" pitchFamily="18" charset="0"/>
              </a:rPr>
              <a:t> represent three levels of factor B. Remember, although the interaction plots are meant to help us visualize the interaction (just as boxplots allow us to visualize differences among treatments in one-way ANOVA), they are not meant to be used to test for interaction. We can test for interaction by looking at the </a:t>
            </a:r>
            <a:r>
              <a:rPr lang="en-US" sz="2600" i="1" dirty="0">
                <a:latin typeface="Times New Roman" panose="02020603050405020304" pitchFamily="18" charset="0"/>
                <a:cs typeface="Times New Roman" panose="02020603050405020304" pitchFamily="18" charset="0"/>
              </a:rPr>
              <a:t>F</a:t>
            </a:r>
            <a:r>
              <a:rPr lang="en-US" sz="2600" dirty="0">
                <a:latin typeface="Times New Roman" panose="02020603050405020304" pitchFamily="18" charset="0"/>
                <a:cs typeface="Times New Roman" panose="02020603050405020304" pitchFamily="18" charset="0"/>
              </a:rPr>
              <a:t>-test statistic and its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interaction in the ANOVA.</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123</a:t>
            </a:fld>
            <a:endParaRPr/>
          </a:p>
        </p:txBody>
      </p:sp>
      <p:pic>
        <p:nvPicPr>
          <p:cNvPr id="3" name="Picture 2" descr="A close up of a map&#10;&#10;Description automatically generated">
            <a:extLst>
              <a:ext uri="{FF2B5EF4-FFF2-40B4-BE49-F238E27FC236}">
                <a16:creationId xmlns:a16="http://schemas.microsoft.com/office/drawing/2014/main" id="{50446CFB-1380-4CA8-A2DE-C7A33C9E81EE}"/>
              </a:ext>
            </a:extLst>
          </p:cNvPr>
          <p:cNvPicPr>
            <a:picLocks noChangeAspect="1"/>
          </p:cNvPicPr>
          <p:nvPr/>
        </p:nvPicPr>
        <p:blipFill>
          <a:blip r:embed="rId3"/>
          <a:stretch>
            <a:fillRect/>
          </a:stretch>
        </p:blipFill>
        <p:spPr>
          <a:xfrm>
            <a:off x="532611" y="3913852"/>
            <a:ext cx="8358426" cy="2417098"/>
          </a:xfrm>
          <a:prstGeom prst="rect">
            <a:avLst/>
          </a:prstGeom>
        </p:spPr>
      </p:pic>
    </p:spTree>
    <p:extLst>
      <p:ext uri="{BB962C8B-B14F-4D97-AF65-F5344CB8AC3E}">
        <p14:creationId xmlns:p14="http://schemas.microsoft.com/office/powerpoint/2010/main" val="4203668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6" name="Rectangle 5">
            <a:extLst>
              <a:ext uri="{FF2B5EF4-FFF2-40B4-BE49-F238E27FC236}">
                <a16:creationId xmlns:a16="http://schemas.microsoft.com/office/drawing/2014/main" id="{8BA8EA1C-A908-4B93-A4EA-05260B9DB435}"/>
              </a:ext>
            </a:extLst>
          </p:cNvPr>
          <p:cNvSpPr/>
          <p:nvPr/>
        </p:nvSpPr>
        <p:spPr>
          <a:xfrm>
            <a:off x="152400" y="1059646"/>
            <a:ext cx="8839200" cy="5478423"/>
          </a:xfrm>
          <a:prstGeom prst="rect">
            <a:avLst/>
          </a:prstGeom>
        </p:spPr>
        <p:txBody>
          <a:bodyPr wrap="square">
            <a:spAutoFit/>
          </a:bodyPr>
          <a:lstStyle/>
          <a:p>
            <a:r>
              <a:rPr lang="en-US" sz="2500" dirty="0">
                <a:latin typeface="Times New Roman" panose="02020603050405020304" pitchFamily="18" charset="0"/>
                <a:cs typeface="Times New Roman" panose="02020603050405020304" pitchFamily="18" charset="0"/>
              </a:rPr>
              <a:t>An educational psychologist conducts an experiment to determine whether varying the conditions in which learning and testing take place affects test results. She randomly selects 20 students who are unfamiliar with the Battle at Gettysburg from the Civil War. After presenting the material to the students and allowing them ample time to study, the students are given an exam. Ten of the students receive the lecture in a large lecture hall and 10 receive the lecture in a small classroom (both lectures have the same instructor). Of the students in the large lecture hall, five take the exam in the same large lecture hall, and five take the exam in a small classroom. Of the students in the small classroom, five take the exam in a large lecture hall and five take the exam in the same small classroom. The experimental design is, therefore, a 2 </a:t>
            </a:r>
            <a:r>
              <a:rPr lang="en-US" sz="2500" dirty="0">
                <a:latin typeface="Times New Roman" panose="02020603050405020304" pitchFamily="18" charset="0"/>
                <a:cs typeface="Times New Roman" panose="02020603050405020304" pitchFamily="18" charset="0"/>
                <a:sym typeface="Symbol" panose="05050102010706020507" pitchFamily="18" charset="2"/>
              </a:rPr>
              <a:t></a:t>
            </a:r>
            <a:r>
              <a:rPr lang="en-US" sz="2500" dirty="0">
                <a:latin typeface="Times New Roman" panose="02020603050405020304" pitchFamily="18" charset="0"/>
                <a:cs typeface="Times New Roman" panose="02020603050405020304" pitchFamily="18" charset="0"/>
              </a:rPr>
              <a:t> 2 factorial design with five replications in each cell. </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124</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Analyzing a </a:t>
            </a:r>
            <a:r>
              <a:rPr lang="en-US" sz="2400" dirty="0">
                <a:solidFill>
                  <a:schemeClr val="dk1"/>
                </a:solidFill>
              </a:rPr>
              <a:t>2 </a:t>
            </a:r>
            <a:r>
              <a:rPr lang="en-US" sz="2400" dirty="0">
                <a:solidFill>
                  <a:schemeClr val="dk1"/>
                </a:solidFill>
                <a:sym typeface="Symbol" panose="05050102010706020507" pitchFamily="18" charset="2"/>
              </a:rPr>
              <a:t></a:t>
            </a:r>
            <a:r>
              <a:rPr lang="en-US" sz="2400" dirty="0">
                <a:solidFill>
                  <a:schemeClr val="dk1"/>
                </a:solidFill>
              </a:rPr>
              <a:t> 2</a:t>
            </a:r>
            <a:r>
              <a:rPr lang="en-US" sz="2400" i="1" dirty="0">
                <a:solidFill>
                  <a:schemeClr val="dk1"/>
                </a:solidFill>
              </a:rPr>
              <a:t> Factorial Design</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5)</a:t>
            </a:r>
            <a:endParaRPr i="1" dirty="0"/>
          </a:p>
        </p:txBody>
      </p:sp>
    </p:spTree>
    <p:extLst>
      <p:ext uri="{BB962C8B-B14F-4D97-AF65-F5344CB8AC3E}">
        <p14:creationId xmlns:p14="http://schemas.microsoft.com/office/powerpoint/2010/main" val="1450285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4" name="Rectangle 3">
            <a:extLst>
              <a:ext uri="{FF2B5EF4-FFF2-40B4-BE49-F238E27FC236}">
                <a16:creationId xmlns:a16="http://schemas.microsoft.com/office/drawing/2014/main" id="{E9D0A1E8-6430-44BC-B916-2A610F2F3FE5}"/>
              </a:ext>
            </a:extLst>
          </p:cNvPr>
          <p:cNvSpPr/>
          <p:nvPr/>
        </p:nvSpPr>
        <p:spPr>
          <a:xfrm>
            <a:off x="152399" y="1131367"/>
            <a:ext cx="8746503" cy="5262979"/>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 table gives the scores for each student. </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Preliminary analysis indicates that the requirements for conducting a two-way ANOVA are satisfied. Test whether there is an interaction effect between the lecture location and exam location. Draw an interaction plot to confirm your results.</a:t>
            </a:r>
          </a:p>
        </p:txBody>
      </p:sp>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125</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Analyzing a </a:t>
            </a:r>
            <a:r>
              <a:rPr lang="en-US" sz="2400" dirty="0">
                <a:solidFill>
                  <a:schemeClr val="dk1"/>
                </a:solidFill>
              </a:rPr>
              <a:t>2 </a:t>
            </a:r>
            <a:r>
              <a:rPr lang="en-US" sz="2400" dirty="0">
                <a:solidFill>
                  <a:schemeClr val="dk1"/>
                </a:solidFill>
                <a:sym typeface="Symbol" panose="05050102010706020507" pitchFamily="18" charset="2"/>
              </a:rPr>
              <a:t></a:t>
            </a:r>
            <a:r>
              <a:rPr lang="en-US" sz="2400" dirty="0">
                <a:solidFill>
                  <a:schemeClr val="dk1"/>
                </a:solidFill>
              </a:rPr>
              <a:t> 2</a:t>
            </a:r>
            <a:r>
              <a:rPr lang="en-US" sz="2400" i="1" dirty="0">
                <a:solidFill>
                  <a:schemeClr val="dk1"/>
                </a:solidFill>
              </a:rPr>
              <a:t> Factorial Design</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5)</a:t>
            </a:r>
            <a:endParaRPr i="1" dirty="0"/>
          </a:p>
        </p:txBody>
      </p:sp>
      <p:pic>
        <p:nvPicPr>
          <p:cNvPr id="3" name="Picture 2" descr="A screenshot of a cell phone&#10;&#10;Description automatically generated">
            <a:extLst>
              <a:ext uri="{FF2B5EF4-FFF2-40B4-BE49-F238E27FC236}">
                <a16:creationId xmlns:a16="http://schemas.microsoft.com/office/drawing/2014/main" id="{4D5B08C5-835B-4CD7-A037-CCA835D007B9}"/>
              </a:ext>
            </a:extLst>
          </p:cNvPr>
          <p:cNvPicPr>
            <a:picLocks noChangeAspect="1"/>
          </p:cNvPicPr>
          <p:nvPr/>
        </p:nvPicPr>
        <p:blipFill>
          <a:blip r:embed="rId3"/>
          <a:stretch>
            <a:fillRect/>
          </a:stretch>
        </p:blipFill>
        <p:spPr>
          <a:xfrm>
            <a:off x="990600" y="1866730"/>
            <a:ext cx="6693421" cy="1988824"/>
          </a:xfrm>
          <a:prstGeom prst="rect">
            <a:avLst/>
          </a:prstGeom>
        </p:spPr>
      </p:pic>
    </p:spTree>
    <p:extLst>
      <p:ext uri="{BB962C8B-B14F-4D97-AF65-F5344CB8AC3E}">
        <p14:creationId xmlns:p14="http://schemas.microsoft.com/office/powerpoint/2010/main" val="385432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126</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Analyzing a </a:t>
            </a:r>
            <a:r>
              <a:rPr lang="en-US" sz="2400" dirty="0">
                <a:solidFill>
                  <a:schemeClr val="dk1"/>
                </a:solidFill>
              </a:rPr>
              <a:t>2 </a:t>
            </a:r>
            <a:r>
              <a:rPr lang="en-US" sz="2400" dirty="0">
                <a:solidFill>
                  <a:schemeClr val="dk1"/>
                </a:solidFill>
                <a:sym typeface="Symbol" panose="05050102010706020507" pitchFamily="18" charset="2"/>
              </a:rPr>
              <a:t></a:t>
            </a:r>
            <a:r>
              <a:rPr lang="en-US" sz="2400" dirty="0">
                <a:solidFill>
                  <a:schemeClr val="dk1"/>
                </a:solidFill>
              </a:rPr>
              <a:t> 2</a:t>
            </a:r>
            <a:r>
              <a:rPr lang="en-US" sz="2400" i="1" dirty="0">
                <a:solidFill>
                  <a:schemeClr val="dk1"/>
                </a:solidFill>
              </a:rPr>
              <a:t> Factorial Design</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5)</a:t>
            </a:r>
            <a:endParaRPr i="1" dirty="0"/>
          </a:p>
        </p:txBody>
      </p:sp>
      <p:sp>
        <p:nvSpPr>
          <p:cNvPr id="4" name="Rectangle 3">
            <a:extLst>
              <a:ext uri="{FF2B5EF4-FFF2-40B4-BE49-F238E27FC236}">
                <a16:creationId xmlns:a16="http://schemas.microsoft.com/office/drawing/2014/main" id="{E9D0A1E8-6430-44BC-B916-2A610F2F3FE5}"/>
              </a:ext>
            </a:extLst>
          </p:cNvPr>
          <p:cNvSpPr/>
          <p:nvPr/>
        </p:nvSpPr>
        <p:spPr>
          <a:xfrm>
            <a:off x="76200" y="1135062"/>
            <a:ext cx="8746503" cy="529375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figure shows the ANOVA from StatCrunch.</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for the interaction effect is 0.0032, indicating that there is a significant interaction effect between lecture location and exam location. Therefore, we will not test the main effects.</a:t>
            </a:r>
          </a:p>
        </p:txBody>
      </p:sp>
      <p:pic>
        <p:nvPicPr>
          <p:cNvPr id="6" name="Picture 5" descr="A screenshot of a cell phone&#10;&#10;Description automatically generated">
            <a:extLst>
              <a:ext uri="{FF2B5EF4-FFF2-40B4-BE49-F238E27FC236}">
                <a16:creationId xmlns:a16="http://schemas.microsoft.com/office/drawing/2014/main" id="{58AFE2F6-1573-44E6-92CA-FF2F609106F0}"/>
              </a:ext>
            </a:extLst>
          </p:cNvPr>
          <p:cNvPicPr>
            <a:picLocks noChangeAspect="1"/>
          </p:cNvPicPr>
          <p:nvPr/>
        </p:nvPicPr>
        <p:blipFill>
          <a:blip r:embed="rId3"/>
          <a:stretch>
            <a:fillRect/>
          </a:stretch>
        </p:blipFill>
        <p:spPr>
          <a:xfrm>
            <a:off x="1765140" y="1812254"/>
            <a:ext cx="5180086" cy="30449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5347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0" end="10"/>
                                            </p:txEl>
                                          </p:spTgt>
                                        </p:tgtEl>
                                        <p:attrNameLst>
                                          <p:attrName>style.visibility</p:attrName>
                                        </p:attrNameLst>
                                      </p:cBhvr>
                                      <p:to>
                                        <p:strVal val="visible"/>
                                      </p:to>
                                    </p:set>
                                    <p:animEffect transition="in" filter="fade">
                                      <p:cBhvr>
                                        <p:cTn id="7"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127</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Analyzing a </a:t>
            </a:r>
            <a:r>
              <a:rPr lang="en-US" sz="2400" dirty="0">
                <a:solidFill>
                  <a:schemeClr val="dk1"/>
                </a:solidFill>
              </a:rPr>
              <a:t>2 </a:t>
            </a:r>
            <a:r>
              <a:rPr lang="en-US" sz="2400" dirty="0">
                <a:solidFill>
                  <a:schemeClr val="dk1"/>
                </a:solidFill>
                <a:sym typeface="Symbol" panose="05050102010706020507" pitchFamily="18" charset="2"/>
              </a:rPr>
              <a:t></a:t>
            </a:r>
            <a:r>
              <a:rPr lang="en-US" sz="2400" dirty="0">
                <a:solidFill>
                  <a:schemeClr val="dk1"/>
                </a:solidFill>
              </a:rPr>
              <a:t> 2</a:t>
            </a:r>
            <a:r>
              <a:rPr lang="en-US" sz="2400" i="1" dirty="0">
                <a:solidFill>
                  <a:schemeClr val="dk1"/>
                </a:solidFill>
              </a:rPr>
              <a:t> Factorial Design</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5)</a:t>
            </a:r>
            <a:endParaRPr i="1" dirty="0"/>
          </a:p>
        </p:txBody>
      </p:sp>
      <p:sp>
        <p:nvSpPr>
          <p:cNvPr id="4" name="Rectangle 3">
            <a:extLst>
              <a:ext uri="{FF2B5EF4-FFF2-40B4-BE49-F238E27FC236}">
                <a16:creationId xmlns:a16="http://schemas.microsoft.com/office/drawing/2014/main" id="{E9D0A1E8-6430-44BC-B916-2A610F2F3FE5}"/>
              </a:ext>
            </a:extLst>
          </p:cNvPr>
          <p:cNvSpPr/>
          <p:nvPr/>
        </p:nvSpPr>
        <p:spPr>
          <a:xfrm>
            <a:off x="76200" y="1135062"/>
            <a:ext cx="8746503" cy="892552"/>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figure shows the interaction plot from StatCrunch, which confirms the results from the ANOVA.</a:t>
            </a:r>
          </a:p>
        </p:txBody>
      </p:sp>
      <p:pic>
        <p:nvPicPr>
          <p:cNvPr id="3" name="Picture 2" descr="A close up of a map&#10;&#10;Description automatically generated">
            <a:extLst>
              <a:ext uri="{FF2B5EF4-FFF2-40B4-BE49-F238E27FC236}">
                <a16:creationId xmlns:a16="http://schemas.microsoft.com/office/drawing/2014/main" id="{B203EC0B-592E-40EE-B355-C4177DD13326}"/>
              </a:ext>
            </a:extLst>
          </p:cNvPr>
          <p:cNvPicPr>
            <a:picLocks noChangeAspect="1"/>
          </p:cNvPicPr>
          <p:nvPr/>
        </p:nvPicPr>
        <p:blipFill>
          <a:blip r:embed="rId3"/>
          <a:stretch>
            <a:fillRect/>
          </a:stretch>
        </p:blipFill>
        <p:spPr>
          <a:xfrm>
            <a:off x="1662260" y="2229923"/>
            <a:ext cx="5819480" cy="3739346"/>
          </a:xfrm>
          <a:prstGeom prst="rect">
            <a:avLst/>
          </a:prstGeom>
        </p:spPr>
      </p:pic>
    </p:spTree>
    <p:extLst>
      <p:ext uri="{BB962C8B-B14F-4D97-AF65-F5344CB8AC3E}">
        <p14:creationId xmlns:p14="http://schemas.microsoft.com/office/powerpoint/2010/main" val="4015001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128</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Analyzing a </a:t>
            </a:r>
            <a:r>
              <a:rPr lang="en-US" sz="2400" dirty="0">
                <a:solidFill>
                  <a:schemeClr val="dk1"/>
                </a:solidFill>
              </a:rPr>
              <a:t>2 </a:t>
            </a:r>
            <a:r>
              <a:rPr lang="en-US" sz="2400" dirty="0">
                <a:solidFill>
                  <a:schemeClr val="dk1"/>
                </a:solidFill>
                <a:sym typeface="Symbol" panose="05050102010706020507" pitchFamily="18" charset="2"/>
              </a:rPr>
              <a:t></a:t>
            </a:r>
            <a:r>
              <a:rPr lang="en-US" sz="2400" dirty="0">
                <a:solidFill>
                  <a:schemeClr val="dk1"/>
                </a:solidFill>
              </a:rPr>
              <a:t> 2</a:t>
            </a:r>
            <a:r>
              <a:rPr lang="en-US" sz="2400" i="1" dirty="0">
                <a:solidFill>
                  <a:schemeClr val="dk1"/>
                </a:solidFill>
              </a:rPr>
              <a:t> Factorial Design</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5)</a:t>
            </a:r>
            <a:endParaRPr i="1" dirty="0"/>
          </a:p>
        </p:txBody>
      </p:sp>
      <p:sp>
        <p:nvSpPr>
          <p:cNvPr id="4" name="Rectangle 3">
            <a:extLst>
              <a:ext uri="{FF2B5EF4-FFF2-40B4-BE49-F238E27FC236}">
                <a16:creationId xmlns:a16="http://schemas.microsoft.com/office/drawing/2014/main" id="{E9D0A1E8-6430-44BC-B916-2A610F2F3FE5}"/>
              </a:ext>
            </a:extLst>
          </p:cNvPr>
          <p:cNvSpPr/>
          <p:nvPr/>
        </p:nvSpPr>
        <p:spPr>
          <a:xfrm>
            <a:off x="76200" y="1135062"/>
            <a:ext cx="8746503" cy="1692771"/>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interaction plot suggests that students perform best if they take their exams in the same classroom where their lecture was given. The two high means are the means for (large lecture, large exam) and (classroom lecture, classroom exam).</a:t>
            </a:r>
          </a:p>
        </p:txBody>
      </p:sp>
    </p:spTree>
    <p:extLst>
      <p:ext uri="{BB962C8B-B14F-4D97-AF65-F5344CB8AC3E}">
        <p14:creationId xmlns:p14="http://schemas.microsoft.com/office/powerpoint/2010/main" val="63660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10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3</a:t>
            </a:r>
            <a:endParaRPr/>
          </a:p>
        </p:txBody>
      </p:sp>
      <p:sp>
        <p:nvSpPr>
          <p:cNvPr id="742" name="Google Shape;742;p103"/>
          <p:cNvSpPr txBox="1">
            <a:spLocks noGrp="1"/>
          </p:cNvSpPr>
          <p:nvPr>
            <p:ph type="body" idx="1"/>
          </p:nvPr>
        </p:nvSpPr>
        <p:spPr>
          <a:xfrm>
            <a:off x="457200" y="15240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Perform the Tukey Test</a:t>
            </a:r>
            <a:endParaRPr dirty="0"/>
          </a:p>
        </p:txBody>
      </p:sp>
      <p:sp>
        <p:nvSpPr>
          <p:cNvPr id="743" name="Google Shape;743;p10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129</a:t>
            </a:fld>
            <a:endParaRPr/>
          </a:p>
        </p:txBody>
      </p:sp>
    </p:spTree>
    <p:extLst>
      <p:ext uri="{BB962C8B-B14F-4D97-AF65-F5344CB8AC3E}">
        <p14:creationId xmlns:p14="http://schemas.microsoft.com/office/powerpoint/2010/main" val="3435426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104"/>
          <p:cNvSpPr txBox="1"/>
          <p:nvPr/>
        </p:nvSpPr>
        <p:spPr>
          <a:xfrm>
            <a:off x="533400" y="393569"/>
            <a:ext cx="8386762" cy="5243660"/>
          </a:xfrm>
          <a:prstGeom prst="rect">
            <a:avLst/>
          </a:prstGeom>
          <a:noFill/>
          <a:ln>
            <a:noFill/>
          </a:ln>
        </p:spPr>
        <p:txBody>
          <a:bodyPr spcFirstLastPara="1" wrap="square" lIns="91425" tIns="45700" rIns="91425" bIns="45700" anchor="t" anchorCtr="0">
            <a:noAutofit/>
          </a:bodyPr>
          <a:lstStyle/>
          <a:p>
            <a:r>
              <a:rPr lang="en-US" sz="3000" dirty="0">
                <a:latin typeface="Times New Roman" panose="02020603050405020304" pitchFamily="18" charset="0"/>
                <a:cs typeface="Times New Roman" panose="02020603050405020304" pitchFamily="18" charset="0"/>
              </a:rPr>
              <a:t>Once the null hypothesis of equal population means for either factor is rejected, we determine which means differ significantly using Tukey’s test. The steps are identical to those presented for one-way ANOVA.</a:t>
            </a:r>
            <a:r>
              <a:rPr lang="en-US" sz="30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a:p>
            <a:r>
              <a:rPr lang="en-US" sz="3000" b="0" i="0" u="none" dirty="0">
                <a:solidFill>
                  <a:schemeClr val="dk1"/>
                </a:solidFill>
                <a:latin typeface="Times New Roman"/>
                <a:ea typeface="Times New Roman"/>
                <a:cs typeface="Times New Roman"/>
                <a:sym typeface="Times New Roman"/>
              </a:rPr>
              <a:t>However, the critical value is </a:t>
            </a:r>
            <a:r>
              <a:rPr lang="en-US" sz="3000" b="0" i="1" u="none" dirty="0">
                <a:solidFill>
                  <a:schemeClr val="dk1"/>
                </a:solidFill>
                <a:latin typeface="Times New Roman"/>
                <a:ea typeface="Times New Roman"/>
                <a:cs typeface="Times New Roman"/>
                <a:sym typeface="Times New Roman"/>
              </a:rPr>
              <a:t>q</a:t>
            </a:r>
            <a:r>
              <a:rPr lang="en-US" sz="3000" b="0" i="1" u="none" baseline="-25000" dirty="0">
                <a:solidFill>
                  <a:schemeClr val="dk1"/>
                </a:solidFill>
                <a:latin typeface="Times New Roman"/>
                <a:ea typeface="Times New Roman"/>
                <a:cs typeface="Times New Roman"/>
                <a:sym typeface="Times New Roman"/>
              </a:rPr>
              <a:t>α,</a:t>
            </a:r>
            <a:r>
              <a:rPr lang="en-US" sz="3000" b="0" i="1" u="none" baseline="-25000" dirty="0" err="1">
                <a:solidFill>
                  <a:schemeClr val="dk1"/>
                </a:solidFill>
                <a:latin typeface="Times New Roman"/>
                <a:ea typeface="Times New Roman"/>
                <a:cs typeface="Times New Roman"/>
                <a:sym typeface="Times New Roman"/>
              </a:rPr>
              <a:t>ν,k</a:t>
            </a:r>
            <a:r>
              <a:rPr lang="en-US" sz="3000" b="0" i="0" u="none" dirty="0">
                <a:solidFill>
                  <a:schemeClr val="dk1"/>
                </a:solidFill>
                <a:latin typeface="Times New Roman"/>
                <a:ea typeface="Times New Roman"/>
                <a:cs typeface="Times New Roman"/>
                <a:sym typeface="Times New Roman"/>
              </a:rPr>
              <a:t> , where</a:t>
            </a:r>
            <a:endParaRPr sz="3000" dirty="0"/>
          </a:p>
          <a:p>
            <a:pPr marL="457200" marR="0" lvl="0" indent="-457200" algn="l" rtl="0">
              <a:lnSpc>
                <a:spcPct val="100000"/>
              </a:lnSpc>
              <a:spcBef>
                <a:spcPts val="0"/>
              </a:spcBef>
              <a:spcAft>
                <a:spcPts val="0"/>
              </a:spcAft>
              <a:buClr>
                <a:schemeClr val="dk1"/>
              </a:buClr>
              <a:buSzPts val="3200"/>
              <a:buFont typeface="Arial" panose="020B0604020202020204" pitchFamily="34" charset="0"/>
              <a:buChar char="•"/>
            </a:pPr>
            <a:r>
              <a:rPr lang="en-US" sz="3000" b="0" i="1" u="none" dirty="0">
                <a:solidFill>
                  <a:schemeClr val="dk1"/>
                </a:solidFill>
                <a:latin typeface="Times New Roman"/>
                <a:ea typeface="Times New Roman"/>
                <a:cs typeface="Times New Roman"/>
                <a:sym typeface="Times New Roman"/>
              </a:rPr>
              <a:t>α </a:t>
            </a:r>
            <a:r>
              <a:rPr lang="en-US" sz="3000" b="0" i="0" u="none" dirty="0">
                <a:solidFill>
                  <a:schemeClr val="dk1"/>
                </a:solidFill>
                <a:latin typeface="Times New Roman"/>
                <a:ea typeface="Times New Roman"/>
                <a:cs typeface="Times New Roman"/>
                <a:sym typeface="Times New Roman"/>
              </a:rPr>
              <a:t>is the familywise error rate</a:t>
            </a:r>
            <a:endParaRPr lang="en-US" sz="3000" dirty="0">
              <a:ea typeface="Times New Roman"/>
            </a:endParaRPr>
          </a:p>
          <a:p>
            <a:pPr marL="457200" marR="0" lvl="0" indent="-457200" algn="l" rtl="0">
              <a:lnSpc>
                <a:spcPct val="100000"/>
              </a:lnSpc>
              <a:spcBef>
                <a:spcPts val="0"/>
              </a:spcBef>
              <a:spcAft>
                <a:spcPts val="0"/>
              </a:spcAft>
              <a:buClr>
                <a:schemeClr val="dk1"/>
              </a:buClr>
              <a:buSzPts val="3200"/>
              <a:buFont typeface="Arial" panose="020B0604020202020204" pitchFamily="34" charset="0"/>
              <a:buChar char="•"/>
            </a:pPr>
            <a:r>
              <a:rPr lang="en-US" sz="3000" b="0" i="1" u="none" dirty="0">
                <a:solidFill>
                  <a:schemeClr val="dk1"/>
                </a:solidFill>
                <a:latin typeface="Times New Roman"/>
                <a:ea typeface="Times New Roman"/>
                <a:cs typeface="Times New Roman"/>
                <a:sym typeface="Times New Roman"/>
              </a:rPr>
              <a:t>ν</a:t>
            </a:r>
            <a:r>
              <a:rPr lang="en-US" sz="3000" b="0" i="0" u="none" dirty="0">
                <a:solidFill>
                  <a:schemeClr val="dk1"/>
                </a:solidFill>
                <a:latin typeface="Times New Roman"/>
                <a:ea typeface="Times New Roman"/>
                <a:cs typeface="Times New Roman"/>
                <a:sym typeface="Times New Roman"/>
              </a:rPr>
              <a:t> = </a:t>
            </a:r>
            <a:r>
              <a:rPr lang="en-US" sz="3000" b="0" i="1" u="none" dirty="0">
                <a:solidFill>
                  <a:schemeClr val="dk1"/>
                </a:solidFill>
                <a:latin typeface="Times New Roman"/>
                <a:ea typeface="Times New Roman"/>
                <a:cs typeface="Times New Roman"/>
                <a:sym typeface="Times New Roman"/>
              </a:rPr>
              <a:t>N </a:t>
            </a:r>
            <a:r>
              <a:rPr lang="en-US" sz="3000" b="0" i="0" u="none" dirty="0">
                <a:solidFill>
                  <a:schemeClr val="dk1"/>
                </a:solidFill>
                <a:latin typeface="Times New Roman"/>
                <a:ea typeface="Times New Roman"/>
                <a:cs typeface="Times New Roman"/>
                <a:sym typeface="Times New Roman"/>
              </a:rPr>
              <a:t>–</a:t>
            </a:r>
            <a:r>
              <a:rPr lang="en-US" sz="3000" b="0" i="1" u="none" dirty="0">
                <a:solidFill>
                  <a:schemeClr val="dk1"/>
                </a:solidFill>
                <a:latin typeface="Times New Roman"/>
                <a:ea typeface="Times New Roman"/>
                <a:cs typeface="Times New Roman"/>
                <a:sym typeface="Times New Roman"/>
              </a:rPr>
              <a:t> ab </a:t>
            </a:r>
            <a:r>
              <a:rPr lang="en-US" sz="3000" b="0" i="0" u="none" dirty="0">
                <a:solidFill>
                  <a:schemeClr val="dk1"/>
                </a:solidFill>
                <a:latin typeface="Times New Roman"/>
                <a:ea typeface="Times New Roman"/>
                <a:cs typeface="Times New Roman"/>
                <a:sym typeface="Times New Roman"/>
              </a:rPr>
              <a:t>where </a:t>
            </a:r>
            <a:r>
              <a:rPr lang="en-US" sz="3000" b="0" i="1" u="none" dirty="0">
                <a:solidFill>
                  <a:schemeClr val="dk1"/>
                </a:solidFill>
                <a:latin typeface="Times New Roman"/>
                <a:ea typeface="Times New Roman"/>
                <a:cs typeface="Times New Roman"/>
                <a:sym typeface="Times New Roman"/>
              </a:rPr>
              <a:t>N</a:t>
            </a:r>
            <a:r>
              <a:rPr lang="en-US" sz="3000" b="0" i="0" u="none" dirty="0">
                <a:solidFill>
                  <a:schemeClr val="dk1"/>
                </a:solidFill>
                <a:latin typeface="Times New Roman"/>
                <a:ea typeface="Times New Roman"/>
                <a:cs typeface="Times New Roman"/>
                <a:sym typeface="Times New Roman"/>
              </a:rPr>
              <a:t> is the total sample size, </a:t>
            </a:r>
            <a:r>
              <a:rPr lang="en-US" sz="3000" b="0" i="1" u="none" dirty="0">
                <a:solidFill>
                  <a:schemeClr val="dk1"/>
                </a:solidFill>
                <a:latin typeface="Times New Roman"/>
                <a:ea typeface="Times New Roman"/>
                <a:cs typeface="Times New Roman"/>
                <a:sym typeface="Times New Roman"/>
              </a:rPr>
              <a:t>a</a:t>
            </a:r>
            <a:r>
              <a:rPr lang="en-US" sz="3000" b="0" i="0" u="none" dirty="0">
                <a:solidFill>
                  <a:schemeClr val="dk1"/>
                </a:solidFill>
                <a:latin typeface="Times New Roman"/>
                <a:ea typeface="Times New Roman"/>
                <a:cs typeface="Times New Roman"/>
                <a:sym typeface="Times New Roman"/>
              </a:rPr>
              <a:t> is the number of levels for factor A and </a:t>
            </a:r>
            <a:r>
              <a:rPr lang="en-US" sz="3000" b="0" i="1" u="none" dirty="0">
                <a:solidFill>
                  <a:schemeClr val="dk1"/>
                </a:solidFill>
                <a:latin typeface="Times New Roman"/>
                <a:ea typeface="Times New Roman"/>
                <a:cs typeface="Times New Roman"/>
                <a:sym typeface="Times New Roman"/>
              </a:rPr>
              <a:t>b</a:t>
            </a:r>
            <a:r>
              <a:rPr lang="en-US" sz="3000" b="0" i="0" u="none" dirty="0">
                <a:solidFill>
                  <a:schemeClr val="dk1"/>
                </a:solidFill>
                <a:latin typeface="Times New Roman"/>
                <a:ea typeface="Times New Roman"/>
                <a:cs typeface="Times New Roman"/>
                <a:sym typeface="Times New Roman"/>
              </a:rPr>
              <a:t> is the number of levels for factor B</a:t>
            </a:r>
            <a:endParaRPr lang="en-US" sz="3000" dirty="0">
              <a:ea typeface="Times New Roman"/>
            </a:endParaRPr>
          </a:p>
          <a:p>
            <a:pPr marL="457200" marR="0" lvl="0" indent="-457200" algn="l" rtl="0">
              <a:lnSpc>
                <a:spcPct val="100000"/>
              </a:lnSpc>
              <a:spcBef>
                <a:spcPts val="0"/>
              </a:spcBef>
              <a:spcAft>
                <a:spcPts val="0"/>
              </a:spcAft>
              <a:buClr>
                <a:schemeClr val="dk1"/>
              </a:buClr>
              <a:buSzPts val="3200"/>
              <a:buFont typeface="Arial" panose="020B0604020202020204" pitchFamily="34" charset="0"/>
              <a:buChar char="•"/>
            </a:pPr>
            <a:r>
              <a:rPr lang="en-US" sz="3000" b="0" i="1" u="none" dirty="0">
                <a:solidFill>
                  <a:schemeClr val="dk1"/>
                </a:solidFill>
                <a:latin typeface="Times New Roman"/>
                <a:ea typeface="Times New Roman"/>
                <a:cs typeface="Times New Roman"/>
                <a:sym typeface="Times New Roman"/>
              </a:rPr>
              <a:t>k</a:t>
            </a:r>
            <a:r>
              <a:rPr lang="en-US" sz="3000" b="0" i="0" u="none" dirty="0">
                <a:solidFill>
                  <a:schemeClr val="dk1"/>
                </a:solidFill>
                <a:latin typeface="Times New Roman"/>
                <a:ea typeface="Times New Roman"/>
                <a:cs typeface="Times New Roman"/>
                <a:sym typeface="Times New Roman"/>
              </a:rPr>
              <a:t> is the number of means being tested for the factor</a:t>
            </a:r>
            <a:endParaRPr sz="3000" dirty="0"/>
          </a:p>
          <a:p>
            <a:pPr marL="0" marR="0" lvl="0" indent="0" algn="l" rtl="0">
              <a:lnSpc>
                <a:spcPct val="100000"/>
              </a:lnSpc>
              <a:spcBef>
                <a:spcPts val="0"/>
              </a:spcBef>
              <a:spcAft>
                <a:spcPts val="0"/>
              </a:spcAft>
              <a:buNone/>
            </a:pPr>
            <a:endParaRPr sz="3000" b="0" i="0" u="none" dirty="0">
              <a:solidFill>
                <a:schemeClr val="dk1"/>
              </a:solidFill>
              <a:latin typeface="Times New Roman"/>
              <a:ea typeface="Times New Roman"/>
              <a:cs typeface="Times New Roman"/>
              <a:sym typeface="Times New Roman"/>
            </a:endParaRPr>
          </a:p>
        </p:txBody>
      </p:sp>
      <p:sp>
        <p:nvSpPr>
          <p:cNvPr id="749" name="Google Shape;749;p10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130</a:t>
            </a:fld>
            <a:endParaRPr/>
          </a:p>
        </p:txBody>
      </p:sp>
    </p:spTree>
    <p:extLst>
      <p:ext uri="{BB962C8B-B14F-4D97-AF65-F5344CB8AC3E}">
        <p14:creationId xmlns:p14="http://schemas.microsoft.com/office/powerpoint/2010/main" val="1414851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8">
                                            <p:txEl>
                                              <p:pRg st="1" end="1"/>
                                            </p:txEl>
                                          </p:spTgt>
                                        </p:tgtEl>
                                        <p:attrNameLst>
                                          <p:attrName>style.visibility</p:attrName>
                                        </p:attrNameLst>
                                      </p:cBhvr>
                                      <p:to>
                                        <p:strVal val="visible"/>
                                      </p:to>
                                    </p:set>
                                    <p:animEffect transition="in" filter="fade">
                                      <p:cBhvr>
                                        <p:cTn id="7" dur="500"/>
                                        <p:tgtEl>
                                          <p:spTgt spid="74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48">
                                            <p:txEl>
                                              <p:pRg st="2" end="2"/>
                                            </p:txEl>
                                          </p:spTgt>
                                        </p:tgtEl>
                                        <p:attrNameLst>
                                          <p:attrName>style.visibility</p:attrName>
                                        </p:attrNameLst>
                                      </p:cBhvr>
                                      <p:to>
                                        <p:strVal val="visible"/>
                                      </p:to>
                                    </p:set>
                                    <p:animEffect transition="in" filter="fade">
                                      <p:cBhvr>
                                        <p:cTn id="10" dur="500"/>
                                        <p:tgtEl>
                                          <p:spTgt spid="748">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48">
                                            <p:txEl>
                                              <p:pRg st="3" end="3"/>
                                            </p:txEl>
                                          </p:spTgt>
                                        </p:tgtEl>
                                        <p:attrNameLst>
                                          <p:attrName>style.visibility</p:attrName>
                                        </p:attrNameLst>
                                      </p:cBhvr>
                                      <p:to>
                                        <p:strVal val="visible"/>
                                      </p:to>
                                    </p:set>
                                    <p:animEffect transition="in" filter="fade">
                                      <p:cBhvr>
                                        <p:cTn id="13" dur="500"/>
                                        <p:tgtEl>
                                          <p:spTgt spid="748">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48">
                                            <p:txEl>
                                              <p:pRg st="4" end="4"/>
                                            </p:txEl>
                                          </p:spTgt>
                                        </p:tgtEl>
                                        <p:attrNameLst>
                                          <p:attrName>style.visibility</p:attrName>
                                        </p:attrNameLst>
                                      </p:cBhvr>
                                      <p:to>
                                        <p:strVal val="visible"/>
                                      </p:to>
                                    </p:set>
                                    <p:animEffect transition="in" filter="fade">
                                      <p:cBhvr>
                                        <p:cTn id="16" dur="500"/>
                                        <p:tgtEl>
                                          <p:spTgt spid="7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105"/>
          <p:cNvSpPr txBox="1"/>
          <p:nvPr/>
        </p:nvSpPr>
        <p:spPr>
          <a:xfrm>
            <a:off x="452437" y="228600"/>
            <a:ext cx="8386762" cy="54419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endParaRPr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The standard error is</a:t>
            </a:r>
            <a:endParaRPr sz="32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3200"/>
              <a:buFont typeface="Arial"/>
              <a:buNone/>
            </a:pPr>
            <a:endParaRPr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3200"/>
              <a:buFont typeface="Arial"/>
              <a:buNone/>
            </a:pPr>
            <a:endParaRPr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3200"/>
              <a:buFont typeface="Arial"/>
              <a:buNone/>
            </a:pPr>
            <a:endParaRPr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where </a:t>
            </a:r>
            <a:r>
              <a:rPr lang="en-US" sz="32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m</a:t>
            </a:r>
            <a:r>
              <a:rPr lang="en-US"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is the product of the number of levels for the factor and the number of observations within each cell. </a:t>
            </a:r>
            <a:endParaRPr sz="32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3200"/>
              <a:buFont typeface="Arial"/>
              <a:buNone/>
            </a:pPr>
            <a:endParaRPr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Clr>
                <a:schemeClr val="dk1"/>
              </a:buClr>
              <a:buSzPts val="3200"/>
              <a:buFont typeface="Arial"/>
              <a:buNone/>
            </a:pPr>
            <a:endParaRPr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00000"/>
              </a:lnSpc>
              <a:spcBef>
                <a:spcPts val="0"/>
              </a:spcBef>
              <a:spcAft>
                <a:spcPts val="0"/>
              </a:spcAft>
              <a:buNone/>
            </a:pPr>
            <a:endParaRPr sz="3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756" name="Google Shape;756;p10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131</a:t>
            </a:fld>
            <a:endParaRPr/>
          </a:p>
        </p:txBody>
      </p:sp>
      <p:graphicFrame>
        <p:nvGraphicFramePr>
          <p:cNvPr id="2" name="Object 1">
            <a:extLst>
              <a:ext uri="{FF2B5EF4-FFF2-40B4-BE49-F238E27FC236}">
                <a16:creationId xmlns:a16="http://schemas.microsoft.com/office/drawing/2014/main" id="{1CF098D2-499F-461B-9C24-4C56209EE5B0}"/>
              </a:ext>
            </a:extLst>
          </p:cNvPr>
          <p:cNvGraphicFramePr>
            <a:graphicFrameLocks noChangeAspect="1"/>
          </p:cNvGraphicFramePr>
          <p:nvPr>
            <p:extLst>
              <p:ext uri="{D42A27DB-BD31-4B8C-83A1-F6EECF244321}">
                <p14:modId xmlns:p14="http://schemas.microsoft.com/office/powerpoint/2010/main" val="2585673178"/>
              </p:ext>
            </p:extLst>
          </p:nvPr>
        </p:nvGraphicFramePr>
        <p:xfrm>
          <a:off x="3000211" y="1496128"/>
          <a:ext cx="1955800" cy="1066800"/>
        </p:xfrm>
        <a:graphic>
          <a:graphicData uri="http://schemas.openxmlformats.org/presentationml/2006/ole">
            <mc:AlternateContent xmlns:mc="http://schemas.openxmlformats.org/markup-compatibility/2006">
              <mc:Choice xmlns:v="urn:schemas-microsoft-com:vml" Requires="v">
                <p:oleObj spid="_x0000_s78880" name="Equation" r:id="rId4" imgW="1955520" imgH="1066680" progId="Equation.DSMT4">
                  <p:embed/>
                </p:oleObj>
              </mc:Choice>
              <mc:Fallback>
                <p:oleObj name="Equation" r:id="rId4" imgW="1955520" imgH="1066680" progId="Equation.DSMT4">
                  <p:embed/>
                  <p:pic>
                    <p:nvPicPr>
                      <p:cNvPr id="0" name=""/>
                      <p:cNvPicPr/>
                      <p:nvPr/>
                    </p:nvPicPr>
                    <p:blipFill>
                      <a:blip r:embed="rId5"/>
                      <a:stretch>
                        <a:fillRect/>
                      </a:stretch>
                    </p:blipFill>
                    <p:spPr>
                      <a:xfrm>
                        <a:off x="3000211" y="1496128"/>
                        <a:ext cx="1955800" cy="1066800"/>
                      </a:xfrm>
                      <a:prstGeom prst="rect">
                        <a:avLst/>
                      </a:prstGeom>
                    </p:spPr>
                  </p:pic>
                </p:oleObj>
              </mc:Fallback>
            </mc:AlternateContent>
          </a:graphicData>
        </a:graphic>
      </p:graphicFrame>
    </p:spTree>
    <p:extLst>
      <p:ext uri="{BB962C8B-B14F-4D97-AF65-F5344CB8AC3E}">
        <p14:creationId xmlns:p14="http://schemas.microsoft.com/office/powerpoint/2010/main" val="1723006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132</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Multiple Comparisons Using Tukey’s Test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4)</a:t>
            </a:r>
            <a:endParaRPr i="1" dirty="0"/>
          </a:p>
        </p:txBody>
      </p:sp>
      <p:sp>
        <p:nvSpPr>
          <p:cNvPr id="4" name="Rectangle 3">
            <a:extLst>
              <a:ext uri="{FF2B5EF4-FFF2-40B4-BE49-F238E27FC236}">
                <a16:creationId xmlns:a16="http://schemas.microsoft.com/office/drawing/2014/main" id="{E9D0A1E8-6430-44BC-B916-2A610F2F3FE5}"/>
              </a:ext>
            </a:extLst>
          </p:cNvPr>
          <p:cNvSpPr/>
          <p:nvPr/>
        </p:nvSpPr>
        <p:spPr>
          <a:xfrm>
            <a:off x="152399" y="1135062"/>
            <a:ext cx="8746503" cy="1815882"/>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Use statistical software to perform Tukey’s test to determine which pairwise means differ for the data presented in a previous example using a familywise error rate of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a:t>
            </a:r>
          </a:p>
        </p:txBody>
      </p:sp>
      <p:pic>
        <p:nvPicPr>
          <p:cNvPr id="3" name="Picture 2" descr="A screenshot of a cell phone&#10;&#10;Description automatically generated">
            <a:extLst>
              <a:ext uri="{FF2B5EF4-FFF2-40B4-BE49-F238E27FC236}">
                <a16:creationId xmlns:a16="http://schemas.microsoft.com/office/drawing/2014/main" id="{896FFF2C-758D-46BD-BFB3-A950FA63A263}"/>
              </a:ext>
            </a:extLst>
          </p:cNvPr>
          <p:cNvPicPr>
            <a:picLocks noChangeAspect="1"/>
          </p:cNvPicPr>
          <p:nvPr/>
        </p:nvPicPr>
        <p:blipFill>
          <a:blip r:embed="rId3"/>
          <a:stretch>
            <a:fillRect/>
          </a:stretch>
        </p:blipFill>
        <p:spPr>
          <a:xfrm>
            <a:off x="964055" y="3030610"/>
            <a:ext cx="7123190" cy="1988824"/>
          </a:xfrm>
          <a:prstGeom prst="rect">
            <a:avLst/>
          </a:prstGeom>
        </p:spPr>
      </p:pic>
    </p:spTree>
    <p:extLst>
      <p:ext uri="{BB962C8B-B14F-4D97-AF65-F5344CB8AC3E}">
        <p14:creationId xmlns:p14="http://schemas.microsoft.com/office/powerpoint/2010/main" val="292982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133</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Multiple Comparisons Using Tukey’s Test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4)</a:t>
            </a:r>
            <a:endParaRPr i="1" dirty="0"/>
          </a:p>
        </p:txBody>
      </p:sp>
      <p:sp>
        <p:nvSpPr>
          <p:cNvPr id="4" name="Rectangle 3">
            <a:extLst>
              <a:ext uri="{FF2B5EF4-FFF2-40B4-BE49-F238E27FC236}">
                <a16:creationId xmlns:a16="http://schemas.microsoft.com/office/drawing/2014/main" id="{E9D0A1E8-6430-44BC-B916-2A610F2F3FE5}"/>
              </a:ext>
            </a:extLst>
          </p:cNvPr>
          <p:cNvSpPr/>
          <p:nvPr/>
        </p:nvSpPr>
        <p:spPr>
          <a:xfrm>
            <a:off x="152399" y="1135062"/>
            <a:ext cx="8746503" cy="492443"/>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The figure shows the results of Tukey’s test using Minitab</a:t>
            </a:r>
            <a:r>
              <a:rPr lang="en-US" sz="260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p:txBody>
      </p:sp>
      <p:pic>
        <p:nvPicPr>
          <p:cNvPr id="6" name="Picture 5" descr="A screenshot of a social media post&#10;&#10;Description automatically generated">
            <a:extLst>
              <a:ext uri="{FF2B5EF4-FFF2-40B4-BE49-F238E27FC236}">
                <a16:creationId xmlns:a16="http://schemas.microsoft.com/office/drawing/2014/main" id="{9C28DAD1-4EC0-4F2E-8D24-830D7CC6E8CF}"/>
              </a:ext>
            </a:extLst>
          </p:cNvPr>
          <p:cNvPicPr>
            <a:picLocks noChangeAspect="1"/>
          </p:cNvPicPr>
          <p:nvPr/>
        </p:nvPicPr>
        <p:blipFill>
          <a:blip r:embed="rId3"/>
          <a:stretch>
            <a:fillRect/>
          </a:stretch>
        </p:blipFill>
        <p:spPr>
          <a:xfrm>
            <a:off x="116507" y="2644541"/>
            <a:ext cx="8818286" cy="2916258"/>
          </a:xfrm>
          <a:prstGeom prst="rect">
            <a:avLst/>
          </a:prstGeom>
        </p:spPr>
      </p:pic>
    </p:spTree>
    <p:extLst>
      <p:ext uri="{BB962C8B-B14F-4D97-AF65-F5344CB8AC3E}">
        <p14:creationId xmlns:p14="http://schemas.microsoft.com/office/powerpoint/2010/main" val="1163872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134</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Multiple Comparisons Using Tukey’s Test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4)</a:t>
            </a:r>
            <a:endParaRPr i="1" dirty="0"/>
          </a:p>
        </p:txBody>
      </p:sp>
      <p:sp>
        <p:nvSpPr>
          <p:cNvPr id="4" name="Rectangle 3">
            <a:extLst>
              <a:ext uri="{FF2B5EF4-FFF2-40B4-BE49-F238E27FC236}">
                <a16:creationId xmlns:a16="http://schemas.microsoft.com/office/drawing/2014/main" id="{E9D0A1E8-6430-44BC-B916-2A610F2F3FE5}"/>
              </a:ext>
            </a:extLst>
          </p:cNvPr>
          <p:cNvSpPr/>
          <p:nvPr/>
        </p:nvSpPr>
        <p:spPr>
          <a:xfrm>
            <a:off x="152399" y="1135062"/>
            <a:ext cx="8746503" cy="4093428"/>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For example, the confidence interval for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i="1" baseline="-25000" dirty="0">
                <a:latin typeface="Times New Roman" panose="02020603050405020304" pitchFamily="18" charset="0"/>
                <a:cs typeface="Times New Roman" panose="02020603050405020304" pitchFamily="18" charset="0"/>
              </a:rPr>
              <a:t>p</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5 mg </a:t>
            </a:r>
            <a:r>
              <a:rPr lang="en-US" sz="2600" dirty="0">
                <a:latin typeface="Times New Roman" panose="02020603050405020304" pitchFamily="18" charset="0"/>
                <a:cs typeface="Times New Roman" panose="02020603050405020304" pitchFamily="18" charset="0"/>
              </a:rPr>
              <a:t>does not contain 0 and is negative (lower bound: </a:t>
            </a:r>
            <a:r>
              <a:rPr lang="en-US" sz="2600" i="1"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7.2 mg/dL; upper bound: </a:t>
            </a:r>
            <a:r>
              <a:rPr lang="en-US" sz="2600" i="1"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1.1 mg/dL). Therefore, the mean increase in HDL cholesterol resulting from 5 mg of the drug is significantly greater than the mean increase due to the placebo.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confidence interval for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i="1" baseline="-25000" dirty="0">
                <a:latin typeface="Times New Roman" panose="02020603050405020304" pitchFamily="18" charset="0"/>
                <a:cs typeface="Times New Roman" panose="02020603050405020304" pitchFamily="18" charset="0"/>
              </a:rPr>
              <a:t>p</a:t>
            </a:r>
            <a:r>
              <a:rPr lang="en-US" sz="2600" i="1"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10 mg</a:t>
            </a:r>
            <a:r>
              <a:rPr lang="en-US" sz="2600" dirty="0">
                <a:latin typeface="Times New Roman" panose="02020603050405020304" pitchFamily="18" charset="0"/>
                <a:cs typeface="Times New Roman" panose="02020603050405020304" pitchFamily="18" charset="0"/>
              </a:rPr>
              <a:t> does not contain 0 and is negative. This indicates that the mean increase in HDL cholesterol resulting from 10 mg of the drug is also greater than the mean increase due to the placebo. </a:t>
            </a:r>
          </a:p>
        </p:txBody>
      </p:sp>
    </p:spTree>
    <p:extLst>
      <p:ext uri="{BB962C8B-B14F-4D97-AF65-F5344CB8AC3E}">
        <p14:creationId xmlns:p14="http://schemas.microsoft.com/office/powerpoint/2010/main" val="2353701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5" name="Google Shape;145;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13-</a:t>
            </a:r>
            <a:fld id="{00000000-1234-1234-1234-123412341234}" type="slidenum">
              <a:rPr lang="en-US" sz="1400" b="1" i="0" u="none">
                <a:solidFill>
                  <a:schemeClr val="lt1"/>
                </a:solidFill>
                <a:latin typeface="Verdana"/>
                <a:ea typeface="Verdana"/>
                <a:cs typeface="Verdana"/>
                <a:sym typeface="Verdana"/>
              </a:rPr>
              <a:t>135</a:t>
            </a:fld>
            <a:endParaRPr/>
          </a:p>
        </p:txBody>
      </p:sp>
      <p:sp>
        <p:nvSpPr>
          <p:cNvPr id="5" name="Google Shape;385;p59">
            <a:extLst>
              <a:ext uri="{FF2B5EF4-FFF2-40B4-BE49-F238E27FC236}">
                <a16:creationId xmlns:a16="http://schemas.microsoft.com/office/drawing/2014/main" id="{F560897A-B619-40F8-85E1-9A625C5FCD93}"/>
              </a:ext>
            </a:extLst>
          </p:cNvPr>
          <p:cNvSpPr txBox="1"/>
          <p:nvPr/>
        </p:nvSpPr>
        <p:spPr>
          <a:xfrm>
            <a:off x="152400" y="304800"/>
            <a:ext cx="8746503"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i="1" dirty="0">
                <a:solidFill>
                  <a:schemeClr val="dk1"/>
                </a:solidFill>
              </a:rPr>
              <a:t>Multiple Comparisons Using Tukey’s Test</a:t>
            </a:r>
            <a:endParaRPr lang="en-US" sz="2400" b="0" i="1"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4)</a:t>
            </a:r>
            <a:endParaRPr i="1" dirty="0"/>
          </a:p>
        </p:txBody>
      </p:sp>
      <p:sp>
        <p:nvSpPr>
          <p:cNvPr id="4" name="Rectangle 3">
            <a:extLst>
              <a:ext uri="{FF2B5EF4-FFF2-40B4-BE49-F238E27FC236}">
                <a16:creationId xmlns:a16="http://schemas.microsoft.com/office/drawing/2014/main" id="{E9D0A1E8-6430-44BC-B916-2A610F2F3FE5}"/>
              </a:ext>
            </a:extLst>
          </p:cNvPr>
          <p:cNvSpPr/>
          <p:nvPr/>
        </p:nvSpPr>
        <p:spPr>
          <a:xfrm>
            <a:off x="152399" y="1135062"/>
            <a:ext cx="8746503" cy="2092881"/>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Finally,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5 mg </a:t>
            </a:r>
            <a:r>
              <a:rPr lang="en-US" sz="2600" i="1"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10 mg</a:t>
            </a:r>
            <a:r>
              <a:rPr lang="en-US" sz="2600" dirty="0">
                <a:latin typeface="Times New Roman" panose="02020603050405020304" pitchFamily="18" charset="0"/>
                <a:cs typeface="Times New Roman" panose="02020603050405020304" pitchFamily="18" charset="0"/>
              </a:rPr>
              <a:t> shows that the interval also does not contain 0, so the mean increase in HDL is higher with 10 mg than with 5 mg of the drug. Notice that the pairwise comparisons for age contains zero because we did not reject the null hypothesis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18 </a:t>
            </a:r>
            <a:r>
              <a:rPr lang="en-US" sz="2600" i="1" baseline="-25000" dirty="0">
                <a:latin typeface="Times New Roman" panose="02020603050405020304" pitchFamily="18" charset="0"/>
                <a:cs typeface="Times New Roman" panose="02020603050405020304" pitchFamily="18" charset="0"/>
              </a:rPr>
              <a:t>–</a:t>
            </a:r>
            <a:r>
              <a:rPr lang="en-US" sz="2600" baseline="-25000" dirty="0">
                <a:latin typeface="Times New Roman" panose="02020603050405020304" pitchFamily="18" charset="0"/>
                <a:cs typeface="Times New Roman" panose="02020603050405020304" pitchFamily="18" charset="0"/>
              </a:rPr>
              <a:t> 39</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baseline="-25000" dirty="0">
                <a:latin typeface="Times New Roman" panose="02020603050405020304" pitchFamily="18" charset="0"/>
                <a:cs typeface="Times New Roman" panose="02020603050405020304" pitchFamily="18" charset="0"/>
              </a:rPr>
              <a:t>40</a:t>
            </a:r>
            <a:r>
              <a:rPr lang="en-US" sz="2600" dirty="0">
                <a:latin typeface="Times New Roman" panose="02020603050405020304" pitchFamily="18" charset="0"/>
                <a:cs typeface="Times New Roman" panose="02020603050405020304" pitchFamily="18" charset="0"/>
              </a:rPr>
              <a:t> or older for age.</a:t>
            </a:r>
          </a:p>
        </p:txBody>
      </p:sp>
    </p:spTree>
    <p:extLst>
      <p:ext uri="{BB962C8B-B14F-4D97-AF65-F5344CB8AC3E}">
        <p14:creationId xmlns:p14="http://schemas.microsoft.com/office/powerpoint/2010/main" val="546058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11933</TotalTime>
  <Words>9448</Words>
  <Application>Microsoft Office PowerPoint</Application>
  <PresentationFormat>On-screen Show (4:3)</PresentationFormat>
  <Paragraphs>777</Paragraphs>
  <Slides>135</Slides>
  <Notes>135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135</vt:i4>
      </vt:variant>
    </vt:vector>
  </HeadingPairs>
  <TitlesOfParts>
    <vt:vector size="141" baseType="lpstr">
      <vt:lpstr>Arial</vt:lpstr>
      <vt:lpstr>Noto Sans Symbols</vt:lpstr>
      <vt:lpstr>Times New Roman</vt:lpstr>
      <vt:lpstr>Verdana</vt:lpstr>
      <vt:lpstr>Default Design</vt:lpstr>
      <vt:lpstr>Equation</vt:lpstr>
      <vt:lpstr>PowerPoint Presentation</vt:lpstr>
      <vt:lpstr>PowerPoint Presentation</vt:lpstr>
      <vt:lpstr>PowerPoint Presentation</vt:lpstr>
      <vt:lpstr>PowerPoint Presentation</vt:lpstr>
      <vt:lpstr>PowerPoint Presentation</vt:lpstr>
      <vt:lpstr>PowerPoint Presentation</vt:lpstr>
      <vt:lpstr>Objective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2</vt:lpstr>
      <vt:lpstr>PowerPoint Presentation</vt:lpstr>
      <vt:lpstr>PowerPoint Presentation</vt:lpstr>
      <vt:lpstr>PowerPoint Presentation</vt:lpstr>
      <vt:lpstr>PowerPoint Presentation</vt:lpstr>
      <vt:lpstr>PowerPoint Presentation</vt:lpstr>
      <vt:lpstr>Objective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3</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INFORMED DECISIONS USING DATA</dc:title>
  <dc:creator>Pam Trim</dc:creator>
  <cp:lastModifiedBy>Sue Glascoe</cp:lastModifiedBy>
  <cp:revision>800</cp:revision>
  <dcterms:modified xsi:type="dcterms:W3CDTF">2019-12-28T17:50:04Z</dcterms:modified>
</cp:coreProperties>
</file>