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handoutMasterIdLst>
    <p:handoutMasterId r:id="rId35"/>
  </p:handoutMasterIdLst>
  <p:sldIdLst>
    <p:sldId id="333" r:id="rId2"/>
    <p:sldId id="314" r:id="rId3"/>
    <p:sldId id="258" r:id="rId4"/>
    <p:sldId id="317" r:id="rId5"/>
    <p:sldId id="318" r:id="rId6"/>
    <p:sldId id="346" r:id="rId7"/>
    <p:sldId id="347" r:id="rId8"/>
    <p:sldId id="321" r:id="rId9"/>
    <p:sldId id="322" r:id="rId10"/>
    <p:sldId id="323" r:id="rId11"/>
    <p:sldId id="324" r:id="rId12"/>
    <p:sldId id="327" r:id="rId13"/>
    <p:sldId id="328" r:id="rId14"/>
    <p:sldId id="329" r:id="rId15"/>
    <p:sldId id="325" r:id="rId16"/>
    <p:sldId id="326" r:id="rId17"/>
    <p:sldId id="342" r:id="rId18"/>
    <p:sldId id="316" r:id="rId19"/>
    <p:sldId id="330" r:id="rId20"/>
    <p:sldId id="331" r:id="rId21"/>
    <p:sldId id="332" r:id="rId22"/>
    <p:sldId id="334" r:id="rId23"/>
    <p:sldId id="335" r:id="rId24"/>
    <p:sldId id="336" r:id="rId25"/>
    <p:sldId id="343" r:id="rId26"/>
    <p:sldId id="337" r:id="rId27"/>
    <p:sldId id="338" r:id="rId28"/>
    <p:sldId id="339" r:id="rId29"/>
    <p:sldId id="340" r:id="rId30"/>
    <p:sldId id="345" r:id="rId31"/>
    <p:sldId id="341" r:id="rId32"/>
    <p:sldId id="315" r:id="rId33"/>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cKibben, Mark" initials="MM" lastIdx="6" clrIdx="0">
    <p:extLst>
      <p:ext uri="{19B8F6BF-5375-455C-9EA6-DF929625EA0E}">
        <p15:presenceInfo xmlns:p15="http://schemas.microsoft.com/office/powerpoint/2012/main" userId="S::MMCKIBBEN@wcupa.edu::7757feae-4db0-4e12-a310-74b038de7b89" providerId="AD"/>
      </p:ext>
    </p:extLst>
  </p:cmAuthor>
  <p:cmAuthor id="2" name="Newton, Andy" initials="NA" lastIdx="5" clrIdx="1">
    <p:extLst>
      <p:ext uri="{19B8F6BF-5375-455C-9EA6-DF929625EA0E}">
        <p15:presenceInfo xmlns:p15="http://schemas.microsoft.com/office/powerpoint/2012/main" userId="S-1-5-21-4250845945-3731851581-3800177176-49714" providerId="AD"/>
      </p:ext>
    </p:extLst>
  </p:cmAuthor>
  <p:cmAuthor id="3" name="Connie" initials="C" lastIdx="6" clrIdx="2">
    <p:extLst>
      <p:ext uri="{19B8F6BF-5375-455C-9EA6-DF929625EA0E}">
        <p15:presenceInfo xmlns:p15="http://schemas.microsoft.com/office/powerpoint/2012/main" userId="9ff5298ed15b64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FFD780"/>
    <a:srgbClr val="8590B1"/>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8"/>
    <p:restoredTop sz="94743" autoAdjust="0"/>
  </p:normalViewPr>
  <p:slideViewPr>
    <p:cSldViewPr snapToGrid="0" snapToObjects="1">
      <p:cViewPr varScale="1">
        <p:scale>
          <a:sx n="66" d="100"/>
          <a:sy n="66" d="100"/>
        </p:scale>
        <p:origin x="12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84" d="100"/>
          <a:sy n="84" d="100"/>
        </p:scale>
        <p:origin x="-8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emf"/><Relationship Id="rId1" Type="http://schemas.openxmlformats.org/officeDocument/2006/relationships/image" Target="../media/image25.wmf"/><Relationship Id="rId4"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image" Target="../media/image33.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emf"/><Relationship Id="rId4"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wmf"/><Relationship Id="rId1"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4" Type="http://schemas.openxmlformats.org/officeDocument/2006/relationships/image" Target="../media/image5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image" Target="../media/image55.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image" Target="../media/image5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smtClean="0">
                <a:latin typeface="Calibri" pitchFamily="34"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pitchFamily="34" charset="0"/>
              </a:defRPr>
            </a:lvl1pPr>
          </a:lstStyle>
          <a:p>
            <a:pPr>
              <a:defRPr/>
            </a:pPr>
            <a:fld id="{9D3F43D1-A8EF-4E65-B864-E22489E4E26D}" type="datetime1">
              <a:rPr lang="en-US" altLang="en-US"/>
              <a:pPr>
                <a:defRPr/>
              </a:pPr>
              <a:t>11/12/2020</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smtClean="0">
                <a:latin typeface="Calibri" pitchFamily="34"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9868781F-A4C9-4BCF-8AFF-03E711B2C6D8}" type="slidenum">
              <a:rPr lang="en-US" altLang="en-US"/>
              <a:pPr/>
              <a:t>‹#›</a:t>
            </a:fld>
            <a:endParaRPr lang="en-US" altLang="en-US"/>
          </a:p>
        </p:txBody>
      </p:sp>
    </p:spTree>
    <p:extLst>
      <p:ext uri="{BB962C8B-B14F-4D97-AF65-F5344CB8AC3E}">
        <p14:creationId xmlns:p14="http://schemas.microsoft.com/office/powerpoint/2010/main" val="33043190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smtClean="0">
                <a:latin typeface="Calibri" pitchFamily="34"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pitchFamily="34" charset="0"/>
              </a:defRPr>
            </a:lvl1pPr>
          </a:lstStyle>
          <a:p>
            <a:pPr>
              <a:defRPr/>
            </a:pPr>
            <a:fld id="{93D36B5B-3F6F-405D-B561-3645AB7C5BEA}" type="datetime1">
              <a:rPr lang="en-US" altLang="en-US"/>
              <a:pPr>
                <a:defRPr/>
              </a:pPr>
              <a:t>11/12/2020</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smtClean="0">
                <a:latin typeface="Calibri" pitchFamily="34"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AD9598F7-055C-4CB7-88D9-7FA9B9DBBF1D}" type="slidenum">
              <a:rPr lang="en-US" altLang="en-US"/>
              <a:pPr/>
              <a:t>‹#›</a:t>
            </a:fld>
            <a:endParaRPr lang="en-US" altLang="en-US"/>
          </a:p>
        </p:txBody>
      </p:sp>
    </p:spTree>
    <p:extLst>
      <p:ext uri="{BB962C8B-B14F-4D97-AF65-F5344CB8AC3E}">
        <p14:creationId xmlns:p14="http://schemas.microsoft.com/office/powerpoint/2010/main" val="1319037250"/>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ヒラギノ角ゴ Pro W3" pitchFamily="-105" charset="-128"/>
            </a:endParaRPr>
          </a:p>
        </p:txBody>
      </p:sp>
    </p:spTree>
    <p:extLst>
      <p:ext uri="{BB962C8B-B14F-4D97-AF65-F5344CB8AC3E}">
        <p14:creationId xmlns:p14="http://schemas.microsoft.com/office/powerpoint/2010/main" val="37075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583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2F6317B3-0B6B-43CC-A453-73C768D3E9FF}" type="slidenum">
              <a:rPr lang="en-US" altLang="en-US">
                <a:latin typeface="Calibri" panose="020F0502020204030204" pitchFamily="34" charset="0"/>
              </a:rPr>
              <a:pPr/>
              <a:t>5</a:t>
            </a:fld>
            <a:endParaRPr lang="en-US" altLang="en-US">
              <a:latin typeface="Calibri" panose="020F0502020204030204" pitchFamily="34" charset="0"/>
            </a:endParaRPr>
          </a:p>
        </p:txBody>
      </p:sp>
    </p:spTree>
    <p:extLst>
      <p:ext uri="{BB962C8B-B14F-4D97-AF65-F5344CB8AC3E}">
        <p14:creationId xmlns:p14="http://schemas.microsoft.com/office/powerpoint/2010/main" val="1590331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593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5721A7B-DBD2-468F-8408-705731719B6F}" type="slidenum">
              <a:rPr lang="en-US" altLang="en-US">
                <a:latin typeface="Calibri" panose="020F0502020204030204" pitchFamily="34" charset="0"/>
              </a:rPr>
              <a:pPr/>
              <a:t>6</a:t>
            </a:fld>
            <a:endParaRPr lang="en-US" altLang="en-US">
              <a:latin typeface="Calibri" panose="020F0502020204030204" pitchFamily="34" charset="0"/>
            </a:endParaRPr>
          </a:p>
        </p:txBody>
      </p:sp>
    </p:spTree>
    <p:extLst>
      <p:ext uri="{BB962C8B-B14F-4D97-AF65-F5344CB8AC3E}">
        <p14:creationId xmlns:p14="http://schemas.microsoft.com/office/powerpoint/2010/main" val="452992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04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4FD5488D-25E9-402D-9AED-ECA011059478}" type="slidenum">
              <a:rPr lang="en-US" altLang="en-US">
                <a:latin typeface="Calibri" panose="020F0502020204030204" pitchFamily="34" charset="0"/>
              </a:rPr>
              <a:pPr/>
              <a:t>7</a:t>
            </a:fld>
            <a:endParaRPr lang="en-US" altLang="en-US">
              <a:latin typeface="Calibri" panose="020F0502020204030204" pitchFamily="34" charset="0"/>
            </a:endParaRPr>
          </a:p>
        </p:txBody>
      </p:sp>
    </p:spTree>
    <p:extLst>
      <p:ext uri="{BB962C8B-B14F-4D97-AF65-F5344CB8AC3E}">
        <p14:creationId xmlns:p14="http://schemas.microsoft.com/office/powerpoint/2010/main" val="367081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1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42E6FDB2-0EBC-4177-B5A6-EBFB99653CDC}" type="slidenum">
              <a:rPr lang="en-US" altLang="en-US">
                <a:latin typeface="Calibri" panose="020F0502020204030204" pitchFamily="34" charset="0"/>
              </a:rPr>
              <a:pPr/>
              <a:t>8</a:t>
            </a:fld>
            <a:endParaRPr lang="en-US" altLang="en-US">
              <a:latin typeface="Calibri" panose="020F0502020204030204" pitchFamily="34" charset="0"/>
            </a:endParaRPr>
          </a:p>
        </p:txBody>
      </p:sp>
    </p:spTree>
    <p:extLst>
      <p:ext uri="{BB962C8B-B14F-4D97-AF65-F5344CB8AC3E}">
        <p14:creationId xmlns:p14="http://schemas.microsoft.com/office/powerpoint/2010/main" val="541237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13E445D-EEB0-41EA-8A34-6C830AEC05F0}" type="slidenum">
              <a:rPr lang="en-US" altLang="en-US">
                <a:latin typeface="Calibri" panose="020F0502020204030204" pitchFamily="34" charset="0"/>
              </a:rPr>
              <a:pPr/>
              <a:t>9</a:t>
            </a:fld>
            <a:endParaRPr lang="en-US" altLang="en-US">
              <a:latin typeface="Calibri" panose="020F0502020204030204" pitchFamily="34" charset="0"/>
            </a:endParaRPr>
          </a:p>
        </p:txBody>
      </p:sp>
    </p:spTree>
    <p:extLst>
      <p:ext uri="{BB962C8B-B14F-4D97-AF65-F5344CB8AC3E}">
        <p14:creationId xmlns:p14="http://schemas.microsoft.com/office/powerpoint/2010/main" val="639158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34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B9793274-FD6F-4B96-A7E8-5B907D507D62}" type="slidenum">
              <a:rPr lang="en-US" altLang="en-US">
                <a:latin typeface="Calibri" panose="020F0502020204030204" pitchFamily="34" charset="0"/>
              </a:rPr>
              <a:pPr/>
              <a:t>10</a:t>
            </a:fld>
            <a:endParaRPr lang="en-US" altLang="en-US">
              <a:latin typeface="Calibri" panose="020F0502020204030204" pitchFamily="34" charset="0"/>
            </a:endParaRPr>
          </a:p>
        </p:txBody>
      </p:sp>
    </p:spTree>
    <p:extLst>
      <p:ext uri="{BB962C8B-B14F-4D97-AF65-F5344CB8AC3E}">
        <p14:creationId xmlns:p14="http://schemas.microsoft.com/office/powerpoint/2010/main" val="383420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B367A9B3-BAC8-452C-AAD6-B376F1F8AB64}" type="slidenum">
              <a:rPr lang="en-US" altLang="en-US">
                <a:latin typeface="Calibri" panose="020F0502020204030204" pitchFamily="34" charset="0"/>
              </a:rPr>
              <a:pPr/>
              <a:t>11</a:t>
            </a:fld>
            <a:endParaRPr lang="en-US" altLang="en-US">
              <a:latin typeface="Calibri" panose="020F0502020204030204" pitchFamily="34" charset="0"/>
            </a:endParaRPr>
          </a:p>
        </p:txBody>
      </p:sp>
    </p:spTree>
    <p:extLst>
      <p:ext uri="{BB962C8B-B14F-4D97-AF65-F5344CB8AC3E}">
        <p14:creationId xmlns:p14="http://schemas.microsoft.com/office/powerpoint/2010/main" val="3656996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55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41DD0F2-76A1-4F7D-8ED9-69A1C20DCD21}" type="slidenum">
              <a:rPr lang="en-US" altLang="en-US">
                <a:latin typeface="Calibri" panose="020F0502020204030204" pitchFamily="34" charset="0"/>
              </a:rPr>
              <a:pPr/>
              <a:t>15</a:t>
            </a:fld>
            <a:endParaRPr lang="en-US" altLang="en-US">
              <a:latin typeface="Calibri" panose="020F0502020204030204" pitchFamily="34" charset="0"/>
            </a:endParaRPr>
          </a:p>
        </p:txBody>
      </p:sp>
    </p:spTree>
    <p:extLst>
      <p:ext uri="{BB962C8B-B14F-4D97-AF65-F5344CB8AC3E}">
        <p14:creationId xmlns:p14="http://schemas.microsoft.com/office/powerpoint/2010/main" val="3969368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65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4C59BA8-A5E6-48EC-AE78-DC084E5CBA9E}" type="slidenum">
              <a:rPr lang="en-US" altLang="en-US">
                <a:latin typeface="Calibri" panose="020F0502020204030204" pitchFamily="34" charset="0"/>
              </a:rPr>
              <a:pPr/>
              <a:t>16</a:t>
            </a:fld>
            <a:endParaRPr lang="en-US" altLang="en-US">
              <a:latin typeface="Calibri" panose="020F0502020204030204" pitchFamily="34" charset="0"/>
            </a:endParaRPr>
          </a:p>
        </p:txBody>
      </p:sp>
    </p:spTree>
    <p:extLst>
      <p:ext uri="{BB962C8B-B14F-4D97-AF65-F5344CB8AC3E}">
        <p14:creationId xmlns:p14="http://schemas.microsoft.com/office/powerpoint/2010/main" val="2697657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36637D3-F7F3-4BEB-B357-703C633D0857}" type="slidenum">
              <a:rPr lang="en-US" altLang="en-US">
                <a:latin typeface="Calibri" panose="020F0502020204030204" pitchFamily="34" charset="0"/>
              </a:rPr>
              <a:pPr/>
              <a:t>17</a:t>
            </a:fld>
            <a:endParaRPr lang="en-US" altLang="en-US">
              <a:latin typeface="Calibri" panose="020F0502020204030204" pitchFamily="34" charset="0"/>
            </a:endParaRPr>
          </a:p>
        </p:txBody>
      </p:sp>
    </p:spTree>
    <p:extLst>
      <p:ext uri="{BB962C8B-B14F-4D97-AF65-F5344CB8AC3E}">
        <p14:creationId xmlns:p14="http://schemas.microsoft.com/office/powerpoint/2010/main" val="484402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86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58CFE77-8A04-4178-8215-19E07A35FA99}" type="slidenum">
              <a:rPr lang="en-US" altLang="en-US">
                <a:latin typeface="Calibri" panose="020F0502020204030204" pitchFamily="34" charset="0"/>
              </a:rPr>
              <a:pPr/>
              <a:t>22</a:t>
            </a:fld>
            <a:endParaRPr lang="en-US" altLang="en-US">
              <a:latin typeface="Calibri" panose="020F0502020204030204" pitchFamily="34" charset="0"/>
            </a:endParaRPr>
          </a:p>
        </p:txBody>
      </p:sp>
    </p:spTree>
    <p:extLst>
      <p:ext uri="{BB962C8B-B14F-4D97-AF65-F5344CB8AC3E}">
        <p14:creationId xmlns:p14="http://schemas.microsoft.com/office/powerpoint/2010/main" val="2609604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2545A37-5A53-4406-AFA3-97F544EE6F81}" type="slidenum">
              <a:rPr lang="en-US" altLang="en-US">
                <a:latin typeface="Calibri" panose="020F0502020204030204" pitchFamily="34" charset="0"/>
              </a:rPr>
              <a:pPr/>
              <a:t>23</a:t>
            </a:fld>
            <a:endParaRPr lang="en-US" altLang="en-US">
              <a:latin typeface="Calibri" panose="020F0502020204030204" pitchFamily="34" charset="0"/>
            </a:endParaRPr>
          </a:p>
        </p:txBody>
      </p:sp>
    </p:spTree>
    <p:extLst>
      <p:ext uri="{BB962C8B-B14F-4D97-AF65-F5344CB8AC3E}">
        <p14:creationId xmlns:p14="http://schemas.microsoft.com/office/powerpoint/2010/main" val="4234273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706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25198665-948E-431A-8201-403064A54170}" type="slidenum">
              <a:rPr lang="en-US" altLang="en-US">
                <a:latin typeface="Calibri" panose="020F0502020204030204" pitchFamily="34" charset="0"/>
              </a:rPr>
              <a:pPr/>
              <a:t>24</a:t>
            </a:fld>
            <a:endParaRPr lang="en-US" altLang="en-US">
              <a:latin typeface="Calibri" panose="020F0502020204030204" pitchFamily="34" charset="0"/>
            </a:endParaRPr>
          </a:p>
        </p:txBody>
      </p:sp>
    </p:spTree>
    <p:extLst>
      <p:ext uri="{BB962C8B-B14F-4D97-AF65-F5344CB8AC3E}">
        <p14:creationId xmlns:p14="http://schemas.microsoft.com/office/powerpoint/2010/main" val="38928484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716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8305D29-E9FB-40A3-A194-52D0D31D85EE}" type="slidenum">
              <a:rPr lang="en-US" altLang="en-US">
                <a:latin typeface="Calibri" panose="020F0502020204030204" pitchFamily="34" charset="0"/>
              </a:rPr>
              <a:pPr/>
              <a:t>25</a:t>
            </a:fld>
            <a:endParaRPr lang="en-US" altLang="en-US">
              <a:latin typeface="Calibri" panose="020F0502020204030204" pitchFamily="34" charset="0"/>
            </a:endParaRPr>
          </a:p>
        </p:txBody>
      </p:sp>
    </p:spTree>
    <p:extLst>
      <p:ext uri="{BB962C8B-B14F-4D97-AF65-F5344CB8AC3E}">
        <p14:creationId xmlns:p14="http://schemas.microsoft.com/office/powerpoint/2010/main" val="2951560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727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386F96B0-78B9-4954-B948-9FF359C97A4D}" type="slidenum">
              <a:rPr lang="en-US" altLang="en-US">
                <a:latin typeface="Calibri" panose="020F0502020204030204" pitchFamily="34" charset="0"/>
              </a:rPr>
              <a:pPr/>
              <a:t>30</a:t>
            </a:fld>
            <a:endParaRPr lang="en-US" altLang="en-US">
              <a:latin typeface="Calibri" panose="020F0502020204030204" pitchFamily="34" charset="0"/>
            </a:endParaRPr>
          </a:p>
        </p:txBody>
      </p:sp>
    </p:spTree>
    <p:extLst>
      <p:ext uri="{BB962C8B-B14F-4D97-AF65-F5344CB8AC3E}">
        <p14:creationId xmlns:p14="http://schemas.microsoft.com/office/powerpoint/2010/main" val="6138211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099037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3017911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046BD3D3-E80F-41CB-B38B-119BFDBF6F67}" type="slidenum">
              <a:rPr lang="en-US" altLang="en-US"/>
              <a:pPr/>
              <a:t>‹#›</a:t>
            </a:fld>
            <a:endParaRPr lang="en-US" altLang="en-US"/>
          </a:p>
        </p:txBody>
      </p:sp>
    </p:spTree>
    <p:extLst>
      <p:ext uri="{BB962C8B-B14F-4D97-AF65-F5344CB8AC3E}">
        <p14:creationId xmlns:p14="http://schemas.microsoft.com/office/powerpoint/2010/main" val="2126796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561AE58A-F58E-489E-A130-BBBD93F1D248}" type="slidenum">
              <a:rPr lang="en-US" altLang="en-US"/>
              <a:pPr/>
              <a:t>‹#›</a:t>
            </a:fld>
            <a:endParaRPr lang="en-US" altLang="en-US"/>
          </a:p>
        </p:txBody>
      </p:sp>
    </p:spTree>
    <p:extLst>
      <p:ext uri="{BB962C8B-B14F-4D97-AF65-F5344CB8AC3E}">
        <p14:creationId xmlns:p14="http://schemas.microsoft.com/office/powerpoint/2010/main" val="3055612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dirty="0"/>
              <a:t>Click icon to add picture</a:t>
            </a:r>
            <a:endParaRPr noProof="0" dirty="0"/>
          </a:p>
        </p:txBody>
      </p:sp>
      <p:sp>
        <p:nvSpPr>
          <p:cNvPr id="7"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fld id="{EC1B3F76-DA76-4104-845E-6713D231793C}" type="slidenum">
              <a:rPr lang="en-US" altLang="en-US"/>
              <a:pPr/>
              <a:t>‹#›</a:t>
            </a:fld>
            <a:endParaRPr lang="en-US" altLang="en-US"/>
          </a:p>
        </p:txBody>
      </p:sp>
    </p:spTree>
    <p:extLst>
      <p:ext uri="{BB962C8B-B14F-4D97-AF65-F5344CB8AC3E}">
        <p14:creationId xmlns:p14="http://schemas.microsoft.com/office/powerpoint/2010/main" val="1064521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0"/>
          </p:nvPr>
        </p:nvSpPr>
        <p:spPr/>
        <p:txBody>
          <a:bodyPr/>
          <a:lstStyle>
            <a:lvl1pPr>
              <a:defRPr sz="1400"/>
            </a:lvl1pPr>
          </a:lstStyle>
          <a:p>
            <a:fld id="{0A6275B1-E59F-44D0-AEC3-4A48EB8CB84B}" type="slidenum">
              <a:rPr lang="en-US" altLang="en-US"/>
              <a:pPr/>
              <a:t>‹#›</a:t>
            </a:fld>
            <a:endParaRPr lang="en-US" altLang="en-US"/>
          </a:p>
        </p:txBody>
      </p:sp>
    </p:spTree>
    <p:extLst>
      <p:ext uri="{BB962C8B-B14F-4D97-AF65-F5344CB8AC3E}">
        <p14:creationId xmlns:p14="http://schemas.microsoft.com/office/powerpoint/2010/main" val="1616275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dirty="0"/>
              <a:t>Click icon to add picture</a:t>
            </a:r>
            <a:endParaRPr noProof="0" dirty="0"/>
          </a:p>
        </p:txBody>
      </p:sp>
      <p:sp>
        <p:nvSpPr>
          <p:cNvPr id="6" name="Slide Number Placeholder 5"/>
          <p:cNvSpPr>
            <a:spLocks noGrp="1"/>
          </p:cNvSpPr>
          <p:nvPr>
            <p:ph type="sldNum" sz="quarter" idx="14"/>
          </p:nvPr>
        </p:nvSpPr>
        <p:spPr>
          <a:xfrm>
            <a:off x="350838" y="6105525"/>
            <a:ext cx="506412" cy="365125"/>
          </a:xfrm>
        </p:spPr>
        <p:txBody>
          <a:bodyPr/>
          <a:lstStyle>
            <a:lvl1pPr>
              <a:defRPr/>
            </a:lvl1pPr>
          </a:lstStyle>
          <a:p>
            <a:fld id="{1B9CF76B-0826-4E04-B524-CD4E781CF10E}" type="slidenum">
              <a:rPr lang="en-US" altLang="en-US"/>
              <a:pPr/>
              <a:t>‹#›</a:t>
            </a:fld>
            <a:endParaRPr lang="en-US" altLang="en-US"/>
          </a:p>
        </p:txBody>
      </p:sp>
    </p:spTree>
    <p:extLst>
      <p:ext uri="{BB962C8B-B14F-4D97-AF65-F5344CB8AC3E}">
        <p14:creationId xmlns:p14="http://schemas.microsoft.com/office/powerpoint/2010/main" val="662350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smtClean="0"/>
            </a:lvl1pPr>
          </a:lstStyle>
          <a:p>
            <a:pPr>
              <a:defRPr/>
            </a:pPr>
            <a:endParaRPr lang="en-US"/>
          </a:p>
        </p:txBody>
      </p:sp>
      <p:sp>
        <p:nvSpPr>
          <p:cNvPr id="7" name="Footer Placeholder 5"/>
          <p:cNvSpPr>
            <a:spLocks noGrp="1"/>
          </p:cNvSpPr>
          <p:nvPr>
            <p:ph type="ftr" sz="quarter" idx="11"/>
          </p:nvPr>
        </p:nvSpPr>
        <p:spPr/>
        <p:txBody>
          <a:bodyPr/>
          <a:lstStyle>
            <a:lvl1pPr>
              <a:defRPr smtClean="0"/>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8294BDEB-6A34-4B94-A164-938D14A8792D}" type="slidenum">
              <a:rPr lang="en-US" altLang="en-US"/>
              <a:pPr/>
              <a:t>‹#›</a:t>
            </a:fld>
            <a:endParaRPr lang="en-US" altLang="en-US"/>
          </a:p>
        </p:txBody>
      </p:sp>
    </p:spTree>
    <p:extLst>
      <p:ext uri="{BB962C8B-B14F-4D97-AF65-F5344CB8AC3E}">
        <p14:creationId xmlns:p14="http://schemas.microsoft.com/office/powerpoint/2010/main" val="3002067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smtClean="0"/>
            </a:lvl1pPr>
          </a:lstStyle>
          <a:p>
            <a:pPr>
              <a:defRPr/>
            </a:pPr>
            <a:endParaRPr lang="en-US"/>
          </a:p>
        </p:txBody>
      </p:sp>
      <p:sp>
        <p:nvSpPr>
          <p:cNvPr id="9" name="Footer Placeholder 7"/>
          <p:cNvSpPr>
            <a:spLocks noGrp="1"/>
          </p:cNvSpPr>
          <p:nvPr>
            <p:ph type="ftr" sz="quarter" idx="11"/>
          </p:nvPr>
        </p:nvSpPr>
        <p:spPr/>
        <p:txBody>
          <a:bodyPr/>
          <a:lstStyle>
            <a:lvl1pPr>
              <a:defRPr smtClean="0"/>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66B0C2AB-C0FE-4621-A5C3-6D25B71417C3}" type="slidenum">
              <a:rPr lang="en-US" altLang="en-US"/>
              <a:pPr/>
              <a:t>‹#›</a:t>
            </a:fld>
            <a:endParaRPr lang="en-US" altLang="en-US"/>
          </a:p>
        </p:txBody>
      </p:sp>
    </p:spTree>
    <p:extLst>
      <p:ext uri="{BB962C8B-B14F-4D97-AF65-F5344CB8AC3E}">
        <p14:creationId xmlns:p14="http://schemas.microsoft.com/office/powerpoint/2010/main" val="3025180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smtClean="0"/>
            </a:lvl1pPr>
          </a:lstStyle>
          <a:p>
            <a:pPr>
              <a:defRPr/>
            </a:pPr>
            <a:endParaRPr lang="en-US"/>
          </a:p>
        </p:txBody>
      </p:sp>
      <p:sp>
        <p:nvSpPr>
          <p:cNvPr id="7" name="Footer Placeholder 5"/>
          <p:cNvSpPr>
            <a:spLocks noGrp="1"/>
          </p:cNvSpPr>
          <p:nvPr>
            <p:ph type="ftr" sz="quarter" idx="15"/>
          </p:nvPr>
        </p:nvSpPr>
        <p:spPr/>
        <p:txBody>
          <a:bodyPr/>
          <a:lstStyle>
            <a:lvl1pPr>
              <a:defRPr smtClean="0"/>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B24AD218-B2A2-43F7-88EE-B9A6A3DC1CC4}" type="slidenum">
              <a:rPr lang="en-US" altLang="en-US"/>
              <a:pPr/>
              <a:t>‹#›</a:t>
            </a:fld>
            <a:endParaRPr lang="en-US" altLang="en-US"/>
          </a:p>
        </p:txBody>
      </p:sp>
    </p:spTree>
    <p:extLst>
      <p:ext uri="{BB962C8B-B14F-4D97-AF65-F5344CB8AC3E}">
        <p14:creationId xmlns:p14="http://schemas.microsoft.com/office/powerpoint/2010/main" val="521897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smtClean="0"/>
            </a:lvl1pPr>
          </a:lstStyle>
          <a:p>
            <a:pPr>
              <a:defRPr/>
            </a:pPr>
            <a:endParaRPr lang="en-US"/>
          </a:p>
        </p:txBody>
      </p:sp>
      <p:sp>
        <p:nvSpPr>
          <p:cNvPr id="8" name="Footer Placeholder 5"/>
          <p:cNvSpPr>
            <a:spLocks noGrp="1"/>
          </p:cNvSpPr>
          <p:nvPr>
            <p:ph type="ftr" sz="quarter" idx="16"/>
          </p:nvPr>
        </p:nvSpPr>
        <p:spPr/>
        <p:txBody>
          <a:bodyPr/>
          <a:lstStyle>
            <a:lvl1pPr>
              <a:defRPr smtClean="0"/>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1B62B5CF-A826-49BA-832F-86F2489F5DEA}" type="slidenum">
              <a:rPr lang="en-US" altLang="en-US"/>
              <a:pPr/>
              <a:t>‹#›</a:t>
            </a:fld>
            <a:endParaRPr lang="en-US" altLang="en-US"/>
          </a:p>
        </p:txBody>
      </p:sp>
    </p:spTree>
    <p:extLst>
      <p:ext uri="{BB962C8B-B14F-4D97-AF65-F5344CB8AC3E}">
        <p14:creationId xmlns:p14="http://schemas.microsoft.com/office/powerpoint/2010/main" val="640792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smtClean="0"/>
            </a:lvl1pPr>
          </a:lstStyle>
          <a:p>
            <a:pPr>
              <a:defRPr/>
            </a:pPr>
            <a:endParaRPr lang="en-US"/>
          </a:p>
        </p:txBody>
      </p:sp>
      <p:sp>
        <p:nvSpPr>
          <p:cNvPr id="10" name="Footer Placeholder 5"/>
          <p:cNvSpPr>
            <a:spLocks noGrp="1"/>
          </p:cNvSpPr>
          <p:nvPr>
            <p:ph type="ftr" sz="quarter" idx="17"/>
          </p:nvPr>
        </p:nvSpPr>
        <p:spPr/>
        <p:txBody>
          <a:bodyPr/>
          <a:lstStyle>
            <a:lvl1pPr>
              <a:defRPr smtClean="0"/>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BC8C7029-247D-4D4B-88B5-08725CDE316E}" type="slidenum">
              <a:rPr lang="en-US" altLang="en-US"/>
              <a:pPr/>
              <a:t>‹#›</a:t>
            </a:fld>
            <a:endParaRPr lang="en-US" altLang="en-US"/>
          </a:p>
        </p:txBody>
      </p:sp>
    </p:spTree>
    <p:extLst>
      <p:ext uri="{BB962C8B-B14F-4D97-AF65-F5344CB8AC3E}">
        <p14:creationId xmlns:p14="http://schemas.microsoft.com/office/powerpoint/2010/main" val="3997989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777240"/>
          </a:xfrm>
        </p:spPr>
        <p:txBody>
          <a:bodyPr/>
          <a:lstStyle/>
          <a:p>
            <a:r>
              <a:rPr lang="en-US" dirty="0"/>
              <a:t>Click to edit Master title style</a:t>
            </a:r>
            <a:endParaRPr dirty="0"/>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fld id="{A27BDE35-D950-457D-A6C7-D410034615B1}" type="slidenum">
              <a:rPr lang="en-US" altLang="en-US" smtClean="0"/>
              <a:pPr/>
              <a:t>‹#›</a:t>
            </a:fld>
            <a:endParaRPr lang="en-US" altLang="en-US" dirty="0"/>
          </a:p>
        </p:txBody>
      </p:sp>
    </p:spTree>
    <p:extLst>
      <p:ext uri="{BB962C8B-B14F-4D97-AF65-F5344CB8AC3E}">
        <p14:creationId xmlns:p14="http://schemas.microsoft.com/office/powerpoint/2010/main" val="4137216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60207B03-0358-4644-8E02-314068B94D71}" type="slidenum">
              <a:rPr lang="en-US" altLang="en-US"/>
              <a:pPr/>
              <a:t>‹#›</a:t>
            </a:fld>
            <a:endParaRPr lang="en-US" altLang="en-US"/>
          </a:p>
        </p:txBody>
      </p:sp>
    </p:spTree>
    <p:extLst>
      <p:ext uri="{BB962C8B-B14F-4D97-AF65-F5344CB8AC3E}">
        <p14:creationId xmlns:p14="http://schemas.microsoft.com/office/powerpoint/2010/main" val="633275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smtClean="0"/>
            </a:lvl1pPr>
          </a:lstStyle>
          <a:p>
            <a:pPr>
              <a:defRPr/>
            </a:pPr>
            <a:endParaRPr lang="en-US"/>
          </a:p>
        </p:txBody>
      </p:sp>
      <p:sp>
        <p:nvSpPr>
          <p:cNvPr id="7" name="Footer Placeholder 5"/>
          <p:cNvSpPr>
            <a:spLocks noGrp="1"/>
          </p:cNvSpPr>
          <p:nvPr>
            <p:ph type="ftr" sz="quarter" idx="11"/>
          </p:nvPr>
        </p:nvSpPr>
        <p:spPr/>
        <p:txBody>
          <a:bodyPr/>
          <a:lstStyle>
            <a:lvl1pPr>
              <a:defRPr smtClean="0"/>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39416F16-4E33-49B0-8F35-EE10EB8E17E6}" type="slidenum">
              <a:rPr lang="en-US" altLang="en-US"/>
              <a:pPr/>
              <a:t>‹#›</a:t>
            </a:fld>
            <a:endParaRPr lang="en-US" altLang="en-US"/>
          </a:p>
        </p:txBody>
      </p:sp>
    </p:spTree>
    <p:extLst>
      <p:ext uri="{BB962C8B-B14F-4D97-AF65-F5344CB8AC3E}">
        <p14:creationId xmlns:p14="http://schemas.microsoft.com/office/powerpoint/2010/main" val="41573470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dirty="0"/>
              <a:t>Click icon to add picture</a:t>
            </a:r>
            <a:endParaRPr noProof="0" dirty="0"/>
          </a:p>
        </p:txBody>
      </p:sp>
      <p:sp>
        <p:nvSpPr>
          <p:cNvPr id="6" name="Date Placeholder 4"/>
          <p:cNvSpPr>
            <a:spLocks noGrp="1"/>
          </p:cNvSpPr>
          <p:nvPr>
            <p:ph type="dt" sz="half" idx="14"/>
          </p:nvPr>
        </p:nvSpPr>
        <p:spPr>
          <a:xfrm>
            <a:off x="161925" y="6124575"/>
            <a:ext cx="1752600" cy="365125"/>
          </a:xfrm>
        </p:spPr>
        <p:txBody>
          <a:bodyPr/>
          <a:lstStyle>
            <a:lvl1pPr algn="l">
              <a:defRPr smtClean="0"/>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smtClean="0"/>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58F052F1-7C5D-40B2-B3F9-415E4C0865DD}" type="slidenum">
              <a:rPr lang="en-US" altLang="en-US"/>
              <a:pPr/>
              <a:t>‹#›</a:t>
            </a:fld>
            <a:endParaRPr lang="en-US" altLang="en-US"/>
          </a:p>
        </p:txBody>
      </p:sp>
    </p:spTree>
    <p:extLst>
      <p:ext uri="{BB962C8B-B14F-4D97-AF65-F5344CB8AC3E}">
        <p14:creationId xmlns:p14="http://schemas.microsoft.com/office/powerpoint/2010/main" val="4184622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smtClean="0"/>
            </a:lvl1pPr>
          </a:lstStyle>
          <a:p>
            <a:pPr>
              <a:defRPr/>
            </a:pPr>
            <a:endParaRPr lang="en-US"/>
          </a:p>
        </p:txBody>
      </p:sp>
      <p:sp>
        <p:nvSpPr>
          <p:cNvPr id="7" name="Footer Placeholder 5"/>
          <p:cNvSpPr>
            <a:spLocks noGrp="1"/>
          </p:cNvSpPr>
          <p:nvPr>
            <p:ph type="ftr" sz="quarter" idx="11"/>
          </p:nvPr>
        </p:nvSpPr>
        <p:spPr/>
        <p:txBody>
          <a:bodyPr/>
          <a:lstStyle>
            <a:lvl1pPr>
              <a:defRPr smtClean="0"/>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74E7F109-9D85-4E37-ADD9-997A7BB7C04A}" type="slidenum">
              <a:rPr lang="en-US" altLang="en-US"/>
              <a:pPr/>
              <a:t>‹#›</a:t>
            </a:fld>
            <a:endParaRPr lang="en-US" altLang="en-US"/>
          </a:p>
        </p:txBody>
      </p:sp>
    </p:spTree>
    <p:extLst>
      <p:ext uri="{BB962C8B-B14F-4D97-AF65-F5344CB8AC3E}">
        <p14:creationId xmlns:p14="http://schemas.microsoft.com/office/powerpoint/2010/main" val="26846525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9" name="Date Placeholder 4"/>
          <p:cNvSpPr>
            <a:spLocks noGrp="1"/>
          </p:cNvSpPr>
          <p:nvPr>
            <p:ph type="dt" sz="half" idx="16"/>
          </p:nvPr>
        </p:nvSpPr>
        <p:spPr/>
        <p:txBody>
          <a:bodyPr/>
          <a:lstStyle>
            <a:lvl1pPr>
              <a:defRPr smtClean="0"/>
            </a:lvl1pPr>
          </a:lstStyle>
          <a:p>
            <a:pPr>
              <a:defRPr/>
            </a:pPr>
            <a:endParaRPr lang="en-US"/>
          </a:p>
        </p:txBody>
      </p:sp>
      <p:sp>
        <p:nvSpPr>
          <p:cNvPr id="13" name="Footer Placeholder 5"/>
          <p:cNvSpPr>
            <a:spLocks noGrp="1"/>
          </p:cNvSpPr>
          <p:nvPr>
            <p:ph type="ftr" sz="quarter" idx="17"/>
          </p:nvPr>
        </p:nvSpPr>
        <p:spPr/>
        <p:txBody>
          <a:bodyPr/>
          <a:lstStyle>
            <a:lvl1pPr>
              <a:defRPr smtClean="0"/>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EB021D3A-2446-478F-A79D-7CB82A703396}" type="slidenum">
              <a:rPr lang="en-US" altLang="en-US"/>
              <a:pPr/>
              <a:t>‹#›</a:t>
            </a:fld>
            <a:endParaRPr lang="en-US" altLang="en-US"/>
          </a:p>
        </p:txBody>
      </p:sp>
    </p:spTree>
    <p:extLst>
      <p:ext uri="{BB962C8B-B14F-4D97-AF65-F5344CB8AC3E}">
        <p14:creationId xmlns:p14="http://schemas.microsoft.com/office/powerpoint/2010/main" val="12535785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smtClean="0"/>
            </a:lvl1pPr>
          </a:lstStyle>
          <a:p>
            <a:pPr>
              <a:defRPr/>
            </a:pPr>
            <a:endParaRPr lang="en-US"/>
          </a:p>
        </p:txBody>
      </p:sp>
      <p:sp>
        <p:nvSpPr>
          <p:cNvPr id="6" name="Footer Placeholder 4"/>
          <p:cNvSpPr>
            <a:spLocks noGrp="1"/>
          </p:cNvSpPr>
          <p:nvPr>
            <p:ph type="ftr" sz="quarter" idx="11"/>
          </p:nvPr>
        </p:nvSpPr>
        <p:spPr/>
        <p:txBody>
          <a:bodyPr/>
          <a:lstStyle>
            <a:lvl1pPr>
              <a:defRPr smtClean="0"/>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2062E758-DACA-40B6-940E-FF047C6409C8}" type="slidenum">
              <a:rPr lang="en-US" altLang="en-US"/>
              <a:pPr/>
              <a:t>‹#›</a:t>
            </a:fld>
            <a:endParaRPr lang="en-US" altLang="en-US"/>
          </a:p>
        </p:txBody>
      </p:sp>
    </p:spTree>
    <p:extLst>
      <p:ext uri="{BB962C8B-B14F-4D97-AF65-F5344CB8AC3E}">
        <p14:creationId xmlns:p14="http://schemas.microsoft.com/office/powerpoint/2010/main" val="31195352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smtClean="0"/>
            </a:lvl1pPr>
          </a:lstStyle>
          <a:p>
            <a:pPr>
              <a:defRPr/>
            </a:pPr>
            <a:endParaRPr lang="en-US"/>
          </a:p>
        </p:txBody>
      </p:sp>
      <p:sp>
        <p:nvSpPr>
          <p:cNvPr id="6" name="Footer Placeholder 4"/>
          <p:cNvSpPr>
            <a:spLocks noGrp="1"/>
          </p:cNvSpPr>
          <p:nvPr>
            <p:ph type="ftr" sz="quarter" idx="11"/>
          </p:nvPr>
        </p:nvSpPr>
        <p:spPr/>
        <p:txBody>
          <a:bodyPr/>
          <a:lstStyle>
            <a:lvl1pPr>
              <a:defRPr smtClean="0"/>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E416D4F-8DFA-4CA2-83E3-E9F420552100}" type="slidenum">
              <a:rPr lang="en-US" altLang="en-US"/>
              <a:pPr/>
              <a:t>‹#›</a:t>
            </a:fld>
            <a:endParaRPr lang="en-US" altLang="en-US"/>
          </a:p>
        </p:txBody>
      </p:sp>
    </p:spTree>
    <p:extLst>
      <p:ext uri="{BB962C8B-B14F-4D97-AF65-F5344CB8AC3E}">
        <p14:creationId xmlns:p14="http://schemas.microsoft.com/office/powerpoint/2010/main" val="20766734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rtlCol="0"/>
          <a:lstStyle>
            <a:lvl1pPr fontAlgn="auto">
              <a:spcBef>
                <a:spcPts val="0"/>
              </a:spcBef>
              <a:spcAft>
                <a:spcPts val="0"/>
              </a:spcAft>
              <a:defRPr>
                <a:solidFill>
                  <a:schemeClr val="tx2">
                    <a:lumMod val="60000"/>
                    <a:lumOff val="40000"/>
                  </a:schemeClr>
                </a:solidFill>
                <a:latin typeface="+mn-lt"/>
                <a:ea typeface="+mn-ea"/>
                <a:cs typeface="+mn-cs"/>
              </a:defRPr>
            </a:lvl1pPr>
          </a:lstStyle>
          <a:p>
            <a:pPr>
              <a:defRPr/>
            </a:pPr>
            <a:r>
              <a:rPr lang="en-US"/>
              <a:t>BPS - 5th Ed.</a:t>
            </a:r>
          </a:p>
        </p:txBody>
      </p:sp>
      <p:sp>
        <p:nvSpPr>
          <p:cNvPr id="7" name="Footer Placeholder 6"/>
          <p:cNvSpPr>
            <a:spLocks noGrp="1"/>
          </p:cNvSpPr>
          <p:nvPr>
            <p:ph type="ftr" sz="quarter" idx="11"/>
          </p:nvPr>
        </p:nvSpPr>
        <p:spPr>
          <a:xfrm>
            <a:off x="3124200" y="6248400"/>
            <a:ext cx="2895600" cy="457200"/>
          </a:xfrm>
        </p:spPr>
        <p:txBody>
          <a:bodyPr rtlCol="0"/>
          <a:lstStyle>
            <a:lvl1pPr fontAlgn="auto">
              <a:spcBef>
                <a:spcPts val="0"/>
              </a:spcBef>
              <a:spcAft>
                <a:spcPts val="0"/>
              </a:spcAft>
              <a:defRPr>
                <a:solidFill>
                  <a:schemeClr val="tx2">
                    <a:lumMod val="60000"/>
                    <a:lumOff val="40000"/>
                  </a:schemeClr>
                </a:solidFill>
                <a:latin typeface="+mn-lt"/>
                <a:ea typeface="+mn-ea"/>
              </a:defRPr>
            </a:lvl1pPr>
          </a:lstStyle>
          <a:p>
            <a:pPr>
              <a:defRPr/>
            </a:pPr>
            <a:r>
              <a:rPr lang="en-US"/>
              <a:t>Chapter 5</a:t>
            </a:r>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EAB3E752-E1EF-43EA-A584-A595077B32BB}" type="slidenum">
              <a:rPr lang="en-US" altLang="en-US"/>
              <a:pPr/>
              <a:t>‹#›</a:t>
            </a:fld>
            <a:endParaRPr lang="en-US" altLang="en-US"/>
          </a:p>
        </p:txBody>
      </p:sp>
    </p:spTree>
    <p:extLst>
      <p:ext uri="{BB962C8B-B14F-4D97-AF65-F5344CB8AC3E}">
        <p14:creationId xmlns:p14="http://schemas.microsoft.com/office/powerpoint/2010/main" val="41151641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rtlCol="0"/>
          <a:lstStyle>
            <a:lvl1pPr fontAlgn="auto">
              <a:spcBef>
                <a:spcPts val="0"/>
              </a:spcBef>
              <a:spcAft>
                <a:spcPts val="0"/>
              </a:spcAft>
              <a:defRPr>
                <a:solidFill>
                  <a:schemeClr val="tx2">
                    <a:lumMod val="60000"/>
                    <a:lumOff val="40000"/>
                  </a:schemeClr>
                </a:solidFill>
                <a:latin typeface="+mn-lt"/>
                <a:ea typeface="+mn-ea"/>
                <a:cs typeface="+mn-cs"/>
              </a:defRPr>
            </a:lvl1pPr>
          </a:lstStyle>
          <a:p>
            <a:pPr>
              <a:defRPr/>
            </a:pPr>
            <a:r>
              <a:rPr lang="en-US"/>
              <a:t>BPS - 5th Ed.</a:t>
            </a:r>
          </a:p>
        </p:txBody>
      </p:sp>
      <p:sp>
        <p:nvSpPr>
          <p:cNvPr id="6" name="Footer Placeholder 5"/>
          <p:cNvSpPr>
            <a:spLocks noGrp="1"/>
          </p:cNvSpPr>
          <p:nvPr>
            <p:ph type="ftr" sz="quarter" idx="11"/>
          </p:nvPr>
        </p:nvSpPr>
        <p:spPr>
          <a:xfrm>
            <a:off x="3124200" y="6248400"/>
            <a:ext cx="2895600" cy="457200"/>
          </a:xfrm>
        </p:spPr>
        <p:txBody>
          <a:bodyPr rtlCol="0"/>
          <a:lstStyle>
            <a:lvl1pPr fontAlgn="auto">
              <a:spcBef>
                <a:spcPts val="0"/>
              </a:spcBef>
              <a:spcAft>
                <a:spcPts val="0"/>
              </a:spcAft>
              <a:defRPr>
                <a:solidFill>
                  <a:schemeClr val="tx2">
                    <a:lumMod val="60000"/>
                    <a:lumOff val="40000"/>
                  </a:schemeClr>
                </a:solidFill>
                <a:latin typeface="+mn-lt"/>
                <a:ea typeface="+mn-ea"/>
              </a:defRPr>
            </a:lvl1pPr>
          </a:lstStyle>
          <a:p>
            <a:pPr>
              <a:defRPr/>
            </a:pPr>
            <a:r>
              <a:rPr lang="en-US"/>
              <a:t>Chapter 5</a:t>
            </a: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1B25455A-5CD0-44A2-B48A-1A2F2101B5B7}" type="slidenum">
              <a:rPr lang="en-US" altLang="en-US"/>
              <a:pPr/>
              <a:t>‹#›</a:t>
            </a:fld>
            <a:endParaRPr lang="en-US" altLang="en-US"/>
          </a:p>
        </p:txBody>
      </p:sp>
    </p:spTree>
    <p:extLst>
      <p:ext uri="{BB962C8B-B14F-4D97-AF65-F5344CB8AC3E}">
        <p14:creationId xmlns:p14="http://schemas.microsoft.com/office/powerpoint/2010/main" val="3906072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a:t>Click to edit Master title style</a:t>
            </a:r>
          </a:p>
        </p:txBody>
      </p:sp>
      <p:sp>
        <p:nvSpPr>
          <p:cNvPr id="3" name="Content Placeholder 2"/>
          <p:cNvSpPr>
            <a:spLocks noGrp="1"/>
          </p:cNvSpPr>
          <p:nvPr>
            <p:ph sz="half" idx="1"/>
          </p:nvPr>
        </p:nvSpPr>
        <p:spPr>
          <a:xfrm>
            <a:off x="457200" y="1143000"/>
            <a:ext cx="40386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4682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100" b="1" smtClean="0">
                <a:solidFill>
                  <a:srgbClr val="60B9EC"/>
                </a:solidFill>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100" b="1" smtClean="0">
                <a:solidFill>
                  <a:srgbClr val="60B9EC"/>
                </a:solidFill>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defRPr>
            </a:lvl1pPr>
          </a:lstStyle>
          <a:p>
            <a:fld id="{E66EEE47-CE31-4DE0-97D8-9774550C25C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 id="2147484929" r:id="rId13"/>
    <p:sldLayoutId id="2147484930" r:id="rId14"/>
    <p:sldLayoutId id="2147484931" r:id="rId15"/>
    <p:sldLayoutId id="2147484932" r:id="rId16"/>
    <p:sldLayoutId id="2147484933" r:id="rId17"/>
    <p:sldLayoutId id="2147484934" r:id="rId18"/>
    <p:sldLayoutId id="2147484935" r:id="rId19"/>
    <p:sldLayoutId id="2147484936" r:id="rId20"/>
    <p:sldLayoutId id="2147484937" r:id="rId21"/>
    <p:sldLayoutId id="2147484938" r:id="rId22"/>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anose="05020102010507070707"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xml"/><Relationship Id="rId7" Type="http://schemas.openxmlformats.org/officeDocument/2006/relationships/image" Target="../media/image3.w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 Id="rId9"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7.png"/><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6.xml"/><Relationship Id="rId7" Type="http://schemas.openxmlformats.org/officeDocument/2006/relationships/image" Target="../media/image12.emf"/><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1.emf"/><Relationship Id="rId4" Type="http://schemas.openxmlformats.org/officeDocument/2006/relationships/oleObject" Target="../embeddings/oleObject5.bin"/><Relationship Id="rId9" Type="http://schemas.openxmlformats.org/officeDocument/2006/relationships/image" Target="../media/image13.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8.bin"/><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17.png"/><Relationship Id="rId5" Type="http://schemas.openxmlformats.org/officeDocument/2006/relationships/image" Target="../media/image16.wmf"/><Relationship Id="rId4"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20.png"/><Relationship Id="rId7" Type="http://schemas.openxmlformats.org/officeDocument/2006/relationships/image" Target="../media/image19.wmf"/><Relationship Id="rId12" Type="http://schemas.openxmlformats.org/officeDocument/2006/relationships/image" Target="../media/image23.png"/><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oleObject" Target="../embeddings/oleObject11.bin"/><Relationship Id="rId11" Type="http://schemas.openxmlformats.org/officeDocument/2006/relationships/image" Target="../media/image22.png"/><Relationship Id="rId5" Type="http://schemas.openxmlformats.org/officeDocument/2006/relationships/image" Target="../media/image18.wmf"/><Relationship Id="rId10" Type="http://schemas.openxmlformats.org/officeDocument/2006/relationships/image" Target="../media/image21.png"/><Relationship Id="rId4" Type="http://schemas.openxmlformats.org/officeDocument/2006/relationships/oleObject" Target="../embeddings/oleObject10.bin"/><Relationship Id="rId9" Type="http://schemas.openxmlformats.org/officeDocument/2006/relationships/image" Target="../media/image20.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slideLayout" Target="../slideLayouts/slideLayout12.xml"/><Relationship Id="rId1" Type="http://schemas.openxmlformats.org/officeDocument/2006/relationships/vmlDrawing" Target="../drawings/vmlDrawing7.vml"/><Relationship Id="rId5" Type="http://schemas.openxmlformats.org/officeDocument/2006/relationships/image" Target="../media/image24.emf"/><Relationship Id="rId4"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notesSlide" Target="../notesSlides/notesSlide9.xml"/><Relationship Id="rId7" Type="http://schemas.openxmlformats.org/officeDocument/2006/relationships/image" Target="../media/image26.emf"/><Relationship Id="rId2" Type="http://schemas.openxmlformats.org/officeDocument/2006/relationships/slideLayout" Target="../slideLayouts/slideLayout12.xml"/><Relationship Id="rId1" Type="http://schemas.openxmlformats.org/officeDocument/2006/relationships/vmlDrawing" Target="../drawings/vmlDrawing8.vml"/><Relationship Id="rId6" Type="http://schemas.openxmlformats.org/officeDocument/2006/relationships/oleObject" Target="../embeddings/oleObject15.bin"/><Relationship Id="rId11" Type="http://schemas.openxmlformats.org/officeDocument/2006/relationships/image" Target="../media/image28.wmf"/><Relationship Id="rId5" Type="http://schemas.openxmlformats.org/officeDocument/2006/relationships/image" Target="../media/image25.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27.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10.xml"/><Relationship Id="rId7" Type="http://schemas.openxmlformats.org/officeDocument/2006/relationships/image" Target="../media/image30.emf"/><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oleObject" Target="../embeddings/oleObject19.bin"/><Relationship Id="rId5" Type="http://schemas.openxmlformats.org/officeDocument/2006/relationships/image" Target="../media/image29.emf"/><Relationship Id="rId4" Type="http://schemas.openxmlformats.org/officeDocument/2006/relationships/oleObject" Target="../embeddings/oleObject18.bin"/><Relationship Id="rId9" Type="http://schemas.openxmlformats.org/officeDocument/2006/relationships/image" Target="../media/image31.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image" Target="../media/image34.emf"/><Relationship Id="rId5" Type="http://schemas.openxmlformats.org/officeDocument/2006/relationships/oleObject" Target="../embeddings/oleObject22.bin"/><Relationship Id="rId4" Type="http://schemas.openxmlformats.org/officeDocument/2006/relationships/image" Target="../media/image33.emf"/><Relationship Id="rId9"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image" Target="../media/image38.wmf"/><Relationship Id="rId5" Type="http://schemas.openxmlformats.org/officeDocument/2006/relationships/oleObject" Target="../embeddings/oleObject25.bin"/><Relationship Id="rId10" Type="http://schemas.openxmlformats.org/officeDocument/2006/relationships/image" Target="../media/image40.wmf"/><Relationship Id="rId4" Type="http://schemas.openxmlformats.org/officeDocument/2006/relationships/image" Target="../media/image37.emf"/><Relationship Id="rId9" Type="http://schemas.openxmlformats.org/officeDocument/2006/relationships/oleObject" Target="../embeddings/oleObject27.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vmlDrawing" Target="../drawings/vmlDrawing12.vml"/><Relationship Id="rId5" Type="http://schemas.openxmlformats.org/officeDocument/2006/relationships/image" Target="../media/image41.emf"/><Relationship Id="rId4" Type="http://schemas.openxmlformats.org/officeDocument/2006/relationships/oleObject" Target="../embeddings/oleObject28.bin"/></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notesSlide" Target="../notesSlides/notesSlide15.xml"/><Relationship Id="rId7" Type="http://schemas.openxmlformats.org/officeDocument/2006/relationships/image" Target="../media/image44.wmf"/><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oleObject" Target="../embeddings/oleObject30.bin"/><Relationship Id="rId5" Type="http://schemas.openxmlformats.org/officeDocument/2006/relationships/image" Target="../media/image43.wmf"/><Relationship Id="rId4" Type="http://schemas.openxmlformats.org/officeDocument/2006/relationships/oleObject" Target="../embeddings/oleObject29.bin"/><Relationship Id="rId9" Type="http://schemas.openxmlformats.org/officeDocument/2006/relationships/image" Target="../media/image45.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2.xml"/><Relationship Id="rId1" Type="http://schemas.openxmlformats.org/officeDocument/2006/relationships/vmlDrawing" Target="../drawings/vmlDrawing14.vml"/><Relationship Id="rId6" Type="http://schemas.openxmlformats.org/officeDocument/2006/relationships/image" Target="../media/image47.wmf"/><Relationship Id="rId5" Type="http://schemas.openxmlformats.org/officeDocument/2006/relationships/oleObject" Target="../embeddings/oleObject33.bin"/><Relationship Id="rId4" Type="http://schemas.openxmlformats.org/officeDocument/2006/relationships/image" Target="../media/image46.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54.png"/><Relationship Id="rId3" Type="http://schemas.openxmlformats.org/officeDocument/2006/relationships/oleObject" Target="../embeddings/oleObject34.bin"/><Relationship Id="rId7" Type="http://schemas.openxmlformats.org/officeDocument/2006/relationships/image" Target="../media/image52.png"/><Relationship Id="rId12" Type="http://schemas.openxmlformats.org/officeDocument/2006/relationships/image" Target="../media/image51.wmf"/><Relationship Id="rId2" Type="http://schemas.openxmlformats.org/officeDocument/2006/relationships/slideLayout" Target="../slideLayouts/slideLayout12.xml"/><Relationship Id="rId1" Type="http://schemas.openxmlformats.org/officeDocument/2006/relationships/vmlDrawing" Target="../drawings/vmlDrawing15.vml"/><Relationship Id="rId6" Type="http://schemas.openxmlformats.org/officeDocument/2006/relationships/image" Target="../media/image49.wmf"/><Relationship Id="rId11" Type="http://schemas.openxmlformats.org/officeDocument/2006/relationships/oleObject" Target="../embeddings/oleObject37.bin"/><Relationship Id="rId5" Type="http://schemas.openxmlformats.org/officeDocument/2006/relationships/oleObject" Target="../embeddings/oleObject35.bin"/><Relationship Id="rId10" Type="http://schemas.openxmlformats.org/officeDocument/2006/relationships/image" Target="../media/image53.png"/><Relationship Id="rId4" Type="http://schemas.openxmlformats.org/officeDocument/2006/relationships/image" Target="../media/image48.wmf"/><Relationship Id="rId9" Type="http://schemas.openxmlformats.org/officeDocument/2006/relationships/image" Target="../media/image50.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2.xml"/><Relationship Id="rId1" Type="http://schemas.openxmlformats.org/officeDocument/2006/relationships/vmlDrawing" Target="../drawings/vmlDrawing16.vml"/><Relationship Id="rId6" Type="http://schemas.openxmlformats.org/officeDocument/2006/relationships/image" Target="../media/image56.emf"/><Relationship Id="rId5" Type="http://schemas.openxmlformats.org/officeDocument/2006/relationships/oleObject" Target="../embeddings/oleObject39.bin"/><Relationship Id="rId4" Type="http://schemas.openxmlformats.org/officeDocument/2006/relationships/image" Target="../media/image55.e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58.emf"/><Relationship Id="rId2" Type="http://schemas.openxmlformats.org/officeDocument/2006/relationships/slideLayout" Target="../slideLayouts/slideLayout12.xml"/><Relationship Id="rId1" Type="http://schemas.openxmlformats.org/officeDocument/2006/relationships/vmlDrawing" Target="../drawings/vmlDrawing17.vml"/><Relationship Id="rId6" Type="http://schemas.openxmlformats.org/officeDocument/2006/relationships/oleObject" Target="../embeddings/oleObject41.bin"/><Relationship Id="rId5" Type="http://schemas.openxmlformats.org/officeDocument/2006/relationships/image" Target="../media/image57.emf"/><Relationship Id="rId4" Type="http://schemas.openxmlformats.org/officeDocument/2006/relationships/oleObject" Target="../embeddings/oleObject40.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vmlDrawing" Target="../drawings/vmlDrawing18.vml"/><Relationship Id="rId6" Type="http://schemas.openxmlformats.org/officeDocument/2006/relationships/image" Target="../media/image59.wmf"/><Relationship Id="rId5" Type="http://schemas.openxmlformats.org/officeDocument/2006/relationships/oleObject" Target="../embeddings/oleObject42.bin"/><Relationship Id="rId4" Type="http://schemas.openxmlformats.org/officeDocument/2006/relationships/image" Target="../media/image5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27208" y="4298469"/>
            <a:ext cx="7772400" cy="1829761"/>
          </a:xfrm>
        </p:spPr>
        <p:txBody>
          <a:bodyPr>
            <a:normAutofit fontScale="90000"/>
          </a:bodyPr>
          <a:lstStyle/>
          <a:p>
            <a:pPr algn="ctr" eaLnBrk="1" fontAlgn="auto" hangingPunct="1">
              <a:spcAft>
                <a:spcPts val="0"/>
              </a:spcAft>
              <a:defRPr/>
            </a:pPr>
            <a:r>
              <a:rPr lang="en-US" sz="3000" b="0" dirty="0">
                <a:solidFill>
                  <a:schemeClr val="tx1"/>
                </a:solidFill>
                <a:effectLst/>
                <a:latin typeface="Arial" pitchFamily="34" charset="0"/>
                <a:ea typeface="ヒラギノ角ゴ Pro W3" pitchFamily="-84" charset="-128"/>
                <a:cs typeface="Arial" pitchFamily="34" charset="0"/>
              </a:rPr>
              <a:t>Chapter 8</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solidFill>
                  <a:schemeClr val="tx1"/>
                </a:solidFill>
                <a:effectLst/>
                <a:latin typeface="Arial" pitchFamily="34" charset="0"/>
                <a:ea typeface="ヒラギノ角ゴ Pro W3" pitchFamily="-84" charset="-128"/>
                <a:cs typeface="Arial" pitchFamily="34" charset="0"/>
              </a:rPr>
              <a:t>Inference for Proportions</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effectLst/>
                <a:ea typeface="ヒラギノ角ゴ Pro W3" pitchFamily="-84" charset="-128"/>
              </a:rPr>
              <a:t/>
            </a:r>
            <a:br>
              <a:rPr lang="en-US" sz="3000" b="0" dirty="0">
                <a:effectLst/>
                <a:ea typeface="ヒラギノ角ゴ Pro W3" pitchFamily="-84" charset="-128"/>
              </a:rPr>
            </a:br>
            <a:r>
              <a:rPr lang="en-US" sz="3000" b="0" dirty="0">
                <a:effectLst/>
                <a:ea typeface="ヒラギノ角ゴ Pro W3" pitchFamily="-84" charset="-128"/>
              </a:rPr>
              <a:t>Lecture Slides</a:t>
            </a:r>
            <a:endParaRPr lang="en-US" sz="3000" b="0" dirty="0">
              <a:solidFill>
                <a:schemeClr val="tx1"/>
              </a:solidFill>
              <a:effectLst/>
              <a:latin typeface="Arial" pitchFamily="34" charset="0"/>
              <a:ea typeface="ヒラギノ角ゴ Pro W3" pitchFamily="-84" charset="-128"/>
              <a:cs typeface="Arial" pitchFamily="34" charset="0"/>
            </a:endParaRPr>
          </a:p>
        </p:txBody>
      </p:sp>
      <p:sp>
        <p:nvSpPr>
          <p:cNvPr id="2" name="Footer Placeholder 1"/>
          <p:cNvSpPr>
            <a:spLocks noGrp="1"/>
          </p:cNvSpPr>
          <p:nvPr>
            <p:ph type="ftr" sz="quarter" idx="4294967295"/>
          </p:nvPr>
        </p:nvSpPr>
        <p:spPr>
          <a:xfrm>
            <a:off x="5943600" y="6294120"/>
            <a:ext cx="2807738" cy="365125"/>
          </a:xfrm>
          <a:prstGeom prst="rect">
            <a:avLst/>
          </a:prstGeom>
        </p:spPr>
        <p:txBody>
          <a:bodyPr/>
          <a:lstStyle/>
          <a:p>
            <a:pPr>
              <a:defRPr/>
            </a:pPr>
            <a:r>
              <a:rPr lang="en-US" sz="1200" dirty="0">
                <a:solidFill>
                  <a:prstClr val="black"/>
                </a:solidFill>
              </a:rPr>
              <a:t>© 2021 W.H. Freeman and Company</a:t>
            </a:r>
          </a:p>
        </p:txBody>
      </p:sp>
      <p:sp>
        <p:nvSpPr>
          <p:cNvPr id="6" name="Google Shape;56;p1"/>
          <p:cNvSpPr txBox="1">
            <a:spLocks/>
          </p:cNvSpPr>
          <p:nvPr/>
        </p:nvSpPr>
        <p:spPr>
          <a:xfrm>
            <a:off x="304800" y="457200"/>
            <a:ext cx="8617217" cy="3644900"/>
          </a:xfrm>
          <a:prstGeom prst="rect">
            <a:avLst/>
          </a:prstGeom>
          <a:noFill/>
          <a:ln>
            <a:noFill/>
          </a:ln>
        </p:spPr>
        <p:txBody>
          <a:bodyPr spcFirstLastPara="1" vert="horz" wrap="square" lIns="91425" tIns="45700" rIns="91425" bIns="4570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ClrTx/>
              <a:buFontTx/>
            </a:pPr>
            <a:r>
              <a:rPr lang="en-US" sz="5000" dirty="0">
                <a:latin typeface="Garamond"/>
                <a:ea typeface="Garamond"/>
                <a:cs typeface="Garamond"/>
                <a:sym typeface="Garamond"/>
              </a:rPr>
              <a:t>Introduction to the Practice of Statistics</a:t>
            </a:r>
            <a:br>
              <a:rPr lang="en-US" sz="5000" dirty="0">
                <a:latin typeface="Garamond"/>
                <a:ea typeface="Garamond"/>
                <a:cs typeface="Garamond"/>
                <a:sym typeface="Garamond"/>
              </a:rPr>
            </a:br>
            <a:r>
              <a:rPr lang="en-US" sz="5000" dirty="0">
                <a:latin typeface="Garamond"/>
                <a:ea typeface="Garamond"/>
                <a:cs typeface="Garamond"/>
                <a:sym typeface="Garamond"/>
              </a:rPr>
              <a:t>Tenth Edition</a:t>
            </a: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3500" dirty="0">
                <a:latin typeface="Garamond"/>
                <a:ea typeface="Garamond"/>
                <a:cs typeface="Garamond"/>
                <a:sym typeface="Garamond"/>
              </a:rPr>
              <a:t>David S. Moore			George P. McCabe</a:t>
            </a:r>
            <a:br>
              <a:rPr lang="en-US" sz="3500" dirty="0">
                <a:latin typeface="Garamond"/>
                <a:ea typeface="Garamond"/>
                <a:cs typeface="Garamond"/>
                <a:sym typeface="Garamond"/>
              </a:rPr>
            </a:br>
            <a:r>
              <a:rPr lang="en-US" sz="3500" dirty="0">
                <a:latin typeface="Garamond"/>
                <a:ea typeface="Garamond"/>
                <a:cs typeface="Garamond"/>
                <a:sym typeface="Garamond"/>
              </a:rPr>
              <a:t>Bruce Craig</a:t>
            </a:r>
          </a:p>
        </p:txBody>
      </p:sp>
    </p:spTree>
    <p:extLst>
      <p:ext uri="{BB962C8B-B14F-4D97-AF65-F5344CB8AC3E}">
        <p14:creationId xmlns:p14="http://schemas.microsoft.com/office/powerpoint/2010/main" val="41592629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Chapter 8</a:t>
            </a:r>
            <a:br>
              <a:rPr lang="en-US" altLang="en-US" b="1" dirty="0"/>
            </a:br>
            <a:r>
              <a:rPr lang="en-US" altLang="en-US" b="1" dirty="0"/>
              <a:t>Inference for Proportions</a:t>
            </a:r>
            <a:endParaRPr lang="en-US" b="1" dirty="0"/>
          </a:p>
        </p:txBody>
      </p:sp>
      <p:sp>
        <p:nvSpPr>
          <p:cNvPr id="3" name="Content Placeholder 2"/>
          <p:cNvSpPr>
            <a:spLocks noGrp="1"/>
          </p:cNvSpPr>
          <p:nvPr>
            <p:ph idx="1"/>
          </p:nvPr>
        </p:nvSpPr>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anose="020B0604020202020204" pitchFamily="34" charset="0"/>
                <a:ea typeface="ＭＳ Ｐゴシック" panose="020B0600070205080204" pitchFamily="34" charset="-128"/>
                <a:cs typeface="+mn-cs"/>
              </a:rPr>
              <a:t>8.1 Inference for a Single Proportion</a:t>
            </a:r>
          </a:p>
          <a:p>
            <a:pPr marL="0" lvl="0" indent="0" eaLnBrk="1" hangingPunct="1">
              <a:spcBef>
                <a:spcPct val="0"/>
              </a:spcBef>
              <a:spcAft>
                <a:spcPts val="1800"/>
              </a:spcAft>
              <a:buClrTx/>
              <a:buSzTx/>
              <a:buNone/>
            </a:pPr>
            <a:r>
              <a:rPr lang="en-US" altLang="en-US" sz="2800" b="1" dirty="0">
                <a:solidFill>
                  <a:srgbClr val="073779"/>
                </a:solidFill>
                <a:latin typeface="Arial" panose="020B0604020202020204" pitchFamily="34" charset="0"/>
                <a:ea typeface="ＭＳ Ｐゴシック" panose="020B0600070205080204" pitchFamily="34" charset="-128"/>
                <a:cs typeface="+mn-cs"/>
              </a:rPr>
              <a:t>8.2 Comparing Two Proportions</a:t>
            </a:r>
          </a:p>
        </p:txBody>
      </p:sp>
      <p:sp>
        <p:nvSpPr>
          <p:cNvPr id="25602"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6C0C7C4D-B1D0-4F95-B233-31206D2DFA11}" type="slidenum">
              <a:rPr lang="en-US" altLang="en-US">
                <a:solidFill>
                  <a:schemeClr val="accent1"/>
                </a:solidFill>
              </a:rPr>
              <a:pPr/>
              <a:t>2</a:t>
            </a:fld>
            <a:endParaRPr lang="en-US" altLang="en-US">
              <a:solidFill>
                <a:schemeClr val="accent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2"/>
          <p:cNvSpPr>
            <a:spLocks noGrp="1"/>
          </p:cNvSpPr>
          <p:nvPr>
            <p:ph type="title"/>
          </p:nvPr>
        </p:nvSpPr>
        <p:spPr>
          <a:xfrm>
            <a:off x="457200" y="539646"/>
            <a:ext cx="6508750" cy="1143000"/>
          </a:xfrm>
        </p:spPr>
        <p:txBody>
          <a:bodyPr anchor="t"/>
          <a:lstStyle/>
          <a:p>
            <a:pPr eaLnBrk="1" hangingPunct="1"/>
            <a:r>
              <a:rPr lang="en-US" altLang="en-US" b="1" dirty="0">
                <a:ea typeface="ＭＳ Ｐゴシック" panose="020B0600070205080204" pitchFamily="34" charset="-128"/>
              </a:rPr>
              <a:t>8.1 Inference for a Single Proportion</a:t>
            </a:r>
          </a:p>
        </p:txBody>
      </p:sp>
      <p:sp>
        <p:nvSpPr>
          <p:cNvPr id="26627" name="Text Placeholder 3"/>
          <p:cNvSpPr>
            <a:spLocks noGrp="1"/>
          </p:cNvSpPr>
          <p:nvPr>
            <p:ph idx="1"/>
          </p:nvPr>
        </p:nvSpPr>
        <p:spPr>
          <a:xfrm>
            <a:off x="457199" y="2209800"/>
            <a:ext cx="8051801" cy="3916363"/>
          </a:xfrm>
        </p:spPr>
        <p:txBody>
          <a:bodyPr/>
          <a:lstStyle/>
          <a:p>
            <a:pPr eaLnBrk="1" hangingPunct="1">
              <a:buSzPct val="110000"/>
              <a:buFont typeface="Wingdings" panose="05000000000000000000" pitchFamily="2" charset="2"/>
              <a:buChar char="§"/>
            </a:pPr>
            <a:r>
              <a:rPr lang="en-US" altLang="en-US" sz="2400" dirty="0">
                <a:solidFill>
                  <a:schemeClr val="accent1"/>
                </a:solidFill>
                <a:ea typeface="ＭＳ Ｐゴシック" panose="020B0600070205080204" pitchFamily="34" charset="-128"/>
              </a:rPr>
              <a:t>Large-sample confidence interval for a single proportion</a:t>
            </a:r>
          </a:p>
          <a:p>
            <a:pPr eaLnBrk="1" hangingPunct="1">
              <a:buSzPct val="110000"/>
              <a:buFont typeface="Wingdings" panose="05000000000000000000" pitchFamily="2" charset="2"/>
              <a:buChar char="§"/>
            </a:pPr>
            <a:r>
              <a:rPr lang="en-US" altLang="en-US" sz="2400" dirty="0">
                <a:solidFill>
                  <a:schemeClr val="accent1"/>
                </a:solidFill>
                <a:ea typeface="ＭＳ Ｐゴシック" panose="020B0600070205080204" pitchFamily="34" charset="-128"/>
              </a:rPr>
              <a:t>The plus four confidence interval for a single proportion</a:t>
            </a:r>
          </a:p>
          <a:p>
            <a:pPr eaLnBrk="1" hangingPunct="1">
              <a:buSzPct val="110000"/>
              <a:buFont typeface="Wingdings" panose="05000000000000000000" pitchFamily="2" charset="2"/>
              <a:buChar char="§"/>
            </a:pPr>
            <a:r>
              <a:rPr lang="en-US" altLang="en-US" sz="2400" dirty="0">
                <a:solidFill>
                  <a:schemeClr val="accent1"/>
                </a:solidFill>
                <a:ea typeface="ＭＳ Ｐゴシック" panose="020B0600070205080204" pitchFamily="34" charset="-128"/>
              </a:rPr>
              <a:t>Significance test for a single proportion</a:t>
            </a:r>
          </a:p>
          <a:p>
            <a:pPr eaLnBrk="1" hangingPunct="1">
              <a:buSzPct val="110000"/>
              <a:buFont typeface="Wingdings" panose="05000000000000000000" pitchFamily="2" charset="2"/>
              <a:buChar char="§"/>
            </a:pPr>
            <a:r>
              <a:rPr lang="en-US" altLang="en-US" sz="2400" dirty="0">
                <a:solidFill>
                  <a:schemeClr val="accent1"/>
                </a:solidFill>
                <a:ea typeface="ＭＳ Ｐゴシック" panose="020B0600070205080204" pitchFamily="34" charset="-128"/>
              </a:rPr>
              <a:t>Choosing a sample size for a confidence interval</a:t>
            </a:r>
          </a:p>
          <a:p>
            <a:pPr eaLnBrk="1" hangingPunct="1">
              <a:buSzPct val="110000"/>
              <a:buFont typeface="Wingdings" panose="05000000000000000000" pitchFamily="2" charset="2"/>
              <a:buChar char="§"/>
            </a:pPr>
            <a:r>
              <a:rPr lang="en-US" altLang="en-US" sz="2400" dirty="0">
                <a:solidFill>
                  <a:schemeClr val="accent1"/>
                </a:solidFill>
                <a:ea typeface="ＭＳ Ｐゴシック" panose="020B0600070205080204" pitchFamily="34" charset="-128"/>
              </a:rPr>
              <a:t>Choosing a sample size for a significance test</a:t>
            </a:r>
          </a:p>
          <a:p>
            <a:pPr eaLnBrk="1" hangingPunct="1">
              <a:buSzPct val="110000"/>
              <a:buFont typeface="Wingdings" panose="05000000000000000000" pitchFamily="2" charset="2"/>
              <a:buChar char="§"/>
            </a:pPr>
            <a:endParaRPr lang="en-US" altLang="en-US" sz="2400" dirty="0">
              <a:solidFill>
                <a:schemeClr val="accent1"/>
              </a:solidFill>
              <a:ea typeface="ＭＳ Ｐゴシック" panose="020B0600070205080204" pitchFamily="34" charset="-128"/>
            </a:endParaRPr>
          </a:p>
          <a:p>
            <a:pPr eaLnBrk="1" hangingPunct="1">
              <a:buSzPct val="110000"/>
              <a:buFont typeface="Wingdings" panose="05000000000000000000" pitchFamily="2" charset="2"/>
              <a:buChar char="§"/>
            </a:pPr>
            <a:endParaRPr lang="en-US" altLang="en-US" sz="2400" dirty="0">
              <a:solidFill>
                <a:schemeClr val="accent1"/>
              </a:solidFill>
              <a:ea typeface="ＭＳ Ｐゴシック" panose="020B0600070205080204" pitchFamily="34" charset="-128"/>
            </a:endParaRPr>
          </a:p>
        </p:txBody>
      </p:sp>
      <p:sp>
        <p:nvSpPr>
          <p:cNvPr id="2662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9E9407DB-4BFA-4B84-9BCC-4F304F88E946}" type="slidenum">
              <a:rPr lang="en-US" altLang="en-US">
                <a:solidFill>
                  <a:schemeClr val="accent1"/>
                </a:solidFill>
              </a:rPr>
              <a:pPr/>
              <a:t>3</a:t>
            </a:fld>
            <a:endParaRPr lang="en-US" altLang="en-US">
              <a:solidFill>
                <a:schemeClr val="accent1"/>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Sampling Distribution of a Sample Proportion</a:t>
            </a:r>
          </a:p>
        </p:txBody>
      </p:sp>
      <p:sp>
        <p:nvSpPr>
          <p:cNvPr id="276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ECDA34E4-1C29-42D6-A577-BB0BACE5BE88}" type="slidenum">
              <a:rPr lang="en-US" altLang="en-US" sz="1200">
                <a:solidFill>
                  <a:schemeClr val="accent1"/>
                </a:solidFill>
              </a:rPr>
              <a:pPr>
                <a:lnSpc>
                  <a:spcPct val="80000"/>
                </a:lnSpc>
              </a:pPr>
              <a:t>4</a:t>
            </a:fld>
            <a:endParaRPr lang="en-US" altLang="en-US" sz="1200">
              <a:solidFill>
                <a:schemeClr val="accent1"/>
              </a:solidFill>
            </a:endParaRPr>
          </a:p>
        </p:txBody>
      </p:sp>
      <p:sp>
        <p:nvSpPr>
          <p:cNvPr id="24" name="TextBox 23"/>
          <p:cNvSpPr txBox="1">
            <a:spLocks noChangeArrowheads="1"/>
          </p:cNvSpPr>
          <p:nvPr/>
        </p:nvSpPr>
        <p:spPr bwMode="auto">
          <a:xfrm>
            <a:off x="1523206" y="1654077"/>
            <a:ext cx="6135688" cy="338137"/>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1600" b="1" dirty="0">
                <a:solidFill>
                  <a:schemeClr val="dk1"/>
                </a:solidFill>
                <a:latin typeface="+mn-lt"/>
                <a:ea typeface="+mn-ea"/>
              </a:rPr>
              <a:t>Sampling Distribution of a Sample Proportion</a:t>
            </a:r>
          </a:p>
        </p:txBody>
      </p:sp>
      <mc:AlternateContent xmlns:mc="http://schemas.openxmlformats.org/markup-compatibility/2006" xmlns:a14="http://schemas.microsoft.com/office/drawing/2010/main">
        <mc:Choice Requires="a14">
          <p:sp>
            <p:nvSpPr>
              <p:cNvPr id="23" name="TextBox 22"/>
              <p:cNvSpPr txBox="1">
                <a:spLocks noChangeArrowheads="1"/>
              </p:cNvSpPr>
              <p:nvPr/>
            </p:nvSpPr>
            <p:spPr bwMode="auto">
              <a:xfrm>
                <a:off x="174625" y="1977481"/>
                <a:ext cx="8816180" cy="3792641"/>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342900" indent="-342900" defTabSz="457200">
                  <a:defRPr sz="2000">
                    <a:solidFill>
                      <a:schemeClr val="tx2"/>
                    </a:solidFill>
                    <a:latin typeface="Arial" pitchFamily="34" charset="0"/>
                    <a:ea typeface="ＭＳ Ｐゴシック" pitchFamily="34" charset="-128"/>
                  </a:defRPr>
                </a:lvl1pPr>
                <a:lvl2pPr marL="37931725" indent="-37474525" defTabSz="457200">
                  <a:defRPr>
                    <a:solidFill>
                      <a:schemeClr val="tx2"/>
                    </a:solidFill>
                    <a:latin typeface="Arial" pitchFamily="34" charset="0"/>
                    <a:ea typeface="ＭＳ Ｐゴシック" pitchFamily="34" charset="-128"/>
                  </a:defRPr>
                </a:lvl2pPr>
                <a:lvl3pPr defTabSz="457200">
                  <a:defRPr>
                    <a:solidFill>
                      <a:schemeClr val="tx2"/>
                    </a:solidFill>
                    <a:latin typeface="Arial" pitchFamily="34" charset="0"/>
                    <a:ea typeface="ＭＳ Ｐゴシック" pitchFamily="34" charset="-128"/>
                  </a:defRPr>
                </a:lvl3pPr>
                <a:lvl4pPr defTabSz="457200">
                  <a:defRPr>
                    <a:solidFill>
                      <a:schemeClr val="tx2"/>
                    </a:solidFill>
                    <a:latin typeface="Arial" pitchFamily="34" charset="0"/>
                    <a:ea typeface="ＭＳ Ｐゴシック" pitchFamily="34" charset="-128"/>
                  </a:defRPr>
                </a:lvl4pPr>
                <a:lvl5pPr defTabSz="457200">
                  <a:defRPr>
                    <a:solidFill>
                      <a:schemeClr val="tx2"/>
                    </a:solidFill>
                    <a:latin typeface="Arial" pitchFamily="34" charset="0"/>
                    <a:ea typeface="ＭＳ Ｐゴシック" pitchFamily="34" charset="-128"/>
                  </a:defRPr>
                </a:lvl5pPr>
                <a:lvl6pPr marL="16002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0574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2514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29718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Aft>
                    <a:spcPts val="1800"/>
                  </a:spcAft>
                  <a:defRPr/>
                </a:pPr>
                <a:r>
                  <a:rPr lang="en-US" altLang="en-US" sz="1800" dirty="0">
                    <a:solidFill>
                      <a:srgbClr val="000000"/>
                    </a:solidFill>
                  </a:rPr>
                  <a:t>Choose an SRS of size </a:t>
                </a:r>
                <a:r>
                  <a:rPr lang="en-US" altLang="en-US" sz="1800" i="1" dirty="0">
                    <a:solidFill>
                      <a:srgbClr val="000000"/>
                    </a:solidFill>
                  </a:rPr>
                  <a:t>n</a:t>
                </a:r>
                <a:r>
                  <a:rPr lang="en-US" altLang="en-US" sz="1800" dirty="0">
                    <a:solidFill>
                      <a:srgbClr val="000000"/>
                    </a:solidFill>
                  </a:rPr>
                  <a:t> from a population of size </a:t>
                </a:r>
                <a:r>
                  <a:rPr lang="en-US" altLang="en-US" sz="1800" i="1" dirty="0">
                    <a:solidFill>
                      <a:srgbClr val="000000"/>
                    </a:solidFill>
                  </a:rPr>
                  <a:t>N</a:t>
                </a:r>
                <a:r>
                  <a:rPr lang="en-US" altLang="en-US" sz="1800" dirty="0">
                    <a:solidFill>
                      <a:srgbClr val="000000"/>
                    </a:solidFill>
                  </a:rPr>
                  <a:t> with proportion </a:t>
                </a:r>
                <a:r>
                  <a:rPr lang="en-US" altLang="en-US" sz="1800" i="1" dirty="0">
                    <a:solidFill>
                      <a:srgbClr val="000000"/>
                    </a:solidFill>
                  </a:rPr>
                  <a:t>p</a:t>
                </a:r>
                <a:r>
                  <a:rPr lang="en-US" altLang="en-US" sz="1800" dirty="0">
                    <a:solidFill>
                      <a:srgbClr val="000000"/>
                    </a:solidFill>
                  </a:rPr>
                  <a:t> of successes. Let </a:t>
                </a:r>
                <a14:m>
                  <m:oMath xmlns:m="http://schemas.openxmlformats.org/officeDocument/2006/math">
                    <m:acc>
                      <m:accPr>
                        <m:chr m:val="̂"/>
                        <m:ctrlPr>
                          <a:rPr lang="en-US" altLang="en-US" sz="1800" i="1" smtClean="0">
                            <a:solidFill>
                              <a:srgbClr val="000000"/>
                            </a:solidFill>
                            <a:latin typeface="Cambria Math" panose="02040503050406030204" pitchFamily="18" charset="0"/>
                          </a:rPr>
                        </m:ctrlPr>
                      </m:accPr>
                      <m:e>
                        <m:r>
                          <a:rPr lang="en-US" altLang="en-US" sz="1800" b="0" i="1" smtClean="0">
                            <a:solidFill>
                              <a:srgbClr val="000000"/>
                            </a:solidFill>
                            <a:latin typeface="Cambria Math" panose="02040503050406030204" pitchFamily="18" charset="0"/>
                          </a:rPr>
                          <m:t>𝑝</m:t>
                        </m:r>
                      </m:e>
                    </m:acc>
                  </m:oMath>
                </a14:m>
                <a:r>
                  <a:rPr lang="en-US" altLang="en-US" sz="1800" dirty="0">
                    <a:solidFill>
                      <a:srgbClr val="000000"/>
                    </a:solidFill>
                  </a:rPr>
                  <a:t> be the sample proportion of successes. Then:</a:t>
                </a:r>
              </a:p>
              <a:p>
                <a:pPr algn="ctr" eaLnBrk="1" hangingPunct="1">
                  <a:spcAft>
                    <a:spcPts val="1800"/>
                  </a:spcAft>
                  <a:defRPr/>
                </a:pPr>
                <a:r>
                  <a:rPr lang="en-US" altLang="en-US" sz="1800" dirty="0">
                    <a:solidFill>
                      <a:srgbClr val="000000"/>
                    </a:solidFill>
                  </a:rPr>
                  <a:t>The </a:t>
                </a:r>
                <a:r>
                  <a:rPr lang="en-US" altLang="en-US" sz="1800" b="1" dirty="0">
                    <a:solidFill>
                      <a:srgbClr val="000000"/>
                    </a:solidFill>
                  </a:rPr>
                  <a:t>mean</a:t>
                </a:r>
                <a:r>
                  <a:rPr lang="en-US" altLang="en-US" sz="1800" dirty="0">
                    <a:solidFill>
                      <a:srgbClr val="000000"/>
                    </a:solidFill>
                  </a:rPr>
                  <a:t> of the sampling distribution is </a:t>
                </a:r>
                <a:r>
                  <a:rPr lang="en-US" altLang="en-US" sz="1800" i="1" dirty="0">
                    <a:solidFill>
                      <a:srgbClr val="000000"/>
                    </a:solidFill>
                  </a:rPr>
                  <a:t>p</a:t>
                </a:r>
                <a:r>
                  <a:rPr lang="en-US" altLang="en-US" sz="1800" dirty="0">
                    <a:solidFill>
                      <a:srgbClr val="000000"/>
                    </a:solidFill>
                  </a:rPr>
                  <a:t>.</a:t>
                </a:r>
              </a:p>
              <a:p>
                <a:pPr algn="ctr" eaLnBrk="1" hangingPunct="1">
                  <a:spcAft>
                    <a:spcPts val="1800"/>
                  </a:spcAft>
                  <a:defRPr/>
                </a:pPr>
                <a:r>
                  <a:rPr lang="en-US" altLang="en-US" sz="1800" dirty="0">
                    <a:solidFill>
                      <a:srgbClr val="000000"/>
                    </a:solidFill>
                  </a:rPr>
                  <a:t>The standard deviation of the sampling distribution is</a:t>
                </a:r>
              </a:p>
              <a:p>
                <a:pPr algn="ctr" eaLnBrk="1" hangingPunct="1">
                  <a:spcAft>
                    <a:spcPts val="1800"/>
                  </a:spcAft>
                  <a:defRPr/>
                </a:pPr>
                <a14:m>
                  <m:oMathPara xmlns:m="http://schemas.openxmlformats.org/officeDocument/2006/math">
                    <m:oMathParaPr>
                      <m:jc m:val="centerGroup"/>
                    </m:oMathParaPr>
                    <m:oMath xmlns:m="http://schemas.openxmlformats.org/officeDocument/2006/math">
                      <m:sSub>
                        <m:sSubPr>
                          <m:ctrlPr>
                            <a:rPr lang="en-US" altLang="en-US" sz="1800" i="1" smtClean="0">
                              <a:solidFill>
                                <a:srgbClr val="000000"/>
                              </a:solidFill>
                              <a:latin typeface="Cambria Math" panose="02040503050406030204" pitchFamily="18" charset="0"/>
                            </a:rPr>
                          </m:ctrlPr>
                        </m:sSubPr>
                        <m:e>
                          <m:r>
                            <a:rPr lang="en-US" altLang="en-US" sz="1800" i="1" smtClean="0">
                              <a:solidFill>
                                <a:srgbClr val="000000"/>
                              </a:solidFill>
                              <a:latin typeface="Cambria Math" panose="02040503050406030204" pitchFamily="18" charset="0"/>
                              <a:ea typeface="Cambria Math" panose="02040503050406030204" pitchFamily="18" charset="0"/>
                            </a:rPr>
                            <m:t>𝜎</m:t>
                          </m:r>
                        </m:e>
                        <m:sub>
                          <m:acc>
                            <m:accPr>
                              <m:chr m:val="̂"/>
                              <m:ctrlPr>
                                <a:rPr lang="en-US" altLang="en-US" sz="1800" i="1" smtClean="0">
                                  <a:solidFill>
                                    <a:srgbClr val="000000"/>
                                  </a:solidFill>
                                  <a:latin typeface="Cambria Math" panose="02040503050406030204" pitchFamily="18" charset="0"/>
                                </a:rPr>
                              </m:ctrlPr>
                            </m:accPr>
                            <m:e>
                              <m:r>
                                <a:rPr lang="en-US" altLang="en-US" sz="1800" b="0" i="1" smtClean="0">
                                  <a:solidFill>
                                    <a:srgbClr val="000000"/>
                                  </a:solidFill>
                                  <a:latin typeface="Cambria Math" panose="02040503050406030204" pitchFamily="18" charset="0"/>
                                </a:rPr>
                                <m:t>𝑝</m:t>
                              </m:r>
                            </m:e>
                          </m:acc>
                        </m:sub>
                      </m:sSub>
                      <m:r>
                        <a:rPr lang="en-US" altLang="en-US" sz="1800" b="0" i="1" smtClean="0">
                          <a:solidFill>
                            <a:srgbClr val="000000"/>
                          </a:solidFill>
                          <a:latin typeface="Cambria Math" panose="02040503050406030204" pitchFamily="18" charset="0"/>
                        </a:rPr>
                        <m:t>=</m:t>
                      </m:r>
                      <m:rad>
                        <m:radPr>
                          <m:degHide m:val="on"/>
                          <m:ctrlPr>
                            <a:rPr lang="en-US" altLang="en-US" sz="1800" b="0" i="1" smtClean="0">
                              <a:solidFill>
                                <a:srgbClr val="000000"/>
                              </a:solidFill>
                              <a:latin typeface="Cambria Math" panose="02040503050406030204" pitchFamily="18" charset="0"/>
                            </a:rPr>
                          </m:ctrlPr>
                        </m:radPr>
                        <m:deg/>
                        <m:e>
                          <m:f>
                            <m:fPr>
                              <m:ctrlPr>
                                <a:rPr lang="en-US" altLang="en-US" sz="1800" b="0" i="1" smtClean="0">
                                  <a:solidFill>
                                    <a:srgbClr val="000000"/>
                                  </a:solidFill>
                                  <a:latin typeface="Cambria Math" panose="02040503050406030204" pitchFamily="18" charset="0"/>
                                </a:rPr>
                              </m:ctrlPr>
                            </m:fPr>
                            <m:num>
                              <m:r>
                                <a:rPr lang="en-US" altLang="en-US" sz="1800" b="0" i="1" smtClean="0">
                                  <a:solidFill>
                                    <a:srgbClr val="000000"/>
                                  </a:solidFill>
                                  <a:latin typeface="Cambria Math" panose="02040503050406030204" pitchFamily="18" charset="0"/>
                                </a:rPr>
                                <m:t>𝑝</m:t>
                              </m:r>
                              <m:d>
                                <m:dPr>
                                  <m:ctrlPr>
                                    <a:rPr lang="en-US" altLang="en-US" sz="1800" b="0" i="1" smtClean="0">
                                      <a:solidFill>
                                        <a:srgbClr val="000000"/>
                                      </a:solidFill>
                                      <a:latin typeface="Cambria Math" panose="02040503050406030204" pitchFamily="18" charset="0"/>
                                    </a:rPr>
                                  </m:ctrlPr>
                                </m:dPr>
                                <m:e>
                                  <m:r>
                                    <a:rPr lang="en-US" altLang="en-US" sz="1800" b="0" i="1" smtClean="0">
                                      <a:solidFill>
                                        <a:srgbClr val="000000"/>
                                      </a:solidFill>
                                      <a:latin typeface="Cambria Math" panose="02040503050406030204" pitchFamily="18" charset="0"/>
                                    </a:rPr>
                                    <m:t>1−</m:t>
                                  </m:r>
                                  <m:r>
                                    <a:rPr lang="en-US" altLang="en-US" sz="1800" b="0" i="1" smtClean="0">
                                      <a:solidFill>
                                        <a:srgbClr val="000000"/>
                                      </a:solidFill>
                                      <a:latin typeface="Cambria Math" panose="02040503050406030204" pitchFamily="18" charset="0"/>
                                    </a:rPr>
                                    <m:t>𝑝</m:t>
                                  </m:r>
                                </m:e>
                              </m:d>
                            </m:num>
                            <m:den>
                              <m:r>
                                <a:rPr lang="en-US" altLang="en-US" sz="1800" b="0" i="1" smtClean="0">
                                  <a:solidFill>
                                    <a:srgbClr val="000000"/>
                                  </a:solidFill>
                                  <a:latin typeface="Cambria Math" panose="02040503050406030204" pitchFamily="18" charset="0"/>
                                </a:rPr>
                                <m:t>𝑛</m:t>
                              </m:r>
                            </m:den>
                          </m:f>
                        </m:e>
                      </m:rad>
                    </m:oMath>
                  </m:oMathPara>
                </a14:m>
                <a:endParaRPr lang="en-US" altLang="en-US" sz="1800" b="0" dirty="0">
                  <a:solidFill>
                    <a:srgbClr val="000000"/>
                  </a:solidFill>
                </a:endParaRPr>
              </a:p>
              <a:p>
                <a:pPr algn="ctr" eaLnBrk="1" hangingPunct="1">
                  <a:spcAft>
                    <a:spcPts val="1800"/>
                  </a:spcAft>
                  <a:defRPr/>
                </a:pPr>
                <a:r>
                  <a:rPr lang="en-US" altLang="en-US" sz="1800" dirty="0">
                    <a:solidFill>
                      <a:srgbClr val="000000"/>
                    </a:solidFill>
                  </a:rPr>
                  <a:t>As </a:t>
                </a:r>
                <a:r>
                  <a:rPr lang="en-US" altLang="en-US" sz="1800" i="1" dirty="0">
                    <a:solidFill>
                      <a:srgbClr val="000000"/>
                    </a:solidFill>
                  </a:rPr>
                  <a:t>n</a:t>
                </a:r>
                <a:r>
                  <a:rPr lang="en-US" altLang="en-US" sz="1800" dirty="0">
                    <a:solidFill>
                      <a:srgbClr val="000000"/>
                    </a:solidFill>
                  </a:rPr>
                  <a:t> increases, the sampling distribution becomes </a:t>
                </a:r>
                <a:r>
                  <a:rPr lang="en-US" altLang="en-US" sz="1800" b="1" dirty="0">
                    <a:solidFill>
                      <a:srgbClr val="000000"/>
                    </a:solidFill>
                  </a:rPr>
                  <a:t>approximately Normal</a:t>
                </a:r>
                <a:r>
                  <a:rPr lang="en-US" altLang="en-US" sz="1800" dirty="0">
                    <a:solidFill>
                      <a:srgbClr val="000000"/>
                    </a:solidFill>
                  </a:rPr>
                  <a:t>.</a:t>
                </a:r>
              </a:p>
              <a:p>
                <a:pPr algn="ctr" eaLnBrk="1" hangingPunct="1">
                  <a:spcAft>
                    <a:spcPts val="1800"/>
                  </a:spcAft>
                  <a:defRPr/>
                </a:pPr>
                <a:r>
                  <a:rPr lang="en-US" altLang="en-US" sz="1800" dirty="0">
                    <a:solidFill>
                      <a:srgbClr val="000000"/>
                    </a:solidFill>
                  </a:rPr>
                  <a:t>For large </a:t>
                </a:r>
                <a:r>
                  <a:rPr lang="en-US" altLang="en-US" sz="1800" i="1" dirty="0">
                    <a:solidFill>
                      <a:srgbClr val="000000"/>
                    </a:solidFill>
                  </a:rPr>
                  <a:t>n</a:t>
                </a:r>
                <a:r>
                  <a:rPr lang="en-US" altLang="en-US" sz="1800" dirty="0">
                    <a:solidFill>
                      <a:srgbClr val="000000"/>
                    </a:solidFill>
                  </a:rPr>
                  <a:t>, </a:t>
                </a:r>
                <a14:m>
                  <m:oMath xmlns:m="http://schemas.openxmlformats.org/officeDocument/2006/math">
                    <m:acc>
                      <m:accPr>
                        <m:chr m:val="̂"/>
                        <m:ctrlPr>
                          <a:rPr lang="en-US" altLang="en-US" sz="1800" i="1" smtClean="0">
                            <a:solidFill>
                              <a:srgbClr val="000000"/>
                            </a:solidFill>
                            <a:latin typeface="Cambria Math" panose="02040503050406030204" pitchFamily="18" charset="0"/>
                          </a:rPr>
                        </m:ctrlPr>
                      </m:accPr>
                      <m:e>
                        <m:r>
                          <a:rPr lang="en-US" altLang="en-US" sz="1800" b="0" i="1" smtClean="0">
                            <a:solidFill>
                              <a:srgbClr val="000000"/>
                            </a:solidFill>
                            <a:latin typeface="Cambria Math" panose="02040503050406030204" pitchFamily="18" charset="0"/>
                          </a:rPr>
                          <m:t>𝑝</m:t>
                        </m:r>
                      </m:e>
                    </m:acc>
                  </m:oMath>
                </a14:m>
                <a:r>
                  <a:rPr lang="en-US" altLang="en-US" sz="1800" dirty="0">
                    <a:solidFill>
                      <a:srgbClr val="000000"/>
                    </a:solidFill>
                  </a:rPr>
                  <a:t> has approximately the </a:t>
                </a:r>
                <a14:m>
                  <m:oMath xmlns:m="http://schemas.openxmlformats.org/officeDocument/2006/math">
                    <m:r>
                      <a:rPr lang="en-US" altLang="en-US" sz="1800" b="0" i="1" smtClean="0">
                        <a:solidFill>
                          <a:srgbClr val="000000"/>
                        </a:solidFill>
                        <a:latin typeface="Cambria Math" panose="02040503050406030204" pitchFamily="18" charset="0"/>
                      </a:rPr>
                      <m:t>𝑁</m:t>
                    </m:r>
                    <m:d>
                      <m:dPr>
                        <m:ctrlPr>
                          <a:rPr lang="en-US" altLang="en-US" sz="1800" b="0" i="1" smtClean="0">
                            <a:solidFill>
                              <a:srgbClr val="000000"/>
                            </a:solidFill>
                            <a:latin typeface="Cambria Math" panose="02040503050406030204" pitchFamily="18" charset="0"/>
                          </a:rPr>
                        </m:ctrlPr>
                      </m:dPr>
                      <m:e>
                        <m:r>
                          <a:rPr lang="en-US" altLang="en-US" sz="1800" b="0" i="1" smtClean="0">
                            <a:solidFill>
                              <a:srgbClr val="000000"/>
                            </a:solidFill>
                            <a:latin typeface="Cambria Math" panose="02040503050406030204" pitchFamily="18" charset="0"/>
                          </a:rPr>
                          <m:t>𝑝</m:t>
                        </m:r>
                        <m:r>
                          <a:rPr lang="en-US" altLang="en-US" sz="1800" b="0" i="1" smtClean="0">
                            <a:solidFill>
                              <a:srgbClr val="000000"/>
                            </a:solidFill>
                            <a:latin typeface="Cambria Math" panose="02040503050406030204" pitchFamily="18" charset="0"/>
                          </a:rPr>
                          <m:t>, </m:t>
                        </m:r>
                        <m:rad>
                          <m:radPr>
                            <m:degHide m:val="on"/>
                            <m:ctrlPr>
                              <a:rPr lang="en-US" altLang="en-US" sz="1800" b="0" i="1" smtClean="0">
                                <a:solidFill>
                                  <a:srgbClr val="000000"/>
                                </a:solidFill>
                                <a:latin typeface="Cambria Math" panose="02040503050406030204" pitchFamily="18" charset="0"/>
                              </a:rPr>
                            </m:ctrlPr>
                          </m:radPr>
                          <m:deg/>
                          <m:e>
                            <m:f>
                              <m:fPr>
                                <m:type m:val="lin"/>
                                <m:ctrlPr>
                                  <a:rPr lang="en-US" altLang="en-US" sz="1800" b="0" i="1" smtClean="0">
                                    <a:solidFill>
                                      <a:srgbClr val="000000"/>
                                    </a:solidFill>
                                    <a:latin typeface="Cambria Math" panose="02040503050406030204" pitchFamily="18" charset="0"/>
                                  </a:rPr>
                                </m:ctrlPr>
                              </m:fPr>
                              <m:num>
                                <m:r>
                                  <a:rPr lang="en-US" altLang="en-US" sz="1800" b="0" i="1" smtClean="0">
                                    <a:solidFill>
                                      <a:srgbClr val="000000"/>
                                    </a:solidFill>
                                    <a:latin typeface="Cambria Math" panose="02040503050406030204" pitchFamily="18" charset="0"/>
                                  </a:rPr>
                                  <m:t>𝑝</m:t>
                                </m:r>
                                <m:d>
                                  <m:dPr>
                                    <m:ctrlPr>
                                      <a:rPr lang="en-US" altLang="en-US" sz="1800" b="0" i="1" smtClean="0">
                                        <a:solidFill>
                                          <a:srgbClr val="000000"/>
                                        </a:solidFill>
                                        <a:latin typeface="Cambria Math" panose="02040503050406030204" pitchFamily="18" charset="0"/>
                                      </a:rPr>
                                    </m:ctrlPr>
                                  </m:dPr>
                                  <m:e>
                                    <m:r>
                                      <a:rPr lang="en-US" altLang="en-US" sz="1800" b="0" i="1" smtClean="0">
                                        <a:solidFill>
                                          <a:srgbClr val="000000"/>
                                        </a:solidFill>
                                        <a:latin typeface="Cambria Math" panose="02040503050406030204" pitchFamily="18" charset="0"/>
                                      </a:rPr>
                                      <m:t>1−</m:t>
                                    </m:r>
                                    <m:r>
                                      <a:rPr lang="en-US" altLang="en-US" sz="1800" b="0" i="1" smtClean="0">
                                        <a:solidFill>
                                          <a:srgbClr val="000000"/>
                                        </a:solidFill>
                                        <a:latin typeface="Cambria Math" panose="02040503050406030204" pitchFamily="18" charset="0"/>
                                      </a:rPr>
                                      <m:t>𝑝</m:t>
                                    </m:r>
                                  </m:e>
                                </m:d>
                              </m:num>
                              <m:den>
                                <m:r>
                                  <a:rPr lang="en-US" altLang="en-US" sz="1800" b="0" i="1" smtClean="0">
                                    <a:solidFill>
                                      <a:srgbClr val="000000"/>
                                    </a:solidFill>
                                    <a:latin typeface="Cambria Math" panose="02040503050406030204" pitchFamily="18" charset="0"/>
                                  </a:rPr>
                                  <m:t>𝑛</m:t>
                                </m:r>
                              </m:den>
                            </m:f>
                          </m:e>
                        </m:rad>
                      </m:e>
                    </m:d>
                  </m:oMath>
                </a14:m>
                <a:r>
                  <a:rPr lang="en-US" altLang="en-US" sz="1800" dirty="0">
                    <a:solidFill>
                      <a:srgbClr val="000000"/>
                    </a:solidFill>
                  </a:rPr>
                  <a:t> distribution.</a:t>
                </a:r>
              </a:p>
            </p:txBody>
          </p:sp>
        </mc:Choice>
        <mc:Fallback xmlns="">
          <p:sp>
            <p:nvSpPr>
              <p:cNvPr id="23" name="TextBox 22"/>
              <p:cNvSpPr txBox="1">
                <a:spLocks noRot="1" noChangeAspect="1" noMove="1" noResize="1" noEditPoints="1" noAdjustHandles="1" noChangeArrowheads="1" noChangeShapeType="1" noTextEdit="1"/>
              </p:cNvSpPr>
              <p:nvPr/>
            </p:nvSpPr>
            <p:spPr bwMode="auto">
              <a:xfrm>
                <a:off x="174625" y="1977481"/>
                <a:ext cx="8816180" cy="3792641"/>
              </a:xfrm>
              <a:prstGeom prst="rect">
                <a:avLst/>
              </a:prstGeom>
              <a:blipFill rotWithShape="0">
                <a:blip r:embed="rId2"/>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pic>
        <p:nvPicPr>
          <p:cNvPr id="6" name="Picture 5" descr="The image depicts population proportion p of successes. It shows a bell curve with values of 'p hat' at x axis, mean 'p' and standard deviation given by square root of 'p' bracket open '1 minus p' divide by 'n.'"/>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125015" y="1576251"/>
            <a:ext cx="8915399" cy="4345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nodeType="clickEffect">
                                  <p:stCondLst>
                                    <p:cond delay="0"/>
                                  </p:stCondLst>
                                  <p:iterate type="lt">
                                    <p:tmPct val="5000"/>
                                  </p:iterate>
                                  <p:childTnLst>
                                    <p:set>
                                      <p:cBhvr>
                                        <p:cTn id="10" dur="1" fill="hold">
                                          <p:stCondLst>
                                            <p:cond delay="0"/>
                                          </p:stCondLst>
                                        </p:cTn>
                                        <p:tgtEl>
                                          <p:spTgt spid="6"/>
                                        </p:tgtEl>
                                        <p:attrNameLst>
                                          <p:attrName>style.visibility</p:attrName>
                                        </p:attrNameLst>
                                      </p:cBhvr>
                                      <p:to>
                                        <p:strVal val="visible"/>
                                      </p:to>
                                    </p:set>
                                    <p:anim calcmode="lin" valueType="num">
                                      <p:cBhvr>
                                        <p:cTn id="11" dur="1000" fill="hold"/>
                                        <p:tgtEl>
                                          <p:spTgt spid="6"/>
                                        </p:tgtEl>
                                        <p:attrNameLst>
                                          <p:attrName>ppt_w</p:attrName>
                                        </p:attrNameLst>
                                      </p:cBhvr>
                                      <p:tavLst>
                                        <p:tav tm="0">
                                          <p:val>
                                            <p:fltVal val="0"/>
                                          </p:val>
                                        </p:tav>
                                        <p:tav tm="100000">
                                          <p:val>
                                            <p:strVal val="#ppt_w"/>
                                          </p:val>
                                        </p:tav>
                                      </p:tavLst>
                                    </p:anim>
                                    <p:anim calcmode="lin" valueType="num">
                                      <p:cBhvr>
                                        <p:cTn id="12" dur="1000" fill="hold"/>
                                        <p:tgtEl>
                                          <p:spTgt spid="6"/>
                                        </p:tgtEl>
                                        <p:attrNameLst>
                                          <p:attrName>ppt_h</p:attrName>
                                        </p:attrNameLst>
                                      </p:cBhvr>
                                      <p:tavLst>
                                        <p:tav tm="0">
                                          <p:val>
                                            <p:fltVal val="0"/>
                                          </p:val>
                                        </p:tav>
                                        <p:tav tm="100000">
                                          <p:val>
                                            <p:strVal val="#ppt_h"/>
                                          </p:val>
                                        </p:tav>
                                      </p:tavLst>
                                    </p:anim>
                                    <p:anim calcmode="lin" valueType="num">
                                      <p:cBhvr>
                                        <p:cTn id="13" dur="1000" fill="hold"/>
                                        <p:tgtEl>
                                          <p:spTgt spid="6"/>
                                        </p:tgtEl>
                                        <p:attrNameLst>
                                          <p:attrName>style.rotation</p:attrName>
                                        </p:attrNameLst>
                                      </p:cBhvr>
                                      <p:tavLst>
                                        <p:tav tm="0">
                                          <p:val>
                                            <p:fltVal val="90"/>
                                          </p:val>
                                        </p:tav>
                                        <p:tav tm="100000">
                                          <p:val>
                                            <p:fltVal val="0"/>
                                          </p:val>
                                        </p:tav>
                                      </p:tavLst>
                                    </p:anim>
                                    <p:animEffect transition="in" filter="fade">
                                      <p:cBhvr>
                                        <p:cTn id="1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Large-Sample Confidence Interval</a:t>
            </a:r>
            <a:br>
              <a:rPr lang="en-US" altLang="en-US" dirty="0">
                <a:ea typeface="ＭＳ Ｐゴシック" panose="020B0600070205080204" pitchFamily="34" charset="-128"/>
              </a:rPr>
            </a:br>
            <a:r>
              <a:rPr lang="en-US" altLang="en-US" dirty="0">
                <a:ea typeface="ＭＳ Ｐゴシック" panose="020B0600070205080204" pitchFamily="34" charset="-128"/>
              </a:rPr>
              <a:t>for a Single Proportion 1</a:t>
            </a:r>
            <a:endParaRPr lang="en-US" altLang="en-US" i="1" baseline="-25000" dirty="0">
              <a:ea typeface="ＭＳ Ｐゴシック" panose="020B0600070205080204" pitchFamily="34" charset="-128"/>
            </a:endParaRPr>
          </a:p>
        </p:txBody>
      </p:sp>
      <p:sp>
        <p:nvSpPr>
          <p:cNvPr id="286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FCD58555-B76B-47E1-9405-2062187B61B9}" type="slidenum">
              <a:rPr lang="en-US" altLang="en-US" sz="1200">
                <a:solidFill>
                  <a:schemeClr val="accent1"/>
                </a:solidFill>
              </a:rPr>
              <a:pPr>
                <a:lnSpc>
                  <a:spcPct val="80000"/>
                </a:lnSpc>
              </a:pPr>
              <a:t>5</a:t>
            </a:fld>
            <a:endParaRPr lang="en-US" altLang="en-US" sz="1200">
              <a:solidFill>
                <a:schemeClr val="accent1"/>
              </a:solidFill>
            </a:endParaRPr>
          </a:p>
        </p:txBody>
      </p:sp>
      <p:sp>
        <p:nvSpPr>
          <p:cNvPr id="28676" name="Rectangle 2"/>
          <p:cNvSpPr>
            <a:spLocks noChangeArrowheads="1"/>
          </p:cNvSpPr>
          <p:nvPr/>
        </p:nvSpPr>
        <p:spPr bwMode="auto">
          <a:xfrm>
            <a:off x="214312" y="1390889"/>
            <a:ext cx="82454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en-US" altLang="en-US" sz="2000" dirty="0">
                <a:solidFill>
                  <a:srgbClr val="000000"/>
                </a:solidFill>
              </a:rPr>
              <a:t>We can use the same path from sampling distribution to confidence interval as we did with means to construct a confidence interval for an unknown population proportion </a:t>
            </a:r>
            <a:r>
              <a:rPr lang="en-US" altLang="en-US" sz="2000" i="1" dirty="0">
                <a:solidFill>
                  <a:srgbClr val="000000"/>
                </a:solidFill>
              </a:rPr>
              <a:t>p</a:t>
            </a:r>
            <a:r>
              <a:rPr lang="en-US" altLang="en-US" sz="2000" dirty="0">
                <a:solidFill>
                  <a:srgbClr val="000000"/>
                </a:solidFill>
              </a:rPr>
              <a:t>:</a:t>
            </a:r>
          </a:p>
        </p:txBody>
      </p:sp>
      <p:graphicFrame>
        <p:nvGraphicFramePr>
          <p:cNvPr id="28679" name="Object 4" descr="The image shows an expression 'Statistic' plus minus 'critical value' multiply by 'standard deviation of statistic.'"/>
          <p:cNvGraphicFramePr>
            <a:graphicFrameLocks noChangeAspect="1"/>
          </p:cNvGraphicFramePr>
          <p:nvPr>
            <p:extLst>
              <p:ext uri="{D42A27DB-BD31-4B8C-83A1-F6EECF244321}">
                <p14:modId xmlns:p14="http://schemas.microsoft.com/office/powerpoint/2010/main" val="398116153"/>
              </p:ext>
            </p:extLst>
          </p:nvPr>
        </p:nvGraphicFramePr>
        <p:xfrm>
          <a:off x="822325" y="2622550"/>
          <a:ext cx="6721475" cy="331788"/>
        </p:xfrm>
        <a:graphic>
          <a:graphicData uri="http://schemas.openxmlformats.org/presentationml/2006/ole">
            <mc:AlternateContent xmlns:mc="http://schemas.openxmlformats.org/markup-compatibility/2006">
              <mc:Choice xmlns:v="urn:schemas-microsoft-com:vml" Requires="v">
                <p:oleObj spid="_x0000_s29091" name="Equation" r:id="rId4" imgW="4114800" imgH="203040" progId="Equation.DSMT4">
                  <p:embed/>
                </p:oleObj>
              </mc:Choice>
              <mc:Fallback>
                <p:oleObj name="Equation" r:id="rId4" imgW="4114800" imgH="203040" progId="Equation.DSMT4">
                  <p:embed/>
                  <p:pic>
                    <p:nvPicPr>
                      <p:cNvPr id="0" name="Object 4"/>
                      <p:cNvPicPr>
                        <a:picLocks noChangeAspect="1" noChangeArrowheads="1"/>
                      </p:cNvPicPr>
                      <p:nvPr/>
                    </p:nvPicPr>
                    <p:blipFill>
                      <a:blip r:embed="rId5"/>
                      <a:srcRect/>
                      <a:stretch>
                        <a:fillRect/>
                      </a:stretch>
                    </p:blipFill>
                    <p:spPr bwMode="auto">
                      <a:xfrm>
                        <a:off x="822325" y="2622550"/>
                        <a:ext cx="6721475" cy="33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 name="Object 3" descr="The image shows the statement &quot;Since we don't know 'p,' we replace it with the sample proportion 'p hat.' This gives us the standard error (SE) of the sample proportion given by the equation: square root of 'p hat' bracket open '1 minus p hat' bracket close, divide by 'n.'  "/>
          <p:cNvGraphicFramePr>
            <a:graphicFrameLocks noChangeAspect="1"/>
          </p:cNvGraphicFramePr>
          <p:nvPr>
            <p:extLst>
              <p:ext uri="{D42A27DB-BD31-4B8C-83A1-F6EECF244321}">
                <p14:modId xmlns:p14="http://schemas.microsoft.com/office/powerpoint/2010/main" val="1394769033"/>
              </p:ext>
            </p:extLst>
          </p:nvPr>
        </p:nvGraphicFramePr>
        <p:xfrm>
          <a:off x="841375" y="5149850"/>
          <a:ext cx="7177087" cy="1450975"/>
        </p:xfrm>
        <a:graphic>
          <a:graphicData uri="http://schemas.openxmlformats.org/presentationml/2006/ole">
            <mc:AlternateContent xmlns:mc="http://schemas.openxmlformats.org/markup-compatibility/2006">
              <mc:Choice xmlns:v="urn:schemas-microsoft-com:vml" Requires="v">
                <p:oleObj spid="_x0000_s29092" name="Equation" r:id="rId6" imgW="4394160" imgH="888840" progId="Equation.DSMT4">
                  <p:embed/>
                </p:oleObj>
              </mc:Choice>
              <mc:Fallback>
                <p:oleObj name="Equation" r:id="rId6" imgW="4394160" imgH="888840" progId="Equation.DSMT4">
                  <p:embed/>
                  <p:pic>
                    <p:nvPicPr>
                      <p:cNvPr id="0" name="Object 3"/>
                      <p:cNvPicPr>
                        <a:picLocks noChangeAspect="1" noChangeArrowheads="1"/>
                      </p:cNvPicPr>
                      <p:nvPr/>
                    </p:nvPicPr>
                    <p:blipFill>
                      <a:blip r:embed="rId7"/>
                      <a:srcRect/>
                      <a:stretch>
                        <a:fillRect/>
                      </a:stretch>
                    </p:blipFill>
                    <p:spPr bwMode="auto">
                      <a:xfrm>
                        <a:off x="841375" y="5149850"/>
                        <a:ext cx="7177087" cy="1450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2" descr="The image shows the statement &quot;The sample proportion 'p hat' is the statistic we use to estimate 'p.' When the Independent condition is met, the standard deviation of the sampling distibution of 'p hat' is given by mathematical expression: 'sigma' subscript 'p hat' equals to square root of 'p' bracket open '1 minus p' bracket close, divide by n."/>
          <p:cNvGraphicFramePr>
            <a:graphicFrameLocks noChangeAspect="1"/>
          </p:cNvGraphicFramePr>
          <p:nvPr>
            <p:extLst>
              <p:ext uri="{D42A27DB-BD31-4B8C-83A1-F6EECF244321}">
                <p14:modId xmlns:p14="http://schemas.microsoft.com/office/powerpoint/2010/main" val="2049743538"/>
              </p:ext>
            </p:extLst>
          </p:nvPr>
        </p:nvGraphicFramePr>
        <p:xfrm>
          <a:off x="866775" y="3140075"/>
          <a:ext cx="7126288" cy="1824038"/>
        </p:xfrm>
        <a:graphic>
          <a:graphicData uri="http://schemas.openxmlformats.org/presentationml/2006/ole">
            <mc:AlternateContent xmlns:mc="http://schemas.openxmlformats.org/markup-compatibility/2006">
              <mc:Choice xmlns:v="urn:schemas-microsoft-com:vml" Requires="v">
                <p:oleObj spid="_x0000_s29093" name="Equation" r:id="rId8" imgW="4051080" imgH="1117440" progId="Equation.DSMT4">
                  <p:embed/>
                </p:oleObj>
              </mc:Choice>
              <mc:Fallback>
                <p:oleObj name="Equation" r:id="rId8" imgW="4051080" imgH="1117440" progId="Equation.DSMT4">
                  <p:embed/>
                  <p:pic>
                    <p:nvPicPr>
                      <p:cNvPr id="0" name="Object 2"/>
                      <p:cNvPicPr>
                        <a:picLocks noChangeAspect="1" noChangeArrowheads="1"/>
                      </p:cNvPicPr>
                      <p:nvPr/>
                    </p:nvPicPr>
                    <p:blipFill>
                      <a:blip r:embed="rId9"/>
                      <a:srcRect/>
                      <a:stretch>
                        <a:fillRect/>
                      </a:stretch>
                    </p:blipFill>
                    <p:spPr bwMode="auto">
                      <a:xfrm>
                        <a:off x="866775" y="3140075"/>
                        <a:ext cx="7126288" cy="1824038"/>
                      </a:xfrm>
                      <a:prstGeom prst="rect">
                        <a:avLst/>
                      </a:prstGeom>
                      <a:solidFill>
                        <a:schemeClr val="accent2">
                          <a:lumMod val="40000"/>
                          <a:lumOff val="60000"/>
                        </a:schemeClr>
                      </a:solidFill>
                      <a:ln>
                        <a:noFill/>
                      </a:ln>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dirty="0"/>
              <a:t>Large-Sample Confidence Interval</a:t>
            </a:r>
            <a:br>
              <a:rPr lang="en-US" altLang="en-US" dirty="0"/>
            </a:br>
            <a:r>
              <a:rPr lang="en-US" altLang="en-US" dirty="0"/>
              <a:t>for a Single Proportion 2</a:t>
            </a:r>
            <a:endParaRPr lang="en-US" dirty="0"/>
          </a:p>
        </p:txBody>
      </p:sp>
      <p:sp>
        <p:nvSpPr>
          <p:cNvPr id="296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443E5A1D-F0CA-44B5-A0C5-2A07D5D54E58}" type="slidenum">
              <a:rPr lang="en-US" altLang="en-US" sz="1200">
                <a:solidFill>
                  <a:schemeClr val="accent1"/>
                </a:solidFill>
              </a:rPr>
              <a:pPr>
                <a:lnSpc>
                  <a:spcPct val="80000"/>
                </a:lnSpc>
              </a:pPr>
              <a:t>6</a:t>
            </a:fld>
            <a:endParaRPr lang="en-US" altLang="en-US" sz="1200">
              <a:solidFill>
                <a:schemeClr val="accent1"/>
              </a:solidFill>
            </a:endParaRPr>
          </a:p>
        </p:txBody>
      </p:sp>
      <p:pic>
        <p:nvPicPr>
          <p:cNvPr id="3" name="Picture 2" descr="The animations explain the method of finding a critical value for a confidence interval. It shows an expression &quot;statistic&quot; plus minus &quot;critical value&quot; times &quot;standard deviation of statistic.&quot; The animation also shows a standard normal curve with left and right tail depicts an area of 0.025 each, with a critical value of &quot;z asterisk&quot; equals minus 1.96 and 1.96, respectively. Confidence interval level C is predicted by probability of the central area, which is 0.95.&#10;The 68-95-99.7 rule predicts an approximate critical value 2 for 95% confidence interval.&#10;Critical value z asterisk equals 1.96 is calculated through Standard Normal table or calculator." hidden="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3253" y="811213"/>
            <a:ext cx="638175" cy="276225"/>
          </a:xfrm>
          <a:prstGeom prst="rect">
            <a:avLst/>
          </a:prstGeom>
        </p:spPr>
      </p:pic>
      <p:pic>
        <p:nvPicPr>
          <p:cNvPr id="4" name="Picture 3" descr="To skip animation steps, move to the next slide." hidden="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4331" y="788987"/>
            <a:ext cx="638175" cy="276225"/>
          </a:xfrm>
          <a:prstGeom prst="rect">
            <a:avLst/>
          </a:prstGeom>
        </p:spPr>
      </p:pic>
      <p:sp>
        <p:nvSpPr>
          <p:cNvPr id="29699" name="Rectangle 1"/>
          <p:cNvSpPr>
            <a:spLocks noChangeArrowheads="1"/>
          </p:cNvSpPr>
          <p:nvPr/>
        </p:nvSpPr>
        <p:spPr bwMode="auto">
          <a:xfrm>
            <a:off x="533401" y="1449388"/>
            <a:ext cx="82296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en-US" altLang="en-US" sz="2000" dirty="0">
                <a:solidFill>
                  <a:srgbClr val="000000"/>
                </a:solidFill>
              </a:rPr>
              <a:t>How do we find the critical value for our confidence interval?</a:t>
            </a:r>
          </a:p>
        </p:txBody>
      </p:sp>
      <p:graphicFrame>
        <p:nvGraphicFramePr>
          <p:cNvPr id="29704" name="Object 2" descr="already described"/>
          <p:cNvGraphicFramePr>
            <a:graphicFrameLocks noChangeAspect="1"/>
          </p:cNvGraphicFramePr>
          <p:nvPr>
            <p:extLst>
              <p:ext uri="{D42A27DB-BD31-4B8C-83A1-F6EECF244321}">
                <p14:modId xmlns:p14="http://schemas.microsoft.com/office/powerpoint/2010/main" val="1817817516"/>
              </p:ext>
            </p:extLst>
          </p:nvPr>
        </p:nvGraphicFramePr>
        <p:xfrm>
          <a:off x="1287463" y="2036763"/>
          <a:ext cx="6721475" cy="331787"/>
        </p:xfrm>
        <a:graphic>
          <a:graphicData uri="http://schemas.openxmlformats.org/presentationml/2006/ole">
            <mc:AlternateContent xmlns:mc="http://schemas.openxmlformats.org/markup-compatibility/2006">
              <mc:Choice xmlns:v="urn:schemas-microsoft-com:vml" Requires="v">
                <p:oleObj spid="_x0000_s56363" name="Equation" r:id="rId5" imgW="4114800" imgH="203040" progId="Equation.DSMT4">
                  <p:embed/>
                </p:oleObj>
              </mc:Choice>
              <mc:Fallback>
                <p:oleObj name="Equation" r:id="rId5" imgW="4114800" imgH="203040" progId="Equation.DSMT4">
                  <p:embed/>
                  <p:pic>
                    <p:nvPicPr>
                      <p:cNvPr id="0" name=""/>
                      <p:cNvPicPr>
                        <a:picLocks noChangeAspect="1" noChangeArrowheads="1"/>
                      </p:cNvPicPr>
                      <p:nvPr/>
                    </p:nvPicPr>
                    <p:blipFill>
                      <a:blip r:embed="rId6"/>
                      <a:srcRect/>
                      <a:stretch>
                        <a:fillRect/>
                      </a:stretch>
                    </p:blipFill>
                    <p:spPr bwMode="auto">
                      <a:xfrm>
                        <a:off x="1287463" y="2036763"/>
                        <a:ext cx="6721475"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9700" name="Rectangle 10"/>
          <p:cNvSpPr>
            <a:spLocks noChangeArrowheads="1"/>
          </p:cNvSpPr>
          <p:nvPr/>
        </p:nvSpPr>
        <p:spPr bwMode="auto">
          <a:xfrm>
            <a:off x="635001" y="2555422"/>
            <a:ext cx="7621587" cy="1016000"/>
          </a:xfrm>
          <a:prstGeom prst="rect">
            <a:avLst/>
          </a:prstGeom>
          <a:solidFill>
            <a:srgbClr val="FFD780"/>
          </a:solidFill>
          <a:ln>
            <a:noFill/>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solidFill>
                  <a:srgbClr val="000000"/>
                </a:solidFill>
              </a:rPr>
              <a:t>If the Normal condition is met, we can use a Normal curve. To find a level </a:t>
            </a:r>
            <a:r>
              <a:rPr lang="en-US" altLang="en-US" sz="2000" i="1" dirty="0">
                <a:solidFill>
                  <a:srgbClr val="000000"/>
                </a:solidFill>
              </a:rPr>
              <a:t>C</a:t>
            </a:r>
            <a:r>
              <a:rPr lang="en-US" altLang="en-US" sz="2000" dirty="0">
                <a:solidFill>
                  <a:srgbClr val="000000"/>
                </a:solidFill>
              </a:rPr>
              <a:t> confidence interval, we need to catch the central area </a:t>
            </a:r>
            <a:r>
              <a:rPr lang="en-US" altLang="en-US" sz="2000" i="1" dirty="0">
                <a:solidFill>
                  <a:srgbClr val="000000"/>
                </a:solidFill>
              </a:rPr>
              <a:t>C</a:t>
            </a:r>
            <a:r>
              <a:rPr lang="en-US" altLang="en-US" sz="2000" dirty="0">
                <a:solidFill>
                  <a:srgbClr val="000000"/>
                </a:solidFill>
              </a:rPr>
              <a:t> under the standard Normal curve.</a:t>
            </a:r>
          </a:p>
        </p:txBody>
      </p:sp>
      <p:sp>
        <p:nvSpPr>
          <p:cNvPr id="10" name="TextBox 9"/>
          <p:cNvSpPr txBox="1">
            <a:spLocks noChangeArrowheads="1"/>
          </p:cNvSpPr>
          <p:nvPr/>
        </p:nvSpPr>
        <p:spPr bwMode="auto">
          <a:xfrm>
            <a:off x="533401" y="3794578"/>
            <a:ext cx="446246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b="1" dirty="0"/>
              <a:t>Example: </a:t>
            </a:r>
            <a:r>
              <a:rPr lang="en-US" altLang="en-US" dirty="0"/>
              <a:t>To find a 95% confidence interval, we use an approximate critical value of 2 based on the 68-95-99.7 rule.  Using a standard Normal table or a calculator, we can get a more accurate critical value.  </a:t>
            </a:r>
          </a:p>
          <a:p>
            <a:pPr eaLnBrk="1" hangingPunct="1"/>
            <a:r>
              <a:rPr lang="en-US" altLang="en-US" dirty="0"/>
              <a:t>Note that the </a:t>
            </a:r>
            <a:r>
              <a:rPr lang="en-US" altLang="en-US" b="1" dirty="0"/>
              <a:t>critical value </a:t>
            </a:r>
            <a:r>
              <a:rPr lang="en-US" altLang="en-US" b="1" i="1" dirty="0"/>
              <a:t>z</a:t>
            </a:r>
            <a:r>
              <a:rPr lang="en-US" altLang="en-US" b="1" dirty="0"/>
              <a:t>*</a:t>
            </a:r>
            <a:r>
              <a:rPr lang="en-US" altLang="en-US" dirty="0"/>
              <a:t> is actually 1.96 for a 95% confidence level.</a:t>
            </a:r>
          </a:p>
        </p:txBody>
      </p:sp>
      <p:pic>
        <p:nvPicPr>
          <p:cNvPr id="9" name="Picture 8" descr="already described"/>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087937" y="3822700"/>
            <a:ext cx="3675063"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urved Left Arrow 10" descr="already described"/>
          <p:cNvSpPr/>
          <p:nvPr/>
        </p:nvSpPr>
        <p:spPr>
          <a:xfrm rot="16862576" flipH="1">
            <a:off x="5754317" y="4875921"/>
            <a:ext cx="582435" cy="3083740"/>
          </a:xfrm>
          <a:prstGeom prst="curvedLef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dirty="0">
              <a:solidFill>
                <a:schemeClr val="tx1"/>
              </a:solidFill>
            </a:endParaRPr>
          </a:p>
        </p:txBody>
      </p:sp>
    </p:spTree>
    <p:extLst>
      <p:ext uri="{BB962C8B-B14F-4D97-AF65-F5344CB8AC3E}">
        <p14:creationId xmlns:p14="http://schemas.microsoft.com/office/powerpoint/2010/main" val="25696748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fade">
                                      <p:cBhvr>
                                        <p:cTn id="17" dur="1000"/>
                                        <p:tgtEl>
                                          <p:spTgt spid="10">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bldLvl="5"/>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dirty="0"/>
              <a:t>Large-Sample Confidence Interval</a:t>
            </a:r>
            <a:br>
              <a:rPr lang="en-US" altLang="en-US" dirty="0"/>
            </a:br>
            <a:r>
              <a:rPr lang="en-US" altLang="en-US" dirty="0"/>
              <a:t>for a Single Proportion 3</a:t>
            </a:r>
            <a:endParaRPr lang="en-US" dirty="0"/>
          </a:p>
        </p:txBody>
      </p:sp>
      <p:sp>
        <p:nvSpPr>
          <p:cNvPr id="307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774DD840-5D8B-41C4-BDA9-58B6B4619B59}" type="slidenum">
              <a:rPr lang="en-US" altLang="en-US" sz="1200">
                <a:solidFill>
                  <a:schemeClr val="accent1"/>
                </a:solidFill>
              </a:rPr>
              <a:pPr>
                <a:lnSpc>
                  <a:spcPct val="80000"/>
                </a:lnSpc>
              </a:pPr>
              <a:t>7</a:t>
            </a:fld>
            <a:endParaRPr lang="en-US" altLang="en-US" sz="1200">
              <a:solidFill>
                <a:schemeClr val="accent1"/>
              </a:solidFill>
            </a:endParaRPr>
          </a:p>
        </p:txBody>
      </p:sp>
      <p:sp>
        <p:nvSpPr>
          <p:cNvPr id="30723" name="Rectangle 2"/>
          <p:cNvSpPr>
            <a:spLocks noChangeArrowheads="1"/>
          </p:cNvSpPr>
          <p:nvPr/>
        </p:nvSpPr>
        <p:spPr bwMode="auto">
          <a:xfrm>
            <a:off x="53180" y="1456259"/>
            <a:ext cx="8709819"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buFont typeface="Wingdings" panose="05000000000000000000" pitchFamily="2" charset="2"/>
              <a:buNone/>
            </a:pPr>
            <a:r>
              <a:rPr lang="en-US" altLang="en-US" sz="2000" b="1" dirty="0">
                <a:solidFill>
                  <a:srgbClr val="000000"/>
                </a:solidFill>
              </a:rPr>
              <a:t>Example: </a:t>
            </a:r>
            <a:r>
              <a:rPr lang="en-US" altLang="en-US" sz="2000" dirty="0">
                <a:solidFill>
                  <a:srgbClr val="000000"/>
                </a:solidFill>
              </a:rPr>
              <a:t>Find the critical value </a:t>
            </a:r>
            <a:r>
              <a:rPr lang="en-US" altLang="en-US" sz="2000" i="1" dirty="0">
                <a:solidFill>
                  <a:srgbClr val="000000"/>
                </a:solidFill>
              </a:rPr>
              <a:t>z* </a:t>
            </a:r>
            <a:r>
              <a:rPr lang="en-US" altLang="en-US" sz="2000" dirty="0">
                <a:solidFill>
                  <a:srgbClr val="000000"/>
                </a:solidFill>
              </a:rPr>
              <a:t>for an 80% confidence interval. Assume that the Normal condition is met. </a:t>
            </a:r>
          </a:p>
        </p:txBody>
      </p:sp>
      <p:pic>
        <p:nvPicPr>
          <p:cNvPr id="30752" name="Picture 6" descr="already describ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4054" y="2375658"/>
            <a:ext cx="3662363" cy="231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0" name="TextBox 15"/>
          <p:cNvSpPr txBox="1">
            <a:spLocks noChangeArrowheads="1"/>
          </p:cNvSpPr>
          <p:nvPr/>
        </p:nvSpPr>
        <p:spPr bwMode="auto">
          <a:xfrm>
            <a:off x="806450" y="5536604"/>
            <a:ext cx="3779147" cy="39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t>The closest entry is </a:t>
            </a:r>
            <a:r>
              <a:rPr lang="en-US" altLang="en-US" sz="2000" i="1"/>
              <a:t>z</a:t>
            </a:r>
            <a:r>
              <a:rPr lang="en-US" altLang="en-US" sz="2000"/>
              <a:t> = –1.28. </a:t>
            </a:r>
          </a:p>
        </p:txBody>
      </p:sp>
      <p:sp>
        <p:nvSpPr>
          <p:cNvPr id="13" name="Left Arrow 12" descr="already described"/>
          <p:cNvSpPr>
            <a:spLocks noChangeArrowheads="1"/>
          </p:cNvSpPr>
          <p:nvPr/>
        </p:nvSpPr>
        <p:spPr bwMode="auto">
          <a:xfrm rot="1958545">
            <a:off x="1847850" y="5106988"/>
            <a:ext cx="1541463" cy="173037"/>
          </a:xfrm>
          <a:prstGeom prst="leftArrow">
            <a:avLst>
              <a:gd name="adj1" fmla="val 50000"/>
              <a:gd name="adj2" fmla="val 50014"/>
            </a:avLst>
          </a:prstGeom>
          <a:solidFill>
            <a:srgbClr val="B88472"/>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solidFill>
                <a:srgbClr val="FFFFFF"/>
              </a:solidFill>
            </a:endParaRPr>
          </a:p>
        </p:txBody>
      </p:sp>
      <p:sp>
        <p:nvSpPr>
          <p:cNvPr id="14" name="Left Arrow 13" descr="already described"/>
          <p:cNvSpPr>
            <a:spLocks noChangeArrowheads="1"/>
          </p:cNvSpPr>
          <p:nvPr/>
        </p:nvSpPr>
        <p:spPr bwMode="auto">
          <a:xfrm rot="4339514">
            <a:off x="2781300" y="5049838"/>
            <a:ext cx="898525" cy="187325"/>
          </a:xfrm>
          <a:prstGeom prst="leftArrow">
            <a:avLst>
              <a:gd name="adj1" fmla="val 50000"/>
              <a:gd name="adj2" fmla="val 50000"/>
            </a:avLst>
          </a:prstGeom>
          <a:solidFill>
            <a:srgbClr val="B88472"/>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solidFill>
                <a:srgbClr val="FFFFFF"/>
              </a:solidFill>
            </a:endParaRPr>
          </a:p>
        </p:txBody>
      </p:sp>
      <p:sp>
        <p:nvSpPr>
          <p:cNvPr id="17" name="TextBox 16"/>
          <p:cNvSpPr txBox="1">
            <a:spLocks noChangeArrowheads="1"/>
          </p:cNvSpPr>
          <p:nvPr/>
        </p:nvSpPr>
        <p:spPr bwMode="auto">
          <a:xfrm>
            <a:off x="4489450" y="2365375"/>
            <a:ext cx="42735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dirty="0"/>
              <a:t>Because we want to capture the central 80% of the standard Normal distribution, we leave out 20%, or 10% in each tail.  </a:t>
            </a:r>
          </a:p>
          <a:p>
            <a:pPr eaLnBrk="1" hangingPunct="1"/>
            <a:r>
              <a:rPr lang="en-US" altLang="en-US" dirty="0"/>
              <a:t>Search Table A to find the point </a:t>
            </a:r>
            <a:r>
              <a:rPr lang="en-US" altLang="en-US" i="1" dirty="0"/>
              <a:t>z</a:t>
            </a:r>
            <a:r>
              <a:rPr lang="en-US" altLang="en-US" dirty="0"/>
              <a:t>* with area 0.1 to its left.</a:t>
            </a:r>
          </a:p>
        </p:txBody>
      </p:sp>
      <p:sp>
        <p:nvSpPr>
          <p:cNvPr id="20" name="Rectangle 19" descr="already described"/>
          <p:cNvSpPr>
            <a:spLocks noChangeArrowheads="1"/>
          </p:cNvSpPr>
          <p:nvPr/>
        </p:nvSpPr>
        <p:spPr bwMode="auto">
          <a:xfrm>
            <a:off x="4586288" y="5078413"/>
            <a:ext cx="892175" cy="304800"/>
          </a:xfrm>
          <a:prstGeom prst="rect">
            <a:avLst/>
          </a:prstGeom>
          <a:solidFill>
            <a:srgbClr val="DFCEC9"/>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solidFill>
                <a:srgbClr val="000000"/>
              </a:solidFill>
            </a:endParaRPr>
          </a:p>
        </p:txBody>
      </p:sp>
      <p:sp>
        <p:nvSpPr>
          <p:cNvPr id="21" name="Rectangle 20" descr="already described"/>
          <p:cNvSpPr>
            <a:spLocks noChangeArrowheads="1"/>
          </p:cNvSpPr>
          <p:nvPr/>
        </p:nvSpPr>
        <p:spPr bwMode="auto">
          <a:xfrm>
            <a:off x="6351588" y="4376738"/>
            <a:ext cx="893762" cy="304800"/>
          </a:xfrm>
          <a:prstGeom prst="rect">
            <a:avLst/>
          </a:prstGeom>
          <a:solidFill>
            <a:srgbClr val="DFCEC9"/>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solidFill>
                <a:srgbClr val="000000"/>
              </a:solidFill>
            </a:endParaRPr>
          </a:p>
        </p:txBody>
      </p:sp>
      <p:sp>
        <p:nvSpPr>
          <p:cNvPr id="15" name="Rectangle 14" descr="already described"/>
          <p:cNvSpPr>
            <a:spLocks noChangeArrowheads="1"/>
          </p:cNvSpPr>
          <p:nvPr/>
        </p:nvSpPr>
        <p:spPr bwMode="auto">
          <a:xfrm>
            <a:off x="6353175" y="5078413"/>
            <a:ext cx="1606550" cy="304800"/>
          </a:xfrm>
          <a:prstGeom prst="rect">
            <a:avLst/>
          </a:prstGeom>
          <a:solidFill>
            <a:srgbClr val="FFFF00"/>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solidFill>
                <a:srgbClr val="FFFFFF"/>
              </a:solidFill>
            </a:endParaRPr>
          </a:p>
        </p:txBody>
      </p:sp>
      <p:graphicFrame>
        <p:nvGraphicFramePr>
          <p:cNvPr id="24" name="Table 23" descr="already described"/>
          <p:cNvGraphicFramePr>
            <a:graphicFrameLocks noGrp="1"/>
          </p:cNvGraphicFramePr>
          <p:nvPr>
            <p:extLst>
              <p:ext uri="{D42A27DB-BD31-4B8C-83A1-F6EECF244321}">
                <p14:modId xmlns:p14="http://schemas.microsoft.com/office/powerpoint/2010/main" val="1877113489"/>
              </p:ext>
            </p:extLst>
          </p:nvPr>
        </p:nvGraphicFramePr>
        <p:xfrm>
          <a:off x="4632325" y="4287838"/>
          <a:ext cx="3373438" cy="1485900"/>
        </p:xfrm>
        <a:graphic>
          <a:graphicData uri="http://schemas.openxmlformats.org/drawingml/2006/table">
            <a:tbl>
              <a:tblPr firstRow="1"/>
              <a:tblGrid>
                <a:gridCol w="842963">
                  <a:extLst>
                    <a:ext uri="{9D8B030D-6E8A-4147-A177-3AD203B41FA5}">
                      <a16:colId xmlns:a16="http://schemas.microsoft.com/office/drawing/2014/main" xmlns="" val="20000"/>
                    </a:ext>
                  </a:extLst>
                </a:gridCol>
                <a:gridCol w="842962">
                  <a:extLst>
                    <a:ext uri="{9D8B030D-6E8A-4147-A177-3AD203B41FA5}">
                      <a16:colId xmlns:a16="http://schemas.microsoft.com/office/drawing/2014/main" xmlns="" val="20001"/>
                    </a:ext>
                  </a:extLst>
                </a:gridCol>
                <a:gridCol w="844550">
                  <a:extLst>
                    <a:ext uri="{9D8B030D-6E8A-4147-A177-3AD203B41FA5}">
                      <a16:colId xmlns:a16="http://schemas.microsoft.com/office/drawing/2014/main" xmlns="" val="20002"/>
                    </a:ext>
                  </a:extLst>
                </a:gridCol>
                <a:gridCol w="842963">
                  <a:extLst>
                    <a:ext uri="{9D8B030D-6E8A-4147-A177-3AD203B41FA5}">
                      <a16:colId xmlns:a16="http://schemas.microsoft.com/office/drawing/2014/main" xmlns="" val="20003"/>
                    </a:ext>
                  </a:extLst>
                </a:gridCol>
              </a:tblGrid>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1" u="none" strike="noStrike" cap="none" normalizeH="0" baseline="0" dirty="0">
                          <a:ln>
                            <a:noFill/>
                          </a:ln>
                          <a:solidFill>
                            <a:schemeClr val="tx1"/>
                          </a:solidFill>
                          <a:effectLst/>
                          <a:latin typeface="Arial" charset="0"/>
                          <a:ea typeface="ＭＳ Ｐゴシック" charset="-128"/>
                        </a:rPr>
                        <a:t>z</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.07</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.08</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.09</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0"/>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 1.3</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.0853</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.0838</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.0823</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1"/>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 1.2</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.1020</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.1003</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.0985</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 1.1</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.1210</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.1190</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.1170</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bl>
          </a:graphicData>
        </a:graphic>
      </p:graphicFrame>
      <p:sp>
        <p:nvSpPr>
          <p:cNvPr id="23" name="Curved Left Arrow 22" descr="already described"/>
          <p:cNvSpPr>
            <a:spLocks noChangeArrowheads="1"/>
          </p:cNvSpPr>
          <p:nvPr/>
        </p:nvSpPr>
        <p:spPr bwMode="auto">
          <a:xfrm rot="4682953">
            <a:off x="5192713" y="4398963"/>
            <a:ext cx="484187" cy="2960687"/>
          </a:xfrm>
          <a:prstGeom prst="curvedLeftArrow">
            <a:avLst>
              <a:gd name="adj1" fmla="val 24985"/>
              <a:gd name="adj2" fmla="val 49999"/>
              <a:gd name="adj3" fmla="val 25000"/>
            </a:avLst>
          </a:prstGeom>
          <a:solidFill>
            <a:srgbClr val="B88472"/>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p>
        </p:txBody>
      </p:sp>
      <p:sp>
        <p:nvSpPr>
          <p:cNvPr id="18" name="Rectangle 17"/>
          <p:cNvSpPr>
            <a:spLocks noChangeArrowheads="1"/>
          </p:cNvSpPr>
          <p:nvPr/>
        </p:nvSpPr>
        <p:spPr bwMode="auto">
          <a:xfrm>
            <a:off x="720828" y="6293173"/>
            <a:ext cx="77295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t>Thus the </a:t>
            </a:r>
            <a:r>
              <a:rPr lang="en-US" altLang="en-US" b="1" dirty="0"/>
              <a:t>critical value </a:t>
            </a:r>
            <a:r>
              <a:rPr lang="en-US" altLang="en-US" b="1" i="1" dirty="0"/>
              <a:t>z</a:t>
            </a:r>
            <a:r>
              <a:rPr lang="en-US" altLang="en-US" b="1" dirty="0"/>
              <a:t>*</a:t>
            </a:r>
            <a:r>
              <a:rPr lang="en-US" altLang="en-US" dirty="0"/>
              <a:t> for an 80% confidence interval is </a:t>
            </a:r>
            <a:r>
              <a:rPr lang="en-US" altLang="en-US" i="1" dirty="0"/>
              <a:t>z*</a:t>
            </a:r>
            <a:r>
              <a:rPr lang="en-US" altLang="en-US" dirty="0"/>
              <a:t> = 1.28.</a:t>
            </a:r>
          </a:p>
        </p:txBody>
      </p:sp>
    </p:spTree>
    <p:extLst>
      <p:ext uri="{BB962C8B-B14F-4D97-AF65-F5344CB8AC3E}">
        <p14:creationId xmlns:p14="http://schemas.microsoft.com/office/powerpoint/2010/main" val="166524944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dirty="0"/>
              <a:t>Large-Sample Confidence Interval</a:t>
            </a:r>
            <a:br>
              <a:rPr lang="en-US" altLang="en-US" dirty="0"/>
            </a:br>
            <a:r>
              <a:rPr lang="en-US" altLang="en-US" dirty="0"/>
              <a:t>for a Single Proportion 4</a:t>
            </a:r>
            <a:endParaRPr lang="en-US" dirty="0"/>
          </a:p>
        </p:txBody>
      </p:sp>
      <p:sp>
        <p:nvSpPr>
          <p:cNvPr id="317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DF7B9F5C-5830-43D5-A4DF-8D3986CEE90C}" type="slidenum">
              <a:rPr lang="en-US" altLang="en-US" sz="1200">
                <a:solidFill>
                  <a:schemeClr val="accent1"/>
                </a:solidFill>
              </a:rPr>
              <a:pPr>
                <a:lnSpc>
                  <a:spcPct val="80000"/>
                </a:lnSpc>
              </a:pPr>
              <a:t>8</a:t>
            </a:fld>
            <a:endParaRPr lang="en-US" altLang="en-US" sz="1200">
              <a:solidFill>
                <a:schemeClr val="accent1"/>
              </a:solidFill>
            </a:endParaRPr>
          </a:p>
        </p:txBody>
      </p:sp>
      <mc:AlternateContent xmlns:mc="http://schemas.openxmlformats.org/markup-compatibility/2006">
        <mc:Choice xmlns:a14="http://schemas.microsoft.com/office/drawing/2010/main" Requires="a14">
          <p:sp>
            <p:nvSpPr>
              <p:cNvPr id="31747" name="Rectangle 2"/>
              <p:cNvSpPr>
                <a:spLocks noChangeArrowheads="1"/>
              </p:cNvSpPr>
              <p:nvPr/>
            </p:nvSpPr>
            <p:spPr bwMode="auto">
              <a:xfrm>
                <a:off x="142081" y="1404231"/>
                <a:ext cx="8367713" cy="1464696"/>
              </a:xfrm>
              <a:prstGeom prst="rect">
                <a:avLst/>
              </a:prstGeom>
              <a:solidFill>
                <a:srgbClr val="FFD780"/>
              </a:solidFill>
              <a:ln>
                <a:noFill/>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en-US" altLang="en-US" dirty="0">
                    <a:solidFill>
                      <a:srgbClr val="000000"/>
                    </a:solidFill>
                  </a:rPr>
                  <a:t>Once we find the critical value </a:t>
                </a:r>
                <a:r>
                  <a:rPr lang="en-US" altLang="en-US" i="1" dirty="0">
                    <a:solidFill>
                      <a:srgbClr val="000000"/>
                    </a:solidFill>
                  </a:rPr>
                  <a:t>z*</a:t>
                </a:r>
                <a:r>
                  <a:rPr lang="en-US" altLang="en-US" dirty="0">
                    <a:solidFill>
                      <a:srgbClr val="000000"/>
                    </a:solidFill>
                  </a:rPr>
                  <a:t>, the confidence interval for the population proportion </a:t>
                </a:r>
                <a:r>
                  <a:rPr lang="en-US" altLang="en-US" i="1" dirty="0">
                    <a:solidFill>
                      <a:srgbClr val="000000"/>
                    </a:solidFill>
                  </a:rPr>
                  <a:t>p</a:t>
                </a:r>
                <a:r>
                  <a:rPr lang="en-US" altLang="en-US" dirty="0">
                    <a:solidFill>
                      <a:srgbClr val="000000"/>
                    </a:solidFill>
                  </a:rPr>
                  <a:t> is</a:t>
                </a:r>
              </a:p>
              <a:p>
                <a:pPr eaLnBrk="1" hangingPunct="1">
                  <a:buFont typeface="Wingdings" panose="05000000000000000000" pitchFamily="2" charset="2"/>
                  <a:buNone/>
                </a:pPr>
                <a14:m>
                  <m:oMathPara xmlns:m="http://schemas.openxmlformats.org/officeDocument/2006/math">
                    <m:oMathParaPr>
                      <m:jc m:val="centerGroup"/>
                    </m:oMathParaPr>
                    <m:oMath xmlns:m="http://schemas.openxmlformats.org/officeDocument/2006/math">
                      <m:acc>
                        <m:accPr>
                          <m:chr m:val="̂"/>
                          <m:ctrlPr>
                            <a:rPr lang="en-US" altLang="en-US" i="1" smtClean="0">
                              <a:solidFill>
                                <a:schemeClr val="tx1"/>
                              </a:solidFill>
                              <a:latin typeface="Cambria Math" panose="02040503050406030204" pitchFamily="18" charset="0"/>
                            </a:rPr>
                          </m:ctrlPr>
                        </m:accPr>
                        <m:e>
                          <m:r>
                            <a:rPr lang="en-US" altLang="en-US" b="0" i="1" smtClean="0">
                              <a:solidFill>
                                <a:schemeClr val="tx1"/>
                              </a:solidFill>
                              <a:latin typeface="Cambria Math" panose="02040503050406030204" pitchFamily="18" charset="0"/>
                            </a:rPr>
                            <m:t>𝑝</m:t>
                          </m:r>
                        </m:e>
                      </m:acc>
                      <m:r>
                        <a:rPr lang="en-US" altLang="en-US" i="1" smtClean="0">
                          <a:solidFill>
                            <a:schemeClr val="tx1"/>
                          </a:solidFill>
                          <a:latin typeface="Cambria Math" panose="02040503050406030204" pitchFamily="18" charset="0"/>
                          <a:ea typeface="Cambria Math" panose="02040503050406030204" pitchFamily="18" charset="0"/>
                        </a:rPr>
                        <m:t>±</m:t>
                      </m:r>
                      <m:sSup>
                        <m:sSupPr>
                          <m:ctrlPr>
                            <a:rPr lang="en-US" altLang="en-US" i="1" smtClean="0">
                              <a:solidFill>
                                <a:schemeClr val="tx1"/>
                              </a:solidFill>
                              <a:latin typeface="Cambria Math" panose="02040503050406030204" pitchFamily="18" charset="0"/>
                              <a:ea typeface="Cambria Math" panose="02040503050406030204" pitchFamily="18" charset="0"/>
                            </a:rPr>
                          </m:ctrlPr>
                        </m:sSupPr>
                        <m:e>
                          <m:r>
                            <a:rPr lang="en-US" altLang="en-US" b="0" i="1" smtClean="0">
                              <a:solidFill>
                                <a:schemeClr val="tx1"/>
                              </a:solidFill>
                              <a:latin typeface="Cambria Math" panose="02040503050406030204" pitchFamily="18" charset="0"/>
                              <a:ea typeface="Cambria Math" panose="02040503050406030204" pitchFamily="18" charset="0"/>
                            </a:rPr>
                            <m:t>𝑧</m:t>
                          </m:r>
                        </m:e>
                        <m:sup>
                          <m:r>
                            <a:rPr lang="en-US" altLang="en-US" b="0" i="1" smtClean="0">
                              <a:solidFill>
                                <a:schemeClr val="tx1"/>
                              </a:solidFill>
                              <a:latin typeface="Cambria Math" panose="02040503050406030204" pitchFamily="18" charset="0"/>
                              <a:ea typeface="Cambria Math" panose="02040503050406030204" pitchFamily="18" charset="0"/>
                            </a:rPr>
                            <m:t>∗</m:t>
                          </m:r>
                        </m:sup>
                      </m:sSup>
                      <m:rad>
                        <m:radPr>
                          <m:degHide m:val="on"/>
                          <m:ctrlPr>
                            <a:rPr lang="en-US" altLang="en-US" i="1" smtClean="0">
                              <a:solidFill>
                                <a:schemeClr val="tx1"/>
                              </a:solidFill>
                              <a:latin typeface="Cambria Math" panose="02040503050406030204" pitchFamily="18" charset="0"/>
                              <a:ea typeface="Cambria Math" panose="02040503050406030204" pitchFamily="18" charset="0"/>
                            </a:rPr>
                          </m:ctrlPr>
                        </m:radPr>
                        <m:deg/>
                        <m:e>
                          <m:f>
                            <m:fPr>
                              <m:ctrlPr>
                                <a:rPr lang="en-US" altLang="en-US" i="1" smtClean="0">
                                  <a:solidFill>
                                    <a:schemeClr val="tx1"/>
                                  </a:solidFill>
                                  <a:latin typeface="Cambria Math" panose="02040503050406030204" pitchFamily="18" charset="0"/>
                                  <a:ea typeface="Cambria Math" panose="02040503050406030204" pitchFamily="18" charset="0"/>
                                </a:rPr>
                              </m:ctrlPr>
                            </m:fPr>
                            <m:num>
                              <m:acc>
                                <m:accPr>
                                  <m:chr m:val="̂"/>
                                  <m:ctrlPr>
                                    <a:rPr lang="en-US" altLang="en-US" i="1" smtClean="0">
                                      <a:solidFill>
                                        <a:schemeClr val="tx1"/>
                                      </a:solidFill>
                                      <a:latin typeface="Cambria Math" panose="02040503050406030204" pitchFamily="18" charset="0"/>
                                      <a:ea typeface="Cambria Math" panose="02040503050406030204" pitchFamily="18" charset="0"/>
                                    </a:rPr>
                                  </m:ctrlPr>
                                </m:accPr>
                                <m:e>
                                  <m:r>
                                    <a:rPr lang="en-US" altLang="en-US" b="0" i="1" smtClean="0">
                                      <a:solidFill>
                                        <a:schemeClr val="tx1"/>
                                      </a:solidFill>
                                      <a:latin typeface="Cambria Math" panose="02040503050406030204" pitchFamily="18" charset="0"/>
                                      <a:ea typeface="Cambria Math" panose="02040503050406030204" pitchFamily="18" charset="0"/>
                                    </a:rPr>
                                    <m:t>𝑝</m:t>
                                  </m:r>
                                </m:e>
                              </m:acc>
                              <m:d>
                                <m:dPr>
                                  <m:ctrlPr>
                                    <a:rPr lang="en-US" altLang="en-US" i="1" smtClean="0">
                                      <a:solidFill>
                                        <a:schemeClr val="tx1"/>
                                      </a:solidFill>
                                      <a:latin typeface="Cambria Math" panose="02040503050406030204" pitchFamily="18" charset="0"/>
                                      <a:ea typeface="Cambria Math" panose="02040503050406030204" pitchFamily="18" charset="0"/>
                                    </a:rPr>
                                  </m:ctrlPr>
                                </m:dPr>
                                <m:e>
                                  <m:r>
                                    <a:rPr lang="en-US" altLang="en-US" b="0" i="1" smtClean="0">
                                      <a:solidFill>
                                        <a:schemeClr val="tx1"/>
                                      </a:solidFill>
                                      <a:latin typeface="Cambria Math" panose="02040503050406030204" pitchFamily="18" charset="0"/>
                                      <a:ea typeface="Cambria Math" panose="02040503050406030204" pitchFamily="18" charset="0"/>
                                    </a:rPr>
                                    <m:t>1−</m:t>
                                  </m:r>
                                  <m:acc>
                                    <m:accPr>
                                      <m:chr m:val="̂"/>
                                      <m:ctrlPr>
                                        <a:rPr lang="en-US" altLang="en-US" b="0" i="1" smtClean="0">
                                          <a:solidFill>
                                            <a:schemeClr val="tx1"/>
                                          </a:solidFill>
                                          <a:latin typeface="Cambria Math" panose="02040503050406030204" pitchFamily="18" charset="0"/>
                                          <a:ea typeface="Cambria Math" panose="02040503050406030204" pitchFamily="18" charset="0"/>
                                        </a:rPr>
                                      </m:ctrlPr>
                                    </m:accPr>
                                    <m:e>
                                      <m:r>
                                        <a:rPr lang="en-US" altLang="en-US" b="0" i="1" smtClean="0">
                                          <a:solidFill>
                                            <a:schemeClr val="tx1"/>
                                          </a:solidFill>
                                          <a:latin typeface="Cambria Math" panose="02040503050406030204" pitchFamily="18" charset="0"/>
                                          <a:ea typeface="Cambria Math" panose="02040503050406030204" pitchFamily="18" charset="0"/>
                                        </a:rPr>
                                        <m:t>𝑝</m:t>
                                      </m:r>
                                    </m:e>
                                  </m:acc>
                                </m:e>
                              </m:d>
                            </m:num>
                            <m:den>
                              <m:r>
                                <a:rPr lang="en-US" altLang="en-US" b="0" i="1" smtClean="0">
                                  <a:solidFill>
                                    <a:schemeClr val="tx1"/>
                                  </a:solidFill>
                                  <a:latin typeface="Cambria Math" panose="02040503050406030204" pitchFamily="18" charset="0"/>
                                  <a:ea typeface="Cambria Math" panose="02040503050406030204" pitchFamily="18" charset="0"/>
                                </a:rPr>
                                <m:t>𝑛</m:t>
                              </m:r>
                            </m:den>
                          </m:f>
                        </m:e>
                      </m:rad>
                    </m:oMath>
                  </m:oMathPara>
                </a14:m>
                <a:endParaRPr lang="en-US" altLang="en-US" sz="2000" dirty="0">
                  <a:solidFill>
                    <a:srgbClr val="000000"/>
                  </a:solidFill>
                </a:endParaRPr>
              </a:p>
            </p:txBody>
          </p:sp>
        </mc:Choice>
        <mc:Fallback>
          <p:sp>
            <p:nvSpPr>
              <p:cNvPr id="31747" name="Rectangle 2"/>
              <p:cNvSpPr>
                <a:spLocks noRot="1" noChangeAspect="1" noMove="1" noResize="1" noEditPoints="1" noAdjustHandles="1" noChangeArrowheads="1" noChangeShapeType="1" noTextEdit="1"/>
              </p:cNvSpPr>
              <p:nvPr/>
            </p:nvSpPr>
            <p:spPr bwMode="auto">
              <a:xfrm>
                <a:off x="142081" y="1404231"/>
                <a:ext cx="8367713" cy="1464696"/>
              </a:xfrm>
              <a:prstGeom prst="rect">
                <a:avLst/>
              </a:prstGeom>
              <a:blipFill rotWithShape="0">
                <a:blip r:embed="rId3"/>
                <a:stretch>
                  <a:fillRect l="-583" t="-2075"/>
                </a:stretch>
              </a:blipFill>
              <a:ln>
                <a:noFill/>
              </a:ln>
            </p:spPr>
            <p:txBody>
              <a:bodyPr/>
              <a:lstStyle/>
              <a:p>
                <a:r>
                  <a:rPr lang="en-US">
                    <a:noFill/>
                  </a:rPr>
                  <a:t> </a:t>
                </a:r>
              </a:p>
            </p:txBody>
          </p:sp>
        </mc:Fallback>
      </mc:AlternateContent>
      <p:sp>
        <p:nvSpPr>
          <p:cNvPr id="16" name="TextBox 15"/>
          <p:cNvSpPr txBox="1">
            <a:spLocks noChangeArrowheads="1"/>
          </p:cNvSpPr>
          <p:nvPr/>
        </p:nvSpPr>
        <p:spPr bwMode="auto">
          <a:xfrm>
            <a:off x="1897062" y="2975879"/>
            <a:ext cx="5421312" cy="338138"/>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1600" b="1" dirty="0">
                <a:highlight>
                  <a:srgbClr val="FFFF00"/>
                </a:highlight>
                <a:latin typeface="+mn-lt"/>
                <a:ea typeface="+mn-ea"/>
              </a:rPr>
              <a:t>One-Sample </a:t>
            </a:r>
            <a:r>
              <a:rPr lang="en-US" sz="1600" b="1" i="1" dirty="0">
                <a:highlight>
                  <a:srgbClr val="FFFF00"/>
                </a:highlight>
                <a:latin typeface="+mn-lt"/>
                <a:ea typeface="+mn-ea"/>
              </a:rPr>
              <a:t>z</a:t>
            </a:r>
            <a:r>
              <a:rPr lang="en-US" sz="1600" b="1" dirty="0">
                <a:highlight>
                  <a:srgbClr val="FFFF00"/>
                </a:highlight>
                <a:latin typeface="+mn-lt"/>
                <a:ea typeface="+mn-ea"/>
              </a:rPr>
              <a:t> Interval for a Population Proportion</a:t>
            </a:r>
          </a:p>
        </p:txBody>
      </p:sp>
      <mc:AlternateContent xmlns:mc="http://schemas.openxmlformats.org/markup-compatibility/2006">
        <mc:Choice xmlns:a14="http://schemas.microsoft.com/office/drawing/2010/main" Requires="a14">
          <p:sp>
            <p:nvSpPr>
              <p:cNvPr id="15" name="TextBox 14"/>
              <p:cNvSpPr txBox="1">
                <a:spLocks noChangeArrowheads="1"/>
              </p:cNvSpPr>
              <p:nvPr/>
            </p:nvSpPr>
            <p:spPr bwMode="auto">
              <a:xfrm>
                <a:off x="685800" y="3314017"/>
                <a:ext cx="7843838" cy="3311356"/>
              </a:xfrm>
              <a:prstGeom prst="rect">
                <a:avLst/>
              </a:prstGeom>
              <a:solidFill>
                <a:srgbClr val="FFD780"/>
              </a:solidFill>
              <a:ln w="10000">
                <a:solidFill>
                  <a:srgbClr val="8590B1"/>
                </a:solidFill>
                <a:miter lim="800000"/>
                <a:headEnd/>
                <a:tailEnd/>
              </a:ln>
              <a:effectLst>
                <a:outerShdw blurRad="38100" dist="30000" dir="5400000" rotWithShape="0">
                  <a:srgbClr val="808080">
                    <a:alpha val="45000"/>
                  </a:srgbClr>
                </a:outerShdw>
              </a:effec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Aft>
                    <a:spcPts val="1200"/>
                  </a:spcAft>
                  <a:defRPr/>
                </a:pPr>
                <a:r>
                  <a:rPr lang="en-US" altLang="en-US" sz="1800" dirty="0">
                    <a:solidFill>
                      <a:srgbClr val="000000"/>
                    </a:solidFill>
                  </a:rPr>
                  <a:t>Choose </a:t>
                </a:r>
                <a:r>
                  <a:rPr lang="en-US" altLang="en-US" sz="1800" dirty="0">
                    <a:solidFill>
                      <a:schemeClr val="tx1"/>
                    </a:solidFill>
                  </a:rPr>
                  <a:t>an SRS of size </a:t>
                </a:r>
                <a:r>
                  <a:rPr lang="en-US" altLang="en-US" sz="1800" i="1" dirty="0">
                    <a:solidFill>
                      <a:schemeClr val="tx1"/>
                    </a:solidFill>
                  </a:rPr>
                  <a:t>n</a:t>
                </a:r>
                <a:r>
                  <a:rPr lang="en-US" altLang="en-US" sz="1800" dirty="0">
                    <a:solidFill>
                      <a:schemeClr val="tx1"/>
                    </a:solidFill>
                  </a:rPr>
                  <a:t> from a large population that contains an unknown proportion </a:t>
                </a:r>
                <a:r>
                  <a:rPr lang="en-US" altLang="en-US" sz="1800" i="1" dirty="0">
                    <a:solidFill>
                      <a:schemeClr val="tx1"/>
                    </a:solidFill>
                  </a:rPr>
                  <a:t>p</a:t>
                </a:r>
                <a:r>
                  <a:rPr lang="en-US" altLang="en-US" sz="1800" dirty="0">
                    <a:solidFill>
                      <a:schemeClr val="tx1"/>
                    </a:solidFill>
                  </a:rPr>
                  <a:t> of successes. An approximate level </a:t>
                </a:r>
                <a:r>
                  <a:rPr lang="en-US" altLang="en-US" sz="1800" i="1" dirty="0">
                    <a:solidFill>
                      <a:schemeClr val="tx1"/>
                    </a:solidFill>
                  </a:rPr>
                  <a:t>C</a:t>
                </a:r>
                <a:r>
                  <a:rPr lang="en-US" altLang="en-US" sz="1800" dirty="0">
                    <a:solidFill>
                      <a:schemeClr val="tx1"/>
                    </a:solidFill>
                  </a:rPr>
                  <a:t> </a:t>
                </a:r>
                <a:r>
                  <a:rPr lang="en-US" altLang="en-US" sz="1800" b="1" dirty="0">
                    <a:solidFill>
                      <a:schemeClr val="tx1"/>
                    </a:solidFill>
                  </a:rPr>
                  <a:t>confidence interval for </a:t>
                </a:r>
                <a:r>
                  <a:rPr lang="en-US" altLang="en-US" sz="1800" b="1" i="1" dirty="0">
                    <a:solidFill>
                      <a:schemeClr val="tx1"/>
                    </a:solidFill>
                  </a:rPr>
                  <a:t>p</a:t>
                </a:r>
                <a:r>
                  <a:rPr lang="en-US" altLang="en-US" sz="1800" b="1" dirty="0">
                    <a:solidFill>
                      <a:schemeClr val="tx1"/>
                    </a:solidFill>
                  </a:rPr>
                  <a:t> </a:t>
                </a:r>
                <a:r>
                  <a:rPr lang="en-US" altLang="en-US" sz="1800" dirty="0">
                    <a:solidFill>
                      <a:schemeClr val="tx1"/>
                    </a:solidFill>
                  </a:rPr>
                  <a:t>is </a:t>
                </a:r>
              </a:p>
              <a:p>
                <a:pPr eaLnBrk="1" hangingPunct="1">
                  <a:spcAft>
                    <a:spcPts val="1200"/>
                  </a:spcAft>
                  <a:defRPr/>
                </a:pPr>
                <a14:m>
                  <m:oMathPara xmlns:m="http://schemas.openxmlformats.org/officeDocument/2006/math">
                    <m:oMathParaPr>
                      <m:jc m:val="centerGroup"/>
                    </m:oMathParaPr>
                    <m:oMath xmlns:m="http://schemas.openxmlformats.org/officeDocument/2006/math">
                      <m:acc>
                        <m:accPr>
                          <m:chr m:val="̂"/>
                          <m:ctrlPr>
                            <a:rPr lang="en-US" altLang="en-US" sz="1800" i="1" smtClean="0">
                              <a:solidFill>
                                <a:schemeClr val="tx1"/>
                              </a:solidFill>
                              <a:latin typeface="Cambria Math" panose="02040503050406030204" pitchFamily="18" charset="0"/>
                            </a:rPr>
                          </m:ctrlPr>
                        </m:accPr>
                        <m:e>
                          <m:r>
                            <a:rPr lang="en-US" altLang="en-US" sz="1800" i="1">
                              <a:solidFill>
                                <a:schemeClr val="tx1"/>
                              </a:solidFill>
                              <a:latin typeface="Cambria Math" panose="02040503050406030204" pitchFamily="18" charset="0"/>
                            </a:rPr>
                            <m:t>𝑝</m:t>
                          </m:r>
                        </m:e>
                      </m:acc>
                      <m:r>
                        <a:rPr lang="en-US" altLang="en-US" sz="1800" i="1">
                          <a:solidFill>
                            <a:schemeClr val="tx1"/>
                          </a:solidFill>
                          <a:latin typeface="Cambria Math" panose="02040503050406030204" pitchFamily="18" charset="0"/>
                          <a:ea typeface="Cambria Math" panose="02040503050406030204" pitchFamily="18" charset="0"/>
                        </a:rPr>
                        <m:t>±</m:t>
                      </m:r>
                      <m:sSup>
                        <m:sSupPr>
                          <m:ctrlPr>
                            <a:rPr lang="en-US" altLang="en-US" sz="1800" i="1">
                              <a:solidFill>
                                <a:schemeClr val="tx1"/>
                              </a:solidFill>
                              <a:latin typeface="Cambria Math" panose="02040503050406030204" pitchFamily="18" charset="0"/>
                              <a:ea typeface="Cambria Math" panose="02040503050406030204" pitchFamily="18" charset="0"/>
                            </a:rPr>
                          </m:ctrlPr>
                        </m:sSupPr>
                        <m:e>
                          <m:r>
                            <a:rPr lang="en-US" altLang="en-US" sz="1800" i="1">
                              <a:solidFill>
                                <a:schemeClr val="tx1"/>
                              </a:solidFill>
                              <a:latin typeface="Cambria Math" panose="02040503050406030204" pitchFamily="18" charset="0"/>
                              <a:ea typeface="Cambria Math" panose="02040503050406030204" pitchFamily="18" charset="0"/>
                            </a:rPr>
                            <m:t>𝑧</m:t>
                          </m:r>
                        </m:e>
                        <m:sup>
                          <m:r>
                            <a:rPr lang="en-US" altLang="en-US" sz="1800" i="1">
                              <a:solidFill>
                                <a:schemeClr val="tx1"/>
                              </a:solidFill>
                              <a:latin typeface="Cambria Math" panose="02040503050406030204" pitchFamily="18" charset="0"/>
                              <a:ea typeface="Cambria Math" panose="02040503050406030204" pitchFamily="18" charset="0"/>
                            </a:rPr>
                            <m:t>∗</m:t>
                          </m:r>
                        </m:sup>
                      </m:sSup>
                      <m:rad>
                        <m:radPr>
                          <m:degHide m:val="on"/>
                          <m:ctrlPr>
                            <a:rPr lang="en-US" altLang="en-US" sz="1800" i="1">
                              <a:solidFill>
                                <a:schemeClr val="tx1"/>
                              </a:solidFill>
                              <a:latin typeface="Cambria Math" panose="02040503050406030204" pitchFamily="18" charset="0"/>
                              <a:ea typeface="Cambria Math" panose="02040503050406030204" pitchFamily="18" charset="0"/>
                            </a:rPr>
                          </m:ctrlPr>
                        </m:radPr>
                        <m:deg/>
                        <m:e>
                          <m:f>
                            <m:fPr>
                              <m:ctrlPr>
                                <a:rPr lang="en-US" altLang="en-US" sz="1800" i="1">
                                  <a:solidFill>
                                    <a:schemeClr val="tx1"/>
                                  </a:solidFill>
                                  <a:latin typeface="Cambria Math" panose="02040503050406030204" pitchFamily="18" charset="0"/>
                                  <a:ea typeface="Cambria Math" panose="02040503050406030204" pitchFamily="18" charset="0"/>
                                </a:rPr>
                              </m:ctrlPr>
                            </m:fPr>
                            <m:num>
                              <m:acc>
                                <m:accPr>
                                  <m:chr m:val="̂"/>
                                  <m:ctrlPr>
                                    <a:rPr lang="en-US" altLang="en-US" sz="1800" i="1">
                                      <a:solidFill>
                                        <a:schemeClr val="tx1"/>
                                      </a:solidFill>
                                      <a:latin typeface="Cambria Math" panose="02040503050406030204" pitchFamily="18" charset="0"/>
                                      <a:ea typeface="Cambria Math" panose="02040503050406030204" pitchFamily="18" charset="0"/>
                                    </a:rPr>
                                  </m:ctrlPr>
                                </m:accPr>
                                <m:e>
                                  <m:r>
                                    <a:rPr lang="en-US" altLang="en-US" sz="1800" i="1">
                                      <a:solidFill>
                                        <a:schemeClr val="tx1"/>
                                      </a:solidFill>
                                      <a:latin typeface="Cambria Math" panose="02040503050406030204" pitchFamily="18" charset="0"/>
                                      <a:ea typeface="Cambria Math" panose="02040503050406030204" pitchFamily="18" charset="0"/>
                                    </a:rPr>
                                    <m:t>𝑝</m:t>
                                  </m:r>
                                </m:e>
                              </m:acc>
                              <m:d>
                                <m:dPr>
                                  <m:ctrlPr>
                                    <a:rPr lang="en-US" altLang="en-US" sz="1800" i="1">
                                      <a:solidFill>
                                        <a:schemeClr val="tx1"/>
                                      </a:solidFill>
                                      <a:latin typeface="Cambria Math" panose="02040503050406030204" pitchFamily="18" charset="0"/>
                                      <a:ea typeface="Cambria Math" panose="02040503050406030204" pitchFamily="18" charset="0"/>
                                    </a:rPr>
                                  </m:ctrlPr>
                                </m:dPr>
                                <m:e>
                                  <m:r>
                                    <a:rPr lang="en-US" altLang="en-US" sz="1800" i="1">
                                      <a:solidFill>
                                        <a:schemeClr val="tx1"/>
                                      </a:solidFill>
                                      <a:latin typeface="Cambria Math" panose="02040503050406030204" pitchFamily="18" charset="0"/>
                                      <a:ea typeface="Cambria Math" panose="02040503050406030204" pitchFamily="18" charset="0"/>
                                    </a:rPr>
                                    <m:t>1−</m:t>
                                  </m:r>
                                  <m:acc>
                                    <m:accPr>
                                      <m:chr m:val="̂"/>
                                      <m:ctrlPr>
                                        <a:rPr lang="en-US" altLang="en-US" sz="1800" i="1">
                                          <a:solidFill>
                                            <a:schemeClr val="tx1"/>
                                          </a:solidFill>
                                          <a:latin typeface="Cambria Math" panose="02040503050406030204" pitchFamily="18" charset="0"/>
                                          <a:ea typeface="Cambria Math" panose="02040503050406030204" pitchFamily="18" charset="0"/>
                                        </a:rPr>
                                      </m:ctrlPr>
                                    </m:accPr>
                                    <m:e>
                                      <m:r>
                                        <a:rPr lang="en-US" altLang="en-US" sz="1800" i="1">
                                          <a:solidFill>
                                            <a:schemeClr val="tx1"/>
                                          </a:solidFill>
                                          <a:latin typeface="Cambria Math" panose="02040503050406030204" pitchFamily="18" charset="0"/>
                                          <a:ea typeface="Cambria Math" panose="02040503050406030204" pitchFamily="18" charset="0"/>
                                        </a:rPr>
                                        <m:t>𝑝</m:t>
                                      </m:r>
                                    </m:e>
                                  </m:acc>
                                </m:e>
                              </m:d>
                            </m:num>
                            <m:den>
                              <m:r>
                                <a:rPr lang="en-US" altLang="en-US" sz="1800" i="1">
                                  <a:solidFill>
                                    <a:schemeClr val="tx1"/>
                                  </a:solidFill>
                                  <a:latin typeface="Cambria Math" panose="02040503050406030204" pitchFamily="18" charset="0"/>
                                  <a:ea typeface="Cambria Math" panose="02040503050406030204" pitchFamily="18" charset="0"/>
                                </a:rPr>
                                <m:t>𝑛</m:t>
                              </m:r>
                            </m:den>
                          </m:f>
                        </m:e>
                      </m:rad>
                    </m:oMath>
                  </m:oMathPara>
                </a14:m>
                <a:endParaRPr lang="en-US" altLang="en-US" sz="1800" dirty="0">
                  <a:solidFill>
                    <a:srgbClr val="000000"/>
                  </a:solidFill>
                </a:endParaRPr>
              </a:p>
              <a:p>
                <a:pPr eaLnBrk="1" hangingPunct="1">
                  <a:spcAft>
                    <a:spcPts val="1200"/>
                  </a:spcAft>
                  <a:defRPr/>
                </a:pPr>
                <a:r>
                  <a:rPr lang="en-US" altLang="en-US" sz="1800" dirty="0">
                    <a:solidFill>
                      <a:srgbClr val="000000"/>
                    </a:solidFill>
                  </a:rPr>
                  <a:t>where </a:t>
                </a:r>
                <a:r>
                  <a:rPr lang="en-US" altLang="en-US" sz="1800" i="1" dirty="0">
                    <a:solidFill>
                      <a:srgbClr val="000000"/>
                    </a:solidFill>
                  </a:rPr>
                  <a:t>z*</a:t>
                </a:r>
                <a:r>
                  <a:rPr lang="en-US" altLang="en-US" sz="1800" dirty="0">
                    <a:solidFill>
                      <a:srgbClr val="000000"/>
                    </a:solidFill>
                  </a:rPr>
                  <a:t> is the critical value for the standard Normal density curve with area </a:t>
                </a:r>
                <a:r>
                  <a:rPr lang="en-US" altLang="en-US" sz="1800" i="1" dirty="0">
                    <a:solidFill>
                      <a:srgbClr val="000000"/>
                    </a:solidFill>
                  </a:rPr>
                  <a:t>C</a:t>
                </a:r>
                <a:r>
                  <a:rPr lang="en-US" altLang="en-US" sz="1800" dirty="0">
                    <a:solidFill>
                      <a:srgbClr val="000000"/>
                    </a:solidFill>
                  </a:rPr>
                  <a:t> between – </a:t>
                </a:r>
                <a:r>
                  <a:rPr lang="en-US" altLang="en-US" sz="1800" i="1" dirty="0">
                    <a:solidFill>
                      <a:srgbClr val="000000"/>
                    </a:solidFill>
                  </a:rPr>
                  <a:t>z*</a:t>
                </a:r>
                <a:r>
                  <a:rPr lang="en-US" altLang="en-US" sz="1800" dirty="0">
                    <a:solidFill>
                      <a:srgbClr val="000000"/>
                    </a:solidFill>
                  </a:rPr>
                  <a:t> and </a:t>
                </a:r>
                <a:r>
                  <a:rPr lang="en-US" altLang="en-US" sz="1800" i="1" dirty="0">
                    <a:solidFill>
                      <a:srgbClr val="000000"/>
                    </a:solidFill>
                  </a:rPr>
                  <a:t>z*.</a:t>
                </a:r>
              </a:p>
              <a:p>
                <a:pPr eaLnBrk="1" hangingPunct="1">
                  <a:spcAft>
                    <a:spcPts val="1200"/>
                  </a:spcAft>
                  <a:defRPr/>
                </a:pPr>
                <a:r>
                  <a:rPr lang="en-US" altLang="en-US" sz="1800" dirty="0">
                    <a:solidFill>
                      <a:srgbClr val="000000"/>
                    </a:solidFill>
                  </a:rPr>
                  <a:t>Use this interval only when the numbers of successes and failures in the sample are both at least 10. </a:t>
                </a:r>
              </a:p>
            </p:txBody>
          </p:sp>
        </mc:Choice>
        <mc:Fallback>
          <p:sp>
            <p:nvSpPr>
              <p:cNvPr id="15" name="TextBox 14"/>
              <p:cNvSpPr txBox="1">
                <a:spLocks noRot="1" noChangeAspect="1" noMove="1" noResize="1" noEditPoints="1" noAdjustHandles="1" noChangeArrowheads="1" noChangeShapeType="1" noTextEdit="1"/>
              </p:cNvSpPr>
              <p:nvPr/>
            </p:nvSpPr>
            <p:spPr bwMode="auto">
              <a:xfrm>
                <a:off x="685800" y="3314017"/>
                <a:ext cx="7843838" cy="3311356"/>
              </a:xfrm>
              <a:prstGeom prst="rect">
                <a:avLst/>
              </a:prstGeom>
              <a:blipFill rotWithShape="0">
                <a:blip r:embed="rId4"/>
                <a:stretch>
                  <a:fillRect/>
                </a:stretch>
              </a:blipFill>
              <a:ln w="10000">
                <a:solidFill>
                  <a:srgbClr val="8590B1"/>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174625" y="154305"/>
            <a:ext cx="7772400" cy="1143000"/>
          </a:xfrm>
        </p:spPr>
        <p:txBody>
          <a:bodyPr/>
          <a:lstStyle/>
          <a:p>
            <a:pPr eaLnBrk="1" hangingPunct="1"/>
            <a:r>
              <a:rPr lang="en-US" altLang="en-US" dirty="0"/>
              <a:t>Large-Sample Confidence Interval</a:t>
            </a:r>
            <a:br>
              <a:rPr lang="en-US" altLang="en-US" dirty="0"/>
            </a:br>
            <a:r>
              <a:rPr lang="en-US" altLang="en-US" dirty="0"/>
              <a:t>for a Single Proportion </a:t>
            </a:r>
            <a:r>
              <a:rPr lang="en-US" altLang="en-US" dirty="0">
                <a:ea typeface="ＭＳ Ｐゴシック" panose="020B0600070205080204" pitchFamily="34" charset="-128"/>
              </a:rPr>
              <a:t>Example</a:t>
            </a:r>
          </a:p>
        </p:txBody>
      </p:sp>
      <p:sp>
        <p:nvSpPr>
          <p:cNvPr id="327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531E8721-B8FE-48ED-B0FE-291CB7F74DCA}" type="slidenum">
              <a:rPr lang="en-US" altLang="en-US" sz="1200">
                <a:solidFill>
                  <a:schemeClr val="accent1"/>
                </a:solidFill>
              </a:rPr>
              <a:pPr>
                <a:lnSpc>
                  <a:spcPct val="80000"/>
                </a:lnSpc>
              </a:pPr>
              <a:t>9</a:t>
            </a:fld>
            <a:endParaRPr lang="en-US" altLang="en-US" sz="1200">
              <a:solidFill>
                <a:schemeClr val="accent1"/>
              </a:solidFill>
            </a:endParaRPr>
          </a:p>
        </p:txBody>
      </p:sp>
      <p:sp>
        <p:nvSpPr>
          <p:cNvPr id="32772" name="Rectangle 1"/>
          <p:cNvSpPr>
            <a:spLocks noChangeArrowheads="1"/>
          </p:cNvSpPr>
          <p:nvPr/>
        </p:nvSpPr>
        <p:spPr bwMode="auto">
          <a:xfrm>
            <a:off x="292100" y="1342470"/>
            <a:ext cx="84121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buFont typeface="Wingdings" panose="05000000000000000000" pitchFamily="2" charset="2"/>
              <a:buNone/>
            </a:pPr>
            <a:r>
              <a:rPr lang="en-US" altLang="en-US" b="1" dirty="0">
                <a:solidFill>
                  <a:srgbClr val="000000"/>
                </a:solidFill>
              </a:rPr>
              <a:t>Example:  </a:t>
            </a:r>
            <a:r>
              <a:rPr lang="en-US" altLang="en-US" dirty="0">
                <a:solidFill>
                  <a:srgbClr val="000000"/>
                </a:solidFill>
              </a:rPr>
              <a:t>A Pew survey asked a panel of experts whether they thought robotic devices will have displaced more jobs than they have created by 2025. Out of 1896 experts, 910 said yes. Calculate and interpret a 90% confidence interval for the proportion of experts who believe net jobs will decrease due to robotics.</a:t>
            </a:r>
          </a:p>
        </p:txBody>
      </p:sp>
      <p:sp>
        <p:nvSpPr>
          <p:cNvPr id="11" name="Rectangle 10" descr="The values 0.505 and 0.0495 are highlighted in yellow color. These values correspond to row 3 (z equals to -1.7), and column 3 and 4, respectively."/>
          <p:cNvSpPr>
            <a:spLocks noChangeArrowheads="1"/>
          </p:cNvSpPr>
          <p:nvPr/>
        </p:nvSpPr>
        <p:spPr bwMode="auto">
          <a:xfrm>
            <a:off x="1920875" y="3385583"/>
            <a:ext cx="1606550" cy="369888"/>
          </a:xfrm>
          <a:prstGeom prst="rect">
            <a:avLst/>
          </a:prstGeom>
          <a:solidFill>
            <a:srgbClr val="FFFF00"/>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solidFill>
                <a:srgbClr val="FFFFFF"/>
              </a:solidFill>
            </a:endParaRPr>
          </a:p>
        </p:txBody>
      </p:sp>
      <p:graphicFrame>
        <p:nvGraphicFramePr>
          <p:cNvPr id="16" name="Table 15" descr="The table has 4 columns that are labeled z, 0.03, 0.04, and 0.05, respectively. Row 2, 3, and 4 are labeled -1.7, -1.6, and -1.5, respectively. The row 2, z value -1.7, shows values 0.0418, 0.0409, and 0.0401, which correspond to the column 0.03, 0.04, and 0.05, respectively. Similarly, row 3, z value -1.6 shows the values 0.0516, 0.0505, and 0.0495 corresponding to column 2, 3, and 4, respectively. Row 4, z value -1.5 shows the value 0.0630, 0.0618, 0.0606 corresponding to column 2, 3, and 4, respectively. &#10;The values 0.505 and 0.0495 are highlighted in yellow color. These values correspond to row 3 (z equals to -1.7), and column 3 and 4, respectively."/>
          <p:cNvGraphicFramePr>
            <a:graphicFrameLocks noGrp="1"/>
          </p:cNvGraphicFramePr>
          <p:nvPr>
            <p:extLst>
              <p:ext uri="{D42A27DB-BD31-4B8C-83A1-F6EECF244321}">
                <p14:modId xmlns:p14="http://schemas.microsoft.com/office/powerpoint/2010/main" val="1269837211"/>
              </p:ext>
            </p:extLst>
          </p:nvPr>
        </p:nvGraphicFramePr>
        <p:xfrm>
          <a:off x="174625" y="2641046"/>
          <a:ext cx="3373437" cy="1485900"/>
        </p:xfrm>
        <a:graphic>
          <a:graphicData uri="http://schemas.openxmlformats.org/drawingml/2006/table">
            <a:tbl>
              <a:tblPr firstRow="1"/>
              <a:tblGrid>
                <a:gridCol w="842962">
                  <a:extLst>
                    <a:ext uri="{9D8B030D-6E8A-4147-A177-3AD203B41FA5}">
                      <a16:colId xmlns:a16="http://schemas.microsoft.com/office/drawing/2014/main" xmlns="" val="20000"/>
                    </a:ext>
                  </a:extLst>
                </a:gridCol>
                <a:gridCol w="842963">
                  <a:extLst>
                    <a:ext uri="{9D8B030D-6E8A-4147-A177-3AD203B41FA5}">
                      <a16:colId xmlns:a16="http://schemas.microsoft.com/office/drawing/2014/main" xmlns="" val="20001"/>
                    </a:ext>
                  </a:extLst>
                </a:gridCol>
                <a:gridCol w="844550">
                  <a:extLst>
                    <a:ext uri="{9D8B030D-6E8A-4147-A177-3AD203B41FA5}">
                      <a16:colId xmlns:a16="http://schemas.microsoft.com/office/drawing/2014/main" xmlns="" val="20002"/>
                    </a:ext>
                  </a:extLst>
                </a:gridCol>
                <a:gridCol w="842962">
                  <a:extLst>
                    <a:ext uri="{9D8B030D-6E8A-4147-A177-3AD203B41FA5}">
                      <a16:colId xmlns:a16="http://schemas.microsoft.com/office/drawing/2014/main" xmlns="" val="20003"/>
                    </a:ext>
                  </a:extLst>
                </a:gridCol>
              </a:tblGrid>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1" u="none" strike="noStrike" cap="none" normalizeH="0" baseline="0" dirty="0">
                          <a:ln>
                            <a:noFill/>
                          </a:ln>
                          <a:solidFill>
                            <a:schemeClr val="tx1"/>
                          </a:solidFill>
                          <a:effectLst/>
                          <a:latin typeface="Arial" charset="0"/>
                          <a:ea typeface="ＭＳ Ｐゴシック" charset="-128"/>
                        </a:rPr>
                        <a:t>z</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.03</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.04</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.05</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0"/>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 1.7</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.0418</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.0409</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.0401</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1"/>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 1.6</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.0516</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.0505</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.0495</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charset="0"/>
                          <a:ea typeface="ＭＳ Ｐゴシック" charset="-128"/>
                        </a:rPr>
                        <a:t>– 1.5</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.0630</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.0618</a:t>
                      </a:r>
                    </a:p>
                  </a:txBody>
                  <a:tcPr horzOverflow="overflow">
                    <a:lnL>
                      <a:noFill/>
                    </a:lnL>
                    <a:lnR>
                      <a:noFill/>
                    </a:lnR>
                    <a:lnT>
                      <a:noFill/>
                    </a:lnT>
                    <a:lnB>
                      <a:noFill/>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charset="0"/>
                          <a:ea typeface="ＭＳ Ｐゴシック" charset="-128"/>
                        </a:rPr>
                        <a:t>.0606</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bl>
          </a:graphicData>
        </a:graphic>
      </p:graphicFrame>
      <p:sp>
        <p:nvSpPr>
          <p:cNvPr id="32798" name="TextBox 12"/>
          <p:cNvSpPr txBox="1">
            <a:spLocks noChangeArrowheads="1"/>
          </p:cNvSpPr>
          <p:nvPr/>
        </p:nvSpPr>
        <p:spPr bwMode="auto">
          <a:xfrm>
            <a:off x="3897313" y="2674383"/>
            <a:ext cx="43845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Clr>
                <a:srgbClr val="6B0B14"/>
              </a:buClr>
              <a:buFont typeface="Wingdings" panose="05000000000000000000" pitchFamily="2" charset="2"/>
              <a:buChar char="ü"/>
            </a:pPr>
            <a:r>
              <a:rPr lang="en-US" altLang="en-US" dirty="0"/>
              <a:t>Sample proportion = 910/1896 = 0.480</a:t>
            </a:r>
          </a:p>
        </p:txBody>
      </p:sp>
      <p:sp>
        <p:nvSpPr>
          <p:cNvPr id="32797" name="TextBox 18"/>
          <p:cNvSpPr txBox="1">
            <a:spLocks noChangeArrowheads="1"/>
          </p:cNvSpPr>
          <p:nvPr/>
        </p:nvSpPr>
        <p:spPr bwMode="auto">
          <a:xfrm>
            <a:off x="3897312" y="3089542"/>
            <a:ext cx="5008563" cy="646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Clr>
                <a:srgbClr val="800000"/>
              </a:buClr>
              <a:buFont typeface="Wingdings" panose="05000000000000000000" pitchFamily="2" charset="2"/>
              <a:buChar char="ü"/>
            </a:pPr>
            <a:r>
              <a:rPr lang="en-US" altLang="en-US" dirty="0"/>
              <a:t>This is an SRS; there are 910 successes and 986 failures. Both are greater than 10.</a:t>
            </a:r>
          </a:p>
        </p:txBody>
      </p:sp>
      <p:sp>
        <p:nvSpPr>
          <p:cNvPr id="17" name="TextBox 16"/>
          <p:cNvSpPr txBox="1">
            <a:spLocks noChangeArrowheads="1"/>
          </p:cNvSpPr>
          <p:nvPr/>
        </p:nvSpPr>
        <p:spPr bwMode="auto">
          <a:xfrm>
            <a:off x="3897313" y="3780214"/>
            <a:ext cx="4449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Clr>
                <a:srgbClr val="800000"/>
              </a:buClr>
              <a:buFont typeface="Wingdings" panose="05000000000000000000" pitchFamily="2" charset="2"/>
              <a:buChar char="ü"/>
            </a:pPr>
            <a:r>
              <a:rPr lang="en-US" altLang="en-US" dirty="0"/>
              <a:t> For a 90% confidence level, </a:t>
            </a:r>
            <a:r>
              <a:rPr lang="en-US" altLang="en-US" i="1" dirty="0"/>
              <a:t>z* </a:t>
            </a:r>
            <a:r>
              <a:rPr lang="en-US" altLang="en-US" dirty="0"/>
              <a:t>= 1.645.</a:t>
            </a:r>
          </a:p>
        </p:txBody>
      </p:sp>
      <p:graphicFrame>
        <p:nvGraphicFramePr>
          <p:cNvPr id="15" name="Object 2" descr="The image shows a mathematical expression given as: 'p hat' plus minus 'z asterisk' multiply by whole square root of 'p hat' bracket open '1 minus p hat,' divide by 'n.'"/>
          <p:cNvGraphicFramePr>
            <a:graphicFrameLocks noChangeAspect="1"/>
          </p:cNvGraphicFramePr>
          <p:nvPr>
            <p:extLst>
              <p:ext uri="{D42A27DB-BD31-4B8C-83A1-F6EECF244321}">
                <p14:modId xmlns:p14="http://schemas.microsoft.com/office/powerpoint/2010/main" val="569938029"/>
              </p:ext>
            </p:extLst>
          </p:nvPr>
        </p:nvGraphicFramePr>
        <p:xfrm>
          <a:off x="588962" y="4258708"/>
          <a:ext cx="1854200" cy="698500"/>
        </p:xfrm>
        <a:graphic>
          <a:graphicData uri="http://schemas.openxmlformats.org/presentationml/2006/ole">
            <mc:AlternateContent xmlns:mc="http://schemas.openxmlformats.org/markup-compatibility/2006">
              <mc:Choice xmlns:v="urn:schemas-microsoft-com:vml" Requires="v">
                <p:oleObj spid="_x0000_s33219" name="Equation" r:id="rId4" imgW="1079500" imgH="406400" progId="Equation.3">
                  <p:embed/>
                </p:oleObj>
              </mc:Choice>
              <mc:Fallback>
                <p:oleObj name="Equation" r:id="rId4" imgW="1079500" imgH="4064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962" y="4258708"/>
                        <a:ext cx="185420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2" name="Object 3" descr="The image shows the mathematical expression as '0.480' plus minus '1.645' multiply by square root of '0.480' bracket open '1 minus 0.480,' divide by 1896.&#10;The expression is given in continuation to the equation: 'p hat' plus minus 'z asterisk' multiply by whole square root of 'p hat' bracket open '1 minus p hat,' divide by 'n.'"/>
          <p:cNvGraphicFramePr>
            <a:graphicFrameLocks noChangeAspect="1"/>
          </p:cNvGraphicFramePr>
          <p:nvPr>
            <p:extLst>
              <p:ext uri="{D42A27DB-BD31-4B8C-83A1-F6EECF244321}">
                <p14:modId xmlns:p14="http://schemas.microsoft.com/office/powerpoint/2010/main" val="1218971487"/>
              </p:ext>
            </p:extLst>
          </p:nvPr>
        </p:nvGraphicFramePr>
        <p:xfrm>
          <a:off x="371475" y="5088970"/>
          <a:ext cx="3729037" cy="742950"/>
        </p:xfrm>
        <a:graphic>
          <a:graphicData uri="http://schemas.openxmlformats.org/presentationml/2006/ole">
            <mc:AlternateContent xmlns:mc="http://schemas.openxmlformats.org/markup-compatibility/2006">
              <mc:Choice xmlns:v="urn:schemas-microsoft-com:vml" Requires="v">
                <p:oleObj spid="_x0000_s33220" name="Equation" r:id="rId6" imgW="2171700" imgH="431800" progId="Equation.3">
                  <p:embed/>
                </p:oleObj>
              </mc:Choice>
              <mc:Fallback>
                <p:oleObj name="Equation" r:id="rId6" imgW="2171700" imgH="4318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1475" y="5088970"/>
                        <a:ext cx="3729037"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3" name="Object 4" descr="The image shows a mathematical equation given as: '0.480' plus minus '0.022,' which on further simplification gives the values given in brackets: '0.458' and '0.502'.&#10;&#10;The expression is given in continuation to the calculation: '0.480' plus minus '1.645' multiply by square root of '0.480' bracket open '1 minus 0.480,' divide by 1896.&#10;&#10;The calculations are based on the equation:'p hat' plus minus 'z asterisk' multiply by whole square root of 'p hat' bracket open '1 minus p hat,' divide by 'n.'"/>
          <p:cNvGraphicFramePr>
            <a:graphicFrameLocks noChangeAspect="1"/>
          </p:cNvGraphicFramePr>
          <p:nvPr>
            <p:extLst>
              <p:ext uri="{D42A27DB-BD31-4B8C-83A1-F6EECF244321}">
                <p14:modId xmlns:p14="http://schemas.microsoft.com/office/powerpoint/2010/main" val="4131047786"/>
              </p:ext>
            </p:extLst>
          </p:nvPr>
        </p:nvGraphicFramePr>
        <p:xfrm>
          <a:off x="372246" y="5808108"/>
          <a:ext cx="1789113" cy="720725"/>
        </p:xfrm>
        <a:graphic>
          <a:graphicData uri="http://schemas.openxmlformats.org/presentationml/2006/ole">
            <mc:AlternateContent xmlns:mc="http://schemas.openxmlformats.org/markup-compatibility/2006">
              <mc:Choice xmlns:v="urn:schemas-microsoft-com:vml" Requires="v">
                <p:oleObj spid="_x0000_s33221" name="Equation" r:id="rId8" imgW="1041400" imgH="419100" progId="Equation.3">
                  <p:embed/>
                </p:oleObj>
              </mc:Choice>
              <mc:Fallback>
                <p:oleObj name="Equation" r:id="rId8" imgW="1041400" imgH="4191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246" y="5808108"/>
                        <a:ext cx="1789113"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4" name="TextBox 23"/>
          <p:cNvSpPr txBox="1">
            <a:spLocks noChangeArrowheads="1"/>
          </p:cNvSpPr>
          <p:nvPr/>
        </p:nvSpPr>
        <p:spPr bwMode="auto">
          <a:xfrm>
            <a:off x="4268787" y="4414283"/>
            <a:ext cx="4770282" cy="1200329"/>
          </a:xfrm>
          <a:prstGeom prst="rect">
            <a:avLst/>
          </a:prstGeom>
          <a:solidFill>
            <a:srgbClr val="FFFF00"/>
          </a:solidFill>
          <a:ln>
            <a:noFill/>
          </a:ln>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t>We are 90% confident that the interval from 0.458 to 0.502 captures the actual proportion of experts in the population who believe net jobs will decrease due to robotics.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1000"/>
                                        <p:tgtEl>
                                          <p:spTgt spid="1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1000"/>
                                        <p:tgtEl>
                                          <p:spTgt spid="1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1000"/>
                                        <p:tgtEl>
                                          <p:spTgt spid="2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1000"/>
                                        <p:tgtEl>
                                          <p:spTgt spid="2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dirty="0"/>
              <a:t>The Plus Four Confidence Interval for a Single Proportion 1</a:t>
            </a:r>
            <a:endParaRPr lang="en-US" dirty="0"/>
          </a:p>
        </p:txBody>
      </p:sp>
      <p:sp>
        <p:nvSpPr>
          <p:cNvPr id="337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194E95FF-D525-4616-87BB-01084178318E}" type="slidenum">
              <a:rPr lang="en-US" altLang="en-US" sz="1200">
                <a:solidFill>
                  <a:schemeClr val="accent1"/>
                </a:solidFill>
              </a:rPr>
              <a:pPr>
                <a:lnSpc>
                  <a:spcPct val="80000"/>
                </a:lnSpc>
              </a:pPr>
              <a:t>10</a:t>
            </a:fld>
            <a:endParaRPr lang="en-US" altLang="en-US" sz="1200">
              <a:solidFill>
                <a:schemeClr val="accent1"/>
              </a:solidFill>
            </a:endParaRPr>
          </a:p>
        </p:txBody>
      </p:sp>
      <mc:AlternateContent xmlns:mc="http://schemas.openxmlformats.org/markup-compatibility/2006">
        <mc:Choice xmlns:a14="http://schemas.microsoft.com/office/drawing/2010/main" Requires="a14">
          <p:sp>
            <p:nvSpPr>
              <p:cNvPr id="33796" name="TextBox 1"/>
              <p:cNvSpPr txBox="1">
                <a:spLocks noChangeArrowheads="1"/>
              </p:cNvSpPr>
              <p:nvPr/>
            </p:nvSpPr>
            <p:spPr bwMode="auto">
              <a:xfrm>
                <a:off x="186531" y="1535371"/>
                <a:ext cx="8323263" cy="3474734"/>
              </a:xfrm>
              <a:prstGeom prst="rect">
                <a:avLst/>
              </a:prstGeom>
              <a:solidFill>
                <a:srgbClr val="FFD780"/>
              </a:solidFill>
              <a:ln>
                <a:noFill/>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dirty="0"/>
                  <a:t>The confidence </a:t>
                </a:r>
                <a:r>
                  <a:rPr lang="en-US" altLang="en-US" dirty="0" smtClean="0">
                    <a:solidFill>
                      <a:schemeClr val="tx1"/>
                    </a:solidFill>
                  </a:rPr>
                  <a:t>interval </a:t>
                </a:r>
                <a14:m>
                  <m:oMath xmlns:m="http://schemas.openxmlformats.org/officeDocument/2006/math">
                    <m:acc>
                      <m:accPr>
                        <m:chr m:val="̂"/>
                        <m:ctrlPr>
                          <a:rPr lang="en-US" altLang="en-US" i="1" smtClean="0">
                            <a:solidFill>
                              <a:schemeClr val="tx1"/>
                            </a:solidFill>
                            <a:latin typeface="Cambria Math" panose="02040503050406030204" pitchFamily="18" charset="0"/>
                          </a:rPr>
                        </m:ctrlPr>
                      </m:accPr>
                      <m:e>
                        <m:r>
                          <a:rPr lang="en-US" altLang="en-US" b="0" i="1" smtClean="0">
                            <a:solidFill>
                              <a:schemeClr val="tx1"/>
                            </a:solidFill>
                            <a:latin typeface="Cambria Math" panose="02040503050406030204" pitchFamily="18" charset="0"/>
                          </a:rPr>
                          <m:t>𝑝</m:t>
                        </m:r>
                      </m:e>
                    </m:acc>
                    <m:r>
                      <a:rPr lang="en-US" altLang="en-US" i="1" smtClean="0">
                        <a:solidFill>
                          <a:schemeClr val="tx1"/>
                        </a:solidFill>
                        <a:latin typeface="Cambria Math" panose="02040503050406030204" pitchFamily="18" charset="0"/>
                        <a:ea typeface="Cambria Math" panose="02040503050406030204" pitchFamily="18" charset="0"/>
                      </a:rPr>
                      <m:t>±</m:t>
                    </m:r>
                    <m:sSup>
                      <m:sSupPr>
                        <m:ctrlPr>
                          <a:rPr lang="en-US" altLang="en-US" i="1" smtClean="0">
                            <a:solidFill>
                              <a:schemeClr val="tx1"/>
                            </a:solidFill>
                            <a:latin typeface="Cambria Math" panose="02040503050406030204" pitchFamily="18" charset="0"/>
                            <a:ea typeface="Cambria Math" panose="02040503050406030204" pitchFamily="18" charset="0"/>
                          </a:rPr>
                        </m:ctrlPr>
                      </m:sSupPr>
                      <m:e>
                        <m:r>
                          <a:rPr lang="en-US" altLang="en-US" b="0" i="1" smtClean="0">
                            <a:solidFill>
                              <a:schemeClr val="tx1"/>
                            </a:solidFill>
                            <a:latin typeface="Cambria Math" panose="02040503050406030204" pitchFamily="18" charset="0"/>
                            <a:ea typeface="Cambria Math" panose="02040503050406030204" pitchFamily="18" charset="0"/>
                          </a:rPr>
                          <m:t>𝑧</m:t>
                        </m:r>
                      </m:e>
                      <m:sup>
                        <m:r>
                          <a:rPr lang="en-US" altLang="en-US" b="0" i="1" smtClean="0">
                            <a:solidFill>
                              <a:schemeClr val="tx1"/>
                            </a:solidFill>
                            <a:latin typeface="Cambria Math" panose="02040503050406030204" pitchFamily="18" charset="0"/>
                            <a:ea typeface="Cambria Math" panose="02040503050406030204" pitchFamily="18" charset="0"/>
                          </a:rPr>
                          <m:t>∗</m:t>
                        </m:r>
                      </m:sup>
                    </m:sSup>
                    <m:rad>
                      <m:radPr>
                        <m:degHide m:val="on"/>
                        <m:ctrlPr>
                          <a:rPr lang="en-US" altLang="en-US" i="1" smtClean="0">
                            <a:solidFill>
                              <a:schemeClr val="tx1"/>
                            </a:solidFill>
                            <a:latin typeface="Cambria Math" panose="02040503050406030204" pitchFamily="18" charset="0"/>
                            <a:ea typeface="Cambria Math" panose="02040503050406030204" pitchFamily="18" charset="0"/>
                          </a:rPr>
                        </m:ctrlPr>
                      </m:radPr>
                      <m:deg/>
                      <m:e>
                        <m:f>
                          <m:fPr>
                            <m:type m:val="lin"/>
                            <m:ctrlPr>
                              <a:rPr lang="en-US" altLang="en-US" i="1" smtClean="0">
                                <a:solidFill>
                                  <a:schemeClr val="tx1"/>
                                </a:solidFill>
                                <a:latin typeface="Cambria Math" panose="02040503050406030204" pitchFamily="18" charset="0"/>
                                <a:ea typeface="Cambria Math" panose="02040503050406030204" pitchFamily="18" charset="0"/>
                              </a:rPr>
                            </m:ctrlPr>
                          </m:fPr>
                          <m:num>
                            <m:acc>
                              <m:accPr>
                                <m:chr m:val="̂"/>
                                <m:ctrlPr>
                                  <a:rPr lang="en-US" altLang="en-US" i="1" smtClean="0">
                                    <a:solidFill>
                                      <a:schemeClr val="tx1"/>
                                    </a:solidFill>
                                    <a:latin typeface="Cambria Math" panose="02040503050406030204" pitchFamily="18" charset="0"/>
                                    <a:ea typeface="Cambria Math" panose="02040503050406030204" pitchFamily="18" charset="0"/>
                                  </a:rPr>
                                </m:ctrlPr>
                              </m:accPr>
                              <m:e>
                                <m:r>
                                  <a:rPr lang="en-US" altLang="en-US" b="0" i="1" smtClean="0">
                                    <a:solidFill>
                                      <a:schemeClr val="tx1"/>
                                    </a:solidFill>
                                    <a:latin typeface="Cambria Math" panose="02040503050406030204" pitchFamily="18" charset="0"/>
                                    <a:ea typeface="Cambria Math" panose="02040503050406030204" pitchFamily="18" charset="0"/>
                                  </a:rPr>
                                  <m:t>𝑝</m:t>
                                </m:r>
                              </m:e>
                            </m:acc>
                            <m:d>
                              <m:dPr>
                                <m:ctrlPr>
                                  <a:rPr lang="en-US" altLang="en-US" i="1" smtClean="0">
                                    <a:solidFill>
                                      <a:schemeClr val="tx1"/>
                                    </a:solidFill>
                                    <a:latin typeface="Cambria Math" panose="02040503050406030204" pitchFamily="18" charset="0"/>
                                  </a:rPr>
                                </m:ctrlPr>
                              </m:dPr>
                              <m:e>
                                <m:r>
                                  <a:rPr lang="en-US" altLang="en-US" b="0" i="1" smtClean="0">
                                    <a:solidFill>
                                      <a:schemeClr val="tx1"/>
                                    </a:solidFill>
                                    <a:latin typeface="Cambria Math" panose="02040503050406030204" pitchFamily="18" charset="0"/>
                                  </a:rPr>
                                  <m:t>1−</m:t>
                                </m:r>
                                <m:acc>
                                  <m:accPr>
                                    <m:chr m:val="̂"/>
                                    <m:ctrlPr>
                                      <a:rPr lang="en-US" altLang="en-US" b="0" i="1" smtClean="0">
                                        <a:solidFill>
                                          <a:schemeClr val="tx1"/>
                                        </a:solidFill>
                                        <a:latin typeface="Cambria Math" panose="02040503050406030204" pitchFamily="18" charset="0"/>
                                      </a:rPr>
                                    </m:ctrlPr>
                                  </m:accPr>
                                  <m:e>
                                    <m:r>
                                      <a:rPr lang="en-US" altLang="en-US" b="0" i="1" smtClean="0">
                                        <a:solidFill>
                                          <a:schemeClr val="tx1"/>
                                        </a:solidFill>
                                        <a:latin typeface="Cambria Math" panose="02040503050406030204" pitchFamily="18" charset="0"/>
                                      </a:rPr>
                                      <m:t>𝑝</m:t>
                                    </m:r>
                                  </m:e>
                                </m:acc>
                              </m:e>
                            </m:d>
                          </m:num>
                          <m:den>
                            <m:r>
                              <a:rPr lang="en-US" altLang="en-US" b="0" i="1" smtClean="0">
                                <a:solidFill>
                                  <a:schemeClr val="tx1"/>
                                </a:solidFill>
                                <a:latin typeface="Cambria Math" panose="02040503050406030204" pitchFamily="18" charset="0"/>
                                <a:ea typeface="Cambria Math" panose="02040503050406030204" pitchFamily="18" charset="0"/>
                              </a:rPr>
                              <m:t>𝑛</m:t>
                            </m:r>
                          </m:den>
                        </m:f>
                      </m:e>
                    </m:rad>
                  </m:oMath>
                </a14:m>
                <a:r>
                  <a:rPr lang="en-US" altLang="en-US" dirty="0">
                    <a:solidFill>
                      <a:schemeClr val="tx1"/>
                    </a:solidFill>
                  </a:rPr>
                  <a:t> for a sample proportion </a:t>
                </a:r>
                <a:r>
                  <a:rPr lang="en-US" altLang="en-US" i="1" dirty="0">
                    <a:solidFill>
                      <a:schemeClr val="tx1"/>
                    </a:solidFill>
                  </a:rPr>
                  <a:t>p</a:t>
                </a:r>
                <a:r>
                  <a:rPr lang="en-US" altLang="en-US" dirty="0">
                    <a:solidFill>
                      <a:schemeClr val="tx1"/>
                    </a:solidFill>
                  </a:rPr>
                  <a:t> is easy to calculate and understand, because it is based directly on the approximate Normal distribution of the sample proportion.</a:t>
                </a:r>
              </a:p>
              <a:p>
                <a:pPr eaLnBrk="1" hangingPunct="1"/>
                <a:endParaRPr lang="en-US" altLang="en-US" dirty="0">
                  <a:solidFill>
                    <a:schemeClr val="tx1"/>
                  </a:solidFill>
                </a:endParaRPr>
              </a:p>
              <a:p>
                <a:pPr algn="just" eaLnBrk="1" hangingPunct="1"/>
                <a:r>
                  <a:rPr lang="en-US" altLang="en-US" dirty="0">
                    <a:solidFill>
                      <a:schemeClr val="tx1"/>
                    </a:solidFill>
                  </a:rPr>
                  <a:t>Unfortunately, confidence levels from this interval are often inaccurate unless the sample is very large. The actual confidence level is usually </a:t>
                </a:r>
                <a:r>
                  <a:rPr lang="en-US" altLang="en-US" i="1" dirty="0">
                    <a:solidFill>
                      <a:schemeClr val="tx1"/>
                    </a:solidFill>
                  </a:rPr>
                  <a:t>less</a:t>
                </a:r>
                <a:r>
                  <a:rPr lang="en-US" altLang="en-US" dirty="0">
                    <a:solidFill>
                      <a:schemeClr val="tx1"/>
                    </a:solidFill>
                  </a:rPr>
                  <a:t> than the confidence level you asked for in choosing </a:t>
                </a:r>
                <a:r>
                  <a:rPr lang="en-US" altLang="en-US" i="1" dirty="0">
                    <a:solidFill>
                      <a:schemeClr val="tx1"/>
                    </a:solidFill>
                  </a:rPr>
                  <a:t>z</a:t>
                </a:r>
                <a:r>
                  <a:rPr lang="en-US" altLang="en-US" dirty="0">
                    <a:solidFill>
                      <a:schemeClr val="tx1"/>
                    </a:solidFill>
                  </a:rPr>
                  <a:t>*.</a:t>
                </a:r>
              </a:p>
              <a:p>
                <a:pPr eaLnBrk="1" hangingPunct="1"/>
                <a:endParaRPr lang="en-US" altLang="en-US" dirty="0">
                  <a:solidFill>
                    <a:schemeClr val="tx1"/>
                  </a:solidFill>
                </a:endParaRPr>
              </a:p>
              <a:p>
                <a:pPr algn="just" eaLnBrk="1" hangingPunct="1"/>
                <a:r>
                  <a:rPr lang="en-US" altLang="en-US" dirty="0">
                    <a:solidFill>
                      <a:schemeClr val="tx1"/>
                    </a:solidFill>
                  </a:rPr>
                  <a:t>There is a simple modification that is almost magically effective in improving the accuracy of the confidence interval. We call it the “plus four” method because all  you need to do is add four imaginary observations: two successes and two failures. The </a:t>
                </a:r>
                <a:r>
                  <a:rPr lang="en-US" altLang="en-US" b="1" dirty="0">
                    <a:solidFill>
                      <a:schemeClr val="tx1"/>
                    </a:solidFill>
                  </a:rPr>
                  <a:t>plus four estimate</a:t>
                </a:r>
                <a:r>
                  <a:rPr lang="en-US" altLang="en-US" b="1" i="1" dirty="0">
                    <a:solidFill>
                      <a:schemeClr val="tx1"/>
                    </a:solidFill>
                  </a:rPr>
                  <a:t> </a:t>
                </a:r>
                <a:r>
                  <a:rPr lang="en-US" altLang="en-US" dirty="0">
                    <a:solidFill>
                      <a:schemeClr val="tx1"/>
                    </a:solidFill>
                  </a:rPr>
                  <a:t>of </a:t>
                </a:r>
                <a:r>
                  <a:rPr lang="en-US" altLang="en-US" i="1" dirty="0">
                    <a:solidFill>
                      <a:schemeClr val="tx1"/>
                    </a:solidFill>
                  </a:rPr>
                  <a:t>p</a:t>
                </a:r>
                <a:r>
                  <a:rPr lang="en-US" altLang="en-US" dirty="0">
                    <a:solidFill>
                      <a:schemeClr val="tx1"/>
                    </a:solidFill>
                  </a:rPr>
                  <a:t> is</a:t>
                </a:r>
              </a:p>
            </p:txBody>
          </p:sp>
        </mc:Choice>
        <mc:Fallback>
          <p:sp>
            <p:nvSpPr>
              <p:cNvPr id="33796" name="TextBox 1"/>
              <p:cNvSpPr txBox="1">
                <a:spLocks noRot="1" noChangeAspect="1" noMove="1" noResize="1" noEditPoints="1" noAdjustHandles="1" noChangeArrowheads="1" noChangeShapeType="1" noTextEdit="1"/>
              </p:cNvSpPr>
              <p:nvPr/>
            </p:nvSpPr>
            <p:spPr bwMode="auto">
              <a:xfrm>
                <a:off x="186531" y="1535371"/>
                <a:ext cx="8323263" cy="3474734"/>
              </a:xfrm>
              <a:prstGeom prst="rect">
                <a:avLst/>
              </a:prstGeom>
              <a:blipFill rotWithShape="0">
                <a:blip r:embed="rId4"/>
                <a:stretch>
                  <a:fillRect l="-659" t="-10877" r="-586" b="-1930"/>
                </a:stretch>
              </a:blipFill>
              <a:ln>
                <a:noFill/>
              </a:ln>
            </p:spPr>
            <p:txBody>
              <a:bodyPr/>
              <a:lstStyle/>
              <a:p>
                <a:r>
                  <a:rPr lang="en-US">
                    <a:noFill/>
                  </a:rPr>
                  <a:t> </a:t>
                </a:r>
              </a:p>
            </p:txBody>
          </p:sp>
        </mc:Fallback>
      </mc:AlternateContent>
      <p:graphicFrame>
        <p:nvGraphicFramePr>
          <p:cNvPr id="3" name="Object 3" descr="The image shows a mathematical expression given as: 'p approx' equals to 'number of successes in the sample,' plus '2,' divide by n + 4."/>
          <p:cNvGraphicFramePr>
            <a:graphicFrameLocks noChangeAspect="1"/>
          </p:cNvGraphicFramePr>
          <p:nvPr>
            <p:extLst>
              <p:ext uri="{D42A27DB-BD31-4B8C-83A1-F6EECF244321}">
                <p14:modId xmlns:p14="http://schemas.microsoft.com/office/powerpoint/2010/main" val="2695906315"/>
              </p:ext>
            </p:extLst>
          </p:nvPr>
        </p:nvGraphicFramePr>
        <p:xfrm>
          <a:off x="952500" y="5216525"/>
          <a:ext cx="7073900" cy="1049338"/>
        </p:xfrm>
        <a:graphic>
          <a:graphicData uri="http://schemas.openxmlformats.org/presentationml/2006/ole">
            <mc:AlternateContent xmlns:mc="http://schemas.openxmlformats.org/markup-compatibility/2006">
              <mc:Choice xmlns:v="urn:schemas-microsoft-com:vml" Requires="v">
                <p:oleObj spid="_x0000_s34045" name="Equation" r:id="rId5" imgW="2654280" imgH="393480" progId="Equation.DSMT4">
                  <p:embed/>
                </p:oleObj>
              </mc:Choice>
              <mc:Fallback>
                <p:oleObj name="Equation" r:id="rId5" imgW="2654280" imgH="393480" progId="Equation.DSMT4">
                  <p:embed/>
                  <p:pic>
                    <p:nvPicPr>
                      <p:cNvPr id="0" name="Object 3"/>
                      <p:cNvPicPr>
                        <a:picLocks noChangeAspect="1" noChangeArrowheads="1"/>
                      </p:cNvPicPr>
                      <p:nvPr/>
                    </p:nvPicPr>
                    <p:blipFill>
                      <a:blip r:embed="rId6"/>
                      <a:srcRect/>
                      <a:stretch>
                        <a:fillRect/>
                      </a:stretch>
                    </p:blipFill>
                    <p:spPr bwMode="auto">
                      <a:xfrm>
                        <a:off x="952500" y="5216525"/>
                        <a:ext cx="7073900" cy="1049338"/>
                      </a:xfrm>
                      <a:prstGeom prst="rect">
                        <a:avLst/>
                      </a:prstGeom>
                      <a:solidFill>
                        <a:srgbClr val="FFFF00"/>
                      </a:solidFill>
                      <a:ln>
                        <a:noFill/>
                      </a:ln>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The Plus Four Confidence Interval for a Single Proportion 2</a:t>
            </a:r>
          </a:p>
        </p:txBody>
      </p:sp>
      <p:sp>
        <p:nvSpPr>
          <p:cNvPr id="348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26552165-933E-4118-B386-DED92886AD63}" type="slidenum">
              <a:rPr lang="en-US" altLang="en-US" sz="1200">
                <a:solidFill>
                  <a:schemeClr val="accent1"/>
                </a:solidFill>
              </a:rPr>
              <a:pPr>
                <a:lnSpc>
                  <a:spcPct val="80000"/>
                </a:lnSpc>
              </a:pPr>
              <a:t>11</a:t>
            </a:fld>
            <a:endParaRPr lang="en-US" altLang="en-US" sz="1200">
              <a:solidFill>
                <a:schemeClr val="accent1"/>
              </a:solidFill>
            </a:endParaRPr>
          </a:p>
        </p:txBody>
      </p:sp>
      <p:graphicFrame>
        <p:nvGraphicFramePr>
          <p:cNvPr id="34821" name="Object 15" descr="The image shows a mathematical expression given as: 'p approx' equals to 'number of successes in the sample,' plus '2,' divide by n + 4."/>
          <p:cNvGraphicFramePr>
            <a:graphicFrameLocks noChangeAspect="1"/>
          </p:cNvGraphicFramePr>
          <p:nvPr>
            <p:extLst>
              <p:ext uri="{D42A27DB-BD31-4B8C-83A1-F6EECF244321}">
                <p14:modId xmlns:p14="http://schemas.microsoft.com/office/powerpoint/2010/main" val="1861956817"/>
              </p:ext>
            </p:extLst>
          </p:nvPr>
        </p:nvGraphicFramePr>
        <p:xfrm>
          <a:off x="1724025" y="1428750"/>
          <a:ext cx="5694363" cy="844550"/>
        </p:xfrm>
        <a:graphic>
          <a:graphicData uri="http://schemas.openxmlformats.org/presentationml/2006/ole">
            <mc:AlternateContent xmlns:mc="http://schemas.openxmlformats.org/markup-compatibility/2006">
              <mc:Choice xmlns:v="urn:schemas-microsoft-com:vml" Requires="v">
                <p:oleObj spid="_x0000_s35071" name="Equation" r:id="rId4" imgW="2654280" imgH="393480" progId="Equation.DSMT4">
                  <p:embed/>
                </p:oleObj>
              </mc:Choice>
              <mc:Fallback>
                <p:oleObj name="Equation" r:id="rId4" imgW="2654280" imgH="393480" progId="Equation.DSMT4">
                  <p:embed/>
                  <p:pic>
                    <p:nvPicPr>
                      <p:cNvPr id="0" name="Object 15"/>
                      <p:cNvPicPr>
                        <a:picLocks noChangeAspect="1" noChangeArrowheads="1"/>
                      </p:cNvPicPr>
                      <p:nvPr/>
                    </p:nvPicPr>
                    <p:blipFill>
                      <a:blip r:embed="rId5"/>
                      <a:srcRect/>
                      <a:stretch>
                        <a:fillRect/>
                      </a:stretch>
                    </p:blipFill>
                    <p:spPr bwMode="auto">
                      <a:xfrm>
                        <a:off x="1724025" y="1428750"/>
                        <a:ext cx="5694363" cy="844550"/>
                      </a:xfrm>
                      <a:prstGeom prst="rect">
                        <a:avLst/>
                      </a:prstGeom>
                      <a:solidFill>
                        <a:srgbClr val="FFFF00"/>
                      </a:solidFill>
                      <a:ln>
                        <a:noFill/>
                      </a:ln>
                    </p:spPr>
                  </p:pic>
                </p:oleObj>
              </mc:Fallback>
            </mc:AlternateContent>
          </a:graphicData>
        </a:graphic>
      </p:graphicFrame>
      <p:sp>
        <p:nvSpPr>
          <p:cNvPr id="14" name="TextBox 13"/>
          <p:cNvSpPr txBox="1">
            <a:spLocks noChangeArrowheads="1"/>
          </p:cNvSpPr>
          <p:nvPr/>
        </p:nvSpPr>
        <p:spPr bwMode="auto">
          <a:xfrm>
            <a:off x="1860550" y="2405062"/>
            <a:ext cx="5421312" cy="338138"/>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1600" b="1" dirty="0">
                <a:highlight>
                  <a:srgbClr val="FFFF00"/>
                </a:highlight>
                <a:latin typeface="+mn-lt"/>
                <a:ea typeface="+mn-ea"/>
              </a:rPr>
              <a:t>Plus Four Confidence Interval for a Proportion</a:t>
            </a:r>
          </a:p>
        </p:txBody>
      </p:sp>
      <mc:AlternateContent xmlns:mc="http://schemas.openxmlformats.org/markup-compatibility/2006">
        <mc:Choice xmlns:a14="http://schemas.microsoft.com/office/drawing/2010/main" Requires="a14">
          <p:sp>
            <p:nvSpPr>
              <p:cNvPr id="13" name="TextBox 12"/>
              <p:cNvSpPr txBox="1">
                <a:spLocks noChangeArrowheads="1"/>
              </p:cNvSpPr>
              <p:nvPr/>
            </p:nvSpPr>
            <p:spPr bwMode="auto">
              <a:xfrm>
                <a:off x="454025" y="2743200"/>
                <a:ext cx="8234363" cy="3771674"/>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defTabSz="457200">
                  <a:defRPr sz="2000">
                    <a:solidFill>
                      <a:schemeClr val="tx2"/>
                    </a:solidFill>
                    <a:latin typeface="Arial" pitchFamily="34" charset="0"/>
                    <a:ea typeface="ＭＳ Ｐゴシック" pitchFamily="34" charset="-128"/>
                  </a:defRPr>
                </a:lvl1pPr>
                <a:lvl2pPr marL="37931725" indent="-37474525" defTabSz="457200">
                  <a:defRPr>
                    <a:solidFill>
                      <a:schemeClr val="tx2"/>
                    </a:solidFill>
                    <a:latin typeface="Arial" pitchFamily="34" charset="0"/>
                    <a:ea typeface="ＭＳ Ｐゴシック" pitchFamily="34" charset="-128"/>
                  </a:defRPr>
                </a:lvl2pPr>
                <a:lvl3pPr defTabSz="457200">
                  <a:defRPr>
                    <a:solidFill>
                      <a:schemeClr val="tx2"/>
                    </a:solidFill>
                    <a:latin typeface="Arial" pitchFamily="34" charset="0"/>
                    <a:ea typeface="ＭＳ Ｐゴシック" pitchFamily="34" charset="-128"/>
                  </a:defRPr>
                </a:lvl3pPr>
                <a:lvl4pPr defTabSz="457200">
                  <a:defRPr>
                    <a:solidFill>
                      <a:schemeClr val="tx2"/>
                    </a:solidFill>
                    <a:latin typeface="Arial" pitchFamily="34" charset="0"/>
                    <a:ea typeface="ＭＳ Ｐゴシック" pitchFamily="34" charset="-128"/>
                  </a:defRPr>
                </a:lvl4pPr>
                <a:lvl5pPr defTabSz="457200">
                  <a:defRPr>
                    <a:solidFill>
                      <a:schemeClr val="tx2"/>
                    </a:solidFill>
                    <a:latin typeface="Arial" pitchFamily="34" charset="0"/>
                    <a:ea typeface="ＭＳ Ｐゴシック" pitchFamily="34" charset="-128"/>
                  </a:defRPr>
                </a:lvl5pPr>
                <a:lvl6pPr marL="16002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0574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2514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29718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spcAft>
                    <a:spcPts val="1200"/>
                  </a:spcAft>
                  <a:defRPr/>
                </a:pPr>
                <a:r>
                  <a:rPr lang="en-US" altLang="en-US" dirty="0">
                    <a:solidFill>
                      <a:srgbClr val="000000"/>
                    </a:solidFill>
                  </a:rPr>
                  <a:t>Choose an SRS of size </a:t>
                </a:r>
                <a:r>
                  <a:rPr lang="en-US" altLang="en-US" i="1" dirty="0">
                    <a:solidFill>
                      <a:schemeClr val="tx1"/>
                    </a:solidFill>
                  </a:rPr>
                  <a:t>n</a:t>
                </a:r>
                <a:r>
                  <a:rPr lang="en-US" altLang="en-US" dirty="0">
                    <a:solidFill>
                      <a:schemeClr val="tx1"/>
                    </a:solidFill>
                  </a:rPr>
                  <a:t> from a large population that contains an unknown proportion </a:t>
                </a:r>
                <a:r>
                  <a:rPr lang="en-US" altLang="en-US" i="1" dirty="0">
                    <a:solidFill>
                      <a:schemeClr val="tx1"/>
                    </a:solidFill>
                  </a:rPr>
                  <a:t>p</a:t>
                </a:r>
                <a:r>
                  <a:rPr lang="en-US" altLang="en-US" dirty="0">
                    <a:solidFill>
                      <a:schemeClr val="tx1"/>
                    </a:solidFill>
                  </a:rPr>
                  <a:t> of successes. To get the </a:t>
                </a:r>
                <a:r>
                  <a:rPr lang="en-US" altLang="en-US" b="1" dirty="0">
                    <a:solidFill>
                      <a:schemeClr val="tx1"/>
                    </a:solidFill>
                  </a:rPr>
                  <a:t>plus four confidence interval for </a:t>
                </a:r>
                <a:r>
                  <a:rPr lang="en-US" altLang="en-US" b="1" i="1" dirty="0">
                    <a:solidFill>
                      <a:schemeClr val="tx1"/>
                    </a:solidFill>
                  </a:rPr>
                  <a:t>p</a:t>
                </a:r>
                <a:r>
                  <a:rPr lang="en-US" altLang="en-US" dirty="0">
                    <a:solidFill>
                      <a:schemeClr val="tx1"/>
                    </a:solidFill>
                  </a:rPr>
                  <a:t>, add </a:t>
                </a:r>
                <a:r>
                  <a:rPr lang="en-US" altLang="en-US" dirty="0">
                    <a:solidFill>
                      <a:srgbClr val="000000"/>
                    </a:solidFill>
                  </a:rPr>
                  <a:t>four imaginary observations: two successes and two failures. Then use the large-sample confidence interval with the new sample size (</a:t>
                </a:r>
                <a:r>
                  <a:rPr lang="en-US" altLang="en-US" i="1" dirty="0">
                    <a:solidFill>
                      <a:srgbClr val="000000"/>
                    </a:solidFill>
                  </a:rPr>
                  <a:t>n +</a:t>
                </a:r>
                <a:r>
                  <a:rPr lang="en-US" altLang="en-US" dirty="0">
                    <a:solidFill>
                      <a:srgbClr val="000000"/>
                    </a:solidFill>
                  </a:rPr>
                  <a:t> 4) and number of successes (actual number + 2).</a:t>
                </a:r>
              </a:p>
              <a:p>
                <a:pPr algn="ctr" eaLnBrk="1" hangingPunct="1">
                  <a:spcAft>
                    <a:spcPts val="1200"/>
                  </a:spcAft>
                  <a:defRPr/>
                </a:pPr>
                <a14:m>
                  <m:oMathPara xmlns:m="http://schemas.openxmlformats.org/officeDocument/2006/math">
                    <m:oMathParaPr>
                      <m:jc m:val="centerGroup"/>
                    </m:oMathParaPr>
                    <m:oMath xmlns:m="http://schemas.openxmlformats.org/officeDocument/2006/math">
                      <m:acc>
                        <m:accPr>
                          <m:chr m:val="̃"/>
                          <m:ctrlPr>
                            <a:rPr lang="en-US" altLang="en-US" i="1" smtClean="0">
                              <a:solidFill>
                                <a:schemeClr val="tx1"/>
                              </a:solidFill>
                              <a:latin typeface="Cambria Math" panose="02040503050406030204" pitchFamily="18" charset="0"/>
                              <a:ea typeface="Cambria Math" panose="02040503050406030204" pitchFamily="18" charset="0"/>
                            </a:rPr>
                          </m:ctrlPr>
                        </m:accPr>
                        <m:e>
                          <m:r>
                            <a:rPr lang="en-US" altLang="en-US" b="0" i="1" smtClean="0">
                              <a:solidFill>
                                <a:schemeClr val="tx1"/>
                              </a:solidFill>
                              <a:latin typeface="Cambria Math" panose="02040503050406030204" pitchFamily="18" charset="0"/>
                              <a:ea typeface="Cambria Math" panose="02040503050406030204" pitchFamily="18" charset="0"/>
                            </a:rPr>
                            <m:t>𝑝</m:t>
                          </m:r>
                        </m:e>
                      </m:acc>
                      <m:r>
                        <a:rPr lang="en-US" altLang="en-US" i="1" smtClean="0">
                          <a:solidFill>
                            <a:schemeClr val="tx1"/>
                          </a:solidFill>
                          <a:latin typeface="Cambria Math" panose="02040503050406030204" pitchFamily="18" charset="0"/>
                          <a:ea typeface="Cambria Math" panose="02040503050406030204" pitchFamily="18" charset="0"/>
                        </a:rPr>
                        <m:t>±</m:t>
                      </m:r>
                      <m:sSup>
                        <m:sSupPr>
                          <m:ctrlPr>
                            <a:rPr lang="en-US" altLang="en-US" i="1" smtClean="0">
                              <a:solidFill>
                                <a:schemeClr val="tx1"/>
                              </a:solidFill>
                              <a:latin typeface="Cambria Math" panose="02040503050406030204" pitchFamily="18" charset="0"/>
                              <a:ea typeface="Cambria Math" panose="02040503050406030204" pitchFamily="18" charset="0"/>
                            </a:rPr>
                          </m:ctrlPr>
                        </m:sSupPr>
                        <m:e>
                          <m:r>
                            <a:rPr lang="en-US" altLang="en-US" b="0" i="1" smtClean="0">
                              <a:solidFill>
                                <a:schemeClr val="tx1"/>
                              </a:solidFill>
                              <a:latin typeface="Cambria Math" panose="02040503050406030204" pitchFamily="18" charset="0"/>
                              <a:ea typeface="Cambria Math" panose="02040503050406030204" pitchFamily="18" charset="0"/>
                            </a:rPr>
                            <m:t>𝑧</m:t>
                          </m:r>
                        </m:e>
                        <m:sup>
                          <m:r>
                            <a:rPr lang="en-US" altLang="en-US" b="0" i="1" smtClean="0">
                              <a:solidFill>
                                <a:schemeClr val="tx1"/>
                              </a:solidFill>
                              <a:latin typeface="Cambria Math" panose="02040503050406030204" pitchFamily="18" charset="0"/>
                              <a:ea typeface="Cambria Math" panose="02040503050406030204" pitchFamily="18" charset="0"/>
                            </a:rPr>
                            <m:t>∗</m:t>
                          </m:r>
                        </m:sup>
                      </m:sSup>
                      <m:rad>
                        <m:radPr>
                          <m:degHide m:val="on"/>
                          <m:ctrlPr>
                            <a:rPr lang="en-US" altLang="en-US" i="1" smtClean="0">
                              <a:solidFill>
                                <a:schemeClr val="tx1"/>
                              </a:solidFill>
                              <a:latin typeface="Cambria Math" panose="02040503050406030204" pitchFamily="18" charset="0"/>
                              <a:ea typeface="Cambria Math" panose="02040503050406030204" pitchFamily="18" charset="0"/>
                            </a:rPr>
                          </m:ctrlPr>
                        </m:radPr>
                        <m:deg/>
                        <m:e>
                          <m:f>
                            <m:fPr>
                              <m:ctrlPr>
                                <a:rPr lang="en-US" altLang="en-US" i="1" smtClean="0">
                                  <a:solidFill>
                                    <a:schemeClr val="tx1"/>
                                  </a:solidFill>
                                  <a:latin typeface="Cambria Math" panose="02040503050406030204" pitchFamily="18" charset="0"/>
                                  <a:ea typeface="Cambria Math" panose="02040503050406030204" pitchFamily="18" charset="0"/>
                                </a:rPr>
                              </m:ctrlPr>
                            </m:fPr>
                            <m:num>
                              <m:acc>
                                <m:accPr>
                                  <m:chr m:val="̃"/>
                                  <m:ctrlPr>
                                    <a:rPr lang="en-US" altLang="en-US" i="1" smtClean="0">
                                      <a:solidFill>
                                        <a:schemeClr val="tx1"/>
                                      </a:solidFill>
                                      <a:latin typeface="Cambria Math" panose="02040503050406030204" pitchFamily="18" charset="0"/>
                                      <a:ea typeface="Cambria Math" panose="02040503050406030204" pitchFamily="18" charset="0"/>
                                    </a:rPr>
                                  </m:ctrlPr>
                                </m:accPr>
                                <m:e>
                                  <m:r>
                                    <a:rPr lang="en-US" altLang="en-US" b="0" i="1" smtClean="0">
                                      <a:solidFill>
                                        <a:schemeClr val="tx1"/>
                                      </a:solidFill>
                                      <a:latin typeface="Cambria Math" panose="02040503050406030204" pitchFamily="18" charset="0"/>
                                      <a:ea typeface="Cambria Math" panose="02040503050406030204" pitchFamily="18" charset="0"/>
                                    </a:rPr>
                                    <m:t>𝑝</m:t>
                                  </m:r>
                                </m:e>
                              </m:acc>
                              <m:d>
                                <m:dPr>
                                  <m:ctrlPr>
                                    <a:rPr lang="en-US" altLang="en-US" i="1" smtClean="0">
                                      <a:solidFill>
                                        <a:schemeClr val="tx1"/>
                                      </a:solidFill>
                                      <a:latin typeface="Cambria Math" panose="02040503050406030204" pitchFamily="18" charset="0"/>
                                      <a:ea typeface="Cambria Math" panose="02040503050406030204" pitchFamily="18" charset="0"/>
                                    </a:rPr>
                                  </m:ctrlPr>
                                </m:dPr>
                                <m:e>
                                  <m:r>
                                    <a:rPr lang="en-US" altLang="en-US" b="0" i="1" smtClean="0">
                                      <a:solidFill>
                                        <a:schemeClr val="tx1"/>
                                      </a:solidFill>
                                      <a:latin typeface="Cambria Math" panose="02040503050406030204" pitchFamily="18" charset="0"/>
                                      <a:ea typeface="Cambria Math" panose="02040503050406030204" pitchFamily="18" charset="0"/>
                                    </a:rPr>
                                    <m:t>1−</m:t>
                                  </m:r>
                                  <m:acc>
                                    <m:accPr>
                                      <m:chr m:val="̃"/>
                                      <m:ctrlPr>
                                        <a:rPr lang="en-US" altLang="en-US" b="0" i="1" smtClean="0">
                                          <a:solidFill>
                                            <a:schemeClr val="tx1"/>
                                          </a:solidFill>
                                          <a:latin typeface="Cambria Math" panose="02040503050406030204" pitchFamily="18" charset="0"/>
                                          <a:ea typeface="Cambria Math" panose="02040503050406030204" pitchFamily="18" charset="0"/>
                                        </a:rPr>
                                      </m:ctrlPr>
                                    </m:accPr>
                                    <m:e>
                                      <m:r>
                                        <a:rPr lang="en-US" altLang="en-US" b="0" i="1" smtClean="0">
                                          <a:solidFill>
                                            <a:schemeClr val="tx1"/>
                                          </a:solidFill>
                                          <a:latin typeface="Cambria Math" panose="02040503050406030204" pitchFamily="18" charset="0"/>
                                          <a:ea typeface="Cambria Math" panose="02040503050406030204" pitchFamily="18" charset="0"/>
                                        </a:rPr>
                                        <m:t>𝑝</m:t>
                                      </m:r>
                                    </m:e>
                                  </m:acc>
                                </m:e>
                              </m:d>
                            </m:num>
                            <m:den>
                              <m:r>
                                <a:rPr lang="en-US" altLang="en-US" b="0" i="1" smtClean="0">
                                  <a:solidFill>
                                    <a:schemeClr val="tx1"/>
                                  </a:solidFill>
                                  <a:latin typeface="Cambria Math" panose="02040503050406030204" pitchFamily="18" charset="0"/>
                                  <a:ea typeface="Cambria Math" panose="02040503050406030204" pitchFamily="18" charset="0"/>
                                </a:rPr>
                                <m:t>𝑛</m:t>
                              </m:r>
                              <m:r>
                                <a:rPr lang="en-US" altLang="en-US" b="0" i="1" smtClean="0">
                                  <a:solidFill>
                                    <a:schemeClr val="tx1"/>
                                  </a:solidFill>
                                  <a:latin typeface="Cambria Math" panose="02040503050406030204" pitchFamily="18" charset="0"/>
                                  <a:ea typeface="Cambria Math" panose="02040503050406030204" pitchFamily="18" charset="0"/>
                                </a:rPr>
                                <m:t>+4</m:t>
                              </m:r>
                            </m:den>
                          </m:f>
                        </m:e>
                      </m:rad>
                    </m:oMath>
                  </m:oMathPara>
                </a14:m>
                <a:endParaRPr lang="en-US" altLang="en-US" dirty="0">
                  <a:solidFill>
                    <a:srgbClr val="000000"/>
                  </a:solidFill>
                </a:endParaRPr>
              </a:p>
              <a:p>
                <a:pPr algn="just" eaLnBrk="1" hangingPunct="1">
                  <a:spcAft>
                    <a:spcPts val="1200"/>
                  </a:spcAft>
                  <a:defRPr/>
                </a:pPr>
                <a:r>
                  <a:rPr lang="en-US" altLang="en-US" b="1" dirty="0">
                    <a:solidFill>
                      <a:srgbClr val="000000"/>
                    </a:solidFill>
                  </a:rPr>
                  <a:t>NOTE!  </a:t>
                </a:r>
                <a:r>
                  <a:rPr lang="en-US" altLang="en-US" dirty="0">
                    <a:solidFill>
                      <a:srgbClr val="000000"/>
                    </a:solidFill>
                  </a:rPr>
                  <a:t>Use this interval when the confidence level is at least 90% and the sample size </a:t>
                </a:r>
                <a:r>
                  <a:rPr lang="en-US" altLang="en-US" i="1" dirty="0">
                    <a:solidFill>
                      <a:srgbClr val="000000"/>
                    </a:solidFill>
                  </a:rPr>
                  <a:t>n </a:t>
                </a:r>
                <a:r>
                  <a:rPr lang="en-US" altLang="en-US" dirty="0">
                    <a:solidFill>
                      <a:srgbClr val="000000"/>
                    </a:solidFill>
                  </a:rPr>
                  <a:t>is at least 10, with any counts of successes and failures.</a:t>
                </a:r>
              </a:p>
            </p:txBody>
          </p:sp>
        </mc:Choice>
        <mc:Fallback>
          <p:sp>
            <p:nvSpPr>
              <p:cNvPr id="13" name="TextBox 12"/>
              <p:cNvSpPr txBox="1">
                <a:spLocks noRot="1" noChangeAspect="1" noMove="1" noResize="1" noEditPoints="1" noAdjustHandles="1" noChangeArrowheads="1" noChangeShapeType="1" noTextEdit="1"/>
              </p:cNvSpPr>
              <p:nvPr/>
            </p:nvSpPr>
            <p:spPr bwMode="auto">
              <a:xfrm>
                <a:off x="454025" y="2743200"/>
                <a:ext cx="8234363" cy="3771674"/>
              </a:xfrm>
              <a:prstGeom prst="rect">
                <a:avLst/>
              </a:prstGeom>
              <a:blipFill rotWithShape="0">
                <a:blip r:embed="rId6"/>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Significance Test for a Single</a:t>
            </a:r>
            <a:br>
              <a:rPr lang="en-US" altLang="en-US" dirty="0">
                <a:ea typeface="ＭＳ Ｐゴシック" panose="020B0600070205080204" pitchFamily="34" charset="-128"/>
              </a:rPr>
            </a:br>
            <a:r>
              <a:rPr lang="en-US" altLang="en-US" dirty="0">
                <a:ea typeface="ＭＳ Ｐゴシック" panose="020B0600070205080204" pitchFamily="34" charset="-128"/>
              </a:rPr>
              <a:t>Proportion</a:t>
            </a:r>
          </a:p>
        </p:txBody>
      </p:sp>
      <p:sp>
        <p:nvSpPr>
          <p:cNvPr id="358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28509649-57E8-493F-B5C3-51A56AF203C0}" type="slidenum">
              <a:rPr lang="en-US" altLang="en-US" sz="1200">
                <a:solidFill>
                  <a:schemeClr val="accent1"/>
                </a:solidFill>
              </a:rPr>
              <a:pPr>
                <a:lnSpc>
                  <a:spcPct val="80000"/>
                </a:lnSpc>
              </a:pPr>
              <a:t>12</a:t>
            </a:fld>
            <a:endParaRPr lang="en-US" altLang="en-US" sz="1200">
              <a:solidFill>
                <a:schemeClr val="accent1"/>
              </a:solidFill>
            </a:endParaRPr>
          </a:p>
        </p:txBody>
      </p:sp>
      <p:sp>
        <p:nvSpPr>
          <p:cNvPr id="35844" name="Rectangle 8"/>
          <p:cNvSpPr>
            <a:spLocks noChangeArrowheads="1"/>
          </p:cNvSpPr>
          <p:nvPr/>
        </p:nvSpPr>
        <p:spPr bwMode="auto">
          <a:xfrm>
            <a:off x="288925" y="1297305"/>
            <a:ext cx="84740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en-US" altLang="en-US" sz="1600" dirty="0"/>
              <a:t>The </a:t>
            </a:r>
            <a:r>
              <a:rPr lang="en-US" altLang="en-US" sz="1600" i="1" dirty="0"/>
              <a:t>z </a:t>
            </a:r>
            <a:r>
              <a:rPr lang="en-US" altLang="en-US" sz="1600" dirty="0"/>
              <a:t>statistic has approximately the standard Normal distribution when </a:t>
            </a:r>
            <a:r>
              <a:rPr lang="en-US" altLang="en-US" sz="1600" i="1" dirty="0"/>
              <a:t>H</a:t>
            </a:r>
            <a:r>
              <a:rPr lang="en-US" altLang="en-US" sz="1600" baseline="-25000" dirty="0"/>
              <a:t>0</a:t>
            </a:r>
            <a:r>
              <a:rPr lang="en-US" altLang="en-US" sz="1600" i="1" dirty="0"/>
              <a:t> </a:t>
            </a:r>
            <a:r>
              <a:rPr lang="en-US" altLang="en-US" sz="1600" dirty="0"/>
              <a:t>is true. </a:t>
            </a:r>
            <a:r>
              <a:rPr lang="en-US" altLang="en-US" sz="1600" i="1" dirty="0"/>
              <a:t>P</a:t>
            </a:r>
            <a:r>
              <a:rPr lang="en-US" altLang="en-US" sz="1600" dirty="0"/>
              <a:t>-values therefore come from the standard Normal distribution. Here is a summary of the details for a </a:t>
            </a:r>
            <a:r>
              <a:rPr lang="en-US" altLang="en-US" sz="1600" b="1" i="1" dirty="0"/>
              <a:t>z </a:t>
            </a:r>
            <a:r>
              <a:rPr lang="en-US" altLang="en-US" sz="1600" b="1" dirty="0"/>
              <a:t>test for a proportion.</a:t>
            </a:r>
          </a:p>
        </p:txBody>
      </p:sp>
      <p:sp>
        <p:nvSpPr>
          <p:cNvPr id="7" name="TextBox 6"/>
          <p:cNvSpPr txBox="1">
            <a:spLocks noChangeArrowheads="1"/>
          </p:cNvSpPr>
          <p:nvPr/>
        </p:nvSpPr>
        <p:spPr bwMode="auto">
          <a:xfrm>
            <a:off x="1858960" y="2128302"/>
            <a:ext cx="5422900" cy="338138"/>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600" b="1" i="1" dirty="0">
                <a:highlight>
                  <a:srgbClr val="FFFF00"/>
                </a:highlight>
                <a:latin typeface="+mn-lt"/>
                <a:ea typeface="ＭＳ Ｐゴシック" charset="-128"/>
                <a:cs typeface="ＭＳ Ｐゴシック" charset="-128"/>
              </a:rPr>
              <a:t>z</a:t>
            </a:r>
            <a:r>
              <a:rPr lang="en-US" sz="1600" b="1" dirty="0">
                <a:highlight>
                  <a:srgbClr val="FFFF00"/>
                </a:highlight>
                <a:latin typeface="+mn-lt"/>
                <a:ea typeface="ＭＳ Ｐゴシック" charset="-128"/>
                <a:cs typeface="ＭＳ Ｐゴシック" charset="-128"/>
              </a:rPr>
              <a:t> Test for a Proportion</a:t>
            </a:r>
          </a:p>
        </p:txBody>
      </p:sp>
      <mc:AlternateContent xmlns:mc="http://schemas.openxmlformats.org/markup-compatibility/2006" xmlns:a14="http://schemas.microsoft.com/office/drawing/2010/main">
        <mc:Choice Requires="a14">
          <p:sp>
            <p:nvSpPr>
              <p:cNvPr id="6" name="TextBox 5"/>
              <p:cNvSpPr txBox="1">
                <a:spLocks noChangeArrowheads="1"/>
              </p:cNvSpPr>
              <p:nvPr/>
            </p:nvSpPr>
            <p:spPr bwMode="auto">
              <a:xfrm>
                <a:off x="41476" y="2501254"/>
                <a:ext cx="3154112" cy="3883499"/>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37931725" indent="-37474525" defTabSz="457200">
                  <a:defRPr>
                    <a:solidFill>
                      <a:schemeClr val="tx2"/>
                    </a:solidFill>
                    <a:latin typeface="Arial" pitchFamily="34" charset="0"/>
                    <a:ea typeface="ＭＳ Ｐゴシック" pitchFamily="34" charset="-128"/>
                  </a:defRPr>
                </a:lvl2pPr>
                <a:lvl3pPr defTabSz="457200">
                  <a:defRPr>
                    <a:solidFill>
                      <a:schemeClr val="tx2"/>
                    </a:solidFill>
                    <a:latin typeface="Arial" pitchFamily="34" charset="0"/>
                    <a:ea typeface="ＭＳ Ｐゴシック" pitchFamily="34" charset="-128"/>
                  </a:defRPr>
                </a:lvl3pPr>
                <a:lvl4pPr defTabSz="457200">
                  <a:defRPr>
                    <a:solidFill>
                      <a:schemeClr val="tx2"/>
                    </a:solidFill>
                    <a:latin typeface="Arial" pitchFamily="34" charset="0"/>
                    <a:ea typeface="ＭＳ Ｐゴシック" pitchFamily="34" charset="-128"/>
                  </a:defRPr>
                </a:lvl4pPr>
                <a:lvl5pPr defTabSz="457200">
                  <a:defRPr>
                    <a:solidFill>
                      <a:schemeClr val="tx2"/>
                    </a:solidFill>
                    <a:latin typeface="Arial" pitchFamily="34" charset="0"/>
                    <a:ea typeface="ＭＳ Ｐゴシック" pitchFamily="34" charset="-128"/>
                  </a:defRPr>
                </a:lvl5pPr>
                <a:lvl6pPr marL="16002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0574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2514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29718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Aft>
                    <a:spcPts val="1200"/>
                  </a:spcAft>
                  <a:defRPr/>
                </a:pPr>
                <a:r>
                  <a:rPr lang="en-US" altLang="en-US" sz="1600" dirty="0">
                    <a:solidFill>
                      <a:srgbClr val="000000"/>
                    </a:solidFill>
                  </a:rPr>
                  <a:t>Choose an SRS of size </a:t>
                </a:r>
                <a:r>
                  <a:rPr lang="en-US" altLang="en-US" sz="1600" i="1" dirty="0">
                    <a:solidFill>
                      <a:srgbClr val="000000"/>
                    </a:solidFill>
                  </a:rPr>
                  <a:t>n </a:t>
                </a:r>
                <a:r>
                  <a:rPr lang="en-US" altLang="en-US" sz="1600" dirty="0">
                    <a:solidFill>
                      <a:srgbClr val="000000"/>
                    </a:solidFill>
                  </a:rPr>
                  <a:t>from a large population that contains an unknown proportion </a:t>
                </a:r>
                <a:r>
                  <a:rPr lang="en-US" altLang="en-US" sz="1600" i="1" dirty="0">
                    <a:solidFill>
                      <a:srgbClr val="000000"/>
                    </a:solidFill>
                  </a:rPr>
                  <a:t>p </a:t>
                </a:r>
                <a:r>
                  <a:rPr lang="en-US" altLang="en-US" sz="1600" dirty="0">
                    <a:solidFill>
                      <a:srgbClr val="000000"/>
                    </a:solidFill>
                  </a:rPr>
                  <a:t>of successes. To test the hypothesis </a:t>
                </a:r>
                <a:r>
                  <a:rPr lang="en-US" altLang="en-US" sz="1600" i="1" dirty="0">
                    <a:solidFill>
                      <a:srgbClr val="000000"/>
                    </a:solidFill>
                  </a:rPr>
                  <a:t>H</a:t>
                </a:r>
                <a:r>
                  <a:rPr lang="en-US" altLang="en-US" sz="1600" baseline="-25000" dirty="0">
                    <a:solidFill>
                      <a:srgbClr val="000000"/>
                    </a:solidFill>
                  </a:rPr>
                  <a:t>0</a:t>
                </a:r>
                <a:r>
                  <a:rPr lang="en-US" altLang="en-US" sz="1600" dirty="0">
                    <a:solidFill>
                      <a:srgbClr val="000000"/>
                    </a:solidFill>
                  </a:rPr>
                  <a:t>: </a:t>
                </a:r>
                <a:r>
                  <a:rPr lang="en-US" altLang="en-US" sz="1600" i="1" dirty="0">
                    <a:solidFill>
                      <a:srgbClr val="000000"/>
                    </a:solidFill>
                  </a:rPr>
                  <a:t>p </a:t>
                </a:r>
                <a:r>
                  <a:rPr lang="en-US" altLang="en-US" sz="1600" dirty="0">
                    <a:solidFill>
                      <a:srgbClr val="000000"/>
                    </a:solidFill>
                  </a:rPr>
                  <a:t>= </a:t>
                </a:r>
                <a:r>
                  <a:rPr lang="en-US" altLang="en-US" sz="1600" i="1" dirty="0">
                    <a:solidFill>
                      <a:srgbClr val="000000"/>
                    </a:solidFill>
                  </a:rPr>
                  <a:t>p</a:t>
                </a:r>
                <a:r>
                  <a:rPr lang="en-US" altLang="en-US" sz="1600" baseline="-25000" dirty="0">
                    <a:solidFill>
                      <a:srgbClr val="000000"/>
                    </a:solidFill>
                  </a:rPr>
                  <a:t>0</a:t>
                </a:r>
                <a:r>
                  <a:rPr lang="en-US" altLang="en-US" sz="1600" dirty="0">
                    <a:solidFill>
                      <a:srgbClr val="000000"/>
                    </a:solidFill>
                  </a:rPr>
                  <a:t>, compute the </a:t>
                </a:r>
                <a:r>
                  <a:rPr lang="en-US" altLang="en-US" sz="1600" i="1" dirty="0">
                    <a:solidFill>
                      <a:srgbClr val="000000"/>
                    </a:solidFill>
                  </a:rPr>
                  <a:t>z </a:t>
                </a:r>
                <a:r>
                  <a:rPr lang="en-US" altLang="en-US" sz="1600" dirty="0">
                    <a:solidFill>
                      <a:srgbClr val="000000"/>
                    </a:solidFill>
                  </a:rPr>
                  <a:t>statistic:</a:t>
                </a:r>
              </a:p>
              <a:p>
                <a:pPr eaLnBrk="1" hangingPunct="1">
                  <a:spcAft>
                    <a:spcPts val="1200"/>
                  </a:spcAft>
                  <a:defRPr/>
                </a:pPr>
                <a14:m>
                  <m:oMathPara xmlns:m="http://schemas.openxmlformats.org/officeDocument/2006/math">
                    <m:oMathParaPr>
                      <m:jc m:val="centerGroup"/>
                    </m:oMathParaPr>
                    <m:oMath xmlns:m="http://schemas.openxmlformats.org/officeDocument/2006/math">
                      <m:r>
                        <a:rPr lang="en-US" altLang="en-US" sz="1600" b="0" i="1" smtClean="0">
                          <a:solidFill>
                            <a:srgbClr val="000000"/>
                          </a:solidFill>
                          <a:latin typeface="Cambria Math" panose="02040503050406030204" pitchFamily="18" charset="0"/>
                        </a:rPr>
                        <m:t>𝑧</m:t>
                      </m:r>
                      <m:r>
                        <a:rPr lang="en-US" altLang="en-US" sz="1600" b="0" i="1" smtClean="0">
                          <a:solidFill>
                            <a:srgbClr val="000000"/>
                          </a:solidFill>
                          <a:latin typeface="Cambria Math" panose="02040503050406030204" pitchFamily="18" charset="0"/>
                        </a:rPr>
                        <m:t>=</m:t>
                      </m:r>
                      <m:f>
                        <m:fPr>
                          <m:ctrlPr>
                            <a:rPr lang="en-US" altLang="en-US" sz="1600" b="0" i="1" smtClean="0">
                              <a:solidFill>
                                <a:srgbClr val="000000"/>
                              </a:solidFill>
                              <a:latin typeface="Cambria Math" panose="02040503050406030204" pitchFamily="18" charset="0"/>
                            </a:rPr>
                          </m:ctrlPr>
                        </m:fPr>
                        <m:num>
                          <m:acc>
                            <m:accPr>
                              <m:chr m:val="̂"/>
                              <m:ctrlPr>
                                <a:rPr lang="en-US" altLang="en-US" sz="1600" b="0" i="1" smtClean="0">
                                  <a:solidFill>
                                    <a:srgbClr val="000000"/>
                                  </a:solidFill>
                                  <a:latin typeface="Cambria Math" panose="02040503050406030204" pitchFamily="18" charset="0"/>
                                </a:rPr>
                              </m:ctrlPr>
                            </m:accPr>
                            <m:e>
                              <m:r>
                                <a:rPr lang="en-US" altLang="en-US" sz="1600" b="0" i="1" smtClean="0">
                                  <a:solidFill>
                                    <a:srgbClr val="000000"/>
                                  </a:solidFill>
                                  <a:latin typeface="Cambria Math" panose="02040503050406030204" pitchFamily="18" charset="0"/>
                                </a:rPr>
                                <m:t>𝑝</m:t>
                              </m:r>
                            </m:e>
                          </m:acc>
                          <m:r>
                            <a:rPr lang="en-US" altLang="en-US" sz="1600" b="0" i="1" smtClean="0">
                              <a:solidFill>
                                <a:srgbClr val="000000"/>
                              </a:solidFill>
                              <a:latin typeface="Cambria Math" panose="02040503050406030204" pitchFamily="18" charset="0"/>
                            </a:rPr>
                            <m:t>−</m:t>
                          </m:r>
                          <m:r>
                            <a:rPr lang="en-US" altLang="en-US" sz="1600" b="0" i="1" smtClean="0">
                              <a:solidFill>
                                <a:srgbClr val="000000"/>
                              </a:solidFill>
                              <a:latin typeface="Cambria Math" panose="02040503050406030204" pitchFamily="18" charset="0"/>
                            </a:rPr>
                            <m:t>𝑝</m:t>
                          </m:r>
                        </m:num>
                        <m:den>
                          <m:rad>
                            <m:radPr>
                              <m:degHide m:val="on"/>
                              <m:ctrlPr>
                                <a:rPr lang="en-US" altLang="en-US" sz="1600" b="0" i="1" smtClean="0">
                                  <a:solidFill>
                                    <a:srgbClr val="000000"/>
                                  </a:solidFill>
                                  <a:latin typeface="Cambria Math" panose="02040503050406030204" pitchFamily="18" charset="0"/>
                                </a:rPr>
                              </m:ctrlPr>
                            </m:radPr>
                            <m:deg/>
                            <m:e>
                              <m:f>
                                <m:fPr>
                                  <m:ctrlPr>
                                    <a:rPr lang="en-US" altLang="en-US" sz="1600" b="0" i="1" smtClean="0">
                                      <a:solidFill>
                                        <a:srgbClr val="000000"/>
                                      </a:solidFill>
                                      <a:latin typeface="Cambria Math" panose="02040503050406030204" pitchFamily="18" charset="0"/>
                                    </a:rPr>
                                  </m:ctrlPr>
                                </m:fPr>
                                <m:num>
                                  <m:sSub>
                                    <m:sSubPr>
                                      <m:ctrlPr>
                                        <a:rPr lang="en-US" altLang="en-US" sz="1600" b="0" i="1" smtClean="0">
                                          <a:solidFill>
                                            <a:srgbClr val="000000"/>
                                          </a:solidFill>
                                          <a:latin typeface="Cambria Math" panose="02040503050406030204" pitchFamily="18" charset="0"/>
                                        </a:rPr>
                                      </m:ctrlPr>
                                    </m:sSubPr>
                                    <m:e>
                                      <m:r>
                                        <a:rPr lang="en-US" altLang="en-US" sz="1600" b="0" i="1" smtClean="0">
                                          <a:solidFill>
                                            <a:srgbClr val="000000"/>
                                          </a:solidFill>
                                          <a:latin typeface="Cambria Math" panose="02040503050406030204" pitchFamily="18" charset="0"/>
                                        </a:rPr>
                                        <m:t>𝑝</m:t>
                                      </m:r>
                                    </m:e>
                                    <m:sub>
                                      <m:r>
                                        <a:rPr lang="en-US" altLang="en-US" sz="1600" b="0" i="1" smtClean="0">
                                          <a:solidFill>
                                            <a:srgbClr val="000000"/>
                                          </a:solidFill>
                                          <a:latin typeface="Cambria Math" panose="02040503050406030204" pitchFamily="18" charset="0"/>
                                        </a:rPr>
                                        <m:t>0</m:t>
                                      </m:r>
                                    </m:sub>
                                  </m:sSub>
                                  <m:d>
                                    <m:dPr>
                                      <m:ctrlPr>
                                        <a:rPr lang="en-US" altLang="en-US" sz="1600" b="0" i="1" smtClean="0">
                                          <a:solidFill>
                                            <a:srgbClr val="000000"/>
                                          </a:solidFill>
                                          <a:latin typeface="Cambria Math" panose="02040503050406030204" pitchFamily="18" charset="0"/>
                                        </a:rPr>
                                      </m:ctrlPr>
                                    </m:dPr>
                                    <m:e>
                                      <m:r>
                                        <a:rPr lang="en-US" altLang="en-US" sz="1600" b="0" i="1" smtClean="0">
                                          <a:solidFill>
                                            <a:srgbClr val="000000"/>
                                          </a:solidFill>
                                          <a:latin typeface="Cambria Math" panose="02040503050406030204" pitchFamily="18" charset="0"/>
                                        </a:rPr>
                                        <m:t>1−</m:t>
                                      </m:r>
                                      <m:sSub>
                                        <m:sSubPr>
                                          <m:ctrlPr>
                                            <a:rPr lang="en-US" altLang="en-US" sz="1600" b="0" i="1" smtClean="0">
                                              <a:solidFill>
                                                <a:srgbClr val="000000"/>
                                              </a:solidFill>
                                              <a:latin typeface="Cambria Math" panose="02040503050406030204" pitchFamily="18" charset="0"/>
                                            </a:rPr>
                                          </m:ctrlPr>
                                        </m:sSubPr>
                                        <m:e>
                                          <m:r>
                                            <a:rPr lang="en-US" altLang="en-US" sz="1600" b="0" i="1" smtClean="0">
                                              <a:solidFill>
                                                <a:srgbClr val="000000"/>
                                              </a:solidFill>
                                              <a:latin typeface="Cambria Math" panose="02040503050406030204" pitchFamily="18" charset="0"/>
                                            </a:rPr>
                                            <m:t>𝑝</m:t>
                                          </m:r>
                                        </m:e>
                                        <m:sub>
                                          <m:r>
                                            <a:rPr lang="en-US" altLang="en-US" sz="1600" b="0" i="1" smtClean="0">
                                              <a:solidFill>
                                                <a:srgbClr val="000000"/>
                                              </a:solidFill>
                                              <a:latin typeface="Cambria Math" panose="02040503050406030204" pitchFamily="18" charset="0"/>
                                            </a:rPr>
                                            <m:t>0</m:t>
                                          </m:r>
                                        </m:sub>
                                      </m:sSub>
                                    </m:e>
                                  </m:d>
                                </m:num>
                                <m:den>
                                  <m:r>
                                    <a:rPr lang="en-US" altLang="en-US" sz="1600" b="0" i="1" smtClean="0">
                                      <a:solidFill>
                                        <a:srgbClr val="000000"/>
                                      </a:solidFill>
                                      <a:latin typeface="Cambria Math" panose="02040503050406030204" pitchFamily="18" charset="0"/>
                                    </a:rPr>
                                    <m:t>𝑛</m:t>
                                  </m:r>
                                </m:den>
                              </m:f>
                            </m:e>
                          </m:rad>
                        </m:den>
                      </m:f>
                    </m:oMath>
                  </m:oMathPara>
                </a14:m>
                <a:endParaRPr lang="en-US" altLang="en-US" sz="1600" dirty="0">
                  <a:solidFill>
                    <a:srgbClr val="000000"/>
                  </a:solidFill>
                </a:endParaRPr>
              </a:p>
              <a:p>
                <a:pPr eaLnBrk="1" hangingPunct="1">
                  <a:spcAft>
                    <a:spcPts val="1200"/>
                  </a:spcAft>
                  <a:defRPr/>
                </a:pPr>
                <a:r>
                  <a:rPr lang="en-US" altLang="en-US" sz="1600" dirty="0">
                    <a:solidFill>
                      <a:srgbClr val="000000"/>
                    </a:solidFill>
                  </a:rPr>
                  <a:t>Find the </a:t>
                </a:r>
                <a:r>
                  <a:rPr lang="en-US" altLang="en-US" sz="1600" i="1" dirty="0">
                    <a:solidFill>
                      <a:srgbClr val="000000"/>
                    </a:solidFill>
                  </a:rPr>
                  <a:t>P</a:t>
                </a:r>
                <a:r>
                  <a:rPr lang="en-US" altLang="en-US" sz="1600" dirty="0">
                    <a:solidFill>
                      <a:srgbClr val="000000"/>
                    </a:solidFill>
                  </a:rPr>
                  <a:t>-value by calculating the probability of getting a </a:t>
                </a:r>
                <a:r>
                  <a:rPr lang="en-US" altLang="en-US" sz="1600" i="1" dirty="0">
                    <a:solidFill>
                      <a:srgbClr val="000000"/>
                    </a:solidFill>
                  </a:rPr>
                  <a:t>z</a:t>
                </a:r>
                <a:r>
                  <a:rPr lang="en-US" altLang="en-US" sz="1600" dirty="0">
                    <a:solidFill>
                      <a:srgbClr val="000000"/>
                    </a:solidFill>
                  </a:rPr>
                  <a:t> statistic this large or larger in the direction specified by the alternative hypothesis </a:t>
                </a:r>
                <a:r>
                  <a:rPr lang="en-US" altLang="en-US" sz="1600" i="1" dirty="0">
                    <a:solidFill>
                      <a:srgbClr val="000000"/>
                    </a:solidFill>
                  </a:rPr>
                  <a:t>H</a:t>
                </a:r>
                <a:r>
                  <a:rPr lang="en-US" altLang="en-US" sz="1600" baseline="-25000" dirty="0">
                    <a:solidFill>
                      <a:srgbClr val="000000"/>
                    </a:solidFill>
                  </a:rPr>
                  <a:t>a</a:t>
                </a:r>
                <a:r>
                  <a:rPr lang="en-US" altLang="en-US" sz="1600" dirty="0">
                    <a:solidFill>
                      <a:srgbClr val="000000"/>
                    </a:solidFill>
                  </a:rPr>
                  <a:t>:</a:t>
                </a:r>
              </a:p>
            </p:txBody>
          </p:sp>
        </mc:Choice>
        <mc:Fallback xmlns="">
          <p:sp>
            <p:nvSpPr>
              <p:cNvPr id="6" name="TextBox 5"/>
              <p:cNvSpPr txBox="1">
                <a:spLocks noRot="1" noChangeAspect="1" noMove="1" noResize="1" noEditPoints="1" noAdjustHandles="1" noChangeArrowheads="1" noChangeShapeType="1" noTextEdit="1"/>
              </p:cNvSpPr>
              <p:nvPr/>
            </p:nvSpPr>
            <p:spPr bwMode="auto">
              <a:xfrm>
                <a:off x="41476" y="2501254"/>
                <a:ext cx="3154112" cy="3883499"/>
              </a:xfrm>
              <a:prstGeom prst="rect">
                <a:avLst/>
              </a:prstGeom>
              <a:blipFill rotWithShape="0">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graphicFrame>
        <p:nvGraphicFramePr>
          <p:cNvPr id="5" name="Object 4"/>
          <p:cNvGraphicFramePr>
            <a:graphicFrameLocks noChangeAspect="1"/>
          </p:cNvGraphicFramePr>
          <p:nvPr>
            <p:extLst>
              <p:ext uri="{D42A27DB-BD31-4B8C-83A1-F6EECF244321}">
                <p14:modId xmlns:p14="http://schemas.microsoft.com/office/powerpoint/2010/main" val="2988938449"/>
              </p:ext>
            </p:extLst>
          </p:nvPr>
        </p:nvGraphicFramePr>
        <p:xfrm>
          <a:off x="3686477" y="3041069"/>
          <a:ext cx="2318482" cy="366076"/>
        </p:xfrm>
        <a:graphic>
          <a:graphicData uri="http://schemas.openxmlformats.org/presentationml/2006/ole">
            <mc:AlternateContent xmlns:mc="http://schemas.openxmlformats.org/markup-compatibility/2006">
              <mc:Choice xmlns:v="urn:schemas-microsoft-com:vml" Requires="v">
                <p:oleObj spid="_x0000_s57376" name="Equation" r:id="rId4" imgW="1447560" imgH="228600" progId="Equation.DSMT4">
                  <p:embed/>
                </p:oleObj>
              </mc:Choice>
              <mc:Fallback>
                <p:oleObj name="Equation" r:id="rId4" imgW="1447560" imgH="228600" progId="Equation.DSMT4">
                  <p:embed/>
                  <p:pic>
                    <p:nvPicPr>
                      <p:cNvPr id="0" name=""/>
                      <p:cNvPicPr/>
                      <p:nvPr/>
                    </p:nvPicPr>
                    <p:blipFill>
                      <a:blip r:embed="rId5"/>
                      <a:stretch>
                        <a:fillRect/>
                      </a:stretch>
                    </p:blipFill>
                    <p:spPr>
                      <a:xfrm>
                        <a:off x="3686477" y="3041069"/>
                        <a:ext cx="2318482" cy="366076"/>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353576699"/>
              </p:ext>
            </p:extLst>
          </p:nvPr>
        </p:nvGraphicFramePr>
        <p:xfrm>
          <a:off x="3686477" y="4049873"/>
          <a:ext cx="2318482" cy="366076"/>
        </p:xfrm>
        <a:graphic>
          <a:graphicData uri="http://schemas.openxmlformats.org/presentationml/2006/ole">
            <mc:AlternateContent xmlns:mc="http://schemas.openxmlformats.org/markup-compatibility/2006">
              <mc:Choice xmlns:v="urn:schemas-microsoft-com:vml" Requires="v">
                <p:oleObj spid="_x0000_s57377" name="Equation" r:id="rId6" imgW="1447560" imgH="228600" progId="Equation.DSMT4">
                  <p:embed/>
                </p:oleObj>
              </mc:Choice>
              <mc:Fallback>
                <p:oleObj name="Equation" r:id="rId6" imgW="1447560" imgH="228600" progId="Equation.DSMT4">
                  <p:embed/>
                  <p:pic>
                    <p:nvPicPr>
                      <p:cNvPr id="0" name=""/>
                      <p:cNvPicPr/>
                      <p:nvPr/>
                    </p:nvPicPr>
                    <p:blipFill>
                      <a:blip r:embed="rId7"/>
                      <a:stretch>
                        <a:fillRect/>
                      </a:stretch>
                    </p:blipFill>
                    <p:spPr>
                      <a:xfrm>
                        <a:off x="3686477" y="4049873"/>
                        <a:ext cx="2318482" cy="366076"/>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2047138610"/>
              </p:ext>
            </p:extLst>
          </p:nvPr>
        </p:nvGraphicFramePr>
        <p:xfrm>
          <a:off x="3563938" y="5043488"/>
          <a:ext cx="2563812" cy="407987"/>
        </p:xfrm>
        <a:graphic>
          <a:graphicData uri="http://schemas.openxmlformats.org/presentationml/2006/ole">
            <mc:AlternateContent xmlns:mc="http://schemas.openxmlformats.org/markup-compatibility/2006">
              <mc:Choice xmlns:v="urn:schemas-microsoft-com:vml" Requires="v">
                <p:oleObj spid="_x0000_s57378" name="Equation" r:id="rId8" imgW="1600200" imgH="253800" progId="Equation.DSMT4">
                  <p:embed/>
                </p:oleObj>
              </mc:Choice>
              <mc:Fallback>
                <p:oleObj name="Equation" r:id="rId8" imgW="1600200" imgH="253800" progId="Equation.DSMT4">
                  <p:embed/>
                  <p:pic>
                    <p:nvPicPr>
                      <p:cNvPr id="0" name=""/>
                      <p:cNvPicPr/>
                      <p:nvPr/>
                    </p:nvPicPr>
                    <p:blipFill>
                      <a:blip r:embed="rId9"/>
                      <a:stretch>
                        <a:fillRect/>
                      </a:stretch>
                    </p:blipFill>
                    <p:spPr>
                      <a:xfrm>
                        <a:off x="3563938" y="5043488"/>
                        <a:ext cx="2563812" cy="407987"/>
                      </a:xfrm>
                      <a:prstGeom prst="rect">
                        <a:avLst/>
                      </a:prstGeom>
                    </p:spPr>
                  </p:pic>
                </p:oleObj>
              </mc:Fallback>
            </mc:AlternateContent>
          </a:graphicData>
        </a:graphic>
      </p:graphicFrame>
      <p:pic>
        <p:nvPicPr>
          <p:cNvPr id="2" name="Picture 1" descr="A normal distribution curve. Z is marked under the right tail, with the area beyond it shaded. "/>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158962" y="2718181"/>
            <a:ext cx="2883170" cy="1011852"/>
          </a:xfrm>
          <a:prstGeom prst="rect">
            <a:avLst/>
          </a:prstGeom>
        </p:spPr>
      </p:pic>
      <p:pic>
        <p:nvPicPr>
          <p:cNvPr id="3" name="Picture 2" descr="A normal distribution curve. Z is marked under the left tail, with the area beyond it shaded."/>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158962" y="3730033"/>
            <a:ext cx="2883170" cy="1005757"/>
          </a:xfrm>
          <a:prstGeom prst="rect">
            <a:avLst/>
          </a:prstGeom>
        </p:spPr>
      </p:pic>
      <p:pic>
        <p:nvPicPr>
          <p:cNvPr id="4" name="Picture 3" descr="A normal distribution curve. The absolute value of z is marked under the right tail. The opposite value is also marked under the left. The area beyond each is shaded."/>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158962" y="4735790"/>
            <a:ext cx="2883170" cy="1024043"/>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Significance Test for a Single</a:t>
            </a:r>
            <a:br>
              <a:rPr lang="en-US" altLang="en-US" dirty="0">
                <a:ea typeface="ＭＳ Ｐゴシック" panose="020B0600070205080204" pitchFamily="34" charset="-128"/>
              </a:rPr>
            </a:br>
            <a:r>
              <a:rPr lang="en-US" altLang="en-US" dirty="0">
                <a:ea typeface="ＭＳ Ｐゴシック" panose="020B0600070205080204" pitchFamily="34" charset="-128"/>
              </a:rPr>
              <a:t>Proportion Example 1</a:t>
            </a:r>
          </a:p>
        </p:txBody>
      </p:sp>
      <p:sp>
        <p:nvSpPr>
          <p:cNvPr id="368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3C46941E-C52A-40D8-A4A4-A6813FCDCFF2}" type="slidenum">
              <a:rPr lang="en-US" altLang="en-US" sz="1200">
                <a:solidFill>
                  <a:schemeClr val="accent1"/>
                </a:solidFill>
              </a:rPr>
              <a:pPr>
                <a:lnSpc>
                  <a:spcPct val="80000"/>
                </a:lnSpc>
              </a:pPr>
              <a:t>13</a:t>
            </a:fld>
            <a:endParaRPr lang="en-US" altLang="en-US" sz="1200">
              <a:solidFill>
                <a:schemeClr val="accent1"/>
              </a:solidFill>
            </a:endParaRPr>
          </a:p>
        </p:txBody>
      </p:sp>
      <p:sp>
        <p:nvSpPr>
          <p:cNvPr id="36868" name="Rectangle 8"/>
          <p:cNvSpPr>
            <a:spLocks noChangeArrowheads="1"/>
          </p:cNvSpPr>
          <p:nvPr/>
        </p:nvSpPr>
        <p:spPr bwMode="auto">
          <a:xfrm>
            <a:off x="300038" y="1287644"/>
            <a:ext cx="873601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buFont typeface="Wingdings" panose="05000000000000000000" pitchFamily="2" charset="2"/>
              <a:buNone/>
            </a:pPr>
            <a:r>
              <a:rPr lang="en-US" altLang="en-US" b="1" dirty="0"/>
              <a:t>Example: </a:t>
            </a:r>
            <a:r>
              <a:rPr lang="en-US" altLang="en-US" dirty="0"/>
              <a:t>Your company produces a sunblock lotion designed to protect the skin from UVA and UVB exposure to the sun. You hire a testing company to compare your product with your major competitor’s product. For 13 of 20 randomly chosen subjects, your product provides better protection; for the remaining seven, the competitor’s product does. Do you have evidence to support a commercial claiming that your product provides superior protection?</a:t>
            </a:r>
            <a:endParaRPr lang="en-US" altLang="en-US" b="1" dirty="0"/>
          </a:p>
        </p:txBody>
      </p:sp>
      <p:sp>
        <p:nvSpPr>
          <p:cNvPr id="7" name="Rectangle 6"/>
          <p:cNvSpPr>
            <a:spLocks noChangeArrowheads="1"/>
          </p:cNvSpPr>
          <p:nvPr/>
        </p:nvSpPr>
        <p:spPr bwMode="auto">
          <a:xfrm>
            <a:off x="341313" y="3041831"/>
            <a:ext cx="8086725"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t>We want to perform a significance test for</a:t>
            </a:r>
          </a:p>
          <a:p>
            <a:pPr algn="ctr" eaLnBrk="1" hangingPunct="1"/>
            <a:r>
              <a:rPr lang="en-US" altLang="en-US" i="1" dirty="0">
                <a:solidFill>
                  <a:srgbClr val="000000"/>
                </a:solidFill>
              </a:rPr>
              <a:t>H</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dirty="0">
                <a:solidFill>
                  <a:srgbClr val="000000"/>
                </a:solidFill>
              </a:rPr>
              <a:t> = 0.50</a:t>
            </a:r>
          </a:p>
          <a:p>
            <a:pPr algn="ctr" eaLnBrk="1" hangingPunct="1">
              <a:spcAft>
                <a:spcPts val="600"/>
              </a:spcAft>
            </a:pPr>
            <a:r>
              <a:rPr lang="en-US" altLang="en-US" i="1" dirty="0">
                <a:solidFill>
                  <a:srgbClr val="000000"/>
                </a:solidFill>
              </a:rPr>
              <a:t>H</a:t>
            </a:r>
            <a:r>
              <a:rPr lang="en-US" altLang="en-US" baseline="-25000" dirty="0">
                <a:solidFill>
                  <a:srgbClr val="000000"/>
                </a:solidFill>
              </a:rPr>
              <a:t>a</a:t>
            </a:r>
            <a:r>
              <a:rPr lang="en-US" altLang="en-US" dirty="0">
                <a:solidFill>
                  <a:srgbClr val="000000"/>
                </a:solidFill>
              </a:rPr>
              <a:t>: </a:t>
            </a:r>
            <a:r>
              <a:rPr lang="en-US" altLang="en-US" i="1" dirty="0">
                <a:solidFill>
                  <a:srgbClr val="000000"/>
                </a:solidFill>
              </a:rPr>
              <a:t>p</a:t>
            </a:r>
            <a:r>
              <a:rPr lang="en-US" altLang="en-US" dirty="0">
                <a:solidFill>
                  <a:srgbClr val="000000"/>
                </a:solidFill>
              </a:rPr>
              <a:t> &gt; 0.50</a:t>
            </a:r>
          </a:p>
          <a:p>
            <a:pPr eaLnBrk="1" hangingPunct="1">
              <a:spcAft>
                <a:spcPts val="600"/>
              </a:spcAft>
            </a:pPr>
            <a:r>
              <a:rPr lang="en-US" altLang="en-US" dirty="0">
                <a:solidFill>
                  <a:srgbClr val="000000"/>
                </a:solidFill>
              </a:rPr>
              <a:t>where </a:t>
            </a:r>
            <a:r>
              <a:rPr lang="en-US" altLang="en-US" i="1" dirty="0">
                <a:solidFill>
                  <a:srgbClr val="000000"/>
                </a:solidFill>
              </a:rPr>
              <a:t>p</a:t>
            </a:r>
            <a:r>
              <a:rPr lang="en-US" altLang="en-US" dirty="0">
                <a:solidFill>
                  <a:srgbClr val="000000"/>
                </a:solidFill>
              </a:rPr>
              <a:t> is the actual proportion of people for whom your product provides better protection than your competitor’s product.</a:t>
            </a:r>
            <a:endParaRPr lang="en-US" altLang="en-US" dirty="0"/>
          </a:p>
        </p:txBody>
      </p:sp>
      <p:sp>
        <p:nvSpPr>
          <p:cNvPr id="8" name="Rectangle 7"/>
          <p:cNvSpPr>
            <a:spLocks noChangeArrowheads="1"/>
          </p:cNvSpPr>
          <p:nvPr/>
        </p:nvSpPr>
        <p:spPr bwMode="auto">
          <a:xfrm>
            <a:off x="341312" y="4590527"/>
            <a:ext cx="857783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a:defRPr>
                <a:solidFill>
                  <a:schemeClr val="tx1"/>
                </a:solidFill>
                <a:latin typeface="Arial" panose="020B0604020202020204" pitchFamily="34" charset="0"/>
                <a:ea typeface="ＭＳ Ｐゴシック" panose="020B0600070205080204" pitchFamily="34" charset="-128"/>
              </a:defRPr>
            </a:lvl1pPr>
            <a:lvl2pPr marL="690563" indent="-233363">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indent="0" eaLnBrk="1" hangingPunct="1"/>
            <a:r>
              <a:rPr lang="en-US" altLang="en-US" dirty="0"/>
              <a:t>If conditions are met, we should do a one-sample </a:t>
            </a:r>
            <a:r>
              <a:rPr lang="en-US" altLang="en-US" i="1" dirty="0"/>
              <a:t>z </a:t>
            </a:r>
            <a:r>
              <a:rPr lang="en-US" altLang="en-US" dirty="0"/>
              <a:t>test for the population proportion </a:t>
            </a:r>
            <a:r>
              <a:rPr lang="en-US" altLang="en-US" i="1" dirty="0"/>
              <a:t>p</a:t>
            </a:r>
            <a:r>
              <a:rPr lang="en-US" altLang="en-US" dirty="0"/>
              <a:t>. </a:t>
            </a:r>
          </a:p>
          <a:p>
            <a:pPr lvl="1" eaLnBrk="1" hangingPunct="1">
              <a:buClr>
                <a:srgbClr val="E81F30"/>
              </a:buClr>
              <a:buFont typeface="Wingdings" panose="05000000000000000000" pitchFamily="2" charset="2"/>
              <a:buChar char="ü"/>
            </a:pPr>
            <a:r>
              <a:rPr lang="en-US" altLang="en-US" b="1" dirty="0"/>
              <a:t>Random:</a:t>
            </a:r>
            <a:r>
              <a:rPr lang="en-US" altLang="en-US" i="1" dirty="0"/>
              <a:t> </a:t>
            </a:r>
            <a:r>
              <a:rPr lang="en-US" altLang="en-US" dirty="0"/>
              <a:t>We assume the testing company chose a random sample of subjects for testing. </a:t>
            </a:r>
          </a:p>
          <a:p>
            <a:pPr lvl="1" eaLnBrk="1" hangingPunct="1">
              <a:buClr>
                <a:srgbClr val="E81F30"/>
              </a:buClr>
              <a:buFont typeface="Wingdings" panose="05000000000000000000" pitchFamily="2" charset="2"/>
              <a:buChar char="ü"/>
            </a:pPr>
            <a:r>
              <a:rPr lang="en-US" altLang="en-US" b="1" dirty="0"/>
              <a:t>Normal:</a:t>
            </a:r>
            <a:r>
              <a:rPr lang="en-US" altLang="en-US" i="1" dirty="0"/>
              <a:t> </a:t>
            </a:r>
            <a:r>
              <a:rPr lang="en-US" altLang="en-US" dirty="0"/>
              <a:t>Assuming </a:t>
            </a:r>
            <a:r>
              <a:rPr lang="en-US" altLang="en-US" i="1" dirty="0"/>
              <a:t>H</a:t>
            </a:r>
            <a:r>
              <a:rPr lang="en-US" altLang="en-US" baseline="-25000" dirty="0"/>
              <a:t>0</a:t>
            </a:r>
            <a:r>
              <a:rPr lang="en-US" altLang="en-US" dirty="0"/>
              <a:t>: </a:t>
            </a:r>
            <a:r>
              <a:rPr lang="en-US" altLang="en-US" i="1" dirty="0"/>
              <a:t>p </a:t>
            </a:r>
            <a:r>
              <a:rPr lang="en-US" altLang="en-US" dirty="0"/>
              <a:t>= 0.50 is true, the expected numbers of successes and failures are </a:t>
            </a:r>
            <a:r>
              <a:rPr lang="en-US" altLang="en-US" i="1" dirty="0"/>
              <a:t>np</a:t>
            </a:r>
            <a:r>
              <a:rPr lang="en-US" altLang="en-US" baseline="-25000" dirty="0"/>
              <a:t>0</a:t>
            </a:r>
            <a:r>
              <a:rPr lang="en-US" altLang="en-US" i="1" dirty="0"/>
              <a:t> </a:t>
            </a:r>
            <a:r>
              <a:rPr lang="en-US" altLang="en-US" dirty="0"/>
              <a:t>= 20(0.50) = 10 and </a:t>
            </a:r>
            <a:r>
              <a:rPr lang="en-US" altLang="en-US" i="1" dirty="0"/>
              <a:t>n</a:t>
            </a:r>
            <a:r>
              <a:rPr lang="en-US" altLang="en-US" dirty="0"/>
              <a:t>(1 – </a:t>
            </a:r>
            <a:r>
              <a:rPr lang="en-US" altLang="en-US" i="1" dirty="0"/>
              <a:t>p</a:t>
            </a:r>
            <a:r>
              <a:rPr lang="en-US" altLang="en-US" baseline="-25000" dirty="0"/>
              <a:t>0</a:t>
            </a:r>
            <a:r>
              <a:rPr lang="en-US" altLang="en-US" dirty="0"/>
              <a:t>) = 20(1 – 0.50) = 10, respectively. Because both of these values are at least 10, we should be safe doing Normal calculations.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1000"/>
                                        <p:tgtEl>
                                          <p:spTgt spid="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1000"/>
                                        <p:tgtEl>
                                          <p:spTgt spid="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1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bldLvl="5"/>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dirty="0">
                <a:ea typeface="ＭＳ Ｐゴシック" panose="020B0600070205080204" pitchFamily="34" charset="-128"/>
              </a:rPr>
              <a:t>Significance Test for a Single</a:t>
            </a:r>
            <a:br>
              <a:rPr lang="en-US" altLang="en-US" dirty="0">
                <a:ea typeface="ＭＳ Ｐゴシック" panose="020B0600070205080204" pitchFamily="34" charset="-128"/>
              </a:rPr>
            </a:br>
            <a:r>
              <a:rPr lang="en-US" altLang="en-US" dirty="0">
                <a:ea typeface="ＭＳ Ｐゴシック" panose="020B0600070205080204" pitchFamily="34" charset="-128"/>
              </a:rPr>
              <a:t>Proportion </a:t>
            </a:r>
            <a:r>
              <a:rPr lang="en-US" altLang="en-US" dirty="0"/>
              <a:t>Example 2</a:t>
            </a:r>
            <a:endParaRPr lang="en-US" dirty="0"/>
          </a:p>
        </p:txBody>
      </p:sp>
      <p:sp>
        <p:nvSpPr>
          <p:cNvPr id="378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09EF2EAF-5D24-4D32-AFA6-D6F60286D7ED}" type="slidenum">
              <a:rPr lang="en-US" altLang="en-US" sz="1200">
                <a:solidFill>
                  <a:schemeClr val="accent1"/>
                </a:solidFill>
              </a:rPr>
              <a:pPr>
                <a:lnSpc>
                  <a:spcPct val="80000"/>
                </a:lnSpc>
              </a:pPr>
              <a:t>14</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37897" name="Rectangle 6"/>
              <p:cNvSpPr>
                <a:spLocks noChangeArrowheads="1"/>
              </p:cNvSpPr>
              <p:nvPr/>
            </p:nvSpPr>
            <p:spPr bwMode="auto">
              <a:xfrm>
                <a:off x="174623" y="1538922"/>
                <a:ext cx="8588377"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t>The sample proportion of successes is </a:t>
                </a:r>
                <a14:m>
                  <m:oMath xmlns:m="http://schemas.openxmlformats.org/officeDocument/2006/math">
                    <m:acc>
                      <m:accPr>
                        <m:chr m:val="̂"/>
                        <m:ctrlPr>
                          <a:rPr lang="en-US" altLang="en-US" sz="2000" i="1" smtClean="0">
                            <a:latin typeface="Cambria Math" panose="02040503050406030204" pitchFamily="18" charset="0"/>
                          </a:rPr>
                        </m:ctrlPr>
                      </m:accPr>
                      <m:e>
                        <m:r>
                          <a:rPr lang="en-US" altLang="en-US" sz="2000" b="0" i="1" smtClean="0">
                            <a:latin typeface="Cambria Math" panose="02040503050406030204" pitchFamily="18" charset="0"/>
                          </a:rPr>
                          <m:t>𝑝</m:t>
                        </m:r>
                      </m:e>
                    </m:acc>
                    <m:r>
                      <a:rPr lang="en-US" altLang="en-US" sz="2000" b="0" i="1" smtClean="0">
                        <a:latin typeface="Cambria Math" panose="02040503050406030204" pitchFamily="18" charset="0"/>
                      </a:rPr>
                      <m:t>=</m:t>
                    </m:r>
                    <m:f>
                      <m:fPr>
                        <m:type m:val="lin"/>
                        <m:ctrlPr>
                          <a:rPr lang="en-US" altLang="en-US" sz="2000" b="0" i="1" smtClean="0">
                            <a:latin typeface="Cambria Math" panose="02040503050406030204" pitchFamily="18" charset="0"/>
                          </a:rPr>
                        </m:ctrlPr>
                      </m:fPr>
                      <m:num>
                        <m:r>
                          <a:rPr lang="en-US" altLang="en-US" sz="2000" b="0" i="1" smtClean="0">
                            <a:latin typeface="Cambria Math" panose="02040503050406030204" pitchFamily="18" charset="0"/>
                          </a:rPr>
                          <m:t>13</m:t>
                        </m:r>
                      </m:num>
                      <m:den>
                        <m:r>
                          <a:rPr lang="en-US" altLang="en-US" sz="2000" b="0" i="1" smtClean="0">
                            <a:latin typeface="Cambria Math" panose="02040503050406030204" pitchFamily="18" charset="0"/>
                          </a:rPr>
                          <m:t>20</m:t>
                        </m:r>
                      </m:den>
                    </m:f>
                    <m:r>
                      <a:rPr lang="en-US" altLang="en-US" sz="2000" b="0" i="1" smtClean="0">
                        <a:latin typeface="Cambria Math" panose="02040503050406030204" pitchFamily="18" charset="0"/>
                      </a:rPr>
                      <m:t>=0.65</m:t>
                    </m:r>
                  </m:oMath>
                </a14:m>
                <a:r>
                  <a:rPr lang="en-US" altLang="en-US" sz="2000" dirty="0"/>
                  <a:t>.</a:t>
                </a:r>
              </a:p>
            </p:txBody>
          </p:sp>
        </mc:Choice>
        <mc:Fallback xmlns="">
          <p:sp>
            <p:nvSpPr>
              <p:cNvPr id="37897" name="Rectangle 6"/>
              <p:cNvSpPr>
                <a:spLocks noRot="1" noChangeAspect="1" noMove="1" noResize="1" noEditPoints="1" noAdjustHandles="1" noChangeArrowheads="1" noChangeShapeType="1" noTextEdit="1"/>
              </p:cNvSpPr>
              <p:nvPr/>
            </p:nvSpPr>
            <p:spPr bwMode="auto">
              <a:xfrm>
                <a:off x="174623" y="1538922"/>
                <a:ext cx="8588377" cy="400110"/>
              </a:xfrm>
              <a:prstGeom prst="rect">
                <a:avLst/>
              </a:prstGeom>
              <a:blipFill rotWithShape="0">
                <a:blip r:embed="rId3"/>
                <a:stretch>
                  <a:fillRect l="-781" t="-113636" b="-18030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9" name="Object 2" descr="The image shows a mathematical expression of Test statistic as: z equals to 'p hat' minus 'p subscript zero,' whole divide by square root of 'p zero' bracket open '1 minus p zero' bracket close, divide by n. &#10;Upon putting the values, the equation is given as '0.65' minus '0.50,' whole divide by square root of '0.50' bracket open '1 minus 0.50' bracket close, divide by 20, which is equal to 1.34."/>
          <p:cNvGraphicFramePr>
            <a:graphicFrameLocks noChangeAspect="1"/>
          </p:cNvGraphicFramePr>
          <p:nvPr>
            <p:extLst>
              <p:ext uri="{D42A27DB-BD31-4B8C-83A1-F6EECF244321}">
                <p14:modId xmlns:p14="http://schemas.microsoft.com/office/powerpoint/2010/main" val="1558209595"/>
              </p:ext>
            </p:extLst>
          </p:nvPr>
        </p:nvGraphicFramePr>
        <p:xfrm>
          <a:off x="370680" y="2110739"/>
          <a:ext cx="5778500" cy="1009650"/>
        </p:xfrm>
        <a:graphic>
          <a:graphicData uri="http://schemas.openxmlformats.org/presentationml/2006/ole">
            <mc:AlternateContent xmlns:mc="http://schemas.openxmlformats.org/markup-compatibility/2006">
              <mc:Choice xmlns:v="urn:schemas-microsoft-com:vml" Requires="v">
                <p:oleObj spid="_x0000_s38148" name="Equation" r:id="rId4" imgW="3568700" imgH="622300" progId="Equation.3">
                  <p:embed/>
                </p:oleObj>
              </mc:Choice>
              <mc:Fallback>
                <p:oleObj name="Equation" r:id="rId4" imgW="3568700" imgH="6223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680" y="2110739"/>
                        <a:ext cx="5778500" cy="1009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 name="Rectangle 9"/>
          <p:cNvSpPr>
            <a:spLocks noChangeArrowheads="1"/>
          </p:cNvSpPr>
          <p:nvPr/>
        </p:nvSpPr>
        <p:spPr bwMode="auto">
          <a:xfrm>
            <a:off x="-249238" y="3383669"/>
            <a:ext cx="81962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b="1" i="1" dirty="0"/>
              <a:t>P</a:t>
            </a:r>
            <a:r>
              <a:rPr lang="en-US" altLang="en-US" sz="2000" b="1" dirty="0"/>
              <a:t>-value</a:t>
            </a:r>
            <a:r>
              <a:rPr lang="en-US" altLang="en-US" sz="2000" dirty="0"/>
              <a:t>. The desired </a:t>
            </a:r>
            <a:r>
              <a:rPr lang="en-US" altLang="en-US" sz="2000" i="1" dirty="0"/>
              <a:t>P</a:t>
            </a:r>
            <a:r>
              <a:rPr lang="en-US" altLang="en-US" sz="2000" dirty="0"/>
              <a:t>-value is twice the one-tailed </a:t>
            </a:r>
            <a:r>
              <a:rPr lang="en-US" altLang="en-US" sz="2000" i="1" dirty="0"/>
              <a:t>P</a:t>
            </a:r>
            <a:r>
              <a:rPr lang="en-US" altLang="en-US" sz="2000" dirty="0"/>
              <a:t>-value:</a:t>
            </a:r>
          </a:p>
          <a:p>
            <a:pPr algn="ctr" eaLnBrk="1" hangingPunct="1"/>
            <a:r>
              <a:rPr lang="en-US" altLang="en-US" sz="2000" dirty="0"/>
              <a:t>2</a:t>
            </a:r>
            <a:r>
              <a:rPr lang="en-US" altLang="en-US" sz="2000" i="1" dirty="0"/>
              <a:t>P</a:t>
            </a:r>
            <a:r>
              <a:rPr lang="en-US" altLang="en-US" sz="2000" dirty="0"/>
              <a:t>(</a:t>
            </a:r>
            <a:r>
              <a:rPr lang="en-US" altLang="en-US" sz="2000" i="1" dirty="0"/>
              <a:t>z </a:t>
            </a:r>
            <a:r>
              <a:rPr lang="en-US" altLang="en-US" sz="2000" dirty="0"/>
              <a:t>≥ 1.34) = 2(1 – 0.9099) = 0.1802</a:t>
            </a:r>
          </a:p>
        </p:txBody>
      </p:sp>
      <p:sp>
        <p:nvSpPr>
          <p:cNvPr id="5" name="Rectangle 4"/>
          <p:cNvSpPr>
            <a:spLocks noChangeArrowheads="1"/>
          </p:cNvSpPr>
          <p:nvPr/>
        </p:nvSpPr>
        <p:spPr bwMode="auto">
          <a:xfrm>
            <a:off x="174623" y="4413372"/>
            <a:ext cx="85883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t>Because our </a:t>
            </a:r>
            <a:r>
              <a:rPr lang="en-US" altLang="en-US" sz="2000" i="1" dirty="0"/>
              <a:t>P</a:t>
            </a:r>
            <a:r>
              <a:rPr lang="en-US" altLang="en-US" sz="2000" dirty="0"/>
              <a:t>-value, 0.1802, is greater than the usual significance level, we fail to reject </a:t>
            </a:r>
            <a:r>
              <a:rPr lang="en-US" altLang="en-US" sz="2000" i="1" dirty="0"/>
              <a:t>H</a:t>
            </a:r>
            <a:r>
              <a:rPr lang="en-US" altLang="en-US" sz="2000" baseline="-25000" dirty="0"/>
              <a:t>0</a:t>
            </a:r>
            <a:r>
              <a:rPr lang="en-US" altLang="en-US" sz="2000" dirty="0"/>
              <a:t>. There is not sufficient evidence to support our proposed advertising claim.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from="(-#ppt_w/2)" to="(#ppt_x)" calcmode="lin" valueType="num">
                                      <p:cBhvr>
                                        <p:cTn id="7" dur="600" fill="hold">
                                          <p:stCondLst>
                                            <p:cond delay="0"/>
                                          </p:stCondLst>
                                        </p:cTn>
                                        <p:tgtEl>
                                          <p:spTgt spid="9"/>
                                        </p:tgtEl>
                                        <p:attrNameLst>
                                          <p:attrName>ppt_x</p:attrName>
                                        </p:attrNameLst>
                                      </p:cBhvr>
                                    </p:anim>
                                    <p:anim from="0" to="-1.0" calcmode="lin" valueType="num">
                                      <p:cBhvr>
                                        <p:cTn id="8" dur="200" decel="50000" autoRev="1" fill="hold">
                                          <p:stCondLst>
                                            <p:cond delay="600"/>
                                          </p:stCondLst>
                                        </p:cTn>
                                        <p:tgtEl>
                                          <p:spTgt spid="9"/>
                                        </p:tgtEl>
                                        <p:attrNameLst>
                                          <p:attrName>xshear</p:attrName>
                                        </p:attrNameLst>
                                      </p:cBhvr>
                                    </p:anim>
                                    <p:animScale>
                                      <p:cBhvr>
                                        <p:cTn id="9" dur="200" decel="100000" autoRev="1" fill="hold">
                                          <p:stCondLst>
                                            <p:cond delay="600"/>
                                          </p:stCondLst>
                                        </p:cTn>
                                        <p:tgtEl>
                                          <p:spTgt spid="9"/>
                                        </p:tgtEl>
                                      </p:cBhvr>
                                      <p:from x="100000" y="100000"/>
                                      <p:to x="80000" y="100000"/>
                                    </p:animScale>
                                    <p:anim by="(#ppt_h/3+#ppt_w*0.1)" calcmode="lin" valueType="num">
                                      <p:cBhvr additive="sum">
                                        <p:cTn id="10" dur="200" decel="100000" autoRev="1" fill="hold">
                                          <p:stCondLst>
                                            <p:cond delay="600"/>
                                          </p:stCondLst>
                                        </p:cTn>
                                        <p:tgtEl>
                                          <p:spTgt spid="9"/>
                                        </p:tgtEl>
                                        <p:attrNameLst>
                                          <p:attrName>ppt_x</p:attrName>
                                        </p:attrNameLst>
                                      </p:cBhvr>
                                    </p:anim>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Choosing a Sample Size for a Confidence Interval</a:t>
            </a:r>
          </a:p>
        </p:txBody>
      </p:sp>
      <p:sp>
        <p:nvSpPr>
          <p:cNvPr id="389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DA977F3F-3DEC-4C86-A32B-9CDDFCF8AE22}" type="slidenum">
              <a:rPr lang="en-US" altLang="en-US" sz="1200">
                <a:solidFill>
                  <a:schemeClr val="accent1"/>
                </a:solidFill>
              </a:rPr>
              <a:pPr>
                <a:lnSpc>
                  <a:spcPct val="80000"/>
                </a:lnSpc>
              </a:pPr>
              <a:t>15</a:t>
            </a:fld>
            <a:endParaRPr lang="en-US" altLang="en-US" sz="1200">
              <a:solidFill>
                <a:schemeClr val="accent1"/>
              </a:solidFill>
            </a:endParaRPr>
          </a:p>
        </p:txBody>
      </p:sp>
      <p:sp>
        <p:nvSpPr>
          <p:cNvPr id="38916" name="Rectangle 1"/>
          <p:cNvSpPr>
            <a:spLocks noChangeArrowheads="1"/>
          </p:cNvSpPr>
          <p:nvPr/>
        </p:nvSpPr>
        <p:spPr bwMode="auto">
          <a:xfrm>
            <a:off x="174625" y="1398746"/>
            <a:ext cx="60975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en-US" altLang="en-US" sz="2000" dirty="0"/>
              <a:t>In planning a study, we may want to choose a sample size that allows us to estimate a population proportion within a given margin of error.  </a:t>
            </a:r>
            <a:endParaRPr lang="en-US" altLang="en-US" sz="2000" b="1" dirty="0"/>
          </a:p>
        </p:txBody>
      </p:sp>
      <p:graphicFrame>
        <p:nvGraphicFramePr>
          <p:cNvPr id="38917" name="Object 6" descr="The image shows a mathematical equation given as: 'm' equals to 'z asterisk' multiply by whole square root of 'p hat' bracket open 'one minus p hat' bracket close, divide by n."/>
          <p:cNvGraphicFramePr>
            <a:graphicFrameLocks noChangeAspect="1"/>
          </p:cNvGraphicFramePr>
          <p:nvPr>
            <p:extLst>
              <p:ext uri="{D42A27DB-BD31-4B8C-83A1-F6EECF244321}">
                <p14:modId xmlns:p14="http://schemas.microsoft.com/office/powerpoint/2010/main" val="735782903"/>
              </p:ext>
            </p:extLst>
          </p:nvPr>
        </p:nvGraphicFramePr>
        <p:xfrm>
          <a:off x="6313488" y="1576388"/>
          <a:ext cx="1652587" cy="658812"/>
        </p:xfrm>
        <a:graphic>
          <a:graphicData uri="http://schemas.openxmlformats.org/presentationml/2006/ole">
            <mc:AlternateContent xmlns:mc="http://schemas.openxmlformats.org/markup-compatibility/2006">
              <mc:Choice xmlns:v="urn:schemas-microsoft-com:vml" Requires="v">
                <p:oleObj spid="_x0000_s39489" name="Equation" r:id="rId4" imgW="1117440" imgH="444240" progId="Equation.DSMT4">
                  <p:embed/>
                </p:oleObj>
              </mc:Choice>
              <mc:Fallback>
                <p:oleObj name="Equation" r:id="rId4" imgW="1117440" imgH="444240" progId="Equation.DSMT4">
                  <p:embed/>
                  <p:pic>
                    <p:nvPicPr>
                      <p:cNvPr id="0" name="Object 6"/>
                      <p:cNvPicPr>
                        <a:picLocks noChangeAspect="1" noChangeArrowheads="1"/>
                      </p:cNvPicPr>
                      <p:nvPr/>
                    </p:nvPicPr>
                    <p:blipFill>
                      <a:blip r:embed="rId5"/>
                      <a:srcRect/>
                      <a:stretch>
                        <a:fillRect/>
                      </a:stretch>
                    </p:blipFill>
                    <p:spPr bwMode="auto">
                      <a:xfrm>
                        <a:off x="6313488" y="1576388"/>
                        <a:ext cx="1652587" cy="658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5" name="TextBox 44"/>
          <p:cNvSpPr txBox="1">
            <a:spLocks noChangeArrowheads="1"/>
          </p:cNvSpPr>
          <p:nvPr/>
        </p:nvSpPr>
        <p:spPr bwMode="auto">
          <a:xfrm>
            <a:off x="174623" y="2815315"/>
            <a:ext cx="87804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Clr>
                <a:srgbClr val="E81F30"/>
              </a:buClr>
              <a:buFont typeface="Wingdings" panose="05000000000000000000" pitchFamily="2" charset="2"/>
              <a:buChar char="ü"/>
            </a:pPr>
            <a:r>
              <a:rPr lang="en-US" altLang="en-US" i="1" dirty="0"/>
              <a:t> </a:t>
            </a:r>
            <a:r>
              <a:rPr lang="en-US" altLang="en-US" sz="2000" i="1" dirty="0"/>
              <a:t>z*</a:t>
            </a:r>
            <a:r>
              <a:rPr lang="en-US" altLang="en-US" sz="2000" dirty="0"/>
              <a:t> is the standard Normal critical value for the level of confidence we want.</a:t>
            </a:r>
            <a:endParaRPr lang="en-US" altLang="en-US" sz="2000" i="1" dirty="0"/>
          </a:p>
        </p:txBody>
      </p:sp>
      <p:graphicFrame>
        <p:nvGraphicFramePr>
          <p:cNvPr id="50" name="Object 2" descr="The image shows the statement &quot;Because the margin of error involves the sample proportion 'p hat,' we have to guess the latter value when choosing 'n.' There are two ways to do this.&quot;"/>
          <p:cNvGraphicFramePr>
            <a:graphicFrameLocks noChangeAspect="1"/>
          </p:cNvGraphicFramePr>
          <p:nvPr>
            <p:extLst>
              <p:ext uri="{D42A27DB-BD31-4B8C-83A1-F6EECF244321}">
                <p14:modId xmlns:p14="http://schemas.microsoft.com/office/powerpoint/2010/main" val="2849059383"/>
              </p:ext>
            </p:extLst>
          </p:nvPr>
        </p:nvGraphicFramePr>
        <p:xfrm>
          <a:off x="354113" y="3465875"/>
          <a:ext cx="7777162" cy="547687"/>
        </p:xfrm>
        <a:graphic>
          <a:graphicData uri="http://schemas.openxmlformats.org/presentationml/2006/ole">
            <mc:AlternateContent xmlns:mc="http://schemas.openxmlformats.org/markup-compatibility/2006">
              <mc:Choice xmlns:v="urn:schemas-microsoft-com:vml" Requires="v">
                <p:oleObj spid="_x0000_s39490" name="Equation" r:id="rId6" imgW="5041900" imgH="355600" progId="Equation.3">
                  <p:embed/>
                </p:oleObj>
              </mc:Choice>
              <mc:Fallback>
                <p:oleObj name="Equation" r:id="rId6" imgW="5041900" imgH="3556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4113" y="3465875"/>
                        <a:ext cx="7777162" cy="547687"/>
                      </a:xfrm>
                      <a:prstGeom prst="rect">
                        <a:avLst/>
                      </a:prstGeom>
                      <a:noFill/>
                      <a:ln>
                        <a:noFill/>
                      </a:ln>
                      <a:effectLst/>
                    </p:spPr>
                  </p:pic>
                </p:oleObj>
              </mc:Fallback>
            </mc:AlternateContent>
          </a:graphicData>
        </a:graphic>
      </p:graphicFrame>
      <p:graphicFrame>
        <p:nvGraphicFramePr>
          <p:cNvPr id="51" name="Object 3" descr="The image shows the statement &quot;Use a guess for 'p hat' based on past experience or a pliot study.&quot;"/>
          <p:cNvGraphicFramePr>
            <a:graphicFrameLocks noChangeAspect="1"/>
          </p:cNvGraphicFramePr>
          <p:nvPr>
            <p:extLst>
              <p:ext uri="{D42A27DB-BD31-4B8C-83A1-F6EECF244321}">
                <p14:modId xmlns:p14="http://schemas.microsoft.com/office/powerpoint/2010/main" val="4083384996"/>
              </p:ext>
            </p:extLst>
          </p:nvPr>
        </p:nvGraphicFramePr>
        <p:xfrm>
          <a:off x="354113" y="4106908"/>
          <a:ext cx="7138394" cy="371475"/>
        </p:xfrm>
        <a:graphic>
          <a:graphicData uri="http://schemas.openxmlformats.org/presentationml/2006/ole">
            <mc:AlternateContent xmlns:mc="http://schemas.openxmlformats.org/markup-compatibility/2006">
              <mc:Choice xmlns:v="urn:schemas-microsoft-com:vml" Requires="v">
                <p:oleObj spid="_x0000_s39491" name="Equation" r:id="rId8" imgW="4114800" imgH="215900" progId="Equation.DSMT4">
                  <p:embed/>
                </p:oleObj>
              </mc:Choice>
              <mc:Fallback>
                <p:oleObj name="Equation" r:id="rId8" imgW="4114800" imgH="215900" progId="Equation.DSMT4">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113" y="4106908"/>
                        <a:ext cx="7138394" cy="371475"/>
                      </a:xfrm>
                      <a:prstGeom prst="rect">
                        <a:avLst/>
                      </a:prstGeom>
                      <a:noFill/>
                      <a:ln>
                        <a:noFill/>
                      </a:ln>
                      <a:effectLst/>
                    </p:spPr>
                  </p:pic>
                </p:oleObj>
              </mc:Fallback>
            </mc:AlternateContent>
          </a:graphicData>
        </a:graphic>
      </p:graphicFrame>
      <p:graphicFrame>
        <p:nvGraphicFramePr>
          <p:cNvPr id="52" name="Object 4" descr="The image shows the statement &quot;Use 'p hat' equals to 0.5 as the guess. The margin of error is largest when 'p hat' is 0.5.&quot;"/>
          <p:cNvGraphicFramePr>
            <a:graphicFrameLocks noChangeAspect="1"/>
          </p:cNvGraphicFramePr>
          <p:nvPr>
            <p:extLst>
              <p:ext uri="{D42A27DB-BD31-4B8C-83A1-F6EECF244321}">
                <p14:modId xmlns:p14="http://schemas.microsoft.com/office/powerpoint/2010/main" val="3661794442"/>
              </p:ext>
            </p:extLst>
          </p:nvPr>
        </p:nvGraphicFramePr>
        <p:xfrm>
          <a:off x="354113" y="4571729"/>
          <a:ext cx="8329590" cy="371474"/>
        </p:xfrm>
        <a:graphic>
          <a:graphicData uri="http://schemas.openxmlformats.org/presentationml/2006/ole">
            <mc:AlternateContent xmlns:mc="http://schemas.openxmlformats.org/markup-compatibility/2006">
              <mc:Choice xmlns:v="urn:schemas-microsoft-com:vml" Requires="v">
                <p:oleObj spid="_x0000_s39492" name="Equation" r:id="rId10" imgW="4800600" imgH="215900" progId="Equation.DSMT4">
                  <p:embed/>
                </p:oleObj>
              </mc:Choice>
              <mc:Fallback>
                <p:oleObj name="Equation" r:id="rId10" imgW="4800600" imgH="215900" progId="Equation.DSMT4">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4113" y="4571729"/>
                        <a:ext cx="8329590" cy="371474"/>
                      </a:xfrm>
                      <a:prstGeom prst="rect">
                        <a:avLst/>
                      </a:prstGeom>
                      <a:noFill/>
                      <a:ln>
                        <a:noFill/>
                      </a:ln>
                      <a:effectLst/>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1000"/>
                                        <p:tgtEl>
                                          <p:spTgt spid="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1000"/>
                                        <p:tgtEl>
                                          <p:spTgt spid="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1000"/>
                                        <p:tgtEl>
                                          <p:spTgt spid="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dirty="0">
                <a:ea typeface="ＭＳ Ｐゴシック" panose="020B0600070205080204" pitchFamily="34" charset="-128"/>
              </a:rPr>
              <a:t>Choosing a Sample Size for a Confidence Interval </a:t>
            </a:r>
            <a:r>
              <a:rPr lang="en-US" altLang="en-US" dirty="0"/>
              <a:t>Example</a:t>
            </a:r>
            <a:endParaRPr lang="en-US" dirty="0"/>
          </a:p>
        </p:txBody>
      </p:sp>
      <p:sp>
        <p:nvSpPr>
          <p:cNvPr id="399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C2978492-CB09-4113-AFF5-8BDCAA263F60}" type="slidenum">
              <a:rPr lang="en-US" altLang="en-US" sz="1200">
                <a:solidFill>
                  <a:schemeClr val="accent1"/>
                </a:solidFill>
              </a:rPr>
              <a:pPr>
                <a:lnSpc>
                  <a:spcPct val="80000"/>
                </a:lnSpc>
              </a:pPr>
              <a:t>16</a:t>
            </a:fld>
            <a:endParaRPr lang="en-US" altLang="en-US" sz="1200">
              <a:solidFill>
                <a:schemeClr val="accent1"/>
              </a:solidFill>
            </a:endParaRPr>
          </a:p>
        </p:txBody>
      </p:sp>
      <p:sp>
        <p:nvSpPr>
          <p:cNvPr id="39939" name="Rectangle 1"/>
          <p:cNvSpPr>
            <a:spLocks noChangeArrowheads="1"/>
          </p:cNvSpPr>
          <p:nvPr/>
        </p:nvSpPr>
        <p:spPr bwMode="auto">
          <a:xfrm>
            <a:off x="142081" y="1512887"/>
            <a:ext cx="83677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buFont typeface="Wingdings" panose="05000000000000000000" pitchFamily="2" charset="2"/>
              <a:buNone/>
            </a:pPr>
            <a:r>
              <a:rPr lang="en-US" altLang="en-US" sz="2000" b="1" dirty="0"/>
              <a:t>Example: </a:t>
            </a:r>
            <a:r>
              <a:rPr lang="en-US" altLang="en-US" sz="2000" dirty="0"/>
              <a:t>Suppose your university wishes to determine what percent of students are satisfied with the overall campus environment. Determine the sample size needed to estimate </a:t>
            </a:r>
            <a:r>
              <a:rPr lang="en-US" altLang="en-US" sz="2000" i="1" dirty="0"/>
              <a:t>p</a:t>
            </a:r>
            <a:r>
              <a:rPr lang="en-US" altLang="en-US" sz="2000" dirty="0"/>
              <a:t> within 0.03 with 95% confidence.</a:t>
            </a:r>
          </a:p>
        </p:txBody>
      </p:sp>
      <p:sp>
        <p:nvSpPr>
          <p:cNvPr id="29" name="TextBox 28"/>
          <p:cNvSpPr txBox="1">
            <a:spLocks noChangeArrowheads="1"/>
          </p:cNvSpPr>
          <p:nvPr/>
        </p:nvSpPr>
        <p:spPr bwMode="auto">
          <a:xfrm>
            <a:off x="174625" y="2789237"/>
            <a:ext cx="6045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Clr>
                <a:srgbClr val="E81F30"/>
              </a:buClr>
              <a:buFont typeface="Wingdings" panose="05000000000000000000" pitchFamily="2" charset="2"/>
              <a:buChar char="ü"/>
            </a:pPr>
            <a:r>
              <a:rPr lang="en-US" altLang="en-US" sz="2000" i="1" dirty="0"/>
              <a:t> </a:t>
            </a:r>
            <a:r>
              <a:rPr lang="en-US" altLang="en-US" sz="2000" dirty="0"/>
              <a:t>The critical value for 95% confidence is </a:t>
            </a:r>
            <a:r>
              <a:rPr lang="en-US" altLang="en-US" sz="2000" i="1" dirty="0"/>
              <a:t>z*</a:t>
            </a:r>
            <a:r>
              <a:rPr lang="en-US" altLang="en-US" sz="2000" dirty="0"/>
              <a:t> = 1.96.</a:t>
            </a:r>
            <a:endParaRPr lang="en-US" altLang="en-US" sz="2000" i="1" dirty="0"/>
          </a:p>
        </p:txBody>
      </p:sp>
      <p:sp>
        <p:nvSpPr>
          <p:cNvPr id="30" name="TextBox 29"/>
          <p:cNvSpPr txBox="1">
            <a:spLocks noChangeArrowheads="1"/>
          </p:cNvSpPr>
          <p:nvPr/>
        </p:nvSpPr>
        <p:spPr bwMode="auto">
          <a:xfrm>
            <a:off x="174625" y="3314701"/>
            <a:ext cx="7620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227013" algn="l"/>
                <a:tab pos="287338" algn="l"/>
              </a:tabLst>
              <a:defRPr>
                <a:solidFill>
                  <a:schemeClr val="tx1"/>
                </a:solidFill>
                <a:latin typeface="Arial" panose="020B0604020202020204" pitchFamily="34" charset="0"/>
                <a:ea typeface="ＭＳ Ｐゴシック" panose="020B0600070205080204" pitchFamily="34" charset="-128"/>
              </a:defRPr>
            </a:lvl1pPr>
            <a:lvl2pPr marL="742950" indent="-285750">
              <a:tabLst>
                <a:tab pos="227013" algn="l"/>
                <a:tab pos="287338" algn="l"/>
              </a:tabLst>
              <a:defRPr>
                <a:solidFill>
                  <a:schemeClr val="tx1"/>
                </a:solidFill>
                <a:latin typeface="Arial" panose="020B0604020202020204" pitchFamily="34" charset="0"/>
                <a:ea typeface="ＭＳ Ｐゴシック" panose="020B0600070205080204" pitchFamily="34" charset="-128"/>
              </a:defRPr>
            </a:lvl2pPr>
            <a:lvl3pPr marL="1143000" indent="-228600">
              <a:tabLst>
                <a:tab pos="227013" algn="l"/>
                <a:tab pos="287338" algn="l"/>
              </a:tabLst>
              <a:defRPr>
                <a:solidFill>
                  <a:schemeClr val="tx1"/>
                </a:solidFill>
                <a:latin typeface="Arial" panose="020B0604020202020204" pitchFamily="34" charset="0"/>
                <a:ea typeface="ＭＳ Ｐゴシック" panose="020B0600070205080204" pitchFamily="34" charset="-128"/>
              </a:defRPr>
            </a:lvl3pPr>
            <a:lvl4pPr marL="1600200" indent="-228600">
              <a:tabLst>
                <a:tab pos="227013" algn="l"/>
                <a:tab pos="287338" algn="l"/>
              </a:tabLst>
              <a:defRPr>
                <a:solidFill>
                  <a:schemeClr val="tx1"/>
                </a:solidFill>
                <a:latin typeface="Arial" panose="020B0604020202020204" pitchFamily="34" charset="0"/>
                <a:ea typeface="ＭＳ Ｐゴシック" panose="020B0600070205080204" pitchFamily="34" charset="-128"/>
              </a:defRPr>
            </a:lvl4pPr>
            <a:lvl5pPr marL="2057400" indent="-228600">
              <a:tabLst>
                <a:tab pos="227013" algn="l"/>
                <a:tab pos="287338" algn="l"/>
              </a:tabLst>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tabLst>
                <a:tab pos="227013" algn="l"/>
                <a:tab pos="287338" algn="l"/>
              </a:tabLs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tabLst>
                <a:tab pos="227013" algn="l"/>
                <a:tab pos="287338" algn="l"/>
              </a:tabLs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tabLst>
                <a:tab pos="227013" algn="l"/>
                <a:tab pos="287338" algn="l"/>
              </a:tabLs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tabLst>
                <a:tab pos="227013" algn="l"/>
                <a:tab pos="287338" algn="l"/>
              </a:tabLst>
              <a:defRPr>
                <a:solidFill>
                  <a:schemeClr val="tx1"/>
                </a:solidFill>
                <a:latin typeface="Arial" panose="020B0604020202020204" pitchFamily="34" charset="0"/>
                <a:ea typeface="ＭＳ Ｐゴシック" panose="020B0600070205080204" pitchFamily="34" charset="-128"/>
              </a:defRPr>
            </a:lvl9pPr>
          </a:lstStyle>
          <a:p>
            <a:pPr eaLnBrk="1" hangingPunct="1">
              <a:spcAft>
                <a:spcPts val="600"/>
              </a:spcAft>
              <a:buClr>
                <a:srgbClr val="E81F30"/>
              </a:buClr>
              <a:buFont typeface="Wingdings" panose="05000000000000000000" pitchFamily="2" charset="2"/>
              <a:buChar char="ü"/>
            </a:pPr>
            <a:r>
              <a:rPr lang="en-US" altLang="en-US" sz="2000" dirty="0"/>
              <a:t> Because the university wants a margin of error of no more than 	0.03, we need to solve the following equation:</a:t>
            </a:r>
          </a:p>
        </p:txBody>
      </p:sp>
      <p:graphicFrame>
        <p:nvGraphicFramePr>
          <p:cNvPr id="32" name="Object 3" descr="The image shows a mathematical expression given as: 'n' equals to square of bracket open 'z asterisk' by 'm' bracket close, multiply by 'p asterisk' bracket open ''one minus p asterisk' bracket close."/>
          <p:cNvGraphicFramePr>
            <a:graphicFrameLocks noChangeAspect="1"/>
          </p:cNvGraphicFramePr>
          <p:nvPr>
            <p:extLst>
              <p:ext uri="{D42A27DB-BD31-4B8C-83A1-F6EECF244321}">
                <p14:modId xmlns:p14="http://schemas.microsoft.com/office/powerpoint/2010/main" val="1029608771"/>
              </p:ext>
            </p:extLst>
          </p:nvPr>
        </p:nvGraphicFramePr>
        <p:xfrm>
          <a:off x="1662113" y="4090987"/>
          <a:ext cx="2227262" cy="785813"/>
        </p:xfrm>
        <a:graphic>
          <a:graphicData uri="http://schemas.openxmlformats.org/presentationml/2006/ole">
            <mc:AlternateContent xmlns:mc="http://schemas.openxmlformats.org/markup-compatibility/2006">
              <mc:Choice xmlns:v="urn:schemas-microsoft-com:vml" Requires="v">
                <p:oleObj spid="_x0000_s40370" name="Equation" r:id="rId4" imgW="1295400" imgH="457200" progId="Equation.3">
                  <p:embed/>
                </p:oleObj>
              </mc:Choice>
              <mc:Fallback>
                <p:oleObj name="Equation" r:id="rId4" imgW="1295400" imgH="457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2113" y="4090987"/>
                        <a:ext cx="2227262"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 name="Object 3" descr="The image shows a mathematical expression given as: 'n' equals to square of bracket open '1.96' by '0.03' bracket close, multiply by '0.5' bracket open 'one minus 0.5' bracket close."/>
          <p:cNvGraphicFramePr>
            <a:graphicFrameLocks noChangeAspect="1"/>
          </p:cNvGraphicFramePr>
          <p:nvPr>
            <p:extLst>
              <p:ext uri="{D42A27DB-BD31-4B8C-83A1-F6EECF244321}">
                <p14:modId xmlns:p14="http://schemas.microsoft.com/office/powerpoint/2010/main" val="2213788420"/>
              </p:ext>
            </p:extLst>
          </p:nvPr>
        </p:nvGraphicFramePr>
        <p:xfrm>
          <a:off x="1662113" y="5029200"/>
          <a:ext cx="2424112" cy="785812"/>
        </p:xfrm>
        <a:graphic>
          <a:graphicData uri="http://schemas.openxmlformats.org/presentationml/2006/ole">
            <mc:AlternateContent xmlns:mc="http://schemas.openxmlformats.org/markup-compatibility/2006">
              <mc:Choice xmlns:v="urn:schemas-microsoft-com:vml" Requires="v">
                <p:oleObj spid="_x0000_s40371" name="Equation" r:id="rId6" imgW="1409700" imgH="457200" progId="Equation.3">
                  <p:embed/>
                </p:oleObj>
              </mc:Choice>
              <mc:Fallback>
                <p:oleObj name="Equation" r:id="rId6" imgW="1409700" imgH="4572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2113" y="5029200"/>
                        <a:ext cx="2424112"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Object 4" descr="The image shows 'n' value of the equation, mentioned as: 'n' equals to 1067.1."/>
          <p:cNvGraphicFramePr>
            <a:graphicFrameLocks noChangeAspect="1"/>
          </p:cNvGraphicFramePr>
          <p:nvPr>
            <p:extLst>
              <p:ext uri="{D42A27DB-BD31-4B8C-83A1-F6EECF244321}">
                <p14:modId xmlns:p14="http://schemas.microsoft.com/office/powerpoint/2010/main" val="2930165748"/>
              </p:ext>
            </p:extLst>
          </p:nvPr>
        </p:nvGraphicFramePr>
        <p:xfrm>
          <a:off x="1662113" y="6075362"/>
          <a:ext cx="1136650" cy="284163"/>
        </p:xfrm>
        <a:graphic>
          <a:graphicData uri="http://schemas.openxmlformats.org/presentationml/2006/ole">
            <mc:AlternateContent xmlns:mc="http://schemas.openxmlformats.org/markup-compatibility/2006">
              <mc:Choice xmlns:v="urn:schemas-microsoft-com:vml" Requires="v">
                <p:oleObj spid="_x0000_s40372" name="Equation" r:id="rId8" imgW="660400" imgH="165100" progId="Equation.3">
                  <p:embed/>
                </p:oleObj>
              </mc:Choice>
              <mc:Fallback>
                <p:oleObj name="Equation" r:id="rId8" imgW="660400" imgH="1651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62113" y="6075362"/>
                        <a:ext cx="1136650"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 name="TextBox 38"/>
          <p:cNvSpPr txBox="1">
            <a:spLocks noChangeArrowheads="1"/>
          </p:cNvSpPr>
          <p:nvPr/>
        </p:nvSpPr>
        <p:spPr bwMode="auto">
          <a:xfrm>
            <a:off x="4841876" y="4405312"/>
            <a:ext cx="2952750" cy="1631216"/>
          </a:xfrm>
          <a:prstGeom prst="rect">
            <a:avLst/>
          </a:prstGeom>
          <a:solidFill>
            <a:srgbClr val="FFFF00"/>
          </a:solidFill>
          <a:ln w="10000">
            <a:solidFill>
              <a:srgbClr val="B88472"/>
            </a:solidFill>
            <a:miter lim="800000"/>
            <a:headEnd/>
            <a:tailEnd/>
          </a:ln>
          <a:effectLst>
            <a:outerShdw blurRad="38100" dist="30000" dir="5400000" rotWithShape="0">
              <a:srgbClr val="808080">
                <a:alpha val="45000"/>
              </a:srgbClr>
            </a:outerShdw>
          </a:effectLst>
        </p:spPr>
        <p:txBody>
          <a:bodyPr wrap="square">
            <a:spAutoFit/>
          </a:bodyPr>
          <a:lstStyle/>
          <a:p>
            <a:pPr algn="just" eaLnBrk="1" hangingPunct="1">
              <a:defRPr/>
            </a:pPr>
            <a:r>
              <a:rPr lang="en-US" sz="2000" b="1" dirty="0">
                <a:solidFill>
                  <a:srgbClr val="000000"/>
                </a:solidFill>
                <a:latin typeface="+mn-lt"/>
                <a:ea typeface="+mn-ea"/>
              </a:rPr>
              <a:t>We round up to 1068 respondents to ensure the margin of error is no more than 0.03 at 95% confidence.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2000"/>
                                        <p:tgtEl>
                                          <p:spTgt spid="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1000"/>
                                        <p:tgtEl>
                                          <p:spTgt spid="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1000"/>
                                        <p:tgtEl>
                                          <p:spTgt spid="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1000"/>
                                        <p:tgtEl>
                                          <p:spTgt spid="41"/>
                                        </p:tgtEl>
                                      </p:cBhvr>
                                    </p:animEffect>
                                  </p:childTnLst>
                                </p:cTn>
                              </p:par>
                            </p:childTnLst>
                          </p:cTn>
                        </p:par>
                        <p:par>
                          <p:cTn id="28" fill="hold" nodeType="afterGroup">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9"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Choosing a Sample Size for a Significance Test</a:t>
            </a:r>
          </a:p>
        </p:txBody>
      </p:sp>
      <p:sp>
        <p:nvSpPr>
          <p:cNvPr id="409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6A6B41DC-1B55-470B-8B2F-409839BACBD5}" type="slidenum">
              <a:rPr lang="en-US" altLang="en-US" sz="1200">
                <a:solidFill>
                  <a:schemeClr val="accent1"/>
                </a:solidFill>
              </a:rPr>
              <a:pPr>
                <a:lnSpc>
                  <a:spcPct val="80000"/>
                </a:lnSpc>
              </a:pPr>
              <a:t>17</a:t>
            </a:fld>
            <a:endParaRPr lang="en-US" altLang="en-US" sz="1200">
              <a:solidFill>
                <a:schemeClr val="accent1"/>
              </a:solidFill>
            </a:endParaRPr>
          </a:p>
        </p:txBody>
      </p:sp>
      <p:sp>
        <p:nvSpPr>
          <p:cNvPr id="40964" name="Rectangle 1"/>
          <p:cNvSpPr>
            <a:spLocks noChangeArrowheads="1"/>
          </p:cNvSpPr>
          <p:nvPr/>
        </p:nvSpPr>
        <p:spPr bwMode="auto">
          <a:xfrm>
            <a:off x="265113" y="1401405"/>
            <a:ext cx="79914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en-US" altLang="en-US" sz="2000" dirty="0"/>
              <a:t>In Chapter 6, we introduced the idea of power for a significance test. These ideas apply to the significance test for a proportion from this section.  </a:t>
            </a:r>
            <a:endParaRPr lang="en-US" altLang="en-US" sz="2000" b="1" dirty="0"/>
          </a:p>
        </p:txBody>
      </p:sp>
      <p:sp>
        <p:nvSpPr>
          <p:cNvPr id="3" name="TextBox 2"/>
          <p:cNvSpPr txBox="1"/>
          <p:nvPr/>
        </p:nvSpPr>
        <p:spPr>
          <a:xfrm>
            <a:off x="265113" y="2515645"/>
            <a:ext cx="7780338" cy="2030412"/>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defRPr/>
            </a:pPr>
            <a:r>
              <a:rPr lang="en-US" dirty="0">
                <a:solidFill>
                  <a:srgbClr val="000000"/>
                </a:solidFill>
              </a:rPr>
              <a:t>To find the required sample size for a significance test, we need to specify</a:t>
            </a:r>
          </a:p>
          <a:p>
            <a:pPr eaLnBrk="1" hangingPunct="1">
              <a:defRPr/>
            </a:pPr>
            <a:endParaRPr lang="en-US" dirty="0">
              <a:solidFill>
                <a:srgbClr val="000000"/>
              </a:solidFill>
            </a:endParaRPr>
          </a:p>
          <a:p>
            <a:pPr eaLnBrk="1" hangingPunct="1">
              <a:buFont typeface="Arial" pitchFamily="34" charset="0"/>
              <a:buChar char="•"/>
              <a:defRPr/>
            </a:pPr>
            <a:r>
              <a:rPr lang="en-US" dirty="0">
                <a:solidFill>
                  <a:srgbClr val="000000"/>
                </a:solidFill>
              </a:rPr>
              <a:t>the value of </a:t>
            </a:r>
            <a:r>
              <a:rPr lang="en-US" i="1" dirty="0">
                <a:solidFill>
                  <a:srgbClr val="000000"/>
                </a:solidFill>
              </a:rPr>
              <a:t>p</a:t>
            </a:r>
            <a:r>
              <a:rPr lang="en-US" baseline="-25000" dirty="0">
                <a:solidFill>
                  <a:srgbClr val="000000"/>
                </a:solidFill>
              </a:rPr>
              <a:t>0</a:t>
            </a:r>
            <a:r>
              <a:rPr lang="en-US" i="1" dirty="0">
                <a:solidFill>
                  <a:srgbClr val="000000"/>
                </a:solidFill>
              </a:rPr>
              <a:t> </a:t>
            </a:r>
            <a:r>
              <a:rPr lang="en-US" dirty="0">
                <a:solidFill>
                  <a:srgbClr val="000000"/>
                </a:solidFill>
              </a:rPr>
              <a:t>in the null hypothesis </a:t>
            </a:r>
            <a:r>
              <a:rPr lang="en-US" i="1" dirty="0">
                <a:solidFill>
                  <a:srgbClr val="000000"/>
                </a:solidFill>
              </a:rPr>
              <a:t>H</a:t>
            </a:r>
            <a:r>
              <a:rPr lang="en-US" baseline="-25000" dirty="0">
                <a:solidFill>
                  <a:srgbClr val="000000"/>
                </a:solidFill>
              </a:rPr>
              <a:t>0</a:t>
            </a:r>
            <a:r>
              <a:rPr lang="en-US" dirty="0">
                <a:solidFill>
                  <a:srgbClr val="000000"/>
                </a:solidFill>
              </a:rPr>
              <a:t>: </a:t>
            </a:r>
            <a:r>
              <a:rPr lang="en-US" i="1" dirty="0">
                <a:solidFill>
                  <a:srgbClr val="000000"/>
                </a:solidFill>
              </a:rPr>
              <a:t>p</a:t>
            </a:r>
            <a:r>
              <a:rPr lang="en-US" dirty="0">
                <a:solidFill>
                  <a:srgbClr val="000000"/>
                </a:solidFill>
              </a:rPr>
              <a:t> = </a:t>
            </a:r>
            <a:r>
              <a:rPr lang="en-US" i="1" dirty="0">
                <a:solidFill>
                  <a:srgbClr val="000000"/>
                </a:solidFill>
              </a:rPr>
              <a:t>p</a:t>
            </a:r>
            <a:r>
              <a:rPr lang="en-US" baseline="-25000" dirty="0">
                <a:solidFill>
                  <a:srgbClr val="000000"/>
                </a:solidFill>
              </a:rPr>
              <a:t>0</a:t>
            </a:r>
            <a:endParaRPr lang="en-US" dirty="0">
              <a:solidFill>
                <a:srgbClr val="000000"/>
              </a:solidFill>
            </a:endParaRPr>
          </a:p>
          <a:p>
            <a:pPr eaLnBrk="1" hangingPunct="1">
              <a:buFont typeface="Arial" pitchFamily="34" charset="0"/>
              <a:buChar char="•"/>
              <a:defRPr/>
            </a:pPr>
            <a:r>
              <a:rPr lang="en-US" dirty="0">
                <a:solidFill>
                  <a:srgbClr val="000000"/>
                </a:solidFill>
              </a:rPr>
              <a:t>the alternative hypothesis, two-sided or one-sided</a:t>
            </a:r>
          </a:p>
          <a:p>
            <a:pPr eaLnBrk="1" hangingPunct="1">
              <a:buFont typeface="Arial" pitchFamily="34" charset="0"/>
              <a:buChar char="•"/>
              <a:defRPr/>
            </a:pPr>
            <a:r>
              <a:rPr lang="en-US" dirty="0">
                <a:solidFill>
                  <a:srgbClr val="000000"/>
                </a:solidFill>
              </a:rPr>
              <a:t>a value of </a:t>
            </a:r>
            <a:r>
              <a:rPr lang="en-US" i="1" dirty="0">
                <a:solidFill>
                  <a:srgbClr val="000000"/>
                </a:solidFill>
              </a:rPr>
              <a:t>p</a:t>
            </a:r>
            <a:r>
              <a:rPr lang="en-US" dirty="0">
                <a:solidFill>
                  <a:srgbClr val="000000"/>
                </a:solidFill>
              </a:rPr>
              <a:t> for the alternative hypothesis</a:t>
            </a:r>
          </a:p>
          <a:p>
            <a:pPr eaLnBrk="1" hangingPunct="1">
              <a:buFont typeface="Arial" pitchFamily="34" charset="0"/>
              <a:buChar char="•"/>
              <a:defRPr/>
            </a:pPr>
            <a:r>
              <a:rPr lang="en-US" dirty="0">
                <a:solidFill>
                  <a:srgbClr val="000000"/>
                </a:solidFill>
              </a:rPr>
              <a:t>the Type I error (usually 5%)</a:t>
            </a:r>
          </a:p>
          <a:p>
            <a:pPr eaLnBrk="1" hangingPunct="1">
              <a:buFont typeface="Arial" pitchFamily="34" charset="0"/>
              <a:buChar char="•"/>
              <a:defRPr/>
            </a:pPr>
            <a:r>
              <a:rPr lang="en-US" dirty="0">
                <a:solidFill>
                  <a:srgbClr val="000000"/>
                </a:solidFill>
              </a:rPr>
              <a:t>the Type II error (usually 80%)</a:t>
            </a:r>
          </a:p>
        </p:txBody>
      </p:sp>
      <p:sp>
        <p:nvSpPr>
          <p:cNvPr id="48" name="TextBox 47"/>
          <p:cNvSpPr txBox="1"/>
          <p:nvPr/>
        </p:nvSpPr>
        <p:spPr bwMode="auto">
          <a:xfrm>
            <a:off x="265113" y="4687094"/>
            <a:ext cx="5878513" cy="338137"/>
          </a:xfrm>
          <a:prstGeom prst="rect">
            <a:avLst/>
          </a:prstGeom>
          <a:solidFill>
            <a:schemeClr val="accent2"/>
          </a:solidFill>
          <a:ln>
            <a:noFill/>
          </a:ln>
        </p:spPr>
        <p:style>
          <a:lnRef idx="3">
            <a:schemeClr val="lt1"/>
          </a:lnRef>
          <a:fillRef idx="1">
            <a:schemeClr val="accent2"/>
          </a:fillRef>
          <a:effectRef idx="1">
            <a:schemeClr val="accent2"/>
          </a:effectRef>
          <a:fontRef idx="minor">
            <a:schemeClr val="lt1"/>
          </a:fontRef>
        </p:style>
        <p:txBody>
          <a:bodyPr>
            <a:spAutoFit/>
          </a:bodyPr>
          <a:lstStyle/>
          <a:p>
            <a:pPr algn="ctr" eaLnBrk="1" fontAlgn="auto" hangingPunct="1">
              <a:spcBef>
                <a:spcPts val="0"/>
              </a:spcBef>
              <a:spcAft>
                <a:spcPts val="0"/>
              </a:spcAft>
              <a:defRPr/>
            </a:pPr>
            <a:r>
              <a:rPr lang="en-US" sz="1600" b="1" dirty="0">
                <a:solidFill>
                  <a:schemeClr val="tx1"/>
                </a:solidFill>
              </a:rPr>
              <a:t>Sample Size for Comparing Two Sunblock Lotions</a:t>
            </a:r>
          </a:p>
        </p:txBody>
      </p:sp>
      <p:sp>
        <p:nvSpPr>
          <p:cNvPr id="47" name="TextBox 46"/>
          <p:cNvSpPr txBox="1">
            <a:spLocks noChangeArrowheads="1"/>
          </p:cNvSpPr>
          <p:nvPr/>
        </p:nvSpPr>
        <p:spPr bwMode="auto">
          <a:xfrm>
            <a:off x="265113" y="5025231"/>
            <a:ext cx="8180387" cy="1631950"/>
          </a:xfrm>
          <a:prstGeom prst="rect">
            <a:avLst/>
          </a:prstGeom>
          <a:solidFill>
            <a:srgbClr val="EEEFD6"/>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spcAft>
                <a:spcPts val="1200"/>
              </a:spcAft>
              <a:defRPr/>
            </a:pPr>
            <a:r>
              <a:rPr lang="en-US" altLang="en-US" sz="1800" dirty="0">
                <a:solidFill>
                  <a:srgbClr val="000000"/>
                </a:solidFill>
              </a:rPr>
              <a:t>In the earlier sunblock example, we found our product was better than the competitor’s in 13 out of 20 subjects. However, we failed to reject the null hypothesis (</a:t>
            </a:r>
            <a:r>
              <a:rPr lang="en-US" altLang="en-US" sz="1800" i="1" dirty="0">
                <a:solidFill>
                  <a:srgbClr val="000000"/>
                </a:solidFill>
              </a:rPr>
              <a:t>p</a:t>
            </a:r>
            <a:r>
              <a:rPr lang="en-US" altLang="en-US" sz="1800" dirty="0">
                <a:solidFill>
                  <a:srgbClr val="000000"/>
                </a:solidFill>
              </a:rPr>
              <a:t> = 0.18). Let’s suppose that the true value is </a:t>
            </a:r>
            <a:r>
              <a:rPr lang="en-US" altLang="en-US" sz="1800" i="1" dirty="0">
                <a:solidFill>
                  <a:srgbClr val="000000"/>
                </a:solidFill>
              </a:rPr>
              <a:t>p</a:t>
            </a:r>
            <a:r>
              <a:rPr lang="en-US" altLang="en-US" sz="1800" baseline="-25000" dirty="0">
                <a:solidFill>
                  <a:srgbClr val="000000"/>
                </a:solidFill>
              </a:rPr>
              <a:t>0</a:t>
            </a:r>
            <a:r>
              <a:rPr lang="en-US" altLang="en-US" sz="1800" dirty="0">
                <a:solidFill>
                  <a:srgbClr val="000000"/>
                </a:solidFill>
              </a:rPr>
              <a:t> = 0.65, and that we plan on a two-sided test at a 5% significance level and 80% power.</a:t>
            </a:r>
          </a:p>
          <a:p>
            <a:pPr eaLnBrk="1" hangingPunct="1">
              <a:spcAft>
                <a:spcPts val="1200"/>
              </a:spcAft>
              <a:defRPr/>
            </a:pPr>
            <a:r>
              <a:rPr lang="en-US" altLang="en-US" sz="1800" dirty="0">
                <a:solidFill>
                  <a:srgbClr val="000000"/>
                </a:solidFill>
              </a:rPr>
              <a:t>Software outputs indicate that </a:t>
            </a:r>
            <a:r>
              <a:rPr lang="en-US" altLang="en-US" sz="1800" i="1" dirty="0">
                <a:solidFill>
                  <a:srgbClr val="000000"/>
                </a:solidFill>
              </a:rPr>
              <a:t>n</a:t>
            </a:r>
            <a:r>
              <a:rPr lang="en-US" altLang="en-US" sz="1800" dirty="0">
                <a:solidFill>
                  <a:srgbClr val="000000"/>
                </a:solidFill>
              </a:rPr>
              <a:t> = 85 or 89 should be used.</a:t>
            </a:r>
          </a:p>
        </p:txBody>
      </p:sp>
    </p:spTree>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2"/>
          <p:cNvSpPr>
            <a:spLocks noGrp="1"/>
          </p:cNvSpPr>
          <p:nvPr>
            <p:ph type="title"/>
          </p:nvPr>
        </p:nvSpPr>
        <p:spPr>
          <a:xfrm>
            <a:off x="457200" y="342900"/>
            <a:ext cx="7817370" cy="1143000"/>
          </a:xfrm>
        </p:spPr>
        <p:txBody>
          <a:bodyPr anchor="t"/>
          <a:lstStyle/>
          <a:p>
            <a:pPr eaLnBrk="1" hangingPunct="1"/>
            <a:r>
              <a:rPr lang="en-US" altLang="en-US" b="1" dirty="0">
                <a:ea typeface="ＭＳ Ｐゴシック" panose="020B0600070205080204" pitchFamily="34" charset="-128"/>
              </a:rPr>
              <a:t>8.2 Comparing Two Proportions</a:t>
            </a:r>
          </a:p>
        </p:txBody>
      </p:sp>
      <p:sp>
        <p:nvSpPr>
          <p:cNvPr id="41987" name="Text Placeholder 3"/>
          <p:cNvSpPr>
            <a:spLocks noGrp="1"/>
          </p:cNvSpPr>
          <p:nvPr>
            <p:ph idx="1"/>
          </p:nvPr>
        </p:nvSpPr>
        <p:spPr>
          <a:xfrm>
            <a:off x="457200" y="1685145"/>
            <a:ext cx="7442616" cy="3916363"/>
          </a:xfrm>
        </p:spPr>
        <p:txBody>
          <a:bodyPr/>
          <a:lstStyle/>
          <a:p>
            <a:pPr eaLnBrk="1" hangingPunct="1">
              <a:buSzPct val="110000"/>
              <a:buFont typeface="Wingdings" panose="05000000000000000000" pitchFamily="2" charset="2"/>
              <a:buChar char="§"/>
            </a:pPr>
            <a:r>
              <a:rPr lang="en-US" altLang="en-US" sz="2400" dirty="0">
                <a:solidFill>
                  <a:schemeClr val="accent1"/>
                </a:solidFill>
                <a:ea typeface="ＭＳ Ｐゴシック" panose="020B0600070205080204" pitchFamily="34" charset="-128"/>
              </a:rPr>
              <a:t>Large-sample confidence interval for a difference in proportions</a:t>
            </a:r>
          </a:p>
          <a:p>
            <a:pPr eaLnBrk="1" hangingPunct="1">
              <a:buSzPct val="110000"/>
              <a:buFont typeface="Wingdings" panose="05000000000000000000" pitchFamily="2" charset="2"/>
              <a:buChar char="§"/>
            </a:pPr>
            <a:r>
              <a:rPr lang="en-US" altLang="en-US" sz="2400" dirty="0">
                <a:solidFill>
                  <a:schemeClr val="accent1"/>
                </a:solidFill>
                <a:ea typeface="ＭＳ Ｐゴシック" panose="020B0600070205080204" pitchFamily="34" charset="-128"/>
              </a:rPr>
              <a:t>Plus four confidence interval for a difference in proportions</a:t>
            </a:r>
          </a:p>
          <a:p>
            <a:pPr eaLnBrk="1" hangingPunct="1">
              <a:buSzPct val="110000"/>
              <a:buFont typeface="Wingdings" panose="05000000000000000000" pitchFamily="2" charset="2"/>
              <a:buChar char="§"/>
            </a:pPr>
            <a:r>
              <a:rPr lang="en-US" altLang="en-US" sz="2400" dirty="0">
                <a:solidFill>
                  <a:schemeClr val="accent1"/>
                </a:solidFill>
                <a:ea typeface="ＭＳ Ｐゴシック" panose="020B0600070205080204" pitchFamily="34" charset="-128"/>
              </a:rPr>
              <a:t>Significance test for a difference in proportions</a:t>
            </a:r>
          </a:p>
          <a:p>
            <a:pPr eaLnBrk="1" hangingPunct="1">
              <a:buSzPct val="110000"/>
              <a:buFont typeface="Wingdings" panose="05000000000000000000" pitchFamily="2" charset="2"/>
              <a:buChar char="§"/>
            </a:pPr>
            <a:r>
              <a:rPr lang="en-US" altLang="en-US" sz="2400" dirty="0">
                <a:solidFill>
                  <a:schemeClr val="accent1"/>
                </a:solidFill>
                <a:ea typeface="ＭＳ Ｐゴシック" panose="020B0600070205080204" pitchFamily="34" charset="-128"/>
              </a:rPr>
              <a:t>Choosing a sample size for two sample proportions</a:t>
            </a:r>
          </a:p>
          <a:p>
            <a:pPr eaLnBrk="1" hangingPunct="1">
              <a:buSzPct val="110000"/>
              <a:buFont typeface="Wingdings" panose="05000000000000000000" pitchFamily="2" charset="2"/>
              <a:buChar char="§"/>
            </a:pPr>
            <a:r>
              <a:rPr lang="en-US" altLang="en-US" sz="2400" dirty="0">
                <a:solidFill>
                  <a:schemeClr val="accent1"/>
                </a:solidFill>
                <a:ea typeface="ＭＳ Ｐゴシック" panose="020B0600070205080204" pitchFamily="34" charset="-128"/>
              </a:rPr>
              <a:t>Relative risk</a:t>
            </a:r>
          </a:p>
        </p:txBody>
      </p:sp>
      <p:sp>
        <p:nvSpPr>
          <p:cNvPr id="4198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9BC06C1-59FD-4BFE-849F-211E2922D963}" type="slidenum">
              <a:rPr lang="en-US" altLang="en-US">
                <a:solidFill>
                  <a:schemeClr val="accent1"/>
                </a:solidFill>
              </a:rPr>
              <a:pPr/>
              <a:t>18</a:t>
            </a:fld>
            <a:endParaRPr lang="en-US" altLang="en-US">
              <a:solidFill>
                <a:schemeClr val="accent1"/>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altLang="en-US" dirty="0">
                <a:ea typeface="ＭＳ Ｐゴシック" panose="020B0600070205080204" pitchFamily="34" charset="-128"/>
              </a:rPr>
              <a:t>Two-Sample Problems: Proportions</a:t>
            </a:r>
          </a:p>
        </p:txBody>
      </p:sp>
      <p:sp>
        <p:nvSpPr>
          <p:cNvPr id="430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CE1581A8-C5A1-446B-85F5-D7D28E9B9FA4}" type="slidenum">
              <a:rPr lang="en-US" altLang="en-US" sz="1200">
                <a:solidFill>
                  <a:schemeClr val="accent1"/>
                </a:solidFill>
              </a:rPr>
              <a:pPr>
                <a:lnSpc>
                  <a:spcPct val="80000"/>
                </a:lnSpc>
              </a:pPr>
              <a:t>19</a:t>
            </a:fld>
            <a:endParaRPr lang="en-US" altLang="en-US" sz="1200">
              <a:solidFill>
                <a:schemeClr val="accent1"/>
              </a:solidFill>
            </a:endParaRPr>
          </a:p>
        </p:txBody>
      </p:sp>
      <p:sp>
        <p:nvSpPr>
          <p:cNvPr id="43012" name="Rectangle 1"/>
          <p:cNvSpPr>
            <a:spLocks noChangeArrowheads="1"/>
          </p:cNvSpPr>
          <p:nvPr/>
        </p:nvSpPr>
        <p:spPr bwMode="auto">
          <a:xfrm>
            <a:off x="174625" y="1087438"/>
            <a:ext cx="8605837"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buFont typeface="Wingdings" panose="05000000000000000000" pitchFamily="2" charset="2"/>
              <a:buNone/>
            </a:pPr>
            <a:r>
              <a:rPr lang="en-US" altLang="en-US" sz="2000" b="1" dirty="0"/>
              <a:t>Example: </a:t>
            </a:r>
            <a:r>
              <a:rPr lang="en-US" altLang="en-US" sz="2000" dirty="0"/>
              <a:t>Suppose we want to compare the proportions of individuals who have a certain characteristic in Population 1 and Population 2. Let’</a:t>
            </a:r>
            <a:r>
              <a:rPr lang="en-US" altLang="ja-JP" sz="2000" dirty="0"/>
              <a:t>s call these parameters of interest </a:t>
            </a:r>
            <a:r>
              <a:rPr lang="en-US" altLang="ja-JP" sz="2000" i="1" dirty="0"/>
              <a:t>p</a:t>
            </a:r>
            <a:r>
              <a:rPr lang="en-US" altLang="ja-JP" sz="2000" baseline="-25000" dirty="0"/>
              <a:t>1</a:t>
            </a:r>
            <a:r>
              <a:rPr lang="en-US" altLang="ja-JP" sz="2000" i="1" dirty="0"/>
              <a:t> </a:t>
            </a:r>
            <a:r>
              <a:rPr lang="en-US" altLang="ja-JP" sz="2000" dirty="0"/>
              <a:t>and</a:t>
            </a:r>
            <a:r>
              <a:rPr lang="en-US" altLang="ja-JP" sz="2000" i="1" dirty="0"/>
              <a:t> p</a:t>
            </a:r>
            <a:r>
              <a:rPr lang="en-US" altLang="ja-JP" sz="2000" baseline="-25000" dirty="0"/>
              <a:t>2</a:t>
            </a:r>
            <a:r>
              <a:rPr lang="en-US" altLang="ja-JP" sz="2000" i="1" dirty="0"/>
              <a:t>. </a:t>
            </a:r>
            <a:r>
              <a:rPr lang="en-US" altLang="ja-JP" sz="2000" dirty="0"/>
              <a:t>The ideal strategy is to take a separate random sample from each population and compare the sample proportions with that characteristic</a:t>
            </a:r>
            <a:r>
              <a:rPr lang="en-US" altLang="ja-JP" sz="2000" i="1" dirty="0"/>
              <a:t>.</a:t>
            </a:r>
          </a:p>
          <a:p>
            <a:pPr eaLnBrk="1" hangingPunct="1">
              <a:buFont typeface="Wingdings" panose="05000000000000000000" pitchFamily="2" charset="2"/>
              <a:buNone/>
            </a:pPr>
            <a:endParaRPr lang="en-US" altLang="en-US" sz="2000" dirty="0"/>
          </a:p>
          <a:p>
            <a:pPr algn="just" eaLnBrk="1" hangingPunct="1">
              <a:buFont typeface="Wingdings" panose="05000000000000000000" pitchFamily="2" charset="2"/>
              <a:buNone/>
            </a:pPr>
            <a:r>
              <a:rPr lang="en-US" altLang="en-US" sz="2000" dirty="0"/>
              <a:t>What if we want to compare the effectiveness of Treatment 1 and that of Treatment 2 in a completely randomized experiment? This time, the parameters </a:t>
            </a:r>
            <a:r>
              <a:rPr lang="en-US" altLang="en-US" sz="2000" i="1" dirty="0"/>
              <a:t>p</a:t>
            </a:r>
            <a:r>
              <a:rPr lang="en-US" altLang="en-US" sz="2000" baseline="-25000" dirty="0"/>
              <a:t>1</a:t>
            </a:r>
            <a:r>
              <a:rPr lang="en-US" altLang="en-US" sz="2000" i="1" dirty="0"/>
              <a:t> </a:t>
            </a:r>
            <a:r>
              <a:rPr lang="en-US" altLang="en-US" sz="2000" dirty="0"/>
              <a:t>and</a:t>
            </a:r>
            <a:r>
              <a:rPr lang="en-US" altLang="en-US" sz="2000" i="1" dirty="0"/>
              <a:t> p</a:t>
            </a:r>
            <a:r>
              <a:rPr lang="en-US" altLang="en-US" sz="2000" baseline="-25000" dirty="0"/>
              <a:t>2</a:t>
            </a:r>
            <a:r>
              <a:rPr lang="en-US" altLang="en-US" sz="2000" i="1" baseline="-25000" dirty="0"/>
              <a:t> </a:t>
            </a:r>
            <a:r>
              <a:rPr lang="en-US" altLang="en-US" sz="2000" dirty="0"/>
              <a:t>that we want to compare are the true proportions of successful outcomes for each treatment. We use the proportions of successes in the two treatment groups to make the comparison. Here’</a:t>
            </a:r>
            <a:r>
              <a:rPr lang="en-US" altLang="ja-JP" sz="2000" dirty="0"/>
              <a:t>s a table that summarizes these two situations:</a:t>
            </a:r>
            <a:endParaRPr lang="en-US" altLang="en-US" sz="2000" dirty="0"/>
          </a:p>
        </p:txBody>
      </p:sp>
      <p:pic>
        <p:nvPicPr>
          <p:cNvPr id="16" name="Picture 3" descr="The image shows a table that has 4 columns, labeled column 1 &quot;Population or treatment,&quot; column 2 &quot;Parameter,&quot; column 3 &quot;Statistic,&quot; and column 4 &quot;sample size.&quot;&#10;Row 2:&#10;For treatment 1, the parameter is 'p one,' statistic is 'p one hat,' and sample size is 'n one.' Similarly in row 3, treatment 2 shows the values as parameter 'p two,' statistic 'p hat two' and sample size 'n two.'"/>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9081" y="5194926"/>
            <a:ext cx="8605837" cy="132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anim calcmode="lin" valueType="num">
                                      <p:cBhvr>
                                        <p:cTn id="8" dur="500" fill="hold"/>
                                        <p:tgtEl>
                                          <p:spTgt spid="16"/>
                                        </p:tgtEl>
                                        <p:attrNameLst>
                                          <p:attrName>ppt_x</p:attrName>
                                        </p:attrNameLst>
                                      </p:cBhvr>
                                      <p:tavLst>
                                        <p:tav tm="0">
                                          <p:val>
                                            <p:strVal val="#ppt_x"/>
                                          </p:val>
                                        </p:tav>
                                        <p:tav tm="100000">
                                          <p:val>
                                            <p:strVal val="#ppt_x"/>
                                          </p:val>
                                        </p:tav>
                                      </p:tavLst>
                                    </p:anim>
                                    <p:anim calcmode="lin" valueType="num">
                                      <p:cBhvr>
                                        <p:cTn id="9" dur="450" decel="100000" fill="hold"/>
                                        <p:tgtEl>
                                          <p:spTgt spid="16"/>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Sampling Distribution of a Difference between Proportions</a:t>
            </a:r>
          </a:p>
        </p:txBody>
      </p:sp>
      <p:sp>
        <p:nvSpPr>
          <p:cNvPr id="440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672390DD-5082-434F-A312-C8A7F9481DFD}" type="slidenum">
              <a:rPr lang="en-US" altLang="en-US" sz="1200">
                <a:solidFill>
                  <a:schemeClr val="accent1"/>
                </a:solidFill>
              </a:rPr>
              <a:pPr>
                <a:lnSpc>
                  <a:spcPct val="80000"/>
                </a:lnSpc>
              </a:pPr>
              <a:t>20</a:t>
            </a:fld>
            <a:endParaRPr lang="en-US" altLang="en-US" sz="1200">
              <a:solidFill>
                <a:schemeClr val="accent1"/>
              </a:solidFill>
            </a:endParaRPr>
          </a:p>
        </p:txBody>
      </p:sp>
      <p:sp>
        <p:nvSpPr>
          <p:cNvPr id="26" name="TextBox 25"/>
          <p:cNvSpPr txBox="1">
            <a:spLocks noChangeArrowheads="1"/>
          </p:cNvSpPr>
          <p:nvPr/>
        </p:nvSpPr>
        <p:spPr bwMode="auto">
          <a:xfrm>
            <a:off x="845344" y="2144713"/>
            <a:ext cx="7513637" cy="338137"/>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600" b="1" dirty="0">
                <a:latin typeface="+mn-lt"/>
                <a:ea typeface="ＭＳ Ｐゴシック" charset="-128"/>
                <a:cs typeface="ＭＳ Ｐゴシック" charset="-128"/>
              </a:rPr>
              <a:t>The Sampling Distribution of the Difference Between Proportions</a:t>
            </a:r>
          </a:p>
        </p:txBody>
      </p:sp>
      <p:sp>
        <p:nvSpPr>
          <p:cNvPr id="25" name="TextBox 24"/>
          <p:cNvSpPr txBox="1">
            <a:spLocks noChangeArrowheads="1"/>
          </p:cNvSpPr>
          <p:nvPr/>
        </p:nvSpPr>
        <p:spPr bwMode="auto">
          <a:xfrm>
            <a:off x="681038" y="2482850"/>
            <a:ext cx="7842250" cy="369411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defTabSz="457200">
              <a:defRPr sz="2000">
                <a:solidFill>
                  <a:schemeClr val="tx2"/>
                </a:solidFill>
                <a:latin typeface="Arial" pitchFamily="34" charset="0"/>
                <a:ea typeface="ＭＳ Ｐゴシック" pitchFamily="34" charset="-128"/>
              </a:defRPr>
            </a:lvl1pPr>
            <a:lvl2pPr marL="37931725" indent="-37474525" defTabSz="457200">
              <a:defRPr>
                <a:solidFill>
                  <a:schemeClr val="tx2"/>
                </a:solidFill>
                <a:latin typeface="Arial" pitchFamily="34" charset="0"/>
                <a:ea typeface="ＭＳ Ｐゴシック" pitchFamily="34" charset="-128"/>
              </a:defRPr>
            </a:lvl2pPr>
            <a:lvl3pPr defTabSz="457200">
              <a:defRPr>
                <a:solidFill>
                  <a:schemeClr val="tx2"/>
                </a:solidFill>
                <a:latin typeface="Arial" pitchFamily="34" charset="0"/>
                <a:ea typeface="ＭＳ Ｐゴシック" pitchFamily="34" charset="-128"/>
              </a:defRPr>
            </a:lvl3pPr>
            <a:lvl4pPr defTabSz="457200">
              <a:defRPr>
                <a:solidFill>
                  <a:schemeClr val="tx2"/>
                </a:solidFill>
                <a:latin typeface="Arial" pitchFamily="34" charset="0"/>
                <a:ea typeface="ＭＳ Ｐゴシック" pitchFamily="34" charset="-128"/>
              </a:defRPr>
            </a:lvl4pPr>
            <a:lvl5pPr defTabSz="457200">
              <a:defRPr>
                <a:solidFill>
                  <a:schemeClr val="tx2"/>
                </a:solidFill>
                <a:latin typeface="Arial" pitchFamily="34" charset="0"/>
                <a:ea typeface="ＭＳ Ｐゴシック" pitchFamily="34" charset="-128"/>
              </a:defRPr>
            </a:lvl5pPr>
            <a:lvl6pPr marL="16002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0574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2514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29718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defRPr/>
            </a:pPr>
            <a:r>
              <a:rPr lang="en-US" altLang="en-US" sz="1800" dirty="0">
                <a:solidFill>
                  <a:srgbClr val="000000"/>
                </a:solidFill>
              </a:rPr>
              <a:t>Choose an SRS of size </a:t>
            </a:r>
            <a:r>
              <a:rPr lang="en-US" altLang="en-US" sz="1800" i="1" dirty="0">
                <a:solidFill>
                  <a:srgbClr val="000000"/>
                </a:solidFill>
              </a:rPr>
              <a:t>n</a:t>
            </a:r>
            <a:r>
              <a:rPr lang="en-US" altLang="en-US" sz="1800" i="1" baseline="-25000" dirty="0">
                <a:solidFill>
                  <a:srgbClr val="000000"/>
                </a:solidFill>
              </a:rPr>
              <a:t>1</a:t>
            </a:r>
            <a:r>
              <a:rPr lang="en-US" altLang="en-US" sz="1800" i="1" dirty="0">
                <a:solidFill>
                  <a:srgbClr val="000000"/>
                </a:solidFill>
              </a:rPr>
              <a:t> </a:t>
            </a:r>
            <a:r>
              <a:rPr lang="en-US" altLang="en-US" sz="1800" dirty="0">
                <a:solidFill>
                  <a:srgbClr val="000000"/>
                </a:solidFill>
              </a:rPr>
              <a:t>from Population 1 with proportion of successes</a:t>
            </a:r>
          </a:p>
          <a:p>
            <a:pPr eaLnBrk="1" hangingPunct="1">
              <a:defRPr/>
            </a:pPr>
            <a:r>
              <a:rPr lang="en-US" altLang="en-US" sz="1800" i="1" dirty="0">
                <a:solidFill>
                  <a:srgbClr val="000000"/>
                </a:solidFill>
              </a:rPr>
              <a:t>p</a:t>
            </a:r>
            <a:r>
              <a:rPr lang="en-US" altLang="en-US" sz="1800" i="1" baseline="-25000" dirty="0">
                <a:solidFill>
                  <a:srgbClr val="000000"/>
                </a:solidFill>
              </a:rPr>
              <a:t>1</a:t>
            </a:r>
            <a:r>
              <a:rPr lang="en-US" altLang="en-US" sz="1800" i="1" dirty="0">
                <a:solidFill>
                  <a:srgbClr val="000000"/>
                </a:solidFill>
              </a:rPr>
              <a:t> </a:t>
            </a:r>
            <a:r>
              <a:rPr lang="en-US" altLang="en-US" sz="1800" dirty="0">
                <a:solidFill>
                  <a:srgbClr val="000000"/>
                </a:solidFill>
              </a:rPr>
              <a:t>and an independent SRS of size </a:t>
            </a:r>
            <a:r>
              <a:rPr lang="en-US" altLang="en-US" sz="1800" i="1" dirty="0">
                <a:solidFill>
                  <a:srgbClr val="000000"/>
                </a:solidFill>
              </a:rPr>
              <a:t>n</a:t>
            </a:r>
            <a:r>
              <a:rPr lang="en-US" altLang="en-US" sz="1800" i="1" baseline="-25000" dirty="0">
                <a:solidFill>
                  <a:srgbClr val="000000"/>
                </a:solidFill>
              </a:rPr>
              <a:t>2</a:t>
            </a:r>
            <a:r>
              <a:rPr lang="en-US" altLang="en-US" sz="1800" i="1" dirty="0">
                <a:solidFill>
                  <a:srgbClr val="000000"/>
                </a:solidFill>
              </a:rPr>
              <a:t> </a:t>
            </a:r>
            <a:r>
              <a:rPr lang="en-US" altLang="en-US" sz="1800" dirty="0">
                <a:solidFill>
                  <a:srgbClr val="000000"/>
                </a:solidFill>
              </a:rPr>
              <a:t>from Population 2 with proportion of</a:t>
            </a:r>
          </a:p>
          <a:p>
            <a:pPr eaLnBrk="1" hangingPunct="1">
              <a:defRPr/>
            </a:pPr>
            <a:r>
              <a:rPr lang="en-US" altLang="en-US" sz="1800" dirty="0">
                <a:solidFill>
                  <a:srgbClr val="000000"/>
                </a:solidFill>
              </a:rPr>
              <a:t>successes </a:t>
            </a:r>
            <a:r>
              <a:rPr lang="en-US" altLang="en-US" sz="1800" i="1" dirty="0">
                <a:solidFill>
                  <a:srgbClr val="000000"/>
                </a:solidFill>
              </a:rPr>
              <a:t>p</a:t>
            </a:r>
            <a:r>
              <a:rPr lang="en-US" altLang="en-US" sz="1800" i="1" baseline="-25000" dirty="0">
                <a:solidFill>
                  <a:srgbClr val="000000"/>
                </a:solidFill>
              </a:rPr>
              <a:t>2</a:t>
            </a:r>
            <a:r>
              <a:rPr lang="en-US" altLang="en-US" sz="1800" dirty="0">
                <a:solidFill>
                  <a:srgbClr val="000000"/>
                </a:solidFill>
              </a:rPr>
              <a:t>.</a:t>
            </a:r>
          </a:p>
          <a:p>
            <a:pPr eaLnBrk="1" hangingPunct="1">
              <a:defRPr/>
            </a:pPr>
            <a:endParaRPr lang="en-US" altLang="en-US" sz="1800" dirty="0">
              <a:solidFill>
                <a:srgbClr val="000000"/>
              </a:solidFill>
            </a:endParaRPr>
          </a:p>
          <a:p>
            <a:pPr eaLnBrk="1" hangingPunct="1">
              <a:defRPr/>
            </a:pPr>
            <a:endParaRPr lang="en-US" altLang="en-US" sz="1800" dirty="0">
              <a:solidFill>
                <a:srgbClr val="000000"/>
              </a:solidFill>
            </a:endParaRPr>
          </a:p>
          <a:p>
            <a:pPr eaLnBrk="1" hangingPunct="1">
              <a:defRPr/>
            </a:pPr>
            <a:endParaRPr lang="en-US" altLang="en-US" sz="1800" dirty="0">
              <a:solidFill>
                <a:srgbClr val="000000"/>
              </a:solidFill>
            </a:endParaRPr>
          </a:p>
          <a:p>
            <a:pPr eaLnBrk="1" hangingPunct="1">
              <a:defRPr/>
            </a:pPr>
            <a:endParaRPr lang="en-US" altLang="en-US" sz="1800" dirty="0">
              <a:solidFill>
                <a:srgbClr val="000000"/>
              </a:solidFill>
            </a:endParaRPr>
          </a:p>
          <a:p>
            <a:pPr eaLnBrk="1" hangingPunct="1">
              <a:defRPr/>
            </a:pPr>
            <a:endParaRPr lang="en-US" altLang="en-US" sz="1800" dirty="0">
              <a:solidFill>
                <a:srgbClr val="000000"/>
              </a:solidFill>
            </a:endParaRPr>
          </a:p>
          <a:p>
            <a:pPr eaLnBrk="1" hangingPunct="1">
              <a:defRPr/>
            </a:pPr>
            <a:endParaRPr lang="en-US" altLang="en-US" sz="1800" dirty="0">
              <a:solidFill>
                <a:srgbClr val="000000"/>
              </a:solidFill>
            </a:endParaRPr>
          </a:p>
          <a:p>
            <a:pPr eaLnBrk="1" hangingPunct="1">
              <a:defRPr/>
            </a:pPr>
            <a:endParaRPr lang="en-US" altLang="en-US" sz="1800" dirty="0">
              <a:solidFill>
                <a:srgbClr val="000000"/>
              </a:solidFill>
            </a:endParaRPr>
          </a:p>
          <a:p>
            <a:pPr eaLnBrk="1" hangingPunct="1">
              <a:defRPr/>
            </a:pPr>
            <a:endParaRPr lang="en-US" altLang="en-US" sz="1800" dirty="0">
              <a:solidFill>
                <a:srgbClr val="000000"/>
              </a:solidFill>
            </a:endParaRPr>
          </a:p>
          <a:p>
            <a:pPr eaLnBrk="1" hangingPunct="1">
              <a:defRPr/>
            </a:pPr>
            <a:endParaRPr lang="en-US" altLang="en-US" sz="1800" dirty="0">
              <a:solidFill>
                <a:srgbClr val="000000"/>
              </a:solidFill>
            </a:endParaRPr>
          </a:p>
          <a:p>
            <a:pPr eaLnBrk="1" hangingPunct="1">
              <a:defRPr/>
            </a:pPr>
            <a:endParaRPr lang="en-US" altLang="en-US" sz="1800" dirty="0">
              <a:solidFill>
                <a:srgbClr val="000000"/>
              </a:solidFill>
            </a:endParaRPr>
          </a:p>
        </p:txBody>
      </p:sp>
      <p:graphicFrame>
        <p:nvGraphicFramePr>
          <p:cNvPr id="44040" name="Object 6" descr="The image shows the statement &quot;Shape: When the samples are large, the sampling distribution of 'p one hat' minus 'p two hat' is approximately Normal.&quot;"/>
          <p:cNvGraphicFramePr>
            <a:graphicFrameLocks noChangeAspect="1"/>
          </p:cNvGraphicFramePr>
          <p:nvPr>
            <p:extLst>
              <p:ext uri="{D42A27DB-BD31-4B8C-83A1-F6EECF244321}">
                <p14:modId xmlns:p14="http://schemas.microsoft.com/office/powerpoint/2010/main" val="2350789603"/>
              </p:ext>
            </p:extLst>
          </p:nvPr>
        </p:nvGraphicFramePr>
        <p:xfrm>
          <a:off x="923925" y="3427413"/>
          <a:ext cx="6511925" cy="646112"/>
        </p:xfrm>
        <a:graphic>
          <a:graphicData uri="http://schemas.openxmlformats.org/presentationml/2006/ole">
            <mc:AlternateContent xmlns:mc="http://schemas.openxmlformats.org/markup-compatibility/2006">
              <mc:Choice xmlns:v="urn:schemas-microsoft-com:vml" Requires="v">
                <p:oleObj spid="_x0000_s44464" name="Equation" r:id="rId3" imgW="4457700" imgH="444500" progId="Equation.3">
                  <p:embed/>
                </p:oleObj>
              </mc:Choice>
              <mc:Fallback>
                <p:oleObj name="Equation" r:id="rId3" imgW="4457700" imgH="4445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3925" y="3427413"/>
                        <a:ext cx="6511925" cy="646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4039" name="Object 5" descr="The image shows the statement &quot;Center: The mean of the sampling distribution is p one hat minus p two hat. That is, the difference in sample proportions is an unbiased estimator of the difference in population propotions.&quot; "/>
          <p:cNvGraphicFramePr>
            <a:graphicFrameLocks noChangeAspect="1"/>
          </p:cNvGraphicFramePr>
          <p:nvPr>
            <p:extLst>
              <p:ext uri="{D42A27DB-BD31-4B8C-83A1-F6EECF244321}">
                <p14:modId xmlns:p14="http://schemas.microsoft.com/office/powerpoint/2010/main" val="2990627188"/>
              </p:ext>
            </p:extLst>
          </p:nvPr>
        </p:nvGraphicFramePr>
        <p:xfrm>
          <a:off x="923925" y="4146606"/>
          <a:ext cx="6305862" cy="798512"/>
        </p:xfrm>
        <a:graphic>
          <a:graphicData uri="http://schemas.openxmlformats.org/presentationml/2006/ole">
            <mc:AlternateContent xmlns:mc="http://schemas.openxmlformats.org/markup-compatibility/2006">
              <mc:Choice xmlns:v="urn:schemas-microsoft-com:vml" Requires="v">
                <p:oleObj spid="_x0000_s44465" name="Equation" r:id="rId5" imgW="4318000" imgH="546100" progId="Equation.3">
                  <p:embed/>
                </p:oleObj>
              </mc:Choice>
              <mc:Fallback>
                <p:oleObj name="Equation" r:id="rId5" imgW="4318000" imgH="5461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3925" y="4146606"/>
                        <a:ext cx="6305862" cy="79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4041" name="Object 7" descr="The image shows the statement &quot;Spread: The standard deviation of the sampling distribution of 'p one hat' minus 'p two hat' is whole square root of 'p one' bracket open '1 minus p one' bracket close, divide by 'n one,' plus, 'p two' bracket open '1 minus p two' bracket close, divide by n two."/>
          <p:cNvGraphicFramePr>
            <a:graphicFrameLocks noChangeAspect="1"/>
          </p:cNvGraphicFramePr>
          <p:nvPr>
            <p:extLst>
              <p:ext uri="{D42A27DB-BD31-4B8C-83A1-F6EECF244321}">
                <p14:modId xmlns:p14="http://schemas.microsoft.com/office/powerpoint/2010/main" val="3149204020"/>
              </p:ext>
            </p:extLst>
          </p:nvPr>
        </p:nvGraphicFramePr>
        <p:xfrm>
          <a:off x="944563" y="5076825"/>
          <a:ext cx="6491287" cy="1017588"/>
        </p:xfrm>
        <a:graphic>
          <a:graphicData uri="http://schemas.openxmlformats.org/presentationml/2006/ole">
            <mc:AlternateContent xmlns:mc="http://schemas.openxmlformats.org/markup-compatibility/2006">
              <mc:Choice xmlns:v="urn:schemas-microsoft-com:vml" Requires="v">
                <p:oleObj spid="_x0000_s44466" name="Equation" r:id="rId7" imgW="4445000" imgH="698500" progId="Equation.3">
                  <p:embed/>
                </p:oleObj>
              </mc:Choice>
              <mc:Fallback>
                <p:oleObj name="Equation" r:id="rId7" imgW="4445000" imgH="6985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4563" y="5076825"/>
                        <a:ext cx="6491287" cy="1017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27" name="Picture 26" descr="The image shows a sampling distribution graph depicting 'p one hat' minus 'p two hat' with x axis indicating 'values of p one hat minus p two hat.' The standard deviation is given as: square root of 'p one' bracket open '1 minus p one' bracket close, divide by 'n one,' plus, 'p two' bracket open '1 minus 'p two' bracket close, divide by 'n two.'"/>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43109" y="1542174"/>
            <a:ext cx="8106666" cy="510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1000" fill="hold"/>
                                        <p:tgtEl>
                                          <p:spTgt spid="27"/>
                                        </p:tgtEl>
                                        <p:attrNameLst>
                                          <p:attrName>ppt_w</p:attrName>
                                        </p:attrNameLst>
                                      </p:cBhvr>
                                      <p:tavLst>
                                        <p:tav tm="0">
                                          <p:val>
                                            <p:fltVal val="0"/>
                                          </p:val>
                                        </p:tav>
                                        <p:tav tm="100000">
                                          <p:val>
                                            <p:strVal val="#ppt_w"/>
                                          </p:val>
                                        </p:tav>
                                      </p:tavLst>
                                    </p:anim>
                                    <p:anim calcmode="lin" valueType="num">
                                      <p:cBhvr>
                                        <p:cTn id="8" dur="1000" fill="hold"/>
                                        <p:tgtEl>
                                          <p:spTgt spid="27"/>
                                        </p:tgtEl>
                                        <p:attrNameLst>
                                          <p:attrName>ppt_h</p:attrName>
                                        </p:attrNameLst>
                                      </p:cBhvr>
                                      <p:tavLst>
                                        <p:tav tm="0">
                                          <p:val>
                                            <p:fltVal val="0"/>
                                          </p:val>
                                        </p:tav>
                                        <p:tav tm="100000">
                                          <p:val>
                                            <p:strVal val="#ppt_h"/>
                                          </p:val>
                                        </p:tav>
                                      </p:tavLst>
                                    </p:anim>
                                    <p:anim calcmode="lin" valueType="num">
                                      <p:cBhvr>
                                        <p:cTn id="9" dur="1000" fill="hold"/>
                                        <p:tgtEl>
                                          <p:spTgt spid="2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Large-Sample Confidence Interval for Comparing Proportions</a:t>
            </a:r>
          </a:p>
        </p:txBody>
      </p:sp>
      <p:sp>
        <p:nvSpPr>
          <p:cNvPr id="4505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A560FEDD-CCFE-4AEB-86B7-AE0AD6A00B7E}" type="slidenum">
              <a:rPr lang="en-US" altLang="en-US" sz="1200">
                <a:solidFill>
                  <a:schemeClr val="accent1"/>
                </a:solidFill>
              </a:rPr>
              <a:pPr>
                <a:lnSpc>
                  <a:spcPct val="80000"/>
                </a:lnSpc>
              </a:pPr>
              <a:t>21</a:t>
            </a:fld>
            <a:endParaRPr lang="en-US" altLang="en-US" sz="1200">
              <a:solidFill>
                <a:schemeClr val="accent1"/>
              </a:solidFill>
            </a:endParaRPr>
          </a:p>
        </p:txBody>
      </p:sp>
      <p:graphicFrame>
        <p:nvGraphicFramePr>
          <p:cNvPr id="45060" name="Object 2" descr="The image shows the statement &quot;When data come from two random samples or two groups in a randomized experiment, the statistic 'p one hat' minus 'p two hat' is our best guess for the value of 'p one' minus 'p two.' We can use our familier formula to calculate a confidence interval for 'p one minus p two.'"/>
          <p:cNvGraphicFramePr>
            <a:graphicFrameLocks noChangeAspect="1"/>
          </p:cNvGraphicFramePr>
          <p:nvPr>
            <p:extLst>
              <p:ext uri="{D42A27DB-BD31-4B8C-83A1-F6EECF244321}">
                <p14:modId xmlns:p14="http://schemas.microsoft.com/office/powerpoint/2010/main" val="927264344"/>
              </p:ext>
            </p:extLst>
          </p:nvPr>
        </p:nvGraphicFramePr>
        <p:xfrm>
          <a:off x="332831" y="1452960"/>
          <a:ext cx="8151602" cy="798513"/>
        </p:xfrm>
        <a:graphic>
          <a:graphicData uri="http://schemas.openxmlformats.org/presentationml/2006/ole">
            <mc:AlternateContent xmlns:mc="http://schemas.openxmlformats.org/markup-compatibility/2006">
              <mc:Choice xmlns:v="urn:schemas-microsoft-com:vml" Requires="v">
                <p:oleObj spid="_x0000_s45624" name="Equation" r:id="rId3" imgW="5105400" imgH="546100" progId="Equation.3">
                  <p:embed/>
                </p:oleObj>
              </mc:Choice>
              <mc:Fallback>
                <p:oleObj name="Equation" r:id="rId3" imgW="5105400" imgH="546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831" y="1452960"/>
                        <a:ext cx="8151602" cy="798513"/>
                      </a:xfrm>
                      <a:prstGeom prst="rect">
                        <a:avLst/>
                      </a:prstGeom>
                      <a:solidFill>
                        <a:srgbClr val="FFD780"/>
                      </a:solidFill>
                      <a:ln>
                        <a:noFill/>
                      </a:ln>
                      <a:effectLst/>
                    </p:spPr>
                  </p:pic>
                </p:oleObj>
              </mc:Fallback>
            </mc:AlternateContent>
          </a:graphicData>
        </a:graphic>
      </p:graphicFrame>
      <p:graphicFrame>
        <p:nvGraphicFramePr>
          <p:cNvPr id="45061" name="Object 3" descr="The image shows an equation given as: statistic plus minus critical value  multiply by standard deviation of statistic."/>
          <p:cNvGraphicFramePr>
            <a:graphicFrameLocks noChangeAspect="1"/>
          </p:cNvGraphicFramePr>
          <p:nvPr>
            <p:extLst>
              <p:ext uri="{D42A27DB-BD31-4B8C-83A1-F6EECF244321}">
                <p14:modId xmlns:p14="http://schemas.microsoft.com/office/powerpoint/2010/main" val="3386594684"/>
              </p:ext>
            </p:extLst>
          </p:nvPr>
        </p:nvGraphicFramePr>
        <p:xfrm>
          <a:off x="1603375" y="2474913"/>
          <a:ext cx="5103813" cy="298450"/>
        </p:xfrm>
        <a:graphic>
          <a:graphicData uri="http://schemas.openxmlformats.org/presentationml/2006/ole">
            <mc:AlternateContent xmlns:mc="http://schemas.openxmlformats.org/markup-compatibility/2006">
              <mc:Choice xmlns:v="urn:schemas-microsoft-com:vml" Requires="v">
                <p:oleObj spid="_x0000_s45625" name="Equation" r:id="rId5" imgW="3492360" imgH="203040" progId="Equation.DSMT4">
                  <p:embed/>
                </p:oleObj>
              </mc:Choice>
              <mc:Fallback>
                <p:oleObj name="Equation" r:id="rId5" imgW="3492360" imgH="203040" progId="Equation.DSMT4">
                  <p:embed/>
                  <p:pic>
                    <p:nvPicPr>
                      <p:cNvPr id="0" name="Object 3"/>
                      <p:cNvPicPr>
                        <a:picLocks noChangeAspect="1" noChangeArrowheads="1"/>
                      </p:cNvPicPr>
                      <p:nvPr/>
                    </p:nvPicPr>
                    <p:blipFill>
                      <a:blip r:embed="rId6"/>
                      <a:srcRect/>
                      <a:stretch>
                        <a:fillRect/>
                      </a:stretch>
                    </p:blipFill>
                    <p:spPr bwMode="auto">
                      <a:xfrm>
                        <a:off x="1603375" y="2474913"/>
                        <a:ext cx="5103813"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7" name="Object 4" descr="The image shows the statement &quot;When the independent condition is met, the standard deviation of the statistic 'p one hat' minus 'p two hat' is:&quot; The statement is followed by an expression given as: 'sigma' subscript 'p one hat' minus 'p two hat,' equals to whole square root of 'p one' bracket open '1 minus p one' bracket close, divide by 'n one,' plus, 'p two' bracket open '1 minus p two' bracket close divide by 'n two.'"/>
          <p:cNvGraphicFramePr>
            <a:graphicFrameLocks noChangeAspect="1"/>
          </p:cNvGraphicFramePr>
          <p:nvPr>
            <p:extLst>
              <p:ext uri="{D42A27DB-BD31-4B8C-83A1-F6EECF244321}">
                <p14:modId xmlns:p14="http://schemas.microsoft.com/office/powerpoint/2010/main" val="3643037236"/>
              </p:ext>
            </p:extLst>
          </p:nvPr>
        </p:nvGraphicFramePr>
        <p:xfrm>
          <a:off x="685800" y="2897188"/>
          <a:ext cx="6938963" cy="1376362"/>
        </p:xfrm>
        <a:graphic>
          <a:graphicData uri="http://schemas.openxmlformats.org/presentationml/2006/ole">
            <mc:AlternateContent xmlns:mc="http://schemas.openxmlformats.org/markup-compatibility/2006">
              <mc:Choice xmlns:v="urn:schemas-microsoft-com:vml" Requires="v">
                <p:oleObj spid="_x0000_s45626" name="Equation" r:id="rId7" imgW="4749480" imgH="939600" progId="Equation.DSMT4">
                  <p:embed/>
                </p:oleObj>
              </mc:Choice>
              <mc:Fallback>
                <p:oleObj name="Equation" r:id="rId7" imgW="4749480" imgH="939600" progId="Equation.DSMT4">
                  <p:embed/>
                  <p:pic>
                    <p:nvPicPr>
                      <p:cNvPr id="0" name="Object 4"/>
                      <p:cNvPicPr>
                        <a:picLocks noChangeAspect="1" noChangeArrowheads="1"/>
                      </p:cNvPicPr>
                      <p:nvPr/>
                    </p:nvPicPr>
                    <p:blipFill>
                      <a:blip r:embed="rId8"/>
                      <a:srcRect/>
                      <a:stretch>
                        <a:fillRect/>
                      </a:stretch>
                    </p:blipFill>
                    <p:spPr bwMode="auto">
                      <a:xfrm>
                        <a:off x="685800" y="2897188"/>
                        <a:ext cx="6938963" cy="1376362"/>
                      </a:xfrm>
                      <a:prstGeom prst="rect">
                        <a:avLst/>
                      </a:prstGeom>
                      <a:solidFill>
                        <a:srgbClr val="FFD780"/>
                      </a:solidFill>
                      <a:ln>
                        <a:noFill/>
                      </a:ln>
                      <a:effectLst/>
                    </p:spPr>
                  </p:pic>
                </p:oleObj>
              </mc:Fallback>
            </mc:AlternateContent>
          </a:graphicData>
        </a:graphic>
      </p:graphicFrame>
      <p:graphicFrame>
        <p:nvGraphicFramePr>
          <p:cNvPr id="18" name="Object 5" descr="The image shows the statement &quot;Because we don't know the values of the parameter 'p one' and 'p two,' we replace them in the standard deviation formula with the sample proportions. The result is the standard error of the statistic 'p one hat' minus 'p two hat.' It also mention the equation: Standard error equals to whole square root of 'p one hat' bracket open '1 minus p one hat' bracket close, divide by 'n one,' plus, 'p two hat' bracket open '1 minus p two hat' bracket close, divide by 'n two.'"/>
          <p:cNvGraphicFramePr>
            <a:graphicFrameLocks noChangeAspect="1"/>
          </p:cNvGraphicFramePr>
          <p:nvPr>
            <p:extLst>
              <p:ext uri="{D42A27DB-BD31-4B8C-83A1-F6EECF244321}">
                <p14:modId xmlns:p14="http://schemas.microsoft.com/office/powerpoint/2010/main" val="4261716327"/>
              </p:ext>
            </p:extLst>
          </p:nvPr>
        </p:nvGraphicFramePr>
        <p:xfrm>
          <a:off x="451314" y="4526216"/>
          <a:ext cx="8241371" cy="1947862"/>
        </p:xfrm>
        <a:graphic>
          <a:graphicData uri="http://schemas.openxmlformats.org/presentationml/2006/ole">
            <mc:AlternateContent xmlns:mc="http://schemas.openxmlformats.org/markup-compatibility/2006">
              <mc:Choice xmlns:v="urn:schemas-microsoft-com:vml" Requires="v">
                <p:oleObj spid="_x0000_s45627" name="Equation" r:id="rId9" imgW="4952880" imgH="1168200" progId="Equation.DSMT4">
                  <p:embed/>
                </p:oleObj>
              </mc:Choice>
              <mc:Fallback>
                <p:oleObj name="Equation" r:id="rId9" imgW="4952880" imgH="1168200" progId="Equation.DSMT4">
                  <p:embed/>
                  <p:pic>
                    <p:nvPicPr>
                      <p:cNvPr id="0" name="Object 5"/>
                      <p:cNvPicPr>
                        <a:picLocks noChangeAspect="1" noChangeArrowheads="1"/>
                      </p:cNvPicPr>
                      <p:nvPr/>
                    </p:nvPicPr>
                    <p:blipFill>
                      <a:blip r:embed="rId10"/>
                      <a:srcRect/>
                      <a:stretch>
                        <a:fillRect/>
                      </a:stretch>
                    </p:blipFill>
                    <p:spPr bwMode="auto">
                      <a:xfrm>
                        <a:off x="451314" y="4526216"/>
                        <a:ext cx="8241371" cy="1947862"/>
                      </a:xfrm>
                      <a:prstGeom prst="rect">
                        <a:avLst/>
                      </a:prstGeom>
                      <a:noFill/>
                      <a:ln>
                        <a:noFill/>
                      </a:ln>
                      <a:effectLst/>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174625" y="154305"/>
            <a:ext cx="7772400" cy="1143000"/>
          </a:xfrm>
        </p:spPr>
        <p:txBody>
          <a:bodyPr/>
          <a:lstStyle/>
          <a:p>
            <a:pPr eaLnBrk="1" hangingPunct="1"/>
            <a:r>
              <a:rPr lang="en-US" altLang="en-US" sz="3200" dirty="0">
                <a:ea typeface="ＭＳ Ｐゴシック" panose="020B0600070205080204" pitchFamily="34" charset="-128"/>
              </a:rPr>
              <a:t>Large-Sample Confidence Interval for Comparing Proportions Example 1</a:t>
            </a:r>
          </a:p>
        </p:txBody>
      </p:sp>
      <p:sp>
        <p:nvSpPr>
          <p:cNvPr id="4608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5F72338C-1C73-46B8-B0A2-D30C706FB68C}" type="slidenum">
              <a:rPr lang="en-US" altLang="en-US" sz="1200">
                <a:solidFill>
                  <a:schemeClr val="accent1"/>
                </a:solidFill>
              </a:rPr>
              <a:pPr>
                <a:lnSpc>
                  <a:spcPct val="80000"/>
                </a:lnSpc>
              </a:pPr>
              <a:t>22</a:t>
            </a:fld>
            <a:endParaRPr lang="en-US" altLang="en-US" sz="1200">
              <a:solidFill>
                <a:schemeClr val="accent1"/>
              </a:solidFill>
            </a:endParaRPr>
          </a:p>
        </p:txBody>
      </p:sp>
      <p:sp>
        <p:nvSpPr>
          <p:cNvPr id="46084" name="Rectangle 1"/>
          <p:cNvSpPr>
            <a:spLocks noChangeArrowheads="1"/>
          </p:cNvSpPr>
          <p:nvPr/>
        </p:nvSpPr>
        <p:spPr bwMode="auto">
          <a:xfrm>
            <a:off x="174624" y="1455150"/>
            <a:ext cx="858837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buFont typeface="Wingdings" panose="05000000000000000000" pitchFamily="2" charset="2"/>
              <a:buNone/>
            </a:pPr>
            <a:r>
              <a:rPr lang="en-US" altLang="en-US" b="1" dirty="0">
                <a:solidFill>
                  <a:srgbClr val="000000"/>
                </a:solidFill>
              </a:rPr>
              <a:t>Example: </a:t>
            </a:r>
            <a:r>
              <a:rPr lang="en-US" altLang="en-US" dirty="0">
                <a:solidFill>
                  <a:srgbClr val="000000"/>
                </a:solidFill>
              </a:rPr>
              <a:t>A recent study compared the proportions of young women and men who use Instagram. A total of 537 young women and 532 young men were surveyed. 328 of the women and 234 of the men stated that they use Instagram. For the women, the proportion who use Instagram was 328/537 = 0.6108; for the men, the proportion who use Instagram was 234/532 = 0.4398.</a:t>
            </a:r>
            <a:endParaRPr lang="en-US" altLang="en-US" b="1" dirty="0">
              <a:solidFill>
                <a:srgbClr val="000000"/>
              </a:solidFill>
            </a:endParaRPr>
          </a:p>
        </p:txBody>
      </p:sp>
      <p:sp>
        <p:nvSpPr>
          <p:cNvPr id="13" name="Rectangle 12"/>
          <p:cNvSpPr>
            <a:spLocks noChangeArrowheads="1"/>
          </p:cNvSpPr>
          <p:nvPr/>
        </p:nvSpPr>
        <p:spPr bwMode="auto">
          <a:xfrm>
            <a:off x="141286" y="3167245"/>
            <a:ext cx="862171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dirty="0">
                <a:solidFill>
                  <a:srgbClr val="000000"/>
                </a:solidFill>
              </a:rPr>
              <a:t>O</a:t>
            </a:r>
            <a:r>
              <a:rPr lang="en-US" altLang="en-US" dirty="0"/>
              <a:t>ur parameters of interest are </a:t>
            </a:r>
            <a:r>
              <a:rPr lang="en-US" altLang="en-US" i="1" dirty="0"/>
              <a:t>p</a:t>
            </a:r>
            <a:r>
              <a:rPr lang="en-US" altLang="en-US" baseline="-25000" dirty="0"/>
              <a:t>1</a:t>
            </a:r>
            <a:r>
              <a:rPr lang="en-US" altLang="en-US" i="1" dirty="0"/>
              <a:t> </a:t>
            </a:r>
            <a:r>
              <a:rPr lang="en-US" altLang="en-US" dirty="0"/>
              <a:t>= the proportion of all young women who use Instagram, and </a:t>
            </a:r>
            <a:r>
              <a:rPr lang="en-US" altLang="en-US" i="1" dirty="0"/>
              <a:t>p</a:t>
            </a:r>
            <a:r>
              <a:rPr lang="en-US" altLang="en-US" baseline="-25000" dirty="0"/>
              <a:t>2</a:t>
            </a:r>
            <a:r>
              <a:rPr lang="en-US" altLang="en-US" i="1" dirty="0"/>
              <a:t> </a:t>
            </a:r>
            <a:r>
              <a:rPr lang="en-US" altLang="en-US" dirty="0"/>
              <a:t>= the proportion of all young men who use Instagram. We want to estimate the difference </a:t>
            </a:r>
            <a:r>
              <a:rPr lang="en-US" altLang="en-US" i="1" dirty="0"/>
              <a:t>p</a:t>
            </a:r>
            <a:r>
              <a:rPr lang="en-US" altLang="en-US" baseline="-25000" dirty="0"/>
              <a:t>1</a:t>
            </a:r>
            <a:r>
              <a:rPr lang="en-US" altLang="en-US" i="1" baseline="-25000" dirty="0"/>
              <a:t> </a:t>
            </a:r>
            <a:r>
              <a:rPr lang="en-US" altLang="en-US" i="1" dirty="0"/>
              <a:t>– p</a:t>
            </a:r>
            <a:r>
              <a:rPr lang="en-US" altLang="en-US" baseline="-25000" dirty="0"/>
              <a:t>2</a:t>
            </a:r>
            <a:r>
              <a:rPr lang="en-US" altLang="en-US" i="1" dirty="0"/>
              <a:t> </a:t>
            </a:r>
            <a:r>
              <a:rPr lang="en-US" altLang="en-US" dirty="0"/>
              <a:t>at a 95% confidence level.</a:t>
            </a:r>
          </a:p>
        </p:txBody>
      </p:sp>
      <p:sp>
        <p:nvSpPr>
          <p:cNvPr id="12" name="Rectangle 11"/>
          <p:cNvSpPr>
            <a:spLocks noChangeArrowheads="1"/>
          </p:cNvSpPr>
          <p:nvPr/>
        </p:nvSpPr>
        <p:spPr bwMode="auto">
          <a:xfrm>
            <a:off x="174625" y="4325342"/>
            <a:ext cx="8714542"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t>We should use a large-sample confidence interval for </a:t>
            </a:r>
            <a:r>
              <a:rPr lang="en-US" altLang="en-US" i="1" dirty="0"/>
              <a:t>p</a:t>
            </a:r>
            <a:r>
              <a:rPr lang="en-US" altLang="en-US" baseline="-25000" dirty="0"/>
              <a:t>1</a:t>
            </a:r>
            <a:r>
              <a:rPr lang="en-US" altLang="en-US" i="1" baseline="-25000" dirty="0"/>
              <a:t> </a:t>
            </a:r>
            <a:r>
              <a:rPr lang="en-US" altLang="en-US" i="1" dirty="0"/>
              <a:t>– p</a:t>
            </a:r>
            <a:r>
              <a:rPr lang="en-US" altLang="en-US" baseline="-25000" dirty="0"/>
              <a:t>2</a:t>
            </a:r>
            <a:r>
              <a:rPr lang="en-US" altLang="en-US" i="1" dirty="0"/>
              <a:t> </a:t>
            </a:r>
            <a:r>
              <a:rPr lang="en-US" altLang="en-US" dirty="0"/>
              <a:t>if the conditions are satisfied.</a:t>
            </a:r>
          </a:p>
          <a:p>
            <a:pPr eaLnBrk="1" hangingPunct="1"/>
            <a:endParaRPr lang="en-US" altLang="en-US" dirty="0"/>
          </a:p>
          <a:p>
            <a:pPr eaLnBrk="1" hangingPunct="1">
              <a:buClr>
                <a:srgbClr val="E81F30"/>
              </a:buClr>
              <a:buFont typeface="Wingdings" panose="05000000000000000000" pitchFamily="2" charset="2"/>
              <a:buChar char="ü"/>
            </a:pPr>
            <a:r>
              <a:rPr lang="en-US" altLang="en-US" b="1" dirty="0"/>
              <a:t>Random: </a:t>
            </a:r>
            <a:r>
              <a:rPr lang="en-US" altLang="en-US" dirty="0"/>
              <a:t>The data come from a random sample of 1069 young women and men.</a:t>
            </a:r>
          </a:p>
          <a:p>
            <a:pPr eaLnBrk="1" hangingPunct="1">
              <a:buClr>
                <a:srgbClr val="E81F30"/>
              </a:buClr>
              <a:buFont typeface="Wingdings" panose="05000000000000000000" pitchFamily="2" charset="2"/>
              <a:buChar char="ü"/>
            </a:pPr>
            <a:r>
              <a:rPr lang="en-US" altLang="en-US" b="1" dirty="0"/>
              <a:t>Normal: </a:t>
            </a:r>
            <a:r>
              <a:rPr lang="en-US" altLang="en-US" dirty="0"/>
              <a:t>We check the counts of </a:t>
            </a:r>
            <a:r>
              <a:rPr lang="ja-JP" altLang="en-US" dirty="0"/>
              <a:t>“</a:t>
            </a:r>
            <a:r>
              <a:rPr lang="en-US" altLang="ja-JP" dirty="0"/>
              <a:t>successes</a:t>
            </a:r>
            <a:r>
              <a:rPr lang="ja-JP" altLang="en-US" dirty="0"/>
              <a:t>”</a:t>
            </a:r>
            <a:r>
              <a:rPr lang="en-US" altLang="ja-JP" dirty="0"/>
              <a:t> and </a:t>
            </a:r>
            <a:r>
              <a:rPr lang="ja-JP" altLang="en-US" dirty="0"/>
              <a:t>“</a:t>
            </a:r>
            <a:r>
              <a:rPr lang="en-US" altLang="ja-JP" dirty="0"/>
              <a:t>failures</a:t>
            </a:r>
            <a:r>
              <a:rPr lang="ja-JP" altLang="en-US" dirty="0"/>
              <a:t>”</a:t>
            </a:r>
            <a:r>
              <a:rPr lang="en-US" altLang="ja-JP" dirty="0"/>
              <a:t> and note that the Normal condition is met because they are all greater than 10.</a:t>
            </a:r>
            <a:endParaRPr lang="en-US"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1000"/>
                                        <p:tgtEl>
                                          <p:spTgt spid="1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1000"/>
                                        <p:tgtEl>
                                          <p:spTgt spid="1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fade">
                                      <p:cBhvr>
                                        <p:cTn id="22" dur="10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2" grpId="0" build="p" bldLvl="5"/>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sz="3200" dirty="0">
                <a:ea typeface="ＭＳ Ｐゴシック" panose="020B0600070205080204" pitchFamily="34" charset="-128"/>
              </a:rPr>
              <a:t>Large-Sample Confidence Interval for Comparing Proportions Example 2</a:t>
            </a:r>
            <a:endParaRPr lang="en-US" sz="3200" dirty="0"/>
          </a:p>
        </p:txBody>
      </p:sp>
      <p:sp>
        <p:nvSpPr>
          <p:cNvPr id="4710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94BC1F95-FD01-4F27-86F5-09A6237DBD26}" type="slidenum">
              <a:rPr lang="en-US" altLang="en-US" sz="1200">
                <a:solidFill>
                  <a:schemeClr val="accent1"/>
                </a:solidFill>
              </a:rPr>
              <a:pPr>
                <a:lnSpc>
                  <a:spcPct val="80000"/>
                </a:lnSpc>
              </a:pPr>
              <a:t>23</a:t>
            </a:fld>
            <a:endParaRPr lang="en-US" altLang="en-US" sz="1200">
              <a:solidFill>
                <a:schemeClr val="accent1"/>
              </a:solidFill>
            </a:endParaRPr>
          </a:p>
        </p:txBody>
      </p:sp>
      <p:sp>
        <p:nvSpPr>
          <p:cNvPr id="47107" name="Rectangle 12"/>
          <p:cNvSpPr>
            <a:spLocks noChangeArrowheads="1"/>
          </p:cNvSpPr>
          <p:nvPr/>
        </p:nvSpPr>
        <p:spPr bwMode="auto">
          <a:xfrm>
            <a:off x="174625" y="1573530"/>
            <a:ext cx="75263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solidFill>
                  <a:srgbClr val="000000"/>
                </a:solidFill>
              </a:rPr>
              <a:t>Because the conditions are satisfied, we can construct a two-sample </a:t>
            </a:r>
            <a:r>
              <a:rPr lang="en-US" altLang="en-US" sz="2000" i="1" dirty="0">
                <a:solidFill>
                  <a:srgbClr val="000000"/>
                </a:solidFill>
              </a:rPr>
              <a:t>z</a:t>
            </a:r>
            <a:r>
              <a:rPr lang="en-US" altLang="en-US" sz="2000" dirty="0">
                <a:solidFill>
                  <a:srgbClr val="000000"/>
                </a:solidFill>
              </a:rPr>
              <a:t> interval for the difference </a:t>
            </a:r>
            <a:r>
              <a:rPr lang="en-US" altLang="en-US" sz="2000" i="1" dirty="0">
                <a:solidFill>
                  <a:srgbClr val="000000"/>
                </a:solidFill>
              </a:rPr>
              <a:t>p</a:t>
            </a:r>
            <a:r>
              <a:rPr lang="en-US" altLang="en-US" sz="2000" i="1" baseline="-25000" dirty="0">
                <a:solidFill>
                  <a:srgbClr val="000000"/>
                </a:solidFill>
              </a:rPr>
              <a:t>1</a:t>
            </a:r>
            <a:r>
              <a:rPr lang="en-US" altLang="en-US" sz="2000" i="1" dirty="0">
                <a:solidFill>
                  <a:srgbClr val="000000"/>
                </a:solidFill>
              </a:rPr>
              <a:t> – p</a:t>
            </a:r>
            <a:r>
              <a:rPr lang="en-US" altLang="en-US" sz="2000" i="1" baseline="-25000" dirty="0">
                <a:solidFill>
                  <a:srgbClr val="000000"/>
                </a:solidFill>
              </a:rPr>
              <a:t>2</a:t>
            </a:r>
            <a:r>
              <a:rPr lang="en-US" altLang="en-US" sz="2000" dirty="0">
                <a:solidFill>
                  <a:srgbClr val="000000"/>
                </a:solidFill>
              </a:rPr>
              <a:t>.</a:t>
            </a:r>
            <a:endParaRPr lang="en-US" altLang="en-US" sz="2000" dirty="0"/>
          </a:p>
        </p:txBody>
      </p:sp>
      <p:graphicFrame>
        <p:nvGraphicFramePr>
          <p:cNvPr id="26" name="Object 2" descr="The image shows a mathematical expression given as: Bracket open 'p one hat' minus 'p two hat' bracket close, plus minus, z asterisk multiply by whole square root of 'p one hat' bracket open '1 minus p one hat' bracket close, divide by 'n one,' plus, 'p two hat' bracket open '1 minus p two hat' bracket close, divide by n two. The equation mentions the values as: bracket open '0.611' minus '0.440' bracket close, plus minus, 1.96 multiply by whole square root of '0.611' multiply by '0.389' divide by 537, plus, '0.440' multiply by '0.560' divide by 532.&#10;On simplifying the expression, it gives '0.171' plus minus '0.059,' which is equal to bracket open 0.112 comma 0.230 bracket close."/>
          <p:cNvGraphicFramePr>
            <a:graphicFrameLocks noChangeAspect="1"/>
          </p:cNvGraphicFramePr>
          <p:nvPr>
            <p:extLst>
              <p:ext uri="{D42A27DB-BD31-4B8C-83A1-F6EECF244321}">
                <p14:modId xmlns:p14="http://schemas.microsoft.com/office/powerpoint/2010/main" val="2800599112"/>
              </p:ext>
            </p:extLst>
          </p:nvPr>
        </p:nvGraphicFramePr>
        <p:xfrm>
          <a:off x="364331" y="2459149"/>
          <a:ext cx="8145463" cy="1658938"/>
        </p:xfrm>
        <a:graphic>
          <a:graphicData uri="http://schemas.openxmlformats.org/presentationml/2006/ole">
            <mc:AlternateContent xmlns:mc="http://schemas.openxmlformats.org/markup-compatibility/2006">
              <mc:Choice xmlns:v="urn:schemas-microsoft-com:vml" Requires="v">
                <p:oleObj spid="_x0000_s47250" name="Equation" r:id="rId4" imgW="5575300" imgH="1143000" progId="Equation.3">
                  <p:embed/>
                </p:oleObj>
              </mc:Choice>
              <mc:Fallback>
                <p:oleObj name="Equation" r:id="rId4" imgW="5575300" imgH="11430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331" y="2459149"/>
                        <a:ext cx="8145463" cy="165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5" name="Rectangle 24"/>
          <p:cNvSpPr>
            <a:spLocks noChangeArrowheads="1"/>
          </p:cNvSpPr>
          <p:nvPr/>
        </p:nvSpPr>
        <p:spPr bwMode="auto">
          <a:xfrm>
            <a:off x="342106" y="4464750"/>
            <a:ext cx="8292228" cy="1938992"/>
          </a:xfrm>
          <a:prstGeom prst="rect">
            <a:avLst/>
          </a:prstGeom>
          <a:solidFill>
            <a:srgbClr val="FFFF00"/>
          </a:solidFill>
          <a:ln>
            <a:noFill/>
          </a:ln>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b="1" dirty="0"/>
              <a:t>We are 95% confident that the interval from 0.112 to 0.230 captures the true difference in the proportions of all young women and all young men who use Instagram. </a:t>
            </a:r>
          </a:p>
          <a:p>
            <a:pPr eaLnBrk="1" hangingPunct="1"/>
            <a:endParaRPr lang="en-US" altLang="en-US" sz="2000" dirty="0"/>
          </a:p>
          <a:p>
            <a:pPr algn="just" eaLnBrk="1" hangingPunct="1"/>
            <a:r>
              <a:rPr lang="en-US" altLang="en-US" sz="2000" dirty="0"/>
              <a:t>This interval suggests that, by between 11.2 and 23.0 percentage points, more young women than young men use Instagram.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from="(-#ppt_w/2)" to="(#ppt_x)" calcmode="lin" valueType="num">
                                      <p:cBhvr>
                                        <p:cTn id="7" dur="600" fill="hold">
                                          <p:stCondLst>
                                            <p:cond delay="0"/>
                                          </p:stCondLst>
                                        </p:cTn>
                                        <p:tgtEl>
                                          <p:spTgt spid="26"/>
                                        </p:tgtEl>
                                        <p:attrNameLst>
                                          <p:attrName>ppt_x</p:attrName>
                                        </p:attrNameLst>
                                      </p:cBhvr>
                                    </p:anim>
                                    <p:anim from="0" to="-1.0" calcmode="lin" valueType="num">
                                      <p:cBhvr>
                                        <p:cTn id="8" dur="200" decel="50000" autoRev="1" fill="hold">
                                          <p:stCondLst>
                                            <p:cond delay="600"/>
                                          </p:stCondLst>
                                        </p:cTn>
                                        <p:tgtEl>
                                          <p:spTgt spid="26"/>
                                        </p:tgtEl>
                                        <p:attrNameLst>
                                          <p:attrName>xshear</p:attrName>
                                        </p:attrNameLst>
                                      </p:cBhvr>
                                    </p:anim>
                                    <p:animScale>
                                      <p:cBhvr>
                                        <p:cTn id="9" dur="200" decel="100000" autoRev="1" fill="hold">
                                          <p:stCondLst>
                                            <p:cond delay="600"/>
                                          </p:stCondLst>
                                        </p:cTn>
                                        <p:tgtEl>
                                          <p:spTgt spid="26"/>
                                        </p:tgtEl>
                                      </p:cBhvr>
                                      <p:from x="100000" y="100000"/>
                                      <p:to x="80000" y="100000"/>
                                    </p:animScale>
                                    <p:anim by="(#ppt_h/3+#ppt_w*0.1)" calcmode="lin" valueType="num">
                                      <p:cBhvr additive="sum">
                                        <p:cTn id="10" dur="200" decel="100000" autoRev="1" fill="hold">
                                          <p:stCondLst>
                                            <p:cond delay="600"/>
                                          </p:stCondLst>
                                        </p:cTn>
                                        <p:tgtEl>
                                          <p:spTgt spid="26"/>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The Plus Four Confidence Intervals for a Difference in Proportions</a:t>
            </a:r>
          </a:p>
        </p:txBody>
      </p:sp>
      <p:sp>
        <p:nvSpPr>
          <p:cNvPr id="4813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6D01A730-468E-4536-B7A8-548358DE6EE7}" type="slidenum">
              <a:rPr lang="en-US" altLang="en-US" sz="1200">
                <a:solidFill>
                  <a:schemeClr val="accent1"/>
                </a:solidFill>
              </a:rPr>
              <a:pPr>
                <a:lnSpc>
                  <a:spcPct val="80000"/>
                </a:lnSpc>
              </a:pPr>
              <a:t>24</a:t>
            </a:fld>
            <a:endParaRPr lang="en-US" altLang="en-US" sz="1200">
              <a:solidFill>
                <a:schemeClr val="accent1"/>
              </a:solidFill>
            </a:endParaRPr>
          </a:p>
        </p:txBody>
      </p:sp>
      <p:sp>
        <p:nvSpPr>
          <p:cNvPr id="48132" name="TextBox 1"/>
          <p:cNvSpPr txBox="1">
            <a:spLocks noChangeArrowheads="1"/>
          </p:cNvSpPr>
          <p:nvPr/>
        </p:nvSpPr>
        <p:spPr bwMode="auto">
          <a:xfrm>
            <a:off x="174625" y="1436688"/>
            <a:ext cx="83232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dirty="0"/>
              <a:t>As with the large-sample confidence interval for a single proportion, the large-sample interval for comparing proportions generally has a true confidence level less than the level you asked for. Once again, adding imaginary observations greatly improves the accuracy.</a:t>
            </a:r>
          </a:p>
        </p:txBody>
      </p:sp>
      <p:sp>
        <p:nvSpPr>
          <p:cNvPr id="10" name="TextBox 9"/>
          <p:cNvSpPr txBox="1">
            <a:spLocks noChangeArrowheads="1"/>
          </p:cNvSpPr>
          <p:nvPr/>
        </p:nvSpPr>
        <p:spPr bwMode="auto">
          <a:xfrm>
            <a:off x="1654968" y="2719387"/>
            <a:ext cx="5864225" cy="338138"/>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1600" b="1" dirty="0">
                <a:highlight>
                  <a:srgbClr val="FFFF00"/>
                </a:highlight>
                <a:latin typeface="+mn-lt"/>
                <a:ea typeface="+mn-ea"/>
              </a:rPr>
              <a:t>Plus Four Confidence Interval for Comparing Proportions</a:t>
            </a:r>
          </a:p>
        </p:txBody>
      </p:sp>
      <mc:AlternateContent xmlns:mc="http://schemas.openxmlformats.org/markup-compatibility/2006">
        <mc:Choice xmlns:a14="http://schemas.microsoft.com/office/drawing/2010/main" Requires="a14">
          <p:sp>
            <p:nvSpPr>
              <p:cNvPr id="9" name="TextBox 8"/>
              <p:cNvSpPr txBox="1">
                <a:spLocks noChangeArrowheads="1"/>
              </p:cNvSpPr>
              <p:nvPr/>
            </p:nvSpPr>
            <p:spPr bwMode="auto">
              <a:xfrm>
                <a:off x="665163" y="3057525"/>
                <a:ext cx="8097837" cy="3157467"/>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spcAft>
                    <a:spcPts val="1200"/>
                  </a:spcAft>
                  <a:defRPr/>
                </a:pPr>
                <a:r>
                  <a:rPr lang="en-US" altLang="en-US" sz="1800" dirty="0">
                    <a:solidFill>
                      <a:srgbClr val="000000"/>
                    </a:solidFill>
                  </a:rPr>
                  <a:t>Choose independen</a:t>
                </a:r>
                <a:r>
                  <a:rPr lang="en-US" altLang="en-US" sz="1800" dirty="0" smtClean="0">
                    <a:solidFill>
                      <a:schemeClr val="tx1"/>
                    </a:solidFill>
                  </a:rPr>
                  <a:t>t SRSs from two large populations with proportions </a:t>
                </a:r>
                <a:r>
                  <a:rPr lang="en-US" altLang="en-US" sz="1800" i="1" dirty="0">
                    <a:solidFill>
                      <a:schemeClr val="tx1"/>
                    </a:solidFill>
                  </a:rPr>
                  <a:t>p</a:t>
                </a:r>
                <a:r>
                  <a:rPr lang="en-US" altLang="en-US" sz="1800" baseline="-25000" dirty="0">
                    <a:solidFill>
                      <a:schemeClr val="tx1"/>
                    </a:solidFill>
                  </a:rPr>
                  <a:t>1</a:t>
                </a:r>
                <a:r>
                  <a:rPr lang="en-US" altLang="en-US" sz="1800" i="1" dirty="0">
                    <a:solidFill>
                      <a:schemeClr val="tx1"/>
                    </a:solidFill>
                  </a:rPr>
                  <a:t> p</a:t>
                </a:r>
                <a:r>
                  <a:rPr lang="en-US" altLang="en-US" sz="1800" baseline="-25000" dirty="0">
                    <a:solidFill>
                      <a:schemeClr val="tx1"/>
                    </a:solidFill>
                  </a:rPr>
                  <a:t>2</a:t>
                </a:r>
                <a:r>
                  <a:rPr lang="en-US" altLang="en-US" sz="1800" dirty="0">
                    <a:solidFill>
                      <a:schemeClr val="tx1"/>
                    </a:solidFill>
                  </a:rPr>
                  <a:t> of successes. To obtain the </a:t>
                </a:r>
                <a:r>
                  <a:rPr lang="en-US" altLang="en-US" sz="1800" b="1" dirty="0">
                    <a:solidFill>
                      <a:schemeClr val="tx1"/>
                    </a:solidFill>
                  </a:rPr>
                  <a:t>plus four confidence interval for </a:t>
                </a:r>
                <a:r>
                  <a:rPr lang="en-US" altLang="en-US" sz="1800" b="1" i="1" dirty="0">
                    <a:solidFill>
                      <a:schemeClr val="tx1"/>
                    </a:solidFill>
                  </a:rPr>
                  <a:t>p</a:t>
                </a:r>
                <a:r>
                  <a:rPr lang="en-US" altLang="en-US" sz="1800" b="1" baseline="-25000" dirty="0">
                    <a:solidFill>
                      <a:schemeClr val="tx1"/>
                    </a:solidFill>
                  </a:rPr>
                  <a:t>1</a:t>
                </a:r>
                <a:r>
                  <a:rPr lang="en-US" altLang="en-US" sz="1800" b="1" i="1" baseline="-25000" dirty="0">
                    <a:solidFill>
                      <a:schemeClr val="tx1"/>
                    </a:solidFill>
                  </a:rPr>
                  <a:t> </a:t>
                </a:r>
                <a:r>
                  <a:rPr lang="en-US" altLang="en-US" sz="1800" b="1" i="1" dirty="0">
                    <a:solidFill>
                      <a:schemeClr val="tx1"/>
                    </a:solidFill>
                  </a:rPr>
                  <a:t>– p</a:t>
                </a:r>
                <a:r>
                  <a:rPr lang="en-US" altLang="en-US" sz="1800" b="1" baseline="-25000" dirty="0">
                    <a:solidFill>
                      <a:schemeClr val="tx1"/>
                    </a:solidFill>
                  </a:rPr>
                  <a:t>2</a:t>
                </a:r>
                <a:r>
                  <a:rPr lang="en-US" altLang="en-US" sz="1800" dirty="0">
                    <a:solidFill>
                      <a:schemeClr val="tx1"/>
                    </a:solidFill>
                  </a:rPr>
                  <a:t>, add two imaginary observations, one success and one failure, to each of the two samples. Then use the large-sample confidence interval with the new sample sizes (actual sample sizes</a:t>
                </a:r>
                <a:r>
                  <a:rPr lang="en-US" altLang="en-US" sz="1800" i="1" dirty="0">
                    <a:solidFill>
                      <a:schemeClr val="tx1"/>
                    </a:solidFill>
                  </a:rPr>
                  <a:t> +</a:t>
                </a:r>
                <a:r>
                  <a:rPr lang="en-US" altLang="en-US" sz="1800" dirty="0">
                    <a:solidFill>
                      <a:schemeClr val="tx1"/>
                    </a:solidFill>
                  </a:rPr>
                  <a:t> 2) and number of successes (actual number + 1).</a:t>
                </a:r>
              </a:p>
              <a:p>
                <a:pPr eaLnBrk="1" hangingPunct="1">
                  <a:spcAft>
                    <a:spcPts val="1200"/>
                  </a:spcAft>
                  <a:defRPr/>
                </a:pPr>
                <a14:m>
                  <m:oMathPara xmlns:m="http://schemas.openxmlformats.org/officeDocument/2006/math">
                    <m:oMathParaPr>
                      <m:jc m:val="centerGroup"/>
                    </m:oMathParaPr>
                    <m:oMath xmlns:m="http://schemas.openxmlformats.org/officeDocument/2006/math">
                      <m:r>
                        <m:rPr>
                          <m:nor/>
                        </m:rPr>
                        <a:rPr lang="en-US" altLang="en-US" sz="1800" b="0" i="1" smtClean="0">
                          <a:solidFill>
                            <a:schemeClr val="tx1"/>
                          </a:solidFill>
                          <a:latin typeface="Cambria Math" panose="02040503050406030204" pitchFamily="18" charset="0"/>
                        </a:rPr>
                        <m:t>CI</m:t>
                      </m:r>
                      <m:r>
                        <m:rPr>
                          <m:nor/>
                        </m:rPr>
                        <a:rPr lang="en-US" altLang="en-US" sz="1800" b="0" i="1" smtClean="0">
                          <a:solidFill>
                            <a:schemeClr val="tx1"/>
                          </a:solidFill>
                          <a:latin typeface="Cambria Math" panose="02040503050406030204" pitchFamily="18" charset="0"/>
                        </a:rPr>
                        <m:t>: </m:t>
                      </m:r>
                      <m:d>
                        <m:dPr>
                          <m:ctrlPr>
                            <a:rPr lang="en-US" altLang="en-US" sz="1800" b="0" i="1" smtClean="0">
                              <a:solidFill>
                                <a:schemeClr val="tx1"/>
                              </a:solidFill>
                              <a:latin typeface="Cambria Math" panose="02040503050406030204" pitchFamily="18" charset="0"/>
                            </a:rPr>
                          </m:ctrlPr>
                        </m:dPr>
                        <m:e>
                          <m:sSub>
                            <m:sSubPr>
                              <m:ctrlPr>
                                <a:rPr lang="en-US" altLang="en-US" sz="1800" b="0" i="1" smtClean="0">
                                  <a:solidFill>
                                    <a:schemeClr val="tx1"/>
                                  </a:solidFill>
                                  <a:latin typeface="Cambria Math" panose="02040503050406030204" pitchFamily="18" charset="0"/>
                                </a:rPr>
                              </m:ctrlPr>
                            </m:sSubPr>
                            <m:e>
                              <m:acc>
                                <m:accPr>
                                  <m:chr m:val="̃"/>
                                  <m:ctrlPr>
                                    <a:rPr lang="en-US" altLang="en-US" sz="1800" b="0" i="1" smtClean="0">
                                      <a:solidFill>
                                        <a:schemeClr val="tx1"/>
                                      </a:solidFill>
                                      <a:latin typeface="Cambria Math" panose="02040503050406030204" pitchFamily="18" charset="0"/>
                                    </a:rPr>
                                  </m:ctrlPr>
                                </m:accPr>
                                <m:e>
                                  <m:r>
                                    <a:rPr lang="en-US" altLang="en-US" sz="1800" b="0" i="1" smtClean="0">
                                      <a:solidFill>
                                        <a:schemeClr val="tx1"/>
                                      </a:solidFill>
                                      <a:latin typeface="Cambria Math" panose="02040503050406030204" pitchFamily="18" charset="0"/>
                                    </a:rPr>
                                    <m:t>𝑝</m:t>
                                  </m:r>
                                </m:e>
                              </m:acc>
                            </m:e>
                            <m:sub>
                              <m:r>
                                <a:rPr lang="en-US" altLang="en-US" sz="1800" b="0" i="1" smtClean="0">
                                  <a:solidFill>
                                    <a:schemeClr val="tx1"/>
                                  </a:solidFill>
                                  <a:latin typeface="Cambria Math" panose="02040503050406030204" pitchFamily="18" charset="0"/>
                                </a:rPr>
                                <m:t>1</m:t>
                              </m:r>
                            </m:sub>
                          </m:sSub>
                          <m:r>
                            <a:rPr lang="en-US" altLang="en-US" sz="1800" b="0" i="1" smtClean="0">
                              <a:solidFill>
                                <a:schemeClr val="tx1"/>
                              </a:solidFill>
                              <a:latin typeface="Cambria Math" panose="02040503050406030204" pitchFamily="18" charset="0"/>
                            </a:rPr>
                            <m:t>−</m:t>
                          </m:r>
                          <m:sSub>
                            <m:sSubPr>
                              <m:ctrlPr>
                                <a:rPr lang="en-US" altLang="en-US" sz="1800" b="0" i="1" smtClean="0">
                                  <a:solidFill>
                                    <a:schemeClr val="tx1"/>
                                  </a:solidFill>
                                  <a:latin typeface="Cambria Math" panose="02040503050406030204" pitchFamily="18" charset="0"/>
                                </a:rPr>
                              </m:ctrlPr>
                            </m:sSubPr>
                            <m:e>
                              <m:acc>
                                <m:accPr>
                                  <m:chr m:val="̃"/>
                                  <m:ctrlPr>
                                    <a:rPr lang="en-US" altLang="en-US" sz="1800" b="0" i="1" smtClean="0">
                                      <a:solidFill>
                                        <a:schemeClr val="tx1"/>
                                      </a:solidFill>
                                      <a:latin typeface="Cambria Math" panose="02040503050406030204" pitchFamily="18" charset="0"/>
                                    </a:rPr>
                                  </m:ctrlPr>
                                </m:accPr>
                                <m:e>
                                  <m:r>
                                    <a:rPr lang="en-US" altLang="en-US" sz="1800" b="0" i="1" smtClean="0">
                                      <a:solidFill>
                                        <a:schemeClr val="tx1"/>
                                      </a:solidFill>
                                      <a:latin typeface="Cambria Math" panose="02040503050406030204" pitchFamily="18" charset="0"/>
                                    </a:rPr>
                                    <m:t>𝑝</m:t>
                                  </m:r>
                                </m:e>
                              </m:acc>
                            </m:e>
                            <m:sub>
                              <m:r>
                                <a:rPr lang="en-US" altLang="en-US" sz="1800" b="0" i="1" smtClean="0">
                                  <a:solidFill>
                                    <a:schemeClr val="tx1"/>
                                  </a:solidFill>
                                  <a:latin typeface="Cambria Math" panose="02040503050406030204" pitchFamily="18" charset="0"/>
                                </a:rPr>
                                <m:t>2</m:t>
                              </m:r>
                            </m:sub>
                          </m:sSub>
                        </m:e>
                      </m:d>
                      <m:r>
                        <a:rPr lang="en-US" altLang="en-US" sz="1800" b="0" i="1" smtClean="0">
                          <a:solidFill>
                            <a:schemeClr val="tx1"/>
                          </a:solidFill>
                          <a:latin typeface="Cambria Math" panose="02040503050406030204" pitchFamily="18" charset="0"/>
                          <a:ea typeface="Cambria Math" panose="02040503050406030204" pitchFamily="18" charset="0"/>
                        </a:rPr>
                        <m:t>±</m:t>
                      </m:r>
                      <m:sSup>
                        <m:sSupPr>
                          <m:ctrlPr>
                            <a:rPr lang="en-US" altLang="en-US" sz="1800" b="0" i="1" smtClean="0">
                              <a:solidFill>
                                <a:schemeClr val="tx1"/>
                              </a:solidFill>
                              <a:latin typeface="Cambria Math" panose="02040503050406030204" pitchFamily="18" charset="0"/>
                              <a:ea typeface="Cambria Math" panose="02040503050406030204" pitchFamily="18" charset="0"/>
                            </a:rPr>
                          </m:ctrlPr>
                        </m:sSupPr>
                        <m:e>
                          <m:r>
                            <a:rPr lang="en-US" altLang="en-US" sz="1800" b="0" i="1" smtClean="0">
                              <a:solidFill>
                                <a:schemeClr val="tx1"/>
                              </a:solidFill>
                              <a:latin typeface="Cambria Math" panose="02040503050406030204" pitchFamily="18" charset="0"/>
                              <a:ea typeface="Cambria Math" panose="02040503050406030204" pitchFamily="18" charset="0"/>
                            </a:rPr>
                            <m:t>𝑧</m:t>
                          </m:r>
                        </m:e>
                        <m:sup>
                          <m:r>
                            <a:rPr lang="en-US" altLang="en-US" sz="1800" b="0" i="1" smtClean="0">
                              <a:solidFill>
                                <a:schemeClr val="tx1"/>
                              </a:solidFill>
                              <a:latin typeface="Cambria Math" panose="02040503050406030204" pitchFamily="18" charset="0"/>
                              <a:ea typeface="Cambria Math" panose="02040503050406030204" pitchFamily="18" charset="0"/>
                            </a:rPr>
                            <m:t>∗</m:t>
                          </m:r>
                        </m:sup>
                      </m:sSup>
                      <m:rad>
                        <m:radPr>
                          <m:degHide m:val="on"/>
                          <m:ctrlPr>
                            <a:rPr lang="en-US" altLang="en-US" sz="1800" b="0" i="1" smtClean="0">
                              <a:solidFill>
                                <a:schemeClr val="tx1"/>
                              </a:solidFill>
                              <a:latin typeface="Cambria Math" panose="02040503050406030204" pitchFamily="18" charset="0"/>
                              <a:ea typeface="Cambria Math" panose="02040503050406030204" pitchFamily="18" charset="0"/>
                            </a:rPr>
                          </m:ctrlPr>
                        </m:radPr>
                        <m:deg/>
                        <m:e>
                          <m:f>
                            <m:fPr>
                              <m:ctrlPr>
                                <a:rPr lang="en-US" altLang="en-US" sz="1800" b="0" i="1" smtClean="0">
                                  <a:solidFill>
                                    <a:schemeClr val="tx1"/>
                                  </a:solidFill>
                                  <a:latin typeface="Cambria Math" panose="02040503050406030204" pitchFamily="18" charset="0"/>
                                  <a:ea typeface="Cambria Math" panose="02040503050406030204" pitchFamily="18" charset="0"/>
                                </a:rPr>
                              </m:ctrlPr>
                            </m:fPr>
                            <m:num>
                              <m:sSub>
                                <m:sSubPr>
                                  <m:ctrlPr>
                                    <a:rPr lang="en-US" altLang="en-US" sz="1800" b="0" i="1" smtClean="0">
                                      <a:solidFill>
                                        <a:schemeClr val="tx1"/>
                                      </a:solidFill>
                                      <a:latin typeface="Cambria Math" panose="02040503050406030204" pitchFamily="18" charset="0"/>
                                      <a:ea typeface="Cambria Math" panose="02040503050406030204" pitchFamily="18" charset="0"/>
                                    </a:rPr>
                                  </m:ctrlPr>
                                </m:sSubPr>
                                <m:e>
                                  <m:acc>
                                    <m:accPr>
                                      <m:chr m:val="̃"/>
                                      <m:ctrlPr>
                                        <a:rPr lang="en-US" altLang="en-US" sz="1800" b="0" i="1" smtClean="0">
                                          <a:solidFill>
                                            <a:schemeClr val="tx1"/>
                                          </a:solidFill>
                                          <a:latin typeface="Cambria Math" panose="02040503050406030204" pitchFamily="18" charset="0"/>
                                          <a:ea typeface="Cambria Math" panose="02040503050406030204" pitchFamily="18" charset="0"/>
                                        </a:rPr>
                                      </m:ctrlPr>
                                    </m:accPr>
                                    <m:e>
                                      <m:r>
                                        <a:rPr lang="en-US" altLang="en-US" sz="1800" b="0" i="1" smtClean="0">
                                          <a:solidFill>
                                            <a:schemeClr val="tx1"/>
                                          </a:solidFill>
                                          <a:latin typeface="Cambria Math" panose="02040503050406030204" pitchFamily="18" charset="0"/>
                                          <a:ea typeface="Cambria Math" panose="02040503050406030204" pitchFamily="18" charset="0"/>
                                        </a:rPr>
                                        <m:t>𝑝</m:t>
                                      </m:r>
                                    </m:e>
                                  </m:acc>
                                </m:e>
                                <m:sub>
                                  <m:r>
                                    <a:rPr lang="en-US" altLang="en-US" sz="1800" b="0" i="1" smtClean="0">
                                      <a:solidFill>
                                        <a:schemeClr val="tx1"/>
                                      </a:solidFill>
                                      <a:latin typeface="Cambria Math" panose="02040503050406030204" pitchFamily="18" charset="0"/>
                                      <a:ea typeface="Cambria Math" panose="02040503050406030204" pitchFamily="18" charset="0"/>
                                    </a:rPr>
                                    <m:t>1</m:t>
                                  </m:r>
                                </m:sub>
                              </m:sSub>
                              <m:d>
                                <m:dPr>
                                  <m:ctrlPr>
                                    <a:rPr lang="en-US" altLang="en-US" sz="1800" b="0" i="1" smtClean="0">
                                      <a:solidFill>
                                        <a:schemeClr val="tx1"/>
                                      </a:solidFill>
                                      <a:latin typeface="Cambria Math" panose="02040503050406030204" pitchFamily="18" charset="0"/>
                                      <a:ea typeface="Cambria Math" panose="02040503050406030204" pitchFamily="18" charset="0"/>
                                    </a:rPr>
                                  </m:ctrlPr>
                                </m:dPr>
                                <m:e>
                                  <m:r>
                                    <a:rPr lang="en-US" altLang="en-US" sz="1800" b="0" i="1" smtClean="0">
                                      <a:solidFill>
                                        <a:schemeClr val="tx1"/>
                                      </a:solidFill>
                                      <a:latin typeface="Cambria Math" panose="02040503050406030204" pitchFamily="18" charset="0"/>
                                      <a:ea typeface="Cambria Math" panose="02040503050406030204" pitchFamily="18" charset="0"/>
                                    </a:rPr>
                                    <m:t>1−</m:t>
                                  </m:r>
                                  <m:sSub>
                                    <m:sSubPr>
                                      <m:ctrlPr>
                                        <a:rPr lang="en-US" altLang="en-US" sz="1800" b="0" i="1" smtClean="0">
                                          <a:solidFill>
                                            <a:schemeClr val="tx1"/>
                                          </a:solidFill>
                                          <a:latin typeface="Cambria Math" panose="02040503050406030204" pitchFamily="18" charset="0"/>
                                          <a:ea typeface="Cambria Math" panose="02040503050406030204" pitchFamily="18" charset="0"/>
                                        </a:rPr>
                                      </m:ctrlPr>
                                    </m:sSubPr>
                                    <m:e>
                                      <m:acc>
                                        <m:accPr>
                                          <m:chr m:val="̃"/>
                                          <m:ctrlPr>
                                            <a:rPr lang="en-US" altLang="en-US" sz="1800" b="0" i="1" smtClean="0">
                                              <a:solidFill>
                                                <a:schemeClr val="tx1"/>
                                              </a:solidFill>
                                              <a:latin typeface="Cambria Math" panose="02040503050406030204" pitchFamily="18" charset="0"/>
                                              <a:ea typeface="Cambria Math" panose="02040503050406030204" pitchFamily="18" charset="0"/>
                                            </a:rPr>
                                          </m:ctrlPr>
                                        </m:accPr>
                                        <m:e>
                                          <m:r>
                                            <a:rPr lang="en-US" altLang="en-US" sz="1800" b="0" i="1" smtClean="0">
                                              <a:solidFill>
                                                <a:schemeClr val="tx1"/>
                                              </a:solidFill>
                                              <a:latin typeface="Cambria Math" panose="02040503050406030204" pitchFamily="18" charset="0"/>
                                              <a:ea typeface="Cambria Math" panose="02040503050406030204" pitchFamily="18" charset="0"/>
                                            </a:rPr>
                                            <m:t>𝑝</m:t>
                                          </m:r>
                                        </m:e>
                                      </m:acc>
                                    </m:e>
                                    <m:sub>
                                      <m:r>
                                        <a:rPr lang="en-US" altLang="en-US" sz="1800" b="0" i="1" smtClean="0">
                                          <a:solidFill>
                                            <a:schemeClr val="tx1"/>
                                          </a:solidFill>
                                          <a:latin typeface="Cambria Math" panose="02040503050406030204" pitchFamily="18" charset="0"/>
                                          <a:ea typeface="Cambria Math" panose="02040503050406030204" pitchFamily="18" charset="0"/>
                                        </a:rPr>
                                        <m:t>1</m:t>
                                      </m:r>
                                    </m:sub>
                                  </m:sSub>
                                </m:e>
                              </m:d>
                            </m:num>
                            <m:den>
                              <m:sSub>
                                <m:sSubPr>
                                  <m:ctrlPr>
                                    <a:rPr lang="en-US" altLang="en-US" sz="1800" b="0" i="1" smtClean="0">
                                      <a:solidFill>
                                        <a:schemeClr val="tx1"/>
                                      </a:solidFill>
                                      <a:latin typeface="Cambria Math" panose="02040503050406030204" pitchFamily="18" charset="0"/>
                                      <a:ea typeface="Cambria Math" panose="02040503050406030204" pitchFamily="18" charset="0"/>
                                    </a:rPr>
                                  </m:ctrlPr>
                                </m:sSubPr>
                                <m:e>
                                  <m:r>
                                    <a:rPr lang="en-US" altLang="en-US" sz="1800" b="0" i="1" smtClean="0">
                                      <a:solidFill>
                                        <a:schemeClr val="tx1"/>
                                      </a:solidFill>
                                      <a:latin typeface="Cambria Math" panose="02040503050406030204" pitchFamily="18" charset="0"/>
                                      <a:ea typeface="Cambria Math" panose="02040503050406030204" pitchFamily="18" charset="0"/>
                                    </a:rPr>
                                    <m:t>𝑛</m:t>
                                  </m:r>
                                </m:e>
                                <m:sub>
                                  <m:r>
                                    <a:rPr lang="en-US" altLang="en-US" sz="1800" b="0" i="1" smtClean="0">
                                      <a:solidFill>
                                        <a:schemeClr val="tx1"/>
                                      </a:solidFill>
                                      <a:latin typeface="Cambria Math" panose="02040503050406030204" pitchFamily="18" charset="0"/>
                                      <a:ea typeface="Cambria Math" panose="02040503050406030204" pitchFamily="18" charset="0"/>
                                    </a:rPr>
                                    <m:t>1</m:t>
                                  </m:r>
                                </m:sub>
                              </m:sSub>
                              <m:r>
                                <a:rPr lang="en-US" altLang="en-US" sz="1800" b="0" i="1" smtClean="0">
                                  <a:solidFill>
                                    <a:schemeClr val="tx1"/>
                                  </a:solidFill>
                                  <a:latin typeface="Cambria Math" panose="02040503050406030204" pitchFamily="18" charset="0"/>
                                  <a:ea typeface="Cambria Math" panose="02040503050406030204" pitchFamily="18" charset="0"/>
                                </a:rPr>
                                <m:t>+2</m:t>
                              </m:r>
                            </m:den>
                          </m:f>
                          <m:r>
                            <a:rPr lang="en-US" altLang="en-US" sz="1800" b="0" i="1" smtClean="0">
                              <a:solidFill>
                                <a:schemeClr val="tx1"/>
                              </a:solidFill>
                              <a:latin typeface="Cambria Math" panose="02040503050406030204" pitchFamily="18" charset="0"/>
                              <a:ea typeface="Cambria Math" panose="02040503050406030204" pitchFamily="18" charset="0"/>
                            </a:rPr>
                            <m:t>+</m:t>
                          </m:r>
                          <m:f>
                            <m:fPr>
                              <m:ctrlPr>
                                <a:rPr lang="en-US" altLang="en-US" sz="1800" b="0" i="1" smtClean="0">
                                  <a:solidFill>
                                    <a:schemeClr val="tx1"/>
                                  </a:solidFill>
                                  <a:latin typeface="Cambria Math" panose="02040503050406030204" pitchFamily="18" charset="0"/>
                                  <a:ea typeface="Cambria Math" panose="02040503050406030204" pitchFamily="18" charset="0"/>
                                </a:rPr>
                              </m:ctrlPr>
                            </m:fPr>
                            <m:num>
                              <m:sSub>
                                <m:sSubPr>
                                  <m:ctrlPr>
                                    <a:rPr lang="en-US" altLang="en-US" sz="1800" b="0" i="1" smtClean="0">
                                      <a:solidFill>
                                        <a:schemeClr val="tx1"/>
                                      </a:solidFill>
                                      <a:latin typeface="Cambria Math" panose="02040503050406030204" pitchFamily="18" charset="0"/>
                                      <a:ea typeface="Cambria Math" panose="02040503050406030204" pitchFamily="18" charset="0"/>
                                    </a:rPr>
                                  </m:ctrlPr>
                                </m:sSubPr>
                                <m:e>
                                  <m:acc>
                                    <m:accPr>
                                      <m:chr m:val="̃"/>
                                      <m:ctrlPr>
                                        <a:rPr lang="en-US" altLang="en-US" sz="1800" b="0" i="1" smtClean="0">
                                          <a:solidFill>
                                            <a:schemeClr val="tx1"/>
                                          </a:solidFill>
                                          <a:latin typeface="Cambria Math" panose="02040503050406030204" pitchFamily="18" charset="0"/>
                                          <a:ea typeface="Cambria Math" panose="02040503050406030204" pitchFamily="18" charset="0"/>
                                        </a:rPr>
                                      </m:ctrlPr>
                                    </m:accPr>
                                    <m:e>
                                      <m:r>
                                        <a:rPr lang="en-US" altLang="en-US" sz="1800" b="0" i="1" smtClean="0">
                                          <a:solidFill>
                                            <a:schemeClr val="tx1"/>
                                          </a:solidFill>
                                          <a:latin typeface="Cambria Math" panose="02040503050406030204" pitchFamily="18" charset="0"/>
                                          <a:ea typeface="Cambria Math" panose="02040503050406030204" pitchFamily="18" charset="0"/>
                                        </a:rPr>
                                        <m:t>𝑝</m:t>
                                      </m:r>
                                    </m:e>
                                  </m:acc>
                                </m:e>
                                <m:sub>
                                  <m:r>
                                    <a:rPr lang="en-US" altLang="en-US" sz="1800" b="0" i="1" smtClean="0">
                                      <a:solidFill>
                                        <a:schemeClr val="tx1"/>
                                      </a:solidFill>
                                      <a:latin typeface="Cambria Math" panose="02040503050406030204" pitchFamily="18" charset="0"/>
                                      <a:ea typeface="Cambria Math" panose="02040503050406030204" pitchFamily="18" charset="0"/>
                                    </a:rPr>
                                    <m:t>2</m:t>
                                  </m:r>
                                </m:sub>
                              </m:sSub>
                              <m:d>
                                <m:dPr>
                                  <m:ctrlPr>
                                    <a:rPr lang="en-US" altLang="en-US" sz="1800" b="0" i="1" smtClean="0">
                                      <a:solidFill>
                                        <a:schemeClr val="tx1"/>
                                      </a:solidFill>
                                      <a:latin typeface="Cambria Math" panose="02040503050406030204" pitchFamily="18" charset="0"/>
                                      <a:ea typeface="Cambria Math" panose="02040503050406030204" pitchFamily="18" charset="0"/>
                                    </a:rPr>
                                  </m:ctrlPr>
                                </m:dPr>
                                <m:e>
                                  <m:r>
                                    <a:rPr lang="en-US" altLang="en-US" sz="1800" b="0" i="1" smtClean="0">
                                      <a:solidFill>
                                        <a:schemeClr val="tx1"/>
                                      </a:solidFill>
                                      <a:latin typeface="Cambria Math" panose="02040503050406030204" pitchFamily="18" charset="0"/>
                                      <a:ea typeface="Cambria Math" panose="02040503050406030204" pitchFamily="18" charset="0"/>
                                    </a:rPr>
                                    <m:t>1−</m:t>
                                  </m:r>
                                  <m:sSub>
                                    <m:sSubPr>
                                      <m:ctrlPr>
                                        <a:rPr lang="en-US" altLang="en-US" sz="1800" b="0" i="1" smtClean="0">
                                          <a:solidFill>
                                            <a:schemeClr val="tx1"/>
                                          </a:solidFill>
                                          <a:latin typeface="Cambria Math" panose="02040503050406030204" pitchFamily="18" charset="0"/>
                                          <a:ea typeface="Cambria Math" panose="02040503050406030204" pitchFamily="18" charset="0"/>
                                        </a:rPr>
                                      </m:ctrlPr>
                                    </m:sSubPr>
                                    <m:e>
                                      <m:acc>
                                        <m:accPr>
                                          <m:chr m:val="̃"/>
                                          <m:ctrlPr>
                                            <a:rPr lang="en-US" altLang="en-US" sz="1800" b="0" i="1" smtClean="0">
                                              <a:solidFill>
                                                <a:schemeClr val="tx1"/>
                                              </a:solidFill>
                                              <a:latin typeface="Cambria Math" panose="02040503050406030204" pitchFamily="18" charset="0"/>
                                              <a:ea typeface="Cambria Math" panose="02040503050406030204" pitchFamily="18" charset="0"/>
                                            </a:rPr>
                                          </m:ctrlPr>
                                        </m:accPr>
                                        <m:e>
                                          <m:r>
                                            <a:rPr lang="en-US" altLang="en-US" sz="1800" b="0" i="1" smtClean="0">
                                              <a:solidFill>
                                                <a:schemeClr val="tx1"/>
                                              </a:solidFill>
                                              <a:latin typeface="Cambria Math" panose="02040503050406030204" pitchFamily="18" charset="0"/>
                                              <a:ea typeface="Cambria Math" panose="02040503050406030204" pitchFamily="18" charset="0"/>
                                            </a:rPr>
                                            <m:t>𝑝</m:t>
                                          </m:r>
                                        </m:e>
                                      </m:acc>
                                    </m:e>
                                    <m:sub>
                                      <m:r>
                                        <a:rPr lang="en-US" altLang="en-US" sz="1800" b="0" i="1" smtClean="0">
                                          <a:solidFill>
                                            <a:schemeClr val="tx1"/>
                                          </a:solidFill>
                                          <a:latin typeface="Cambria Math" panose="02040503050406030204" pitchFamily="18" charset="0"/>
                                          <a:ea typeface="Cambria Math" panose="02040503050406030204" pitchFamily="18" charset="0"/>
                                        </a:rPr>
                                        <m:t>2</m:t>
                                      </m:r>
                                    </m:sub>
                                  </m:sSub>
                                </m:e>
                              </m:d>
                            </m:num>
                            <m:den>
                              <m:sSub>
                                <m:sSubPr>
                                  <m:ctrlPr>
                                    <a:rPr lang="en-US" altLang="en-US" sz="1800" b="0" i="1" smtClean="0">
                                      <a:solidFill>
                                        <a:schemeClr val="tx1"/>
                                      </a:solidFill>
                                      <a:latin typeface="Cambria Math" panose="02040503050406030204" pitchFamily="18" charset="0"/>
                                      <a:ea typeface="Cambria Math" panose="02040503050406030204" pitchFamily="18" charset="0"/>
                                    </a:rPr>
                                  </m:ctrlPr>
                                </m:sSubPr>
                                <m:e>
                                  <m:r>
                                    <a:rPr lang="en-US" altLang="en-US" sz="1800" b="0" i="1" smtClean="0">
                                      <a:solidFill>
                                        <a:schemeClr val="tx1"/>
                                      </a:solidFill>
                                      <a:latin typeface="Cambria Math" panose="02040503050406030204" pitchFamily="18" charset="0"/>
                                      <a:ea typeface="Cambria Math" panose="02040503050406030204" pitchFamily="18" charset="0"/>
                                    </a:rPr>
                                    <m:t>𝑛</m:t>
                                  </m:r>
                                </m:e>
                                <m:sub>
                                  <m:r>
                                    <a:rPr lang="en-US" altLang="en-US" sz="1800" b="0" i="1" smtClean="0">
                                      <a:solidFill>
                                        <a:schemeClr val="tx1"/>
                                      </a:solidFill>
                                      <a:latin typeface="Cambria Math" panose="02040503050406030204" pitchFamily="18" charset="0"/>
                                      <a:ea typeface="Cambria Math" panose="02040503050406030204" pitchFamily="18" charset="0"/>
                                    </a:rPr>
                                    <m:t>2</m:t>
                                  </m:r>
                                </m:sub>
                              </m:sSub>
                              <m:r>
                                <a:rPr lang="en-US" altLang="en-US" sz="1800" b="0" i="1" smtClean="0">
                                  <a:solidFill>
                                    <a:schemeClr val="tx1"/>
                                  </a:solidFill>
                                  <a:latin typeface="Cambria Math" panose="02040503050406030204" pitchFamily="18" charset="0"/>
                                  <a:ea typeface="Cambria Math" panose="02040503050406030204" pitchFamily="18" charset="0"/>
                                </a:rPr>
                                <m:t>+2</m:t>
                              </m:r>
                            </m:den>
                          </m:f>
                        </m:e>
                      </m:rad>
                    </m:oMath>
                  </m:oMathPara>
                </a14:m>
                <a:endParaRPr lang="en-US" altLang="en-US" sz="1800" dirty="0">
                  <a:solidFill>
                    <a:srgbClr val="000000"/>
                  </a:solidFill>
                </a:endParaRPr>
              </a:p>
              <a:p>
                <a:pPr eaLnBrk="1" hangingPunct="1">
                  <a:spcAft>
                    <a:spcPts val="1200"/>
                  </a:spcAft>
                  <a:defRPr/>
                </a:pPr>
                <a:r>
                  <a:rPr lang="en-US" altLang="en-US" sz="1800" dirty="0">
                    <a:solidFill>
                      <a:srgbClr val="000000"/>
                    </a:solidFill>
                  </a:rPr>
                  <a:t>Use this interval when the sample size is at least five in each group, with any counts of successes and failures.</a:t>
                </a:r>
              </a:p>
            </p:txBody>
          </p:sp>
        </mc:Choice>
        <mc:Fallback>
          <p:sp>
            <p:nvSpPr>
              <p:cNvPr id="9" name="TextBox 8"/>
              <p:cNvSpPr txBox="1">
                <a:spLocks noRot="1" noChangeAspect="1" noMove="1" noResize="1" noEditPoints="1" noAdjustHandles="1" noChangeArrowheads="1" noChangeShapeType="1" noTextEdit="1"/>
              </p:cNvSpPr>
              <p:nvPr/>
            </p:nvSpPr>
            <p:spPr bwMode="auto">
              <a:xfrm>
                <a:off x="665163" y="3057525"/>
                <a:ext cx="8097837" cy="3157467"/>
              </a:xfrm>
              <a:prstGeom prst="rect">
                <a:avLst/>
              </a:prstGeom>
              <a:blipFill rotWithShape="0">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sz="3200" dirty="0">
                <a:ea typeface="ＭＳ Ｐゴシック" panose="020B0600070205080204" pitchFamily="34" charset="-128"/>
              </a:rPr>
              <a:t>The Plus Four Confidence Intervals for a Difference in Proportions Example</a:t>
            </a:r>
            <a:endParaRPr lang="en-US" sz="3200" dirty="0"/>
          </a:p>
        </p:txBody>
      </p:sp>
      <p:sp>
        <p:nvSpPr>
          <p:cNvPr id="4915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26CA552E-8558-4C4A-A991-2829FB710331}" type="slidenum">
              <a:rPr lang="en-US" altLang="en-US" sz="1200">
                <a:solidFill>
                  <a:schemeClr val="accent1"/>
                </a:solidFill>
              </a:rPr>
              <a:pPr>
                <a:lnSpc>
                  <a:spcPct val="80000"/>
                </a:lnSpc>
              </a:pPr>
              <a:t>25</a:t>
            </a:fld>
            <a:endParaRPr lang="en-US" altLang="en-US" sz="1200">
              <a:solidFill>
                <a:schemeClr val="accent1"/>
              </a:solidFill>
            </a:endParaRPr>
          </a:p>
        </p:txBody>
      </p:sp>
      <p:sp>
        <p:nvSpPr>
          <p:cNvPr id="49156" name="Rectangle 12"/>
          <p:cNvSpPr>
            <a:spLocks noChangeArrowheads="1"/>
          </p:cNvSpPr>
          <p:nvPr/>
        </p:nvSpPr>
        <p:spPr bwMode="auto">
          <a:xfrm>
            <a:off x="390524" y="1406843"/>
            <a:ext cx="837247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b="1" dirty="0">
                <a:solidFill>
                  <a:srgbClr val="000000"/>
                </a:solidFill>
              </a:rPr>
              <a:t>Example: </a:t>
            </a:r>
            <a:r>
              <a:rPr lang="en-US" altLang="en-US" dirty="0">
                <a:solidFill>
                  <a:srgbClr val="000000"/>
                </a:solidFill>
              </a:rPr>
              <a:t>A pilot study included 12 girls and 12 boys from a population for a large experiment. Four of the boys and three of the girls had Tanner scores of 4 or 5 (a high level of sexual maturity).</a:t>
            </a:r>
            <a:endParaRPr lang="en-US" altLang="en-US" dirty="0"/>
          </a:p>
        </p:txBody>
      </p:sp>
      <p:sp>
        <p:nvSpPr>
          <p:cNvPr id="49159" name="TextBox 1"/>
          <p:cNvSpPr txBox="1">
            <a:spLocks noChangeArrowheads="1"/>
          </p:cNvSpPr>
          <p:nvPr/>
        </p:nvSpPr>
        <p:spPr bwMode="auto">
          <a:xfrm>
            <a:off x="390525" y="2530793"/>
            <a:ext cx="4922838"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dirty="0"/>
              <a:t>The numbers of successes and failures in each sample (4, 8, 3, and 9) are not all at least 10, so the large-sample theory does not apply. However, each sample size is at least 5, so the plus four method is appropriate.</a:t>
            </a:r>
          </a:p>
        </p:txBody>
      </p:sp>
      <p:sp>
        <p:nvSpPr>
          <p:cNvPr id="5" name="TextBox 4" descr="The image shows two mathematical expressions, where the first shows 'p one' equals to 'x one' plus 1, divide by 'n one' plus two, which is equal to 0.3571. The second expression shows 'p two' equals to 'x two' plus 1, divide by 'n two' plus 2, which is equal to 0.2857."/>
          <p:cNvSpPr txBox="1"/>
          <p:nvPr/>
        </p:nvSpPr>
        <p:spPr>
          <a:xfrm>
            <a:off x="5418138" y="2530793"/>
            <a:ext cx="2820987" cy="1476375"/>
          </a:xfrm>
          <a:prstGeom prst="rect">
            <a:avLst/>
          </a:prstGeom>
          <a:solidFill>
            <a:schemeClr val="accent1">
              <a:lumMod val="20000"/>
              <a:lumOff val="80000"/>
            </a:schemeClr>
          </a:solidFill>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defRPr/>
            </a:pPr>
            <a:endParaRPr lang="en-US" dirty="0">
              <a:solidFill>
                <a:srgbClr val="B7D3FB"/>
              </a:solidFill>
            </a:endParaRPr>
          </a:p>
          <a:p>
            <a:pPr eaLnBrk="1" hangingPunct="1">
              <a:defRPr/>
            </a:pPr>
            <a:r>
              <a:rPr lang="en-US" dirty="0">
                <a:solidFill>
                  <a:srgbClr val="B7D3FB"/>
                </a:solidFill>
              </a:rPr>
              <a:t>			</a:t>
            </a:r>
          </a:p>
          <a:p>
            <a:pPr eaLnBrk="1" hangingPunct="1">
              <a:defRPr/>
            </a:pPr>
            <a:endParaRPr lang="en-US" dirty="0">
              <a:solidFill>
                <a:srgbClr val="B7D3FB"/>
              </a:solidFill>
            </a:endParaRPr>
          </a:p>
          <a:p>
            <a:pPr eaLnBrk="1" hangingPunct="1">
              <a:defRPr/>
            </a:pPr>
            <a:endParaRPr lang="en-US" dirty="0">
              <a:solidFill>
                <a:srgbClr val="B7D3FB"/>
              </a:solidFill>
            </a:endParaRPr>
          </a:p>
          <a:p>
            <a:pPr eaLnBrk="1" hangingPunct="1">
              <a:defRPr/>
            </a:pPr>
            <a:endParaRPr lang="en-US" dirty="0">
              <a:solidFill>
                <a:srgbClr val="B7D3FB"/>
              </a:solidFill>
            </a:endParaRPr>
          </a:p>
        </p:txBody>
      </p:sp>
      <p:graphicFrame>
        <p:nvGraphicFramePr>
          <p:cNvPr id="3" name="Object 2" descr="The image shows a mathematical expression, which depicts 'p one' equals to 'x one' plus 1, divide by 'n one' plus two, which is equal to 0.3571. "/>
          <p:cNvGraphicFramePr>
            <a:graphicFrameLocks noChangeAspect="1"/>
          </p:cNvGraphicFramePr>
          <p:nvPr>
            <p:extLst>
              <p:ext uri="{D42A27DB-BD31-4B8C-83A1-F6EECF244321}">
                <p14:modId xmlns:p14="http://schemas.microsoft.com/office/powerpoint/2010/main" val="2019655028"/>
              </p:ext>
            </p:extLst>
          </p:nvPr>
        </p:nvGraphicFramePr>
        <p:xfrm>
          <a:off x="5697537" y="2532175"/>
          <a:ext cx="2262188" cy="760413"/>
        </p:xfrm>
        <a:graphic>
          <a:graphicData uri="http://schemas.openxmlformats.org/presentationml/2006/ole">
            <mc:AlternateContent xmlns:mc="http://schemas.openxmlformats.org/markup-compatibility/2006">
              <mc:Choice xmlns:v="urn:schemas-microsoft-com:vml" Requires="v">
                <p:oleObj spid="_x0000_s49581" name="Equation" r:id="rId4" imgW="1282680" imgH="431640" progId="Equation.3">
                  <p:embed/>
                </p:oleObj>
              </mc:Choice>
              <mc:Fallback>
                <p:oleObj name="Equation" r:id="rId4" imgW="1282680" imgH="431640" progId="Equation.3">
                  <p:embed/>
                  <p:pic>
                    <p:nvPicPr>
                      <p:cNvPr id="0" name="Object 2"/>
                      <p:cNvPicPr>
                        <a:picLocks noChangeAspect="1" noChangeArrowheads="1"/>
                      </p:cNvPicPr>
                      <p:nvPr/>
                    </p:nvPicPr>
                    <p:blipFill>
                      <a:blip r:embed="rId5"/>
                      <a:srcRect/>
                      <a:stretch>
                        <a:fillRect/>
                      </a:stretch>
                    </p:blipFill>
                    <p:spPr bwMode="auto">
                      <a:xfrm>
                        <a:off x="5697537" y="2532175"/>
                        <a:ext cx="2262188"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descr="The mathematical expression shows 'p two' equals to 'x two' plus 1, divide by 'n two' plus 2, which is equal to 0.2857."/>
          <p:cNvGraphicFramePr>
            <a:graphicFrameLocks noChangeAspect="1"/>
          </p:cNvGraphicFramePr>
          <p:nvPr>
            <p:extLst>
              <p:ext uri="{D42A27DB-BD31-4B8C-83A1-F6EECF244321}">
                <p14:modId xmlns:p14="http://schemas.microsoft.com/office/powerpoint/2010/main" val="1970826839"/>
              </p:ext>
            </p:extLst>
          </p:nvPr>
        </p:nvGraphicFramePr>
        <p:xfrm>
          <a:off x="5724525" y="3268980"/>
          <a:ext cx="2208212" cy="720725"/>
        </p:xfrm>
        <a:graphic>
          <a:graphicData uri="http://schemas.openxmlformats.org/presentationml/2006/ole">
            <mc:AlternateContent xmlns:mc="http://schemas.openxmlformats.org/markup-compatibility/2006">
              <mc:Choice xmlns:v="urn:schemas-microsoft-com:vml" Requires="v">
                <p:oleObj spid="_x0000_s49582" name="Equation" r:id="rId6" imgW="1320480" imgH="431640" progId="Equation.3">
                  <p:embed/>
                </p:oleObj>
              </mc:Choice>
              <mc:Fallback>
                <p:oleObj name="Equation" r:id="rId6" imgW="1320480" imgH="431640" progId="Equation.3">
                  <p:embed/>
                  <p:pic>
                    <p:nvPicPr>
                      <p:cNvPr id="0" name="Object 8"/>
                      <p:cNvPicPr>
                        <a:picLocks noChangeAspect="1" noChangeArrowheads="1"/>
                      </p:cNvPicPr>
                      <p:nvPr/>
                    </p:nvPicPr>
                    <p:blipFill>
                      <a:blip r:embed="rId7"/>
                      <a:srcRect/>
                      <a:stretch>
                        <a:fillRect/>
                      </a:stretch>
                    </p:blipFill>
                    <p:spPr bwMode="auto">
                      <a:xfrm>
                        <a:off x="5724525" y="3268980"/>
                        <a:ext cx="220821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2" descr="The image shows a mathematical expression given as: Bracket open 'p one hat' minus 'p two hat' bracket close, plus minus, 'z asterisk' multiplied by whole square root of 'p one hat' bracket open '1 minus p one hat' bracket close, divide by 'n one,' plus, 'p two hat' bracket open '1 minus p two hat' bracket close, divide by 'n two.' The equation depicts the values as: bracket open '0.357' minus '0.286' bracket close, plus minus, '1.96' multiplied by whole square root of '0.357' multiply '0.643' divide by '14,' plus '0.286' multiply '0.714' divide by '14.'&#10;On simplifying the expression, it gives '0.071' plus minus '0.345,' which is equal to bracket open minus 0.274 comma 0.416 bracket close."/>
          <p:cNvGraphicFramePr>
            <a:graphicFrameLocks noChangeAspect="1"/>
          </p:cNvGraphicFramePr>
          <p:nvPr>
            <p:extLst>
              <p:ext uri="{D42A27DB-BD31-4B8C-83A1-F6EECF244321}">
                <p14:modId xmlns:p14="http://schemas.microsoft.com/office/powerpoint/2010/main" val="2296138139"/>
              </p:ext>
            </p:extLst>
          </p:nvPr>
        </p:nvGraphicFramePr>
        <p:xfrm>
          <a:off x="390525" y="4107478"/>
          <a:ext cx="8164512" cy="1014413"/>
        </p:xfrm>
        <a:graphic>
          <a:graphicData uri="http://schemas.openxmlformats.org/presentationml/2006/ole">
            <mc:AlternateContent xmlns:mc="http://schemas.openxmlformats.org/markup-compatibility/2006">
              <mc:Choice xmlns:v="urn:schemas-microsoft-com:vml" Requires="v">
                <p:oleObj spid="_x0000_s49583" name="Equation" r:id="rId8" imgW="5588000" imgH="698500" progId="Equation.3">
                  <p:embed/>
                </p:oleObj>
              </mc:Choice>
              <mc:Fallback>
                <p:oleObj name="Equation" r:id="rId8" imgW="5588000" imgH="698500"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0525" y="4107478"/>
                        <a:ext cx="8164512" cy="1014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5" name="Rectangle 24"/>
          <p:cNvSpPr>
            <a:spLocks noChangeArrowheads="1"/>
          </p:cNvSpPr>
          <p:nvPr/>
        </p:nvSpPr>
        <p:spPr bwMode="auto">
          <a:xfrm>
            <a:off x="488949" y="5124288"/>
            <a:ext cx="8274049" cy="1754326"/>
          </a:xfrm>
          <a:prstGeom prst="rect">
            <a:avLst/>
          </a:prstGeom>
          <a:solidFill>
            <a:srgbClr val="FFFF00"/>
          </a:solidFill>
          <a:ln>
            <a:noFill/>
          </a:ln>
        </p:spPr>
        <p:txBody>
          <a:bodyPr wrap="square">
            <a:spAutoFit/>
          </a:bodyPr>
          <a:lstStyle/>
          <a:p>
            <a:pPr algn="just" eaLnBrk="1" hangingPunct="1">
              <a:defRPr/>
            </a:pPr>
            <a:r>
              <a:rPr lang="en-US" dirty="0">
                <a:latin typeface="Arial" charset="0"/>
                <a:ea typeface="ＭＳ Ｐゴシック" charset="0"/>
                <a:cs typeface="ＭＳ Ｐゴシック" charset="0"/>
              </a:rPr>
              <a:t>We are 95% confident that the interval from –0.274 to 0.416 captures the true difference in the proportions of girls and boys who have a high level of sexual maturity. </a:t>
            </a:r>
          </a:p>
          <a:p>
            <a:pPr eaLnBrk="1" hangingPunct="1">
              <a:defRPr/>
            </a:pPr>
            <a:endParaRPr lang="en-US" dirty="0">
              <a:latin typeface="Arial" charset="0"/>
              <a:ea typeface="ＭＳ Ｐゴシック" charset="0"/>
              <a:cs typeface="ＭＳ Ｐゴシック" charset="0"/>
            </a:endParaRPr>
          </a:p>
          <a:p>
            <a:pPr eaLnBrk="1" hangingPunct="1">
              <a:defRPr/>
            </a:pPr>
            <a:r>
              <a:rPr lang="en-US" dirty="0">
                <a:latin typeface="Arial" charset="0"/>
                <a:ea typeface="ＭＳ Ｐゴシック" charset="0"/>
                <a:cs typeface="ＭＳ Ｐゴシック" charset="0"/>
              </a:rPr>
              <a:t>This interval suggests that either boys </a:t>
            </a:r>
            <a:r>
              <a:rPr lang="en-US" i="1" dirty="0">
                <a:latin typeface="Arial" charset="0"/>
                <a:ea typeface="ＭＳ Ｐゴシック" charset="0"/>
                <a:cs typeface="ＭＳ Ｐゴシック" charset="0"/>
              </a:rPr>
              <a:t>or</a:t>
            </a:r>
            <a:r>
              <a:rPr lang="en-US" dirty="0">
                <a:latin typeface="Arial" charset="0"/>
                <a:ea typeface="ＭＳ Ｐゴシック" charset="0"/>
                <a:cs typeface="ＭＳ Ｐゴシック" charset="0"/>
              </a:rPr>
              <a:t> girls could be more sexually mature in this population and that the difference could be quite large.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 from="(-#ppt_w/2)" to="(#ppt_x)" calcmode="lin" valueType="num">
                                      <p:cBhvr>
                                        <p:cTn id="15" dur="600" fill="hold">
                                          <p:stCondLst>
                                            <p:cond delay="0"/>
                                          </p:stCondLst>
                                        </p:cTn>
                                        <p:tgtEl>
                                          <p:spTgt spid="11"/>
                                        </p:tgtEl>
                                        <p:attrNameLst>
                                          <p:attrName>ppt_x</p:attrName>
                                        </p:attrNameLst>
                                      </p:cBhvr>
                                    </p:anim>
                                    <p:anim from="0" to="-1.0" calcmode="lin" valueType="num">
                                      <p:cBhvr>
                                        <p:cTn id="16" dur="200" decel="50000" autoRev="1" fill="hold">
                                          <p:stCondLst>
                                            <p:cond delay="600"/>
                                          </p:stCondLst>
                                        </p:cTn>
                                        <p:tgtEl>
                                          <p:spTgt spid="11"/>
                                        </p:tgtEl>
                                        <p:attrNameLst>
                                          <p:attrName>xshear</p:attrName>
                                        </p:attrNameLst>
                                      </p:cBhvr>
                                    </p:anim>
                                    <p:animScale>
                                      <p:cBhvr>
                                        <p:cTn id="17" dur="200" decel="100000" autoRev="1" fill="hold">
                                          <p:stCondLst>
                                            <p:cond delay="600"/>
                                          </p:stCondLst>
                                        </p:cTn>
                                        <p:tgtEl>
                                          <p:spTgt spid="11"/>
                                        </p:tgtEl>
                                      </p:cBhvr>
                                      <p:from x="100000" y="100000"/>
                                      <p:to x="80000" y="100000"/>
                                    </p:animScale>
                                    <p:anim by="(#ppt_h/3+#ppt_w*0.1)" calcmode="lin" valueType="num">
                                      <p:cBhvr additive="sum">
                                        <p:cTn id="18" dur="200" decel="100000" autoRev="1" fill="hold">
                                          <p:stCondLst>
                                            <p:cond delay="600"/>
                                          </p:stCondLst>
                                        </p:cTn>
                                        <p:tgtEl>
                                          <p:spTgt spid="11"/>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5"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Significance Test for Comparing Proportions 1</a:t>
            </a:r>
          </a:p>
        </p:txBody>
      </p:sp>
      <p:sp>
        <p:nvSpPr>
          <p:cNvPr id="5017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5F90C96E-33E6-4E5C-9E7C-7BB80191D6F7}" type="slidenum">
              <a:rPr lang="en-US" altLang="en-US" sz="1200">
                <a:solidFill>
                  <a:schemeClr val="accent1"/>
                </a:solidFill>
              </a:rPr>
              <a:pPr>
                <a:lnSpc>
                  <a:spcPct val="80000"/>
                </a:lnSpc>
              </a:pPr>
              <a:t>26</a:t>
            </a:fld>
            <a:endParaRPr lang="en-US" altLang="en-US" sz="1200">
              <a:solidFill>
                <a:schemeClr val="accent1"/>
              </a:solidFill>
            </a:endParaRPr>
          </a:p>
        </p:txBody>
      </p:sp>
      <p:sp>
        <p:nvSpPr>
          <p:cNvPr id="50180" name="Rectangle 8"/>
          <p:cNvSpPr>
            <a:spLocks noChangeArrowheads="1"/>
          </p:cNvSpPr>
          <p:nvPr/>
        </p:nvSpPr>
        <p:spPr bwMode="auto">
          <a:xfrm>
            <a:off x="174624" y="1275941"/>
            <a:ext cx="8588375" cy="1322387"/>
          </a:xfrm>
          <a:prstGeom prst="rect">
            <a:avLst/>
          </a:prstGeom>
          <a:solidFill>
            <a:srgbClr val="FFD780"/>
          </a:solidFill>
          <a:ln>
            <a:noFill/>
          </a:ln>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sz="2000" dirty="0"/>
              <a:t>An observed difference between two sample proportions can reflect an actual difference in the parameters, or it may just be due to chance variation in random sampling or random assignment. Significance tests help us decide which explanation makes more sense.</a:t>
            </a:r>
          </a:p>
        </p:txBody>
      </p:sp>
      <p:graphicFrame>
        <p:nvGraphicFramePr>
          <p:cNvPr id="50181" name="Object 2" descr="The image shows a statement &quot;To do a test, standardize 'p one hat' minus 'p two hat' to get a 'z statistic:' where test statistic equals to statistic minus parameter divide by standard deviation of statistic. It also mentions an expression 'z' equals to bracket open 'p one hat' minus 'p two hat' bracket close, minus 0, divided by standard deviation of statistic."/>
          <p:cNvGraphicFramePr>
            <a:graphicFrameLocks noChangeAspect="1"/>
          </p:cNvGraphicFramePr>
          <p:nvPr>
            <p:extLst>
              <p:ext uri="{D42A27DB-BD31-4B8C-83A1-F6EECF244321}">
                <p14:modId xmlns:p14="http://schemas.microsoft.com/office/powerpoint/2010/main" val="2466676021"/>
              </p:ext>
            </p:extLst>
          </p:nvPr>
        </p:nvGraphicFramePr>
        <p:xfrm>
          <a:off x="1249362" y="2649349"/>
          <a:ext cx="5622925" cy="1860550"/>
        </p:xfrm>
        <a:graphic>
          <a:graphicData uri="http://schemas.openxmlformats.org/presentationml/2006/ole">
            <mc:AlternateContent xmlns:mc="http://schemas.openxmlformats.org/markup-compatibility/2006">
              <mc:Choice xmlns:v="urn:schemas-microsoft-com:vml" Requires="v">
                <p:oleObj spid="_x0000_s50462" name="Equation" r:id="rId3" imgW="3848100" imgH="1270000" progId="Equation.3">
                  <p:embed/>
                </p:oleObj>
              </mc:Choice>
              <mc:Fallback>
                <p:oleObj name="Equation" r:id="rId3" imgW="3848100" imgH="1270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9362" y="2649349"/>
                        <a:ext cx="5622925" cy="186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 name="Rectangle 11"/>
          <p:cNvSpPr>
            <a:spLocks noChangeArrowheads="1"/>
          </p:cNvSpPr>
          <p:nvPr/>
        </p:nvSpPr>
        <p:spPr bwMode="auto">
          <a:xfrm>
            <a:off x="277019" y="4588647"/>
            <a:ext cx="8589962" cy="1323975"/>
          </a:xfrm>
          <a:prstGeom prst="rect">
            <a:avLst/>
          </a:prstGeom>
          <a:solidFill>
            <a:srgbClr val="FFD780"/>
          </a:solidFill>
          <a:ln>
            <a:noFill/>
          </a:ln>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sz="2000" dirty="0"/>
              <a:t>If </a:t>
            </a:r>
            <a:r>
              <a:rPr lang="en-US" altLang="en-US" sz="2000" i="1" dirty="0"/>
              <a:t>H</a:t>
            </a:r>
            <a:r>
              <a:rPr lang="en-US" altLang="en-US" sz="2000" baseline="-25000" dirty="0"/>
              <a:t>0</a:t>
            </a:r>
            <a:r>
              <a:rPr lang="en-US" altLang="en-US" sz="2000" dirty="0"/>
              <a:t>:</a:t>
            </a:r>
            <a:r>
              <a:rPr lang="en-US" altLang="en-US" sz="2000" i="1" dirty="0"/>
              <a:t> p</a:t>
            </a:r>
            <a:r>
              <a:rPr lang="en-US" altLang="en-US" sz="2000" baseline="-25000" dirty="0"/>
              <a:t>1</a:t>
            </a:r>
            <a:r>
              <a:rPr lang="en-US" altLang="en-US" sz="2000" i="1" dirty="0"/>
              <a:t> = p</a:t>
            </a:r>
            <a:r>
              <a:rPr lang="en-US" altLang="en-US" sz="2000" baseline="-25000" dirty="0"/>
              <a:t>2</a:t>
            </a:r>
            <a:r>
              <a:rPr lang="en-US" altLang="en-US" sz="2000" i="1" dirty="0"/>
              <a:t> </a:t>
            </a:r>
            <a:r>
              <a:rPr lang="en-US" altLang="en-US" sz="2000" dirty="0"/>
              <a:t>is true, the two parameters are the same. We call their common value </a:t>
            </a:r>
            <a:r>
              <a:rPr lang="en-US" altLang="en-US" sz="2000" i="1" dirty="0"/>
              <a:t>p</a:t>
            </a:r>
            <a:r>
              <a:rPr lang="en-US" altLang="en-US" sz="2000" dirty="0"/>
              <a:t>. But now we need a way to estimate</a:t>
            </a:r>
            <a:r>
              <a:rPr lang="en-US" altLang="en-US" sz="2000" i="1" dirty="0"/>
              <a:t> p, </a:t>
            </a:r>
            <a:r>
              <a:rPr lang="en-US" altLang="en-US" sz="2000" dirty="0"/>
              <a:t>so it makes sense to combine the data from the two samples. This </a:t>
            </a:r>
            <a:r>
              <a:rPr lang="en-US" altLang="en-US" sz="2000" b="1" dirty="0"/>
              <a:t>pooled </a:t>
            </a:r>
            <a:r>
              <a:rPr lang="en-US" altLang="en-US" sz="2000" dirty="0"/>
              <a:t>(or </a:t>
            </a:r>
            <a:r>
              <a:rPr lang="en-US" altLang="en-US" sz="2000" b="1" dirty="0"/>
              <a:t>combined</a:t>
            </a:r>
            <a:r>
              <a:rPr lang="en-US" altLang="en-US" sz="2000" dirty="0"/>
              <a:t>)</a:t>
            </a:r>
            <a:r>
              <a:rPr lang="en-US" altLang="en-US" sz="2000" b="1" dirty="0"/>
              <a:t> sample proportion </a:t>
            </a:r>
            <a:r>
              <a:rPr lang="en-US" altLang="en-US" sz="2000" dirty="0"/>
              <a:t>is</a:t>
            </a:r>
          </a:p>
        </p:txBody>
      </p:sp>
      <p:grpSp>
        <p:nvGrpSpPr>
          <p:cNvPr id="2" name="Group 11" descr="The image shows a mathematical expression as 'p hat' equal to 'count of successes in both samples combined, divide by count of individuals in both samples combined."/>
          <p:cNvGrpSpPr>
            <a:grpSpLocks/>
          </p:cNvGrpSpPr>
          <p:nvPr/>
        </p:nvGrpSpPr>
        <p:grpSpPr bwMode="auto">
          <a:xfrm>
            <a:off x="1358105" y="5991370"/>
            <a:ext cx="6219825" cy="787400"/>
            <a:chOff x="1410653" y="4251008"/>
            <a:chExt cx="6219825" cy="788352"/>
          </a:xfrm>
        </p:grpSpPr>
        <p:sp>
          <p:nvSpPr>
            <p:cNvPr id="14" name="Rectangle 13"/>
            <p:cNvSpPr>
              <a:spLocks noChangeArrowheads="1"/>
            </p:cNvSpPr>
            <p:nvPr/>
          </p:nvSpPr>
          <p:spPr bwMode="auto">
            <a:xfrm>
              <a:off x="1410653" y="4251008"/>
              <a:ext cx="6219825" cy="78835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solidFill>
                  <a:srgbClr val="000000"/>
                </a:solidFill>
              </a:endParaRPr>
            </a:p>
          </p:txBody>
        </p:sp>
        <p:graphicFrame>
          <p:nvGraphicFramePr>
            <p:cNvPr id="50185" name="Object 3"/>
            <p:cNvGraphicFramePr>
              <a:graphicFrameLocks noChangeAspect="1"/>
            </p:cNvGraphicFramePr>
            <p:nvPr>
              <p:extLst>
                <p:ext uri="{D42A27DB-BD31-4B8C-83A1-F6EECF244321}">
                  <p14:modId xmlns:p14="http://schemas.microsoft.com/office/powerpoint/2010/main" val="3762505111"/>
                </p:ext>
              </p:extLst>
            </p:nvPr>
          </p:nvGraphicFramePr>
          <p:xfrm>
            <a:off x="2209961" y="4360533"/>
            <a:ext cx="4621212" cy="615105"/>
          </p:xfrm>
          <a:graphic>
            <a:graphicData uri="http://schemas.openxmlformats.org/presentationml/2006/ole">
              <mc:AlternateContent xmlns:mc="http://schemas.openxmlformats.org/markup-compatibility/2006">
                <mc:Choice xmlns:v="urn:schemas-microsoft-com:vml" Requires="v">
                  <p:oleObj spid="_x0000_s50463" name="Equation" r:id="rId5" imgW="3162240" imgH="419040" progId="Equation.DSMT4">
                    <p:embed/>
                  </p:oleObj>
                </mc:Choice>
                <mc:Fallback>
                  <p:oleObj name="Equation" r:id="rId5" imgW="3162240" imgH="419040" progId="Equation.DSMT4">
                    <p:embed/>
                    <p:pic>
                      <p:nvPicPr>
                        <p:cNvPr id="0" name="Object 3"/>
                        <p:cNvPicPr>
                          <a:picLocks noChangeAspect="1" noChangeArrowheads="1"/>
                        </p:cNvPicPr>
                        <p:nvPr/>
                      </p:nvPicPr>
                      <p:blipFill>
                        <a:blip r:embed="rId6"/>
                        <a:srcRect/>
                        <a:stretch>
                          <a:fillRect/>
                        </a:stretch>
                      </p:blipFill>
                      <p:spPr bwMode="auto">
                        <a:xfrm>
                          <a:off x="2209961" y="4360533"/>
                          <a:ext cx="4621212" cy="6151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from="(-#ppt_w/2)" to="(#ppt_x)" calcmode="lin" valueType="num">
                                      <p:cBhvr>
                                        <p:cTn id="12" dur="600" fill="hold">
                                          <p:stCondLst>
                                            <p:cond delay="0"/>
                                          </p:stCondLst>
                                        </p:cTn>
                                        <p:tgtEl>
                                          <p:spTgt spid="2"/>
                                        </p:tgtEl>
                                        <p:attrNameLst>
                                          <p:attrName>ppt_x</p:attrName>
                                        </p:attrNameLst>
                                      </p:cBhvr>
                                    </p:anim>
                                    <p:anim from="0" to="-1.0" calcmode="lin" valueType="num">
                                      <p:cBhvr>
                                        <p:cTn id="13" dur="200" decel="50000" autoRev="1" fill="hold">
                                          <p:stCondLst>
                                            <p:cond delay="600"/>
                                          </p:stCondLst>
                                        </p:cTn>
                                        <p:tgtEl>
                                          <p:spTgt spid="2"/>
                                        </p:tgtEl>
                                        <p:attrNameLst>
                                          <p:attrName>xshear</p:attrName>
                                        </p:attrNameLst>
                                      </p:cBhvr>
                                    </p:anim>
                                    <p:animScale>
                                      <p:cBhvr>
                                        <p:cTn id="14" dur="200" decel="100000" autoRev="1" fill="hold">
                                          <p:stCondLst>
                                            <p:cond delay="600"/>
                                          </p:stCondLst>
                                        </p:cTn>
                                        <p:tgtEl>
                                          <p:spTgt spid="2"/>
                                        </p:tgtEl>
                                      </p:cBhvr>
                                      <p:from x="100000" y="100000"/>
                                      <p:to x="80000" y="100000"/>
                                    </p:animScale>
                                    <p:anim by="(#ppt_h/3+#ppt_w*0.1)" calcmode="lin" valueType="num">
                                      <p:cBhvr additive="sum">
                                        <p:cTn id="15" dur="200" decel="100000" autoRev="1" fill="hold">
                                          <p:stCondLst>
                                            <p:cond delay="600"/>
                                          </p:stCondLst>
                                        </p:cTn>
                                        <p:tgtEl>
                                          <p:spTgt spid="2"/>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dirty="0"/>
              <a:t>Significance Test for Comparing Proportions 2</a:t>
            </a:r>
            <a:endParaRPr lang="en-US" dirty="0"/>
          </a:p>
        </p:txBody>
      </p:sp>
      <p:sp>
        <p:nvSpPr>
          <p:cNvPr id="5120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A9D6983A-2437-4ADC-AADC-D914A78E37DF}" type="slidenum">
              <a:rPr lang="en-US" altLang="en-US" sz="1200">
                <a:solidFill>
                  <a:schemeClr val="accent1"/>
                </a:solidFill>
              </a:rPr>
              <a:pPr>
                <a:lnSpc>
                  <a:spcPct val="80000"/>
                </a:lnSpc>
              </a:pPr>
              <a:t>27</a:t>
            </a:fld>
            <a:endParaRPr lang="en-US" altLang="en-US" sz="1200">
              <a:solidFill>
                <a:schemeClr val="accent1"/>
              </a:solidFill>
            </a:endParaRPr>
          </a:p>
        </p:txBody>
      </p:sp>
      <p:sp>
        <p:nvSpPr>
          <p:cNvPr id="25" name="TextBox 24"/>
          <p:cNvSpPr txBox="1">
            <a:spLocks noChangeArrowheads="1"/>
          </p:cNvSpPr>
          <p:nvPr/>
        </p:nvSpPr>
        <p:spPr bwMode="auto">
          <a:xfrm>
            <a:off x="1174600" y="1467074"/>
            <a:ext cx="7043387" cy="338554"/>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1600" b="1" dirty="0"/>
              <a:t>Significance Test for Comparing Two Proportions</a:t>
            </a:r>
          </a:p>
        </p:txBody>
      </p:sp>
      <p:graphicFrame>
        <p:nvGraphicFramePr>
          <p:cNvPr id="51209" name="Object 3" descr="The image shows the statement &quot;Draw an SRS of size 'n one' from a large population having proportion 'p one' of success, and draw an independent SRS of size 'n two' from a large population having proportion 'p two' of successes. To test the hypothesis 'H subscript 0: p one minus p two equals to 0,' first find the pooled proportion 'p hat' of successes in both samples combined. Then compute the z statistic, where z equals to 'p one hat' minus 'p two hat,' whole divide by square root of 'p hat' bracket open '1 minus p hat' bracket close, bracket open '1 upon n one,' plus, '1 upon n two' bracket close. Find the P-value by calculating the probability of getting a z statistic this large or larger in the direction specified by the alternative hpothesis H subscript a:"/>
          <p:cNvGraphicFramePr>
            <a:graphicFrameLocks noChangeAspect="1"/>
          </p:cNvGraphicFramePr>
          <p:nvPr>
            <p:extLst>
              <p:ext uri="{D42A27DB-BD31-4B8C-83A1-F6EECF244321}">
                <p14:modId xmlns:p14="http://schemas.microsoft.com/office/powerpoint/2010/main" val="3524776923"/>
              </p:ext>
            </p:extLst>
          </p:nvPr>
        </p:nvGraphicFramePr>
        <p:xfrm>
          <a:off x="174625" y="1905367"/>
          <a:ext cx="6935788" cy="4613275"/>
        </p:xfrm>
        <a:graphic>
          <a:graphicData uri="http://schemas.openxmlformats.org/presentationml/2006/ole">
            <mc:AlternateContent xmlns:mc="http://schemas.openxmlformats.org/markup-compatibility/2006">
              <mc:Choice xmlns:v="urn:schemas-microsoft-com:vml" Requires="v">
                <p:oleObj spid="_x0000_s51652" name="Equation" r:id="rId3" imgW="4813200" imgH="3174840" progId="Equation.DSMT4">
                  <p:embed/>
                </p:oleObj>
              </mc:Choice>
              <mc:Fallback>
                <p:oleObj name="Equation" r:id="rId3" imgW="4813200" imgH="3174840" progId="Equation.DSMT4">
                  <p:embed/>
                  <p:pic>
                    <p:nvPicPr>
                      <p:cNvPr id="0" name="Object 3"/>
                      <p:cNvPicPr>
                        <a:picLocks noChangeAspect="1" noChangeArrowheads="1"/>
                      </p:cNvPicPr>
                      <p:nvPr/>
                    </p:nvPicPr>
                    <p:blipFill>
                      <a:blip r:embed="rId4"/>
                      <a:srcRect/>
                      <a:stretch>
                        <a:fillRect/>
                      </a:stretch>
                    </p:blipFill>
                    <p:spPr bwMode="auto">
                      <a:xfrm>
                        <a:off x="174625" y="1905367"/>
                        <a:ext cx="6935788" cy="4613275"/>
                      </a:xfrm>
                      <a:prstGeom prst="rect">
                        <a:avLst/>
                      </a:prstGeom>
                      <a:noFill/>
                      <a:ln>
                        <a:noFill/>
                      </a:ln>
                      <a:effec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933394914"/>
              </p:ext>
            </p:extLst>
          </p:nvPr>
        </p:nvGraphicFramePr>
        <p:xfrm>
          <a:off x="3232150" y="2491631"/>
          <a:ext cx="2381250" cy="366713"/>
        </p:xfrm>
        <a:graphic>
          <a:graphicData uri="http://schemas.openxmlformats.org/presentationml/2006/ole">
            <mc:AlternateContent xmlns:mc="http://schemas.openxmlformats.org/markup-compatibility/2006">
              <mc:Choice xmlns:v="urn:schemas-microsoft-com:vml" Requires="v">
                <p:oleObj spid="_x0000_s51653" name="Equation" r:id="rId5" imgW="1485720" imgH="228600" progId="Equation.DSMT4">
                  <p:embed/>
                </p:oleObj>
              </mc:Choice>
              <mc:Fallback>
                <p:oleObj name="Equation" r:id="rId5" imgW="1485720" imgH="228600" progId="Equation.DSMT4">
                  <p:embed/>
                  <p:pic>
                    <p:nvPicPr>
                      <p:cNvPr id="0" name=""/>
                      <p:cNvPicPr/>
                      <p:nvPr/>
                    </p:nvPicPr>
                    <p:blipFill>
                      <a:blip r:embed="rId6"/>
                      <a:stretch>
                        <a:fillRect/>
                      </a:stretch>
                    </p:blipFill>
                    <p:spPr>
                      <a:xfrm>
                        <a:off x="3232150" y="2491631"/>
                        <a:ext cx="2381250" cy="366713"/>
                      </a:xfrm>
                      <a:prstGeom prst="rect">
                        <a:avLst/>
                      </a:prstGeom>
                    </p:spPr>
                  </p:pic>
                </p:oleObj>
              </mc:Fallback>
            </mc:AlternateContent>
          </a:graphicData>
        </a:graphic>
      </p:graphicFrame>
      <p:pic>
        <p:nvPicPr>
          <p:cNvPr id="3" name="Picture 2" descr="A normal distribution curve. Z is marked under the right tail, with the area beyond it shaded. "/>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79830" y="2173694"/>
            <a:ext cx="2883170" cy="1011852"/>
          </a:xfrm>
          <a:prstGeom prst="rect">
            <a:avLst/>
          </a:prstGeom>
        </p:spPr>
      </p:pic>
      <p:graphicFrame>
        <p:nvGraphicFramePr>
          <p:cNvPr id="12" name="Object 11"/>
          <p:cNvGraphicFramePr>
            <a:graphicFrameLocks noChangeAspect="1"/>
          </p:cNvGraphicFramePr>
          <p:nvPr>
            <p:extLst>
              <p:ext uri="{D42A27DB-BD31-4B8C-83A1-F6EECF244321}">
                <p14:modId xmlns:p14="http://schemas.microsoft.com/office/powerpoint/2010/main" val="1031923384"/>
              </p:ext>
            </p:extLst>
          </p:nvPr>
        </p:nvGraphicFramePr>
        <p:xfrm>
          <a:off x="3232150" y="3508797"/>
          <a:ext cx="2381250" cy="365125"/>
        </p:xfrm>
        <a:graphic>
          <a:graphicData uri="http://schemas.openxmlformats.org/presentationml/2006/ole">
            <mc:AlternateContent xmlns:mc="http://schemas.openxmlformats.org/markup-compatibility/2006">
              <mc:Choice xmlns:v="urn:schemas-microsoft-com:vml" Requires="v">
                <p:oleObj spid="_x0000_s51654" name="Equation" r:id="rId8" imgW="1485720" imgH="228600" progId="Equation.DSMT4">
                  <p:embed/>
                </p:oleObj>
              </mc:Choice>
              <mc:Fallback>
                <p:oleObj name="Equation" r:id="rId8" imgW="1485720" imgH="228600" progId="Equation.DSMT4">
                  <p:embed/>
                  <p:pic>
                    <p:nvPicPr>
                      <p:cNvPr id="0" name=""/>
                      <p:cNvPicPr/>
                      <p:nvPr/>
                    </p:nvPicPr>
                    <p:blipFill>
                      <a:blip r:embed="rId9"/>
                      <a:stretch>
                        <a:fillRect/>
                      </a:stretch>
                    </p:blipFill>
                    <p:spPr>
                      <a:xfrm>
                        <a:off x="3232150" y="3508797"/>
                        <a:ext cx="2381250" cy="365125"/>
                      </a:xfrm>
                      <a:prstGeom prst="rect">
                        <a:avLst/>
                      </a:prstGeom>
                    </p:spPr>
                  </p:pic>
                </p:oleObj>
              </mc:Fallback>
            </mc:AlternateContent>
          </a:graphicData>
        </a:graphic>
      </p:graphicFrame>
      <p:pic>
        <p:nvPicPr>
          <p:cNvPr id="4" name="Picture 3" descr="A normal distribution curve. Z is marked under the left tail, with the area beyond it shaded."/>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79830" y="3185546"/>
            <a:ext cx="2883170" cy="1005757"/>
          </a:xfrm>
          <a:prstGeom prst="rect">
            <a:avLst/>
          </a:prstGeom>
        </p:spPr>
      </p:pic>
      <p:graphicFrame>
        <p:nvGraphicFramePr>
          <p:cNvPr id="13" name="Object 12"/>
          <p:cNvGraphicFramePr>
            <a:graphicFrameLocks noChangeAspect="1"/>
          </p:cNvGraphicFramePr>
          <p:nvPr>
            <p:extLst>
              <p:ext uri="{D42A27DB-BD31-4B8C-83A1-F6EECF244321}">
                <p14:modId xmlns:p14="http://schemas.microsoft.com/office/powerpoint/2010/main" val="3360116957"/>
              </p:ext>
            </p:extLst>
          </p:nvPr>
        </p:nvGraphicFramePr>
        <p:xfrm>
          <a:off x="3109913" y="4499330"/>
          <a:ext cx="2625725" cy="407988"/>
        </p:xfrm>
        <a:graphic>
          <a:graphicData uri="http://schemas.openxmlformats.org/presentationml/2006/ole">
            <mc:AlternateContent xmlns:mc="http://schemas.openxmlformats.org/markup-compatibility/2006">
              <mc:Choice xmlns:v="urn:schemas-microsoft-com:vml" Requires="v">
                <p:oleObj spid="_x0000_s51655" name="Equation" r:id="rId11" imgW="1638000" imgH="253800" progId="Equation.DSMT4">
                  <p:embed/>
                </p:oleObj>
              </mc:Choice>
              <mc:Fallback>
                <p:oleObj name="Equation" r:id="rId11" imgW="1638000" imgH="253800" progId="Equation.DSMT4">
                  <p:embed/>
                  <p:pic>
                    <p:nvPicPr>
                      <p:cNvPr id="0" name=""/>
                      <p:cNvPicPr/>
                      <p:nvPr/>
                    </p:nvPicPr>
                    <p:blipFill>
                      <a:blip r:embed="rId12"/>
                      <a:stretch>
                        <a:fillRect/>
                      </a:stretch>
                    </p:blipFill>
                    <p:spPr>
                      <a:xfrm>
                        <a:off x="3109913" y="4499330"/>
                        <a:ext cx="2625725" cy="407988"/>
                      </a:xfrm>
                      <a:prstGeom prst="rect">
                        <a:avLst/>
                      </a:prstGeom>
                    </p:spPr>
                  </p:pic>
                </p:oleObj>
              </mc:Fallback>
            </mc:AlternateContent>
          </a:graphicData>
        </a:graphic>
      </p:graphicFrame>
      <p:pic>
        <p:nvPicPr>
          <p:cNvPr id="5" name="Picture 4" descr="A normal distribution curve. The absolute value of z is marked under the right tail. The opposite value is also marked under the left. The area beyond each is shaded."/>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879830" y="4191303"/>
            <a:ext cx="2883170" cy="1024043"/>
          </a:xfrm>
          <a:prstGeom prst="rect">
            <a:avLst/>
          </a:prstGeom>
        </p:spPr>
      </p:pic>
    </p:spTree>
  </p:cSld>
  <p:clrMapOvr>
    <a:masterClrMapping/>
  </p:clrMapOvr>
  <p:transition spd="med">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174625" y="154305"/>
            <a:ext cx="7772400" cy="1143000"/>
          </a:xfrm>
        </p:spPr>
        <p:txBody>
          <a:bodyPr/>
          <a:lstStyle/>
          <a:p>
            <a:pPr eaLnBrk="1" hangingPunct="1"/>
            <a:r>
              <a:rPr lang="en-US" altLang="en-US" dirty="0"/>
              <a:t>Significance Test for Comparing Proportions </a:t>
            </a:r>
            <a:r>
              <a:rPr lang="en-US" altLang="en-US" dirty="0">
                <a:ea typeface="ＭＳ Ｐゴシック" panose="020B0600070205080204" pitchFamily="34" charset="-128"/>
              </a:rPr>
              <a:t>Example 1</a:t>
            </a:r>
          </a:p>
        </p:txBody>
      </p:sp>
      <p:sp>
        <p:nvSpPr>
          <p:cNvPr id="522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FE7B14A8-DDE8-4BCB-8C73-5FA9F3700CCA}" type="slidenum">
              <a:rPr lang="en-US" altLang="en-US" sz="1200">
                <a:solidFill>
                  <a:schemeClr val="accent1"/>
                </a:solidFill>
              </a:rPr>
              <a:pPr>
                <a:lnSpc>
                  <a:spcPct val="80000"/>
                </a:lnSpc>
              </a:pPr>
              <a:t>28</a:t>
            </a:fld>
            <a:endParaRPr lang="en-US" altLang="en-US" sz="1200">
              <a:solidFill>
                <a:schemeClr val="accent1"/>
              </a:solidFill>
            </a:endParaRPr>
          </a:p>
        </p:txBody>
      </p:sp>
      <p:sp>
        <p:nvSpPr>
          <p:cNvPr id="52228" name="Rectangle 8"/>
          <p:cNvSpPr>
            <a:spLocks noChangeArrowheads="1"/>
          </p:cNvSpPr>
          <p:nvPr/>
        </p:nvSpPr>
        <p:spPr bwMode="auto">
          <a:xfrm>
            <a:off x="174625" y="1444443"/>
            <a:ext cx="82296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r>
              <a:rPr lang="en-US" altLang="en-US" b="1" dirty="0">
                <a:solidFill>
                  <a:srgbClr val="000000"/>
                </a:solidFill>
              </a:rPr>
              <a:t>Example: </a:t>
            </a:r>
            <a:r>
              <a:rPr lang="en-US" altLang="en-US" dirty="0">
                <a:solidFill>
                  <a:srgbClr val="000000"/>
                </a:solidFill>
              </a:rPr>
              <a:t>Are young women and men equally likely to say they use Instagram? Recall the data from our earlier example: 328 out of 537 women (61.1%) and 234 out of 532 men (44.0%) use Instagram. Perform a significance test to see whether the difference is large enough to lead us to believe that the population proportions are not equal.</a:t>
            </a:r>
            <a:endParaRPr lang="en-US" altLang="en-US" b="1" dirty="0">
              <a:solidFill>
                <a:srgbClr val="000000"/>
              </a:solidFill>
            </a:endParaRPr>
          </a:p>
        </p:txBody>
      </p:sp>
      <p:sp>
        <p:nvSpPr>
          <p:cNvPr id="11" name="Rectangle 10"/>
          <p:cNvSpPr>
            <a:spLocks noChangeArrowheads="1"/>
          </p:cNvSpPr>
          <p:nvPr/>
        </p:nvSpPr>
        <p:spPr bwMode="auto">
          <a:xfrm>
            <a:off x="280194" y="2996141"/>
            <a:ext cx="848280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solidFill>
                  <a:srgbClr val="000000"/>
                </a:solidFill>
              </a:rPr>
              <a:t>O</a:t>
            </a:r>
            <a:r>
              <a:rPr lang="en-US" altLang="en-US" dirty="0"/>
              <a:t>ur hypotheses are</a:t>
            </a:r>
          </a:p>
          <a:p>
            <a:pPr algn="ctr" eaLnBrk="1" hangingPunct="1"/>
            <a:r>
              <a:rPr lang="en-US" altLang="en-US" i="1" dirty="0"/>
              <a:t>H</a:t>
            </a:r>
            <a:r>
              <a:rPr lang="en-US" altLang="en-US" baseline="-25000" dirty="0"/>
              <a:t>0</a:t>
            </a:r>
            <a:r>
              <a:rPr lang="en-US" altLang="en-US" i="1" dirty="0"/>
              <a:t>: p</a:t>
            </a:r>
            <a:r>
              <a:rPr lang="en-US" altLang="en-US" baseline="-25000" dirty="0"/>
              <a:t>1</a:t>
            </a:r>
            <a:r>
              <a:rPr lang="en-US" altLang="en-US" dirty="0"/>
              <a:t> </a:t>
            </a:r>
            <a:r>
              <a:rPr lang="en-US" altLang="en-US" i="1" dirty="0"/>
              <a:t>– p</a:t>
            </a:r>
            <a:r>
              <a:rPr lang="en-US" altLang="en-US" baseline="-25000" dirty="0"/>
              <a:t>2</a:t>
            </a:r>
            <a:r>
              <a:rPr lang="en-US" altLang="en-US" i="1" dirty="0"/>
              <a:t> = </a:t>
            </a:r>
            <a:r>
              <a:rPr lang="en-US" altLang="en-US" dirty="0"/>
              <a:t>0</a:t>
            </a:r>
          </a:p>
          <a:p>
            <a:pPr algn="ctr" eaLnBrk="1" hangingPunct="1"/>
            <a:r>
              <a:rPr lang="en-US" altLang="en-US" i="1" dirty="0"/>
              <a:t>H</a:t>
            </a:r>
            <a:r>
              <a:rPr lang="en-US" altLang="en-US" baseline="-25000" dirty="0"/>
              <a:t>a</a:t>
            </a:r>
            <a:r>
              <a:rPr lang="en-US" altLang="en-US" i="1" dirty="0"/>
              <a:t>: p</a:t>
            </a:r>
            <a:r>
              <a:rPr lang="en-US" altLang="en-US" baseline="-25000" dirty="0"/>
              <a:t>1</a:t>
            </a:r>
            <a:r>
              <a:rPr lang="en-US" altLang="en-US" i="1" dirty="0"/>
              <a:t> – p</a:t>
            </a:r>
            <a:r>
              <a:rPr lang="en-US" altLang="en-US" baseline="-25000" dirty="0"/>
              <a:t>2</a:t>
            </a:r>
            <a:r>
              <a:rPr lang="en-US" altLang="en-US" i="1" dirty="0"/>
              <a:t> ≠ </a:t>
            </a:r>
            <a:r>
              <a:rPr lang="en-US" altLang="en-US" dirty="0"/>
              <a:t>0</a:t>
            </a:r>
          </a:p>
          <a:p>
            <a:pPr eaLnBrk="1" hangingPunct="1"/>
            <a:r>
              <a:rPr lang="en-US" altLang="en-US" dirty="0"/>
              <a:t>where </a:t>
            </a:r>
            <a:r>
              <a:rPr lang="en-US" altLang="en-US" i="1" dirty="0"/>
              <a:t>p</a:t>
            </a:r>
            <a:r>
              <a:rPr lang="en-US" altLang="en-US" baseline="-25000" dirty="0"/>
              <a:t>1</a:t>
            </a:r>
            <a:r>
              <a:rPr lang="en-US" altLang="en-US" i="1" dirty="0"/>
              <a:t> </a:t>
            </a:r>
            <a:r>
              <a:rPr lang="en-US" altLang="en-US" dirty="0"/>
              <a:t>= the true proportion of young women who use Instagram, and </a:t>
            </a:r>
          </a:p>
          <a:p>
            <a:pPr eaLnBrk="1" hangingPunct="1"/>
            <a:r>
              <a:rPr lang="en-US" altLang="en-US" i="1" dirty="0"/>
              <a:t>p</a:t>
            </a:r>
            <a:r>
              <a:rPr lang="en-US" altLang="en-US" baseline="-25000" dirty="0"/>
              <a:t>2</a:t>
            </a:r>
            <a:r>
              <a:rPr lang="en-US" altLang="en-US" i="1" dirty="0"/>
              <a:t> </a:t>
            </a:r>
            <a:r>
              <a:rPr lang="en-US" altLang="en-US" dirty="0"/>
              <a:t>= the true proportion of young men who use Instagram.</a:t>
            </a:r>
          </a:p>
        </p:txBody>
      </p:sp>
      <p:sp>
        <p:nvSpPr>
          <p:cNvPr id="10" name="Rectangle 9"/>
          <p:cNvSpPr>
            <a:spLocks noChangeArrowheads="1"/>
          </p:cNvSpPr>
          <p:nvPr/>
        </p:nvSpPr>
        <p:spPr bwMode="auto">
          <a:xfrm>
            <a:off x="280193" y="4548792"/>
            <a:ext cx="8369131" cy="235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spcAft>
                <a:spcPts val="600"/>
              </a:spcAft>
            </a:pPr>
            <a:r>
              <a:rPr lang="en-US" altLang="en-US" dirty="0"/>
              <a:t>We should perform a significance test for </a:t>
            </a:r>
            <a:r>
              <a:rPr lang="en-US" altLang="en-US" i="1" dirty="0"/>
              <a:t>p</a:t>
            </a:r>
            <a:r>
              <a:rPr lang="en-US" altLang="en-US" baseline="-25000" dirty="0"/>
              <a:t>1</a:t>
            </a:r>
            <a:r>
              <a:rPr lang="en-US" altLang="en-US" i="1" baseline="-25000" dirty="0"/>
              <a:t> </a:t>
            </a:r>
            <a:r>
              <a:rPr lang="en-US" altLang="en-US" i="1" dirty="0"/>
              <a:t>– p</a:t>
            </a:r>
            <a:r>
              <a:rPr lang="en-US" altLang="en-US" baseline="-25000" dirty="0"/>
              <a:t>2</a:t>
            </a:r>
            <a:r>
              <a:rPr lang="en-US" altLang="en-US" i="1" dirty="0"/>
              <a:t> </a:t>
            </a:r>
            <a:r>
              <a:rPr lang="en-US" altLang="en-US" dirty="0"/>
              <a:t>if the conditions are satisfied.</a:t>
            </a:r>
          </a:p>
          <a:p>
            <a:pPr eaLnBrk="1" hangingPunct="1">
              <a:spcAft>
                <a:spcPts val="600"/>
              </a:spcAft>
            </a:pPr>
            <a:endParaRPr lang="en-US" altLang="en-US" dirty="0"/>
          </a:p>
          <a:p>
            <a:pPr algn="just" eaLnBrk="1" hangingPunct="1">
              <a:spcAft>
                <a:spcPts val="600"/>
              </a:spcAft>
              <a:buClr>
                <a:srgbClr val="E81F30"/>
              </a:buClr>
              <a:buFont typeface="Wingdings" panose="05000000000000000000" pitchFamily="2" charset="2"/>
              <a:buChar char="ü"/>
            </a:pPr>
            <a:r>
              <a:rPr lang="en-US" altLang="en-US" sz="1600" b="1" dirty="0"/>
              <a:t>Random: </a:t>
            </a:r>
            <a:r>
              <a:rPr lang="en-US" altLang="en-US" sz="1600" dirty="0"/>
              <a:t>The data were produced using two simple random samples: 537 young women and 532 young men.</a:t>
            </a:r>
          </a:p>
          <a:p>
            <a:pPr eaLnBrk="1" hangingPunct="1">
              <a:buClr>
                <a:srgbClr val="E81F30"/>
              </a:buClr>
              <a:buFont typeface="Wingdings" panose="05000000000000000000" pitchFamily="2" charset="2"/>
              <a:buChar char="ü"/>
            </a:pPr>
            <a:r>
              <a:rPr lang="en-US" altLang="en-US" sz="1600" b="1" dirty="0"/>
              <a:t>Normal: </a:t>
            </a:r>
            <a:r>
              <a:rPr lang="en-US" altLang="en-US" sz="1600" dirty="0"/>
              <a:t>We check the counts of </a:t>
            </a:r>
            <a:r>
              <a:rPr lang="ja-JP" altLang="en-US" sz="1600" dirty="0"/>
              <a:t>“</a:t>
            </a:r>
            <a:r>
              <a:rPr lang="en-US" altLang="ja-JP" sz="1600" dirty="0"/>
              <a:t>successes</a:t>
            </a:r>
            <a:r>
              <a:rPr lang="ja-JP" altLang="en-US" sz="1600" dirty="0"/>
              <a:t>”</a:t>
            </a:r>
            <a:r>
              <a:rPr lang="en-US" altLang="ja-JP" sz="1600" dirty="0"/>
              <a:t> and </a:t>
            </a:r>
            <a:r>
              <a:rPr lang="ja-JP" altLang="en-US" sz="1600" dirty="0"/>
              <a:t>“</a:t>
            </a:r>
            <a:r>
              <a:rPr lang="en-US" altLang="ja-JP" sz="1600" dirty="0"/>
              <a:t>failures</a:t>
            </a:r>
            <a:r>
              <a:rPr lang="ja-JP" altLang="en-US" sz="1600" dirty="0"/>
              <a:t>”</a:t>
            </a:r>
            <a:r>
              <a:rPr lang="en-US" altLang="ja-JP" sz="1600" dirty="0"/>
              <a:t> and note that the Normal condition is met because they are all greater than 5.</a:t>
            </a:r>
          </a:p>
          <a:p>
            <a:pPr eaLnBrk="1" hangingPunct="1">
              <a:buClr>
                <a:srgbClr val="E81F30"/>
              </a:buClr>
              <a:buFont typeface="Wingdings" panose="05000000000000000000" pitchFamily="2" charset="2"/>
              <a:buChar char="ü"/>
            </a:pPr>
            <a:r>
              <a:rPr lang="en-US" altLang="en-US" sz="1600" b="1" dirty="0">
                <a:solidFill>
                  <a:srgbClr val="000000"/>
                </a:solidFill>
              </a:rPr>
              <a:t>Independent: </a:t>
            </a:r>
            <a:r>
              <a:rPr lang="en-US" altLang="en-US" sz="1600" dirty="0">
                <a:solidFill>
                  <a:srgbClr val="000000"/>
                </a:solidFill>
              </a:rPr>
              <a:t>The samples were taken independently of each other because the sample sizes were random</a:t>
            </a:r>
            <a:r>
              <a:rPr lang="en-US" altLang="ja-JP" sz="1600" dirty="0">
                <a:solidFill>
                  <a:srgbClr val="000000"/>
                </a:solidFill>
              </a:rPr>
              <a:t>.</a:t>
            </a:r>
            <a:endParaRPr lang="en-US" alt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10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10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10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0" grpId="0" build="p" bldLvl="5"/>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dirty="0"/>
              <a:t>Significance Test for Comparing Proportions </a:t>
            </a:r>
            <a:r>
              <a:rPr lang="en-US" altLang="en-US" dirty="0">
                <a:ea typeface="ＭＳ Ｐゴシック" panose="020B0600070205080204" pitchFamily="34" charset="-128"/>
              </a:rPr>
              <a:t>Example 2</a:t>
            </a:r>
            <a:endParaRPr lang="en-US" dirty="0"/>
          </a:p>
        </p:txBody>
      </p:sp>
      <p:sp>
        <p:nvSpPr>
          <p:cNvPr id="532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972B4AF5-0258-49A5-BC56-2C831E67A498}" type="slidenum">
              <a:rPr lang="en-US" altLang="en-US" sz="1200">
                <a:solidFill>
                  <a:schemeClr val="accent1"/>
                </a:solidFill>
              </a:rPr>
              <a:pPr>
                <a:lnSpc>
                  <a:spcPct val="80000"/>
                </a:lnSpc>
              </a:pPr>
              <a:t>29</a:t>
            </a:fld>
            <a:endParaRPr lang="en-US" altLang="en-US" sz="1200">
              <a:solidFill>
                <a:schemeClr val="accent1"/>
              </a:solidFill>
            </a:endParaRPr>
          </a:p>
        </p:txBody>
      </p:sp>
      <p:sp>
        <p:nvSpPr>
          <p:cNvPr id="53252" name="Rectangle 8"/>
          <p:cNvSpPr>
            <a:spLocks noChangeArrowheads="1"/>
          </p:cNvSpPr>
          <p:nvPr/>
        </p:nvSpPr>
        <p:spPr bwMode="auto">
          <a:xfrm>
            <a:off x="231775" y="1610925"/>
            <a:ext cx="42370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solidFill>
                  <a:srgbClr val="000000"/>
                </a:solidFill>
              </a:rPr>
              <a:t>Because the conditions are satisfied, we can perform a two-sample </a:t>
            </a:r>
            <a:r>
              <a:rPr lang="en-US" altLang="en-US" i="1" dirty="0">
                <a:solidFill>
                  <a:srgbClr val="000000"/>
                </a:solidFill>
              </a:rPr>
              <a:t>z</a:t>
            </a:r>
            <a:r>
              <a:rPr lang="en-US" altLang="en-US" dirty="0">
                <a:solidFill>
                  <a:srgbClr val="000000"/>
                </a:solidFill>
              </a:rPr>
              <a:t> test for the difference </a:t>
            </a:r>
            <a:r>
              <a:rPr lang="en-US" altLang="en-US" i="1" dirty="0">
                <a:solidFill>
                  <a:srgbClr val="000000"/>
                </a:solidFill>
              </a:rPr>
              <a:t>p</a:t>
            </a:r>
            <a:r>
              <a:rPr lang="en-US" altLang="en-US" baseline="-25000" dirty="0">
                <a:solidFill>
                  <a:srgbClr val="000000"/>
                </a:solidFill>
              </a:rPr>
              <a:t>1</a:t>
            </a:r>
            <a:r>
              <a:rPr lang="en-US" altLang="en-US" i="1" dirty="0">
                <a:solidFill>
                  <a:srgbClr val="000000"/>
                </a:solidFill>
              </a:rPr>
              <a:t> – p</a:t>
            </a:r>
            <a:r>
              <a:rPr lang="en-US" altLang="en-US" baseline="-25000" dirty="0">
                <a:solidFill>
                  <a:srgbClr val="000000"/>
                </a:solidFill>
              </a:rPr>
              <a:t>2</a:t>
            </a:r>
            <a:r>
              <a:rPr lang="en-US" altLang="en-US" dirty="0">
                <a:solidFill>
                  <a:srgbClr val="000000"/>
                </a:solidFill>
              </a:rPr>
              <a:t>.</a:t>
            </a:r>
            <a:endParaRPr lang="en-US" altLang="en-US" dirty="0"/>
          </a:p>
        </p:txBody>
      </p:sp>
      <p:graphicFrame>
        <p:nvGraphicFramePr>
          <p:cNvPr id="14" name="Object 3" descr="The mathematical expression shows 'p hat' equals to 'X one' plus 'X two' divide by 'n one' plus 'n two,' equals to 328 plus 234 divide by 537 plus 532, equals to 0.526."/>
          <p:cNvGraphicFramePr>
            <a:graphicFrameLocks noChangeAspect="1"/>
          </p:cNvGraphicFramePr>
          <p:nvPr>
            <p:extLst>
              <p:ext uri="{D42A27DB-BD31-4B8C-83A1-F6EECF244321}">
                <p14:modId xmlns:p14="http://schemas.microsoft.com/office/powerpoint/2010/main" val="1173610699"/>
              </p:ext>
            </p:extLst>
          </p:nvPr>
        </p:nvGraphicFramePr>
        <p:xfrm>
          <a:off x="4675189" y="1681908"/>
          <a:ext cx="3581400" cy="627063"/>
        </p:xfrm>
        <a:graphic>
          <a:graphicData uri="http://schemas.openxmlformats.org/presentationml/2006/ole">
            <mc:AlternateContent xmlns:mc="http://schemas.openxmlformats.org/markup-compatibility/2006">
              <mc:Choice xmlns:v="urn:schemas-microsoft-com:vml" Requires="v">
                <p:oleObj spid="_x0000_s53533" name="Equation" r:id="rId3" imgW="2451100" imgH="431800" progId="Equation.3">
                  <p:embed/>
                </p:oleObj>
              </mc:Choice>
              <mc:Fallback>
                <p:oleObj name="Equation" r:id="rId3" imgW="24511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189" y="1681908"/>
                        <a:ext cx="3581400" cy="6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 name="Object 2" descr="The mathematical expression shows test statistic, where 'z' equals to 'p 1 hat' minus 'p 2 hat' whole divide by square root of 'p hat' bracket open '1 minus p hat' bracket close, bracket open 1 upon 'n one' plus '1 upon 'n two' bracket close. The expression is equal to 0.611 minus 0.440 divide by square root of 0.526 bracket open 1 minus 0.526 bracket close, bracket open 1 upon 537, plus, 1 upon 532 bracket close, equals to  5.60. Hence, z equals to 5.60."/>
          <p:cNvGraphicFramePr>
            <a:graphicFrameLocks noChangeAspect="1"/>
          </p:cNvGraphicFramePr>
          <p:nvPr>
            <p:extLst>
              <p:ext uri="{D42A27DB-BD31-4B8C-83A1-F6EECF244321}">
                <p14:modId xmlns:p14="http://schemas.microsoft.com/office/powerpoint/2010/main" val="869199423"/>
              </p:ext>
            </p:extLst>
          </p:nvPr>
        </p:nvGraphicFramePr>
        <p:xfrm>
          <a:off x="1821920" y="2634880"/>
          <a:ext cx="5584825" cy="1349375"/>
        </p:xfrm>
        <a:graphic>
          <a:graphicData uri="http://schemas.openxmlformats.org/presentationml/2006/ole">
            <mc:AlternateContent xmlns:mc="http://schemas.openxmlformats.org/markup-compatibility/2006">
              <mc:Choice xmlns:v="urn:schemas-microsoft-com:vml" Requires="v">
                <p:oleObj spid="_x0000_s53534" name="Equation" r:id="rId5" imgW="3822700" imgH="927100" progId="Equation.3">
                  <p:embed/>
                </p:oleObj>
              </mc:Choice>
              <mc:Fallback>
                <p:oleObj name="Equation" r:id="rId5" imgW="3822700" imgH="9271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1920" y="2634880"/>
                        <a:ext cx="5584825" cy="1349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2235" name="Rectangle 14"/>
          <p:cNvSpPr>
            <a:spLocks noChangeArrowheads="1"/>
          </p:cNvSpPr>
          <p:nvPr/>
        </p:nvSpPr>
        <p:spPr bwMode="auto">
          <a:xfrm>
            <a:off x="1095651" y="4052035"/>
            <a:ext cx="7159076" cy="646331"/>
          </a:xfrm>
          <a:prstGeom prst="rect">
            <a:avLst/>
          </a:prstGeom>
          <a:solidFill>
            <a:schemeClr val="accent3">
              <a:lumMod val="40000"/>
              <a:lumOff val="60000"/>
            </a:schemeClr>
          </a:solidFill>
          <a:ln>
            <a:noFill/>
          </a:ln>
        </p:spPr>
        <p:txBody>
          <a:bodyPr wrap="squar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b="1" i="1" dirty="0"/>
              <a:t>P</a:t>
            </a:r>
            <a:r>
              <a:rPr lang="en-US" altLang="en-US" sz="1800" b="1" dirty="0"/>
              <a:t>-value </a:t>
            </a:r>
            <a:r>
              <a:rPr lang="en-US" altLang="en-US" sz="1800" dirty="0"/>
              <a:t>Using Table A or Normal cdf, the desired </a:t>
            </a:r>
            <a:r>
              <a:rPr lang="en-US" altLang="en-US" sz="1800" i="1" dirty="0"/>
              <a:t>P-</a:t>
            </a:r>
            <a:r>
              <a:rPr lang="en-US" altLang="en-US" sz="1800" dirty="0"/>
              <a:t>value is</a:t>
            </a:r>
          </a:p>
          <a:p>
            <a:pPr eaLnBrk="1" hangingPunct="1">
              <a:defRPr/>
            </a:pPr>
            <a:r>
              <a:rPr lang="en-US" altLang="en-US" sz="1800" dirty="0"/>
              <a:t>   2</a:t>
            </a:r>
            <a:r>
              <a:rPr lang="en-US" altLang="en-US" sz="1800" i="1" dirty="0"/>
              <a:t>P</a:t>
            </a:r>
            <a:r>
              <a:rPr lang="en-US" altLang="en-US" sz="1800" dirty="0"/>
              <a:t>(</a:t>
            </a:r>
            <a:r>
              <a:rPr lang="en-US" altLang="en-US" sz="1800" i="1" dirty="0"/>
              <a:t>z ≥ </a:t>
            </a:r>
            <a:r>
              <a:rPr lang="en-US" altLang="en-US" sz="1800" dirty="0"/>
              <a:t>5.6)</a:t>
            </a:r>
            <a:r>
              <a:rPr lang="en-US" altLang="en-US" sz="1800" i="1" dirty="0"/>
              <a:t> &gt; </a:t>
            </a:r>
            <a:r>
              <a:rPr lang="en-US" altLang="en-US" sz="1800" dirty="0"/>
              <a:t>2</a:t>
            </a:r>
            <a:r>
              <a:rPr lang="en-US" altLang="en-US" sz="1800" i="1" dirty="0"/>
              <a:t>P</a:t>
            </a:r>
            <a:r>
              <a:rPr lang="en-US" altLang="en-US" sz="1800" dirty="0"/>
              <a:t>(</a:t>
            </a:r>
            <a:r>
              <a:rPr lang="en-US" altLang="en-US" sz="1800" i="1" dirty="0"/>
              <a:t>z ≥ </a:t>
            </a:r>
            <a:r>
              <a:rPr lang="en-US" altLang="en-US" sz="1800" dirty="0"/>
              <a:t>3.4)</a:t>
            </a:r>
            <a:r>
              <a:rPr lang="en-US" altLang="en-US" sz="1800" i="1" dirty="0"/>
              <a:t> = </a:t>
            </a:r>
            <a:r>
              <a:rPr lang="en-US" altLang="en-US" sz="1800" dirty="0"/>
              <a:t>2(1 – 0.9998) = 0.0004</a:t>
            </a:r>
          </a:p>
        </p:txBody>
      </p:sp>
      <p:sp>
        <p:nvSpPr>
          <p:cNvPr id="18" name="Rectangle 17"/>
          <p:cNvSpPr>
            <a:spLocks noChangeArrowheads="1"/>
          </p:cNvSpPr>
          <p:nvPr/>
        </p:nvSpPr>
        <p:spPr bwMode="auto">
          <a:xfrm>
            <a:off x="1114128" y="5039775"/>
            <a:ext cx="7142461" cy="923330"/>
          </a:xfrm>
          <a:prstGeom prst="rect">
            <a:avLst/>
          </a:prstGeom>
          <a:solidFill>
            <a:srgbClr val="FFFF00"/>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just" eaLnBrk="1" hangingPunct="1">
              <a:defRPr/>
            </a:pPr>
            <a:r>
              <a:rPr lang="en-US" altLang="en-US" b="1" dirty="0">
                <a:solidFill>
                  <a:srgbClr val="000000"/>
                </a:solidFill>
                <a:ea typeface="ＭＳ Ｐゴシック" pitchFamily="34" charset="-128"/>
              </a:rPr>
              <a:t>Because our </a:t>
            </a:r>
            <a:r>
              <a:rPr lang="en-US" altLang="en-US" b="1" i="1" dirty="0">
                <a:solidFill>
                  <a:srgbClr val="000000"/>
                </a:solidFill>
                <a:ea typeface="ＭＳ Ｐゴシック" pitchFamily="34" charset="-128"/>
              </a:rPr>
              <a:t>P-</a:t>
            </a:r>
            <a:r>
              <a:rPr lang="en-US" altLang="en-US" b="1" dirty="0">
                <a:solidFill>
                  <a:srgbClr val="000000"/>
                </a:solidFill>
                <a:ea typeface="ＭＳ Ｐゴシック" pitchFamily="34" charset="-128"/>
              </a:rPr>
              <a:t>value, 0.0004, is much smaller than the chosen significance level of </a:t>
            </a:r>
            <a:r>
              <a:rPr lang="en-US" altLang="en-US" b="1" i="1" dirty="0">
                <a:solidFill>
                  <a:srgbClr val="000000"/>
                </a:solidFill>
                <a:ea typeface="ＭＳ Ｐゴシック" pitchFamily="34" charset="-128"/>
              </a:rPr>
              <a:t>α = </a:t>
            </a:r>
            <a:r>
              <a:rPr lang="en-US" altLang="en-US" b="1" dirty="0">
                <a:solidFill>
                  <a:srgbClr val="000000"/>
                </a:solidFill>
                <a:ea typeface="ＭＳ Ｐゴシック" pitchFamily="34" charset="-128"/>
              </a:rPr>
              <a:t>0.05</a:t>
            </a:r>
            <a:r>
              <a:rPr lang="en-US" altLang="en-US" b="1" i="1" dirty="0">
                <a:solidFill>
                  <a:srgbClr val="000000"/>
                </a:solidFill>
                <a:ea typeface="ＭＳ Ｐゴシック" pitchFamily="34" charset="-128"/>
              </a:rPr>
              <a:t>, </a:t>
            </a:r>
            <a:r>
              <a:rPr lang="en-US" altLang="en-US" b="1" dirty="0">
                <a:solidFill>
                  <a:srgbClr val="000000"/>
                </a:solidFill>
                <a:ea typeface="ＭＳ Ｐゴシック" pitchFamily="34" charset="-128"/>
              </a:rPr>
              <a:t>we reject </a:t>
            </a:r>
            <a:r>
              <a:rPr lang="en-US" altLang="en-US" b="1" i="1" dirty="0">
                <a:solidFill>
                  <a:srgbClr val="000000"/>
                </a:solidFill>
                <a:ea typeface="ＭＳ Ｐゴシック" pitchFamily="34" charset="-128"/>
              </a:rPr>
              <a:t>H</a:t>
            </a:r>
            <a:r>
              <a:rPr lang="en-US" altLang="en-US" b="1" baseline="-25000" dirty="0">
                <a:solidFill>
                  <a:srgbClr val="000000"/>
                </a:solidFill>
                <a:ea typeface="ＭＳ Ｐゴシック" pitchFamily="34" charset="-128"/>
              </a:rPr>
              <a:t>0</a:t>
            </a:r>
            <a:r>
              <a:rPr lang="en-US" altLang="en-US" b="1" i="1" dirty="0">
                <a:solidFill>
                  <a:srgbClr val="000000"/>
                </a:solidFill>
                <a:ea typeface="ＭＳ Ｐゴシック" pitchFamily="34" charset="-128"/>
              </a:rPr>
              <a:t>.</a:t>
            </a:r>
            <a:r>
              <a:rPr lang="en-US" altLang="en-US" b="1" dirty="0">
                <a:solidFill>
                  <a:srgbClr val="000000"/>
                </a:solidFill>
                <a:ea typeface="ＭＳ Ｐゴシック" pitchFamily="34" charset="-128"/>
              </a:rPr>
              <a:t> There is sufficient evidence to conclude that the two proportions </a:t>
            </a:r>
            <a:r>
              <a:rPr lang="en-US" altLang="ja-JP" b="1" dirty="0">
                <a:solidFill>
                  <a:srgbClr val="000000"/>
                </a:solidFill>
              </a:rPr>
              <a:t>are different.</a:t>
            </a:r>
            <a:endParaRPr lang="en-US" altLang="en-US" b="1" dirty="0">
              <a:solidFill>
                <a:srgbClr val="000000"/>
              </a:solidFill>
              <a:ea typeface="ＭＳ Ｐゴシック" pitchFamily="34" charset="-128"/>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from="(-#ppt_w/2)" to="(#ppt_x)" calcmode="lin" valueType="num">
                                      <p:cBhvr>
                                        <p:cTn id="7" dur="600" fill="hold">
                                          <p:stCondLst>
                                            <p:cond delay="0"/>
                                          </p:stCondLst>
                                        </p:cTn>
                                        <p:tgtEl>
                                          <p:spTgt spid="14"/>
                                        </p:tgtEl>
                                        <p:attrNameLst>
                                          <p:attrName>ppt_x</p:attrName>
                                        </p:attrNameLst>
                                      </p:cBhvr>
                                    </p:anim>
                                    <p:anim from="0" to="-1.0" calcmode="lin" valueType="num">
                                      <p:cBhvr>
                                        <p:cTn id="8" dur="200" decel="50000" autoRev="1" fill="hold">
                                          <p:stCondLst>
                                            <p:cond delay="600"/>
                                          </p:stCondLst>
                                        </p:cTn>
                                        <p:tgtEl>
                                          <p:spTgt spid="14"/>
                                        </p:tgtEl>
                                        <p:attrNameLst>
                                          <p:attrName>xshear</p:attrName>
                                        </p:attrNameLst>
                                      </p:cBhvr>
                                    </p:anim>
                                    <p:animScale>
                                      <p:cBhvr>
                                        <p:cTn id="9" dur="200" decel="100000" autoRev="1" fill="hold">
                                          <p:stCondLst>
                                            <p:cond delay="600"/>
                                          </p:stCondLst>
                                        </p:cTn>
                                        <p:tgtEl>
                                          <p:spTgt spid="14"/>
                                        </p:tgtEl>
                                      </p:cBhvr>
                                      <p:from x="100000" y="100000"/>
                                      <p:to x="80000" y="100000"/>
                                    </p:animScale>
                                    <p:anim by="(#ppt_h/3+#ppt_w*0.1)" calcmode="lin" valueType="num">
                                      <p:cBhvr additive="sum">
                                        <p:cTn id="10" dur="200" decel="100000" autoRev="1" fill="hold">
                                          <p:stCondLst>
                                            <p:cond delay="600"/>
                                          </p:stCondLst>
                                        </p:cTn>
                                        <p:tgtEl>
                                          <p:spTgt spid="1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 from="(-#ppt_w/2)" to="(#ppt_x)" calcmode="lin" valueType="num">
                                      <p:cBhvr>
                                        <p:cTn id="15" dur="600" fill="hold">
                                          <p:stCondLst>
                                            <p:cond delay="0"/>
                                          </p:stCondLst>
                                        </p:cTn>
                                        <p:tgtEl>
                                          <p:spTgt spid="12"/>
                                        </p:tgtEl>
                                        <p:attrNameLst>
                                          <p:attrName>ppt_x</p:attrName>
                                        </p:attrNameLst>
                                      </p:cBhvr>
                                    </p:anim>
                                    <p:anim from="0" to="-1.0" calcmode="lin" valueType="num">
                                      <p:cBhvr>
                                        <p:cTn id="16" dur="200" decel="50000" autoRev="1" fill="hold">
                                          <p:stCondLst>
                                            <p:cond delay="600"/>
                                          </p:stCondLst>
                                        </p:cTn>
                                        <p:tgtEl>
                                          <p:spTgt spid="12"/>
                                        </p:tgtEl>
                                        <p:attrNameLst>
                                          <p:attrName>xshear</p:attrName>
                                        </p:attrNameLst>
                                      </p:cBhvr>
                                    </p:anim>
                                    <p:animScale>
                                      <p:cBhvr>
                                        <p:cTn id="17" dur="200" decel="100000" autoRev="1" fill="hold">
                                          <p:stCondLst>
                                            <p:cond delay="600"/>
                                          </p:stCondLst>
                                        </p:cTn>
                                        <p:tgtEl>
                                          <p:spTgt spid="12"/>
                                        </p:tgtEl>
                                      </p:cBhvr>
                                      <p:from x="100000" y="100000"/>
                                      <p:to x="80000" y="100000"/>
                                    </p:animScale>
                                    <p:anim by="(#ppt_h/3+#ppt_w*0.1)" calcmode="lin" valueType="num">
                                      <p:cBhvr additive="sum">
                                        <p:cTn id="18" dur="200" decel="100000" autoRev="1" fill="hold">
                                          <p:stCondLst>
                                            <p:cond delay="600"/>
                                          </p:stCondLst>
                                        </p:cTn>
                                        <p:tgtEl>
                                          <p:spTgt spid="12"/>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23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5" grpId="0" animBg="1"/>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anose="020B0600070205080204" pitchFamily="34" charset="-128"/>
              </a:rPr>
              <a:t>Choosing a Sample Size for Two Sample Proportions</a:t>
            </a:r>
          </a:p>
        </p:txBody>
      </p:sp>
      <p:sp>
        <p:nvSpPr>
          <p:cNvPr id="542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80000"/>
              </a:lnSpc>
            </a:pPr>
            <a:fld id="{0EFE4B1F-827A-4481-AF0A-03CE3157EA49}" type="slidenum">
              <a:rPr lang="en-US" altLang="en-US" sz="1200">
                <a:solidFill>
                  <a:schemeClr val="accent1"/>
                </a:solidFill>
              </a:rPr>
              <a:pPr>
                <a:lnSpc>
                  <a:spcPct val="80000"/>
                </a:lnSpc>
              </a:pPr>
              <a:t>30</a:t>
            </a:fld>
            <a:endParaRPr lang="en-US" altLang="en-US" sz="1200">
              <a:solidFill>
                <a:schemeClr val="accent1"/>
              </a:solidFill>
            </a:endParaRPr>
          </a:p>
        </p:txBody>
      </p:sp>
      <p:sp>
        <p:nvSpPr>
          <p:cNvPr id="19" name="TextBox 18"/>
          <p:cNvSpPr txBox="1">
            <a:spLocks noChangeArrowheads="1"/>
          </p:cNvSpPr>
          <p:nvPr/>
        </p:nvSpPr>
        <p:spPr bwMode="auto">
          <a:xfrm>
            <a:off x="611981" y="1398588"/>
            <a:ext cx="3767138" cy="338137"/>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1600" b="1" dirty="0">
                <a:highlight>
                  <a:srgbClr val="FFFF00"/>
                </a:highlight>
              </a:rPr>
              <a:t>Using the margin-of-error approach</a:t>
            </a:r>
          </a:p>
        </p:txBody>
      </p:sp>
      <p:sp>
        <p:nvSpPr>
          <p:cNvPr id="38916" name="Rectangle 1"/>
          <p:cNvSpPr>
            <a:spLocks noChangeArrowheads="1"/>
          </p:cNvSpPr>
          <p:nvPr/>
        </p:nvSpPr>
        <p:spPr bwMode="auto">
          <a:xfrm>
            <a:off x="384175" y="1736725"/>
            <a:ext cx="4222750" cy="5016758"/>
          </a:xfrm>
          <a:prstGeom prst="rect">
            <a:avLst/>
          </a:prstGeom>
          <a:solidFill>
            <a:schemeClr val="accent4">
              <a:lumMod val="20000"/>
              <a:lumOff val="80000"/>
            </a:schemeClr>
          </a:solidFill>
          <a:ln>
            <a:noFill/>
          </a:ln>
        </p:spPr>
        <p:txBody>
          <a:bodyPr>
            <a:spAutoFit/>
          </a:bodyPr>
          <a:lstStyle/>
          <a:p>
            <a:pPr eaLnBrk="1" hangingPunct="1">
              <a:buFont typeface="Wingdings" pitchFamily="2" charset="2"/>
              <a:buNone/>
              <a:defRPr/>
            </a:pPr>
            <a:r>
              <a:rPr lang="en-US" sz="2000" dirty="0"/>
              <a:t>In the same manner that we used for choosing the sample size for a single proportion, we solve the following equation:</a:t>
            </a:r>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a:p>
            <a:pPr eaLnBrk="1" hangingPunct="1">
              <a:buFont typeface="Wingdings" pitchFamily="2" charset="2"/>
              <a:buNone/>
              <a:defRPr/>
            </a:pPr>
            <a:endParaRPr lang="en-US" sz="2000" b="1" dirty="0"/>
          </a:p>
        </p:txBody>
      </p:sp>
      <p:graphicFrame>
        <p:nvGraphicFramePr>
          <p:cNvPr id="14" name="Object 3" descr="The mathematical expression shows 'n' equals to square of bracket open z asterisk divide by m bracked close, which is multiplied to an expression given as: bracket open 'p one asterisk' sub bracket open 1 minus p one asterisk sub bracket close, plus, 'p two asterisk' bracket open 1 minus p two asterisk sub bracket close, and then bracket close."/>
          <p:cNvGraphicFramePr>
            <a:graphicFrameLocks noChangeAspect="1"/>
          </p:cNvGraphicFramePr>
          <p:nvPr>
            <p:extLst>
              <p:ext uri="{D42A27DB-BD31-4B8C-83A1-F6EECF244321}">
                <p14:modId xmlns:p14="http://schemas.microsoft.com/office/powerpoint/2010/main" val="959200882"/>
              </p:ext>
            </p:extLst>
          </p:nvPr>
        </p:nvGraphicFramePr>
        <p:xfrm>
          <a:off x="760504" y="3097680"/>
          <a:ext cx="3494087" cy="785813"/>
        </p:xfrm>
        <a:graphic>
          <a:graphicData uri="http://schemas.openxmlformats.org/presentationml/2006/ole">
            <mc:AlternateContent xmlns:mc="http://schemas.openxmlformats.org/markup-compatibility/2006">
              <mc:Choice xmlns:v="urn:schemas-microsoft-com:vml" Requires="v">
                <p:oleObj spid="_x0000_s54559" name="Equation" r:id="rId4" imgW="2032000" imgH="457200" progId="Equation.3">
                  <p:embed/>
                </p:oleObj>
              </mc:Choice>
              <mc:Fallback>
                <p:oleObj name="Equation" r:id="rId4" imgW="2032000" imgH="457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0504" y="3097680"/>
                        <a:ext cx="3494087"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3" descr="The mathematical expression shows 'n' equals to square of bracket open 1.96 divide by 0.1 bracket close, which is multiplied by an expression given as: bracket open 0.5 sub bracket open 1 minus 0.5 sub bracket close, plus 0.5 sub bracket open 1 minus 0.5 sub bracket close, and then bracket close. It is equals to 192.08."/>
          <p:cNvGraphicFramePr>
            <a:graphicFrameLocks noChangeAspect="1"/>
          </p:cNvGraphicFramePr>
          <p:nvPr>
            <p:extLst>
              <p:ext uri="{D42A27DB-BD31-4B8C-83A1-F6EECF244321}">
                <p14:modId xmlns:p14="http://schemas.microsoft.com/office/powerpoint/2010/main" val="2093800560"/>
              </p:ext>
            </p:extLst>
          </p:nvPr>
        </p:nvGraphicFramePr>
        <p:xfrm>
          <a:off x="574766" y="3883493"/>
          <a:ext cx="3952875" cy="1114425"/>
        </p:xfrm>
        <a:graphic>
          <a:graphicData uri="http://schemas.openxmlformats.org/presentationml/2006/ole">
            <mc:AlternateContent xmlns:mc="http://schemas.openxmlformats.org/markup-compatibility/2006">
              <mc:Choice xmlns:v="urn:schemas-microsoft-com:vml" Requires="v">
                <p:oleObj spid="_x0000_s54560" name="Equation" r:id="rId6" imgW="2298700" imgH="647700" progId="Equation.3">
                  <p:embed/>
                </p:oleObj>
              </mc:Choice>
              <mc:Fallback>
                <p:oleObj name="Equation" r:id="rId6" imgW="2298700" imgH="6477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4766" y="3883493"/>
                        <a:ext cx="39528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3"/>
          <p:cNvSpPr txBox="1">
            <a:spLocks noChangeArrowheads="1"/>
          </p:cNvSpPr>
          <p:nvPr/>
        </p:nvSpPr>
        <p:spPr bwMode="auto">
          <a:xfrm>
            <a:off x="517525" y="5273675"/>
            <a:ext cx="20478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t>We would include 192 women and 192 men in our study.</a:t>
            </a:r>
          </a:p>
        </p:txBody>
      </p:sp>
      <p:sp>
        <p:nvSpPr>
          <p:cNvPr id="17" name="TextBox 16"/>
          <p:cNvSpPr txBox="1">
            <a:spLocks noChangeArrowheads="1"/>
          </p:cNvSpPr>
          <p:nvPr/>
        </p:nvSpPr>
        <p:spPr bwMode="auto">
          <a:xfrm>
            <a:off x="2587716" y="5136719"/>
            <a:ext cx="1939925" cy="1477963"/>
          </a:xfrm>
          <a:prstGeom prst="rect">
            <a:avLst/>
          </a:prstGeom>
          <a:solidFill>
            <a:srgbClr val="B7D3FB"/>
          </a:solidFill>
          <a:ln w="10000">
            <a:solidFill>
              <a:srgbClr val="B88472"/>
            </a:solidFill>
            <a:miter lim="800000"/>
            <a:headEnd/>
            <a:tailEnd/>
          </a:ln>
          <a:effectLst>
            <a:outerShdw blurRad="38100" dist="30000" dir="5400000" rotWithShape="0">
              <a:srgbClr val="808080">
                <a:alpha val="45000"/>
              </a:srgbClr>
            </a:outerShdw>
          </a:effectLst>
        </p:spPr>
        <p:txBody>
          <a:bodyPr>
            <a:spAutoFit/>
          </a:bodyPr>
          <a:lstStyle/>
          <a:p>
            <a:pPr eaLnBrk="1" hangingPunct="1">
              <a:defRPr/>
            </a:pPr>
            <a:r>
              <a:rPr lang="en-US" dirty="0">
                <a:solidFill>
                  <a:srgbClr val="000000"/>
                </a:solidFill>
                <a:latin typeface="+mn-lt"/>
                <a:ea typeface="+mn-ea"/>
              </a:rPr>
              <a:t>We round down to 192 subjects because 192.08 is very close to 192.</a:t>
            </a:r>
          </a:p>
        </p:txBody>
      </p:sp>
      <p:sp>
        <p:nvSpPr>
          <p:cNvPr id="31" name="TextBox 30"/>
          <p:cNvSpPr txBox="1">
            <a:spLocks noChangeArrowheads="1"/>
          </p:cNvSpPr>
          <p:nvPr/>
        </p:nvSpPr>
        <p:spPr bwMode="auto">
          <a:xfrm>
            <a:off x="4884737" y="1422915"/>
            <a:ext cx="3767137" cy="338137"/>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1600" b="1" dirty="0">
                <a:highlight>
                  <a:srgbClr val="FFFF00"/>
                </a:highlight>
              </a:rPr>
              <a:t>Using the power approach</a:t>
            </a:r>
          </a:p>
        </p:txBody>
      </p:sp>
      <p:sp>
        <p:nvSpPr>
          <p:cNvPr id="26" name="Rectangle 1"/>
          <p:cNvSpPr>
            <a:spLocks noChangeArrowheads="1"/>
          </p:cNvSpPr>
          <p:nvPr/>
        </p:nvSpPr>
        <p:spPr bwMode="auto">
          <a:xfrm>
            <a:off x="4757738" y="1736725"/>
            <a:ext cx="4021137" cy="5016758"/>
          </a:xfrm>
          <a:prstGeom prst="rect">
            <a:avLst/>
          </a:prstGeom>
          <a:solidFill>
            <a:schemeClr val="accent6">
              <a:lumMod val="20000"/>
              <a:lumOff val="80000"/>
            </a:schemeClr>
          </a:solidFill>
          <a:ln>
            <a:noFill/>
          </a:ln>
        </p:spPr>
        <p:txBody>
          <a:bodyPr>
            <a:spAutoFit/>
          </a:bodyPr>
          <a:lstStyle/>
          <a:p>
            <a:pPr algn="just" eaLnBrk="1" hangingPunct="1">
              <a:buFont typeface="Wingdings" pitchFamily="2" charset="2"/>
              <a:buNone/>
              <a:defRPr/>
            </a:pPr>
            <a:r>
              <a:rPr lang="en-US" altLang="en-US" sz="2000" dirty="0"/>
              <a:t>For two samples, the inputs are the true value of </a:t>
            </a:r>
            <a:r>
              <a:rPr lang="en-US" altLang="en-US" sz="2000" i="1" dirty="0"/>
              <a:t>p</a:t>
            </a:r>
            <a:r>
              <a:rPr lang="en-US" altLang="en-US" sz="2000" baseline="-25000" dirty="0"/>
              <a:t>1 </a:t>
            </a:r>
            <a:r>
              <a:rPr lang="en-US" altLang="en-US" sz="2000" dirty="0"/>
              <a:t>– </a:t>
            </a:r>
            <a:r>
              <a:rPr lang="en-US" altLang="en-US" sz="2000" i="1" dirty="0"/>
              <a:t>p</a:t>
            </a:r>
            <a:r>
              <a:rPr lang="en-US" altLang="en-US" sz="2000" baseline="-25000" dirty="0"/>
              <a:t>2 </a:t>
            </a:r>
            <a:r>
              <a:rPr lang="en-US" altLang="en-US" sz="2000" dirty="0"/>
              <a:t>in the null hypothesis, the values in the alternative hypothesis, the significance level, and the power. Suppose we want a two-sided alternative at a 5% significance level and a power of 80%. Also assume that </a:t>
            </a:r>
            <a:r>
              <a:rPr lang="en-US" altLang="en-US" sz="2000" i="1" dirty="0"/>
              <a:t>p</a:t>
            </a:r>
            <a:r>
              <a:rPr lang="en-US" altLang="en-US" sz="2000" baseline="-25000" dirty="0"/>
              <a:t>1 </a:t>
            </a:r>
            <a:r>
              <a:rPr lang="en-US" altLang="en-US" sz="2000" dirty="0"/>
              <a:t>– </a:t>
            </a:r>
            <a:r>
              <a:rPr lang="en-US" altLang="en-US" sz="2000" i="1" dirty="0"/>
              <a:t>p</a:t>
            </a:r>
            <a:r>
              <a:rPr lang="en-US" altLang="en-US" sz="2000" baseline="-25000" dirty="0"/>
              <a:t>2 </a:t>
            </a:r>
            <a:r>
              <a:rPr lang="en-US" altLang="en-US" sz="2000" dirty="0"/>
              <a:t>= 0, </a:t>
            </a:r>
            <a:r>
              <a:rPr lang="en-US" altLang="en-US" sz="2000" i="1" dirty="0"/>
              <a:t>p</a:t>
            </a:r>
            <a:r>
              <a:rPr lang="en-US" altLang="en-US" sz="2000" baseline="-25000" dirty="0"/>
              <a:t>1</a:t>
            </a:r>
            <a:r>
              <a:rPr lang="en-US" altLang="en-US" sz="2000" dirty="0"/>
              <a:t> = 0.6, and </a:t>
            </a:r>
            <a:r>
              <a:rPr lang="en-US" altLang="en-US" sz="2000" i="1" dirty="0"/>
              <a:t>p</a:t>
            </a:r>
            <a:r>
              <a:rPr lang="en-US" altLang="en-US" sz="2000" baseline="-25000" dirty="0"/>
              <a:t>2</a:t>
            </a:r>
            <a:r>
              <a:rPr lang="en-US" altLang="en-US" sz="2000" dirty="0"/>
              <a:t> = 0.4.</a:t>
            </a:r>
            <a:endParaRPr lang="en-US" altLang="en-US" sz="2000" b="1" dirty="0"/>
          </a:p>
          <a:p>
            <a:pPr eaLnBrk="1" hangingPunct="1">
              <a:buFont typeface="Wingdings" pitchFamily="2" charset="2"/>
              <a:buNone/>
              <a:defRPr/>
            </a:pPr>
            <a:endParaRPr lang="en-US" altLang="en-US" sz="2000" b="1" dirty="0"/>
          </a:p>
          <a:p>
            <a:pPr eaLnBrk="1" hangingPunct="1">
              <a:buFont typeface="Wingdings" pitchFamily="2" charset="2"/>
              <a:buNone/>
              <a:defRPr/>
            </a:pPr>
            <a:endParaRPr lang="en-US" altLang="en-US" sz="2000" b="1" dirty="0"/>
          </a:p>
          <a:p>
            <a:pPr eaLnBrk="1" hangingPunct="1">
              <a:buFont typeface="Wingdings" pitchFamily="2" charset="2"/>
              <a:buNone/>
              <a:defRPr/>
            </a:pPr>
            <a:endParaRPr lang="en-US" altLang="en-US" sz="2000" b="1" dirty="0"/>
          </a:p>
          <a:p>
            <a:pPr eaLnBrk="1" hangingPunct="1">
              <a:buFont typeface="Wingdings" pitchFamily="2" charset="2"/>
              <a:buNone/>
              <a:defRPr/>
            </a:pPr>
            <a:endParaRPr lang="en-US" altLang="en-US" sz="2000" b="1" dirty="0"/>
          </a:p>
          <a:p>
            <a:pPr eaLnBrk="1" hangingPunct="1">
              <a:buFont typeface="Wingdings" pitchFamily="2" charset="2"/>
              <a:buNone/>
              <a:defRPr/>
            </a:pPr>
            <a:endParaRPr lang="en-US" altLang="en-US" sz="2000" b="1" dirty="0"/>
          </a:p>
          <a:p>
            <a:pPr eaLnBrk="1" hangingPunct="1">
              <a:buFont typeface="Wingdings" pitchFamily="2" charset="2"/>
              <a:buNone/>
              <a:defRPr/>
            </a:pPr>
            <a:endParaRPr lang="en-US" altLang="en-US" sz="2000" b="1" dirty="0"/>
          </a:p>
        </p:txBody>
      </p:sp>
      <p:sp>
        <p:nvSpPr>
          <p:cNvPr id="30" name="TextBox 29"/>
          <p:cNvSpPr txBox="1"/>
          <p:nvPr/>
        </p:nvSpPr>
        <p:spPr>
          <a:xfrm>
            <a:off x="5210967" y="5411787"/>
            <a:ext cx="3114675" cy="923925"/>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eaLnBrk="1" hangingPunct="1">
              <a:defRPr/>
            </a:pPr>
            <a:r>
              <a:rPr lang="en-US" dirty="0"/>
              <a:t>Software output shows us that we should have 97 for each sample.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par>
                          <p:cTn id="17" fill="hold" nodeType="afterGroup">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5"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500"/>
                                        <p:tgtEl>
                                          <p:spTgt spid="30"/>
                                        </p:tgtEl>
                                      </p:cBhvr>
                                    </p:animEffect>
                                    <p:anim calcmode="lin" valueType="num">
                                      <p:cBhvr>
                                        <p:cTn id="34" dur="500" fill="hold"/>
                                        <p:tgtEl>
                                          <p:spTgt spid="30"/>
                                        </p:tgtEl>
                                        <p:attrNameLst>
                                          <p:attrName>ppt_w</p:attrName>
                                        </p:attrNameLst>
                                      </p:cBhvr>
                                      <p:tavLst>
                                        <p:tav tm="0" fmla="#ppt_w*sin(2.5*pi*$)">
                                          <p:val>
                                            <p:fltVal val="0"/>
                                          </p:val>
                                        </p:tav>
                                        <p:tav tm="100000">
                                          <p:val>
                                            <p:fltVal val="1"/>
                                          </p:val>
                                        </p:tav>
                                      </p:tavLst>
                                    </p:anim>
                                    <p:anim calcmode="lin" valueType="num">
                                      <p:cBhvr>
                                        <p:cTn id="35" dur="500" fill="hold"/>
                                        <p:tgtEl>
                                          <p:spTgt spid="3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7" grpId="0" animBg="1"/>
      <p:bldP spid="31" grpId="0" animBg="1"/>
      <p:bldP spid="26" grpId="0" animBg="1"/>
      <p:bldP spid="3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type="title"/>
          </p:nvPr>
        </p:nvSpPr>
        <p:spPr/>
        <p:txBody>
          <a:bodyPr/>
          <a:lstStyle/>
          <a:p>
            <a:pPr eaLnBrk="1" hangingPunct="1"/>
            <a:r>
              <a:rPr lang="en-US" altLang="en-US">
                <a:ea typeface="ＭＳ Ｐゴシック" panose="020B0600070205080204" pitchFamily="34" charset="-128"/>
              </a:rPr>
              <a:t>Relative Risk</a:t>
            </a:r>
            <a:endParaRPr lang="en-US" altLang="en-US" dirty="0">
              <a:ea typeface="ＭＳ Ｐゴシック" panose="020B0600070205080204" pitchFamily="34" charset="-128"/>
            </a:endParaRPr>
          </a:p>
        </p:txBody>
      </p:sp>
      <p:sp>
        <p:nvSpPr>
          <p:cNvPr id="55299" name="Rectangle 4"/>
          <p:cNvSpPr>
            <a:spLocks noGrp="1" noChangeArrowheads="1"/>
          </p:cNvSpPr>
          <p:nvPr>
            <p:ph type="body" idx="4294967295"/>
          </p:nvPr>
        </p:nvSpPr>
        <p:spPr>
          <a:xfrm>
            <a:off x="382588" y="1049338"/>
            <a:ext cx="8229600" cy="1957387"/>
          </a:xfrm>
          <a:solidFill>
            <a:srgbClr val="FFD780"/>
          </a:solidFill>
        </p:spPr>
        <p:txBody>
          <a:bodyPr/>
          <a:lstStyle/>
          <a:p>
            <a:pPr marL="0" indent="0" algn="just" eaLnBrk="1" hangingPunct="1">
              <a:buFont typeface="Wingdings" panose="05000000000000000000" pitchFamily="2" charset="2"/>
              <a:buNone/>
            </a:pPr>
            <a:r>
              <a:rPr lang="en-US" altLang="en-US" sz="1800" dirty="0">
                <a:solidFill>
                  <a:srgbClr val="000000"/>
                </a:solidFill>
                <a:ea typeface="ＭＳ Ｐゴシック" panose="020B0600070205080204" pitchFamily="34" charset="-128"/>
              </a:rPr>
              <a:t>Another way to compare two proportions is to study the ratio of the two proportions, which is often called the </a:t>
            </a:r>
            <a:r>
              <a:rPr lang="en-US" altLang="en-US" sz="1800" b="1" dirty="0">
                <a:solidFill>
                  <a:schemeClr val="tx1"/>
                </a:solidFill>
                <a:ea typeface="ＭＳ Ｐゴシック" panose="020B0600070205080204" pitchFamily="34" charset="-128"/>
              </a:rPr>
              <a:t>relative risk (RR)</a:t>
            </a:r>
            <a:r>
              <a:rPr lang="en-US" altLang="en-US" sz="1800" dirty="0">
                <a:solidFill>
                  <a:schemeClr val="tx1"/>
                </a:solidFill>
                <a:ea typeface="ＭＳ Ｐゴシック" panose="020B0600070205080204" pitchFamily="34" charset="-128"/>
              </a:rPr>
              <a:t>. </a:t>
            </a:r>
            <a:r>
              <a:rPr lang="en-US" altLang="en-US" sz="1800" dirty="0">
                <a:solidFill>
                  <a:srgbClr val="000000"/>
                </a:solidFill>
                <a:ea typeface="ＭＳ Ｐゴシック" panose="020B0600070205080204" pitchFamily="34" charset="-128"/>
              </a:rPr>
              <a:t>A relative risk of 1 means that the two proportions are equal. </a:t>
            </a:r>
          </a:p>
          <a:p>
            <a:pPr marL="0" indent="0" algn="just" eaLnBrk="1" hangingPunct="1">
              <a:buFont typeface="Wingdings" panose="05000000000000000000" pitchFamily="2" charset="2"/>
              <a:buNone/>
            </a:pPr>
            <a:r>
              <a:rPr lang="en-US" altLang="en-US" sz="1800" dirty="0">
                <a:solidFill>
                  <a:srgbClr val="000000"/>
                </a:solidFill>
                <a:ea typeface="ＭＳ Ｐゴシック" panose="020B0600070205080204" pitchFamily="34" charset="-128"/>
              </a:rPr>
              <a:t>The procedure for calculating confidence intervals for relative risk is more complicated (use software) but still based on the same principles that we have studied.</a:t>
            </a:r>
          </a:p>
        </p:txBody>
      </p:sp>
      <p:sp>
        <p:nvSpPr>
          <p:cNvPr id="1218565" name="Rectangle 5"/>
          <p:cNvSpPr>
            <a:spLocks noChangeArrowheads="1"/>
          </p:cNvSpPr>
          <p:nvPr/>
        </p:nvSpPr>
        <p:spPr bwMode="auto">
          <a:xfrm>
            <a:off x="382588" y="3006725"/>
            <a:ext cx="8382000"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20000"/>
              </a:spcBef>
              <a:buClr>
                <a:srgbClr val="00CC99"/>
              </a:buClr>
              <a:buSzPct val="65000"/>
              <a:buFont typeface="Wingdings" panose="05000000000000000000" pitchFamily="2" charset="2"/>
              <a:buNone/>
            </a:pPr>
            <a:r>
              <a:rPr lang="en-US" altLang="en-US" b="1" dirty="0"/>
              <a:t>Example:</a:t>
            </a:r>
            <a:r>
              <a:rPr lang="en-US" altLang="en-US" dirty="0"/>
              <a:t> A study of patients who had blood clots and completed the standard treatment were randomly assigned to receive a low-dose aspirin or a placebo treatment. Counts of patients who experienced one or more related medical conditions during follow-up monitoring were reported. One such chart follows. </a:t>
            </a:r>
          </a:p>
        </p:txBody>
      </p:sp>
      <mc:AlternateContent xmlns:mc="http://schemas.openxmlformats.org/markup-compatibility/2006" xmlns:a14="http://schemas.microsoft.com/office/drawing/2010/main">
        <mc:Choice Requires="a14">
          <p:graphicFrame>
            <p:nvGraphicFramePr>
              <p:cNvPr id="1218566" name="Group 6" descr="The table has 4 columms viz. medical treatment, and these are labeled, column 2 &quot;Number with a major vascular event,&quot; column 3 &quot;Sample size,&quot; and column 4 &quot;pooled sample proportion, p hat.&quot; For aspirin, number with major vascular event is 45 with sample size of 411 and  pooled sample proportion, p hat of 11.0 percent. Similarly for Placebo, the parameters are 73, 411 and 17.8%, corresponding to column 2, 3, and 4, respectively."/>
              <p:cNvGraphicFramePr>
                <a:graphicFrameLocks noGrp="1"/>
              </p:cNvGraphicFramePr>
              <p:nvPr>
                <p:extLst>
                  <p:ext uri="{D42A27DB-BD31-4B8C-83A1-F6EECF244321}">
                    <p14:modId xmlns:p14="http://schemas.microsoft.com/office/powerpoint/2010/main" val="1072556316"/>
                  </p:ext>
                </p:extLst>
              </p:nvPr>
            </p:nvGraphicFramePr>
            <p:xfrm>
              <a:off x="457200" y="4552950"/>
              <a:ext cx="5805488" cy="1595439"/>
            </p:xfrm>
            <a:graphic>
              <a:graphicData uri="http://schemas.openxmlformats.org/drawingml/2006/table">
                <a:tbl>
                  <a:tblPr firstRow="1"/>
                  <a:tblGrid>
                    <a:gridCol w="1204913">
                      <a:extLst>
                        <a:ext uri="{9D8B030D-6E8A-4147-A177-3AD203B41FA5}">
                          <a16:colId xmlns:a16="http://schemas.microsoft.com/office/drawing/2014/main" xmlns="" val="20000"/>
                        </a:ext>
                      </a:extLst>
                    </a:gridCol>
                    <a:gridCol w="2032000">
                      <a:extLst>
                        <a:ext uri="{9D8B030D-6E8A-4147-A177-3AD203B41FA5}">
                          <a16:colId xmlns:a16="http://schemas.microsoft.com/office/drawing/2014/main" xmlns="" val="20001"/>
                        </a:ext>
                      </a:extLst>
                    </a:gridCol>
                    <a:gridCol w="1423987">
                      <a:extLst>
                        <a:ext uri="{9D8B030D-6E8A-4147-A177-3AD203B41FA5}">
                          <a16:colId xmlns:a16="http://schemas.microsoft.com/office/drawing/2014/main" xmlns="" val="20002"/>
                        </a:ext>
                      </a:extLst>
                    </a:gridCol>
                    <a:gridCol w="1144588">
                      <a:extLst>
                        <a:ext uri="{9D8B030D-6E8A-4147-A177-3AD203B41FA5}">
                          <a16:colId xmlns:a16="http://schemas.microsoft.com/office/drawing/2014/main" xmlns="" val="20003"/>
                        </a:ext>
                      </a:extLst>
                    </a:gridCol>
                  </a:tblGrid>
                  <a:tr h="560657">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400" b="0" i="0" u="none" strike="noStrike" cap="none" normalizeH="0" baseline="0" dirty="0">
                            <a:ln>
                              <a:noFill/>
                            </a:ln>
                            <a:solidFill>
                              <a:schemeClr val="tx1"/>
                            </a:solidFill>
                            <a:effectLst/>
                            <a:latin typeface="Arial" pitchFamily="34" charset="0"/>
                            <a:ea typeface="ＭＳ Ｐゴシック" pitchFamily="34" charset="-128"/>
                          </a:endParaRPr>
                        </a:p>
                      </a:txBody>
                      <a:tcPr marL="91442" marR="91442" marT="45693" marB="4569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Number with a major vascular event</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Sample size</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14:m>
                            <m:oMathPara xmlns:m="http://schemas.openxmlformats.org/officeDocument/2006/math">
                              <m:oMathParaPr>
                                <m:jc m:val="centerGroup"/>
                              </m:oMathParaPr>
                              <m:oMath xmlns:m="http://schemas.openxmlformats.org/officeDocument/2006/math">
                                <m:acc>
                                  <m:accPr>
                                    <m:chr m:val="̂"/>
                                    <m:ctrlPr>
                                      <a:rPr kumimoji="0" lang="en-US" altLang="en-US" sz="14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accPr>
                                  <m:e>
                                    <m:r>
                                      <a:rPr kumimoji="0" lang="en-US" altLang="en-US" sz="14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𝑝</m:t>
                                    </m:r>
                                  </m:e>
                                </m:acc>
                              </m:oMath>
                            </m:oMathPara>
                          </a14:m>
                          <a:endParaRPr kumimoji="0" lang="en-US" altLang="en-US" sz="1400" b="0" i="0" u="none" strike="noStrike" cap="none" normalizeH="0" baseline="0" dirty="0">
                            <a:ln>
                              <a:noFill/>
                            </a:ln>
                            <a:solidFill>
                              <a:schemeClr val="tx1"/>
                            </a:solidFill>
                            <a:effectLst/>
                            <a:latin typeface="Arial" pitchFamily="34" charset="0"/>
                            <a:ea typeface="ＭＳ Ｐゴシック" pitchFamily="34" charset="-128"/>
                          </a:endParaRPr>
                        </a:p>
                      </a:txBody>
                      <a:tcPr marL="91442" marR="91442" marT="45693" marB="4569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0"/>
                      </a:ext>
                    </a:extLst>
                  </a:tr>
                  <a:tr h="517391">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Aspirin</a:t>
                          </a:r>
                        </a:p>
                      </a:txBody>
                      <a:tcPr marL="91442" marR="91442" marT="45693" marB="4569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45</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411</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11.0%</a:t>
                          </a:r>
                        </a:p>
                      </a:txBody>
                      <a:tcPr marL="91442" marR="91442" marT="45693" marB="4569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1"/>
                      </a:ext>
                    </a:extLst>
                  </a:tr>
                  <a:tr h="517391">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Placebo</a:t>
                          </a:r>
                        </a:p>
                      </a:txBody>
                      <a:tcPr marL="91442" marR="91442" marT="45693" marB="4569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73</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411</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17.8%</a:t>
                          </a:r>
                        </a:p>
                      </a:txBody>
                      <a:tcPr marL="91442" marR="91442" marT="45693" marB="4569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33"/>
                        </a:solidFill>
                      </a:tcPr>
                    </a:tc>
                    <a:extLst>
                      <a:ext uri="{0D108BD9-81ED-4DB2-BD59-A6C34878D82A}">
                        <a16:rowId xmlns:a16="http://schemas.microsoft.com/office/drawing/2014/main" xmlns="" val="10002"/>
                      </a:ext>
                    </a:extLst>
                  </a:tr>
                </a:tbl>
              </a:graphicData>
            </a:graphic>
          </p:graphicFrame>
        </mc:Choice>
        <mc:Fallback xmlns="">
          <p:graphicFrame>
            <p:nvGraphicFramePr>
              <p:cNvPr id="1218566" name="Group 6" descr="The table has 4 columms viz. medical treatment, and these are labeled, column 2 &quot;Number with a major vascular event,&quot; column 3 &quot;Sample size,&quot; and column 4 &quot;pooled sample proportion, p hat.&quot; For aspirin, number with major vascular event is 45 with sample size of 411 and  pooled sample proportion, p hat of 11.0 percent. Similarly for Placebo, the parameters are 73, 411 and 17.8%, corresponding to column 2, 3, and 4, respectively."/>
              <p:cNvGraphicFramePr>
                <a:graphicFrameLocks noGrp="1"/>
              </p:cNvGraphicFramePr>
              <p:nvPr>
                <p:extLst>
                  <p:ext uri="{D42A27DB-BD31-4B8C-83A1-F6EECF244321}">
                    <p14:modId xmlns:p14="http://schemas.microsoft.com/office/powerpoint/2010/main" val="1072556316"/>
                  </p:ext>
                </p:extLst>
              </p:nvPr>
            </p:nvGraphicFramePr>
            <p:xfrm>
              <a:off x="457200" y="4552950"/>
              <a:ext cx="5805488" cy="1595439"/>
            </p:xfrm>
            <a:graphic>
              <a:graphicData uri="http://schemas.openxmlformats.org/drawingml/2006/table">
                <a:tbl>
                  <a:tblPr firstRow="1"/>
                  <a:tblGrid>
                    <a:gridCol w="1204913"/>
                    <a:gridCol w="2032000"/>
                    <a:gridCol w="1423987"/>
                    <a:gridCol w="1144588"/>
                  </a:tblGrid>
                  <a:tr h="560657">
                    <a:tc>
                      <a:txBody>
                        <a:body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400" b="0" i="0" u="none" strike="noStrike" cap="none" normalizeH="0" baseline="0" dirty="0" smtClean="0">
                            <a:ln>
                              <a:noFill/>
                            </a:ln>
                            <a:solidFill>
                              <a:schemeClr val="tx1"/>
                            </a:solidFill>
                            <a:effectLst/>
                            <a:latin typeface="Arial" pitchFamily="34" charset="0"/>
                            <a:ea typeface="ＭＳ Ｐゴシック" pitchFamily="34" charset="-128"/>
                          </a:endParaRPr>
                        </a:p>
                      </a:txBody>
                      <a:tcPr marL="91442" marR="91442" marT="45693" marB="4569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smtClean="0">
                              <a:ln>
                                <a:noFill/>
                              </a:ln>
                              <a:solidFill>
                                <a:schemeClr val="tx1"/>
                              </a:solidFill>
                              <a:effectLst/>
                              <a:latin typeface="Arial" pitchFamily="34" charset="0"/>
                              <a:ea typeface="ＭＳ Ｐゴシック" pitchFamily="34" charset="-128"/>
                            </a:rPr>
                            <a:t>Number with a major vascular event</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smtClean="0">
                              <a:ln>
                                <a:noFill/>
                              </a:ln>
                              <a:solidFill>
                                <a:schemeClr val="tx1"/>
                              </a:solidFill>
                              <a:effectLst/>
                              <a:latin typeface="Arial" pitchFamily="34" charset="0"/>
                              <a:ea typeface="ＭＳ Ｐゴシック" pitchFamily="34" charset="-128"/>
                            </a:rPr>
                            <a:t>Sample </a:t>
                          </a:r>
                          <a:r>
                            <a:rPr kumimoji="0" lang="en-US" altLang="en-US" sz="1400" b="0" i="0" u="none" strike="noStrike" cap="none" normalizeH="0" baseline="0" dirty="0" smtClean="0">
                              <a:ln>
                                <a:noFill/>
                              </a:ln>
                              <a:solidFill>
                                <a:schemeClr val="tx1"/>
                              </a:solidFill>
                              <a:effectLst/>
                              <a:latin typeface="Arial" pitchFamily="34" charset="0"/>
                              <a:ea typeface="ＭＳ Ｐゴシック" pitchFamily="34" charset="-128"/>
                            </a:rPr>
                            <a:t>size</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L="91442" marR="91442" marT="45693" marB="4569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0">
                          <a:blip r:embed="rId4"/>
                          <a:stretch>
                            <a:fillRect l="-408511" t="-2174" r="-2660" b="-191304"/>
                          </a:stretch>
                        </a:blipFill>
                      </a:tcPr>
                    </a:tc>
                  </a:tr>
                  <a:tr h="517391">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smtClean="0">
                              <a:ln>
                                <a:noFill/>
                              </a:ln>
                              <a:solidFill>
                                <a:schemeClr val="tx1"/>
                              </a:solidFill>
                              <a:effectLst/>
                              <a:latin typeface="Arial" pitchFamily="34" charset="0"/>
                              <a:ea typeface="ＭＳ Ｐゴシック" pitchFamily="34" charset="-128"/>
                            </a:rPr>
                            <a:t>Aspirin</a:t>
                          </a:r>
                        </a:p>
                      </a:txBody>
                      <a:tcPr marL="91442" marR="91442" marT="45693" marB="4569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smtClean="0">
                              <a:ln>
                                <a:noFill/>
                              </a:ln>
                              <a:solidFill>
                                <a:schemeClr val="tx1"/>
                              </a:solidFill>
                              <a:effectLst/>
                              <a:latin typeface="Arial" pitchFamily="34" charset="0"/>
                              <a:ea typeface="ＭＳ Ｐゴシック" pitchFamily="34" charset="-128"/>
                            </a:rPr>
                            <a:t>45</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smtClean="0">
                              <a:ln>
                                <a:noFill/>
                              </a:ln>
                              <a:solidFill>
                                <a:schemeClr val="tx1"/>
                              </a:solidFill>
                              <a:effectLst/>
                              <a:latin typeface="Arial" pitchFamily="34" charset="0"/>
                              <a:ea typeface="ＭＳ Ｐゴシック" pitchFamily="34" charset="-128"/>
                            </a:rPr>
                            <a:t>411</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smtClean="0">
                              <a:ln>
                                <a:noFill/>
                              </a:ln>
                              <a:solidFill>
                                <a:schemeClr val="tx1"/>
                              </a:solidFill>
                              <a:effectLst/>
                              <a:latin typeface="Arial" pitchFamily="34" charset="0"/>
                              <a:ea typeface="ＭＳ Ｐゴシック" pitchFamily="34" charset="-128"/>
                            </a:rPr>
                            <a:t>11.0%</a:t>
                          </a:r>
                        </a:p>
                      </a:txBody>
                      <a:tcPr marL="91442" marR="91442" marT="45693" marB="4569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33"/>
                        </a:solidFill>
                      </a:tcPr>
                    </a:tc>
                  </a:tr>
                  <a:tr h="517391">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smtClean="0">
                              <a:ln>
                                <a:noFill/>
                              </a:ln>
                              <a:solidFill>
                                <a:schemeClr val="tx1"/>
                              </a:solidFill>
                              <a:effectLst/>
                              <a:latin typeface="Arial" pitchFamily="34" charset="0"/>
                              <a:ea typeface="ＭＳ Ｐゴシック" pitchFamily="34" charset="-128"/>
                            </a:rPr>
                            <a:t>Placebo</a:t>
                          </a:r>
                        </a:p>
                      </a:txBody>
                      <a:tcPr marL="91442" marR="91442" marT="45693" marB="4569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smtClean="0">
                              <a:ln>
                                <a:noFill/>
                              </a:ln>
                              <a:solidFill>
                                <a:schemeClr val="tx1"/>
                              </a:solidFill>
                              <a:effectLst/>
                              <a:latin typeface="Arial" pitchFamily="34" charset="0"/>
                              <a:ea typeface="ＭＳ Ｐゴシック" pitchFamily="34" charset="-128"/>
                            </a:rPr>
                            <a:t>73</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smtClean="0">
                              <a:ln>
                                <a:noFill/>
                              </a:ln>
                              <a:solidFill>
                                <a:schemeClr val="tx1"/>
                              </a:solidFill>
                              <a:effectLst/>
                              <a:latin typeface="Arial" pitchFamily="34" charset="0"/>
                              <a:ea typeface="ＭＳ Ｐゴシック" pitchFamily="34" charset="-128"/>
                            </a:rPr>
                            <a:t>411</a:t>
                          </a:r>
                        </a:p>
                      </a:txBody>
                      <a:tcPr marL="91442" marR="91442" marT="45693" marB="4569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400" b="0" i="0" u="none" strike="noStrike" cap="none" normalizeH="0" baseline="0" dirty="0" smtClean="0">
                              <a:ln>
                                <a:noFill/>
                              </a:ln>
                              <a:solidFill>
                                <a:schemeClr val="tx1"/>
                              </a:solidFill>
                              <a:effectLst/>
                              <a:latin typeface="Arial" pitchFamily="34" charset="0"/>
                              <a:ea typeface="ＭＳ Ｐゴシック" pitchFamily="34" charset="-128"/>
                            </a:rPr>
                            <a:t>17.8%</a:t>
                          </a:r>
                        </a:p>
                      </a:txBody>
                      <a:tcPr marL="91442" marR="91442" marT="45693" marB="4569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33"/>
                        </a:solidFill>
                      </a:tcPr>
                    </a:tc>
                  </a:tr>
                </a:tbl>
              </a:graphicData>
            </a:graphic>
          </p:graphicFrame>
        </mc:Fallback>
      </mc:AlternateContent>
      <p:graphicFrame>
        <p:nvGraphicFramePr>
          <p:cNvPr id="2" name="Object 1"/>
          <p:cNvGraphicFramePr>
            <a:graphicFrameLocks noChangeAspect="1"/>
          </p:cNvGraphicFramePr>
          <p:nvPr>
            <p:extLst>
              <p:ext uri="{D42A27DB-BD31-4B8C-83A1-F6EECF244321}">
                <p14:modId xmlns:p14="http://schemas.microsoft.com/office/powerpoint/2010/main" val="745064428"/>
              </p:ext>
            </p:extLst>
          </p:nvPr>
        </p:nvGraphicFramePr>
        <p:xfrm>
          <a:off x="6503669" y="4964112"/>
          <a:ext cx="2476095" cy="775343"/>
        </p:xfrm>
        <a:graphic>
          <a:graphicData uri="http://schemas.openxmlformats.org/presentationml/2006/ole">
            <mc:AlternateContent xmlns:mc="http://schemas.openxmlformats.org/markup-compatibility/2006">
              <mc:Choice xmlns:v="urn:schemas-microsoft-com:vml" Requires="v">
                <p:oleObj spid="_x0000_s55566" name="Equation" r:id="rId5" imgW="1257120" imgH="393480" progId="Equation.DSMT4">
                  <p:embed/>
                </p:oleObj>
              </mc:Choice>
              <mc:Fallback>
                <p:oleObj name="Equation" r:id="rId5" imgW="1257120" imgH="393480" progId="Equation.DSMT4">
                  <p:embed/>
                  <p:pic>
                    <p:nvPicPr>
                      <p:cNvPr id="0" name=""/>
                      <p:cNvPicPr/>
                      <p:nvPr/>
                    </p:nvPicPr>
                    <p:blipFill>
                      <a:blip r:embed="rId6"/>
                      <a:stretch>
                        <a:fillRect/>
                      </a:stretch>
                    </p:blipFill>
                    <p:spPr>
                      <a:xfrm>
                        <a:off x="6503669" y="4964112"/>
                        <a:ext cx="2476095" cy="775343"/>
                      </a:xfrm>
                      <a:prstGeom prst="rect">
                        <a:avLst/>
                      </a:prstGeom>
                    </p:spPr>
                  </p:pic>
                </p:oleObj>
              </mc:Fallback>
            </mc:AlternateContent>
          </a:graphicData>
        </a:graphic>
      </p:graphicFrame>
      <p:sp>
        <p:nvSpPr>
          <p:cNvPr id="1218589" name="Rectangle 29"/>
          <p:cNvSpPr>
            <a:spLocks noChangeArrowheads="1"/>
          </p:cNvSpPr>
          <p:nvPr/>
        </p:nvSpPr>
        <p:spPr bwMode="auto">
          <a:xfrm>
            <a:off x="306388" y="6229350"/>
            <a:ext cx="8534400" cy="441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lnSpc>
                <a:spcPct val="120000"/>
              </a:lnSpc>
              <a:spcBef>
                <a:spcPct val="20000"/>
              </a:spcBef>
              <a:buClr>
                <a:srgbClr val="00CC99"/>
              </a:buClr>
              <a:buSzPct val="65000"/>
              <a:buFont typeface="Wingdings" panose="05000000000000000000" pitchFamily="2" charset="2"/>
              <a:buNone/>
            </a:pPr>
            <a:r>
              <a:rPr lang="en-US" altLang="en-US" dirty="0"/>
              <a:t>Patients using aspirin have 62% of the events that placebo patients have.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185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1856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8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65" grpId="0"/>
      <p:bldP spid="121858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65760"/>
            <a:ext cx="7907311" cy="1691640"/>
          </a:xfrm>
        </p:spPr>
        <p:txBody>
          <a:bodyPr/>
          <a:lstStyle/>
          <a:p>
            <a:r>
              <a:rPr lang="en-US" altLang="en-US" b="1" dirty="0"/>
              <a:t>Chapter 8</a:t>
            </a:r>
            <a:br>
              <a:rPr lang="en-US" altLang="en-US" b="1" dirty="0"/>
            </a:br>
            <a:r>
              <a:rPr lang="en-US" altLang="en-US" b="1" dirty="0"/>
              <a:t>Inference for Proportions (Review)</a:t>
            </a:r>
            <a:endParaRPr lang="en-US" b="1" dirty="0"/>
          </a:p>
        </p:txBody>
      </p:sp>
      <p:sp>
        <p:nvSpPr>
          <p:cNvPr id="3" name="Content Placeholder 2"/>
          <p:cNvSpPr>
            <a:spLocks noGrp="1"/>
          </p:cNvSpPr>
          <p:nvPr>
            <p:ph idx="1"/>
          </p:nvPr>
        </p:nvSpPr>
        <p:spPr>
          <a:xfrm>
            <a:off x="457200" y="2419664"/>
            <a:ext cx="6508750" cy="1691640"/>
          </a:xfrm>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anose="020B0604020202020204" pitchFamily="34" charset="0"/>
                <a:ea typeface="ＭＳ Ｐゴシック" panose="020B0600070205080204" pitchFamily="34" charset="-128"/>
                <a:cs typeface="+mn-cs"/>
              </a:rPr>
              <a:t>8.1 Inference for a Single Proportion</a:t>
            </a:r>
          </a:p>
          <a:p>
            <a:pPr marL="0" lvl="0" indent="0" eaLnBrk="1" hangingPunct="1">
              <a:spcBef>
                <a:spcPct val="0"/>
              </a:spcBef>
              <a:spcAft>
                <a:spcPts val="1800"/>
              </a:spcAft>
              <a:buClrTx/>
              <a:buSzTx/>
              <a:buNone/>
            </a:pPr>
            <a:r>
              <a:rPr lang="en-US" altLang="en-US" sz="2800" b="1" dirty="0">
                <a:solidFill>
                  <a:srgbClr val="073779"/>
                </a:solidFill>
                <a:latin typeface="Arial" panose="020B0604020202020204" pitchFamily="34" charset="0"/>
                <a:ea typeface="ＭＳ Ｐゴシック" panose="020B0600070205080204" pitchFamily="34" charset="-128"/>
                <a:cs typeface="+mn-cs"/>
              </a:rPr>
              <a:t>8.2 Comparing Two Proportions</a:t>
            </a:r>
          </a:p>
        </p:txBody>
      </p:sp>
      <p:sp>
        <p:nvSpPr>
          <p:cNvPr id="56322"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8EAA86A0-FFD9-4F3A-B3AF-2CCB39512519}" type="slidenum">
              <a:rPr lang="en-US" altLang="en-US">
                <a:solidFill>
                  <a:schemeClr val="accent1"/>
                </a:solidFill>
              </a:rPr>
              <a:pPr/>
              <a:t>32</a:t>
            </a:fld>
            <a:endParaRPr lang="en-US" altLang="en-US">
              <a:solidFill>
                <a:schemeClr val="accent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7518</TotalTime>
  <Words>2926</Words>
  <Application>Microsoft Office PowerPoint</Application>
  <PresentationFormat>On-screen Show (4:3)</PresentationFormat>
  <Paragraphs>289</Paragraphs>
  <Slides>32</Slides>
  <Notes>17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32</vt:i4>
      </vt:variant>
    </vt:vector>
  </HeadingPairs>
  <TitlesOfParts>
    <vt:vector size="43" baseType="lpstr">
      <vt:lpstr>ＭＳ Ｐゴシック</vt:lpstr>
      <vt:lpstr>Arial</vt:lpstr>
      <vt:lpstr>Calibri</vt:lpstr>
      <vt:lpstr>Cambria Math</vt:lpstr>
      <vt:lpstr>Garamond</vt:lpstr>
      <vt:lpstr>Wingdings</vt:lpstr>
      <vt:lpstr>Wingdings 2</vt:lpstr>
      <vt:lpstr>ヒラギノ角ゴ Pro W3</vt:lpstr>
      <vt:lpstr>Plaza</vt:lpstr>
      <vt:lpstr>MathType 6.0 Equation</vt:lpstr>
      <vt:lpstr>Equation</vt:lpstr>
      <vt:lpstr>Chapter 8 Inference for Proportions  Lecture Slides</vt:lpstr>
      <vt:lpstr>Chapter 8 Inference for Proportions</vt:lpstr>
      <vt:lpstr>8.1 Inference for a Single Proportion</vt:lpstr>
      <vt:lpstr>Sampling Distribution of a Sample Proportion</vt:lpstr>
      <vt:lpstr>Large-Sample Confidence Interval for a Single Proportion 1</vt:lpstr>
      <vt:lpstr>Large-Sample Confidence Interval for a Single Proportion 2</vt:lpstr>
      <vt:lpstr>Large-Sample Confidence Interval for a Single Proportion 3</vt:lpstr>
      <vt:lpstr>Large-Sample Confidence Interval for a Single Proportion 4</vt:lpstr>
      <vt:lpstr>Large-Sample Confidence Interval for a Single Proportion Example</vt:lpstr>
      <vt:lpstr>The Plus Four Confidence Interval for a Single Proportion 1</vt:lpstr>
      <vt:lpstr>The Plus Four Confidence Interval for a Single Proportion 2</vt:lpstr>
      <vt:lpstr>Significance Test for a Single Proportion</vt:lpstr>
      <vt:lpstr>Significance Test for a Single Proportion Example 1</vt:lpstr>
      <vt:lpstr>Significance Test for a Single Proportion Example 2</vt:lpstr>
      <vt:lpstr>Choosing a Sample Size for a Confidence Interval</vt:lpstr>
      <vt:lpstr>Choosing a Sample Size for a Confidence Interval Example</vt:lpstr>
      <vt:lpstr>Choosing a Sample Size for a Significance Test</vt:lpstr>
      <vt:lpstr>8.2 Comparing Two Proportions</vt:lpstr>
      <vt:lpstr>Two-Sample Problems: Proportions</vt:lpstr>
      <vt:lpstr>Sampling Distribution of a Difference between Proportions</vt:lpstr>
      <vt:lpstr>Large-Sample Confidence Interval for Comparing Proportions</vt:lpstr>
      <vt:lpstr>Large-Sample Confidence Interval for Comparing Proportions Example 1</vt:lpstr>
      <vt:lpstr>Large-Sample Confidence Interval for Comparing Proportions Example 2</vt:lpstr>
      <vt:lpstr>The Plus Four Confidence Intervals for a Difference in Proportions</vt:lpstr>
      <vt:lpstr>The Plus Four Confidence Intervals for a Difference in Proportions Example</vt:lpstr>
      <vt:lpstr>Significance Test for Comparing Proportions 1</vt:lpstr>
      <vt:lpstr>Significance Test for Comparing Proportions 2</vt:lpstr>
      <vt:lpstr>Significance Test for Comparing Proportions Example 1</vt:lpstr>
      <vt:lpstr>Significance Test for Comparing Proportions Example 2</vt:lpstr>
      <vt:lpstr>Choosing a Sample Size for Two Sample Proportions</vt:lpstr>
      <vt:lpstr>Relative Risk</vt:lpstr>
      <vt:lpstr>Chapter 8 Inference for Proportions (Review)</vt:lpstr>
    </vt:vector>
  </TitlesOfParts>
  <Company>ISD 194</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Inference for Proportions</dc:title>
  <dc:creator>Jason Molesky</dc:creator>
  <cp:lastModifiedBy>Newton, Andy</cp:lastModifiedBy>
  <cp:revision>361</cp:revision>
  <cp:lastPrinted>2016-04-19T18:19:12Z</cp:lastPrinted>
  <dcterms:created xsi:type="dcterms:W3CDTF">2012-01-18T01:27:22Z</dcterms:created>
  <dcterms:modified xsi:type="dcterms:W3CDTF">2020-11-12T15:41:34Z</dcterms:modified>
</cp:coreProperties>
</file>