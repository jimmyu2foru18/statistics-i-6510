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52"/>
  </p:notesMasterIdLst>
  <p:handoutMasterIdLst>
    <p:handoutMasterId r:id="rId53"/>
  </p:handoutMasterIdLst>
  <p:sldIdLst>
    <p:sldId id="371" r:id="rId2"/>
    <p:sldId id="314" r:id="rId3"/>
    <p:sldId id="258" r:id="rId4"/>
    <p:sldId id="367" r:id="rId5"/>
    <p:sldId id="319" r:id="rId6"/>
    <p:sldId id="365" r:id="rId7"/>
    <p:sldId id="320" r:id="rId8"/>
    <p:sldId id="368" r:id="rId9"/>
    <p:sldId id="322" r:id="rId10"/>
    <p:sldId id="369" r:id="rId11"/>
    <p:sldId id="323" r:id="rId12"/>
    <p:sldId id="325" r:id="rId13"/>
    <p:sldId id="328" r:id="rId14"/>
    <p:sldId id="329" r:id="rId15"/>
    <p:sldId id="327" r:id="rId16"/>
    <p:sldId id="330" r:id="rId17"/>
    <p:sldId id="331" r:id="rId18"/>
    <p:sldId id="332" r:id="rId19"/>
    <p:sldId id="333" r:id="rId20"/>
    <p:sldId id="334" r:id="rId21"/>
    <p:sldId id="335" r:id="rId22"/>
    <p:sldId id="336" r:id="rId23"/>
    <p:sldId id="337" r:id="rId24"/>
    <p:sldId id="338" r:id="rId25"/>
    <p:sldId id="339" r:id="rId26"/>
    <p:sldId id="348" r:id="rId27"/>
    <p:sldId id="340" r:id="rId28"/>
    <p:sldId id="341" r:id="rId29"/>
    <p:sldId id="342" r:id="rId30"/>
    <p:sldId id="343" r:id="rId31"/>
    <p:sldId id="344" r:id="rId32"/>
    <p:sldId id="345" r:id="rId33"/>
    <p:sldId id="346" r:id="rId34"/>
    <p:sldId id="349" r:id="rId35"/>
    <p:sldId id="347" r:id="rId36"/>
    <p:sldId id="364" r:id="rId37"/>
    <p:sldId id="350" r:id="rId38"/>
    <p:sldId id="351" r:id="rId39"/>
    <p:sldId id="361" r:id="rId40"/>
    <p:sldId id="352" r:id="rId41"/>
    <p:sldId id="353" r:id="rId42"/>
    <p:sldId id="362" r:id="rId43"/>
    <p:sldId id="354" r:id="rId44"/>
    <p:sldId id="355" r:id="rId45"/>
    <p:sldId id="356" r:id="rId46"/>
    <p:sldId id="357" r:id="rId47"/>
    <p:sldId id="370" r:id="rId48"/>
    <p:sldId id="366" r:id="rId49"/>
    <p:sldId id="360" r:id="rId50"/>
    <p:sldId id="317" r:id="rId51"/>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1pPr>
    <a:lvl2pPr marL="4572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2pPr>
    <a:lvl3pPr marL="9144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5pPr>
    <a:lvl6pPr marL="2286000" algn="l" defTabSz="914400" rtl="0" eaLnBrk="1" latinLnBrk="0" hangingPunct="1">
      <a:defRPr kern="1200">
        <a:solidFill>
          <a:schemeClr val="tx1"/>
        </a:solidFill>
        <a:latin typeface="Arial" pitchFamily="34" charset="0"/>
        <a:ea typeface="ＭＳ Ｐゴシック" pitchFamily="34" charset="-128"/>
        <a:cs typeface="+mn-cs"/>
      </a:defRPr>
    </a:lvl6pPr>
    <a:lvl7pPr marL="2743200" algn="l" defTabSz="914400" rtl="0" eaLnBrk="1" latinLnBrk="0" hangingPunct="1">
      <a:defRPr kern="1200">
        <a:solidFill>
          <a:schemeClr val="tx1"/>
        </a:solidFill>
        <a:latin typeface="Arial" pitchFamily="34" charset="0"/>
        <a:ea typeface="ＭＳ Ｐゴシック" pitchFamily="34" charset="-128"/>
        <a:cs typeface="+mn-cs"/>
      </a:defRPr>
    </a:lvl7pPr>
    <a:lvl8pPr marL="3200400" algn="l" defTabSz="914400" rtl="0" eaLnBrk="1" latinLnBrk="0" hangingPunct="1">
      <a:defRPr kern="1200">
        <a:solidFill>
          <a:schemeClr val="tx1"/>
        </a:solidFill>
        <a:latin typeface="Arial" pitchFamily="34" charset="0"/>
        <a:ea typeface="ＭＳ Ｐゴシック" pitchFamily="34" charset="-128"/>
        <a:cs typeface="+mn-cs"/>
      </a:defRPr>
    </a:lvl8pPr>
    <a:lvl9pPr marL="3657600" algn="l" defTabSz="914400" rtl="0" eaLnBrk="1" latinLnBrk="0" hangingPunct="1">
      <a:defRPr kern="1200">
        <a:solidFill>
          <a:schemeClr val="tx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D" initials="JD" lastIdx="1" clrIdx="0"/>
  <p:cmAuthor id="1" name="Newton, Andy" initials="NA" lastIdx="11" clrIdx="1">
    <p:extLst>
      <p:ext uri="{19B8F6BF-5375-455C-9EA6-DF929625EA0E}">
        <p15:presenceInfo xmlns:p15="http://schemas.microsoft.com/office/powerpoint/2012/main" userId="S-1-5-21-4250845945-3731851581-3800177176-49714" providerId="AD"/>
      </p:ext>
    </p:extLst>
  </p:cmAuthor>
  <p:cmAuthor id="2" name="Connie" initials="C" lastIdx="13" clrIdx="2">
    <p:extLst>
      <p:ext uri="{19B8F6BF-5375-455C-9EA6-DF929625EA0E}">
        <p15:presenceInfo xmlns:p15="http://schemas.microsoft.com/office/powerpoint/2012/main" userId="9ff5298ed15b6415" providerId="Windows Live"/>
      </p:ext>
    </p:extLst>
  </p:cmAuthor>
  <p:cmAuthor id="3" name="McKibben, Mark" initials="MM" lastIdx="9" clrIdx="3">
    <p:extLst>
      <p:ext uri="{19B8F6BF-5375-455C-9EA6-DF929625EA0E}">
        <p15:presenceInfo xmlns:p15="http://schemas.microsoft.com/office/powerpoint/2012/main" userId="S::MMCKIBBEN@wcupa.edu::7757feae-4db0-4e12-a310-74b038de7b8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780"/>
    <a:srgbClr val="8590B1"/>
    <a:srgbClr val="EEEFD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98" autoAdjust="0"/>
    <p:restoredTop sz="94690"/>
  </p:normalViewPr>
  <p:slideViewPr>
    <p:cSldViewPr snapToGrid="0" snapToObjects="1">
      <p:cViewPr varScale="1">
        <p:scale>
          <a:sx n="66" d="100"/>
          <a:sy n="66" d="100"/>
        </p:scale>
        <p:origin x="1316"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 Id="rId6" Type="http://schemas.openxmlformats.org/officeDocument/2006/relationships/image" Target="../media/image28.wmf"/><Relationship Id="rId5" Type="http://schemas.openxmlformats.org/officeDocument/2006/relationships/image" Target="../media/image27.wmf"/><Relationship Id="rId4" Type="http://schemas.openxmlformats.org/officeDocument/2006/relationships/image" Target="../media/image26.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A1479A24-2B06-4A3F-830C-A2FE93DDC064}" type="datetime1">
              <a:rPr lang="en-US" altLang="en-US"/>
              <a:pPr>
                <a:defRPr/>
              </a:pPr>
              <a:t>11/12/2020</a:t>
            </a:fld>
            <a:endParaRPr lang="en-US" alt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itchFamily="34" charset="0"/>
              </a:defRPr>
            </a:lvl1pPr>
          </a:lstStyle>
          <a:p>
            <a:fld id="{FE141379-1532-499F-9B48-CDE6C6FAD884}" type="slidenum">
              <a:rPr lang="en-US" altLang="en-US"/>
              <a:pPr/>
              <a:t>‹#›</a:t>
            </a:fld>
            <a:endParaRPr lang="en-US" altLang="en-US"/>
          </a:p>
        </p:txBody>
      </p:sp>
    </p:spTree>
    <p:extLst>
      <p:ext uri="{BB962C8B-B14F-4D97-AF65-F5344CB8AC3E}">
        <p14:creationId xmlns:p14="http://schemas.microsoft.com/office/powerpoint/2010/main" val="215092349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2032A364-A2CE-4BCE-96F6-7F597534BC38}" type="datetime1">
              <a:rPr lang="en-US" altLang="en-US"/>
              <a:pPr>
                <a:defRPr/>
              </a:pPr>
              <a:t>11/12/2020</a:t>
            </a:fld>
            <a:endParaRPr lang="en-US" alt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itchFamily="34" charset="0"/>
              </a:defRPr>
            </a:lvl1pPr>
          </a:lstStyle>
          <a:p>
            <a:fld id="{A8D6DCE0-C720-4934-9D1B-E9DA6B9E2C22}" type="slidenum">
              <a:rPr lang="en-US" altLang="en-US"/>
              <a:pPr/>
              <a:t>‹#›</a:t>
            </a:fld>
            <a:endParaRPr lang="en-US" altLang="en-US"/>
          </a:p>
        </p:txBody>
      </p:sp>
    </p:spTree>
    <p:extLst>
      <p:ext uri="{BB962C8B-B14F-4D97-AF65-F5344CB8AC3E}">
        <p14:creationId xmlns:p14="http://schemas.microsoft.com/office/powerpoint/2010/main" val="1485812944"/>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ＭＳ Ｐゴシック" pitchFamily="-1" charset="-128"/>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ヒラギノ角ゴ Pro W3" pitchFamily="-105" charset="-128"/>
            </a:endParaRPr>
          </a:p>
        </p:txBody>
      </p:sp>
    </p:spTree>
    <p:extLst>
      <p:ext uri="{BB962C8B-B14F-4D97-AF65-F5344CB8AC3E}">
        <p14:creationId xmlns:p14="http://schemas.microsoft.com/office/powerpoint/2010/main" val="37075639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
        <p:nvSpPr>
          <p:cNvPr id="348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itchFamily="34" charset="0"/>
                <a:ea typeface="ＭＳ Ｐゴシック" pitchFamily="34" charset="-128"/>
              </a:defRPr>
            </a:lvl1pPr>
            <a:lvl2pPr marL="742950" indent="-285750">
              <a:defRPr sz="1200">
                <a:solidFill>
                  <a:schemeClr val="tx1"/>
                </a:solidFill>
                <a:latin typeface="Calibri" pitchFamily="34" charset="0"/>
                <a:ea typeface="ＭＳ Ｐゴシック" pitchFamily="34" charset="-128"/>
              </a:defRPr>
            </a:lvl2pPr>
            <a:lvl3pPr marL="1143000" indent="-228600">
              <a:defRPr sz="1200">
                <a:solidFill>
                  <a:schemeClr val="tx1"/>
                </a:solidFill>
                <a:latin typeface="Calibri" pitchFamily="34" charset="0"/>
                <a:ea typeface="ＭＳ Ｐゴシック" pitchFamily="34" charset="-128"/>
              </a:defRPr>
            </a:lvl3pPr>
            <a:lvl4pPr marL="1600200" indent="-228600">
              <a:defRPr sz="1200">
                <a:solidFill>
                  <a:schemeClr val="tx1"/>
                </a:solidFill>
                <a:latin typeface="Calibri" pitchFamily="34" charset="0"/>
                <a:ea typeface="ＭＳ Ｐゴシック" pitchFamily="34" charset="-128"/>
              </a:defRPr>
            </a:lvl4pPr>
            <a:lvl5pPr marL="2057400" indent="-228600">
              <a:defRPr sz="1200">
                <a:solidFill>
                  <a:schemeClr val="tx1"/>
                </a:solidFill>
                <a:latin typeface="Calibri" pitchFamily="34" charset="0"/>
                <a:ea typeface="ＭＳ Ｐゴシック" pitchFamily="34" charset="-128"/>
              </a:defRPr>
            </a:lvl5pPr>
            <a:lvl6pPr marL="25146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6pPr>
            <a:lvl7pPr marL="29718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7pPr>
            <a:lvl8pPr marL="34290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8pPr>
            <a:lvl9pPr marL="38862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9pPr>
          </a:lstStyle>
          <a:p>
            <a:fld id="{F62456D5-13F4-4F35-96A7-1575B1EB93AA}" type="slidenum">
              <a:rPr lang="en-US" altLang="en-US"/>
              <a:pPr/>
              <a:t>8</a:t>
            </a:fld>
            <a:endParaRPr lang="en-US" altLang="en-US"/>
          </a:p>
        </p:txBody>
      </p:sp>
    </p:spTree>
    <p:extLst>
      <p:ext uri="{BB962C8B-B14F-4D97-AF65-F5344CB8AC3E}">
        <p14:creationId xmlns:p14="http://schemas.microsoft.com/office/powerpoint/2010/main" val="18089038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itchFamily="34" charset="0"/>
              <a:ea typeface="ＭＳ Ｐゴシック" pitchFamily="34" charset="-128"/>
            </a:endParaRPr>
          </a:p>
        </p:txBody>
      </p:sp>
    </p:spTree>
    <p:extLst>
      <p:ext uri="{BB962C8B-B14F-4D97-AF65-F5344CB8AC3E}">
        <p14:creationId xmlns:p14="http://schemas.microsoft.com/office/powerpoint/2010/main" val="30976156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itchFamily="34" charset="0"/>
              <a:ea typeface="ＭＳ Ｐゴシック" pitchFamily="34" charset="-128"/>
            </a:endParaRPr>
          </a:p>
        </p:txBody>
      </p:sp>
    </p:spTree>
    <p:extLst>
      <p:ext uri="{BB962C8B-B14F-4D97-AF65-F5344CB8AC3E}">
        <p14:creationId xmlns:p14="http://schemas.microsoft.com/office/powerpoint/2010/main" val="31658864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
        <p:nvSpPr>
          <p:cNvPr id="450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fld id="{F8EA56D7-AC87-4E90-BE18-A6175C142768}" type="slidenum">
              <a:rPr lang="en-US" altLang="en-US">
                <a:latin typeface="Calibri" pitchFamily="34" charset="0"/>
              </a:rPr>
              <a:pPr/>
              <a:t>15</a:t>
            </a:fld>
            <a:endParaRPr lang="en-US" altLang="en-US">
              <a:latin typeface="Calibri" pitchFamily="34" charset="0"/>
            </a:endParaRPr>
          </a:p>
        </p:txBody>
      </p:sp>
    </p:spTree>
    <p:extLst>
      <p:ext uri="{BB962C8B-B14F-4D97-AF65-F5344CB8AC3E}">
        <p14:creationId xmlns:p14="http://schemas.microsoft.com/office/powerpoint/2010/main" val="9411264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itchFamily="34" charset="0"/>
              <a:ea typeface="ＭＳ Ｐゴシック" pitchFamily="34" charset="-128"/>
            </a:endParaRPr>
          </a:p>
        </p:txBody>
      </p:sp>
    </p:spTree>
    <p:extLst>
      <p:ext uri="{BB962C8B-B14F-4D97-AF65-F5344CB8AC3E}">
        <p14:creationId xmlns:p14="http://schemas.microsoft.com/office/powerpoint/2010/main" val="32716852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itchFamily="34" charset="0"/>
              <a:ea typeface="ＭＳ Ｐゴシック" pitchFamily="34" charset="-128"/>
            </a:endParaRPr>
          </a:p>
        </p:txBody>
      </p:sp>
    </p:spTree>
    <p:extLst>
      <p:ext uri="{BB962C8B-B14F-4D97-AF65-F5344CB8AC3E}">
        <p14:creationId xmlns:p14="http://schemas.microsoft.com/office/powerpoint/2010/main" val="36803827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itchFamily="34" charset="0"/>
              <a:ea typeface="ＭＳ Ｐゴシック" pitchFamily="34" charset="-128"/>
            </a:endParaRPr>
          </a:p>
        </p:txBody>
      </p:sp>
    </p:spTree>
    <p:extLst>
      <p:ext uri="{BB962C8B-B14F-4D97-AF65-F5344CB8AC3E}">
        <p14:creationId xmlns:p14="http://schemas.microsoft.com/office/powerpoint/2010/main" val="9042764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itchFamily="34" charset="0"/>
              <a:ea typeface="ＭＳ Ｐゴシック" pitchFamily="34" charset="-128"/>
            </a:endParaRPr>
          </a:p>
        </p:txBody>
      </p:sp>
    </p:spTree>
    <p:extLst>
      <p:ext uri="{BB962C8B-B14F-4D97-AF65-F5344CB8AC3E}">
        <p14:creationId xmlns:p14="http://schemas.microsoft.com/office/powerpoint/2010/main" val="13141273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
        <p:nvSpPr>
          <p:cNvPr id="604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itchFamily="34" charset="0"/>
                <a:ea typeface="ＭＳ Ｐゴシック" pitchFamily="34" charset="-128"/>
              </a:defRPr>
            </a:lvl1pPr>
            <a:lvl2pPr marL="742950" indent="-285750">
              <a:defRPr sz="1200">
                <a:solidFill>
                  <a:schemeClr val="tx1"/>
                </a:solidFill>
                <a:latin typeface="Calibri" pitchFamily="34" charset="0"/>
                <a:ea typeface="ＭＳ Ｐゴシック" pitchFamily="34" charset="-128"/>
              </a:defRPr>
            </a:lvl2pPr>
            <a:lvl3pPr marL="1143000" indent="-228600">
              <a:defRPr sz="1200">
                <a:solidFill>
                  <a:schemeClr val="tx1"/>
                </a:solidFill>
                <a:latin typeface="Calibri" pitchFamily="34" charset="0"/>
                <a:ea typeface="ＭＳ Ｐゴシック" pitchFamily="34" charset="-128"/>
              </a:defRPr>
            </a:lvl3pPr>
            <a:lvl4pPr marL="1600200" indent="-228600">
              <a:defRPr sz="1200">
                <a:solidFill>
                  <a:schemeClr val="tx1"/>
                </a:solidFill>
                <a:latin typeface="Calibri" pitchFamily="34" charset="0"/>
                <a:ea typeface="ＭＳ Ｐゴシック" pitchFamily="34" charset="-128"/>
              </a:defRPr>
            </a:lvl4pPr>
            <a:lvl5pPr marL="2057400" indent="-228600">
              <a:defRPr sz="1200">
                <a:solidFill>
                  <a:schemeClr val="tx1"/>
                </a:solidFill>
                <a:latin typeface="Calibri" pitchFamily="34" charset="0"/>
                <a:ea typeface="ＭＳ Ｐゴシック" pitchFamily="34" charset="-128"/>
              </a:defRPr>
            </a:lvl5pPr>
            <a:lvl6pPr marL="25146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6pPr>
            <a:lvl7pPr marL="29718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7pPr>
            <a:lvl8pPr marL="34290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8pPr>
            <a:lvl9pPr marL="38862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9pPr>
          </a:lstStyle>
          <a:p>
            <a:fld id="{47BF3EFE-76E2-4CE1-BB71-4735C9BA7132}" type="slidenum">
              <a:rPr lang="en-US" altLang="en-US"/>
              <a:pPr/>
              <a:t>25</a:t>
            </a:fld>
            <a:endParaRPr lang="en-US" altLang="en-US"/>
          </a:p>
        </p:txBody>
      </p:sp>
    </p:spTree>
    <p:extLst>
      <p:ext uri="{BB962C8B-B14F-4D97-AF65-F5344CB8AC3E}">
        <p14:creationId xmlns:p14="http://schemas.microsoft.com/office/powerpoint/2010/main" val="34190930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
        <p:nvSpPr>
          <p:cNvPr id="624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itchFamily="34" charset="0"/>
                <a:ea typeface="ＭＳ Ｐゴシック" pitchFamily="34" charset="-128"/>
              </a:defRPr>
            </a:lvl1pPr>
            <a:lvl2pPr marL="742950" indent="-285750">
              <a:defRPr sz="1200">
                <a:solidFill>
                  <a:schemeClr val="tx1"/>
                </a:solidFill>
                <a:latin typeface="Calibri" pitchFamily="34" charset="0"/>
                <a:ea typeface="ＭＳ Ｐゴシック" pitchFamily="34" charset="-128"/>
              </a:defRPr>
            </a:lvl2pPr>
            <a:lvl3pPr marL="1143000" indent="-228600">
              <a:defRPr sz="1200">
                <a:solidFill>
                  <a:schemeClr val="tx1"/>
                </a:solidFill>
                <a:latin typeface="Calibri" pitchFamily="34" charset="0"/>
                <a:ea typeface="ＭＳ Ｐゴシック" pitchFamily="34" charset="-128"/>
              </a:defRPr>
            </a:lvl3pPr>
            <a:lvl4pPr marL="1600200" indent="-228600">
              <a:defRPr sz="1200">
                <a:solidFill>
                  <a:schemeClr val="tx1"/>
                </a:solidFill>
                <a:latin typeface="Calibri" pitchFamily="34" charset="0"/>
                <a:ea typeface="ＭＳ Ｐゴシック" pitchFamily="34" charset="-128"/>
              </a:defRPr>
            </a:lvl4pPr>
            <a:lvl5pPr marL="2057400" indent="-228600">
              <a:defRPr sz="1200">
                <a:solidFill>
                  <a:schemeClr val="tx1"/>
                </a:solidFill>
                <a:latin typeface="Calibri" pitchFamily="34" charset="0"/>
                <a:ea typeface="ＭＳ Ｐゴシック" pitchFamily="34" charset="-128"/>
              </a:defRPr>
            </a:lvl5pPr>
            <a:lvl6pPr marL="25146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6pPr>
            <a:lvl7pPr marL="29718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7pPr>
            <a:lvl8pPr marL="34290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8pPr>
            <a:lvl9pPr marL="38862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9pPr>
          </a:lstStyle>
          <a:p>
            <a:fld id="{66139D66-4D4B-4C82-8D0A-B5A492CCC0D6}" type="slidenum">
              <a:rPr lang="en-US" altLang="en-US"/>
              <a:pPr/>
              <a:t>26</a:t>
            </a:fld>
            <a:endParaRPr lang="en-US" altLang="en-US"/>
          </a:p>
        </p:txBody>
      </p:sp>
    </p:spTree>
    <p:extLst>
      <p:ext uri="{BB962C8B-B14F-4D97-AF65-F5344CB8AC3E}">
        <p14:creationId xmlns:p14="http://schemas.microsoft.com/office/powerpoint/2010/main" val="12229268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
        <p:nvSpPr>
          <p:cNvPr id="675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itchFamily="34" charset="0"/>
                <a:ea typeface="ＭＳ Ｐゴシック" pitchFamily="34" charset="-128"/>
              </a:defRPr>
            </a:lvl1pPr>
            <a:lvl2pPr marL="742950" indent="-285750">
              <a:defRPr sz="1200">
                <a:solidFill>
                  <a:schemeClr val="tx1"/>
                </a:solidFill>
                <a:latin typeface="Calibri" pitchFamily="34" charset="0"/>
                <a:ea typeface="ＭＳ Ｐゴシック" pitchFamily="34" charset="-128"/>
              </a:defRPr>
            </a:lvl2pPr>
            <a:lvl3pPr marL="1143000" indent="-228600">
              <a:defRPr sz="1200">
                <a:solidFill>
                  <a:schemeClr val="tx1"/>
                </a:solidFill>
                <a:latin typeface="Calibri" pitchFamily="34" charset="0"/>
                <a:ea typeface="ＭＳ Ｐゴシック" pitchFamily="34" charset="-128"/>
              </a:defRPr>
            </a:lvl3pPr>
            <a:lvl4pPr marL="1600200" indent="-228600">
              <a:defRPr sz="1200">
                <a:solidFill>
                  <a:schemeClr val="tx1"/>
                </a:solidFill>
                <a:latin typeface="Calibri" pitchFamily="34" charset="0"/>
                <a:ea typeface="ＭＳ Ｐゴシック" pitchFamily="34" charset="-128"/>
              </a:defRPr>
            </a:lvl4pPr>
            <a:lvl5pPr marL="2057400" indent="-228600">
              <a:defRPr sz="1200">
                <a:solidFill>
                  <a:schemeClr val="tx1"/>
                </a:solidFill>
                <a:latin typeface="Calibri" pitchFamily="34" charset="0"/>
                <a:ea typeface="ＭＳ Ｐゴシック" pitchFamily="34" charset="-128"/>
              </a:defRPr>
            </a:lvl5pPr>
            <a:lvl6pPr marL="25146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6pPr>
            <a:lvl7pPr marL="29718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7pPr>
            <a:lvl8pPr marL="34290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8pPr>
            <a:lvl9pPr marL="38862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9pPr>
          </a:lstStyle>
          <a:p>
            <a:fld id="{6F4D475A-36E2-480F-8E00-9ECCE5E27478}" type="slidenum">
              <a:rPr lang="en-US" altLang="en-US"/>
              <a:pPr/>
              <a:t>30</a:t>
            </a:fld>
            <a:endParaRPr lang="en-US" altLang="en-US"/>
          </a:p>
        </p:txBody>
      </p:sp>
    </p:spTree>
    <p:extLst>
      <p:ext uri="{BB962C8B-B14F-4D97-AF65-F5344CB8AC3E}">
        <p14:creationId xmlns:p14="http://schemas.microsoft.com/office/powerpoint/2010/main" val="5062789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itchFamily="34" charset="0"/>
              <a:ea typeface="ＭＳ Ｐゴシック" pitchFamily="34" charset="-128"/>
            </a:endParaRPr>
          </a:p>
        </p:txBody>
      </p:sp>
    </p:spTree>
    <p:extLst>
      <p:ext uri="{BB962C8B-B14F-4D97-AF65-F5344CB8AC3E}">
        <p14:creationId xmlns:p14="http://schemas.microsoft.com/office/powerpoint/2010/main" val="15783500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
        <p:nvSpPr>
          <p:cNvPr id="747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itchFamily="34" charset="0"/>
                <a:ea typeface="ＭＳ Ｐゴシック" pitchFamily="34" charset="-128"/>
              </a:defRPr>
            </a:lvl1pPr>
            <a:lvl2pPr marL="742950" indent="-285750">
              <a:defRPr sz="1200">
                <a:solidFill>
                  <a:schemeClr val="tx1"/>
                </a:solidFill>
                <a:latin typeface="Calibri" pitchFamily="34" charset="0"/>
                <a:ea typeface="ＭＳ Ｐゴシック" pitchFamily="34" charset="-128"/>
              </a:defRPr>
            </a:lvl2pPr>
            <a:lvl3pPr marL="1143000" indent="-228600">
              <a:defRPr sz="1200">
                <a:solidFill>
                  <a:schemeClr val="tx1"/>
                </a:solidFill>
                <a:latin typeface="Calibri" pitchFamily="34" charset="0"/>
                <a:ea typeface="ＭＳ Ｐゴシック" pitchFamily="34" charset="-128"/>
              </a:defRPr>
            </a:lvl3pPr>
            <a:lvl4pPr marL="1600200" indent="-228600">
              <a:defRPr sz="1200">
                <a:solidFill>
                  <a:schemeClr val="tx1"/>
                </a:solidFill>
                <a:latin typeface="Calibri" pitchFamily="34" charset="0"/>
                <a:ea typeface="ＭＳ Ｐゴシック" pitchFamily="34" charset="-128"/>
              </a:defRPr>
            </a:lvl4pPr>
            <a:lvl5pPr marL="2057400" indent="-228600">
              <a:defRPr sz="1200">
                <a:solidFill>
                  <a:schemeClr val="tx1"/>
                </a:solidFill>
                <a:latin typeface="Calibri" pitchFamily="34" charset="0"/>
                <a:ea typeface="ＭＳ Ｐゴシック" pitchFamily="34" charset="-128"/>
              </a:defRPr>
            </a:lvl5pPr>
            <a:lvl6pPr marL="25146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6pPr>
            <a:lvl7pPr marL="29718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7pPr>
            <a:lvl8pPr marL="34290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8pPr>
            <a:lvl9pPr marL="38862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9pPr>
          </a:lstStyle>
          <a:p>
            <a:fld id="{B65B26E0-24FA-4F1E-BCDE-3C2AEF025A77}" type="slidenum">
              <a:rPr lang="en-US" altLang="en-US"/>
              <a:pPr/>
              <a:t>35</a:t>
            </a:fld>
            <a:endParaRPr lang="en-US" altLang="en-US"/>
          </a:p>
        </p:txBody>
      </p:sp>
    </p:spTree>
    <p:extLst>
      <p:ext uri="{BB962C8B-B14F-4D97-AF65-F5344CB8AC3E}">
        <p14:creationId xmlns:p14="http://schemas.microsoft.com/office/powerpoint/2010/main" val="34058053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itchFamily="34" charset="0"/>
              <a:ea typeface="ＭＳ Ｐゴシック" pitchFamily="34" charset="-128"/>
            </a:endParaRPr>
          </a:p>
        </p:txBody>
      </p:sp>
    </p:spTree>
    <p:extLst>
      <p:ext uri="{BB962C8B-B14F-4D97-AF65-F5344CB8AC3E}">
        <p14:creationId xmlns:p14="http://schemas.microsoft.com/office/powerpoint/2010/main" val="29184125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itchFamily="34" charset="0"/>
              <a:ea typeface="ＭＳ Ｐゴシック" pitchFamily="34" charset="-128"/>
            </a:endParaRPr>
          </a:p>
        </p:txBody>
      </p:sp>
    </p:spTree>
    <p:extLst>
      <p:ext uri="{BB962C8B-B14F-4D97-AF65-F5344CB8AC3E}">
        <p14:creationId xmlns:p14="http://schemas.microsoft.com/office/powerpoint/2010/main" val="19940293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itchFamily="34" charset="0"/>
              <a:ea typeface="ＭＳ Ｐゴシック" pitchFamily="34" charset="-128"/>
            </a:endParaRPr>
          </a:p>
        </p:txBody>
      </p:sp>
    </p:spTree>
    <p:extLst>
      <p:ext uri="{BB962C8B-B14F-4D97-AF65-F5344CB8AC3E}">
        <p14:creationId xmlns:p14="http://schemas.microsoft.com/office/powerpoint/2010/main" val="25500706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itchFamily="34" charset="0"/>
              <a:ea typeface="ＭＳ Ｐゴシック" pitchFamily="34" charset="-128"/>
            </a:endParaRPr>
          </a:p>
        </p:txBody>
      </p:sp>
    </p:spTree>
    <p:extLst>
      <p:ext uri="{BB962C8B-B14F-4D97-AF65-F5344CB8AC3E}">
        <p14:creationId xmlns:p14="http://schemas.microsoft.com/office/powerpoint/2010/main" val="31933384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itchFamily="34" charset="0"/>
              <a:ea typeface="ＭＳ Ｐゴシック" pitchFamily="34" charset="-128"/>
            </a:endParaRPr>
          </a:p>
        </p:txBody>
      </p:sp>
    </p:spTree>
    <p:extLst>
      <p:ext uri="{BB962C8B-B14F-4D97-AF65-F5344CB8AC3E}">
        <p14:creationId xmlns:p14="http://schemas.microsoft.com/office/powerpoint/2010/main" val="21375560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457200" y="4114800"/>
            <a:ext cx="6508750" cy="1143000"/>
          </a:xfrm>
          <a:noFill/>
        </p:spPr>
        <p:txBody>
          <a:bodyPr/>
          <a:lstStyle/>
          <a:p>
            <a:r>
              <a:rPr lang="en-US"/>
              <a:t>Click to edit Master title style</a:t>
            </a:r>
          </a:p>
        </p:txBody>
      </p:sp>
    </p:spTree>
    <p:extLst>
      <p:ext uri="{BB962C8B-B14F-4D97-AF65-F5344CB8AC3E}">
        <p14:creationId xmlns:p14="http://schemas.microsoft.com/office/powerpoint/2010/main" val="1046347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Slide Number Placeholder 5"/>
          <p:cNvSpPr>
            <a:spLocks noGrp="1"/>
          </p:cNvSpPr>
          <p:nvPr>
            <p:ph type="sldNum" sz="quarter" idx="10"/>
          </p:nvPr>
        </p:nvSpPr>
        <p:spPr>
          <a:xfrm>
            <a:off x="8509000" y="6356350"/>
            <a:ext cx="508000" cy="365125"/>
          </a:xfrm>
        </p:spPr>
        <p:txBody>
          <a:bodyPr/>
          <a:lstStyle>
            <a:lvl1pPr>
              <a:defRPr sz="1400">
                <a:solidFill>
                  <a:schemeClr val="accent1"/>
                </a:solidFill>
              </a:defRPr>
            </a:lvl1pPr>
          </a:lstStyle>
          <a:p>
            <a:fld id="{CE99E6F4-CC93-4BD6-818F-D4FC81E15018}" type="slidenum">
              <a:rPr lang="en-US" altLang="en-US"/>
              <a:pPr/>
              <a:t>‹#›</a:t>
            </a:fld>
            <a:endParaRPr lang="en-US" altLang="en-US"/>
          </a:p>
        </p:txBody>
      </p:sp>
    </p:spTree>
    <p:extLst>
      <p:ext uri="{BB962C8B-B14F-4D97-AF65-F5344CB8AC3E}">
        <p14:creationId xmlns:p14="http://schemas.microsoft.com/office/powerpoint/2010/main" val="35286455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Picture">
    <p:spTree>
      <p:nvGrpSpPr>
        <p:cNvPr id="1" name=""/>
        <p:cNvGrpSpPr/>
        <p:nvPr/>
      </p:nvGrpSpPr>
      <p:grpSpPr>
        <a:xfrm>
          <a:off x="0" y="0"/>
          <a:ext cx="0" cy="0"/>
          <a:chOff x="0" y="0"/>
          <a:chExt cx="0" cy="0"/>
        </a:xfrm>
      </p:grpSpPr>
      <p:sp>
        <p:nvSpPr>
          <p:cNvPr id="4" name="Slide Number Placeholder 5"/>
          <p:cNvSpPr>
            <a:spLocks noGrp="1"/>
          </p:cNvSpPr>
          <p:nvPr>
            <p:ph type="sldNum" sz="quarter" idx="10"/>
          </p:nvPr>
        </p:nvSpPr>
        <p:spPr>
          <a:xfrm>
            <a:off x="8509000" y="6356350"/>
            <a:ext cx="508000" cy="365125"/>
          </a:xfrm>
        </p:spPr>
        <p:txBody>
          <a:bodyPr/>
          <a:lstStyle>
            <a:lvl1pPr>
              <a:defRPr sz="1400">
                <a:solidFill>
                  <a:schemeClr val="accent1"/>
                </a:solidFill>
              </a:defRPr>
            </a:lvl1pPr>
          </a:lstStyle>
          <a:p>
            <a:fld id="{5F8DF5A0-01E1-4DF3-850A-8EC78716194A}" type="slidenum">
              <a:rPr lang="en-US" altLang="en-US"/>
              <a:pPr/>
              <a:t>‹#›</a:t>
            </a:fld>
            <a:endParaRPr lang="en-US" altLang="en-US"/>
          </a:p>
        </p:txBody>
      </p:sp>
    </p:spTree>
    <p:extLst>
      <p:ext uri="{BB962C8B-B14F-4D97-AF65-F5344CB8AC3E}">
        <p14:creationId xmlns:p14="http://schemas.microsoft.com/office/powerpoint/2010/main" val="27446676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2" name="Title 1"/>
          <p:cNvSpPr>
            <a:spLocks noGrp="1"/>
          </p:cNvSpPr>
          <p:nvPr>
            <p:ph type="title"/>
          </p:nvPr>
        </p:nvSpPr>
        <p:spPr>
          <a:xfrm>
            <a:off x="2178423" y="914400"/>
            <a:ext cx="6508377" cy="1143000"/>
          </a:xfrm>
        </p:spPr>
        <p:txBody>
          <a:bodyPr/>
          <a:lstStyle/>
          <a:p>
            <a:r>
              <a:rPr lang="en-US"/>
              <a:t>Click to edit Master title style</a:t>
            </a:r>
            <a:endParaRPr/>
          </a:p>
        </p:txBody>
      </p:sp>
      <p:sp>
        <p:nvSpPr>
          <p:cNvPr id="3" name="Content Placeholder 2"/>
          <p:cNvSpPr>
            <a:spLocks noGrp="1"/>
          </p:cNvSpPr>
          <p:nvPr>
            <p:ph idx="1"/>
          </p:nvPr>
        </p:nvSpPr>
        <p:spPr>
          <a:xfrm>
            <a:off x="2178423" y="2209800"/>
            <a:ext cx="6508377" cy="3916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Picture Placeholder 8"/>
          <p:cNvSpPr>
            <a:spLocks noGrp="1"/>
          </p:cNvSpPr>
          <p:nvPr>
            <p:ph type="pic" sz="quarter" idx="13"/>
          </p:nvPr>
        </p:nvSpPr>
        <p:spPr>
          <a:xfrm>
            <a:off x="269875" y="1976718"/>
            <a:ext cx="1645920" cy="4625788"/>
          </a:xfrm>
        </p:spPr>
        <p:txBody>
          <a:bodyPr rtlCol="0">
            <a:normAutofit/>
          </a:bodyPr>
          <a:lstStyle>
            <a:lvl1pPr>
              <a:buNone/>
              <a:defRPr/>
            </a:lvl1pPr>
          </a:lstStyle>
          <a:p>
            <a:pPr lvl="0"/>
            <a:r>
              <a:rPr lang="en-US" noProof="0"/>
              <a:t>Click icon to add picture</a:t>
            </a:r>
            <a:endParaRPr noProof="0"/>
          </a:p>
        </p:txBody>
      </p:sp>
      <p:sp>
        <p:nvSpPr>
          <p:cNvPr id="7" name="Slide Number Placeholder 5"/>
          <p:cNvSpPr>
            <a:spLocks noGrp="1"/>
          </p:cNvSpPr>
          <p:nvPr>
            <p:ph type="sldNum" sz="quarter" idx="14"/>
          </p:nvPr>
        </p:nvSpPr>
        <p:spPr>
          <a:xfrm>
            <a:off x="8509000" y="6356350"/>
            <a:ext cx="508000" cy="365125"/>
          </a:xfrm>
        </p:spPr>
        <p:txBody>
          <a:bodyPr/>
          <a:lstStyle>
            <a:lvl1pPr>
              <a:defRPr sz="1400">
                <a:solidFill>
                  <a:schemeClr val="accent1"/>
                </a:solidFill>
              </a:defRPr>
            </a:lvl1pPr>
          </a:lstStyle>
          <a:p>
            <a:fld id="{430250B2-B930-44E1-A31B-C342A5AD56F8}" type="slidenum">
              <a:rPr lang="en-US" altLang="en-US"/>
              <a:pPr/>
              <a:t>‹#›</a:t>
            </a:fld>
            <a:endParaRPr lang="en-US" altLang="en-US"/>
          </a:p>
        </p:txBody>
      </p:sp>
    </p:spTree>
    <p:extLst>
      <p:ext uri="{BB962C8B-B14F-4D97-AF65-F5344CB8AC3E}">
        <p14:creationId xmlns:p14="http://schemas.microsoft.com/office/powerpoint/2010/main" val="17043066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09801" y="3429000"/>
            <a:ext cx="4966446" cy="1398494"/>
          </a:xfrm>
        </p:spPr>
        <p:txBody>
          <a:bodyPr/>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2209801" y="4824414"/>
            <a:ext cx="4966446" cy="1320800"/>
          </a:xfrm>
        </p:spPr>
        <p:txBody>
          <a:bodyPr>
            <a:normAutofit/>
          </a:bodyPr>
          <a:lstStyle>
            <a:lvl1pPr marL="0" indent="0" algn="r">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0"/>
          </p:nvPr>
        </p:nvSpPr>
        <p:spPr/>
        <p:txBody>
          <a:bodyPr/>
          <a:lstStyle>
            <a:lvl1pPr>
              <a:defRPr sz="1400"/>
            </a:lvl1pPr>
          </a:lstStyle>
          <a:p>
            <a:fld id="{95860070-7CFB-40B4-BE14-29929D3899EF}" type="slidenum">
              <a:rPr lang="en-US" altLang="en-US"/>
              <a:pPr/>
              <a:t>‹#›</a:t>
            </a:fld>
            <a:endParaRPr lang="en-US" altLang="en-US"/>
          </a:p>
        </p:txBody>
      </p:sp>
    </p:spTree>
    <p:extLst>
      <p:ext uri="{BB962C8B-B14F-4D97-AF65-F5344CB8AC3E}">
        <p14:creationId xmlns:p14="http://schemas.microsoft.com/office/powerpoint/2010/main" val="13874263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2" name="Title 1"/>
          <p:cNvSpPr>
            <a:spLocks noGrp="1"/>
          </p:cNvSpPr>
          <p:nvPr>
            <p:ph type="title"/>
          </p:nvPr>
        </p:nvSpPr>
        <p:spPr>
          <a:xfrm>
            <a:off x="3720354" y="3429001"/>
            <a:ext cx="4966446" cy="1398494"/>
          </a:xfrm>
        </p:spPr>
        <p:txBody>
          <a:bodyPr/>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3720354" y="4824414"/>
            <a:ext cx="4966446" cy="1320800"/>
          </a:xfrm>
        </p:spPr>
        <p:txBody>
          <a:bodyPr>
            <a:normAutofit/>
          </a:bodyPr>
          <a:lstStyle>
            <a:lvl1pPr marL="0" indent="0" algn="r">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Picture Placeholder 8"/>
          <p:cNvSpPr>
            <a:spLocks noGrp="1"/>
          </p:cNvSpPr>
          <p:nvPr>
            <p:ph type="pic" sz="quarter" idx="13"/>
          </p:nvPr>
        </p:nvSpPr>
        <p:spPr>
          <a:xfrm>
            <a:off x="269874" y="268288"/>
            <a:ext cx="2971800" cy="4438650"/>
          </a:xfrm>
        </p:spPr>
        <p:txBody>
          <a:bodyPr rtlCol="0">
            <a:normAutofit/>
          </a:bodyPr>
          <a:lstStyle>
            <a:lvl1pPr>
              <a:buNone/>
              <a:defRPr/>
            </a:lvl1pPr>
          </a:lstStyle>
          <a:p>
            <a:pPr lvl="0"/>
            <a:r>
              <a:rPr lang="en-US" noProof="0"/>
              <a:t>Click icon to add picture</a:t>
            </a:r>
            <a:endParaRPr noProof="0"/>
          </a:p>
        </p:txBody>
      </p:sp>
      <p:sp>
        <p:nvSpPr>
          <p:cNvPr id="6" name="Slide Number Placeholder 5"/>
          <p:cNvSpPr>
            <a:spLocks noGrp="1"/>
          </p:cNvSpPr>
          <p:nvPr>
            <p:ph type="sldNum" sz="quarter" idx="14"/>
          </p:nvPr>
        </p:nvSpPr>
        <p:spPr>
          <a:xfrm>
            <a:off x="350838" y="6105525"/>
            <a:ext cx="506412" cy="365125"/>
          </a:xfrm>
        </p:spPr>
        <p:txBody>
          <a:bodyPr/>
          <a:lstStyle>
            <a:lvl1pPr>
              <a:defRPr/>
            </a:lvl1pPr>
          </a:lstStyle>
          <a:p>
            <a:fld id="{072C4CC0-5C85-4D22-B3BA-06E0622481F4}" type="slidenum">
              <a:rPr lang="en-US" altLang="en-US"/>
              <a:pPr/>
              <a:t>‹#›</a:t>
            </a:fld>
            <a:endParaRPr lang="en-US" altLang="en-US"/>
          </a:p>
        </p:txBody>
      </p:sp>
    </p:spTree>
    <p:extLst>
      <p:ext uri="{BB962C8B-B14F-4D97-AF65-F5344CB8AC3E}">
        <p14:creationId xmlns:p14="http://schemas.microsoft.com/office/powerpoint/2010/main" val="2502217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28244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28B0978C-EF3E-41DA-91F1-AC8021269503}" type="slidenum">
              <a:rPr lang="en-US" altLang="en-US"/>
              <a:pPr/>
              <a:t>‹#›</a:t>
            </a:fld>
            <a:endParaRPr lang="en-US" altLang="en-US"/>
          </a:p>
        </p:txBody>
      </p:sp>
    </p:spTree>
    <p:extLst>
      <p:ext uri="{BB962C8B-B14F-4D97-AF65-F5344CB8AC3E}">
        <p14:creationId xmlns:p14="http://schemas.microsoft.com/office/powerpoint/2010/main" val="1771143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88352" cy="1143000"/>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457200"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279391"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79391"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6"/>
          <p:cNvSpPr>
            <a:spLocks noGrp="1"/>
          </p:cNvSpPr>
          <p:nvPr>
            <p:ph type="dt" sz="half" idx="10"/>
          </p:nvPr>
        </p:nvSpPr>
        <p:spPr/>
        <p:txBody>
          <a:bodyPr/>
          <a:lstStyle>
            <a:lvl1pPr>
              <a:defRPr/>
            </a:lvl1pPr>
          </a:lstStyle>
          <a:p>
            <a:pPr>
              <a:defRPr/>
            </a:pPr>
            <a:endParaRPr lang="en-US"/>
          </a:p>
        </p:txBody>
      </p:sp>
      <p:sp>
        <p:nvSpPr>
          <p:cNvPr id="9" name="Footer Placeholder 7"/>
          <p:cNvSpPr>
            <a:spLocks noGrp="1"/>
          </p:cNvSpPr>
          <p:nvPr>
            <p:ph type="ftr" sz="quarter" idx="11"/>
          </p:nvPr>
        </p:nvSpPr>
        <p:spPr/>
        <p:txBody>
          <a:bodyPr/>
          <a:lstStyle>
            <a:lvl1pPr>
              <a:defRPr/>
            </a:lvl1pPr>
          </a:lstStyle>
          <a:p>
            <a:pPr>
              <a:defRPr/>
            </a:pPr>
            <a:endParaRPr lang="en-US"/>
          </a:p>
        </p:txBody>
      </p:sp>
      <p:sp>
        <p:nvSpPr>
          <p:cNvPr id="10" name="Slide Number Placeholder 8"/>
          <p:cNvSpPr>
            <a:spLocks noGrp="1"/>
          </p:cNvSpPr>
          <p:nvPr>
            <p:ph type="sldNum" sz="quarter" idx="12"/>
          </p:nvPr>
        </p:nvSpPr>
        <p:spPr/>
        <p:txBody>
          <a:bodyPr/>
          <a:lstStyle>
            <a:lvl1pPr>
              <a:defRPr/>
            </a:lvl1pPr>
          </a:lstStyle>
          <a:p>
            <a:fld id="{D01AC6DB-0039-4298-A171-5D5626195348}" type="slidenum">
              <a:rPr lang="en-US" altLang="en-US"/>
              <a:pPr/>
              <a:t>‹#›</a:t>
            </a:fld>
            <a:endParaRPr lang="en-US" altLang="en-US"/>
          </a:p>
        </p:txBody>
      </p:sp>
    </p:spTree>
    <p:extLst>
      <p:ext uri="{BB962C8B-B14F-4D97-AF65-F5344CB8AC3E}">
        <p14:creationId xmlns:p14="http://schemas.microsoft.com/office/powerpoint/2010/main" val="3612407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57199" y="2214562"/>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57199" y="4224973"/>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4"/>
          <p:cNvSpPr>
            <a:spLocks noGrp="1"/>
          </p:cNvSpPr>
          <p:nvPr>
            <p:ph type="dt" sz="half" idx="14"/>
          </p:nvPr>
        </p:nvSpPr>
        <p:spPr/>
        <p:txBody>
          <a:bodyPr/>
          <a:lstStyle>
            <a:lvl1pPr>
              <a:defRPr/>
            </a:lvl1pPr>
          </a:lstStyle>
          <a:p>
            <a:pPr>
              <a:defRPr/>
            </a:pPr>
            <a:endParaRPr lang="en-US"/>
          </a:p>
        </p:txBody>
      </p:sp>
      <p:sp>
        <p:nvSpPr>
          <p:cNvPr id="7" name="Footer Placeholder 5"/>
          <p:cNvSpPr>
            <a:spLocks noGrp="1"/>
          </p:cNvSpPr>
          <p:nvPr>
            <p:ph type="ftr" sz="quarter" idx="15"/>
          </p:nvPr>
        </p:nvSpPr>
        <p:spPr/>
        <p:txBody>
          <a:bodyPr/>
          <a:lstStyle>
            <a:lvl1pPr>
              <a:defRPr/>
            </a:lvl1pPr>
          </a:lstStyle>
          <a:p>
            <a:pPr>
              <a:defRPr/>
            </a:pPr>
            <a:endParaRPr lang="en-US"/>
          </a:p>
        </p:txBody>
      </p:sp>
      <p:sp>
        <p:nvSpPr>
          <p:cNvPr id="8" name="Slide Number Placeholder 6"/>
          <p:cNvSpPr>
            <a:spLocks noGrp="1"/>
          </p:cNvSpPr>
          <p:nvPr>
            <p:ph type="sldNum" sz="quarter" idx="16"/>
          </p:nvPr>
        </p:nvSpPr>
        <p:spPr/>
        <p:txBody>
          <a:bodyPr/>
          <a:lstStyle>
            <a:lvl1pPr>
              <a:defRPr/>
            </a:lvl1pPr>
          </a:lstStyle>
          <a:p>
            <a:fld id="{5C884DE9-E04F-4288-9ED9-FE5D550713BA}" type="slidenum">
              <a:rPr lang="en-US" altLang="en-US"/>
              <a:pPr/>
              <a:t>‹#›</a:t>
            </a:fld>
            <a:endParaRPr lang="en-US" altLang="en-US"/>
          </a:p>
        </p:txBody>
      </p:sp>
    </p:spTree>
    <p:extLst>
      <p:ext uri="{BB962C8B-B14F-4D97-AF65-F5344CB8AC3E}">
        <p14:creationId xmlns:p14="http://schemas.microsoft.com/office/powerpoint/2010/main" val="26067353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4"/>
          <p:cNvSpPr>
            <a:spLocks noGrp="1"/>
          </p:cNvSpPr>
          <p:nvPr>
            <p:ph type="dt" sz="half" idx="15"/>
          </p:nvPr>
        </p:nvSpPr>
        <p:spPr/>
        <p:txBody>
          <a:bodyPr/>
          <a:lstStyle>
            <a:lvl1pPr>
              <a:defRPr/>
            </a:lvl1pPr>
          </a:lstStyle>
          <a:p>
            <a:pPr>
              <a:defRPr/>
            </a:pPr>
            <a:endParaRPr lang="en-US"/>
          </a:p>
        </p:txBody>
      </p:sp>
      <p:sp>
        <p:nvSpPr>
          <p:cNvPr id="8" name="Footer Placeholder 5"/>
          <p:cNvSpPr>
            <a:spLocks noGrp="1"/>
          </p:cNvSpPr>
          <p:nvPr>
            <p:ph type="ftr" sz="quarter" idx="16"/>
          </p:nvPr>
        </p:nvSpPr>
        <p:spPr/>
        <p:txBody>
          <a:bodyPr/>
          <a:lstStyle>
            <a:lvl1pPr>
              <a:defRPr/>
            </a:lvl1pPr>
          </a:lstStyle>
          <a:p>
            <a:pPr>
              <a:defRPr/>
            </a:pPr>
            <a:endParaRPr lang="en-US"/>
          </a:p>
        </p:txBody>
      </p:sp>
      <p:sp>
        <p:nvSpPr>
          <p:cNvPr id="11" name="Slide Number Placeholder 6"/>
          <p:cNvSpPr>
            <a:spLocks noGrp="1"/>
          </p:cNvSpPr>
          <p:nvPr>
            <p:ph type="sldNum" sz="quarter" idx="17"/>
          </p:nvPr>
        </p:nvSpPr>
        <p:spPr/>
        <p:txBody>
          <a:bodyPr/>
          <a:lstStyle>
            <a:lvl1pPr>
              <a:defRPr/>
            </a:lvl1pPr>
          </a:lstStyle>
          <a:p>
            <a:fld id="{23D08046-30D2-4299-ABA6-D1D398EEE5FC}" type="slidenum">
              <a:rPr lang="en-US" altLang="en-US"/>
              <a:pPr/>
              <a:t>‹#›</a:t>
            </a:fld>
            <a:endParaRPr lang="en-US" altLang="en-US"/>
          </a:p>
        </p:txBody>
      </p:sp>
    </p:spTree>
    <p:extLst>
      <p:ext uri="{BB962C8B-B14F-4D97-AF65-F5344CB8AC3E}">
        <p14:creationId xmlns:p14="http://schemas.microsoft.com/office/powerpoint/2010/main" val="37431225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4"/>
          </p:nvPr>
        </p:nvSpPr>
        <p:spPr>
          <a:xfrm>
            <a:off x="45720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2" name="Content Placeholder 2"/>
          <p:cNvSpPr>
            <a:spLocks noGrp="1"/>
          </p:cNvSpPr>
          <p:nvPr>
            <p:ph sz="half" idx="15"/>
          </p:nvPr>
        </p:nvSpPr>
        <p:spPr>
          <a:xfrm>
            <a:off x="45720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4"/>
          <p:cNvSpPr>
            <a:spLocks noGrp="1"/>
          </p:cNvSpPr>
          <p:nvPr>
            <p:ph type="dt" sz="half" idx="16"/>
          </p:nvPr>
        </p:nvSpPr>
        <p:spPr/>
        <p:txBody>
          <a:bodyPr/>
          <a:lstStyle>
            <a:lvl1pPr>
              <a:defRPr/>
            </a:lvl1pPr>
          </a:lstStyle>
          <a:p>
            <a:pPr>
              <a:defRPr/>
            </a:pPr>
            <a:endParaRPr lang="en-US"/>
          </a:p>
        </p:txBody>
      </p:sp>
      <p:sp>
        <p:nvSpPr>
          <p:cNvPr id="10" name="Footer Placeholder 5"/>
          <p:cNvSpPr>
            <a:spLocks noGrp="1"/>
          </p:cNvSpPr>
          <p:nvPr>
            <p:ph type="ftr" sz="quarter" idx="17"/>
          </p:nvPr>
        </p:nvSpPr>
        <p:spPr/>
        <p:txBody>
          <a:bodyPr/>
          <a:lstStyle>
            <a:lvl1pPr>
              <a:defRPr/>
            </a:lvl1pPr>
          </a:lstStyle>
          <a:p>
            <a:pPr>
              <a:defRPr/>
            </a:pPr>
            <a:endParaRPr lang="en-US"/>
          </a:p>
        </p:txBody>
      </p:sp>
      <p:sp>
        <p:nvSpPr>
          <p:cNvPr id="13" name="Slide Number Placeholder 6"/>
          <p:cNvSpPr>
            <a:spLocks noGrp="1"/>
          </p:cNvSpPr>
          <p:nvPr>
            <p:ph type="sldNum" sz="quarter" idx="18"/>
          </p:nvPr>
        </p:nvSpPr>
        <p:spPr/>
        <p:txBody>
          <a:bodyPr/>
          <a:lstStyle>
            <a:lvl1pPr>
              <a:defRPr/>
            </a:lvl1pPr>
          </a:lstStyle>
          <a:p>
            <a:fld id="{6E4021AC-30CC-476E-BC84-58CAE81714B8}" type="slidenum">
              <a:rPr lang="en-US" altLang="en-US"/>
              <a:pPr/>
              <a:t>‹#›</a:t>
            </a:fld>
            <a:endParaRPr lang="en-US" altLang="en-US"/>
          </a:p>
        </p:txBody>
      </p:sp>
    </p:spTree>
    <p:extLst>
      <p:ext uri="{BB962C8B-B14F-4D97-AF65-F5344CB8AC3E}">
        <p14:creationId xmlns:p14="http://schemas.microsoft.com/office/powerpoint/2010/main" val="4359872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74625" y="156605"/>
            <a:ext cx="7772400" cy="772639"/>
          </a:xfrm>
        </p:spPr>
        <p:txBody>
          <a:bodyPr/>
          <a:lstStyle/>
          <a:p>
            <a:r>
              <a:rPr lang="en-US" dirty="0"/>
              <a:t>Click to edit Master title style</a:t>
            </a:r>
            <a:endParaRPr dirty="0"/>
          </a:p>
        </p:txBody>
      </p:sp>
      <p:sp>
        <p:nvSpPr>
          <p:cNvPr id="6" name="Slide Number Placeholder 4"/>
          <p:cNvSpPr>
            <a:spLocks noGrp="1"/>
          </p:cNvSpPr>
          <p:nvPr>
            <p:ph type="sldNum" sz="quarter" idx="12"/>
          </p:nvPr>
        </p:nvSpPr>
        <p:spPr/>
        <p:txBody>
          <a:bodyPr/>
          <a:lstStyle>
            <a:lvl1pPr>
              <a:defRPr sz="1400">
                <a:solidFill>
                  <a:schemeClr val="accent1"/>
                </a:solidFill>
              </a:defRPr>
            </a:lvl1pPr>
          </a:lstStyle>
          <a:p>
            <a:fld id="{70F7A7FE-7E23-4E26-893C-084BB9E221DC}" type="slidenum">
              <a:rPr lang="en-US" altLang="en-US" smtClean="0"/>
              <a:pPr/>
              <a:t>‹#›</a:t>
            </a:fld>
            <a:endParaRPr lang="en-US" altLang="en-US" dirty="0"/>
          </a:p>
        </p:txBody>
      </p:sp>
    </p:spTree>
    <p:extLst>
      <p:ext uri="{BB962C8B-B14F-4D97-AF65-F5344CB8AC3E}">
        <p14:creationId xmlns:p14="http://schemas.microsoft.com/office/powerpoint/2010/main" val="20284185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Slide Number Placeholder 5"/>
          <p:cNvSpPr>
            <a:spLocks noGrp="1"/>
          </p:cNvSpPr>
          <p:nvPr>
            <p:ph type="sldNum" sz="quarter" idx="10"/>
          </p:nvPr>
        </p:nvSpPr>
        <p:spPr>
          <a:xfrm>
            <a:off x="8509000" y="6356350"/>
            <a:ext cx="508000" cy="365125"/>
          </a:xfrm>
        </p:spPr>
        <p:txBody>
          <a:bodyPr/>
          <a:lstStyle>
            <a:lvl1pPr>
              <a:defRPr sz="1400">
                <a:solidFill>
                  <a:schemeClr val="accent1"/>
                </a:solidFill>
              </a:defRPr>
            </a:lvl1pPr>
          </a:lstStyle>
          <a:p>
            <a:fld id="{BDD56373-BEE7-4190-8119-BD4E96CAD248}" type="slidenum">
              <a:rPr lang="en-US" altLang="en-US"/>
              <a:pPr/>
              <a:t>‹#›</a:t>
            </a:fld>
            <a:endParaRPr lang="en-US" altLang="en-US"/>
          </a:p>
        </p:txBody>
      </p:sp>
    </p:spTree>
    <p:extLst>
      <p:ext uri="{BB962C8B-B14F-4D97-AF65-F5344CB8AC3E}">
        <p14:creationId xmlns:p14="http://schemas.microsoft.com/office/powerpoint/2010/main" val="26301029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199" y="995082"/>
            <a:ext cx="3566160" cy="1035424"/>
          </a:xfrm>
        </p:spPr>
        <p:txBody>
          <a:bodyPr/>
          <a:lstStyle>
            <a:lvl1pPr algn="l">
              <a:defRPr sz="2800" b="0"/>
            </a:lvl1pPr>
          </a:lstStyle>
          <a:p>
            <a:r>
              <a:rPr lang="en-US"/>
              <a:t>Click to edit Master title style</a:t>
            </a:r>
            <a:endParaRPr/>
          </a:p>
        </p:txBody>
      </p:sp>
      <p:sp>
        <p:nvSpPr>
          <p:cNvPr id="3" name="Content Placeholder 2"/>
          <p:cNvSpPr>
            <a:spLocks noGrp="1"/>
          </p:cNvSpPr>
          <p:nvPr>
            <p:ph idx="1"/>
          </p:nvPr>
        </p:nvSpPr>
        <p:spPr>
          <a:xfrm>
            <a:off x="4762052" y="990600"/>
            <a:ext cx="3566160" cy="513556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18EBB0A0-0E76-4528-B8AF-81CFD3D0EFCC}" type="slidenum">
              <a:rPr lang="en-US" altLang="en-US"/>
              <a:pPr/>
              <a:t>‹#›</a:t>
            </a:fld>
            <a:endParaRPr lang="en-US" altLang="en-US"/>
          </a:p>
        </p:txBody>
      </p:sp>
    </p:spTree>
    <p:extLst>
      <p:ext uri="{BB962C8B-B14F-4D97-AF65-F5344CB8AC3E}">
        <p14:creationId xmlns:p14="http://schemas.microsoft.com/office/powerpoint/2010/main" val="14140342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199" y="995082"/>
            <a:ext cx="3566160" cy="1035424"/>
          </a:xfrm>
        </p:spPr>
        <p:txBody>
          <a:bodyPr/>
          <a:lstStyle>
            <a:lvl1pPr algn="l">
              <a:defRPr sz="2800" b="0"/>
            </a:lvl1pPr>
          </a:lstStyle>
          <a:p>
            <a:r>
              <a:rPr lang="en-US"/>
              <a:t>Click to edit Master title style</a:t>
            </a:r>
            <a:endParaRPr/>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Picture Placeholder 9"/>
          <p:cNvSpPr>
            <a:spLocks noGrp="1"/>
          </p:cNvSpPr>
          <p:nvPr>
            <p:ph type="pic" sz="quarter" idx="13"/>
          </p:nvPr>
        </p:nvSpPr>
        <p:spPr>
          <a:xfrm>
            <a:off x="4760258" y="990600"/>
            <a:ext cx="4096512" cy="5611813"/>
          </a:xfrm>
        </p:spPr>
        <p:txBody>
          <a:bodyPr rtlCol="0">
            <a:normAutofit/>
          </a:bodyPr>
          <a:lstStyle>
            <a:lvl1pPr>
              <a:buNone/>
              <a:defRPr/>
            </a:lvl1pPr>
          </a:lstStyle>
          <a:p>
            <a:pPr lvl="0"/>
            <a:r>
              <a:rPr lang="en-US" noProof="0"/>
              <a:t>Click icon to add picture</a:t>
            </a:r>
            <a:endParaRPr noProof="0"/>
          </a:p>
        </p:txBody>
      </p:sp>
      <p:sp>
        <p:nvSpPr>
          <p:cNvPr id="6" name="Date Placeholder 4"/>
          <p:cNvSpPr>
            <a:spLocks noGrp="1"/>
          </p:cNvSpPr>
          <p:nvPr>
            <p:ph type="dt" sz="half" idx="14"/>
          </p:nvPr>
        </p:nvSpPr>
        <p:spPr>
          <a:xfrm>
            <a:off x="161925" y="6124575"/>
            <a:ext cx="1752600" cy="365125"/>
          </a:xfrm>
        </p:spPr>
        <p:txBody>
          <a:bodyPr/>
          <a:lstStyle>
            <a:lvl1pPr algn="l">
              <a:defRPr/>
            </a:lvl1pPr>
          </a:lstStyle>
          <a:p>
            <a:pPr>
              <a:defRPr/>
            </a:pPr>
            <a:endParaRPr lang="en-US"/>
          </a:p>
        </p:txBody>
      </p:sp>
      <p:sp>
        <p:nvSpPr>
          <p:cNvPr id="7" name="Footer Placeholder 5"/>
          <p:cNvSpPr>
            <a:spLocks noGrp="1"/>
          </p:cNvSpPr>
          <p:nvPr>
            <p:ph type="ftr" sz="quarter" idx="15"/>
          </p:nvPr>
        </p:nvSpPr>
        <p:spPr>
          <a:xfrm>
            <a:off x="174625" y="6356350"/>
            <a:ext cx="3863975" cy="365125"/>
          </a:xfrm>
        </p:spPr>
        <p:txBody>
          <a:bodyPr/>
          <a:lstStyle>
            <a:lvl1pPr>
              <a:defRPr/>
            </a:lvl1pPr>
          </a:lstStyle>
          <a:p>
            <a:pPr>
              <a:defRPr/>
            </a:pPr>
            <a:endParaRPr lang="en-US"/>
          </a:p>
        </p:txBody>
      </p:sp>
      <p:sp>
        <p:nvSpPr>
          <p:cNvPr id="8" name="Slide Number Placeholder 6"/>
          <p:cNvSpPr>
            <a:spLocks noGrp="1"/>
          </p:cNvSpPr>
          <p:nvPr>
            <p:ph type="sldNum" sz="quarter" idx="16"/>
          </p:nvPr>
        </p:nvSpPr>
        <p:spPr/>
        <p:txBody>
          <a:bodyPr/>
          <a:lstStyle>
            <a:lvl1pPr>
              <a:defRPr/>
            </a:lvl1pPr>
          </a:lstStyle>
          <a:p>
            <a:fld id="{91024C4B-4E14-439F-B979-B1840C2CC932}" type="slidenum">
              <a:rPr lang="en-US" altLang="en-US"/>
              <a:pPr/>
              <a:t>‹#›</a:t>
            </a:fld>
            <a:endParaRPr lang="en-US" altLang="en-US"/>
          </a:p>
        </p:txBody>
      </p:sp>
    </p:spTree>
    <p:extLst>
      <p:ext uri="{BB962C8B-B14F-4D97-AF65-F5344CB8AC3E}">
        <p14:creationId xmlns:p14="http://schemas.microsoft.com/office/powerpoint/2010/main" val="31746415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458788" y="4267200"/>
            <a:ext cx="6477000" cy="566738"/>
          </a:xfrm>
        </p:spPr>
        <p:txBody>
          <a:bodyPr/>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269874" y="268288"/>
            <a:ext cx="6858000" cy="363931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30CFB260-02FA-48D7-88CA-301EB77EF19D}" type="slidenum">
              <a:rPr lang="en-US" altLang="en-US"/>
              <a:pPr/>
              <a:t>‹#›</a:t>
            </a:fld>
            <a:endParaRPr lang="en-US" altLang="en-US"/>
          </a:p>
        </p:txBody>
      </p:sp>
    </p:spTree>
    <p:extLst>
      <p:ext uri="{BB962C8B-B14F-4D97-AF65-F5344CB8AC3E}">
        <p14:creationId xmlns:p14="http://schemas.microsoft.com/office/powerpoint/2010/main" val="17562127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8788" y="4267200"/>
            <a:ext cx="6477000" cy="566738"/>
          </a:xfrm>
        </p:spPr>
        <p:txBody>
          <a:bodyPr/>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269874" y="268288"/>
            <a:ext cx="3006726" cy="363931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Picture Placeholder 2"/>
          <p:cNvSpPr>
            <a:spLocks noGrp="1"/>
          </p:cNvSpPr>
          <p:nvPr>
            <p:ph type="pic" idx="13"/>
          </p:nvPr>
        </p:nvSpPr>
        <p:spPr>
          <a:xfrm>
            <a:off x="3352800" y="268288"/>
            <a:ext cx="47019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11" name="Picture Placeholder 2"/>
          <p:cNvSpPr>
            <a:spLocks noGrp="1"/>
          </p:cNvSpPr>
          <p:nvPr>
            <p:ph type="pic" idx="14"/>
          </p:nvPr>
        </p:nvSpPr>
        <p:spPr>
          <a:xfrm>
            <a:off x="3352800" y="2131935"/>
            <a:ext cx="23042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12" name="Picture Placeholder 2"/>
          <p:cNvSpPr>
            <a:spLocks noGrp="1"/>
          </p:cNvSpPr>
          <p:nvPr>
            <p:ph type="pic" idx="15"/>
          </p:nvPr>
        </p:nvSpPr>
        <p:spPr>
          <a:xfrm>
            <a:off x="5750500" y="2131935"/>
            <a:ext cx="23042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9" name="Date Placeholder 4"/>
          <p:cNvSpPr>
            <a:spLocks noGrp="1"/>
          </p:cNvSpPr>
          <p:nvPr>
            <p:ph type="dt" sz="half" idx="16"/>
          </p:nvPr>
        </p:nvSpPr>
        <p:spPr/>
        <p:txBody>
          <a:bodyPr/>
          <a:lstStyle>
            <a:lvl1pPr>
              <a:defRPr/>
            </a:lvl1pPr>
          </a:lstStyle>
          <a:p>
            <a:pPr>
              <a:defRPr/>
            </a:pPr>
            <a:endParaRPr lang="en-US"/>
          </a:p>
        </p:txBody>
      </p:sp>
      <p:sp>
        <p:nvSpPr>
          <p:cNvPr id="13" name="Footer Placeholder 5"/>
          <p:cNvSpPr>
            <a:spLocks noGrp="1"/>
          </p:cNvSpPr>
          <p:nvPr>
            <p:ph type="ftr" sz="quarter" idx="17"/>
          </p:nvPr>
        </p:nvSpPr>
        <p:spPr/>
        <p:txBody>
          <a:bodyPr/>
          <a:lstStyle>
            <a:lvl1pPr>
              <a:defRPr/>
            </a:lvl1pPr>
          </a:lstStyle>
          <a:p>
            <a:pPr>
              <a:defRPr/>
            </a:pPr>
            <a:endParaRPr lang="en-US"/>
          </a:p>
        </p:txBody>
      </p:sp>
      <p:sp>
        <p:nvSpPr>
          <p:cNvPr id="14" name="Slide Number Placeholder 6"/>
          <p:cNvSpPr>
            <a:spLocks noGrp="1"/>
          </p:cNvSpPr>
          <p:nvPr>
            <p:ph type="sldNum" sz="quarter" idx="18"/>
          </p:nvPr>
        </p:nvSpPr>
        <p:spPr/>
        <p:txBody>
          <a:bodyPr/>
          <a:lstStyle>
            <a:lvl1pPr>
              <a:defRPr/>
            </a:lvl1pPr>
          </a:lstStyle>
          <a:p>
            <a:fld id="{38AB7D43-D50F-4614-9900-23CCDBE8A61F}" type="slidenum">
              <a:rPr lang="en-US" altLang="en-US"/>
              <a:pPr/>
              <a:t>‹#›</a:t>
            </a:fld>
            <a:endParaRPr lang="en-US" altLang="en-US"/>
          </a:p>
        </p:txBody>
      </p:sp>
    </p:spTree>
    <p:extLst>
      <p:ext uri="{BB962C8B-B14F-4D97-AF65-F5344CB8AC3E}">
        <p14:creationId xmlns:p14="http://schemas.microsoft.com/office/powerpoint/2010/main" val="25538617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D9BD780B-6627-4E88-A188-7DC10087F062}" type="slidenum">
              <a:rPr lang="en-US" altLang="en-US"/>
              <a:pPr/>
              <a:t>‹#›</a:t>
            </a:fld>
            <a:endParaRPr lang="en-US" altLang="en-US"/>
          </a:p>
        </p:txBody>
      </p:sp>
    </p:spTree>
    <p:extLst>
      <p:ext uri="{BB962C8B-B14F-4D97-AF65-F5344CB8AC3E}">
        <p14:creationId xmlns:p14="http://schemas.microsoft.com/office/powerpoint/2010/main" val="23179603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543799" y="1035424"/>
            <a:ext cx="1322295" cy="5090739"/>
          </a:xfrm>
        </p:spPr>
        <p:txBody>
          <a:bodyPr vert="eaVert" anchor="t"/>
          <a:lstStyle/>
          <a:p>
            <a:r>
              <a:rPr lang="en-US"/>
              <a:t>Click to edit Master title style</a:t>
            </a:r>
            <a:endParaRPr/>
          </a:p>
        </p:txBody>
      </p:sp>
      <p:sp>
        <p:nvSpPr>
          <p:cNvPr id="3" name="Vertical Text Placeholder 2"/>
          <p:cNvSpPr>
            <a:spLocks noGrp="1"/>
          </p:cNvSpPr>
          <p:nvPr>
            <p:ph type="body" orient="vert" idx="1"/>
          </p:nvPr>
        </p:nvSpPr>
        <p:spPr>
          <a:xfrm>
            <a:off x="457200" y="1035424"/>
            <a:ext cx="6019800" cy="51097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3A3C348E-D1EF-417D-8F0A-638F0E335320}" type="slidenum">
              <a:rPr lang="en-US" altLang="en-US"/>
              <a:pPr/>
              <a:t>‹#›</a:t>
            </a:fld>
            <a:endParaRPr lang="en-US" altLang="en-US"/>
          </a:p>
        </p:txBody>
      </p:sp>
    </p:spTree>
    <p:extLst>
      <p:ext uri="{BB962C8B-B14F-4D97-AF65-F5344CB8AC3E}">
        <p14:creationId xmlns:p14="http://schemas.microsoft.com/office/powerpoint/2010/main" val="34305325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714500"/>
            <a:ext cx="3810000" cy="2000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867150"/>
            <a:ext cx="3810000" cy="2000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685800" y="6248400"/>
            <a:ext cx="1905000" cy="457200"/>
          </a:xfrm>
        </p:spPr>
        <p:txBody>
          <a:bodyPr/>
          <a:lstStyle>
            <a:lvl1pPr fontAlgn="auto">
              <a:spcBef>
                <a:spcPts val="0"/>
              </a:spcBef>
              <a:spcAft>
                <a:spcPts val="0"/>
              </a:spcAft>
              <a:defRPr>
                <a:latin typeface="+mn-lt"/>
                <a:ea typeface="+mn-ea"/>
                <a:cs typeface="+mn-cs"/>
              </a:defRPr>
            </a:lvl1pPr>
          </a:lstStyle>
          <a:p>
            <a:pPr>
              <a:defRPr/>
            </a:pPr>
            <a:endParaRPr lang="en-US"/>
          </a:p>
        </p:txBody>
      </p:sp>
      <p:sp>
        <p:nvSpPr>
          <p:cNvPr id="7" name="Footer Placeholder 6"/>
          <p:cNvSpPr>
            <a:spLocks noGrp="1"/>
          </p:cNvSpPr>
          <p:nvPr>
            <p:ph type="ftr" sz="quarter" idx="11"/>
          </p:nvPr>
        </p:nvSpPr>
        <p:spPr>
          <a:xfrm>
            <a:off x="3124200" y="6248400"/>
            <a:ext cx="2895600" cy="457200"/>
          </a:xfrm>
        </p:spPr>
        <p:txBody>
          <a:bodyPr/>
          <a:lstStyle>
            <a:lvl1pPr>
              <a:defRPr/>
            </a:lvl1pPr>
          </a:lstStyle>
          <a:p>
            <a:pPr>
              <a:defRPr/>
            </a:pPr>
            <a:endParaRPr lang="en-US"/>
          </a:p>
        </p:txBody>
      </p:sp>
      <p:sp>
        <p:nvSpPr>
          <p:cNvPr id="8" name="Slide Number Placeholder 7"/>
          <p:cNvSpPr>
            <a:spLocks noGrp="1"/>
          </p:cNvSpPr>
          <p:nvPr>
            <p:ph type="sldNum" sz="quarter" idx="12"/>
          </p:nvPr>
        </p:nvSpPr>
        <p:spPr>
          <a:xfrm>
            <a:off x="6553200" y="6248400"/>
            <a:ext cx="1905000" cy="457200"/>
          </a:xfrm>
        </p:spPr>
        <p:txBody>
          <a:bodyPr/>
          <a:lstStyle>
            <a:lvl1pPr>
              <a:defRPr/>
            </a:lvl1pPr>
          </a:lstStyle>
          <a:p>
            <a:fld id="{CCA0EEAF-1806-4E70-BA51-AF24E6AF17F3}" type="slidenum">
              <a:rPr lang="en-US" altLang="en-US"/>
              <a:pPr/>
              <a:t>‹#›</a:t>
            </a:fld>
            <a:endParaRPr lang="en-US" altLang="en-US"/>
          </a:p>
        </p:txBody>
      </p:sp>
    </p:spTree>
    <p:extLst>
      <p:ext uri="{BB962C8B-B14F-4D97-AF65-F5344CB8AC3E}">
        <p14:creationId xmlns:p14="http://schemas.microsoft.com/office/powerpoint/2010/main" val="30847280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85800" y="6248400"/>
            <a:ext cx="1905000" cy="457200"/>
          </a:xfrm>
        </p:spPr>
        <p:txBody>
          <a:bodyPr/>
          <a:lstStyle>
            <a:lvl1pPr fontAlgn="auto">
              <a:spcBef>
                <a:spcPts val="0"/>
              </a:spcBef>
              <a:spcAft>
                <a:spcPts val="0"/>
              </a:spcAft>
              <a:defRPr>
                <a:latin typeface="+mn-lt"/>
                <a:ea typeface="+mn-ea"/>
                <a:cs typeface="+mn-cs"/>
              </a:defRPr>
            </a:lvl1pPr>
          </a:lstStyle>
          <a:p>
            <a:pPr>
              <a:defRPr/>
            </a:pPr>
            <a:endParaRPr 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fld id="{D80332D8-222A-4384-B54F-29636FA87E51}" type="slidenum">
              <a:rPr lang="en-US" altLang="en-US"/>
              <a:pPr/>
              <a:t>‹#›</a:t>
            </a:fld>
            <a:endParaRPr lang="en-US" altLang="en-US"/>
          </a:p>
        </p:txBody>
      </p:sp>
    </p:spTree>
    <p:extLst>
      <p:ext uri="{BB962C8B-B14F-4D97-AF65-F5344CB8AC3E}">
        <p14:creationId xmlns:p14="http://schemas.microsoft.com/office/powerpoint/2010/main" val="19410184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lstStyle/>
          <a:p>
            <a:r>
              <a:rPr lang="en-US"/>
              <a:t>Click to edit Master title style</a:t>
            </a:r>
          </a:p>
        </p:txBody>
      </p:sp>
      <p:sp>
        <p:nvSpPr>
          <p:cNvPr id="3" name="Content Placeholder 2"/>
          <p:cNvSpPr>
            <a:spLocks noGrp="1"/>
          </p:cNvSpPr>
          <p:nvPr>
            <p:ph sz="half" idx="1"/>
          </p:nvPr>
        </p:nvSpPr>
        <p:spPr>
          <a:xfrm>
            <a:off x="457200" y="1143000"/>
            <a:ext cx="40386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143000"/>
            <a:ext cx="403860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62400"/>
            <a:ext cx="403860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31512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914400"/>
            <a:ext cx="6508750" cy="1143000"/>
          </a:xfrm>
          <a:prstGeom prst="rect">
            <a:avLst/>
          </a:prstGeom>
          <a:solidFill>
            <a:schemeClr val="accent2"/>
          </a:solidFill>
          <a:ln>
            <a:noFill/>
          </a:ln>
        </p:spPr>
        <p:txBody>
          <a:bodyPr vert="horz" wrap="square" lIns="91440" tIns="45720" rIns="91440" bIns="45720" numCol="1" anchor="b"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457200" y="2209800"/>
            <a:ext cx="6508750" cy="391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7199313" y="6356350"/>
            <a:ext cx="1752600" cy="365125"/>
          </a:xfrm>
          <a:prstGeom prst="rect">
            <a:avLst/>
          </a:prstGeom>
        </p:spPr>
        <p:txBody>
          <a:bodyPr vert="horz" lIns="91440" tIns="45720" rIns="91440" bIns="45720" rtlCol="0" anchor="ctr"/>
          <a:lstStyle>
            <a:lvl1pPr algn="r" eaLnBrk="1" fontAlgn="auto" hangingPunct="1">
              <a:spcBef>
                <a:spcPts val="0"/>
              </a:spcBef>
              <a:spcAft>
                <a:spcPts val="0"/>
              </a:spcAft>
              <a:defRPr sz="1100" b="1">
                <a:solidFill>
                  <a:schemeClr val="tx2">
                    <a:lumMod val="60000"/>
                    <a:lumOff val="40000"/>
                  </a:schemeClr>
                </a:solidFill>
                <a:latin typeface="+mn-lt"/>
                <a:ea typeface="+mn-ea"/>
                <a:cs typeface="+mn-cs"/>
              </a:defRPr>
            </a:lvl1pPr>
          </a:lstStyle>
          <a:p>
            <a:pPr>
              <a:defRPr/>
            </a:pPr>
            <a:endParaRPr lang="en-US"/>
          </a:p>
        </p:txBody>
      </p:sp>
      <p:sp>
        <p:nvSpPr>
          <p:cNvPr id="5" name="Footer Placeholder 4"/>
          <p:cNvSpPr>
            <a:spLocks noGrp="1"/>
          </p:cNvSpPr>
          <p:nvPr>
            <p:ph type="ftr" sz="quarter" idx="3"/>
          </p:nvPr>
        </p:nvSpPr>
        <p:spPr>
          <a:xfrm>
            <a:off x="174625" y="6356350"/>
            <a:ext cx="6007100" cy="365125"/>
          </a:xfrm>
          <a:prstGeom prst="rect">
            <a:avLst/>
          </a:prstGeom>
        </p:spPr>
        <p:txBody>
          <a:bodyPr vert="horz" lIns="91440" tIns="45720" rIns="91440" bIns="45720" rtlCol="0" anchor="ctr"/>
          <a:lstStyle>
            <a:lvl1pPr algn="l" eaLnBrk="1" fontAlgn="auto" hangingPunct="1">
              <a:spcBef>
                <a:spcPts val="0"/>
              </a:spcBef>
              <a:spcAft>
                <a:spcPts val="0"/>
              </a:spcAft>
              <a:defRPr sz="1100" b="1">
                <a:solidFill>
                  <a:schemeClr val="tx2">
                    <a:lumMod val="60000"/>
                    <a:lumOff val="40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8256588" y="360363"/>
            <a:ext cx="506412"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2200" b="1">
                <a:solidFill>
                  <a:schemeClr val="bg1"/>
                </a:solidFill>
              </a:defRPr>
            </a:lvl1pPr>
          </a:lstStyle>
          <a:p>
            <a:fld id="{75AE6FD4-389B-4EB5-90E1-FBDA34AC8DAF}"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961" r:id="rId1"/>
    <p:sldLayoutId id="2147484962" r:id="rId2"/>
    <p:sldLayoutId id="2147484963" r:id="rId3"/>
    <p:sldLayoutId id="2147484964" r:id="rId4"/>
    <p:sldLayoutId id="2147484965" r:id="rId5"/>
    <p:sldLayoutId id="2147484966" r:id="rId6"/>
    <p:sldLayoutId id="2147484967" r:id="rId7"/>
    <p:sldLayoutId id="2147484968" r:id="rId8"/>
    <p:sldLayoutId id="2147484969" r:id="rId9"/>
    <p:sldLayoutId id="2147484970" r:id="rId10"/>
    <p:sldLayoutId id="2147484971" r:id="rId11"/>
    <p:sldLayoutId id="2147484972" r:id="rId12"/>
    <p:sldLayoutId id="2147484973" r:id="rId13"/>
    <p:sldLayoutId id="2147484974" r:id="rId14"/>
    <p:sldLayoutId id="2147484975" r:id="rId15"/>
    <p:sldLayoutId id="2147484976" r:id="rId16"/>
    <p:sldLayoutId id="2147484977" r:id="rId17"/>
    <p:sldLayoutId id="2147484978" r:id="rId18"/>
    <p:sldLayoutId id="2147484979" r:id="rId19"/>
    <p:sldLayoutId id="2147484980" r:id="rId20"/>
    <p:sldLayoutId id="2147484981" r:id="rId21"/>
    <p:sldLayoutId id="2147484982" r:id="rId22"/>
  </p:sldLayoutIdLst>
  <p:hf hdr="0" ftr="0" dt="0"/>
  <p:txStyles>
    <p:titleStyle>
      <a:lvl1pPr algn="l" rtl="0" eaLnBrk="0" fontAlgn="base" hangingPunct="0">
        <a:spcBef>
          <a:spcPct val="0"/>
        </a:spcBef>
        <a:spcAft>
          <a:spcPct val="0"/>
        </a:spcAft>
        <a:defRPr sz="3600" kern="1200">
          <a:solidFill>
            <a:schemeClr val="accent1"/>
          </a:solidFill>
          <a:latin typeface="+mj-lt"/>
          <a:ea typeface="ＭＳ Ｐゴシック" pitchFamily="-1" charset="-128"/>
          <a:cs typeface="ＭＳ Ｐゴシック" pitchFamily="-1" charset="-128"/>
        </a:defRPr>
      </a:lvl1pPr>
      <a:lvl2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2pPr>
      <a:lvl3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3pPr>
      <a:lvl4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4pPr>
      <a:lvl5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5pPr>
      <a:lvl6pPr marL="4572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6pPr>
      <a:lvl7pPr marL="9144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7pPr>
      <a:lvl8pPr marL="13716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8pPr>
      <a:lvl9pPr marL="18288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9pPr>
    </p:titleStyle>
    <p:bodyStyle>
      <a:lvl1pPr marL="228600" indent="-228600" algn="l" rtl="0" eaLnBrk="0" fontAlgn="base" hangingPunct="0">
        <a:spcBef>
          <a:spcPts val="1800"/>
        </a:spcBef>
        <a:spcAft>
          <a:spcPct val="0"/>
        </a:spcAft>
        <a:buClr>
          <a:schemeClr val="accent1"/>
        </a:buClr>
        <a:buSzPct val="100000"/>
        <a:buFont typeface="Wingdings 2" pitchFamily="18" charset="2"/>
        <a:buChar char="¡"/>
        <a:defRPr sz="2000" kern="1200">
          <a:solidFill>
            <a:schemeClr val="tx2"/>
          </a:solidFill>
          <a:latin typeface="+mn-lt"/>
          <a:ea typeface="ＭＳ Ｐゴシック" pitchFamily="-1" charset="-128"/>
          <a:cs typeface="ＭＳ Ｐゴシック" pitchFamily="-1" charset="-128"/>
        </a:defRPr>
      </a:lvl1pPr>
      <a:lvl2pPr marL="457200" indent="-228600" algn="l" rtl="0" eaLnBrk="0" fontAlgn="base" hangingPunct="0">
        <a:spcBef>
          <a:spcPts val="600"/>
        </a:spcBef>
        <a:spcAft>
          <a:spcPct val="0"/>
        </a:spcAft>
        <a:buClr>
          <a:srgbClr val="031B3C"/>
        </a:buClr>
        <a:buSzPct val="100000"/>
        <a:buFont typeface="Wingdings 2" pitchFamily="18" charset="2"/>
        <a:buChar char="¡"/>
        <a:defRPr kern="1200">
          <a:solidFill>
            <a:schemeClr val="tx2"/>
          </a:solidFill>
          <a:latin typeface="+mn-lt"/>
          <a:ea typeface="ＭＳ Ｐゴシック" pitchFamily="-1" charset="-128"/>
          <a:cs typeface="+mn-cs"/>
        </a:defRPr>
      </a:lvl2pPr>
      <a:lvl3pPr marL="685800" indent="-228600" algn="l" rtl="0" eaLnBrk="0" fontAlgn="base" hangingPunct="0">
        <a:spcBef>
          <a:spcPts val="600"/>
        </a:spcBef>
        <a:spcAft>
          <a:spcPct val="0"/>
        </a:spcAft>
        <a:buClr>
          <a:schemeClr val="accent1"/>
        </a:buClr>
        <a:buSzPct val="100000"/>
        <a:buFont typeface="Wingdings 2" pitchFamily="18" charset="2"/>
        <a:buChar char="¡"/>
        <a:defRPr kern="1200">
          <a:solidFill>
            <a:schemeClr val="tx2"/>
          </a:solidFill>
          <a:latin typeface="+mn-lt"/>
          <a:ea typeface="ＭＳ Ｐゴシック" pitchFamily="-1" charset="-128"/>
          <a:cs typeface="+mn-cs"/>
        </a:defRPr>
      </a:lvl3pPr>
      <a:lvl4pPr marL="914400" indent="-228600" algn="l" rtl="0" eaLnBrk="0" fontAlgn="base" hangingPunct="0">
        <a:spcBef>
          <a:spcPts val="600"/>
        </a:spcBef>
        <a:spcAft>
          <a:spcPct val="0"/>
        </a:spcAft>
        <a:buClr>
          <a:srgbClr val="031B3C"/>
        </a:buClr>
        <a:buSzPct val="100000"/>
        <a:buFont typeface="Wingdings 2" pitchFamily="18" charset="2"/>
        <a:buChar char="¡"/>
        <a:defRPr kern="1200">
          <a:solidFill>
            <a:schemeClr val="tx2"/>
          </a:solidFill>
          <a:latin typeface="+mn-lt"/>
          <a:ea typeface="ＭＳ Ｐゴシック" pitchFamily="-1" charset="-128"/>
          <a:cs typeface="+mn-cs"/>
        </a:defRPr>
      </a:lvl4pPr>
      <a:lvl5pPr marL="1143000" indent="-228600" algn="l" rtl="0" eaLnBrk="0" fontAlgn="base" hangingPunct="0">
        <a:spcBef>
          <a:spcPts val="600"/>
        </a:spcBef>
        <a:spcAft>
          <a:spcPct val="0"/>
        </a:spcAft>
        <a:buClr>
          <a:schemeClr val="accent1"/>
        </a:buClr>
        <a:buSzPct val="100000"/>
        <a:buFont typeface="Wingdings 2" pitchFamily="18" charset="2"/>
        <a:buChar char="¡"/>
        <a:defRPr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3.png"/><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image" Target="../media/image2.wmf"/><Relationship Id="rId5" Type="http://schemas.openxmlformats.org/officeDocument/2006/relationships/oleObject" Target="../embeddings/oleObject1.bin"/><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12.xml"/><Relationship Id="rId1" Type="http://schemas.openxmlformats.org/officeDocument/2006/relationships/vmlDrawing" Target="../drawings/vmlDrawing2.vml"/><Relationship Id="rId6" Type="http://schemas.openxmlformats.org/officeDocument/2006/relationships/image" Target="../media/image10.png"/><Relationship Id="rId5" Type="http://schemas.openxmlformats.org/officeDocument/2006/relationships/image" Target="../media/image8.emf"/><Relationship Id="rId4" Type="http://schemas.openxmlformats.org/officeDocument/2006/relationships/oleObject" Target="../embeddings/oleObject2.bin"/></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13.jpeg"/><Relationship Id="rId2" Type="http://schemas.openxmlformats.org/officeDocument/2006/relationships/slideLayout" Target="../slideLayouts/slideLayout12.xml"/><Relationship Id="rId1" Type="http://schemas.openxmlformats.org/officeDocument/2006/relationships/vmlDrawing" Target="../drawings/vmlDrawing3.vml"/><Relationship Id="rId6" Type="http://schemas.openxmlformats.org/officeDocument/2006/relationships/image" Target="../media/image12.wmf"/><Relationship Id="rId5" Type="http://schemas.openxmlformats.org/officeDocument/2006/relationships/oleObject" Target="../embeddings/oleObject3.bin"/><Relationship Id="rId4" Type="http://schemas.openxmlformats.org/officeDocument/2006/relationships/slide" Target="slide4.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17.jpeg"/><Relationship Id="rId2" Type="http://schemas.openxmlformats.org/officeDocument/2006/relationships/slideLayout" Target="../slideLayouts/slideLayout12.xml"/><Relationship Id="rId1" Type="http://schemas.openxmlformats.org/officeDocument/2006/relationships/vmlDrawing" Target="../drawings/vmlDrawing4.vml"/><Relationship Id="rId6" Type="http://schemas.openxmlformats.org/officeDocument/2006/relationships/image" Target="../media/image16.jpeg"/><Relationship Id="rId5" Type="http://schemas.openxmlformats.org/officeDocument/2006/relationships/image" Target="../media/image15.wmf"/><Relationship Id="rId4" Type="http://schemas.openxmlformats.org/officeDocument/2006/relationships/oleObject" Target="../embeddings/oleObject4.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vmlDrawing" Target="../drawings/vmlDrawing5.vml"/><Relationship Id="rId5" Type="http://schemas.openxmlformats.org/officeDocument/2006/relationships/image" Target="../media/image18.wmf"/><Relationship Id="rId4" Type="http://schemas.openxmlformats.org/officeDocument/2006/relationships/oleObject" Target="../embeddings/oleObject5.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vmlDrawing" Target="../drawings/vmlDrawing6.vml"/><Relationship Id="rId6" Type="http://schemas.openxmlformats.org/officeDocument/2006/relationships/image" Target="../media/image19.emf"/><Relationship Id="rId5" Type="http://schemas.openxmlformats.org/officeDocument/2006/relationships/oleObject" Target="../embeddings/oleObject6.bin"/><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9.bin"/><Relationship Id="rId13" Type="http://schemas.openxmlformats.org/officeDocument/2006/relationships/image" Target="../media/image27.wmf"/><Relationship Id="rId18" Type="http://schemas.openxmlformats.org/officeDocument/2006/relationships/image" Target="../media/image31.png"/><Relationship Id="rId3" Type="http://schemas.openxmlformats.org/officeDocument/2006/relationships/notesSlide" Target="../notesSlides/notesSlide12.xml"/><Relationship Id="rId7" Type="http://schemas.openxmlformats.org/officeDocument/2006/relationships/image" Target="../media/image24.wmf"/><Relationship Id="rId12" Type="http://schemas.openxmlformats.org/officeDocument/2006/relationships/oleObject" Target="../embeddings/oleObject11.bin"/><Relationship Id="rId17" Type="http://schemas.openxmlformats.org/officeDocument/2006/relationships/image" Target="../media/image30.png"/><Relationship Id="rId2" Type="http://schemas.openxmlformats.org/officeDocument/2006/relationships/slideLayout" Target="../slideLayouts/slideLayout12.xml"/><Relationship Id="rId16" Type="http://schemas.openxmlformats.org/officeDocument/2006/relationships/image" Target="../media/image29.png"/><Relationship Id="rId1" Type="http://schemas.openxmlformats.org/officeDocument/2006/relationships/vmlDrawing" Target="../drawings/vmlDrawing7.vml"/><Relationship Id="rId6" Type="http://schemas.openxmlformats.org/officeDocument/2006/relationships/oleObject" Target="../embeddings/oleObject8.bin"/><Relationship Id="rId11" Type="http://schemas.openxmlformats.org/officeDocument/2006/relationships/image" Target="../media/image26.wmf"/><Relationship Id="rId5" Type="http://schemas.openxmlformats.org/officeDocument/2006/relationships/image" Target="../media/image23.wmf"/><Relationship Id="rId15" Type="http://schemas.openxmlformats.org/officeDocument/2006/relationships/image" Target="../media/image28.wmf"/><Relationship Id="rId10" Type="http://schemas.openxmlformats.org/officeDocument/2006/relationships/oleObject" Target="../embeddings/oleObject10.bin"/><Relationship Id="rId4" Type="http://schemas.openxmlformats.org/officeDocument/2006/relationships/oleObject" Target="../embeddings/oleObject7.bin"/><Relationship Id="rId9" Type="http://schemas.openxmlformats.org/officeDocument/2006/relationships/image" Target="../media/image25.wmf"/><Relationship Id="rId14" Type="http://schemas.openxmlformats.org/officeDocument/2006/relationships/oleObject" Target="../embeddings/oleObject12.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12.xml"/><Relationship Id="rId1" Type="http://schemas.openxmlformats.org/officeDocument/2006/relationships/vmlDrawing" Target="../drawings/vmlDrawing8.vml"/><Relationship Id="rId4" Type="http://schemas.openxmlformats.org/officeDocument/2006/relationships/image" Target="../media/image32.emf"/></Relationships>
</file>

<file path=ppt/slides/_rels/slide33.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727208" y="4298469"/>
            <a:ext cx="7772400" cy="1829761"/>
          </a:xfrm>
        </p:spPr>
        <p:txBody>
          <a:bodyPr>
            <a:normAutofit fontScale="90000"/>
          </a:bodyPr>
          <a:lstStyle/>
          <a:p>
            <a:pPr algn="ctr" eaLnBrk="1" fontAlgn="auto" hangingPunct="1">
              <a:spcAft>
                <a:spcPts val="0"/>
              </a:spcAft>
              <a:defRPr/>
            </a:pPr>
            <a:r>
              <a:rPr lang="en-US" sz="3000" b="0" dirty="0">
                <a:solidFill>
                  <a:schemeClr val="tx1"/>
                </a:solidFill>
                <a:effectLst/>
                <a:latin typeface="Arial" pitchFamily="34" charset="0"/>
                <a:ea typeface="ヒラギノ角ゴ Pro W3" pitchFamily="-84" charset="-128"/>
                <a:cs typeface="Arial" pitchFamily="34" charset="0"/>
              </a:rPr>
              <a:t>Chapter 6</a:t>
            </a:r>
            <a:br>
              <a:rPr lang="en-US" sz="3000" b="0" dirty="0">
                <a:solidFill>
                  <a:schemeClr val="tx1"/>
                </a:solidFill>
                <a:effectLst/>
                <a:latin typeface="Arial" pitchFamily="34" charset="0"/>
                <a:ea typeface="ヒラギノ角ゴ Pro W3" pitchFamily="-84" charset="-128"/>
                <a:cs typeface="Arial" pitchFamily="34" charset="0"/>
              </a:rPr>
            </a:br>
            <a:r>
              <a:rPr lang="en-US" sz="3000" b="0" dirty="0">
                <a:solidFill>
                  <a:schemeClr val="tx1"/>
                </a:solidFill>
                <a:effectLst/>
                <a:latin typeface="Arial" pitchFamily="34" charset="0"/>
                <a:ea typeface="ヒラギノ角ゴ Pro W3" pitchFamily="-84" charset="-128"/>
                <a:cs typeface="Arial" pitchFamily="34" charset="0"/>
              </a:rPr>
              <a:t>Introduction to Inference</a:t>
            </a:r>
            <a:br>
              <a:rPr lang="en-US" sz="3000" b="0" dirty="0">
                <a:solidFill>
                  <a:schemeClr val="tx1"/>
                </a:solidFill>
                <a:effectLst/>
                <a:latin typeface="Arial" pitchFamily="34" charset="0"/>
                <a:ea typeface="ヒラギノ角ゴ Pro W3" pitchFamily="-84" charset="-128"/>
                <a:cs typeface="Arial" pitchFamily="34" charset="0"/>
              </a:rPr>
            </a:br>
            <a:r>
              <a:rPr lang="en-US" sz="3000" b="0" dirty="0">
                <a:effectLst/>
                <a:ea typeface="ヒラギノ角ゴ Pro W3" pitchFamily="-84" charset="-128"/>
              </a:rPr>
              <a:t/>
            </a:r>
            <a:br>
              <a:rPr lang="en-US" sz="3000" b="0" dirty="0">
                <a:effectLst/>
                <a:ea typeface="ヒラギノ角ゴ Pro W3" pitchFamily="-84" charset="-128"/>
              </a:rPr>
            </a:br>
            <a:r>
              <a:rPr lang="en-US" sz="3000" b="0" dirty="0">
                <a:effectLst/>
                <a:ea typeface="ヒラギノ角ゴ Pro W3" pitchFamily="-84" charset="-128"/>
              </a:rPr>
              <a:t>Lecture Slides</a:t>
            </a:r>
            <a:endParaRPr lang="en-US" sz="3000" b="0" dirty="0">
              <a:solidFill>
                <a:schemeClr val="tx1"/>
              </a:solidFill>
              <a:effectLst/>
              <a:latin typeface="Arial" pitchFamily="34" charset="0"/>
              <a:ea typeface="ヒラギノ角ゴ Pro W3" pitchFamily="-84" charset="-128"/>
              <a:cs typeface="Arial" pitchFamily="34" charset="0"/>
            </a:endParaRPr>
          </a:p>
        </p:txBody>
      </p:sp>
      <p:sp>
        <p:nvSpPr>
          <p:cNvPr id="2" name="Footer Placeholder 1"/>
          <p:cNvSpPr>
            <a:spLocks noGrp="1"/>
          </p:cNvSpPr>
          <p:nvPr>
            <p:ph type="ftr" sz="quarter" idx="4294967295"/>
          </p:nvPr>
        </p:nvSpPr>
        <p:spPr>
          <a:xfrm>
            <a:off x="5943600" y="6294120"/>
            <a:ext cx="2807738" cy="365125"/>
          </a:xfrm>
          <a:prstGeom prst="rect">
            <a:avLst/>
          </a:prstGeom>
        </p:spPr>
        <p:txBody>
          <a:bodyPr/>
          <a:lstStyle/>
          <a:p>
            <a:pPr>
              <a:defRPr/>
            </a:pPr>
            <a:r>
              <a:rPr lang="en-US" sz="1200" dirty="0">
                <a:solidFill>
                  <a:prstClr val="black"/>
                </a:solidFill>
              </a:rPr>
              <a:t>© 2021 W.H. Freeman and Company</a:t>
            </a:r>
          </a:p>
        </p:txBody>
      </p:sp>
      <p:sp>
        <p:nvSpPr>
          <p:cNvPr id="6" name="Google Shape;56;p1"/>
          <p:cNvSpPr txBox="1">
            <a:spLocks/>
          </p:cNvSpPr>
          <p:nvPr/>
        </p:nvSpPr>
        <p:spPr>
          <a:xfrm>
            <a:off x="304800" y="457200"/>
            <a:ext cx="8617217" cy="3644900"/>
          </a:xfrm>
          <a:prstGeom prst="rect">
            <a:avLst/>
          </a:prstGeom>
          <a:noFill/>
          <a:ln>
            <a:noFill/>
          </a:ln>
        </p:spPr>
        <p:txBody>
          <a:bodyPr spcFirstLastPara="1" vert="horz" wrap="square" lIns="91425" tIns="45700" rIns="91425" bIns="45700" rtlCol="0" anchor="t"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spcBef>
                <a:spcPts val="0"/>
              </a:spcBef>
              <a:buClrTx/>
              <a:buFontTx/>
            </a:pPr>
            <a:r>
              <a:rPr lang="en-US" sz="5000" dirty="0">
                <a:latin typeface="Garamond"/>
                <a:ea typeface="Garamond"/>
                <a:cs typeface="Garamond"/>
                <a:sym typeface="Garamond"/>
              </a:rPr>
              <a:t>Introduction to the Practice of Statistics</a:t>
            </a:r>
            <a:br>
              <a:rPr lang="en-US" sz="5000" dirty="0">
                <a:latin typeface="Garamond"/>
                <a:ea typeface="Garamond"/>
                <a:cs typeface="Garamond"/>
                <a:sym typeface="Garamond"/>
              </a:rPr>
            </a:br>
            <a:r>
              <a:rPr lang="en-US" sz="5000" dirty="0">
                <a:latin typeface="Garamond"/>
                <a:ea typeface="Garamond"/>
                <a:cs typeface="Garamond"/>
                <a:sym typeface="Garamond"/>
              </a:rPr>
              <a:t>Tenth Edition</a:t>
            </a:r>
            <a:r>
              <a:rPr lang="en-US" sz="4000" dirty="0">
                <a:latin typeface="Garamond"/>
                <a:ea typeface="Garamond"/>
                <a:cs typeface="Garamond"/>
                <a:sym typeface="Garamond"/>
              </a:rPr>
              <a:t/>
            </a:r>
            <a:br>
              <a:rPr lang="en-US" sz="4000" dirty="0">
                <a:latin typeface="Garamond"/>
                <a:ea typeface="Garamond"/>
                <a:cs typeface="Garamond"/>
                <a:sym typeface="Garamond"/>
              </a:rPr>
            </a:br>
            <a:r>
              <a:rPr lang="en-US" sz="4000" dirty="0">
                <a:latin typeface="Garamond"/>
                <a:ea typeface="Garamond"/>
                <a:cs typeface="Garamond"/>
                <a:sym typeface="Garamond"/>
              </a:rPr>
              <a:t/>
            </a:r>
            <a:br>
              <a:rPr lang="en-US" sz="4000" dirty="0">
                <a:latin typeface="Garamond"/>
                <a:ea typeface="Garamond"/>
                <a:cs typeface="Garamond"/>
                <a:sym typeface="Garamond"/>
              </a:rPr>
            </a:br>
            <a:r>
              <a:rPr lang="en-US" sz="3500" dirty="0">
                <a:latin typeface="Garamond"/>
                <a:ea typeface="Garamond"/>
                <a:cs typeface="Garamond"/>
                <a:sym typeface="Garamond"/>
              </a:rPr>
              <a:t>David S. Moore			George P. McCabe</a:t>
            </a:r>
            <a:br>
              <a:rPr lang="en-US" sz="3500" dirty="0">
                <a:latin typeface="Garamond"/>
                <a:ea typeface="Garamond"/>
                <a:cs typeface="Garamond"/>
                <a:sym typeface="Garamond"/>
              </a:rPr>
            </a:br>
            <a:r>
              <a:rPr lang="en-US" sz="3500" dirty="0">
                <a:latin typeface="Garamond"/>
                <a:ea typeface="Garamond"/>
                <a:cs typeface="Garamond"/>
                <a:sym typeface="Garamond"/>
              </a:rPr>
              <a:t>Bruce Craig</a:t>
            </a:r>
          </a:p>
        </p:txBody>
      </p:sp>
    </p:spTree>
    <p:extLst>
      <p:ext uri="{BB962C8B-B14F-4D97-AF65-F5344CB8AC3E}">
        <p14:creationId xmlns:p14="http://schemas.microsoft.com/office/powerpoint/2010/main" val="4159262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2900"/>
            <a:ext cx="6508750" cy="1143000"/>
          </a:xfrm>
        </p:spPr>
        <p:txBody>
          <a:bodyPr/>
          <a:lstStyle/>
          <a:p>
            <a:r>
              <a:rPr lang="en-US" altLang="en-US" b="1" dirty="0"/>
              <a:t>Chapter 6</a:t>
            </a:r>
            <a:br>
              <a:rPr lang="en-US" altLang="en-US" b="1" dirty="0"/>
            </a:br>
            <a:r>
              <a:rPr lang="en-US" altLang="en-US" b="1" dirty="0"/>
              <a:t>Introduction to Inference</a:t>
            </a:r>
            <a:endParaRPr lang="en-US" b="1" dirty="0"/>
          </a:p>
        </p:txBody>
      </p:sp>
      <p:sp>
        <p:nvSpPr>
          <p:cNvPr id="3" name="Content Placeholder 2"/>
          <p:cNvSpPr>
            <a:spLocks noGrp="1"/>
          </p:cNvSpPr>
          <p:nvPr>
            <p:ph idx="1"/>
          </p:nvPr>
        </p:nvSpPr>
        <p:spPr>
          <a:xfrm>
            <a:off x="457200" y="1970582"/>
            <a:ext cx="7502577" cy="2916836"/>
          </a:xfrm>
        </p:spPr>
        <p:txBody>
          <a:bodyPr/>
          <a:lstStyle/>
          <a:p>
            <a:pPr marL="0" lvl="0" indent="0" eaLnBrk="1" hangingPunct="1">
              <a:spcBef>
                <a:spcPct val="0"/>
              </a:spcBef>
              <a:spcAft>
                <a:spcPts val="1800"/>
              </a:spcAft>
              <a:buClrTx/>
              <a:buSzTx/>
              <a:buNone/>
            </a:pPr>
            <a:r>
              <a:rPr lang="en-US" altLang="en-US" sz="2800" b="1" dirty="0">
                <a:solidFill>
                  <a:srgbClr val="073779"/>
                </a:solidFill>
                <a:latin typeface="Arial" pitchFamily="34" charset="0"/>
                <a:ea typeface="ＭＳ Ｐゴシック" pitchFamily="34" charset="-128"/>
                <a:cs typeface="+mn-cs"/>
              </a:rPr>
              <a:t>6.1 Estimating with Confidence</a:t>
            </a:r>
          </a:p>
          <a:p>
            <a:pPr marL="0" lvl="0" indent="0" eaLnBrk="1" hangingPunct="1">
              <a:spcBef>
                <a:spcPct val="0"/>
              </a:spcBef>
              <a:spcAft>
                <a:spcPts val="1800"/>
              </a:spcAft>
              <a:buClrTx/>
              <a:buSzTx/>
              <a:buNone/>
            </a:pPr>
            <a:r>
              <a:rPr lang="en-US" altLang="en-US" sz="2800" b="1" dirty="0">
                <a:solidFill>
                  <a:srgbClr val="073779"/>
                </a:solidFill>
                <a:latin typeface="Arial" pitchFamily="34" charset="0"/>
                <a:ea typeface="ＭＳ Ｐゴシック" pitchFamily="34" charset="-128"/>
                <a:cs typeface="+mn-cs"/>
              </a:rPr>
              <a:t>6.2 Tests of Significance</a:t>
            </a:r>
          </a:p>
          <a:p>
            <a:pPr marL="0" lvl="0" indent="0" eaLnBrk="1" hangingPunct="1">
              <a:spcBef>
                <a:spcPct val="0"/>
              </a:spcBef>
              <a:spcAft>
                <a:spcPts val="1800"/>
              </a:spcAft>
              <a:buClrTx/>
              <a:buSzTx/>
              <a:buNone/>
            </a:pPr>
            <a:r>
              <a:rPr lang="en-US" altLang="en-US" sz="2800" b="1" dirty="0">
                <a:solidFill>
                  <a:srgbClr val="073779"/>
                </a:solidFill>
                <a:latin typeface="Arial" pitchFamily="34" charset="0"/>
                <a:ea typeface="ＭＳ Ｐゴシック" pitchFamily="34" charset="-128"/>
                <a:cs typeface="+mn-cs"/>
              </a:rPr>
              <a:t>6.3 Use and Abuse of Tests</a:t>
            </a:r>
          </a:p>
          <a:p>
            <a:pPr marL="0" lvl="0" indent="0" eaLnBrk="1" hangingPunct="1">
              <a:spcBef>
                <a:spcPct val="0"/>
              </a:spcBef>
              <a:spcAft>
                <a:spcPts val="1800"/>
              </a:spcAft>
              <a:buClrTx/>
              <a:buSzTx/>
              <a:buNone/>
            </a:pPr>
            <a:r>
              <a:rPr lang="en-US" altLang="en-US" sz="2800" b="1" dirty="0">
                <a:solidFill>
                  <a:srgbClr val="073779"/>
                </a:solidFill>
                <a:latin typeface="Arial" pitchFamily="34" charset="0"/>
                <a:ea typeface="ＭＳ Ｐゴシック" pitchFamily="34" charset="-128"/>
                <a:cs typeface="+mn-cs"/>
              </a:rPr>
              <a:t>6.4 Power and Inference as a Decision</a:t>
            </a:r>
          </a:p>
        </p:txBody>
      </p:sp>
      <p:sp>
        <p:nvSpPr>
          <p:cNvPr id="27650"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CABC235E-B941-4949-A661-604E66E2E9FF}" type="slidenum">
              <a:rPr lang="en-US" altLang="en-US" sz="1400">
                <a:solidFill>
                  <a:schemeClr val="accent1"/>
                </a:solidFill>
              </a:rPr>
              <a:pPr/>
              <a:t>2</a:t>
            </a:fld>
            <a:endParaRPr lang="en-US" altLang="en-US" sz="1400" dirty="0">
              <a:solidFill>
                <a:schemeClr val="accen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2"/>
          <p:cNvSpPr>
            <a:spLocks noGrp="1"/>
          </p:cNvSpPr>
          <p:nvPr>
            <p:ph type="title"/>
          </p:nvPr>
        </p:nvSpPr>
        <p:spPr>
          <a:xfrm>
            <a:off x="457200" y="562707"/>
            <a:ext cx="7858369" cy="1143000"/>
          </a:xfrm>
        </p:spPr>
        <p:txBody>
          <a:bodyPr anchor="t"/>
          <a:lstStyle/>
          <a:p>
            <a:pPr eaLnBrk="1" hangingPunct="1"/>
            <a:r>
              <a:rPr lang="en-US" altLang="en-US" b="1" dirty="0">
                <a:ea typeface="ＭＳ Ｐゴシック" pitchFamily="34" charset="-128"/>
              </a:rPr>
              <a:t>6.1 Estimating with Confidence</a:t>
            </a:r>
          </a:p>
        </p:txBody>
      </p:sp>
      <p:sp>
        <p:nvSpPr>
          <p:cNvPr id="28675" name="Text Placeholder 3"/>
          <p:cNvSpPr>
            <a:spLocks noGrp="1"/>
          </p:cNvSpPr>
          <p:nvPr>
            <p:ph idx="1"/>
          </p:nvPr>
        </p:nvSpPr>
        <p:spPr>
          <a:xfrm>
            <a:off x="457200" y="1928446"/>
            <a:ext cx="6508750" cy="3916363"/>
          </a:xfrm>
        </p:spPr>
        <p:txBody>
          <a:bodyPr/>
          <a:lstStyle/>
          <a:p>
            <a:pPr eaLnBrk="1" hangingPunct="1">
              <a:buSzPct val="110000"/>
              <a:buFont typeface="Wingdings" pitchFamily="2" charset="2"/>
              <a:buChar char="§"/>
            </a:pPr>
            <a:r>
              <a:rPr lang="en-US" altLang="en-US" sz="2400" dirty="0">
                <a:solidFill>
                  <a:schemeClr val="accent1"/>
                </a:solidFill>
                <a:ea typeface="ＭＳ Ｐゴシック" pitchFamily="34" charset="-128"/>
              </a:rPr>
              <a:t>Overview of Inference</a:t>
            </a:r>
          </a:p>
          <a:p>
            <a:pPr eaLnBrk="1" hangingPunct="1">
              <a:buSzPct val="110000"/>
              <a:buFont typeface="Wingdings" pitchFamily="2" charset="2"/>
              <a:buChar char="§"/>
            </a:pPr>
            <a:r>
              <a:rPr lang="en-US" altLang="en-US" sz="2400" dirty="0">
                <a:solidFill>
                  <a:schemeClr val="accent1"/>
                </a:solidFill>
                <a:ea typeface="ＭＳ Ｐゴシック" pitchFamily="34" charset="-128"/>
              </a:rPr>
              <a:t>Statistical confidence</a:t>
            </a:r>
          </a:p>
          <a:p>
            <a:pPr eaLnBrk="1" hangingPunct="1">
              <a:buSzPct val="110000"/>
              <a:buFont typeface="Wingdings" pitchFamily="2" charset="2"/>
              <a:buChar char="§"/>
            </a:pPr>
            <a:r>
              <a:rPr lang="en-US" altLang="en-US" sz="2400" dirty="0">
                <a:solidFill>
                  <a:schemeClr val="accent1"/>
                </a:solidFill>
                <a:ea typeface="ＭＳ Ｐゴシック" pitchFamily="34" charset="-128"/>
              </a:rPr>
              <a:t>Confidence intervals</a:t>
            </a:r>
          </a:p>
          <a:p>
            <a:pPr eaLnBrk="1" hangingPunct="1">
              <a:buSzPct val="110000"/>
              <a:buFont typeface="Wingdings" pitchFamily="2" charset="2"/>
              <a:buChar char="§"/>
            </a:pPr>
            <a:r>
              <a:rPr lang="en-US" altLang="en-US" sz="2400" dirty="0">
                <a:solidFill>
                  <a:schemeClr val="accent1"/>
                </a:solidFill>
                <a:ea typeface="ＭＳ Ｐゴシック" pitchFamily="34" charset="-128"/>
              </a:rPr>
              <a:t>Confidence interval for a population mean</a:t>
            </a:r>
          </a:p>
          <a:p>
            <a:pPr eaLnBrk="1" hangingPunct="1">
              <a:buSzPct val="110000"/>
              <a:buFont typeface="Wingdings" pitchFamily="2" charset="2"/>
              <a:buChar char="§"/>
            </a:pPr>
            <a:r>
              <a:rPr lang="en-US" altLang="en-US" sz="2400" dirty="0">
                <a:solidFill>
                  <a:schemeClr val="accent1"/>
                </a:solidFill>
                <a:ea typeface="ＭＳ Ｐゴシック" pitchFamily="34" charset="-128"/>
              </a:rPr>
              <a:t>How confidence intervals behave</a:t>
            </a:r>
          </a:p>
          <a:p>
            <a:pPr eaLnBrk="1" hangingPunct="1">
              <a:buSzPct val="110000"/>
              <a:buFont typeface="Wingdings" pitchFamily="2" charset="2"/>
              <a:buChar char="§"/>
            </a:pPr>
            <a:r>
              <a:rPr lang="en-US" altLang="en-US" sz="2400" dirty="0">
                <a:solidFill>
                  <a:schemeClr val="accent1"/>
                </a:solidFill>
                <a:ea typeface="ＭＳ Ｐゴシック" pitchFamily="34" charset="-128"/>
              </a:rPr>
              <a:t>Choosing the sample size</a:t>
            </a:r>
          </a:p>
          <a:p>
            <a:pPr eaLnBrk="1" hangingPunct="1">
              <a:buSzPct val="110000"/>
              <a:buFont typeface="Wingdings" pitchFamily="2" charset="2"/>
              <a:buChar char="§"/>
            </a:pPr>
            <a:r>
              <a:rPr lang="en-US" altLang="en-US" sz="2400" dirty="0">
                <a:solidFill>
                  <a:schemeClr val="accent1"/>
                </a:solidFill>
                <a:ea typeface="ＭＳ Ｐゴシック" pitchFamily="34" charset="-128"/>
              </a:rPr>
              <a:t>Some cautions</a:t>
            </a:r>
          </a:p>
        </p:txBody>
      </p:sp>
      <p:sp>
        <p:nvSpPr>
          <p:cNvPr id="28676"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EB4B47C1-7812-450B-8ABE-058B568BE3DB}" type="slidenum">
              <a:rPr lang="en-US" altLang="en-US" sz="1400">
                <a:solidFill>
                  <a:schemeClr val="accent1"/>
                </a:solidFill>
              </a:rPr>
              <a:pPr/>
              <a:t>3</a:t>
            </a:fld>
            <a:endParaRPr lang="en-US" altLang="en-US" sz="1400" dirty="0">
              <a:solidFill>
                <a:schemeClr val="accen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700" name="Rectangle 2"/>
          <p:cNvSpPr>
            <a:spLocks noGrp="1" noChangeArrowheads="1"/>
          </p:cNvSpPr>
          <p:nvPr>
            <p:ph type="title"/>
          </p:nvPr>
        </p:nvSpPr>
        <p:spPr/>
        <p:txBody>
          <a:bodyPr/>
          <a:lstStyle/>
          <a:p>
            <a:pPr eaLnBrk="1" hangingPunct="1"/>
            <a:r>
              <a:rPr lang="en-US" altLang="en-US" dirty="0">
                <a:ea typeface="ＭＳ Ｐゴシック" pitchFamily="34" charset="-128"/>
              </a:rPr>
              <a:t>Statistical Inference 1</a:t>
            </a:r>
          </a:p>
        </p:txBody>
      </p:sp>
      <p:sp>
        <p:nvSpPr>
          <p:cNvPr id="2969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1F808813-36DC-4FA1-AFAB-41B786BAE12E}" type="slidenum">
              <a:rPr lang="en-US" altLang="en-US" sz="1200">
                <a:solidFill>
                  <a:schemeClr val="accent1"/>
                </a:solidFill>
              </a:rPr>
              <a:pPr>
                <a:lnSpc>
                  <a:spcPct val="80000"/>
                </a:lnSpc>
              </a:pPr>
              <a:t>4</a:t>
            </a:fld>
            <a:endParaRPr lang="en-US" altLang="en-US" sz="1200" dirty="0">
              <a:solidFill>
                <a:schemeClr val="accent1"/>
              </a:solidFill>
            </a:endParaRPr>
          </a:p>
        </p:txBody>
      </p:sp>
      <p:sp>
        <p:nvSpPr>
          <p:cNvPr id="29698" name="Rectangle 3"/>
          <p:cNvSpPr txBox="1">
            <a:spLocks noChangeArrowheads="1"/>
          </p:cNvSpPr>
          <p:nvPr/>
        </p:nvSpPr>
        <p:spPr bwMode="auto">
          <a:xfrm>
            <a:off x="131763" y="1084779"/>
            <a:ext cx="8124825" cy="1317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just">
              <a:buFont typeface="Wingdings" pitchFamily="2" charset="2"/>
              <a:buNone/>
            </a:pPr>
            <a:r>
              <a:rPr lang="en-US" altLang="en-US" dirty="0">
                <a:solidFill>
                  <a:schemeClr val="tx1"/>
                </a:solidFill>
              </a:rPr>
              <a:t>After we have selected a sample, we know the responses of the individuals in the sample. However, the reason for taking the sample is to infer from those data some conclusion about the wider population represented by the sample.</a:t>
            </a:r>
          </a:p>
        </p:txBody>
      </p:sp>
      <p:sp>
        <p:nvSpPr>
          <p:cNvPr id="5" name="TextBox 4"/>
          <p:cNvSpPr txBox="1">
            <a:spLocks noChangeArrowheads="1"/>
          </p:cNvSpPr>
          <p:nvPr/>
        </p:nvSpPr>
        <p:spPr bwMode="auto">
          <a:xfrm>
            <a:off x="174625" y="2690892"/>
            <a:ext cx="8124825" cy="708025"/>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just" eaLnBrk="1" hangingPunct="1">
              <a:defRPr/>
            </a:pPr>
            <a:r>
              <a:rPr lang="en-US" altLang="en-US" sz="2000" b="1" dirty="0">
                <a:cs typeface="Arial" charset="0"/>
              </a:rPr>
              <a:t>Statistical inference </a:t>
            </a:r>
            <a:r>
              <a:rPr lang="en-US" altLang="en-US" sz="2000" dirty="0">
                <a:solidFill>
                  <a:srgbClr val="000000"/>
                </a:solidFill>
                <a:cs typeface="Arial" charset="0"/>
              </a:rPr>
              <a:t>provides methods for drawing conclusions about a population from sample data.</a:t>
            </a:r>
          </a:p>
        </p:txBody>
      </p:sp>
      <p:sp>
        <p:nvSpPr>
          <p:cNvPr id="15" name="Rounded Rectangle 14"/>
          <p:cNvSpPr>
            <a:spLocks noChangeArrowheads="1"/>
          </p:cNvSpPr>
          <p:nvPr/>
        </p:nvSpPr>
        <p:spPr bwMode="auto">
          <a:xfrm>
            <a:off x="457200" y="3897313"/>
            <a:ext cx="3954463" cy="1860550"/>
          </a:xfrm>
          <a:prstGeom prst="roundRect">
            <a:avLst>
              <a:gd name="adj" fmla="val 16667"/>
            </a:avLst>
          </a:prstGeom>
          <a:solidFill>
            <a:schemeClr val="accent1"/>
          </a:solidFill>
          <a:ln w="10000">
            <a:solidFill>
              <a:schemeClr val="accent1"/>
            </a:solidFill>
            <a:round/>
            <a:headEnd/>
            <a:tailEnd/>
          </a:ln>
          <a:effectLst>
            <a:outerShdw blurRad="38100" dist="30000" dir="5400000" rotWithShape="0">
              <a:srgbClr val="808080">
                <a:alpha val="45000"/>
              </a:srgbClr>
            </a:outerShdw>
          </a:effectLst>
        </p:spPr>
        <p:txBody>
          <a:bodyPr/>
          <a:lstStyle/>
          <a:p>
            <a:pPr eaLnBrk="1" fontAlgn="auto" hangingPunct="1">
              <a:spcBef>
                <a:spcPts val="0"/>
              </a:spcBef>
              <a:spcAft>
                <a:spcPts val="0"/>
              </a:spcAft>
              <a:defRPr/>
            </a:pPr>
            <a:r>
              <a:rPr lang="en-US" sz="2800" b="1" dirty="0">
                <a:solidFill>
                  <a:schemeClr val="lt1"/>
                </a:solidFill>
                <a:latin typeface="+mn-lt"/>
                <a:ea typeface="+mn-ea"/>
                <a:cs typeface="Arial"/>
              </a:rPr>
              <a:t>Population</a:t>
            </a:r>
          </a:p>
        </p:txBody>
      </p:sp>
      <p:sp>
        <p:nvSpPr>
          <p:cNvPr id="16" name="Oval 15"/>
          <p:cNvSpPr>
            <a:spLocks noChangeArrowheads="1"/>
          </p:cNvSpPr>
          <p:nvPr/>
        </p:nvSpPr>
        <p:spPr bwMode="auto">
          <a:xfrm>
            <a:off x="2195513" y="4297363"/>
            <a:ext cx="2114550" cy="1284287"/>
          </a:xfrm>
          <a:prstGeom prst="ellipse">
            <a:avLst/>
          </a:prstGeom>
          <a:solidFill>
            <a:srgbClr val="D2DA7A"/>
          </a:solidFill>
          <a:ln w="10000">
            <a:solidFill>
              <a:srgbClr val="D2DA7A"/>
            </a:solidFill>
            <a:round/>
            <a:headEnd/>
            <a:tailEnd/>
          </a:ln>
          <a:effectLst>
            <a:outerShdw blurRad="38100" dist="30000" dir="5400000" rotWithShape="0">
              <a:srgbClr val="808080">
                <a:alpha val="45000"/>
              </a:srgbClr>
            </a:outerShdw>
          </a:effectLst>
        </p:spPr>
        <p:txBody>
          <a:bodyPr/>
          <a:lstStyle/>
          <a:p>
            <a:pPr algn="ctr" eaLnBrk="1" fontAlgn="auto" hangingPunct="1">
              <a:spcBef>
                <a:spcPts val="0"/>
              </a:spcBef>
              <a:spcAft>
                <a:spcPts val="0"/>
              </a:spcAft>
              <a:defRPr/>
            </a:pPr>
            <a:r>
              <a:rPr lang="en-US" sz="2800" b="1" dirty="0">
                <a:latin typeface="+mn-lt"/>
                <a:ea typeface="+mn-ea"/>
                <a:cs typeface="Arial"/>
              </a:rPr>
              <a:t>Sample</a:t>
            </a:r>
          </a:p>
        </p:txBody>
      </p:sp>
      <p:sp>
        <p:nvSpPr>
          <p:cNvPr id="17" name="Curved Down Arrow 16" descr="already described"/>
          <p:cNvSpPr/>
          <p:nvPr/>
        </p:nvSpPr>
        <p:spPr>
          <a:xfrm rot="21041449">
            <a:off x="3961287" y="3947093"/>
            <a:ext cx="3314313" cy="715007"/>
          </a:xfrm>
          <a:prstGeom prst="curvedDownArrow">
            <a:avLst/>
          </a:prstGeom>
        </p:spPr>
        <p:style>
          <a:lnRef idx="0">
            <a:schemeClr val="accent5"/>
          </a:lnRef>
          <a:fillRef idx="3">
            <a:schemeClr val="accent5"/>
          </a:fillRef>
          <a:effectRef idx="3">
            <a:schemeClr val="accent5"/>
          </a:effectRef>
          <a:fontRef idx="minor">
            <a:schemeClr val="lt1"/>
          </a:fontRef>
        </p:style>
        <p:txBody>
          <a:bodyPr anchor="ctr"/>
          <a:lstStyle/>
          <a:p>
            <a:pPr algn="ctr" eaLnBrk="1" fontAlgn="auto" hangingPunct="1">
              <a:spcBef>
                <a:spcPts val="0"/>
              </a:spcBef>
              <a:spcAft>
                <a:spcPts val="0"/>
              </a:spcAft>
              <a:defRPr/>
            </a:pPr>
            <a:endParaRPr lang="en-US" dirty="0">
              <a:solidFill>
                <a:schemeClr val="tx1"/>
              </a:solidFill>
              <a:cs typeface="Arial"/>
            </a:endParaRPr>
          </a:p>
        </p:txBody>
      </p:sp>
      <p:sp>
        <p:nvSpPr>
          <p:cNvPr id="18" name="TextBox 17"/>
          <p:cNvSpPr txBox="1">
            <a:spLocks noChangeArrowheads="1"/>
          </p:cNvSpPr>
          <p:nvPr/>
        </p:nvSpPr>
        <p:spPr bwMode="auto">
          <a:xfrm>
            <a:off x="6003925" y="4368800"/>
            <a:ext cx="30861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b="1" dirty="0">
                <a:solidFill>
                  <a:schemeClr val="tx1"/>
                </a:solidFill>
              </a:rPr>
              <a:t>Collect data </a:t>
            </a:r>
            <a:r>
              <a:rPr lang="en-US" altLang="en-US" dirty="0">
                <a:solidFill>
                  <a:schemeClr val="tx1"/>
                </a:solidFill>
              </a:rPr>
              <a:t>from a representative </a:t>
            </a:r>
            <a:r>
              <a:rPr lang="en-US" altLang="en-US" b="1" dirty="0">
                <a:solidFill>
                  <a:schemeClr val="tx1"/>
                </a:solidFill>
              </a:rPr>
              <a:t>sample</a:t>
            </a:r>
            <a:r>
              <a:rPr lang="en-US" altLang="en-US" dirty="0">
                <a:solidFill>
                  <a:schemeClr val="tx1"/>
                </a:solidFill>
              </a:rPr>
              <a:t>...</a:t>
            </a:r>
          </a:p>
        </p:txBody>
      </p:sp>
      <p:sp>
        <p:nvSpPr>
          <p:cNvPr id="21" name="Curved Down Arrow 20" descr="already described"/>
          <p:cNvSpPr/>
          <p:nvPr/>
        </p:nvSpPr>
        <p:spPr>
          <a:xfrm rot="7411148">
            <a:off x="7181898" y="5546328"/>
            <a:ext cx="1545323" cy="860063"/>
          </a:xfrm>
          <a:prstGeom prst="curvedDownArrow">
            <a:avLst/>
          </a:prstGeom>
        </p:spPr>
        <p:style>
          <a:lnRef idx="0">
            <a:schemeClr val="accent5"/>
          </a:lnRef>
          <a:fillRef idx="3">
            <a:schemeClr val="accent5"/>
          </a:fillRef>
          <a:effectRef idx="3">
            <a:schemeClr val="accent5"/>
          </a:effectRef>
          <a:fontRef idx="minor">
            <a:schemeClr val="lt1"/>
          </a:fontRef>
        </p:style>
        <p:txBody>
          <a:bodyPr anchor="ctr"/>
          <a:lstStyle/>
          <a:p>
            <a:pPr algn="ctr" eaLnBrk="1" fontAlgn="auto" hangingPunct="1">
              <a:spcBef>
                <a:spcPts val="0"/>
              </a:spcBef>
              <a:spcAft>
                <a:spcPts val="0"/>
              </a:spcAft>
              <a:defRPr/>
            </a:pPr>
            <a:endParaRPr lang="en-US" dirty="0">
              <a:solidFill>
                <a:schemeClr val="tx1"/>
              </a:solidFill>
              <a:cs typeface="Arial"/>
            </a:endParaRPr>
          </a:p>
        </p:txBody>
      </p:sp>
      <p:sp>
        <p:nvSpPr>
          <p:cNvPr id="20" name="TextBox 19"/>
          <p:cNvSpPr txBox="1">
            <a:spLocks noChangeArrowheads="1"/>
          </p:cNvSpPr>
          <p:nvPr/>
        </p:nvSpPr>
        <p:spPr bwMode="auto">
          <a:xfrm>
            <a:off x="4741863" y="5502275"/>
            <a:ext cx="292576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dirty="0">
                <a:solidFill>
                  <a:schemeClr val="tx1"/>
                </a:solidFill>
              </a:rPr>
              <a:t>Make an </a:t>
            </a:r>
            <a:r>
              <a:rPr lang="en-US" altLang="en-US" b="1" dirty="0">
                <a:solidFill>
                  <a:schemeClr val="tx1"/>
                </a:solidFill>
              </a:rPr>
              <a:t>inference </a:t>
            </a:r>
            <a:r>
              <a:rPr lang="en-US" altLang="en-US" dirty="0">
                <a:solidFill>
                  <a:schemeClr val="tx1"/>
                </a:solidFill>
              </a:rPr>
              <a:t>about the </a:t>
            </a:r>
            <a:r>
              <a:rPr lang="en-US" altLang="en-US" b="1" dirty="0">
                <a:solidFill>
                  <a:schemeClr val="tx1"/>
                </a:solidFill>
              </a:rPr>
              <a:t>population.</a:t>
            </a:r>
          </a:p>
        </p:txBody>
      </p:sp>
      <p:sp>
        <p:nvSpPr>
          <p:cNvPr id="23" name="Curved Down Arrow 22" descr="already described"/>
          <p:cNvSpPr/>
          <p:nvPr/>
        </p:nvSpPr>
        <p:spPr>
          <a:xfrm rot="11573746">
            <a:off x="1051831" y="5776298"/>
            <a:ext cx="4031668" cy="690109"/>
          </a:xfrm>
          <a:prstGeom prst="curvedDownArrow">
            <a:avLst/>
          </a:prstGeom>
        </p:spPr>
        <p:style>
          <a:lnRef idx="0">
            <a:schemeClr val="accent5"/>
          </a:lnRef>
          <a:fillRef idx="3">
            <a:schemeClr val="accent5"/>
          </a:fillRef>
          <a:effectRef idx="3">
            <a:schemeClr val="accent5"/>
          </a:effectRef>
          <a:fontRef idx="minor">
            <a:schemeClr val="lt1"/>
          </a:fontRef>
        </p:style>
        <p:txBody>
          <a:bodyPr anchor="ctr"/>
          <a:lstStyle/>
          <a:p>
            <a:pPr algn="ctr" eaLnBrk="1" fontAlgn="auto" hangingPunct="1">
              <a:spcBef>
                <a:spcPts val="0"/>
              </a:spcBef>
              <a:spcAft>
                <a:spcPts val="0"/>
              </a:spcAft>
              <a:defRPr/>
            </a:pPr>
            <a:endParaRPr lang="en-US" dirty="0">
              <a:solidFill>
                <a:schemeClr val="tx1"/>
              </a:solidFill>
              <a:cs typeface="Arial"/>
            </a:endParaRPr>
          </a:p>
        </p:txBody>
      </p:sp>
    </p:spTree>
    <p:extLst>
      <p:ext uri="{BB962C8B-B14F-4D97-AF65-F5344CB8AC3E}">
        <p14:creationId xmlns:p14="http://schemas.microsoft.com/office/powerpoint/2010/main" val="33424317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par>
                          <p:cTn id="8" fill="hold" nodeType="afterGroup">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1000"/>
                                        <p:tgtEl>
                                          <p:spTgt spid="16"/>
                                        </p:tgtEl>
                                      </p:cBhvr>
                                    </p:animEffect>
                                  </p:childTnLst>
                                </p:cTn>
                              </p:par>
                            </p:childTnLst>
                          </p:cTn>
                        </p:par>
                        <p:par>
                          <p:cTn id="17" fill="hold" nodeType="afterGroup">
                            <p:stCondLst>
                              <p:cond delay="1000"/>
                            </p:stCondLst>
                            <p:childTnLst>
                              <p:par>
                                <p:cTn id="18" presetID="10" presetClass="entr" presetSubtype="0" fill="hold" nodeType="after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1000"/>
                                        <p:tgtEl>
                                          <p:spTgt spid="17"/>
                                        </p:tgtEl>
                                      </p:cBhvr>
                                    </p:animEffect>
                                  </p:childTnLst>
                                </p:cTn>
                              </p:par>
                            </p:childTnLst>
                          </p:cTn>
                        </p:par>
                        <p:par>
                          <p:cTn id="21" fill="hold" nodeType="afterGroup">
                            <p:stCondLst>
                              <p:cond delay="2000"/>
                            </p:stCondLst>
                            <p:childTnLst>
                              <p:par>
                                <p:cTn id="22" presetID="10" presetClass="entr" presetSubtype="0" fill="hold" grpId="0" nodeType="after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2000"/>
                                        <p:tgtEl>
                                          <p:spTgt spid="18"/>
                                        </p:tgtEl>
                                      </p:cBhvr>
                                    </p:animEffect>
                                  </p:childTnLst>
                                </p:cTn>
                              </p:par>
                            </p:childTnLst>
                          </p:cTn>
                        </p:par>
                        <p:par>
                          <p:cTn id="25" fill="hold" nodeType="afterGroup">
                            <p:stCondLst>
                              <p:cond delay="4000"/>
                            </p:stCondLst>
                            <p:childTnLst>
                              <p:par>
                                <p:cTn id="26" presetID="10" presetClass="entr" presetSubtype="0" fill="hold" nodeType="after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1000"/>
                                        <p:tgtEl>
                                          <p:spTgt spid="21"/>
                                        </p:tgtEl>
                                      </p:cBhvr>
                                    </p:animEffect>
                                  </p:childTnLst>
                                </p:cTn>
                              </p:par>
                            </p:childTnLst>
                          </p:cTn>
                        </p:par>
                        <p:par>
                          <p:cTn id="29" fill="hold" nodeType="afterGroup">
                            <p:stCondLst>
                              <p:cond delay="5000"/>
                            </p:stCondLst>
                            <p:childTnLst>
                              <p:par>
                                <p:cTn id="30" presetID="10" presetClass="entr" presetSubtype="0" fill="hold" grpId="0" nodeType="after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1000"/>
                                        <p:tgtEl>
                                          <p:spTgt spid="20"/>
                                        </p:tgtEl>
                                      </p:cBhvr>
                                    </p:animEffect>
                                  </p:childTnLst>
                                </p:cTn>
                              </p:par>
                            </p:childTnLst>
                          </p:cTn>
                        </p:par>
                        <p:par>
                          <p:cTn id="33" fill="hold" nodeType="afterGroup">
                            <p:stCondLst>
                              <p:cond delay="6000"/>
                            </p:stCondLst>
                            <p:childTnLst>
                              <p:par>
                                <p:cTn id="34" presetID="10" presetClass="entr" presetSubtype="0" fill="hold" nodeType="after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1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5" grpId="0" animBg="1"/>
      <p:bldP spid="18" grpId="0"/>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p:txBody>
          <a:bodyPr/>
          <a:lstStyle/>
          <a:p>
            <a:pPr eaLnBrk="1" hangingPunct="1"/>
            <a:r>
              <a:rPr lang="en-US" altLang="en-US" dirty="0">
                <a:ea typeface="ＭＳ Ｐゴシック" pitchFamily="34" charset="-128"/>
              </a:rPr>
              <a:t>Overview of Inference</a:t>
            </a:r>
          </a:p>
        </p:txBody>
      </p:sp>
      <p:sp>
        <p:nvSpPr>
          <p:cNvPr id="3072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5573BA0A-3786-449A-B40D-2F3EBC4C86EB}" type="slidenum">
              <a:rPr lang="en-US" altLang="en-US" sz="1200">
                <a:solidFill>
                  <a:schemeClr val="accent1"/>
                </a:solidFill>
              </a:rPr>
              <a:pPr>
                <a:lnSpc>
                  <a:spcPct val="80000"/>
                </a:lnSpc>
              </a:pPr>
              <a:t>5</a:t>
            </a:fld>
            <a:endParaRPr lang="en-US" altLang="en-US" sz="1200" dirty="0">
              <a:solidFill>
                <a:schemeClr val="accent1"/>
              </a:solidFill>
            </a:endParaRPr>
          </a:p>
        </p:txBody>
      </p:sp>
      <p:sp>
        <p:nvSpPr>
          <p:cNvPr id="2" name="TextBox 1"/>
          <p:cNvSpPr txBox="1"/>
          <p:nvPr/>
        </p:nvSpPr>
        <p:spPr>
          <a:xfrm>
            <a:off x="174625" y="1238249"/>
            <a:ext cx="8339788" cy="4062651"/>
          </a:xfrm>
          <a:prstGeom prst="rect">
            <a:avLst/>
          </a:prstGeom>
          <a:solidFill>
            <a:schemeClr val="accent3">
              <a:lumMod val="40000"/>
              <a:lumOff val="60000"/>
            </a:schemeClr>
          </a:solidFill>
        </p:spPr>
        <p:txBody>
          <a:bodyPr wrap="square">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r>
              <a:rPr lang="en-US" altLang="en-US" b="1" dirty="0">
                <a:highlight>
                  <a:srgbClr val="FFFF00"/>
                </a:highlight>
              </a:rPr>
              <a:t>Statistical Inference involves two prominent techniques</a:t>
            </a:r>
          </a:p>
          <a:p>
            <a:pPr eaLnBrk="1" hangingPunct="1">
              <a:defRPr/>
            </a:pPr>
            <a:endParaRPr lang="en-US" altLang="en-US" sz="1800" dirty="0"/>
          </a:p>
          <a:p>
            <a:pPr eaLnBrk="1" hangingPunct="1">
              <a:buFont typeface="Arial" charset="0"/>
              <a:buChar char="•"/>
              <a:defRPr/>
            </a:pPr>
            <a:r>
              <a:rPr lang="en-US" altLang="en-US" sz="1800" dirty="0"/>
              <a:t> </a:t>
            </a:r>
            <a:r>
              <a:rPr lang="en-US" altLang="en-US" sz="1800" b="1" dirty="0"/>
              <a:t>Confidence Intervals</a:t>
            </a:r>
          </a:p>
          <a:p>
            <a:pPr eaLnBrk="1" hangingPunct="1">
              <a:buFont typeface="Arial" charset="0"/>
              <a:buChar char="•"/>
              <a:defRPr/>
            </a:pPr>
            <a:endParaRPr lang="en-US" altLang="en-US" sz="1800" b="1" dirty="0"/>
          </a:p>
          <a:p>
            <a:pPr eaLnBrk="1" hangingPunct="1">
              <a:buFont typeface="Arial" charset="0"/>
              <a:buChar char="•"/>
              <a:defRPr/>
            </a:pPr>
            <a:r>
              <a:rPr lang="en-US" altLang="en-US" sz="1800" b="1" dirty="0"/>
              <a:t> Hypothesis Tests</a:t>
            </a:r>
          </a:p>
          <a:p>
            <a:pPr eaLnBrk="1" hangingPunct="1">
              <a:buFont typeface="Arial" charset="0"/>
              <a:buChar char="•"/>
              <a:defRPr/>
            </a:pPr>
            <a:endParaRPr lang="en-US" altLang="en-US" sz="1800" dirty="0"/>
          </a:p>
          <a:p>
            <a:pPr eaLnBrk="1" hangingPunct="1">
              <a:defRPr/>
            </a:pPr>
            <a:r>
              <a:rPr lang="en-US" altLang="en-US" sz="1800" dirty="0"/>
              <a:t>In both techniques, we ask:</a:t>
            </a:r>
          </a:p>
          <a:p>
            <a:pPr algn="ctr" eaLnBrk="1" hangingPunct="1">
              <a:defRPr/>
            </a:pPr>
            <a:r>
              <a:rPr lang="en-US" altLang="en-US" sz="1800" dirty="0"/>
              <a:t> “What would happen if we used the method many times?”</a:t>
            </a:r>
          </a:p>
          <a:p>
            <a:pPr eaLnBrk="1" hangingPunct="1">
              <a:defRPr/>
            </a:pPr>
            <a:endParaRPr lang="en-US" altLang="en-US" sz="1800" dirty="0"/>
          </a:p>
          <a:p>
            <a:pPr algn="just" eaLnBrk="1" hangingPunct="1">
              <a:defRPr/>
            </a:pPr>
            <a:r>
              <a:rPr lang="en-US" altLang="en-US" sz="1800" dirty="0"/>
              <a:t>Formal statistical inference is based on sampling distributions, so we must understand the language of probability and the logic of the reasoning.</a:t>
            </a:r>
          </a:p>
          <a:p>
            <a:pPr eaLnBrk="1" hangingPunct="1">
              <a:defRPr/>
            </a:pPr>
            <a:endParaRPr lang="en-US" altLang="en-US" sz="1800" dirty="0"/>
          </a:p>
          <a:p>
            <a:pPr algn="just" eaLnBrk="1" hangingPunct="1">
              <a:defRPr/>
            </a:pPr>
            <a:r>
              <a:rPr lang="en-US" altLang="en-US" sz="1800" dirty="0"/>
              <a:t>When you see statistical inference, you should act as if your data come from a random sample or a randomized experiment.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par>
                                <p:cTn id="7" presetID="9" presetClass="entr" presetSubtype="0" fill="hold" nodeType="withEffect">
                                  <p:stCondLst>
                                    <p:cond delay="0"/>
                                  </p:stCondLst>
                                  <p:childTnLst>
                                    <p:set>
                                      <p:cBhvr>
                                        <p:cTn id="8" dur="1" fill="hold">
                                          <p:stCondLst>
                                            <p:cond delay="0"/>
                                          </p:stCondLst>
                                        </p:cTn>
                                        <p:tgtEl>
                                          <p:spTgt spid="2">
                                            <p:txEl>
                                              <p:pRg st="0" end="0"/>
                                            </p:txEl>
                                          </p:spTgt>
                                        </p:tgtEl>
                                        <p:attrNameLst>
                                          <p:attrName>style.visibility</p:attrName>
                                        </p:attrNameLst>
                                      </p:cBhvr>
                                      <p:to>
                                        <p:strVal val="visible"/>
                                      </p:to>
                                    </p:set>
                                    <p:animEffect transition="in" filter="dissolve">
                                      <p:cBhvr>
                                        <p:cTn id="9" dur="500"/>
                                        <p:tgtEl>
                                          <p:spTgt spid="2">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9" presetClass="entr" presetSubtype="0" fill="hold" nodeType="clickEffect">
                                  <p:stCondLst>
                                    <p:cond delay="0"/>
                                  </p:stCondLst>
                                  <p:childTnLst>
                                    <p:set>
                                      <p:cBhvr>
                                        <p:cTn id="13" dur="1" fill="hold">
                                          <p:stCondLst>
                                            <p:cond delay="0"/>
                                          </p:stCondLst>
                                        </p:cTn>
                                        <p:tgtEl>
                                          <p:spTgt spid="2">
                                            <p:txEl>
                                              <p:pRg st="4" end="4"/>
                                            </p:txEl>
                                          </p:spTgt>
                                        </p:tgtEl>
                                        <p:attrNameLst>
                                          <p:attrName>style.visibility</p:attrName>
                                        </p:attrNameLst>
                                      </p:cBhvr>
                                      <p:to>
                                        <p:strVal val="visible"/>
                                      </p:to>
                                    </p:set>
                                    <p:animEffect transition="in" filter="dissolve">
                                      <p:cBhvr>
                                        <p:cTn id="14" dur="500"/>
                                        <p:tgtEl>
                                          <p:spTgt spid="2">
                                            <p:txEl>
                                              <p:pRg st="4" end="4"/>
                                            </p:txEl>
                                          </p:spTgt>
                                        </p:tgtEl>
                                      </p:cBhvr>
                                    </p:animEffect>
                                  </p:childTnLst>
                                </p:cTn>
                              </p:par>
                              <p:par>
                                <p:cTn id="15" presetID="9" presetClass="entr" presetSubtype="0" fill="hold" nodeType="with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dissolve">
                                      <p:cBhvr>
                                        <p:cTn id="17" dur="500"/>
                                        <p:tgtEl>
                                          <p:spTgt spid="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nodeType="clickEffect">
                                  <p:stCondLst>
                                    <p:cond delay="0"/>
                                  </p:stCondLst>
                                  <p:childTnLst>
                                    <p:set>
                                      <p:cBhvr>
                                        <p:cTn id="21" dur="1" fill="hold">
                                          <p:stCondLst>
                                            <p:cond delay="0"/>
                                          </p:stCondLst>
                                        </p:cTn>
                                        <p:tgtEl>
                                          <p:spTgt spid="2">
                                            <p:txEl>
                                              <p:pRg st="6" end="6"/>
                                            </p:txEl>
                                          </p:spTgt>
                                        </p:tgtEl>
                                        <p:attrNameLst>
                                          <p:attrName>style.visibility</p:attrName>
                                        </p:attrNameLst>
                                      </p:cBhvr>
                                      <p:to>
                                        <p:strVal val="visible"/>
                                      </p:to>
                                    </p:set>
                                    <p:anim calcmode="lin" valueType="num">
                                      <p:cBhvr additive="base">
                                        <p:cTn id="22" dur="500"/>
                                        <p:tgtEl>
                                          <p:spTgt spid="2">
                                            <p:txEl>
                                              <p:pRg st="6" end="6"/>
                                            </p:txEl>
                                          </p:spTgt>
                                        </p:tgtEl>
                                        <p:attrNameLst>
                                          <p:attrName>ppt_y</p:attrName>
                                        </p:attrNameLst>
                                      </p:cBhvr>
                                      <p:tavLst>
                                        <p:tav tm="0">
                                          <p:val>
                                            <p:strVal val="#ppt_y+#ppt_h*1.125000"/>
                                          </p:val>
                                        </p:tav>
                                        <p:tav tm="100000">
                                          <p:val>
                                            <p:strVal val="#ppt_y"/>
                                          </p:val>
                                        </p:tav>
                                      </p:tavLst>
                                    </p:anim>
                                    <p:animEffect transition="in" filter="wipe(up)">
                                      <p:cBhvr>
                                        <p:cTn id="23" dur="500"/>
                                        <p:tgtEl>
                                          <p:spTgt spid="2">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nodeType="clickEffect">
                                  <p:stCondLst>
                                    <p:cond delay="0"/>
                                  </p:stCondLst>
                                  <p:childTnLst>
                                    <p:set>
                                      <p:cBhvr>
                                        <p:cTn id="27" dur="1" fill="hold">
                                          <p:stCondLst>
                                            <p:cond delay="0"/>
                                          </p:stCondLst>
                                        </p:cTn>
                                        <p:tgtEl>
                                          <p:spTgt spid="2">
                                            <p:txEl>
                                              <p:pRg st="7" end="7"/>
                                            </p:txEl>
                                          </p:spTgt>
                                        </p:tgtEl>
                                        <p:attrNameLst>
                                          <p:attrName>style.visibility</p:attrName>
                                        </p:attrNameLst>
                                      </p:cBhvr>
                                      <p:to>
                                        <p:strVal val="visible"/>
                                      </p:to>
                                    </p:set>
                                    <p:anim calcmode="lin" valueType="num">
                                      <p:cBhvr additive="base">
                                        <p:cTn id="28" dur="500"/>
                                        <p:tgtEl>
                                          <p:spTgt spid="2">
                                            <p:txEl>
                                              <p:pRg st="7" end="7"/>
                                            </p:txEl>
                                          </p:spTgt>
                                        </p:tgtEl>
                                        <p:attrNameLst>
                                          <p:attrName>ppt_y</p:attrName>
                                        </p:attrNameLst>
                                      </p:cBhvr>
                                      <p:tavLst>
                                        <p:tav tm="0">
                                          <p:val>
                                            <p:strVal val="#ppt_y+#ppt_h*1.125000"/>
                                          </p:val>
                                        </p:tav>
                                        <p:tav tm="100000">
                                          <p:val>
                                            <p:strVal val="#ppt_y"/>
                                          </p:val>
                                        </p:tav>
                                      </p:tavLst>
                                    </p:anim>
                                    <p:animEffect transition="in" filter="wipe(up)">
                                      <p:cBhvr>
                                        <p:cTn id="29" dur="500"/>
                                        <p:tgtEl>
                                          <p:spTgt spid="2">
                                            <p:txEl>
                                              <p:pRg st="7" end="7"/>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4" fill="hold" nodeType="clickEffect">
                                  <p:stCondLst>
                                    <p:cond delay="0"/>
                                  </p:stCondLst>
                                  <p:childTnLst>
                                    <p:set>
                                      <p:cBhvr>
                                        <p:cTn id="33" dur="1" fill="hold">
                                          <p:stCondLst>
                                            <p:cond delay="0"/>
                                          </p:stCondLst>
                                        </p:cTn>
                                        <p:tgtEl>
                                          <p:spTgt spid="2">
                                            <p:txEl>
                                              <p:pRg st="9" end="9"/>
                                            </p:txEl>
                                          </p:spTgt>
                                        </p:tgtEl>
                                        <p:attrNameLst>
                                          <p:attrName>style.visibility</p:attrName>
                                        </p:attrNameLst>
                                      </p:cBhvr>
                                      <p:to>
                                        <p:strVal val="visible"/>
                                      </p:to>
                                    </p:set>
                                    <p:anim calcmode="lin" valueType="num">
                                      <p:cBhvr additive="base">
                                        <p:cTn id="34" dur="500" fill="hold"/>
                                        <p:tgtEl>
                                          <p:spTgt spid="2">
                                            <p:txEl>
                                              <p:pRg st="9" end="9"/>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2">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nodeType="clickEffect">
                                  <p:stCondLst>
                                    <p:cond delay="0"/>
                                  </p:stCondLst>
                                  <p:childTnLst>
                                    <p:set>
                                      <p:cBhvr>
                                        <p:cTn id="39" dur="1" fill="hold">
                                          <p:stCondLst>
                                            <p:cond delay="0"/>
                                          </p:stCondLst>
                                        </p:cTn>
                                        <p:tgtEl>
                                          <p:spTgt spid="2">
                                            <p:txEl>
                                              <p:pRg st="11" end="11"/>
                                            </p:txEl>
                                          </p:spTgt>
                                        </p:tgtEl>
                                        <p:attrNameLst>
                                          <p:attrName>style.visibility</p:attrName>
                                        </p:attrNameLst>
                                      </p:cBhvr>
                                      <p:to>
                                        <p:strVal val="visible"/>
                                      </p:to>
                                    </p:set>
                                    <p:animEffect transition="in" filter="dissolve">
                                      <p:cBhvr>
                                        <p:cTn id="40" dur="500"/>
                                        <p:tgtEl>
                                          <p:spTgt spid="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allAtOnce" animBg="1"/>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a:xfrm>
            <a:off x="174625" y="156604"/>
            <a:ext cx="7772400" cy="1143000"/>
          </a:xfrm>
        </p:spPr>
        <p:txBody>
          <a:bodyPr/>
          <a:lstStyle/>
          <a:p>
            <a:pPr eaLnBrk="1" hangingPunct="1"/>
            <a:r>
              <a:rPr lang="en-US" altLang="en-US" dirty="0">
                <a:ea typeface="ＭＳ Ｐゴシック" pitchFamily="34" charset="-128"/>
              </a:rPr>
              <a:t>Simple Conditions for Inference</a:t>
            </a:r>
            <a:br>
              <a:rPr lang="en-US" altLang="en-US" dirty="0">
                <a:ea typeface="ＭＳ Ｐゴシック" pitchFamily="34" charset="-128"/>
              </a:rPr>
            </a:br>
            <a:r>
              <a:rPr lang="en-US" altLang="en-US" dirty="0">
                <a:ea typeface="ＭＳ Ｐゴシック" pitchFamily="34" charset="-128"/>
              </a:rPr>
              <a:t>about a Mean</a:t>
            </a:r>
          </a:p>
        </p:txBody>
      </p:sp>
      <p:sp>
        <p:nvSpPr>
          <p:cNvPr id="3174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75FF124A-9A06-45E0-965A-E148790CFCBE}" type="slidenum">
              <a:rPr lang="en-US" altLang="en-US" sz="1200">
                <a:solidFill>
                  <a:schemeClr val="accent1"/>
                </a:solidFill>
              </a:rPr>
              <a:pPr>
                <a:lnSpc>
                  <a:spcPct val="80000"/>
                </a:lnSpc>
              </a:pPr>
              <a:t>6</a:t>
            </a:fld>
            <a:endParaRPr lang="en-US" altLang="en-US" sz="1200" dirty="0">
              <a:solidFill>
                <a:schemeClr val="accent1"/>
              </a:solidFill>
            </a:endParaRPr>
          </a:p>
        </p:txBody>
      </p:sp>
      <p:sp>
        <p:nvSpPr>
          <p:cNvPr id="31748" name="Vertical Text Placeholder 2"/>
          <p:cNvSpPr txBox="1">
            <a:spLocks/>
          </p:cNvSpPr>
          <p:nvPr/>
        </p:nvSpPr>
        <p:spPr bwMode="auto">
          <a:xfrm>
            <a:off x="177801" y="1518001"/>
            <a:ext cx="8058123" cy="735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marL="0" algn="just">
              <a:buFont typeface="Wingdings" pitchFamily="2" charset="2"/>
              <a:buNone/>
            </a:pPr>
            <a:r>
              <a:rPr lang="en-US" altLang="en-US" dirty="0">
                <a:solidFill>
                  <a:schemeClr val="tx1"/>
                </a:solidFill>
              </a:rPr>
              <a:t>This chapter presents the basic reasoning of statistical inference. We start with a setting that is too simple to be realistic.</a:t>
            </a:r>
          </a:p>
        </p:txBody>
      </p:sp>
      <p:sp>
        <p:nvSpPr>
          <p:cNvPr id="11" name="TextBox 10"/>
          <p:cNvSpPr txBox="1">
            <a:spLocks noChangeArrowheads="1"/>
          </p:cNvSpPr>
          <p:nvPr/>
        </p:nvSpPr>
        <p:spPr bwMode="auto">
          <a:xfrm>
            <a:off x="306388" y="2475220"/>
            <a:ext cx="7950200" cy="2308225"/>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r>
              <a:rPr lang="en-US" altLang="en-US" b="1" dirty="0">
                <a:solidFill>
                  <a:schemeClr val="tx1"/>
                </a:solidFill>
                <a:highlight>
                  <a:srgbClr val="FFFF00"/>
                </a:highlight>
              </a:rPr>
              <a:t>Simple Conditions for Inference about a Mean</a:t>
            </a:r>
          </a:p>
          <a:p>
            <a:pPr eaLnBrk="1" hangingPunct="1">
              <a:spcBef>
                <a:spcPct val="0"/>
              </a:spcBef>
              <a:buClrTx/>
              <a:buSzTx/>
              <a:buFontTx/>
              <a:buNone/>
              <a:defRPr/>
            </a:pPr>
            <a:endParaRPr lang="en-US" altLang="en-US" sz="600" b="1" u="sng" dirty="0">
              <a:solidFill>
                <a:srgbClr val="E81F30"/>
              </a:solidFill>
            </a:endParaRPr>
          </a:p>
          <a:p>
            <a:pPr algn="just" eaLnBrk="1" hangingPunct="1">
              <a:spcBef>
                <a:spcPct val="0"/>
              </a:spcBef>
              <a:spcAft>
                <a:spcPts val="600"/>
              </a:spcAft>
              <a:buClrTx/>
              <a:buSzTx/>
              <a:buFont typeface="Arial" panose="020B0604020202020204" pitchFamily="34" charset="0"/>
              <a:buAutoNum type="arabicPeriod"/>
              <a:defRPr/>
            </a:pPr>
            <a:r>
              <a:rPr lang="en-US" altLang="en-US" sz="1800" dirty="0">
                <a:solidFill>
                  <a:srgbClr val="000000"/>
                </a:solidFill>
              </a:rPr>
              <a:t> We have an SRS from the population of interest. There is no nonresponse or other practical difficulty.</a:t>
            </a:r>
          </a:p>
          <a:p>
            <a:pPr algn="just" eaLnBrk="1" hangingPunct="1">
              <a:spcBef>
                <a:spcPct val="0"/>
              </a:spcBef>
              <a:spcAft>
                <a:spcPts val="600"/>
              </a:spcAft>
              <a:buClrTx/>
              <a:buSzTx/>
              <a:buFont typeface="Arial" panose="020B0604020202020204" pitchFamily="34" charset="0"/>
              <a:buAutoNum type="arabicPeriod"/>
              <a:defRPr/>
            </a:pPr>
            <a:r>
              <a:rPr lang="en-US" altLang="en-US" sz="1800" dirty="0">
                <a:solidFill>
                  <a:srgbClr val="000000"/>
                </a:solidFill>
              </a:rPr>
              <a:t> The variable we measure has an exactly Normal distribution </a:t>
            </a:r>
            <a:r>
              <a:rPr lang="en-US" altLang="en-US" sz="1800" i="1" dirty="0">
                <a:solidFill>
                  <a:srgbClr val="000000"/>
                </a:solidFill>
              </a:rPr>
              <a:t>N</a:t>
            </a:r>
            <a:r>
              <a:rPr lang="en-US" altLang="en-US" sz="1800" dirty="0">
                <a:solidFill>
                  <a:srgbClr val="000000"/>
                </a:solidFill>
              </a:rPr>
              <a:t>(</a:t>
            </a:r>
            <a:r>
              <a:rPr lang="en-US" altLang="en-US" sz="1800" i="1" dirty="0">
                <a:solidFill>
                  <a:srgbClr val="000000"/>
                </a:solidFill>
              </a:rPr>
              <a:t>μ</a:t>
            </a:r>
            <a:r>
              <a:rPr lang="en-US" altLang="en-US" sz="1800" dirty="0">
                <a:solidFill>
                  <a:srgbClr val="000000"/>
                </a:solidFill>
              </a:rPr>
              <a:t>, </a:t>
            </a:r>
            <a:r>
              <a:rPr lang="en-US" altLang="en-US" sz="1800" i="1" dirty="0">
                <a:solidFill>
                  <a:srgbClr val="000000"/>
                </a:solidFill>
              </a:rPr>
              <a:t>σ</a:t>
            </a:r>
            <a:r>
              <a:rPr lang="en-US" altLang="en-US" sz="1800" dirty="0">
                <a:solidFill>
                  <a:srgbClr val="000000"/>
                </a:solidFill>
              </a:rPr>
              <a:t>) in the population.</a:t>
            </a:r>
          </a:p>
          <a:p>
            <a:pPr algn="just" eaLnBrk="1" hangingPunct="1">
              <a:spcBef>
                <a:spcPct val="0"/>
              </a:spcBef>
              <a:spcAft>
                <a:spcPts val="600"/>
              </a:spcAft>
              <a:buClrTx/>
              <a:buSzTx/>
              <a:buFont typeface="Arial" panose="020B0604020202020204" pitchFamily="34" charset="0"/>
              <a:buAutoNum type="arabicPeriod"/>
              <a:defRPr/>
            </a:pPr>
            <a:r>
              <a:rPr lang="en-US" altLang="en-US" sz="1800" dirty="0">
                <a:solidFill>
                  <a:srgbClr val="000000"/>
                </a:solidFill>
              </a:rPr>
              <a:t> We do not know the population mean </a:t>
            </a:r>
            <a:r>
              <a:rPr lang="en-US" altLang="en-US" sz="1800" i="1" dirty="0">
                <a:solidFill>
                  <a:srgbClr val="000000"/>
                </a:solidFill>
              </a:rPr>
              <a:t>μ,</a:t>
            </a:r>
            <a:r>
              <a:rPr lang="en-US" altLang="en-US" sz="1800" dirty="0">
                <a:solidFill>
                  <a:srgbClr val="000000"/>
                </a:solidFill>
              </a:rPr>
              <a:t> but we do know the population standard deviation </a:t>
            </a:r>
            <a:r>
              <a:rPr lang="en-US" altLang="en-US" sz="1800" i="1" dirty="0">
                <a:solidFill>
                  <a:srgbClr val="000000"/>
                </a:solidFill>
              </a:rPr>
              <a:t>σ</a:t>
            </a:r>
            <a:r>
              <a:rPr lang="en-US" altLang="en-US" sz="1800" dirty="0">
                <a:solidFill>
                  <a:srgbClr val="000000"/>
                </a:solidFill>
              </a:rPr>
              <a:t>.</a:t>
            </a:r>
            <a:endParaRPr lang="en-US" altLang="en-US" dirty="0">
              <a:solidFill>
                <a:srgbClr val="000000"/>
              </a:solidFill>
            </a:endParaRPr>
          </a:p>
        </p:txBody>
      </p:sp>
      <p:sp>
        <p:nvSpPr>
          <p:cNvPr id="12" name="TextBox 11"/>
          <p:cNvSpPr txBox="1">
            <a:spLocks noChangeArrowheads="1"/>
          </p:cNvSpPr>
          <p:nvPr/>
        </p:nvSpPr>
        <p:spPr bwMode="auto">
          <a:xfrm>
            <a:off x="306387" y="5181991"/>
            <a:ext cx="805812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just" eaLnBrk="1" hangingPunct="1"/>
            <a:r>
              <a:rPr lang="en-US" altLang="en-US" b="1" dirty="0">
                <a:solidFill>
                  <a:schemeClr val="tx1"/>
                </a:solidFill>
                <a:highlight>
                  <a:srgbClr val="FFFF00"/>
                </a:highlight>
              </a:rPr>
              <a:t>Note:</a:t>
            </a:r>
            <a:r>
              <a:rPr lang="en-US" altLang="en-US" b="1" dirty="0">
                <a:solidFill>
                  <a:schemeClr val="tx1"/>
                </a:solidFill>
              </a:rPr>
              <a:t> </a:t>
            </a:r>
            <a:r>
              <a:rPr lang="en-US" altLang="en-US" dirty="0">
                <a:solidFill>
                  <a:schemeClr val="tx1"/>
                </a:solidFill>
              </a:rPr>
              <a:t>The conditions that we have a perfect SRS, that the population is exactly Normal, and that we know the population standard deviation are all unrealistic. </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500" fill="hold"/>
                                        <p:tgtEl>
                                          <p:spTgt spid="12"/>
                                        </p:tgtEl>
                                        <p:attrNameLst>
                                          <p:attrName>ppt_w</p:attrName>
                                        </p:attrNameLst>
                                      </p:cBhvr>
                                      <p:tavLst>
                                        <p:tav tm="0">
                                          <p:val>
                                            <p:fltVal val="0"/>
                                          </p:val>
                                        </p:tav>
                                        <p:tav tm="100000">
                                          <p:val>
                                            <p:strVal val="#ppt_w"/>
                                          </p:val>
                                        </p:tav>
                                      </p:tavLst>
                                    </p:anim>
                                    <p:anim calcmode="lin" valueType="num">
                                      <p:cBhvr>
                                        <p:cTn id="13" dur="500" fill="hold"/>
                                        <p:tgtEl>
                                          <p:spTgt spid="1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a:xfrm>
            <a:off x="174625" y="156605"/>
            <a:ext cx="6555959" cy="772639"/>
          </a:xfrm>
        </p:spPr>
        <p:txBody>
          <a:bodyPr/>
          <a:lstStyle/>
          <a:p>
            <a:pPr eaLnBrk="1" hangingPunct="1"/>
            <a:r>
              <a:rPr lang="en-US" altLang="en-US" dirty="0">
                <a:ea typeface="ＭＳ Ｐゴシック" pitchFamily="34" charset="-128"/>
              </a:rPr>
              <a:t>Statistical Estimation 1</a:t>
            </a:r>
          </a:p>
        </p:txBody>
      </p:sp>
      <p:sp>
        <p:nvSpPr>
          <p:cNvPr id="3277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5408A69A-6329-48C2-8778-259C14C214B1}" type="slidenum">
              <a:rPr lang="en-US" altLang="en-US" sz="1200">
                <a:solidFill>
                  <a:schemeClr val="accent1"/>
                </a:solidFill>
              </a:rPr>
              <a:pPr>
                <a:lnSpc>
                  <a:spcPct val="80000"/>
                </a:lnSpc>
              </a:pPr>
              <a:t>7</a:t>
            </a:fld>
            <a:endParaRPr lang="en-US" altLang="en-US" sz="1200">
              <a:solidFill>
                <a:schemeClr val="accent1"/>
              </a:solidFill>
            </a:endParaRPr>
          </a:p>
        </p:txBody>
      </p:sp>
      <p:sp>
        <p:nvSpPr>
          <p:cNvPr id="32772" name="Vertical Text Placeholder 2"/>
          <p:cNvSpPr txBox="1">
            <a:spLocks/>
          </p:cNvSpPr>
          <p:nvPr/>
        </p:nvSpPr>
        <p:spPr bwMode="auto">
          <a:xfrm>
            <a:off x="213520" y="1200951"/>
            <a:ext cx="8043068"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just">
              <a:buFont typeface="Wingdings" pitchFamily="2" charset="2"/>
              <a:buNone/>
            </a:pPr>
            <a:r>
              <a:rPr lang="en-US" altLang="en-US" dirty="0">
                <a:solidFill>
                  <a:srgbClr val="000000"/>
                </a:solidFill>
              </a:rPr>
              <a:t>Suppose your instructor has selected a </a:t>
            </a:r>
            <a:r>
              <a:rPr lang="ja-JP" altLang="en-US" dirty="0">
                <a:solidFill>
                  <a:srgbClr val="000000"/>
                </a:solidFill>
              </a:rPr>
              <a:t>“</a:t>
            </a:r>
            <a:r>
              <a:rPr lang="en-US" altLang="ja-JP" dirty="0">
                <a:solidFill>
                  <a:srgbClr val="000000"/>
                </a:solidFill>
              </a:rPr>
              <a:t>mystery mean</a:t>
            </a:r>
            <a:r>
              <a:rPr lang="ja-JP" altLang="en-US" dirty="0">
                <a:solidFill>
                  <a:srgbClr val="000000"/>
                </a:solidFill>
              </a:rPr>
              <a:t>”</a:t>
            </a:r>
            <a:r>
              <a:rPr lang="en-US" altLang="ja-JP" dirty="0">
                <a:solidFill>
                  <a:srgbClr val="000000"/>
                </a:solidFill>
              </a:rPr>
              <a:t> value </a:t>
            </a:r>
            <a:r>
              <a:rPr lang="en-US" altLang="ja-JP" i="1" dirty="0">
                <a:solidFill>
                  <a:srgbClr val="000000"/>
                </a:solidFill>
              </a:rPr>
              <a:t>µ</a:t>
            </a:r>
            <a:r>
              <a:rPr lang="en-US" altLang="ja-JP" dirty="0">
                <a:solidFill>
                  <a:srgbClr val="000000"/>
                </a:solidFill>
              </a:rPr>
              <a:t> and stored it as </a:t>
            </a:r>
            <a:r>
              <a:rPr lang="ja-JP" altLang="en-US" dirty="0">
                <a:solidFill>
                  <a:srgbClr val="000000"/>
                </a:solidFill>
              </a:rPr>
              <a:t>“</a:t>
            </a:r>
            <a:r>
              <a:rPr lang="en-US" altLang="ja-JP" dirty="0">
                <a:solidFill>
                  <a:srgbClr val="000000"/>
                </a:solidFill>
              </a:rPr>
              <a:t>M</a:t>
            </a:r>
            <a:r>
              <a:rPr lang="ja-JP" altLang="en-US" dirty="0">
                <a:solidFill>
                  <a:srgbClr val="000000"/>
                </a:solidFill>
              </a:rPr>
              <a:t>”</a:t>
            </a:r>
            <a:r>
              <a:rPr lang="en-US" altLang="ja-JP" dirty="0">
                <a:solidFill>
                  <a:srgbClr val="000000"/>
                </a:solidFill>
              </a:rPr>
              <a:t> in his or her calculator. The following command was executed on the calculator: </a:t>
            </a:r>
            <a:r>
              <a:rPr lang="en-US" altLang="ja-JP" b="1" dirty="0">
                <a:solidFill>
                  <a:srgbClr val="000000"/>
                </a:solidFill>
                <a:latin typeface="Courier" charset="0"/>
              </a:rPr>
              <a:t>mean(</a:t>
            </a:r>
            <a:r>
              <a:rPr lang="en-US" altLang="ja-JP" b="1" dirty="0" err="1">
                <a:solidFill>
                  <a:srgbClr val="000000"/>
                </a:solidFill>
                <a:latin typeface="Courier" charset="0"/>
              </a:rPr>
              <a:t>randNorm</a:t>
            </a:r>
            <a:r>
              <a:rPr lang="en-US" altLang="ja-JP" b="1" dirty="0">
                <a:solidFill>
                  <a:srgbClr val="000000"/>
                </a:solidFill>
                <a:latin typeface="Courier" charset="0"/>
              </a:rPr>
              <a:t>(M,20,16))</a:t>
            </a:r>
            <a:r>
              <a:rPr lang="en-US" altLang="ja-JP" dirty="0">
                <a:solidFill>
                  <a:srgbClr val="000000"/>
                </a:solidFill>
              </a:rPr>
              <a:t> </a:t>
            </a:r>
          </a:p>
        </p:txBody>
      </p:sp>
      <p:pic>
        <p:nvPicPr>
          <p:cNvPr id="16" name="Picture 3" descr="The image shows how the formula to calculate sample mean was executed on the calculator as: &quot;mean&quot; bracket open &quot;randNorm&quot; bracket open &quot;M&quot;, &quot;20&quot;, &quot;16&quot; bracket close bracket close. The result is &quot;240.79.&quot;"/>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9124" y="2725738"/>
            <a:ext cx="2882540" cy="1955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Rectangle 4"/>
          <p:cNvSpPr>
            <a:spLocks noChangeArrowheads="1"/>
          </p:cNvSpPr>
          <p:nvPr/>
        </p:nvSpPr>
        <p:spPr bwMode="auto">
          <a:xfrm>
            <a:off x="3779838" y="2695575"/>
            <a:ext cx="45720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1" hangingPunct="1">
              <a:buFont typeface="Wingdings" pitchFamily="2" charset="2"/>
              <a:buNone/>
            </a:pPr>
            <a:r>
              <a:rPr lang="en-US" altLang="en-US" sz="2000" dirty="0">
                <a:solidFill>
                  <a:srgbClr val="000000"/>
                </a:solidFill>
              </a:rPr>
              <a:t>The result was </a:t>
            </a:r>
            <a:r>
              <a:rPr lang="en-US" altLang="en-US" sz="2000" b="1" dirty="0">
                <a:solidFill>
                  <a:srgbClr val="000000"/>
                </a:solidFill>
                <a:latin typeface="Courier" charset="0"/>
              </a:rPr>
              <a:t>240.79</a:t>
            </a:r>
            <a:r>
              <a:rPr lang="en-US" altLang="en-US" sz="2000" b="1" dirty="0">
                <a:solidFill>
                  <a:srgbClr val="000000"/>
                </a:solidFill>
              </a:rPr>
              <a:t>.</a:t>
            </a:r>
            <a:r>
              <a:rPr lang="en-US" altLang="en-US" sz="2000" dirty="0">
                <a:solidFill>
                  <a:srgbClr val="000000"/>
                </a:solidFill>
              </a:rPr>
              <a:t> </a:t>
            </a:r>
          </a:p>
          <a:p>
            <a:pPr algn="just" eaLnBrk="1" hangingPunct="1">
              <a:buFont typeface="Wingdings" pitchFamily="2" charset="2"/>
              <a:buNone/>
            </a:pPr>
            <a:r>
              <a:rPr lang="en-US" altLang="en-US" sz="2000" dirty="0">
                <a:solidFill>
                  <a:srgbClr val="000000"/>
                </a:solidFill>
              </a:rPr>
              <a:t>This tells us the calculator chose an SRS of 16 observations from a Normal population with mean M and standard deviation 20. The resulting sample mean of those 16 values was 240.79.</a:t>
            </a:r>
          </a:p>
        </p:txBody>
      </p:sp>
      <p:sp>
        <p:nvSpPr>
          <p:cNvPr id="18" name="Rectangle 5"/>
          <p:cNvSpPr>
            <a:spLocks noChangeArrowheads="1"/>
          </p:cNvSpPr>
          <p:nvPr/>
        </p:nvSpPr>
        <p:spPr bwMode="auto">
          <a:xfrm>
            <a:off x="466725" y="4953000"/>
            <a:ext cx="778986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buFont typeface="Wingdings" pitchFamily="2" charset="2"/>
              <a:buNone/>
            </a:pPr>
            <a:r>
              <a:rPr lang="en-US" altLang="en-US" sz="2000" dirty="0">
                <a:solidFill>
                  <a:srgbClr val="000000"/>
                </a:solidFill>
              </a:rPr>
              <a:t>We want to determine an interval of </a:t>
            </a:r>
            <a:r>
              <a:rPr lang="en-US" altLang="en-US" sz="2000" i="1" dirty="0">
                <a:solidFill>
                  <a:srgbClr val="000000"/>
                </a:solidFill>
              </a:rPr>
              <a:t>reasonable</a:t>
            </a:r>
            <a:r>
              <a:rPr lang="en-US" altLang="en-US" sz="2000" dirty="0">
                <a:solidFill>
                  <a:srgbClr val="000000"/>
                </a:solidFill>
              </a:rPr>
              <a:t> values for the population mean </a:t>
            </a:r>
            <a:r>
              <a:rPr lang="en-US" altLang="en-US" sz="2000" i="1" dirty="0">
                <a:solidFill>
                  <a:srgbClr val="000000"/>
                </a:solidFill>
              </a:rPr>
              <a:t>µ</a:t>
            </a:r>
            <a:r>
              <a:rPr lang="en-US" altLang="en-US" sz="2000" dirty="0">
                <a:solidFill>
                  <a:srgbClr val="000000"/>
                </a:solidFill>
              </a:rPr>
              <a:t>. We can use the result above and what we learned about sampling distributions in the previous chapters.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1000" fill="hold"/>
                                        <p:tgtEl>
                                          <p:spTgt spid="16"/>
                                        </p:tgtEl>
                                        <p:attrNameLst>
                                          <p:attrName>ppt_w</p:attrName>
                                        </p:attrNameLst>
                                      </p:cBhvr>
                                      <p:tavLst>
                                        <p:tav tm="0">
                                          <p:val>
                                            <p:fltVal val="0"/>
                                          </p:val>
                                        </p:tav>
                                        <p:tav tm="100000">
                                          <p:val>
                                            <p:strVal val="#ppt_w"/>
                                          </p:val>
                                        </p:tav>
                                      </p:tavLst>
                                    </p:anim>
                                    <p:anim calcmode="lin" valueType="num">
                                      <p:cBhvr>
                                        <p:cTn id="8" dur="1000" fill="hold"/>
                                        <p:tgtEl>
                                          <p:spTgt spid="16"/>
                                        </p:tgtEl>
                                        <p:attrNameLst>
                                          <p:attrName>ppt_h</p:attrName>
                                        </p:attrNameLst>
                                      </p:cBhvr>
                                      <p:tavLst>
                                        <p:tav tm="0">
                                          <p:val>
                                            <p:fltVal val="0"/>
                                          </p:val>
                                        </p:tav>
                                        <p:tav tm="100000">
                                          <p:val>
                                            <p:strVal val="#ppt_h"/>
                                          </p:val>
                                        </p:tav>
                                      </p:tavLst>
                                    </p:anim>
                                    <p:anim calcmode="lin" valueType="num">
                                      <p:cBhvr>
                                        <p:cTn id="9" dur="1000" fill="hold"/>
                                        <p:tgtEl>
                                          <p:spTgt spid="16"/>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6"/>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10" presetClass="entr" presetSubtype="0" fill="hold" grpId="0" nodeType="after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1000"/>
                                        <p:tgtEl>
                                          <p:spTgt spid="17"/>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6605"/>
            <a:ext cx="6271145" cy="772639"/>
          </a:xfrm>
        </p:spPr>
        <p:txBody>
          <a:bodyPr/>
          <a:lstStyle/>
          <a:p>
            <a:r>
              <a:rPr lang="en-US" altLang="en-US" dirty="0"/>
              <a:t>Statistical Estimation 2</a:t>
            </a:r>
            <a:endParaRPr lang="en-US" dirty="0"/>
          </a:p>
        </p:txBody>
      </p:sp>
      <p:sp>
        <p:nvSpPr>
          <p:cNvPr id="3379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CA722766-9CFC-40DD-820B-59EFE4DFD285}" type="slidenum">
              <a:rPr lang="en-US" altLang="en-US" sz="1200">
                <a:solidFill>
                  <a:schemeClr val="accent1"/>
                </a:solidFill>
              </a:rPr>
              <a:pPr>
                <a:lnSpc>
                  <a:spcPct val="80000"/>
                </a:lnSpc>
              </a:pPr>
              <a:t>8</a:t>
            </a:fld>
            <a:endParaRPr lang="en-US" altLang="en-US" sz="1200">
              <a:solidFill>
                <a:schemeClr val="accent1"/>
              </a:solidFill>
            </a:endParaRPr>
          </a:p>
        </p:txBody>
      </p:sp>
      <p:sp>
        <p:nvSpPr>
          <p:cNvPr id="33795" name="TextBox 2"/>
          <p:cNvSpPr txBox="1">
            <a:spLocks noChangeArrowheads="1"/>
          </p:cNvSpPr>
          <p:nvPr/>
        </p:nvSpPr>
        <p:spPr bwMode="auto">
          <a:xfrm>
            <a:off x="272851" y="1313272"/>
            <a:ext cx="5688013"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buFont typeface="Wingdings" pitchFamily="2" charset="2"/>
              <a:buNone/>
            </a:pPr>
            <a:r>
              <a:rPr lang="en-US" altLang="en-US" dirty="0">
                <a:solidFill>
                  <a:srgbClr val="000000"/>
                </a:solidFill>
              </a:rPr>
              <a:t>Because the sample mean is 240.79, we could guess that </a:t>
            </a:r>
            <a:r>
              <a:rPr lang="en-US" altLang="en-US" i="1" dirty="0">
                <a:solidFill>
                  <a:srgbClr val="000000"/>
                </a:solidFill>
              </a:rPr>
              <a:t>µ</a:t>
            </a:r>
            <a:r>
              <a:rPr lang="en-US" altLang="en-US" dirty="0">
                <a:solidFill>
                  <a:srgbClr val="000000"/>
                </a:solidFill>
              </a:rPr>
              <a:t> is </a:t>
            </a:r>
            <a:r>
              <a:rPr lang="ja-JP" altLang="en-US" dirty="0">
                <a:solidFill>
                  <a:srgbClr val="000000"/>
                </a:solidFill>
              </a:rPr>
              <a:t>“</a:t>
            </a:r>
            <a:r>
              <a:rPr lang="en-US" altLang="ja-JP" dirty="0">
                <a:solidFill>
                  <a:srgbClr val="000000"/>
                </a:solidFill>
              </a:rPr>
              <a:t>somewhere</a:t>
            </a:r>
            <a:r>
              <a:rPr lang="ja-JP" altLang="en-US" dirty="0">
                <a:solidFill>
                  <a:srgbClr val="000000"/>
                </a:solidFill>
              </a:rPr>
              <a:t>”</a:t>
            </a:r>
            <a:r>
              <a:rPr lang="en-US" altLang="ja-JP" dirty="0">
                <a:solidFill>
                  <a:srgbClr val="000000"/>
                </a:solidFill>
              </a:rPr>
              <a:t> around 240.79.  </a:t>
            </a:r>
          </a:p>
          <a:p>
            <a:pPr>
              <a:buFont typeface="Wingdings" pitchFamily="2" charset="2"/>
              <a:buNone/>
            </a:pPr>
            <a:endParaRPr lang="en-US" altLang="ja-JP" b="1" dirty="0">
              <a:solidFill>
                <a:srgbClr val="000000"/>
              </a:solidFill>
            </a:endParaRPr>
          </a:p>
          <a:p>
            <a:pPr>
              <a:buFont typeface="Wingdings" pitchFamily="2" charset="2"/>
              <a:buNone/>
            </a:pPr>
            <a:r>
              <a:rPr lang="en-US" altLang="ja-JP" b="1" dirty="0">
                <a:solidFill>
                  <a:srgbClr val="000000"/>
                </a:solidFill>
              </a:rPr>
              <a:t>How close to 240.79 is </a:t>
            </a:r>
            <a:r>
              <a:rPr lang="en-US" altLang="ja-JP" b="1" i="1" dirty="0">
                <a:solidFill>
                  <a:srgbClr val="000000"/>
                </a:solidFill>
              </a:rPr>
              <a:t>µ</a:t>
            </a:r>
            <a:r>
              <a:rPr lang="en-US" altLang="ja-JP" b="1" dirty="0">
                <a:solidFill>
                  <a:srgbClr val="000000"/>
                </a:solidFill>
              </a:rPr>
              <a:t> likely to be?</a:t>
            </a:r>
            <a:endParaRPr lang="en-US" altLang="en-US" b="1" dirty="0">
              <a:solidFill>
                <a:srgbClr val="000000"/>
              </a:solidFill>
            </a:endParaRPr>
          </a:p>
        </p:txBody>
      </p:sp>
      <p:pic>
        <p:nvPicPr>
          <p:cNvPr id="33796" name="Picture 9" descr="An output from a graphing calculator reads mean, rand Norm, M, 20, 16, = 240.79."/>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18225" y="1223761"/>
            <a:ext cx="2421334" cy="1642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248046" y="2818542"/>
            <a:ext cx="671101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dirty="0">
                <a:solidFill>
                  <a:schemeClr val="tx1"/>
                </a:solidFill>
              </a:rPr>
              <a:t>To answer this question, we must ask another:</a:t>
            </a:r>
          </a:p>
        </p:txBody>
      </p:sp>
      <p:graphicFrame>
        <p:nvGraphicFramePr>
          <p:cNvPr id="5" name="Object 4"/>
          <p:cNvGraphicFramePr>
            <a:graphicFrameLocks noChangeAspect="1"/>
          </p:cNvGraphicFramePr>
          <p:nvPr>
            <p:extLst>
              <p:ext uri="{D42A27DB-BD31-4B8C-83A1-F6EECF244321}">
                <p14:modId xmlns:p14="http://schemas.microsoft.com/office/powerpoint/2010/main" val="2281484030"/>
              </p:ext>
            </p:extLst>
          </p:nvPr>
        </p:nvGraphicFramePr>
        <p:xfrm>
          <a:off x="376918" y="3372987"/>
          <a:ext cx="8603944" cy="372380"/>
        </p:xfrm>
        <a:graphic>
          <a:graphicData uri="http://schemas.openxmlformats.org/presentationml/2006/ole">
            <mc:AlternateContent xmlns:mc="http://schemas.openxmlformats.org/markup-compatibility/2006">
              <mc:Choice xmlns:v="urn:schemas-microsoft-com:vml" Requires="v">
                <p:oleObj spid="_x0000_s70893" name="Equation" r:id="rId5" imgW="5574960" imgH="241200" progId="Equation.DSMT4">
                  <p:embed/>
                </p:oleObj>
              </mc:Choice>
              <mc:Fallback>
                <p:oleObj name="Equation" r:id="rId5" imgW="5574960" imgH="241200" progId="Equation.DSMT4">
                  <p:embed/>
                  <p:pic>
                    <p:nvPicPr>
                      <p:cNvPr id="0" name=""/>
                      <p:cNvPicPr/>
                      <p:nvPr/>
                    </p:nvPicPr>
                    <p:blipFill>
                      <a:blip r:embed="rId6"/>
                      <a:stretch>
                        <a:fillRect/>
                      </a:stretch>
                    </p:blipFill>
                    <p:spPr>
                      <a:xfrm>
                        <a:off x="376918" y="3372987"/>
                        <a:ext cx="8603944" cy="372380"/>
                      </a:xfrm>
                      <a:prstGeom prst="rect">
                        <a:avLst/>
                      </a:prstGeom>
                    </p:spPr>
                  </p:pic>
                </p:oleObj>
              </mc:Fallback>
            </mc:AlternateContent>
          </a:graphicData>
        </a:graphic>
      </p:graphicFrame>
      <p:pic>
        <p:nvPicPr>
          <p:cNvPr id="16" name="Picture 15" descr="A normal distribution curve for a population has a mean mu and a standard deviation of sigma = 20."/>
          <p:cNvPicPr>
            <a:picLocks noChangeAspect="1"/>
          </p:cNvPicPr>
          <p:nvPr/>
        </p:nvPicPr>
        <p:blipFill rotWithShape="1">
          <a:blip r:embed="rId7">
            <a:extLst>
              <a:ext uri="{28A0092B-C50C-407E-A947-70E740481C1C}">
                <a14:useLocalDpi xmlns:a14="http://schemas.microsoft.com/office/drawing/2010/main" val="0"/>
              </a:ext>
            </a:extLst>
          </a:blip>
          <a:srcRect l="-39" r="61293"/>
          <a:stretch/>
        </p:blipFill>
        <p:spPr bwMode="auto">
          <a:xfrm>
            <a:off x="391761" y="3991573"/>
            <a:ext cx="3091879" cy="2633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6" descr="Multiple S R S’s are taken from the population of size n = 16, and their x-bar collected. X bars include x bar = 240.79, x bar = 246.05, x bar = 248.85, and so on."/>
          <p:cNvPicPr>
            <a:picLocks noChangeAspect="1"/>
          </p:cNvPicPr>
          <p:nvPr/>
        </p:nvPicPr>
        <p:blipFill>
          <a:blip r:embed="rId7">
            <a:extLst>
              <a:ext uri="{28A0092B-C50C-407E-A947-70E740481C1C}">
                <a14:useLocalDpi xmlns:a14="http://schemas.microsoft.com/office/drawing/2010/main" val="0"/>
              </a:ext>
            </a:extLst>
          </a:blip>
          <a:srcRect l="38515" r="39012"/>
          <a:stretch>
            <a:fillRect/>
          </a:stretch>
        </p:blipFill>
        <p:spPr bwMode="auto">
          <a:xfrm>
            <a:off x="3483640" y="3991573"/>
            <a:ext cx="1790700" cy="263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7" descr="A taller, narrower distribution curve for a sampling distribution of x bar has a mean of mu = unknown and standard deviation of sigma divided by the square root of n = 5."/>
          <p:cNvPicPr>
            <a:picLocks noChangeAspect="1"/>
          </p:cNvPicPr>
          <p:nvPr/>
        </p:nvPicPr>
        <p:blipFill>
          <a:blip r:embed="rId7">
            <a:extLst>
              <a:ext uri="{28A0092B-C50C-407E-A947-70E740481C1C}">
                <a14:useLocalDpi xmlns:a14="http://schemas.microsoft.com/office/drawing/2010/main" val="0"/>
              </a:ext>
            </a:extLst>
          </a:blip>
          <a:srcRect l="60875"/>
          <a:stretch>
            <a:fillRect/>
          </a:stretch>
        </p:blipFill>
        <p:spPr bwMode="auto">
          <a:xfrm>
            <a:off x="5273931" y="3989848"/>
            <a:ext cx="3119437" cy="263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967615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5"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 calcmode="lin" valueType="num">
                                      <p:cBhvr>
                                        <p:cTn id="12" dur="500" decel="50000" fill="hold">
                                          <p:stCondLst>
                                            <p:cond delay="0"/>
                                          </p:stCondLst>
                                        </p:cTn>
                                        <p:tgtEl>
                                          <p:spTgt spid="16"/>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16"/>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16"/>
                                        </p:tgtEl>
                                        <p:attrNameLst>
                                          <p:attrName>ppt_w</p:attrName>
                                        </p:attrNameLst>
                                      </p:cBhvr>
                                      <p:tavLst>
                                        <p:tav tm="0">
                                          <p:val>
                                            <p:strVal val="#ppt_w*.05"/>
                                          </p:val>
                                        </p:tav>
                                        <p:tav tm="100000">
                                          <p:val>
                                            <p:strVal val="#ppt_w"/>
                                          </p:val>
                                        </p:tav>
                                      </p:tavLst>
                                    </p:anim>
                                    <p:anim calcmode="lin" valueType="num">
                                      <p:cBhvr>
                                        <p:cTn id="15" dur="1000" fill="hold"/>
                                        <p:tgtEl>
                                          <p:spTgt spid="16"/>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16"/>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16"/>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16"/>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16"/>
                                        </p:tgtEl>
                                      </p:cBhvr>
                                    </p:animEffect>
                                  </p:childTnLst>
                                </p:cTn>
                              </p:par>
                            </p:childTnLst>
                          </p:cTn>
                        </p:par>
                        <p:par>
                          <p:cTn id="20" fill="hold" nodeType="afterGroup">
                            <p:stCondLst>
                              <p:cond delay="1000"/>
                            </p:stCondLst>
                            <p:childTnLst>
                              <p:par>
                                <p:cTn id="21" presetID="34" presetClass="entr" presetSubtype="0" fill="hold" nodeType="afterEffect">
                                  <p:stCondLst>
                                    <p:cond delay="0"/>
                                  </p:stCondLst>
                                  <p:childTnLst>
                                    <p:set>
                                      <p:cBhvr>
                                        <p:cTn id="22" dur="1" fill="hold">
                                          <p:stCondLst>
                                            <p:cond delay="0"/>
                                          </p:stCondLst>
                                        </p:cTn>
                                        <p:tgtEl>
                                          <p:spTgt spid="17"/>
                                        </p:tgtEl>
                                        <p:attrNameLst>
                                          <p:attrName>style.visibility</p:attrName>
                                        </p:attrNameLst>
                                      </p:cBhvr>
                                      <p:to>
                                        <p:strVal val="visible"/>
                                      </p:to>
                                    </p:set>
                                    <p:anim from="(-#ppt_w/2)" to="(#ppt_x)" calcmode="lin" valueType="num">
                                      <p:cBhvr>
                                        <p:cTn id="23" dur="600" fill="hold">
                                          <p:stCondLst>
                                            <p:cond delay="0"/>
                                          </p:stCondLst>
                                        </p:cTn>
                                        <p:tgtEl>
                                          <p:spTgt spid="17"/>
                                        </p:tgtEl>
                                        <p:attrNameLst>
                                          <p:attrName>ppt_x</p:attrName>
                                        </p:attrNameLst>
                                      </p:cBhvr>
                                    </p:anim>
                                    <p:anim from="0" to="-1.0" calcmode="lin" valueType="num">
                                      <p:cBhvr>
                                        <p:cTn id="24" dur="200" decel="50000" autoRev="1" fill="hold">
                                          <p:stCondLst>
                                            <p:cond delay="600"/>
                                          </p:stCondLst>
                                        </p:cTn>
                                        <p:tgtEl>
                                          <p:spTgt spid="17"/>
                                        </p:tgtEl>
                                        <p:attrNameLst>
                                          <p:attrName>xshear</p:attrName>
                                        </p:attrNameLst>
                                      </p:cBhvr>
                                    </p:anim>
                                    <p:animScale>
                                      <p:cBhvr>
                                        <p:cTn id="25" dur="200" decel="100000" autoRev="1" fill="hold">
                                          <p:stCondLst>
                                            <p:cond delay="600"/>
                                          </p:stCondLst>
                                        </p:cTn>
                                        <p:tgtEl>
                                          <p:spTgt spid="17"/>
                                        </p:tgtEl>
                                      </p:cBhvr>
                                      <p:from x="100000" y="100000"/>
                                      <p:to x="80000" y="100000"/>
                                    </p:animScale>
                                    <p:anim by="(#ppt_h/3+#ppt_w*0.1)" calcmode="lin" valueType="num">
                                      <p:cBhvr additive="sum">
                                        <p:cTn id="26" dur="200" decel="100000" autoRev="1" fill="hold">
                                          <p:stCondLst>
                                            <p:cond delay="600"/>
                                          </p:stCondLst>
                                        </p:cTn>
                                        <p:tgtEl>
                                          <p:spTgt spid="17"/>
                                        </p:tgtEl>
                                        <p:attrNameLst>
                                          <p:attrName>ppt_x</p:attrName>
                                        </p:attrNameLst>
                                      </p:cBhvr>
                                    </p:anim>
                                  </p:childTnLst>
                                </p:cTn>
                              </p:par>
                            </p:childTnLst>
                          </p:cTn>
                        </p:par>
                        <p:par>
                          <p:cTn id="27" fill="hold" nodeType="afterGroup">
                            <p:stCondLst>
                              <p:cond delay="2000"/>
                            </p:stCondLst>
                            <p:childTnLst>
                              <p:par>
                                <p:cTn id="28" presetID="31" presetClass="entr" presetSubtype="0" fill="hold" nodeType="afterEffect">
                                  <p:stCondLst>
                                    <p:cond delay="0"/>
                                  </p:stCondLst>
                                  <p:iterate type="lt">
                                    <p:tmPct val="5000"/>
                                  </p:iterate>
                                  <p:childTnLst>
                                    <p:set>
                                      <p:cBhvr>
                                        <p:cTn id="29" dur="1" fill="hold">
                                          <p:stCondLst>
                                            <p:cond delay="0"/>
                                          </p:stCondLst>
                                        </p:cTn>
                                        <p:tgtEl>
                                          <p:spTgt spid="18"/>
                                        </p:tgtEl>
                                        <p:attrNameLst>
                                          <p:attrName>style.visibility</p:attrName>
                                        </p:attrNameLst>
                                      </p:cBhvr>
                                      <p:to>
                                        <p:strVal val="visible"/>
                                      </p:to>
                                    </p:set>
                                    <p:anim calcmode="lin" valueType="num">
                                      <p:cBhvr>
                                        <p:cTn id="30" dur="1000" fill="hold"/>
                                        <p:tgtEl>
                                          <p:spTgt spid="18"/>
                                        </p:tgtEl>
                                        <p:attrNameLst>
                                          <p:attrName>ppt_w</p:attrName>
                                        </p:attrNameLst>
                                      </p:cBhvr>
                                      <p:tavLst>
                                        <p:tav tm="0">
                                          <p:val>
                                            <p:fltVal val="0"/>
                                          </p:val>
                                        </p:tav>
                                        <p:tav tm="100000">
                                          <p:val>
                                            <p:strVal val="#ppt_w"/>
                                          </p:val>
                                        </p:tav>
                                      </p:tavLst>
                                    </p:anim>
                                    <p:anim calcmode="lin" valueType="num">
                                      <p:cBhvr>
                                        <p:cTn id="31" dur="1000" fill="hold"/>
                                        <p:tgtEl>
                                          <p:spTgt spid="18"/>
                                        </p:tgtEl>
                                        <p:attrNameLst>
                                          <p:attrName>ppt_h</p:attrName>
                                        </p:attrNameLst>
                                      </p:cBhvr>
                                      <p:tavLst>
                                        <p:tav tm="0">
                                          <p:val>
                                            <p:fltVal val="0"/>
                                          </p:val>
                                        </p:tav>
                                        <p:tav tm="100000">
                                          <p:val>
                                            <p:strVal val="#ppt_h"/>
                                          </p:val>
                                        </p:tav>
                                      </p:tavLst>
                                    </p:anim>
                                    <p:anim calcmode="lin" valueType="num">
                                      <p:cBhvr>
                                        <p:cTn id="32" dur="1000" fill="hold"/>
                                        <p:tgtEl>
                                          <p:spTgt spid="18"/>
                                        </p:tgtEl>
                                        <p:attrNameLst>
                                          <p:attrName>style.rotation</p:attrName>
                                        </p:attrNameLst>
                                      </p:cBhvr>
                                      <p:tavLst>
                                        <p:tav tm="0">
                                          <p:val>
                                            <p:fltVal val="90"/>
                                          </p:val>
                                        </p:tav>
                                        <p:tav tm="100000">
                                          <p:val>
                                            <p:fltVal val="0"/>
                                          </p:val>
                                        </p:tav>
                                      </p:tavLst>
                                    </p:anim>
                                    <p:animEffect transition="in" filter="fade">
                                      <p:cBhvr>
                                        <p:cTn id="33"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en-US" dirty="0"/>
              <a:t>Statistical Estimation 3</a:t>
            </a:r>
            <a:endParaRPr lang="en-US" dirty="0"/>
          </a:p>
        </p:txBody>
      </p:sp>
      <p:sp>
        <p:nvSpPr>
          <p:cNvPr id="3584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52B8E3FD-70BF-4F82-B4B9-4FB73BE84813}" type="slidenum">
              <a:rPr lang="en-US" altLang="en-US" sz="1200">
                <a:solidFill>
                  <a:schemeClr val="accent1"/>
                </a:solidFill>
              </a:rPr>
              <a:pPr>
                <a:lnSpc>
                  <a:spcPct val="80000"/>
                </a:lnSpc>
              </a:pPr>
              <a:t>9</a:t>
            </a:fld>
            <a:endParaRPr lang="en-US" altLang="en-US" sz="1200">
              <a:solidFill>
                <a:schemeClr val="accent1"/>
              </a:solidFill>
            </a:endParaRPr>
          </a:p>
        </p:txBody>
      </p:sp>
      <p:pic>
        <p:nvPicPr>
          <p:cNvPr id="21" name="Picture 6" descr="A symmetrical density curve for x bar has an unknown mean, mu. Values are marked to the left and right of mu at mu minus 9 and mu plus 9, respectively. The area under the curve between the two points is shaded, representing a probability equal to 0.95. x bar lies within plus or minus 9 points of mu in 95 percent of all samples."/>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174625" y="1732565"/>
            <a:ext cx="3848220" cy="2435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a:spLocks noChangeArrowheads="1"/>
          </p:cNvSpPr>
          <p:nvPr/>
        </p:nvSpPr>
        <p:spPr bwMode="auto">
          <a:xfrm>
            <a:off x="4019550" y="1452563"/>
            <a:ext cx="4616450" cy="120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just" eaLnBrk="1" hangingPunct="1">
              <a:buFont typeface="Wingdings" pitchFamily="2" charset="2"/>
              <a:buChar char="ü"/>
            </a:pPr>
            <a:r>
              <a:rPr lang="en-US" altLang="en-US" sz="1800" dirty="0">
                <a:solidFill>
                  <a:schemeClr val="tx1"/>
                </a:solidFill>
              </a:rPr>
              <a:t>In repeated samples, the values of the sample mean will follow a Normal distribution with mean </a:t>
            </a:r>
            <a:r>
              <a:rPr lang="en-US" altLang="en-US" sz="1800" i="1" dirty="0">
                <a:solidFill>
                  <a:schemeClr val="tx1"/>
                </a:solidFill>
              </a:rPr>
              <a:t>µ</a:t>
            </a:r>
            <a:r>
              <a:rPr lang="en-US" altLang="en-US" sz="1800" dirty="0">
                <a:solidFill>
                  <a:schemeClr val="tx1"/>
                </a:solidFill>
              </a:rPr>
              <a:t> and standard deviation 5.</a:t>
            </a:r>
          </a:p>
        </p:txBody>
      </p:sp>
      <p:sp>
        <p:nvSpPr>
          <p:cNvPr id="11" name="TextBox 10"/>
          <p:cNvSpPr txBox="1">
            <a:spLocks noChangeArrowheads="1"/>
          </p:cNvSpPr>
          <p:nvPr/>
        </p:nvSpPr>
        <p:spPr bwMode="auto">
          <a:xfrm>
            <a:off x="4019550" y="2624138"/>
            <a:ext cx="47164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just" eaLnBrk="1" hangingPunct="1">
              <a:buFont typeface="Wingdings" pitchFamily="2" charset="2"/>
              <a:buChar char="ü"/>
            </a:pPr>
            <a:r>
              <a:rPr lang="en-US" altLang="en-US" sz="1800" dirty="0">
                <a:solidFill>
                  <a:schemeClr val="tx1"/>
                </a:solidFill>
              </a:rPr>
              <a:t>The 68-95-99.7 rule tells us that in 95% of all samples of size 16, the sample mean will be within 10 points (2 standard deviations) of </a:t>
            </a:r>
            <a:r>
              <a:rPr lang="en-US" altLang="en-US" sz="1800" i="1" dirty="0">
                <a:solidFill>
                  <a:schemeClr val="tx1"/>
                </a:solidFill>
              </a:rPr>
              <a:t>µ</a:t>
            </a:r>
            <a:r>
              <a:rPr lang="en-US" altLang="en-US" sz="1800" dirty="0">
                <a:solidFill>
                  <a:schemeClr val="tx1"/>
                </a:solidFill>
              </a:rPr>
              <a:t>.</a:t>
            </a:r>
          </a:p>
        </p:txBody>
      </p:sp>
      <p:sp>
        <p:nvSpPr>
          <p:cNvPr id="12" name="TextBox 11"/>
          <p:cNvSpPr txBox="1">
            <a:spLocks noChangeArrowheads="1"/>
          </p:cNvSpPr>
          <p:nvPr/>
        </p:nvSpPr>
        <p:spPr bwMode="auto">
          <a:xfrm>
            <a:off x="4019550" y="3786188"/>
            <a:ext cx="471646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just" eaLnBrk="1" hangingPunct="1">
              <a:buFont typeface="Wingdings" pitchFamily="2" charset="2"/>
              <a:buChar char="ü"/>
            </a:pPr>
            <a:r>
              <a:rPr lang="en-US" altLang="en-US" sz="1800" dirty="0">
                <a:solidFill>
                  <a:schemeClr val="tx1"/>
                </a:solidFill>
              </a:rPr>
              <a:t>If the sample mean is within 10 points of </a:t>
            </a:r>
            <a:r>
              <a:rPr lang="en-US" altLang="en-US" sz="1800" i="1" dirty="0">
                <a:solidFill>
                  <a:schemeClr val="tx1"/>
                </a:solidFill>
              </a:rPr>
              <a:t>µ</a:t>
            </a:r>
            <a:r>
              <a:rPr lang="en-US" altLang="en-US" sz="1800" dirty="0">
                <a:solidFill>
                  <a:schemeClr val="tx1"/>
                </a:solidFill>
              </a:rPr>
              <a:t>, then </a:t>
            </a:r>
            <a:r>
              <a:rPr lang="en-US" altLang="en-US" sz="1800" i="1" dirty="0">
                <a:solidFill>
                  <a:schemeClr val="tx1"/>
                </a:solidFill>
              </a:rPr>
              <a:t>µ</a:t>
            </a:r>
            <a:r>
              <a:rPr lang="en-US" altLang="en-US" sz="1800" dirty="0">
                <a:solidFill>
                  <a:schemeClr val="tx1"/>
                </a:solidFill>
              </a:rPr>
              <a:t> is within 10 points of the sample mean.</a:t>
            </a:r>
          </a:p>
        </p:txBody>
      </p:sp>
      <p:sp>
        <p:nvSpPr>
          <p:cNvPr id="13" name="TextBox 12"/>
          <p:cNvSpPr txBox="1">
            <a:spLocks noChangeArrowheads="1"/>
          </p:cNvSpPr>
          <p:nvPr/>
        </p:nvSpPr>
        <p:spPr bwMode="auto">
          <a:xfrm>
            <a:off x="406400" y="4700588"/>
            <a:ext cx="82296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just" eaLnBrk="1" hangingPunct="1">
              <a:buFont typeface="Wingdings" pitchFamily="2" charset="2"/>
              <a:buChar char="ü"/>
            </a:pPr>
            <a:r>
              <a:rPr lang="en-US" altLang="en-US" sz="1800" dirty="0">
                <a:solidFill>
                  <a:schemeClr val="tx1"/>
                </a:solidFill>
              </a:rPr>
              <a:t>Therefore, the interval from 10 points below to 10 points above the sample mean will “capture” </a:t>
            </a:r>
            <a:r>
              <a:rPr lang="en-US" altLang="en-US" sz="1800" i="1" dirty="0">
                <a:solidFill>
                  <a:schemeClr val="tx1"/>
                </a:solidFill>
              </a:rPr>
              <a:t>µ</a:t>
            </a:r>
            <a:r>
              <a:rPr lang="en-US" altLang="en-US" sz="1800" dirty="0">
                <a:solidFill>
                  <a:schemeClr val="tx1"/>
                </a:solidFill>
              </a:rPr>
              <a:t> in about 95% of all samples of size 16.</a:t>
            </a:r>
          </a:p>
        </p:txBody>
      </p:sp>
      <p:sp>
        <p:nvSpPr>
          <p:cNvPr id="22" name="TextBox 11"/>
          <p:cNvSpPr txBox="1">
            <a:spLocks noChangeArrowheads="1"/>
          </p:cNvSpPr>
          <p:nvPr/>
        </p:nvSpPr>
        <p:spPr bwMode="auto">
          <a:xfrm>
            <a:off x="588963" y="5526088"/>
            <a:ext cx="8015287" cy="923925"/>
          </a:xfrm>
          <a:prstGeom prst="rect">
            <a:avLst/>
          </a:prstGeom>
          <a:solidFill>
            <a:srgbClr val="FFD780"/>
          </a:solidFill>
          <a:ln w="9525">
            <a:noFill/>
            <a:miter lim="800000"/>
            <a:headEnd/>
            <a:tailEnd/>
          </a:ln>
        </p:spPr>
        <p:txBody>
          <a:bodyPr>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just" eaLnBrk="1" hangingPunct="1">
              <a:defRPr/>
            </a:pPr>
            <a:r>
              <a:rPr lang="en-US" altLang="en-US" sz="1800" dirty="0"/>
              <a:t>If we estimate that </a:t>
            </a:r>
            <a:r>
              <a:rPr lang="en-US" altLang="en-US" sz="1800" i="1" dirty="0"/>
              <a:t>µ</a:t>
            </a:r>
            <a:r>
              <a:rPr lang="en-US" altLang="en-US" sz="1800" dirty="0"/>
              <a:t> lies somewhere in the interval </a:t>
            </a:r>
            <a:r>
              <a:rPr lang="en-US" altLang="en-US" sz="1800" b="1" dirty="0"/>
              <a:t>230.79 </a:t>
            </a:r>
            <a:r>
              <a:rPr lang="en-US" altLang="en-US" sz="1800" dirty="0"/>
              <a:t>to </a:t>
            </a:r>
            <a:r>
              <a:rPr lang="en-US" altLang="en-US" sz="1800" b="1" dirty="0"/>
              <a:t>250.79</a:t>
            </a:r>
            <a:r>
              <a:rPr lang="en-US" altLang="en-US" sz="1800" dirty="0"/>
              <a:t>, we are </a:t>
            </a:r>
            <a:r>
              <a:rPr lang="en-US" altLang="ja-JP" sz="1800" dirty="0"/>
              <a:t>using a method that captures the true </a:t>
            </a:r>
            <a:r>
              <a:rPr lang="en-US" altLang="ja-JP" sz="1800" i="1" dirty="0"/>
              <a:t>µ</a:t>
            </a:r>
            <a:r>
              <a:rPr lang="en-US" altLang="ja-JP" sz="1800" dirty="0"/>
              <a:t> in about 95% of all possible samples of this size.</a:t>
            </a:r>
            <a:endParaRPr lang="en-US" altLang="en-US" sz="1600" i="1"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ssolve">
                                      <p:cBhvr>
                                        <p:cTn id="12" dur="500"/>
                                        <p:tgtEl>
                                          <p:spTgt spid="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dissolve">
                                      <p:cBhvr>
                                        <p:cTn id="17" dur="500"/>
                                        <p:tgtEl>
                                          <p:spTgt spid="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2"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Scale>
                                      <p:cBhvr>
                                        <p:cTn id="22" dur="1000" decel="50000" fill="hold">
                                          <p:stCondLst>
                                            <p:cond delay="0"/>
                                          </p:stCondLst>
                                        </p:cTn>
                                        <p:tgtEl>
                                          <p:spTgt spid="2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3" dur="1000" decel="50000" fill="hold">
                                          <p:stCondLst>
                                            <p:cond delay="0"/>
                                          </p:stCondLst>
                                        </p:cTn>
                                        <p:tgtEl>
                                          <p:spTgt spid="21"/>
                                        </p:tgtEl>
                                        <p:attrNameLst>
                                          <p:attrName>ppt_x</p:attrName>
                                          <p:attrName>ppt_y</p:attrName>
                                        </p:attrNameLst>
                                      </p:cBhvr>
                                    </p:animMotion>
                                    <p:animEffect transition="in" filter="fade">
                                      <p:cBhvr>
                                        <p:cTn id="24" dur="1000"/>
                                        <p:tgtEl>
                                          <p:spTgt spid="2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dissolve">
                                      <p:cBhvr>
                                        <p:cTn id="29" dur="500"/>
                                        <p:tgtEl>
                                          <p:spTgt spid="13"/>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1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p:bldP spid="12" grpId="0"/>
      <p:bldP spid="13" grpId="0"/>
      <p:bldP spid="22"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lnSpc>
                <a:spcPct val="90000"/>
              </a:lnSpc>
            </a:pPr>
            <a:r>
              <a:rPr lang="en-US" altLang="en-US">
                <a:ea typeface="ＭＳ Ｐゴシック" pitchFamily="34" charset="-128"/>
              </a:rPr>
              <a:t>Statistical Confidence</a:t>
            </a:r>
            <a:endParaRPr lang="en-US" altLang="en-US" sz="2400">
              <a:solidFill>
                <a:srgbClr val="33CCFF"/>
              </a:solidFill>
              <a:ea typeface="ＭＳ Ｐゴシック" pitchFamily="34" charset="-128"/>
            </a:endParaRPr>
          </a:p>
        </p:txBody>
      </p:sp>
      <p:sp>
        <p:nvSpPr>
          <p:cNvPr id="3687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6F7C9524-FDD9-4CE8-A7F2-D36E7BE70DAD}" type="slidenum">
              <a:rPr lang="en-US" altLang="en-US" sz="1200">
                <a:solidFill>
                  <a:schemeClr val="accent1"/>
                </a:solidFill>
              </a:rPr>
              <a:pPr>
                <a:lnSpc>
                  <a:spcPct val="80000"/>
                </a:lnSpc>
              </a:pPr>
              <a:t>10</a:t>
            </a:fld>
            <a:endParaRPr lang="en-US" altLang="en-US" sz="1200">
              <a:solidFill>
                <a:schemeClr val="accent1"/>
              </a:solidFill>
            </a:endParaRPr>
          </a:p>
        </p:txBody>
      </p:sp>
      <p:sp>
        <p:nvSpPr>
          <p:cNvPr id="36867" name="TextBox 1"/>
          <p:cNvSpPr txBox="1">
            <a:spLocks noChangeArrowheads="1"/>
          </p:cNvSpPr>
          <p:nvPr/>
        </p:nvSpPr>
        <p:spPr bwMode="auto">
          <a:xfrm>
            <a:off x="174625" y="1009403"/>
            <a:ext cx="8382000" cy="1939925"/>
          </a:xfrm>
          <a:prstGeom prst="rect">
            <a:avLst/>
          </a:prstGeom>
          <a:solidFill>
            <a:srgbClr val="FFD780"/>
          </a:solidFill>
          <a:ln>
            <a:noFill/>
          </a:ln>
        </p:spPr>
        <p:txBody>
          <a:bodyPr wrap="squar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just">
              <a:buFont typeface="Wingdings" pitchFamily="2" charset="2"/>
              <a:buNone/>
            </a:pPr>
            <a:r>
              <a:rPr lang="en-US" altLang="en-US" dirty="0">
                <a:solidFill>
                  <a:srgbClr val="000000"/>
                </a:solidFill>
              </a:rPr>
              <a:t>The </a:t>
            </a:r>
            <a:r>
              <a:rPr lang="en-US" altLang="en-US" b="1" dirty="0">
                <a:solidFill>
                  <a:schemeClr val="tx1"/>
                </a:solidFill>
              </a:rPr>
              <a:t>confidence level</a:t>
            </a:r>
            <a:r>
              <a:rPr lang="en-US" altLang="en-US" dirty="0">
                <a:solidFill>
                  <a:srgbClr val="000000"/>
                </a:solidFill>
              </a:rPr>
              <a:t>, or </a:t>
            </a:r>
            <a:r>
              <a:rPr lang="en-US" altLang="en-US" i="1" dirty="0">
                <a:solidFill>
                  <a:srgbClr val="000000"/>
                </a:solidFill>
              </a:rPr>
              <a:t>C</a:t>
            </a:r>
            <a:r>
              <a:rPr lang="en-US" altLang="en-US" dirty="0">
                <a:solidFill>
                  <a:srgbClr val="000000"/>
                </a:solidFill>
              </a:rPr>
              <a:t>, is the overall capture rate if the method is used many times. The sample mean will vary from sample to sample, but when we use the method “</a:t>
            </a:r>
            <a:r>
              <a:rPr lang="en-US" altLang="ja-JP" dirty="0">
                <a:solidFill>
                  <a:srgbClr val="000000"/>
                </a:solidFill>
              </a:rPr>
              <a:t>estimate ± margin of error</a:t>
            </a:r>
            <a:r>
              <a:rPr lang="en-US" altLang="en-US" i="1" dirty="0">
                <a:solidFill>
                  <a:srgbClr val="000000"/>
                </a:solidFill>
              </a:rPr>
              <a:t>’’</a:t>
            </a:r>
            <a:r>
              <a:rPr lang="en-US" altLang="ja-JP" i="1" dirty="0">
                <a:solidFill>
                  <a:srgbClr val="000000"/>
                </a:solidFill>
              </a:rPr>
              <a:t> </a:t>
            </a:r>
            <a:r>
              <a:rPr lang="en-US" altLang="ja-JP" dirty="0">
                <a:solidFill>
                  <a:srgbClr val="000000"/>
                </a:solidFill>
              </a:rPr>
              <a:t>to get each interval, </a:t>
            </a:r>
            <a:r>
              <a:rPr lang="en-US" altLang="ja-JP" i="1" dirty="0">
                <a:solidFill>
                  <a:srgbClr val="000000"/>
                </a:solidFill>
              </a:rPr>
              <a:t>C </a:t>
            </a:r>
            <a:r>
              <a:rPr lang="en-US" altLang="ja-JP" dirty="0">
                <a:solidFill>
                  <a:srgbClr val="000000"/>
                </a:solidFill>
              </a:rPr>
              <a:t>× 100% of all intervals capture the unknown population mean </a:t>
            </a:r>
            <a:r>
              <a:rPr lang="en-US" altLang="ja-JP" i="1" dirty="0">
                <a:solidFill>
                  <a:srgbClr val="000000"/>
                </a:solidFill>
              </a:rPr>
              <a:t>µ</a:t>
            </a:r>
            <a:r>
              <a:rPr lang="en-US" altLang="ja-JP" dirty="0">
                <a:solidFill>
                  <a:srgbClr val="000000"/>
                </a:solidFill>
              </a:rPr>
              <a:t>. (</a:t>
            </a:r>
            <a:r>
              <a:rPr lang="en-US" altLang="ja-JP" b="1" dirty="0">
                <a:solidFill>
                  <a:schemeClr val="tx1"/>
                </a:solidFill>
                <a:highlight>
                  <a:srgbClr val="FFFF00"/>
                </a:highlight>
              </a:rPr>
              <a:t>Note:</a:t>
            </a:r>
            <a:r>
              <a:rPr lang="en-US" altLang="ja-JP" dirty="0">
                <a:solidFill>
                  <a:schemeClr val="tx1"/>
                </a:solidFill>
                <a:highlight>
                  <a:srgbClr val="FFFF00"/>
                </a:highlight>
              </a:rPr>
              <a:t> </a:t>
            </a:r>
            <a:r>
              <a:rPr lang="en-US" altLang="ja-JP" dirty="0">
                <a:solidFill>
                  <a:srgbClr val="000000"/>
                </a:solidFill>
              </a:rPr>
              <a:t>By convention, </a:t>
            </a:r>
            <a:r>
              <a:rPr lang="en-US" altLang="ja-JP" i="1" dirty="0">
                <a:solidFill>
                  <a:srgbClr val="000000"/>
                </a:solidFill>
              </a:rPr>
              <a:t>C </a:t>
            </a:r>
            <a:r>
              <a:rPr lang="en-US" altLang="ja-JP" dirty="0">
                <a:solidFill>
                  <a:srgbClr val="000000"/>
                </a:solidFill>
              </a:rPr>
              <a:t>will be expressed as a decimal, so it will always be between 0 and 1.)</a:t>
            </a:r>
            <a:endParaRPr lang="en-US" altLang="en-US" sz="3600" i="1" dirty="0">
              <a:solidFill>
                <a:srgbClr val="000000"/>
              </a:solidFill>
            </a:endParaRPr>
          </a:p>
        </p:txBody>
      </p:sp>
      <p:pic>
        <p:nvPicPr>
          <p:cNvPr id="11" name="Picture 9" descr="A normal distribution curve for a population has mean mu and a standard distribution of sigma = 20. Many S R S’s are taken from the population of size n = 16 and many confidence intervals are collected. The intervals include x bar plus or minus 10 = 240.79 plus or minus 10, x bar plus or minus 10 = 246.05 plus or minus 10, x bar plus or minus 1- = 248.85 plus or minus 10, and so on. 95 percent of these intervals capture the unknown mean mu of the populatio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 y="2897188"/>
            <a:ext cx="6995160" cy="163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p:cNvSpPr txBox="1">
            <a:spLocks noChangeArrowheads="1"/>
          </p:cNvSpPr>
          <p:nvPr/>
        </p:nvSpPr>
        <p:spPr bwMode="auto">
          <a:xfrm>
            <a:off x="545306" y="4789933"/>
            <a:ext cx="4597400" cy="369332"/>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spAutoFit/>
          </a:bodyPr>
          <a:lstStyle/>
          <a:p>
            <a:pPr algn="ctr" eaLnBrk="1" fontAlgn="auto" hangingPunct="1">
              <a:spcBef>
                <a:spcPts val="0"/>
              </a:spcBef>
              <a:spcAft>
                <a:spcPts val="0"/>
              </a:spcAft>
              <a:defRPr/>
            </a:pPr>
            <a:r>
              <a:rPr lang="en-US" b="1" dirty="0">
                <a:highlight>
                  <a:srgbClr val="FFFF00"/>
                </a:highlight>
                <a:latin typeface="+mn-lt"/>
                <a:ea typeface="+mn-ea"/>
              </a:rPr>
              <a:t>Interpreting a Confidence Level</a:t>
            </a:r>
          </a:p>
        </p:txBody>
      </p:sp>
      <p:sp>
        <p:nvSpPr>
          <p:cNvPr id="14" name="TextBox 13"/>
          <p:cNvSpPr txBox="1">
            <a:spLocks noChangeArrowheads="1"/>
          </p:cNvSpPr>
          <p:nvPr/>
        </p:nvSpPr>
        <p:spPr bwMode="auto">
          <a:xfrm>
            <a:off x="260350" y="5133016"/>
            <a:ext cx="5167313" cy="1431161"/>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anchor="b">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ts val="1200"/>
              </a:spcBef>
              <a:spcAft>
                <a:spcPts val="600"/>
              </a:spcAft>
              <a:buClrTx/>
              <a:buSzTx/>
              <a:buFontTx/>
              <a:buNone/>
              <a:defRPr/>
            </a:pPr>
            <a:r>
              <a:rPr lang="en-US" altLang="en-US" sz="1800" dirty="0">
                <a:solidFill>
                  <a:srgbClr val="000000"/>
                </a:solidFill>
              </a:rPr>
              <a:t>To say that we are </a:t>
            </a:r>
            <a:r>
              <a:rPr lang="en-US" altLang="en-US" sz="1800" dirty="0">
                <a:solidFill>
                  <a:schemeClr val="tx1"/>
                </a:solidFill>
                <a:highlight>
                  <a:srgbClr val="FFFF00"/>
                </a:highlight>
              </a:rPr>
              <a:t>95% </a:t>
            </a:r>
            <a:r>
              <a:rPr lang="en-US" altLang="en-US" sz="1800" i="1" dirty="0">
                <a:solidFill>
                  <a:schemeClr val="tx1"/>
                </a:solidFill>
                <a:highlight>
                  <a:srgbClr val="FFFF00"/>
                </a:highlight>
              </a:rPr>
              <a:t>confident </a:t>
            </a:r>
            <a:r>
              <a:rPr lang="en-US" altLang="en-US" sz="1800" dirty="0">
                <a:solidFill>
                  <a:schemeClr val="tx1"/>
                </a:solidFill>
              </a:rPr>
              <a:t> </a:t>
            </a:r>
            <a:r>
              <a:rPr lang="en-US" altLang="en-US" sz="1800" dirty="0">
                <a:solidFill>
                  <a:srgbClr val="000000"/>
                </a:solidFill>
              </a:rPr>
              <a:t>means:</a:t>
            </a:r>
          </a:p>
          <a:p>
            <a:pPr eaLnBrk="1" hangingPunct="1">
              <a:spcBef>
                <a:spcPts val="1200"/>
              </a:spcBef>
              <a:spcAft>
                <a:spcPts val="600"/>
              </a:spcAft>
              <a:buClrTx/>
              <a:buSzTx/>
              <a:buFontTx/>
              <a:buNone/>
              <a:defRPr/>
            </a:pPr>
            <a:r>
              <a:rPr lang="ja-JP" altLang="en-US" sz="1800" dirty="0">
                <a:solidFill>
                  <a:srgbClr val="000000"/>
                </a:solidFill>
              </a:rPr>
              <a:t>“</a:t>
            </a:r>
            <a:r>
              <a:rPr lang="en-US" altLang="ja-JP" sz="1800" dirty="0">
                <a:solidFill>
                  <a:srgbClr val="C00000"/>
                </a:solidFill>
              </a:rPr>
              <a:t>95</a:t>
            </a:r>
            <a:r>
              <a:rPr lang="en-US" altLang="ja-JP" sz="1800" i="1" dirty="0">
                <a:solidFill>
                  <a:srgbClr val="C00000"/>
                </a:solidFill>
              </a:rPr>
              <a:t>% </a:t>
            </a:r>
            <a:r>
              <a:rPr lang="en-US" altLang="ja-JP" sz="1800" dirty="0">
                <a:solidFill>
                  <a:srgbClr val="C00000"/>
                </a:solidFill>
              </a:rPr>
              <a:t>of</a:t>
            </a:r>
            <a:r>
              <a:rPr lang="en-US" altLang="ja-JP" sz="1800" i="1" dirty="0">
                <a:solidFill>
                  <a:srgbClr val="C00000"/>
                </a:solidFill>
              </a:rPr>
              <a:t> </a:t>
            </a:r>
            <a:r>
              <a:rPr lang="en-US" altLang="ja-JP" sz="1800" dirty="0">
                <a:solidFill>
                  <a:srgbClr val="C00000"/>
                </a:solidFill>
              </a:rPr>
              <a:t>all possible samples of a given size from this population will yield intervals that capture the unknown parameter</a:t>
            </a:r>
            <a:r>
              <a:rPr lang="en-US" altLang="ja-JP" sz="1800" dirty="0">
                <a:solidFill>
                  <a:srgbClr val="000000"/>
                </a:solidFill>
              </a:rPr>
              <a:t>.</a:t>
            </a:r>
            <a:r>
              <a:rPr lang="ja-JP" altLang="en-US" sz="1800" dirty="0">
                <a:solidFill>
                  <a:srgbClr val="000000"/>
                </a:solidFill>
              </a:rPr>
              <a:t>”</a:t>
            </a:r>
            <a:endParaRPr lang="en-US" altLang="en-US" sz="1800" dirty="0">
              <a:solidFill>
                <a:srgbClr val="000000"/>
              </a:solidFill>
            </a:endParaRPr>
          </a:p>
        </p:txBody>
      </p:sp>
      <p:sp>
        <p:nvSpPr>
          <p:cNvPr id="16" name="Curved Down Arrow 15" descr="An arrow points from the previous diagram to the next."/>
          <p:cNvSpPr>
            <a:spLocks noChangeArrowheads="1"/>
          </p:cNvSpPr>
          <p:nvPr/>
        </p:nvSpPr>
        <p:spPr bwMode="auto">
          <a:xfrm rot="1831186">
            <a:off x="6591300" y="2935586"/>
            <a:ext cx="1695450" cy="595313"/>
          </a:xfrm>
          <a:prstGeom prst="curvedDownArrow">
            <a:avLst>
              <a:gd name="adj1" fmla="val 24999"/>
              <a:gd name="adj2" fmla="val 49998"/>
              <a:gd name="adj3" fmla="val 25000"/>
            </a:avLst>
          </a:prstGeom>
          <a:solidFill>
            <a:srgbClr val="D2DA7A"/>
          </a:solidFill>
          <a:ln w="10000">
            <a:solidFill>
              <a:srgbClr val="D2DA7A"/>
            </a:solidFill>
            <a:miter lim="800000"/>
            <a:headEnd/>
            <a:tailEnd/>
          </a:ln>
          <a:effectLst>
            <a:outerShdw blurRad="38100" dist="30000" dir="5400000" rotWithShape="0">
              <a:srgbClr val="808080">
                <a:alpha val="45000"/>
              </a:srgbClr>
            </a:outerShdw>
          </a:effectLst>
        </p:spPr>
        <p:txBody>
          <a:bodyPr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defRPr/>
            </a:pPr>
            <a:endParaRPr lang="en-US" altLang="en-US"/>
          </a:p>
        </p:txBody>
      </p:sp>
      <p:pic>
        <p:nvPicPr>
          <p:cNvPr id="13" name="Picture 12" descr="A normal distribution curve and a plot of 25 confidence intervals."/>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6164989" y="3842326"/>
            <a:ext cx="2669878" cy="2966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3505211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fltVal val="0"/>
                                          </p:val>
                                        </p:tav>
                                        <p:tav tm="100000">
                                          <p:val>
                                            <p:strVal val="#ppt_w"/>
                                          </p:val>
                                        </p:tav>
                                      </p:tavLst>
                                    </p:anim>
                                    <p:anim calcmode="lin" valueType="num">
                                      <p:cBhvr>
                                        <p:cTn id="8" dur="1000" fill="hold"/>
                                        <p:tgtEl>
                                          <p:spTgt spid="11"/>
                                        </p:tgtEl>
                                        <p:attrNameLst>
                                          <p:attrName>ppt_h</p:attrName>
                                        </p:attrNameLst>
                                      </p:cBhvr>
                                      <p:tavLst>
                                        <p:tav tm="0">
                                          <p:val>
                                            <p:fltVal val="0"/>
                                          </p:val>
                                        </p:tav>
                                        <p:tav tm="100000">
                                          <p:val>
                                            <p:strVal val="#ppt_h"/>
                                          </p:val>
                                        </p:tav>
                                      </p:tavLst>
                                    </p:anim>
                                    <p:anim calcmode="lin" valueType="num">
                                      <p:cBhvr>
                                        <p:cTn id="9" dur="1000" fill="hold"/>
                                        <p:tgtEl>
                                          <p:spTgt spid="11"/>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1"/>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1000"/>
                                        <p:tgtEl>
                                          <p:spTgt spid="16"/>
                                        </p:tgtEl>
                                      </p:cBhvr>
                                    </p:animEffect>
                                  </p:childTnLst>
                                </p:cTn>
                              </p:par>
                              <p:par>
                                <p:cTn id="16" presetID="12" presetClass="entr" presetSubtype="4"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slide(fromBottom)">
                                      <p:cBhvr>
                                        <p:cTn id="18" dur="500"/>
                                        <p:tgtEl>
                                          <p:spTgt spid="1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10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4">
                                            <p:bg/>
                                          </p:spTgt>
                                        </p:tgtEl>
                                        <p:attrNameLst>
                                          <p:attrName>style.visibility</p:attrName>
                                        </p:attrNameLst>
                                      </p:cBhvr>
                                      <p:to>
                                        <p:strVal val="visible"/>
                                      </p:to>
                                    </p:set>
                                    <p:animEffect transition="in" filter="fade">
                                      <p:cBhvr>
                                        <p:cTn id="26" dur="1000"/>
                                        <p:tgtEl>
                                          <p:spTgt spid="14">
                                            <p:bg/>
                                          </p:spTgt>
                                        </p:tgtEl>
                                      </p:cBhvr>
                                    </p:animEffect>
                                  </p:childTnLst>
                                </p:cTn>
                              </p:par>
                            </p:childTnLst>
                          </p:cTn>
                        </p:par>
                        <p:par>
                          <p:cTn id="27" fill="hold" nodeType="afterGroup">
                            <p:stCondLst>
                              <p:cond delay="1000"/>
                            </p:stCondLst>
                            <p:childTnLst>
                              <p:par>
                                <p:cTn id="28" presetID="10" presetClass="entr" presetSubtype="0" fill="hold" grpId="0" nodeType="afterEffect">
                                  <p:stCondLst>
                                    <p:cond delay="0"/>
                                  </p:stCondLst>
                                  <p:childTnLst>
                                    <p:set>
                                      <p:cBhvr>
                                        <p:cTn id="29" dur="1" fill="hold">
                                          <p:stCondLst>
                                            <p:cond delay="0"/>
                                          </p:stCondLst>
                                        </p:cTn>
                                        <p:tgtEl>
                                          <p:spTgt spid="14">
                                            <p:txEl>
                                              <p:pRg st="0" end="0"/>
                                            </p:txEl>
                                          </p:spTgt>
                                        </p:tgtEl>
                                        <p:attrNameLst>
                                          <p:attrName>style.visibility</p:attrName>
                                        </p:attrNameLst>
                                      </p:cBhvr>
                                      <p:to>
                                        <p:strVal val="visible"/>
                                      </p:to>
                                    </p:set>
                                    <p:animEffect transition="in" filter="fade">
                                      <p:cBhvr>
                                        <p:cTn id="30" dur="1000"/>
                                        <p:tgtEl>
                                          <p:spTgt spid="14">
                                            <p:txEl>
                                              <p:pRg st="0" end="0"/>
                                            </p:txEl>
                                          </p:spTgt>
                                        </p:tgtEl>
                                      </p:cBhvr>
                                    </p:animEffect>
                                  </p:childTnLst>
                                </p:cTn>
                              </p:par>
                            </p:childTnLst>
                          </p:cTn>
                        </p:par>
                        <p:par>
                          <p:cTn id="31" fill="hold">
                            <p:stCondLst>
                              <p:cond delay="2000"/>
                            </p:stCondLst>
                            <p:childTnLst>
                              <p:par>
                                <p:cTn id="32" presetID="10" presetClass="entr" presetSubtype="0" fill="hold" grpId="0" nodeType="afterEffect">
                                  <p:stCondLst>
                                    <p:cond delay="0"/>
                                  </p:stCondLst>
                                  <p:childTnLst>
                                    <p:set>
                                      <p:cBhvr>
                                        <p:cTn id="33" dur="1" fill="hold">
                                          <p:stCondLst>
                                            <p:cond delay="0"/>
                                          </p:stCondLst>
                                        </p:cTn>
                                        <p:tgtEl>
                                          <p:spTgt spid="14">
                                            <p:txEl>
                                              <p:pRg st="1" end="1"/>
                                            </p:txEl>
                                          </p:spTgt>
                                        </p:tgtEl>
                                        <p:attrNameLst>
                                          <p:attrName>style.visibility</p:attrName>
                                        </p:attrNameLst>
                                      </p:cBhvr>
                                      <p:to>
                                        <p:strVal val="visible"/>
                                      </p:to>
                                    </p:set>
                                    <p:animEffect transition="in" filter="fade">
                                      <p:cBhvr>
                                        <p:cTn id="34" dur="1000"/>
                                        <p:tgtEl>
                                          <p:spTgt spid="1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bldLvl="5"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pPr eaLnBrk="1" hangingPunct="1">
              <a:lnSpc>
                <a:spcPct val="90000"/>
              </a:lnSpc>
            </a:pPr>
            <a:r>
              <a:rPr lang="en-US" altLang="en-US">
                <a:ea typeface="ＭＳ Ｐゴシック" pitchFamily="34" charset="-128"/>
              </a:rPr>
              <a:t>Confidence Interval</a:t>
            </a:r>
            <a:endParaRPr lang="en-US" altLang="en-US" sz="2400">
              <a:solidFill>
                <a:srgbClr val="33CCFF"/>
              </a:solidFill>
              <a:ea typeface="ＭＳ Ｐゴシック" pitchFamily="34" charset="-128"/>
            </a:endParaRPr>
          </a:p>
        </p:txBody>
      </p:sp>
      <p:sp>
        <p:nvSpPr>
          <p:cNvPr id="37890"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79089F59-A399-4162-B704-F00BB2591612}" type="slidenum">
              <a:rPr lang="en-US" altLang="en-US" sz="1200">
                <a:solidFill>
                  <a:schemeClr val="accent1"/>
                </a:solidFill>
              </a:rPr>
              <a:pPr>
                <a:lnSpc>
                  <a:spcPct val="80000"/>
                </a:lnSpc>
              </a:pPr>
              <a:t>11</a:t>
            </a:fld>
            <a:endParaRPr lang="en-US" altLang="en-US" sz="1200">
              <a:solidFill>
                <a:schemeClr val="accent1"/>
              </a:solidFill>
            </a:endParaRPr>
          </a:p>
        </p:txBody>
      </p:sp>
      <mc:AlternateContent xmlns:mc="http://schemas.openxmlformats.org/markup-compatibility/2006">
        <mc:Choice xmlns:a14="http://schemas.microsoft.com/office/drawing/2010/main" Requires="a14">
          <p:sp>
            <p:nvSpPr>
              <p:cNvPr id="37896" name="TextBox 1"/>
              <p:cNvSpPr txBox="1">
                <a:spLocks noChangeArrowheads="1"/>
              </p:cNvSpPr>
              <p:nvPr/>
            </p:nvSpPr>
            <p:spPr bwMode="auto">
              <a:xfrm>
                <a:off x="174625" y="1206500"/>
                <a:ext cx="8256587" cy="1323439"/>
              </a:xfrm>
              <a:prstGeom prst="rect">
                <a:avLst/>
              </a:prstGeom>
              <a:solidFill>
                <a:srgbClr val="FFD780"/>
              </a:solidFill>
              <a:ln>
                <a:noFill/>
              </a:ln>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just" eaLnBrk="1" hangingPunct="1"/>
                <a:r>
                  <a:rPr lang="en-US" altLang="en-US" b="1" dirty="0">
                    <a:solidFill>
                      <a:schemeClr val="tx1"/>
                    </a:solidFill>
                    <a:highlight>
                      <a:srgbClr val="FFFF00"/>
                    </a:highlight>
                  </a:rPr>
                  <a:t>The Big Idea:</a:t>
                </a:r>
                <a:r>
                  <a:rPr lang="en-US" altLang="en-US" dirty="0">
                    <a:solidFill>
                      <a:schemeClr val="tx1"/>
                    </a:solidFill>
                    <a:highlight>
                      <a:srgbClr val="FFFF00"/>
                    </a:highlight>
                  </a:rPr>
                  <a:t> </a:t>
                </a:r>
                <a:r>
                  <a:rPr lang="en-US" altLang="en-US" dirty="0">
                    <a:solidFill>
                      <a:schemeClr val="tx1"/>
                    </a:solidFill>
                  </a:rPr>
                  <a:t>The sampling distribution of </a:t>
                </a:r>
                <a14:m>
                  <m:oMath xmlns:m="http://schemas.openxmlformats.org/officeDocument/2006/math">
                    <m:acc>
                      <m:accPr>
                        <m:chr m:val="̅"/>
                        <m:ctrlPr>
                          <a:rPr lang="en-US" altLang="en-US" i="1" smtClean="0">
                            <a:solidFill>
                              <a:schemeClr val="tx1"/>
                            </a:solidFill>
                            <a:latin typeface="Cambria Math" panose="02040503050406030204" pitchFamily="18" charset="0"/>
                          </a:rPr>
                        </m:ctrlPr>
                      </m:accPr>
                      <m:e>
                        <m:r>
                          <a:rPr lang="en-US" altLang="en-US" b="0" i="1" smtClean="0">
                            <a:solidFill>
                              <a:schemeClr val="tx1"/>
                            </a:solidFill>
                            <a:latin typeface="Cambria Math"/>
                          </a:rPr>
                          <m:t>𝑥</m:t>
                        </m:r>
                      </m:e>
                    </m:acc>
                  </m:oMath>
                </a14:m>
                <a:r>
                  <a:rPr lang="en-US" altLang="en-US" dirty="0">
                    <a:solidFill>
                      <a:schemeClr val="tx1"/>
                    </a:solidFill>
                  </a:rPr>
                  <a:t> tells us how close to </a:t>
                </a:r>
                <a:r>
                  <a:rPr lang="en-US" altLang="en-US" i="1" dirty="0">
                    <a:solidFill>
                      <a:schemeClr val="tx1"/>
                    </a:solidFill>
                  </a:rPr>
                  <a:t>µ </a:t>
                </a:r>
                <a:r>
                  <a:rPr lang="en-US" altLang="en-US" dirty="0">
                    <a:solidFill>
                      <a:schemeClr val="tx1"/>
                    </a:solidFill>
                  </a:rPr>
                  <a:t>the sample mean </a:t>
                </a:r>
                <a14:m>
                  <m:oMath xmlns:m="http://schemas.openxmlformats.org/officeDocument/2006/math">
                    <m:acc>
                      <m:accPr>
                        <m:chr m:val="̅"/>
                        <m:ctrlPr>
                          <a:rPr lang="en-US" altLang="en-US" i="1">
                            <a:solidFill>
                              <a:schemeClr val="tx1"/>
                            </a:solidFill>
                            <a:latin typeface="Cambria Math" panose="02040503050406030204" pitchFamily="18" charset="0"/>
                          </a:rPr>
                        </m:ctrlPr>
                      </m:accPr>
                      <m:e>
                        <m:r>
                          <a:rPr lang="en-US" altLang="en-US" i="1">
                            <a:solidFill>
                              <a:schemeClr val="tx1"/>
                            </a:solidFill>
                            <a:latin typeface="Cambria Math"/>
                          </a:rPr>
                          <m:t>𝑥</m:t>
                        </m:r>
                      </m:e>
                    </m:acc>
                  </m:oMath>
                </a14:m>
                <a:r>
                  <a:rPr lang="en-US" altLang="en-US" dirty="0">
                    <a:solidFill>
                      <a:schemeClr val="tx1"/>
                    </a:solidFill>
                  </a:rPr>
                  <a:t> is likely to be. All confidence intervals we construct will have a form like this:</a:t>
                </a:r>
              </a:p>
              <a:p>
                <a:pPr eaLnBrk="1" hangingPunct="1"/>
                <a:endParaRPr lang="en-US" altLang="en-US" b="1" dirty="0">
                  <a:solidFill>
                    <a:schemeClr val="tx1"/>
                  </a:solidFill>
                </a:endParaRPr>
              </a:p>
            </p:txBody>
          </p:sp>
        </mc:Choice>
        <mc:Fallback>
          <p:sp>
            <p:nvSpPr>
              <p:cNvPr id="37896" name="TextBox 1"/>
              <p:cNvSpPr txBox="1">
                <a:spLocks noRot="1" noChangeAspect="1" noMove="1" noResize="1" noEditPoints="1" noAdjustHandles="1" noChangeArrowheads="1" noChangeShapeType="1" noTextEdit="1"/>
              </p:cNvSpPr>
              <p:nvPr/>
            </p:nvSpPr>
            <p:spPr bwMode="auto">
              <a:xfrm>
                <a:off x="174625" y="1206500"/>
                <a:ext cx="8256587" cy="1323439"/>
              </a:xfrm>
              <a:prstGeom prst="rect">
                <a:avLst/>
              </a:prstGeom>
              <a:blipFill rotWithShape="0">
                <a:blip r:embed="rId2"/>
                <a:stretch>
                  <a:fillRect l="-812" t="-2304" r="-739"/>
                </a:stretch>
              </a:blipFill>
              <a:ln>
                <a:noFill/>
              </a:ln>
            </p:spPr>
            <p:txBody>
              <a:bodyPr/>
              <a:lstStyle/>
              <a:p>
                <a:r>
                  <a:rPr lang="en-US">
                    <a:noFill/>
                  </a:rPr>
                  <a:t> </a:t>
                </a:r>
              </a:p>
            </p:txBody>
          </p:sp>
        </mc:Fallback>
      </mc:AlternateContent>
      <p:sp>
        <p:nvSpPr>
          <p:cNvPr id="37894" name="Rectangle 1"/>
          <p:cNvSpPr>
            <a:spLocks noChangeArrowheads="1"/>
          </p:cNvSpPr>
          <p:nvPr/>
        </p:nvSpPr>
        <p:spPr bwMode="auto">
          <a:xfrm>
            <a:off x="2721683" y="2064546"/>
            <a:ext cx="345639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en-US" altLang="en-US" sz="2000" b="1" dirty="0">
                <a:highlight>
                  <a:srgbClr val="FFFF00"/>
                </a:highlight>
                <a:latin typeface="Palatino" charset="0"/>
              </a:rPr>
              <a:t>estimate </a:t>
            </a:r>
            <a:r>
              <a:rPr lang="en-US" altLang="en-US" sz="2000" dirty="0">
                <a:highlight>
                  <a:srgbClr val="FFFF00"/>
                </a:highlight>
                <a:latin typeface="Courier" charset="0"/>
              </a:rPr>
              <a:t>±</a:t>
            </a:r>
            <a:r>
              <a:rPr lang="en-US" altLang="en-US" sz="2000" b="1" dirty="0">
                <a:highlight>
                  <a:srgbClr val="FFFF00"/>
                </a:highlight>
                <a:latin typeface="Palatino" charset="0"/>
              </a:rPr>
              <a:t> margin of error</a:t>
            </a:r>
          </a:p>
        </p:txBody>
      </p:sp>
      <p:sp>
        <p:nvSpPr>
          <p:cNvPr id="13" name="TextBox 12"/>
          <p:cNvSpPr txBox="1">
            <a:spLocks noChangeArrowheads="1"/>
          </p:cNvSpPr>
          <p:nvPr/>
        </p:nvSpPr>
        <p:spPr bwMode="auto">
          <a:xfrm>
            <a:off x="174626" y="3019261"/>
            <a:ext cx="8256586" cy="2169825"/>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600"/>
              </a:spcAft>
              <a:buClrTx/>
              <a:buSzTx/>
              <a:buFontTx/>
              <a:buNone/>
              <a:defRPr/>
            </a:pPr>
            <a:r>
              <a:rPr lang="en-US" altLang="en-US" dirty="0">
                <a:solidFill>
                  <a:srgbClr val="000000"/>
                </a:solidFill>
              </a:rPr>
              <a:t>A </a:t>
            </a:r>
            <a:r>
              <a:rPr lang="en-US" altLang="en-US" b="1" dirty="0">
                <a:solidFill>
                  <a:schemeClr val="tx1"/>
                </a:solidFill>
              </a:rPr>
              <a:t>level </a:t>
            </a:r>
            <a:r>
              <a:rPr lang="en-US" altLang="en-US" b="1" i="1" dirty="0">
                <a:solidFill>
                  <a:schemeClr val="tx1"/>
                </a:solidFill>
              </a:rPr>
              <a:t>C</a:t>
            </a:r>
            <a:r>
              <a:rPr lang="en-US" altLang="en-US" dirty="0">
                <a:solidFill>
                  <a:schemeClr val="tx1"/>
                </a:solidFill>
              </a:rPr>
              <a:t> </a:t>
            </a:r>
            <a:r>
              <a:rPr lang="en-US" altLang="en-US" b="1" dirty="0">
                <a:solidFill>
                  <a:schemeClr val="tx1"/>
                </a:solidFill>
              </a:rPr>
              <a:t>confidence interval</a:t>
            </a:r>
            <a:r>
              <a:rPr lang="en-US" altLang="en-US" dirty="0">
                <a:solidFill>
                  <a:schemeClr val="tx1"/>
                </a:solidFill>
              </a:rPr>
              <a:t> </a:t>
            </a:r>
            <a:r>
              <a:rPr lang="en-US" altLang="en-US" dirty="0">
                <a:solidFill>
                  <a:srgbClr val="000000"/>
                </a:solidFill>
              </a:rPr>
              <a:t>for a parameter has two parts:</a:t>
            </a:r>
          </a:p>
          <a:p>
            <a:pPr eaLnBrk="1" hangingPunct="1">
              <a:spcBef>
                <a:spcPct val="0"/>
              </a:spcBef>
              <a:buSzTx/>
              <a:buFont typeface="Wingdings" panose="05000000000000000000" pitchFamily="2" charset="2"/>
              <a:buChar char="§"/>
              <a:defRPr/>
            </a:pPr>
            <a:r>
              <a:rPr lang="en-US" altLang="en-US" dirty="0">
                <a:solidFill>
                  <a:srgbClr val="000000"/>
                </a:solidFill>
              </a:rPr>
              <a:t> An </a:t>
            </a:r>
            <a:r>
              <a:rPr lang="en-US" altLang="en-US" b="1" dirty="0">
                <a:solidFill>
                  <a:schemeClr val="tx1"/>
                </a:solidFill>
              </a:rPr>
              <a:t>interval</a:t>
            </a:r>
            <a:r>
              <a:rPr lang="en-US" altLang="en-US" b="1" dirty="0">
                <a:solidFill>
                  <a:srgbClr val="800000"/>
                </a:solidFill>
              </a:rPr>
              <a:t> </a:t>
            </a:r>
            <a:r>
              <a:rPr lang="en-US" altLang="en-US" dirty="0">
                <a:solidFill>
                  <a:srgbClr val="000000"/>
                </a:solidFill>
              </a:rPr>
              <a:t>calculated from the data, which has the form</a:t>
            </a:r>
          </a:p>
          <a:p>
            <a:pPr algn="ctr" eaLnBrk="1" hangingPunct="1">
              <a:spcBef>
                <a:spcPts val="600"/>
              </a:spcBef>
              <a:spcAft>
                <a:spcPts val="600"/>
              </a:spcAft>
              <a:buClrTx/>
              <a:buSzTx/>
              <a:buFontTx/>
              <a:buNone/>
              <a:defRPr/>
            </a:pPr>
            <a:r>
              <a:rPr lang="en-US" altLang="en-US" dirty="0">
                <a:solidFill>
                  <a:srgbClr val="000000"/>
                </a:solidFill>
              </a:rPr>
              <a:t>estimate </a:t>
            </a:r>
            <a:r>
              <a:rPr lang="en-US" altLang="en-US" dirty="0">
                <a:solidFill>
                  <a:srgbClr val="000000"/>
                </a:solidFill>
                <a:latin typeface="Courier" charset="0"/>
              </a:rPr>
              <a:t>±</a:t>
            </a:r>
            <a:r>
              <a:rPr lang="en-US" altLang="en-US" dirty="0">
                <a:solidFill>
                  <a:srgbClr val="000000"/>
                </a:solidFill>
              </a:rPr>
              <a:t> margin of error</a:t>
            </a:r>
          </a:p>
          <a:p>
            <a:pPr algn="just" eaLnBrk="1" hangingPunct="1">
              <a:spcBef>
                <a:spcPct val="0"/>
              </a:spcBef>
              <a:buSzTx/>
              <a:buFont typeface="Wingdings" panose="05000000000000000000" pitchFamily="2" charset="2"/>
              <a:buChar char="§"/>
              <a:defRPr/>
            </a:pPr>
            <a:r>
              <a:rPr lang="en-US" altLang="en-US" dirty="0">
                <a:solidFill>
                  <a:srgbClr val="000000"/>
                </a:solidFill>
              </a:rPr>
              <a:t> A </a:t>
            </a:r>
            <a:r>
              <a:rPr lang="en-US" altLang="en-US" b="1" dirty="0">
                <a:solidFill>
                  <a:schemeClr val="tx1"/>
                </a:solidFill>
              </a:rPr>
              <a:t>confidence level </a:t>
            </a:r>
            <a:r>
              <a:rPr lang="en-US" altLang="en-US" b="1" i="1" dirty="0">
                <a:solidFill>
                  <a:schemeClr val="tx1"/>
                </a:solidFill>
              </a:rPr>
              <a:t>C</a:t>
            </a:r>
            <a:r>
              <a:rPr lang="en-US" altLang="en-US" dirty="0">
                <a:solidFill>
                  <a:schemeClr val="tx1"/>
                </a:solidFill>
              </a:rPr>
              <a:t>,</a:t>
            </a:r>
            <a:r>
              <a:rPr lang="en-US" altLang="en-US" dirty="0">
                <a:solidFill>
                  <a:srgbClr val="000000"/>
                </a:solidFill>
              </a:rPr>
              <a:t> where </a:t>
            </a:r>
            <a:r>
              <a:rPr lang="en-US" altLang="en-US" i="1" dirty="0">
                <a:solidFill>
                  <a:srgbClr val="000000"/>
                </a:solidFill>
              </a:rPr>
              <a:t>C</a:t>
            </a:r>
            <a:r>
              <a:rPr lang="en-US" altLang="en-US" dirty="0">
                <a:solidFill>
                  <a:srgbClr val="000000"/>
                </a:solidFill>
              </a:rPr>
              <a:t> is the probability that the interval will capture the true parameter value in repeated samples. That is, </a:t>
            </a:r>
            <a:r>
              <a:rPr lang="en-US" altLang="en-US" dirty="0">
                <a:solidFill>
                  <a:srgbClr val="C00000"/>
                </a:solidFill>
              </a:rPr>
              <a:t>t</a:t>
            </a:r>
            <a:r>
              <a:rPr lang="en-US" altLang="en-US" dirty="0">
                <a:solidFill>
                  <a:schemeClr val="tx1"/>
                </a:solidFill>
              </a:rPr>
              <a:t>he confidence level is the success rate for the method.</a:t>
            </a:r>
            <a:endParaRPr lang="en-US" altLang="en-US" sz="2400" dirty="0">
              <a:solidFill>
                <a:schemeClr val="tx1"/>
              </a:solidFill>
            </a:endParaRPr>
          </a:p>
        </p:txBody>
      </p:sp>
      <p:sp>
        <p:nvSpPr>
          <p:cNvPr id="15" name="TextBox 14"/>
          <p:cNvSpPr txBox="1">
            <a:spLocks noChangeArrowheads="1"/>
          </p:cNvSpPr>
          <p:nvPr/>
        </p:nvSpPr>
        <p:spPr bwMode="auto">
          <a:xfrm>
            <a:off x="188119" y="5436875"/>
            <a:ext cx="8321675" cy="1016000"/>
          </a:xfrm>
          <a:prstGeom prst="rect">
            <a:avLst/>
          </a:prstGeom>
          <a:solidFill>
            <a:srgbClr val="FFD780"/>
          </a:solidFill>
          <a:ln>
            <a:noFill/>
          </a:ln>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just" eaLnBrk="1" hangingPunct="1"/>
            <a:r>
              <a:rPr lang="en-US" altLang="en-US" b="1" dirty="0">
                <a:solidFill>
                  <a:schemeClr val="tx1"/>
                </a:solidFill>
                <a:highlight>
                  <a:srgbClr val="FFFF00"/>
                </a:highlight>
              </a:rPr>
              <a:t>Note:</a:t>
            </a:r>
            <a:r>
              <a:rPr lang="en-US" altLang="en-US" dirty="0">
                <a:solidFill>
                  <a:schemeClr val="tx1"/>
                </a:solidFill>
              </a:rPr>
              <a:t> It is typical to choose a confidence level of 90% or higher because we want to be quite sure of our conclusions. The most common confidence level is 95%.</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a:xfrm>
            <a:off x="174625" y="156604"/>
            <a:ext cx="7772400" cy="1143000"/>
          </a:xfrm>
        </p:spPr>
        <p:txBody>
          <a:bodyPr/>
          <a:lstStyle/>
          <a:p>
            <a:pPr eaLnBrk="1" hangingPunct="1">
              <a:lnSpc>
                <a:spcPct val="90000"/>
              </a:lnSpc>
            </a:pPr>
            <a:r>
              <a:rPr lang="en-US" altLang="en-US" dirty="0">
                <a:ea typeface="ＭＳ Ｐゴシック" pitchFamily="34" charset="-128"/>
              </a:rPr>
              <a:t>Confidence Interval for a Population Mean</a:t>
            </a:r>
            <a:endParaRPr lang="en-US" altLang="en-US" sz="2400" dirty="0">
              <a:solidFill>
                <a:srgbClr val="33CCFF"/>
              </a:solidFill>
              <a:ea typeface="ＭＳ Ｐゴシック" pitchFamily="34" charset="-128"/>
            </a:endParaRPr>
          </a:p>
        </p:txBody>
      </p:sp>
      <p:sp>
        <p:nvSpPr>
          <p:cNvPr id="3891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F626F404-530C-49F4-B6EE-113BBF8D89B4}" type="slidenum">
              <a:rPr lang="en-US" altLang="en-US" sz="1200">
                <a:solidFill>
                  <a:schemeClr val="accent1"/>
                </a:solidFill>
              </a:rPr>
              <a:pPr>
                <a:lnSpc>
                  <a:spcPct val="80000"/>
                </a:lnSpc>
              </a:pPr>
              <a:t>12</a:t>
            </a:fld>
            <a:endParaRPr lang="en-US" altLang="en-US" sz="1200">
              <a:solidFill>
                <a:schemeClr val="accent1"/>
              </a:solidFill>
            </a:endParaRPr>
          </a:p>
        </p:txBody>
      </p:sp>
      <p:sp>
        <p:nvSpPr>
          <p:cNvPr id="38916" name="Rectangle 1"/>
          <p:cNvSpPr>
            <a:spLocks noChangeArrowheads="1"/>
          </p:cNvSpPr>
          <p:nvPr/>
        </p:nvSpPr>
        <p:spPr bwMode="auto">
          <a:xfrm>
            <a:off x="174625" y="1312628"/>
            <a:ext cx="84582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Font typeface="Wingdings" pitchFamily="2" charset="2"/>
              <a:buNone/>
            </a:pPr>
            <a:r>
              <a:rPr lang="en-US" altLang="en-US" dirty="0">
                <a:solidFill>
                  <a:srgbClr val="000000"/>
                </a:solidFill>
              </a:rPr>
              <a:t>Previously, we estimated the </a:t>
            </a:r>
            <a:r>
              <a:rPr lang="ja-JP" altLang="en-US" dirty="0">
                <a:solidFill>
                  <a:srgbClr val="000000"/>
                </a:solidFill>
              </a:rPr>
              <a:t>“</a:t>
            </a:r>
            <a:r>
              <a:rPr lang="en-US" altLang="ja-JP" dirty="0">
                <a:solidFill>
                  <a:srgbClr val="000000"/>
                </a:solidFill>
              </a:rPr>
              <a:t>mystery mean</a:t>
            </a:r>
            <a:r>
              <a:rPr lang="ja-JP" altLang="en-US" dirty="0">
                <a:solidFill>
                  <a:srgbClr val="000000"/>
                </a:solidFill>
              </a:rPr>
              <a:t>”</a:t>
            </a:r>
            <a:r>
              <a:rPr lang="en-US" altLang="ja-JP" dirty="0">
                <a:solidFill>
                  <a:srgbClr val="000000"/>
                </a:solidFill>
              </a:rPr>
              <a:t> </a:t>
            </a:r>
            <a:r>
              <a:rPr lang="en-US" altLang="ja-JP" i="1" dirty="0">
                <a:solidFill>
                  <a:srgbClr val="000000"/>
                </a:solidFill>
              </a:rPr>
              <a:t>µ</a:t>
            </a:r>
            <a:r>
              <a:rPr lang="en-US" altLang="ja-JP" dirty="0">
                <a:solidFill>
                  <a:srgbClr val="000000"/>
                </a:solidFill>
              </a:rPr>
              <a:t> by constructing a confidence interval using the sample mean</a:t>
            </a:r>
            <a:r>
              <a:rPr lang="en-US" altLang="ja-JP" i="1" dirty="0">
                <a:solidFill>
                  <a:srgbClr val="000000"/>
                </a:solidFill>
                <a:latin typeface="Palatino" charset="0"/>
              </a:rPr>
              <a:t> </a:t>
            </a:r>
            <a:r>
              <a:rPr lang="en-US" altLang="ja-JP" dirty="0">
                <a:solidFill>
                  <a:srgbClr val="000000"/>
                </a:solidFill>
              </a:rPr>
              <a:t>= 240.79.</a:t>
            </a:r>
            <a:endParaRPr lang="en-US" altLang="en-US" i="1" dirty="0">
              <a:solidFill>
                <a:srgbClr val="000000"/>
              </a:solidFill>
              <a:latin typeface="Palatino" charset="0"/>
            </a:endParaRPr>
          </a:p>
        </p:txBody>
      </p:sp>
      <p:sp>
        <p:nvSpPr>
          <p:cNvPr id="5" name="TextBox 5"/>
          <p:cNvSpPr txBox="1">
            <a:spLocks noChangeArrowheads="1"/>
          </p:cNvSpPr>
          <p:nvPr/>
        </p:nvSpPr>
        <p:spPr bwMode="auto">
          <a:xfrm>
            <a:off x="174625" y="1892333"/>
            <a:ext cx="78422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sz="1800" dirty="0">
                <a:solidFill>
                  <a:schemeClr val="tx1"/>
                </a:solidFill>
              </a:rPr>
              <a:t>To calculate a 95% confidence interval for </a:t>
            </a:r>
            <a:r>
              <a:rPr lang="en-US" altLang="en-US" sz="1800" i="1" dirty="0">
                <a:solidFill>
                  <a:schemeClr val="tx1"/>
                </a:solidFill>
              </a:rPr>
              <a:t>µ</a:t>
            </a:r>
            <a:r>
              <a:rPr lang="en-US" altLang="en-US" sz="1800" dirty="0">
                <a:solidFill>
                  <a:schemeClr val="tx1"/>
                </a:solidFill>
              </a:rPr>
              <a:t>, we use the following formula:</a:t>
            </a:r>
          </a:p>
          <a:p>
            <a:pPr algn="ctr" eaLnBrk="1" hangingPunct="1"/>
            <a:r>
              <a:rPr lang="en-US" altLang="en-US" sz="1800" dirty="0">
                <a:solidFill>
                  <a:schemeClr val="tx1"/>
                </a:solidFill>
              </a:rPr>
              <a:t>estimate ± (critical value) • (standard deviation of statistic)</a:t>
            </a:r>
          </a:p>
        </p:txBody>
      </p:sp>
      <p:pic>
        <p:nvPicPr>
          <p:cNvPr id="7" name="Picture 6" descr="The Graph shows the sampling distribution of sample mean &quot;x bar&quot;. The X-axis depicts value of Sample mean &quot;x bar&quot; and the median depicts the unknown population mean &quot;mew&quot;.  Standard deviation of the sampling distribution of the mean is depicted as &quot;5&quot; by the formula: Population standard deviation &quot;sigma&quot; divided by square root of sample size."/>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38446" y="2534444"/>
            <a:ext cx="3319463" cy="217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Object 2" descr="The image shows mathematical calculations given as: x bar plus minus z asterisk multiplied by sigma divide square root n, which is equal to 240.79 plus minus 1.96 multiplied by 20 divide square root 16. The expression is further equals to 240.79 plus minus 9.8, equals to bracket open 230.99 comma 250.59 bracket close."/>
          <p:cNvGraphicFramePr>
            <a:graphicFrameLocks noChangeAspect="1"/>
          </p:cNvGraphicFramePr>
          <p:nvPr>
            <p:extLst>
              <p:ext uri="{D42A27DB-BD31-4B8C-83A1-F6EECF244321}">
                <p14:modId xmlns:p14="http://schemas.microsoft.com/office/powerpoint/2010/main" val="501545894"/>
              </p:ext>
            </p:extLst>
          </p:nvPr>
        </p:nvGraphicFramePr>
        <p:xfrm>
          <a:off x="4403725" y="2901390"/>
          <a:ext cx="3338513" cy="1347788"/>
        </p:xfrm>
        <a:graphic>
          <a:graphicData uri="http://schemas.openxmlformats.org/presentationml/2006/ole">
            <mc:AlternateContent xmlns:mc="http://schemas.openxmlformats.org/markup-compatibility/2006">
              <mc:Choice xmlns:v="urn:schemas-microsoft-com:vml" Requires="v">
                <p:oleObj spid="_x0000_s39027" name="Equation" r:id="rId4" imgW="2044700" imgH="825500" progId="Equation.3">
                  <p:embed/>
                </p:oleObj>
              </mc:Choice>
              <mc:Fallback>
                <p:oleObj name="Equation" r:id="rId4" imgW="2044700" imgH="825500" progId="Equation.3">
                  <p:embed/>
                  <p:pic>
                    <p:nvPicPr>
                      <p:cNvPr id="0" name="Object 2" descr="The image shows mathematical calculations given as: x bar plus minus z asterisk multiplied by sigma divide square root n, which is equal to 240.79 plus minus 1.96 multiplied by 20 divide square root 16. The expression is further equals to 240.79 plus minus 9.8, equals to bracket open 230.99 comma 250.59 bracket clos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03725" y="2901390"/>
                        <a:ext cx="3338513" cy="1347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2" name="Group 9" descr="Confidence Interval for the Mean of a Normal Population"/>
          <p:cNvGrpSpPr>
            <a:grpSpLocks/>
          </p:cNvGrpSpPr>
          <p:nvPr/>
        </p:nvGrpSpPr>
        <p:grpSpPr bwMode="auto">
          <a:xfrm>
            <a:off x="695325" y="4734410"/>
            <a:ext cx="7754938" cy="1931665"/>
            <a:chOff x="478959" y="2761541"/>
            <a:chExt cx="7754947" cy="1766638"/>
          </a:xfrm>
        </p:grpSpPr>
        <p:sp>
          <p:nvSpPr>
            <p:cNvPr id="10" name="TextBox 9"/>
            <p:cNvSpPr txBox="1">
              <a:spLocks noChangeArrowheads="1"/>
            </p:cNvSpPr>
            <p:nvPr/>
          </p:nvSpPr>
          <p:spPr bwMode="auto">
            <a:xfrm>
              <a:off x="1645773" y="2761541"/>
              <a:ext cx="5421318" cy="534816"/>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spAutoFit/>
            </a:bodyPr>
            <a:lstStyle/>
            <a:p>
              <a:pPr algn="ctr" eaLnBrk="1" hangingPunct="1">
                <a:defRPr/>
              </a:pPr>
              <a:r>
                <a:rPr lang="en-US" sz="1600" b="1" dirty="0">
                  <a:solidFill>
                    <a:srgbClr val="FF0000"/>
                  </a:solidFill>
                  <a:highlight>
                    <a:srgbClr val="FFFF00"/>
                  </a:highlight>
                  <a:latin typeface="+mn-lt"/>
                  <a:ea typeface="ＭＳ Ｐゴシック" charset="-128"/>
                  <a:cs typeface="ＭＳ Ｐゴシック" charset="-128"/>
                </a:rPr>
                <a:t>Confidence Interval for the Mean of a Normal Population</a:t>
              </a:r>
            </a:p>
          </p:txBody>
        </p:sp>
        <mc:AlternateContent xmlns:mc="http://schemas.openxmlformats.org/markup-compatibility/2006">
          <mc:Choice xmlns:a14="http://schemas.microsoft.com/office/drawing/2010/main" Requires="a14">
            <p:sp>
              <p:nvSpPr>
                <p:cNvPr id="9" name="TextBox 8"/>
                <p:cNvSpPr txBox="1">
                  <a:spLocks noChangeArrowheads="1"/>
                </p:cNvSpPr>
                <p:nvPr/>
              </p:nvSpPr>
              <p:spPr bwMode="auto">
                <a:xfrm>
                  <a:off x="478959" y="2762874"/>
                  <a:ext cx="7754947" cy="1765305"/>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anchor="b">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1200"/>
                    </a:spcAft>
                    <a:buClrTx/>
                    <a:buSzTx/>
                    <a:buFontTx/>
                    <a:buNone/>
                    <a:defRPr/>
                  </a:pPr>
                  <a:r>
                    <a:rPr lang="en-US" altLang="en-US" sz="1800" dirty="0">
                      <a:solidFill>
                        <a:srgbClr val="000000"/>
                      </a:solidFill>
                    </a:rPr>
                    <a:t>Choose an SRS of size </a:t>
                  </a:r>
                  <a:r>
                    <a:rPr lang="en-US" altLang="en-US" sz="1800" i="1" dirty="0">
                      <a:solidFill>
                        <a:srgbClr val="000000"/>
                      </a:solidFill>
                    </a:rPr>
                    <a:t>n</a:t>
                  </a:r>
                  <a:r>
                    <a:rPr lang="en-US" altLang="en-US" sz="1800" dirty="0">
                      <a:solidFill>
                        <a:srgbClr val="000000"/>
                      </a:solidFill>
                    </a:rPr>
                    <a:t> from a population having unknown mean </a:t>
                  </a:r>
                  <a:r>
                    <a:rPr lang="en-US" altLang="en-US" sz="1800" i="1" dirty="0">
                      <a:solidFill>
                        <a:srgbClr val="000000"/>
                      </a:solidFill>
                    </a:rPr>
                    <a:t>µ</a:t>
                  </a:r>
                  <a:r>
                    <a:rPr lang="en-US" altLang="en-US" sz="1800" dirty="0">
                      <a:solidFill>
                        <a:srgbClr val="000000"/>
                      </a:solidFill>
                    </a:rPr>
                    <a:t> and known standard deviation </a:t>
                  </a:r>
                  <a:r>
                    <a:rPr lang="en-US" altLang="en-US" sz="1800" i="1" dirty="0">
                      <a:solidFill>
                        <a:srgbClr val="000000"/>
                      </a:solidFill>
                    </a:rPr>
                    <a:t>σ</a:t>
                  </a:r>
                  <a:r>
                    <a:rPr lang="en-US" altLang="en-US" sz="1800" dirty="0">
                      <a:solidFill>
                        <a:srgbClr val="000000"/>
                      </a:solidFill>
                    </a:rPr>
                    <a:t>. A level </a:t>
                  </a:r>
                  <a:r>
                    <a:rPr lang="en-US" altLang="en-US" sz="1800" b="1" i="1" dirty="0" smtClean="0">
                      <a:solidFill>
                        <a:schemeClr val="tx1"/>
                      </a:solidFill>
                    </a:rPr>
                    <a:t>C</a:t>
                  </a:r>
                  <a:r>
                    <a:rPr lang="en-US" altLang="en-US" sz="1800" b="1" dirty="0">
                      <a:solidFill>
                        <a:schemeClr val="tx1"/>
                      </a:solidFill>
                    </a:rPr>
                    <a:t> confidence interval for </a:t>
                  </a:r>
                  <a:r>
                    <a:rPr lang="en-US" altLang="en-US" sz="1800" b="1" i="1" dirty="0">
                      <a:solidFill>
                        <a:schemeClr val="tx1"/>
                      </a:solidFill>
                    </a:rPr>
                    <a:t>µ</a:t>
                  </a:r>
                  <a:r>
                    <a:rPr lang="en-US" altLang="en-US" sz="1800" b="1" dirty="0">
                      <a:solidFill>
                        <a:schemeClr val="tx1"/>
                      </a:solidFill>
                    </a:rPr>
                    <a:t> </a:t>
                  </a:r>
                  <a:r>
                    <a:rPr lang="en-US" altLang="en-US" sz="1800" dirty="0">
                      <a:solidFill>
                        <a:schemeClr val="tx1"/>
                      </a:solidFill>
                    </a:rPr>
                    <a:t>is </a:t>
                  </a:r>
                </a:p>
                <a:p>
                  <a:pPr eaLnBrk="1" hangingPunct="1">
                    <a:spcBef>
                      <a:spcPct val="0"/>
                    </a:spcBef>
                    <a:spcAft>
                      <a:spcPts val="1200"/>
                    </a:spcAft>
                    <a:buClrTx/>
                    <a:buSzTx/>
                    <a:buFontTx/>
                    <a:buNone/>
                    <a:defRPr/>
                  </a:pPr>
                  <a14:m>
                    <m:oMathPara xmlns:m="http://schemas.openxmlformats.org/officeDocument/2006/math">
                      <m:oMathParaPr>
                        <m:jc m:val="centerGroup"/>
                      </m:oMathParaPr>
                      <m:oMath xmlns:m="http://schemas.openxmlformats.org/officeDocument/2006/math">
                        <m:acc>
                          <m:accPr>
                            <m:chr m:val="̅"/>
                            <m:ctrlPr>
                              <a:rPr lang="en-US" altLang="en-US" sz="2400" i="1" smtClean="0">
                                <a:solidFill>
                                  <a:schemeClr val="tx1"/>
                                </a:solidFill>
                                <a:latin typeface="Cambria Math" panose="02040503050406030204" pitchFamily="18" charset="0"/>
                              </a:rPr>
                            </m:ctrlPr>
                          </m:accPr>
                          <m:e>
                            <m:r>
                              <a:rPr lang="en-US" altLang="en-US" sz="2400" b="0" i="1" smtClean="0">
                                <a:solidFill>
                                  <a:schemeClr val="tx1"/>
                                </a:solidFill>
                                <a:latin typeface="Cambria Math" panose="02040503050406030204" pitchFamily="18" charset="0"/>
                              </a:rPr>
                              <m:t>𝑥</m:t>
                            </m:r>
                          </m:e>
                        </m:acc>
                        <m:r>
                          <a:rPr lang="en-US" altLang="en-US" sz="2400" i="1" smtClean="0">
                            <a:solidFill>
                              <a:schemeClr val="tx1"/>
                            </a:solidFill>
                            <a:latin typeface="Cambria Math" panose="02040503050406030204" pitchFamily="18" charset="0"/>
                            <a:ea typeface="Cambria Math" panose="02040503050406030204" pitchFamily="18" charset="0"/>
                          </a:rPr>
                          <m:t>±</m:t>
                        </m:r>
                        <m:sSup>
                          <m:sSupPr>
                            <m:ctrlPr>
                              <a:rPr lang="en-US" altLang="en-US" sz="2400" i="1" smtClean="0">
                                <a:solidFill>
                                  <a:schemeClr val="tx1"/>
                                </a:solidFill>
                                <a:latin typeface="Cambria Math" panose="02040503050406030204" pitchFamily="18" charset="0"/>
                                <a:ea typeface="Cambria Math" panose="02040503050406030204" pitchFamily="18" charset="0"/>
                              </a:rPr>
                            </m:ctrlPr>
                          </m:sSupPr>
                          <m:e>
                            <m:r>
                              <a:rPr lang="en-US" altLang="en-US" sz="2400" b="0" i="1" smtClean="0">
                                <a:solidFill>
                                  <a:schemeClr val="tx1"/>
                                </a:solidFill>
                                <a:latin typeface="Cambria Math" panose="02040503050406030204" pitchFamily="18" charset="0"/>
                                <a:ea typeface="Cambria Math" panose="02040503050406030204" pitchFamily="18" charset="0"/>
                              </a:rPr>
                              <m:t>𝑧</m:t>
                            </m:r>
                          </m:e>
                          <m:sup>
                            <m:r>
                              <a:rPr lang="en-US" altLang="en-US" sz="2400" b="0" i="1" smtClean="0">
                                <a:solidFill>
                                  <a:schemeClr val="tx1"/>
                                </a:solidFill>
                                <a:latin typeface="Cambria Math" panose="02040503050406030204" pitchFamily="18" charset="0"/>
                                <a:ea typeface="Cambria Math" panose="02040503050406030204" pitchFamily="18" charset="0"/>
                              </a:rPr>
                              <m:t>∗</m:t>
                            </m:r>
                          </m:sup>
                        </m:sSup>
                        <m:f>
                          <m:fPr>
                            <m:ctrlPr>
                              <a:rPr lang="en-US" altLang="en-US" sz="2400" i="1" smtClean="0">
                                <a:solidFill>
                                  <a:schemeClr val="tx1"/>
                                </a:solidFill>
                                <a:latin typeface="Cambria Math" panose="02040503050406030204" pitchFamily="18" charset="0"/>
                                <a:ea typeface="Cambria Math" panose="02040503050406030204" pitchFamily="18" charset="0"/>
                              </a:rPr>
                            </m:ctrlPr>
                          </m:fPr>
                          <m:num>
                            <m:r>
                              <a:rPr lang="en-US" altLang="en-US" sz="2400" i="1" smtClean="0">
                                <a:solidFill>
                                  <a:schemeClr val="tx1"/>
                                </a:solidFill>
                                <a:latin typeface="Cambria Math" panose="02040503050406030204" pitchFamily="18" charset="0"/>
                                <a:ea typeface="Cambria Math" panose="02040503050406030204" pitchFamily="18" charset="0"/>
                              </a:rPr>
                              <m:t>𝜎</m:t>
                            </m:r>
                          </m:num>
                          <m:den>
                            <m:rad>
                              <m:radPr>
                                <m:degHide m:val="on"/>
                                <m:ctrlPr>
                                  <a:rPr lang="en-US" altLang="en-US" sz="2400" i="1" smtClean="0">
                                    <a:solidFill>
                                      <a:schemeClr val="tx1"/>
                                    </a:solidFill>
                                    <a:latin typeface="Cambria Math" panose="02040503050406030204" pitchFamily="18" charset="0"/>
                                    <a:ea typeface="Cambria Math" panose="02040503050406030204" pitchFamily="18" charset="0"/>
                                  </a:rPr>
                                </m:ctrlPr>
                              </m:radPr>
                              <m:deg/>
                              <m:e>
                                <m:r>
                                  <a:rPr lang="en-US" altLang="en-US" sz="2400" b="0" i="1" smtClean="0">
                                    <a:solidFill>
                                      <a:schemeClr val="tx1"/>
                                    </a:solidFill>
                                    <a:latin typeface="Cambria Math" panose="02040503050406030204" pitchFamily="18" charset="0"/>
                                    <a:ea typeface="Cambria Math" panose="02040503050406030204" pitchFamily="18" charset="0"/>
                                  </a:rPr>
                                  <m:t>𝑛</m:t>
                                </m:r>
                              </m:e>
                            </m:rad>
                          </m:den>
                        </m:f>
                      </m:oMath>
                    </m:oMathPara>
                  </a14:m>
                  <a:endParaRPr lang="en-US" altLang="en-US" sz="2400" dirty="0">
                    <a:solidFill>
                      <a:srgbClr val="000000"/>
                    </a:solidFill>
                  </a:endParaRPr>
                </a:p>
                <a:p>
                  <a:pPr eaLnBrk="1" hangingPunct="1">
                    <a:spcBef>
                      <a:spcPct val="0"/>
                    </a:spcBef>
                    <a:spcAft>
                      <a:spcPts val="1200"/>
                    </a:spcAft>
                    <a:buClrTx/>
                    <a:buSzTx/>
                    <a:buFontTx/>
                    <a:buNone/>
                    <a:defRPr/>
                  </a:pPr>
                  <a:r>
                    <a:rPr lang="en-US" altLang="en-US" sz="1800" dirty="0">
                      <a:solidFill>
                        <a:srgbClr val="000000"/>
                      </a:solidFill>
                    </a:rPr>
                    <a:t>The critical value </a:t>
                  </a:r>
                  <a:r>
                    <a:rPr lang="en-US" altLang="en-US" sz="1800" i="1" dirty="0">
                      <a:solidFill>
                        <a:srgbClr val="000000"/>
                      </a:solidFill>
                    </a:rPr>
                    <a:t>z*</a:t>
                  </a:r>
                  <a:r>
                    <a:rPr lang="en-US" altLang="en-US" sz="1800" dirty="0">
                      <a:solidFill>
                        <a:srgbClr val="000000"/>
                      </a:solidFill>
                    </a:rPr>
                    <a:t> is found from the standard Normal distribution.</a:t>
                  </a:r>
                </a:p>
              </p:txBody>
            </p:sp>
          </mc:Choice>
          <mc:Fallback>
            <p:sp>
              <p:nvSpPr>
                <p:cNvPr id="9" name="TextBox 8"/>
                <p:cNvSpPr txBox="1">
                  <a:spLocks noRot="1" noChangeAspect="1" noMove="1" noResize="1" noEditPoints="1" noAdjustHandles="1" noChangeArrowheads="1" noChangeShapeType="1" noTextEdit="1"/>
                </p:cNvSpPr>
                <p:nvPr/>
              </p:nvSpPr>
              <p:spPr bwMode="auto">
                <a:xfrm>
                  <a:off x="478959" y="2762874"/>
                  <a:ext cx="7754947" cy="1765305"/>
                </a:xfrm>
                <a:prstGeom prst="rect">
                  <a:avLst/>
                </a:prstGeom>
                <a:blipFill rotWithShape="0">
                  <a:blip r:embed="rId6"/>
                  <a:stretch>
                    <a:fillRect/>
                  </a:stretch>
                </a:blipFill>
                <a:ln w="10000">
                  <a:solidFill>
                    <a:srgbClr val="D2DA7A"/>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5"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1000" fill="hold"/>
                                        <p:tgtEl>
                                          <p:spTgt spid="7"/>
                                        </p:tgtEl>
                                        <p:attrNameLst>
                                          <p:attrName>ppt_w</p:attrName>
                                        </p:attrNameLst>
                                      </p:cBhvr>
                                      <p:tavLst>
                                        <p:tav tm="0">
                                          <p:val>
                                            <p:fltVal val="0"/>
                                          </p:val>
                                        </p:tav>
                                        <p:tav tm="100000">
                                          <p:val>
                                            <p:strVal val="#ppt_w"/>
                                          </p:val>
                                        </p:tav>
                                      </p:tavLst>
                                    </p:anim>
                                    <p:anim calcmode="lin" valueType="num">
                                      <p:cBhvr>
                                        <p:cTn id="13" dur="1000" fill="hold"/>
                                        <p:tgtEl>
                                          <p:spTgt spid="7"/>
                                        </p:tgtEl>
                                        <p:attrNameLst>
                                          <p:attrName>ppt_h</p:attrName>
                                        </p:attrNameLst>
                                      </p:cBhvr>
                                      <p:tavLst>
                                        <p:tav tm="0">
                                          <p:val>
                                            <p:fltVal val="0"/>
                                          </p:val>
                                        </p:tav>
                                        <p:tav tm="100000">
                                          <p:val>
                                            <p:strVal val="#ppt_h"/>
                                          </p:val>
                                        </p:tav>
                                      </p:tavLst>
                                    </p:anim>
                                    <p:anim calcmode="lin" valueType="num">
                                      <p:cBhvr>
                                        <p:cTn id="14" dur="1000" fill="hold"/>
                                        <p:tgtEl>
                                          <p:spTgt spid="7"/>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7"/>
                                        </p:tgtEl>
                                        <p:attrNameLst>
                                          <p:attrName>ppt_y</p:attrName>
                                        </p:attrNameLst>
                                      </p:cBhvr>
                                      <p:tavLst>
                                        <p:tav tm="0" fmla="#ppt_y+(sin(-2*pi*(1-$))*-#ppt_x+cos(-2*pi*(1-$))*(1-#ppt_y))*(1-$)">
                                          <p:val>
                                            <p:fltVal val="0"/>
                                          </p:val>
                                        </p:tav>
                                        <p:tav tm="100000">
                                          <p:val>
                                            <p:fltVal val="1"/>
                                          </p:val>
                                        </p:tav>
                                      </p:tavLst>
                                    </p:anim>
                                  </p:childTnLst>
                                </p:cTn>
                              </p:par>
                            </p:childTnLst>
                          </p:cTn>
                        </p:par>
                        <p:par>
                          <p:cTn id="16" fill="hold" nodeType="afterGroup">
                            <p:stCondLst>
                              <p:cond delay="1000"/>
                            </p:stCondLst>
                            <p:childTnLst>
                              <p:par>
                                <p:cTn id="17" presetID="10" presetClass="entr" presetSubtype="0"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ntr" presetSubtype="0"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4"/>
          <p:cNvSpPr>
            <a:spLocks noGrp="1" noChangeArrowheads="1"/>
          </p:cNvSpPr>
          <p:nvPr>
            <p:ph type="title"/>
          </p:nvPr>
        </p:nvSpPr>
        <p:spPr/>
        <p:txBody>
          <a:bodyPr/>
          <a:lstStyle/>
          <a:p>
            <a:pPr eaLnBrk="1" hangingPunct="1">
              <a:lnSpc>
                <a:spcPct val="110000"/>
              </a:lnSpc>
            </a:pPr>
            <a:r>
              <a:rPr lang="en-US" altLang="en-US" dirty="0">
                <a:ea typeface="ＭＳ Ｐゴシック" pitchFamily="34" charset="-128"/>
              </a:rPr>
              <a:t>Finding Specific </a:t>
            </a:r>
            <a:r>
              <a:rPr lang="en-US" altLang="en-US" i="1" dirty="0">
                <a:ea typeface="ＭＳ Ｐゴシック" pitchFamily="34" charset="-128"/>
              </a:rPr>
              <a:t>z</a:t>
            </a:r>
            <a:r>
              <a:rPr lang="en-US" altLang="en-US" dirty="0">
                <a:ea typeface="ＭＳ Ｐゴシック" pitchFamily="34" charset="-128"/>
              </a:rPr>
              <a:t>*-Values</a:t>
            </a:r>
          </a:p>
        </p:txBody>
      </p:sp>
      <p:sp>
        <p:nvSpPr>
          <p:cNvPr id="39944" name="Slide Number Placeholder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23AA30F3-8695-49A7-9FED-3AEB6DD80D62}" type="slidenum">
              <a:rPr lang="en-US" altLang="en-US" sz="1400">
                <a:solidFill>
                  <a:schemeClr val="accent1"/>
                </a:solidFill>
              </a:rPr>
              <a:pPr/>
              <a:t>13</a:t>
            </a:fld>
            <a:endParaRPr lang="en-US" altLang="en-US" sz="1400" dirty="0">
              <a:solidFill>
                <a:schemeClr val="accent1"/>
              </a:solidFill>
            </a:endParaRPr>
          </a:p>
        </p:txBody>
      </p:sp>
      <p:sp>
        <p:nvSpPr>
          <p:cNvPr id="39940" name="Rectangle 5"/>
          <p:cNvSpPr>
            <a:spLocks noGrp="1" noChangeArrowheads="1"/>
          </p:cNvSpPr>
          <p:nvPr>
            <p:ph type="body" sz="half" idx="4294967295"/>
          </p:nvPr>
        </p:nvSpPr>
        <p:spPr>
          <a:xfrm>
            <a:off x="174625" y="1304925"/>
            <a:ext cx="8588375" cy="772639"/>
          </a:xfrm>
        </p:spPr>
        <p:txBody>
          <a:bodyPr/>
          <a:lstStyle/>
          <a:p>
            <a:pPr marL="0" indent="0" eaLnBrk="1" hangingPunct="1">
              <a:buFont typeface="Wingdings" pitchFamily="2" charset="2"/>
              <a:buNone/>
            </a:pPr>
            <a:r>
              <a:rPr lang="en-US" altLang="en-US" dirty="0">
                <a:solidFill>
                  <a:srgbClr val="0D0D0D"/>
                </a:solidFill>
                <a:ea typeface="ＭＳ Ｐゴシック" pitchFamily="34" charset="-128"/>
              </a:rPr>
              <a:t>We can use a table of </a:t>
            </a:r>
            <a:r>
              <a:rPr lang="en-US" altLang="en-US" i="1" dirty="0">
                <a:solidFill>
                  <a:srgbClr val="0D0D0D"/>
                </a:solidFill>
                <a:ea typeface="ＭＳ Ｐゴシック" pitchFamily="34" charset="-128"/>
              </a:rPr>
              <a:t>z/t-</a:t>
            </a:r>
            <a:r>
              <a:rPr lang="en-US" altLang="en-US" dirty="0">
                <a:solidFill>
                  <a:srgbClr val="0D0D0D"/>
                </a:solidFill>
                <a:ea typeface="ＭＳ Ｐゴシック" pitchFamily="34" charset="-128"/>
              </a:rPr>
              <a:t>values (Table D). For a particular confidence level, </a:t>
            </a:r>
            <a:r>
              <a:rPr lang="en-US" altLang="en-US" i="1" dirty="0">
                <a:solidFill>
                  <a:srgbClr val="0D0D0D"/>
                </a:solidFill>
                <a:ea typeface="ＭＳ Ｐゴシック" pitchFamily="34" charset="-128"/>
              </a:rPr>
              <a:t>C</a:t>
            </a:r>
            <a:r>
              <a:rPr lang="en-US" altLang="en-US" dirty="0">
                <a:solidFill>
                  <a:srgbClr val="0D0D0D"/>
                </a:solidFill>
                <a:ea typeface="ＭＳ Ｐゴシック" pitchFamily="34" charset="-128"/>
              </a:rPr>
              <a:t>, the appropriate </a:t>
            </a:r>
            <a:r>
              <a:rPr lang="en-US" altLang="en-US" i="1" dirty="0">
                <a:solidFill>
                  <a:srgbClr val="0D0D0D"/>
                </a:solidFill>
                <a:ea typeface="ＭＳ Ｐゴシック" pitchFamily="34" charset="-128"/>
              </a:rPr>
              <a:t>z</a:t>
            </a:r>
            <a:r>
              <a:rPr lang="en-US" altLang="en-US" dirty="0">
                <a:solidFill>
                  <a:srgbClr val="0D0D0D"/>
                </a:solidFill>
                <a:ea typeface="ＭＳ Ｐゴシック" pitchFamily="34" charset="-128"/>
              </a:rPr>
              <a:t>*-value is just above it. </a:t>
            </a:r>
            <a:endParaRPr lang="en-US" altLang="en-US" sz="1800" dirty="0">
              <a:solidFill>
                <a:srgbClr val="0D0D0D"/>
              </a:solidFill>
              <a:ea typeface="ＭＳ Ｐゴシック" pitchFamily="34" charset="-128"/>
            </a:endParaRPr>
          </a:p>
        </p:txBody>
      </p:sp>
      <p:pic>
        <p:nvPicPr>
          <p:cNvPr id="39938" name="Picture 12" descr="The image shows the standard Normal probabilities or table of &quot;z/t&quot; values to find the critical value &quot;z asterisk&quot;. It shows that for a confidence level &quot;C&quot; of 98% , the critical value &quot;z asterisk&quot; is equal to &quot;2.326&quot;. For a particular confidence level, C, the appropriate z asterisk value is just above it on the table."/>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t="35092"/>
          <a:stretch>
            <a:fillRect/>
          </a:stretch>
        </p:blipFill>
        <p:spPr>
          <a:xfrm>
            <a:off x="217687" y="2295523"/>
            <a:ext cx="8502249" cy="977588"/>
          </a:xfrm>
          <a:noFill/>
        </p:spPr>
      </p:pic>
      <p:sp>
        <p:nvSpPr>
          <p:cNvPr id="1251334" name="Rectangle 6" descr="already described"/>
          <p:cNvSpPr>
            <a:spLocks noChangeArrowheads="1"/>
          </p:cNvSpPr>
          <p:nvPr/>
        </p:nvSpPr>
        <p:spPr bwMode="auto">
          <a:xfrm>
            <a:off x="5440952" y="2295525"/>
            <a:ext cx="533400" cy="528081"/>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en-US" altLang="en-US" dirty="0"/>
          </a:p>
        </p:txBody>
      </p:sp>
      <p:sp>
        <p:nvSpPr>
          <p:cNvPr id="1251342" name="Rectangle 14"/>
          <p:cNvSpPr>
            <a:spLocks noChangeArrowheads="1"/>
          </p:cNvSpPr>
          <p:nvPr/>
        </p:nvSpPr>
        <p:spPr bwMode="auto">
          <a:xfrm>
            <a:off x="174625" y="3636963"/>
            <a:ext cx="5768975" cy="609600"/>
          </a:xfrm>
          <a:prstGeom prst="rect">
            <a:avLst/>
          </a:prstGeom>
          <a:noFill/>
          <a:ln>
            <a:noFill/>
          </a:ln>
        </p:spPr>
        <p:txBody>
          <a:bodyPr/>
          <a:lstStyle/>
          <a:p>
            <a:pPr eaLnBrk="1" hangingPunct="1">
              <a:lnSpc>
                <a:spcPct val="130000"/>
              </a:lnSpc>
              <a:spcBef>
                <a:spcPct val="20000"/>
              </a:spcBef>
              <a:buClr>
                <a:srgbClr val="00CC99"/>
              </a:buClr>
              <a:buSzPct val="65000"/>
              <a:buFont typeface="Wingdings" pitchFamily="-65" charset="2"/>
              <a:buNone/>
              <a:defRPr/>
            </a:pPr>
            <a:r>
              <a:rPr lang="en-US" b="1" u="sng" dirty="0">
                <a:solidFill>
                  <a:schemeClr val="accent1">
                    <a:lumMod val="75000"/>
                  </a:schemeClr>
                </a:solidFill>
                <a:latin typeface="Arial" charset="0"/>
                <a:ea typeface="ＭＳ Ｐゴシック" pitchFamily="-65" charset="-128"/>
              </a:rPr>
              <a:t>Example</a:t>
            </a:r>
            <a:r>
              <a:rPr lang="en-US" b="1" dirty="0">
                <a:solidFill>
                  <a:schemeClr val="accent1">
                    <a:lumMod val="75000"/>
                  </a:schemeClr>
                </a:solidFill>
                <a:latin typeface="Arial" charset="0"/>
                <a:ea typeface="ＭＳ Ｐゴシック" pitchFamily="-65" charset="-128"/>
              </a:rPr>
              <a:t>: </a:t>
            </a:r>
            <a:r>
              <a:rPr lang="en-US" dirty="0">
                <a:latin typeface="Arial" charset="0"/>
                <a:ea typeface="ＭＳ Ｐゴシック" pitchFamily="-65" charset="-128"/>
              </a:rPr>
              <a:t>For a 98% confidence level, </a:t>
            </a:r>
            <a:r>
              <a:rPr lang="en-US" i="1" dirty="0">
                <a:latin typeface="Arial" charset="0"/>
                <a:ea typeface="ＭＳ Ｐゴシック" pitchFamily="-65" charset="-128"/>
              </a:rPr>
              <a:t>z</a:t>
            </a:r>
            <a:r>
              <a:rPr lang="en-US" dirty="0">
                <a:latin typeface="Arial" charset="0"/>
                <a:ea typeface="ＭＳ Ｐゴシック" pitchFamily="-65" charset="-128"/>
              </a:rPr>
              <a:t>* = 2.326.</a:t>
            </a:r>
          </a:p>
        </p:txBody>
      </p:sp>
      <p:sp>
        <p:nvSpPr>
          <p:cNvPr id="1251335" name="Rectangle 7"/>
          <p:cNvSpPr>
            <a:spLocks noChangeArrowheads="1"/>
          </p:cNvSpPr>
          <p:nvPr/>
        </p:nvSpPr>
        <p:spPr bwMode="auto">
          <a:xfrm>
            <a:off x="196256" y="4096479"/>
            <a:ext cx="8631238"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20000"/>
              </a:lnSpc>
              <a:spcBef>
                <a:spcPct val="20000"/>
              </a:spcBef>
              <a:buClr>
                <a:srgbClr val="00CC99"/>
              </a:buClr>
              <a:buSzPct val="65000"/>
              <a:buFont typeface="Wingdings" pitchFamily="2" charset="2"/>
              <a:buNone/>
            </a:pPr>
            <a:r>
              <a:rPr lang="en-US" altLang="en-US" dirty="0"/>
              <a:t>We can also use software. In </a:t>
            </a:r>
            <a:r>
              <a:rPr lang="en-US" altLang="en-US" b="1" dirty="0"/>
              <a:t>Excel,</a:t>
            </a:r>
          </a:p>
          <a:p>
            <a:pPr eaLnBrk="1" hangingPunct="1">
              <a:lnSpc>
                <a:spcPct val="120000"/>
              </a:lnSpc>
              <a:spcBef>
                <a:spcPct val="20000"/>
              </a:spcBef>
              <a:buClr>
                <a:srgbClr val="00CC99"/>
              </a:buClr>
              <a:buSzPct val="65000"/>
              <a:buFont typeface="Wingdings" pitchFamily="2" charset="2"/>
              <a:buNone/>
            </a:pPr>
            <a:r>
              <a:rPr lang="en-US" altLang="en-US" dirty="0"/>
              <a:t>     =NORMINV(</a:t>
            </a:r>
            <a:r>
              <a:rPr lang="en-US" altLang="en-US" dirty="0" err="1"/>
              <a:t>probability,mean,standard_dev</a:t>
            </a:r>
            <a:r>
              <a:rPr lang="en-US" altLang="en-US" dirty="0"/>
              <a:t>) </a:t>
            </a:r>
            <a:br>
              <a:rPr lang="en-US" altLang="en-US" dirty="0"/>
            </a:br>
            <a:r>
              <a:rPr lang="en-US" altLang="en-US" dirty="0"/>
              <a:t>     gives</a:t>
            </a:r>
            <a:r>
              <a:rPr lang="en-US" altLang="en-US" i="1" dirty="0"/>
              <a:t> z </a:t>
            </a:r>
            <a:r>
              <a:rPr lang="en-US" altLang="en-US" dirty="0"/>
              <a:t>for a given cumulative probability</a:t>
            </a:r>
            <a:r>
              <a:rPr lang="en-US" altLang="en-US" i="1" dirty="0"/>
              <a:t>.</a:t>
            </a:r>
          </a:p>
          <a:p>
            <a:pPr eaLnBrk="1" hangingPunct="1">
              <a:lnSpc>
                <a:spcPct val="120000"/>
              </a:lnSpc>
              <a:spcBef>
                <a:spcPct val="20000"/>
              </a:spcBef>
              <a:buClr>
                <a:srgbClr val="00CC99"/>
              </a:buClr>
              <a:buSzPct val="65000"/>
              <a:buFont typeface="Wingdings" pitchFamily="2" charset="2"/>
              <a:buNone/>
            </a:pPr>
            <a:endParaRPr lang="en-US" altLang="en-US" sz="700" i="1" dirty="0"/>
          </a:p>
          <a:p>
            <a:pPr eaLnBrk="1" hangingPunct="1">
              <a:lnSpc>
                <a:spcPct val="120000"/>
              </a:lnSpc>
              <a:spcBef>
                <a:spcPct val="20000"/>
              </a:spcBef>
              <a:buClr>
                <a:srgbClr val="00CC99"/>
              </a:buClr>
              <a:buSzPct val="65000"/>
              <a:buFont typeface="Wingdings" pitchFamily="2" charset="2"/>
              <a:buNone/>
            </a:pPr>
            <a:r>
              <a:rPr lang="en-US" altLang="en-US" dirty="0"/>
              <a:t>Because we want the middle </a:t>
            </a:r>
            <a:r>
              <a:rPr lang="en-US" altLang="en-US" i="1" dirty="0"/>
              <a:t>C </a:t>
            </a:r>
            <a:r>
              <a:rPr lang="en-US" altLang="en-US" dirty="0"/>
              <a:t>× 100</a:t>
            </a:r>
            <a:r>
              <a:rPr lang="en-US" altLang="en-US" i="1" dirty="0"/>
              <a:t>%</a:t>
            </a:r>
            <a:r>
              <a:rPr lang="en-US" altLang="en-US" dirty="0"/>
              <a:t>, the probability we require is (1 – </a:t>
            </a:r>
            <a:r>
              <a:rPr lang="en-US" altLang="en-US" i="1" dirty="0"/>
              <a:t>C</a:t>
            </a:r>
            <a:r>
              <a:rPr lang="en-US" altLang="en-US" dirty="0"/>
              <a:t>)/2. </a:t>
            </a:r>
          </a:p>
          <a:p>
            <a:pPr eaLnBrk="1" hangingPunct="1">
              <a:lnSpc>
                <a:spcPct val="120000"/>
              </a:lnSpc>
              <a:spcBef>
                <a:spcPct val="20000"/>
              </a:spcBef>
              <a:buClr>
                <a:srgbClr val="00CC99"/>
              </a:buClr>
              <a:buSzPct val="65000"/>
              <a:buFont typeface="Wingdings" pitchFamily="2" charset="2"/>
              <a:buNone/>
            </a:pPr>
            <a:endParaRPr lang="en-US" altLang="en-US" sz="700" dirty="0"/>
          </a:p>
          <a:p>
            <a:pPr eaLnBrk="1" hangingPunct="1">
              <a:lnSpc>
                <a:spcPct val="120000"/>
              </a:lnSpc>
              <a:spcBef>
                <a:spcPct val="20000"/>
              </a:spcBef>
              <a:buClr>
                <a:srgbClr val="00CC99"/>
              </a:buClr>
              <a:buSzPct val="65000"/>
              <a:buFont typeface="Wingdings" pitchFamily="2" charset="2"/>
              <a:buNone/>
            </a:pPr>
            <a:r>
              <a:rPr lang="en-US" altLang="en-US" b="1" u="sng" dirty="0">
                <a:solidFill>
                  <a:srgbClr val="05295B"/>
                </a:solidFill>
              </a:rPr>
              <a:t>Example</a:t>
            </a:r>
            <a:r>
              <a:rPr lang="en-US" altLang="en-US" b="1" dirty="0">
                <a:solidFill>
                  <a:srgbClr val="05295B"/>
                </a:solidFill>
              </a:rPr>
              <a:t>: </a:t>
            </a:r>
            <a:r>
              <a:rPr lang="en-US" altLang="en-US" dirty="0"/>
              <a:t>For a 98% confidence level, =NORMINV(.01,0,1) = −2.32635.</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51334"/>
                                        </p:tgtEl>
                                        <p:attrNameLst>
                                          <p:attrName>style.visibility</p:attrName>
                                        </p:attrNameLst>
                                      </p:cBhvr>
                                      <p:to>
                                        <p:strVal val="visible"/>
                                      </p:to>
                                    </p:set>
                                    <p:animEffect transition="in" filter="box(in)">
                                      <p:cBhvr>
                                        <p:cTn id="7" dur="500"/>
                                        <p:tgtEl>
                                          <p:spTgt spid="1251334"/>
                                        </p:tgtEl>
                                      </p:cBhvr>
                                    </p:animEffect>
                                  </p:childTnLst>
                                </p:cTn>
                              </p:par>
                              <p:par>
                                <p:cTn id="8" presetID="1" presetClass="entr" presetSubtype="0" fill="hold" grpId="0" nodeType="withEffect">
                                  <p:stCondLst>
                                    <p:cond delay="0"/>
                                  </p:stCondLst>
                                  <p:childTnLst>
                                    <p:set>
                                      <p:cBhvr>
                                        <p:cTn id="9" dur="1" fill="hold">
                                          <p:stCondLst>
                                            <p:cond delay="0"/>
                                          </p:stCondLst>
                                        </p:cTn>
                                        <p:tgtEl>
                                          <p:spTgt spid="1251342"/>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2513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1334" grpId="0" animBg="1"/>
      <p:bldP spid="1251342" grpId="0"/>
      <p:bldP spid="125133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p:cNvSpPr>
            <a:spLocks noGrp="1" noChangeArrowheads="1"/>
          </p:cNvSpPr>
          <p:nvPr>
            <p:ph type="title"/>
          </p:nvPr>
        </p:nvSpPr>
        <p:spPr/>
        <p:txBody>
          <a:bodyPr/>
          <a:lstStyle/>
          <a:p>
            <a:pPr eaLnBrk="1" hangingPunct="1">
              <a:lnSpc>
                <a:spcPct val="110000"/>
              </a:lnSpc>
            </a:pPr>
            <a:r>
              <a:rPr lang="en-US" altLang="en-US">
                <a:solidFill>
                  <a:srgbClr val="073779"/>
                </a:solidFill>
                <a:ea typeface="ＭＳ Ｐゴシック" pitchFamily="34" charset="-128"/>
              </a:rPr>
              <a:t>The Margin of Error</a:t>
            </a:r>
          </a:p>
        </p:txBody>
      </p:sp>
      <p:sp>
        <p:nvSpPr>
          <p:cNvPr id="41991" name="Slide Number Placeholder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81D65788-AACB-4707-91C3-E249113A925E}" type="slidenum">
              <a:rPr lang="en-US" altLang="en-US" sz="1400">
                <a:solidFill>
                  <a:schemeClr val="accent1"/>
                </a:solidFill>
              </a:rPr>
              <a:pPr/>
              <a:t>14</a:t>
            </a:fld>
            <a:endParaRPr lang="en-US" altLang="en-US" sz="1400">
              <a:solidFill>
                <a:schemeClr val="accent1"/>
              </a:solidFill>
            </a:endParaRPr>
          </a:p>
        </p:txBody>
      </p:sp>
      <p:sp>
        <p:nvSpPr>
          <p:cNvPr id="41987" name="Rectangle 4"/>
          <p:cNvSpPr>
            <a:spLocks noGrp="1" noChangeArrowheads="1"/>
          </p:cNvSpPr>
          <p:nvPr>
            <p:ph type="body" idx="4294967295"/>
          </p:nvPr>
        </p:nvSpPr>
        <p:spPr>
          <a:xfrm>
            <a:off x="174625" y="1254497"/>
            <a:ext cx="7772400" cy="1066800"/>
          </a:xfrm>
          <a:solidFill>
            <a:srgbClr val="FFD780"/>
          </a:solidFill>
        </p:spPr>
        <p:txBody>
          <a:bodyPr/>
          <a:lstStyle/>
          <a:p>
            <a:pPr marL="0" indent="0" eaLnBrk="1" hangingPunct="1">
              <a:buFont typeface="Wingdings" pitchFamily="2" charset="2"/>
              <a:buNone/>
            </a:pPr>
            <a:r>
              <a:rPr lang="en-US" altLang="en-US" dirty="0">
                <a:solidFill>
                  <a:srgbClr val="0D0D0D"/>
                </a:solidFill>
                <a:ea typeface="ＭＳ Ｐゴシック" pitchFamily="34" charset="-128"/>
              </a:rPr>
              <a:t>The confidence level </a:t>
            </a:r>
            <a:r>
              <a:rPr lang="en-US" altLang="en-US" i="1" dirty="0">
                <a:solidFill>
                  <a:srgbClr val="0D0D0D"/>
                </a:solidFill>
                <a:ea typeface="ＭＳ Ｐゴシック" pitchFamily="34" charset="-128"/>
              </a:rPr>
              <a:t>C</a:t>
            </a:r>
            <a:r>
              <a:rPr lang="en-US" altLang="en-US" dirty="0">
                <a:solidFill>
                  <a:srgbClr val="0D0D0D"/>
                </a:solidFill>
                <a:ea typeface="ＭＳ Ｐゴシック" pitchFamily="34" charset="-128"/>
              </a:rPr>
              <a:t> determines the value of </a:t>
            </a:r>
            <a:r>
              <a:rPr lang="en-US" altLang="en-US" i="1" dirty="0">
                <a:solidFill>
                  <a:srgbClr val="0D0D0D"/>
                </a:solidFill>
                <a:ea typeface="ＭＳ Ｐゴシック" pitchFamily="34" charset="-128"/>
              </a:rPr>
              <a:t>z</a:t>
            </a:r>
            <a:r>
              <a:rPr lang="en-US" altLang="en-US" dirty="0">
                <a:solidFill>
                  <a:srgbClr val="0D0D0D"/>
                </a:solidFill>
                <a:ea typeface="ＭＳ Ｐゴシック" pitchFamily="34" charset="-128"/>
              </a:rPr>
              <a:t>* (in Table D).</a:t>
            </a:r>
          </a:p>
          <a:p>
            <a:pPr marL="0" indent="0" eaLnBrk="1" hangingPunct="1">
              <a:lnSpc>
                <a:spcPct val="150000"/>
              </a:lnSpc>
              <a:buFont typeface="Wingdings" pitchFamily="2" charset="2"/>
              <a:buNone/>
            </a:pPr>
            <a:r>
              <a:rPr lang="en-US" altLang="en-US" dirty="0">
                <a:solidFill>
                  <a:srgbClr val="0D0D0D"/>
                </a:solidFill>
                <a:ea typeface="ＭＳ Ｐゴシック" pitchFamily="34" charset="-128"/>
              </a:rPr>
              <a:t>The </a:t>
            </a:r>
            <a:r>
              <a:rPr lang="en-US" altLang="en-US" b="1" dirty="0">
                <a:solidFill>
                  <a:schemeClr val="tx1"/>
                </a:solidFill>
                <a:ea typeface="ＭＳ Ｐゴシック" pitchFamily="34" charset="-128"/>
              </a:rPr>
              <a:t>margin of error </a:t>
            </a:r>
            <a:r>
              <a:rPr lang="en-US" altLang="en-US" dirty="0">
                <a:solidFill>
                  <a:srgbClr val="0D0D0D"/>
                </a:solidFill>
                <a:ea typeface="ＭＳ Ｐゴシック" pitchFamily="34" charset="-128"/>
              </a:rPr>
              <a:t>also depends on </a:t>
            </a:r>
            <a:r>
              <a:rPr lang="en-US" altLang="en-US" i="1" dirty="0">
                <a:solidFill>
                  <a:srgbClr val="0D0D0D"/>
                </a:solidFill>
                <a:ea typeface="ＭＳ Ｐゴシック" pitchFamily="34" charset="-128"/>
              </a:rPr>
              <a:t>z</a:t>
            </a:r>
            <a:r>
              <a:rPr lang="en-US" altLang="en-US" dirty="0">
                <a:solidFill>
                  <a:srgbClr val="0D0D0D"/>
                </a:solidFill>
                <a:ea typeface="ＭＳ Ｐゴシック" pitchFamily="34" charset="-128"/>
              </a:rPr>
              <a:t>*.</a:t>
            </a:r>
          </a:p>
        </p:txBody>
      </p:sp>
      <p:graphicFrame>
        <p:nvGraphicFramePr>
          <p:cNvPr id="41988" name="Object 2" descr="The image shows a mathematical expression, which is mentioned as: m equals to z asterisk sigma divide by square root of n.">
            <a:hlinkClick r:id="rId4" action="ppaction://hlinksldjump"/>
          </p:cNvPr>
          <p:cNvGraphicFramePr>
            <a:graphicFrameLocks noChangeAspect="1"/>
          </p:cNvGraphicFramePr>
          <p:nvPr>
            <p:extLst>
              <p:ext uri="{D42A27DB-BD31-4B8C-83A1-F6EECF244321}">
                <p14:modId xmlns:p14="http://schemas.microsoft.com/office/powerpoint/2010/main" val="1127665108"/>
              </p:ext>
            </p:extLst>
          </p:nvPr>
        </p:nvGraphicFramePr>
        <p:xfrm>
          <a:off x="5006975" y="1773238"/>
          <a:ext cx="2051050" cy="571500"/>
        </p:xfrm>
        <a:graphic>
          <a:graphicData uri="http://schemas.openxmlformats.org/presentationml/2006/ole">
            <mc:AlternateContent xmlns:mc="http://schemas.openxmlformats.org/markup-compatibility/2006">
              <mc:Choice xmlns:v="urn:schemas-microsoft-com:vml" Requires="v">
                <p:oleObj spid="_x0000_s42084" name="Equation" r:id="rId5" imgW="863280" imgH="241200" progId="Equation.DSMT4">
                  <p:embed/>
                </p:oleObj>
              </mc:Choice>
              <mc:Fallback>
                <p:oleObj name="Equation" r:id="rId5" imgW="863280" imgH="241200" progId="Equation.DSMT4">
                  <p:embed/>
                  <p:pic>
                    <p:nvPicPr>
                      <p:cNvPr id="0" name="Object 2" descr="The image shows a mathematical expression, which is mentioned as: m equals to z asterisk sigma divide by square root of n."/>
                      <p:cNvPicPr>
                        <a:picLocks noChangeAspect="1" noChangeArrowheads="1"/>
                      </p:cNvPicPr>
                      <p:nvPr/>
                    </p:nvPicPr>
                    <p:blipFill>
                      <a:blip r:embed="rId6"/>
                      <a:srcRect/>
                      <a:stretch>
                        <a:fillRect/>
                      </a:stretch>
                    </p:blipFill>
                    <p:spPr bwMode="auto">
                      <a:xfrm>
                        <a:off x="5006975" y="1773238"/>
                        <a:ext cx="205105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252371" name="Rectangle 19"/>
          <p:cNvSpPr>
            <a:spLocks noChangeArrowheads="1"/>
          </p:cNvSpPr>
          <p:nvPr/>
        </p:nvSpPr>
        <p:spPr bwMode="auto">
          <a:xfrm>
            <a:off x="174624" y="2875280"/>
            <a:ext cx="4697167" cy="2386567"/>
          </a:xfrm>
          <a:prstGeom prst="rect">
            <a:avLst/>
          </a:prstGeom>
          <a:solidFill>
            <a:srgbClr val="FFD780"/>
          </a:solidFill>
          <a:ln>
            <a:noFill/>
          </a:ln>
        </p:spPr>
        <p:txBody>
          <a:bodyPr/>
          <a:lstStyle/>
          <a:p>
            <a:pPr algn="just" eaLnBrk="1" hangingPunct="1">
              <a:spcBef>
                <a:spcPct val="20000"/>
              </a:spcBef>
              <a:buClr>
                <a:srgbClr val="00CC99"/>
              </a:buClr>
              <a:buSzPct val="65000"/>
              <a:buFont typeface="Wingdings" pitchFamily="2" charset="2"/>
              <a:buNone/>
            </a:pPr>
            <a:r>
              <a:rPr lang="en-US" altLang="en-US" sz="2000" dirty="0"/>
              <a:t>Higher confidence </a:t>
            </a:r>
            <a:r>
              <a:rPr lang="en-US" altLang="en-US" sz="2000" b="1" i="1" dirty="0"/>
              <a:t>C</a:t>
            </a:r>
            <a:r>
              <a:rPr lang="en-US" altLang="en-US" sz="2000" dirty="0"/>
              <a:t> implies a larger margin of error </a:t>
            </a:r>
            <a:r>
              <a:rPr lang="en-US" altLang="en-US" sz="2000" b="1" i="1" dirty="0"/>
              <a:t>m</a:t>
            </a:r>
            <a:r>
              <a:rPr lang="en-US" altLang="en-US" sz="2000" dirty="0"/>
              <a:t> and, therefore, less precision in our estimates).</a:t>
            </a:r>
          </a:p>
          <a:p>
            <a:pPr algn="just" eaLnBrk="1" hangingPunct="1">
              <a:spcBef>
                <a:spcPct val="20000"/>
              </a:spcBef>
              <a:buClr>
                <a:srgbClr val="00CC99"/>
              </a:buClr>
              <a:buSzPct val="65000"/>
              <a:buFont typeface="Wingdings" pitchFamily="2" charset="2"/>
              <a:buNone/>
            </a:pPr>
            <a:endParaRPr lang="en-US" altLang="en-US" sz="2000" dirty="0"/>
          </a:p>
          <a:p>
            <a:pPr algn="just" eaLnBrk="1" hangingPunct="1">
              <a:spcBef>
                <a:spcPct val="20000"/>
              </a:spcBef>
              <a:buClr>
                <a:srgbClr val="00CC99"/>
              </a:buClr>
              <a:buSzPct val="65000"/>
              <a:buFont typeface="Wingdings" pitchFamily="2" charset="2"/>
              <a:buNone/>
            </a:pPr>
            <a:r>
              <a:rPr lang="en-US" altLang="en-US" sz="2000" dirty="0"/>
              <a:t>A lower confidence level </a:t>
            </a:r>
            <a:r>
              <a:rPr lang="en-US" altLang="en-US" sz="2000" b="1" i="1" dirty="0"/>
              <a:t>C</a:t>
            </a:r>
            <a:r>
              <a:rPr lang="en-US" altLang="en-US" sz="2000" dirty="0"/>
              <a:t> produces a smaller margin of error </a:t>
            </a:r>
            <a:r>
              <a:rPr lang="en-US" altLang="en-US" sz="2000" b="1" i="1" dirty="0"/>
              <a:t>m</a:t>
            </a:r>
            <a:r>
              <a:rPr lang="en-US" altLang="en-US" sz="2000" dirty="0"/>
              <a:t> (and thus better precision in our estimates). </a:t>
            </a:r>
          </a:p>
        </p:txBody>
      </p:sp>
      <p:grpSp>
        <p:nvGrpSpPr>
          <p:cNvPr id="41989" name="Group 6" descr="The graph depicts the relationship of margin of error &quot;m&quot; with the confidence level C. The X-axis shows the values of Z asterisk ranging from the negative to positive. Higher confidence &quot;C&quot; implies a larger margin of error &quot;m&quot; and a lower confidence level &quot;C&quot;implies a smaller margin of error &quot;m&quot;."/>
          <p:cNvGrpSpPr>
            <a:grpSpLocks/>
          </p:cNvGrpSpPr>
          <p:nvPr/>
        </p:nvGrpSpPr>
        <p:grpSpPr bwMode="auto">
          <a:xfrm>
            <a:off x="5207194" y="2892742"/>
            <a:ext cx="3701662" cy="2738882"/>
            <a:chOff x="3352" y="1152"/>
            <a:chExt cx="2785" cy="1948"/>
          </a:xfrm>
        </p:grpSpPr>
        <p:pic>
          <p:nvPicPr>
            <p:cNvPr id="41992" name="Picture 7" descr="F06-05"/>
            <p:cNvPicPr>
              <a:picLocks noChangeAspect="1" noChangeArrowheads="1"/>
            </p:cNvPicPr>
            <p:nvPr/>
          </p:nvPicPr>
          <p:blipFill>
            <a:blip r:embed="rId7">
              <a:clrChange>
                <a:clrFrom>
                  <a:srgbClr val="D8E2F3"/>
                </a:clrFrom>
                <a:clrTo>
                  <a:srgbClr val="D8E2F3">
                    <a:alpha val="0"/>
                  </a:srgbClr>
                </a:clrTo>
              </a:clrChange>
              <a:lum bright="-20000" contrast="46000"/>
              <a:extLst>
                <a:ext uri="{28A0092B-C50C-407E-A947-70E740481C1C}">
                  <a14:useLocalDpi xmlns:a14="http://schemas.microsoft.com/office/drawing/2010/main" val="0"/>
                </a:ext>
              </a:extLst>
            </a:blip>
            <a:srcRect l="4094" r="4094" b="-6517"/>
            <a:stretch>
              <a:fillRect/>
            </a:stretch>
          </p:blipFill>
          <p:spPr bwMode="auto">
            <a:xfrm>
              <a:off x="3352" y="1152"/>
              <a:ext cx="2785" cy="192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41993" name="Text Box 8"/>
            <p:cNvSpPr txBox="1">
              <a:spLocks noChangeArrowheads="1"/>
            </p:cNvSpPr>
            <p:nvPr/>
          </p:nvSpPr>
          <p:spPr bwMode="auto">
            <a:xfrm>
              <a:off x="4386" y="1953"/>
              <a:ext cx="676" cy="252"/>
            </a:xfrm>
            <a:prstGeom prst="rect">
              <a:avLst/>
            </a:prstGeom>
            <a:solidFill>
              <a:srgbClr val="FFE65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ctr" eaLnBrk="1" hangingPunct="1"/>
              <a:r>
                <a:rPr lang="en-US" altLang="en-US" i="1">
                  <a:solidFill>
                    <a:schemeClr val="tx1"/>
                  </a:solidFill>
                </a:rPr>
                <a:t>C</a:t>
              </a:r>
            </a:p>
          </p:txBody>
        </p:sp>
        <p:sp>
          <p:nvSpPr>
            <p:cNvPr id="41995" name="Text Box 10"/>
            <p:cNvSpPr txBox="1">
              <a:spLocks noChangeArrowheads="1"/>
            </p:cNvSpPr>
            <p:nvPr/>
          </p:nvSpPr>
          <p:spPr bwMode="auto">
            <a:xfrm>
              <a:off x="5008" y="2832"/>
              <a:ext cx="437" cy="23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ctr" eaLnBrk="1" hangingPunct="1"/>
              <a:r>
                <a:rPr lang="en-US" altLang="en-US" sz="1800" i="1" dirty="0">
                  <a:solidFill>
                    <a:schemeClr val="tx1"/>
                  </a:solidFill>
                </a:rPr>
                <a:t>z</a:t>
              </a:r>
              <a:r>
                <a:rPr lang="en-US" altLang="en-US" sz="1800" dirty="0">
                  <a:solidFill>
                    <a:schemeClr val="tx1"/>
                  </a:solidFill>
                </a:rPr>
                <a:t>*</a:t>
              </a:r>
            </a:p>
          </p:txBody>
        </p:sp>
        <p:sp>
          <p:nvSpPr>
            <p:cNvPr id="41996" name="Text Box 11"/>
            <p:cNvSpPr txBox="1">
              <a:spLocks noChangeArrowheads="1"/>
            </p:cNvSpPr>
            <p:nvPr/>
          </p:nvSpPr>
          <p:spPr bwMode="auto">
            <a:xfrm>
              <a:off x="4014" y="2837"/>
              <a:ext cx="446" cy="26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ctr" eaLnBrk="1" hangingPunct="1"/>
              <a:r>
                <a:rPr lang="en-US" altLang="en-US" sz="1800" i="1" dirty="0">
                  <a:solidFill>
                    <a:schemeClr val="tx1"/>
                  </a:solidFill>
                </a:rPr>
                <a:t>−z</a:t>
              </a:r>
              <a:r>
                <a:rPr lang="en-US" altLang="en-US" sz="1800" dirty="0">
                  <a:solidFill>
                    <a:schemeClr val="tx1"/>
                  </a:solidFill>
                </a:rPr>
                <a:t>*</a:t>
              </a:r>
            </a:p>
          </p:txBody>
        </p:sp>
        <p:sp>
          <p:nvSpPr>
            <p:cNvPr id="41997" name="Rectangle 12"/>
            <p:cNvSpPr>
              <a:spLocks noChangeArrowheads="1"/>
            </p:cNvSpPr>
            <p:nvPr/>
          </p:nvSpPr>
          <p:spPr bwMode="auto">
            <a:xfrm>
              <a:off x="3360" y="2083"/>
              <a:ext cx="548" cy="202"/>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en-US"/>
            </a:p>
          </p:txBody>
        </p:sp>
        <p:sp>
          <p:nvSpPr>
            <p:cNvPr id="41998" name="Rectangle 13"/>
            <p:cNvSpPr>
              <a:spLocks noChangeArrowheads="1"/>
            </p:cNvSpPr>
            <p:nvPr/>
          </p:nvSpPr>
          <p:spPr bwMode="auto">
            <a:xfrm>
              <a:off x="5417" y="2099"/>
              <a:ext cx="715" cy="202"/>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en-US"/>
            </a:p>
          </p:txBody>
        </p:sp>
        <p:sp>
          <p:nvSpPr>
            <p:cNvPr id="41999" name="Rectangle 14"/>
            <p:cNvSpPr>
              <a:spLocks noChangeArrowheads="1"/>
            </p:cNvSpPr>
            <p:nvPr/>
          </p:nvSpPr>
          <p:spPr bwMode="auto">
            <a:xfrm>
              <a:off x="5052" y="1354"/>
              <a:ext cx="794" cy="20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en-US"/>
            </a:p>
          </p:txBody>
        </p:sp>
        <p:sp>
          <p:nvSpPr>
            <p:cNvPr id="42000" name="Rectangle 15"/>
            <p:cNvSpPr>
              <a:spLocks noChangeArrowheads="1"/>
            </p:cNvSpPr>
            <p:nvPr/>
          </p:nvSpPr>
          <p:spPr bwMode="auto">
            <a:xfrm rot="11417961">
              <a:off x="3693" y="2074"/>
              <a:ext cx="300" cy="449"/>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en-US"/>
            </a:p>
          </p:txBody>
        </p:sp>
        <p:sp>
          <p:nvSpPr>
            <p:cNvPr id="42001" name="Line 16"/>
            <p:cNvSpPr>
              <a:spLocks noChangeShapeType="1"/>
            </p:cNvSpPr>
            <p:nvPr/>
          </p:nvSpPr>
          <p:spPr bwMode="auto">
            <a:xfrm>
              <a:off x="4294" y="2663"/>
              <a:ext cx="834" cy="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2002" name="Text Box 17"/>
            <p:cNvSpPr txBox="1">
              <a:spLocks noChangeArrowheads="1"/>
            </p:cNvSpPr>
            <p:nvPr/>
          </p:nvSpPr>
          <p:spPr bwMode="auto">
            <a:xfrm>
              <a:off x="4344" y="2412"/>
              <a:ext cx="7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sz="1800" i="1" dirty="0">
                  <a:solidFill>
                    <a:schemeClr val="tx1"/>
                  </a:solidFill>
                </a:rPr>
                <a:t>m          </a:t>
              </a:r>
              <a:r>
                <a:rPr lang="en-US" altLang="en-US" sz="1800" i="1" dirty="0" err="1">
                  <a:solidFill>
                    <a:schemeClr val="tx1"/>
                  </a:solidFill>
                </a:rPr>
                <a:t>m</a:t>
              </a:r>
              <a:endParaRPr lang="en-US" altLang="en-US" sz="1800" i="1" dirty="0">
                <a:solidFill>
                  <a:schemeClr val="tx1"/>
                </a:solidFill>
              </a:endParaRPr>
            </a:p>
          </p:txBody>
        </p:sp>
        <p:sp>
          <p:nvSpPr>
            <p:cNvPr id="42003" name="Line 18"/>
            <p:cNvSpPr>
              <a:spLocks noChangeShapeType="1"/>
            </p:cNvSpPr>
            <p:nvPr/>
          </p:nvSpPr>
          <p:spPr bwMode="auto">
            <a:xfrm flipV="1">
              <a:off x="4728" y="2577"/>
              <a:ext cx="0" cy="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1252371">
                                            <p:bg/>
                                          </p:spTgt>
                                        </p:tgtEl>
                                        <p:attrNameLst>
                                          <p:attrName>style.visibility</p:attrName>
                                        </p:attrNameLst>
                                      </p:cBhvr>
                                      <p:to>
                                        <p:strVal val="visible"/>
                                      </p:to>
                                    </p:set>
                                    <p:animEffect transition="in" filter="fade">
                                      <p:cBhvr>
                                        <p:cTn id="7" dur="500"/>
                                        <p:tgtEl>
                                          <p:spTgt spid="1252371">
                                            <p:bg/>
                                          </p:spTgt>
                                        </p:tgtEl>
                                      </p:cBhvr>
                                    </p:animEffect>
                                  </p:childTnLst>
                                </p:cTn>
                              </p:par>
                            </p:childTnLst>
                          </p:cTn>
                        </p:par>
                        <p:par>
                          <p:cTn id="8" fill="hold" nodeType="afterGroup">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1252371">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52371">
                                            <p:txEl>
                                              <p:pRg st="2" end="2"/>
                                            </p:txEl>
                                          </p:spTgt>
                                        </p:tgtEl>
                                        <p:attrNameLst>
                                          <p:attrName>style.visibility</p:attrName>
                                        </p:attrNameLst>
                                      </p:cBhvr>
                                      <p:to>
                                        <p:strVal val="visible"/>
                                      </p:to>
                                    </p:set>
                                  </p:childTnLst>
                                </p:cTn>
                              </p:par>
                              <p:par>
                                <p:cTn id="15" presetID="10" presetClass="entr" presetSubtype="0" fill="hold" grpId="1" nodeType="withEffect">
                                  <p:stCondLst>
                                    <p:cond delay="0"/>
                                  </p:stCondLst>
                                  <p:childTnLst>
                                    <p:set>
                                      <p:cBhvr>
                                        <p:cTn id="16" dur="1" fill="hold">
                                          <p:stCondLst>
                                            <p:cond delay="0"/>
                                          </p:stCondLst>
                                        </p:cTn>
                                        <p:tgtEl>
                                          <p:spTgt spid="1252371">
                                            <p:txEl>
                                              <p:pRg st="2" end="2"/>
                                            </p:txEl>
                                          </p:spTgt>
                                        </p:tgtEl>
                                        <p:attrNameLst>
                                          <p:attrName>style.visibility</p:attrName>
                                        </p:attrNameLst>
                                      </p:cBhvr>
                                      <p:to>
                                        <p:strVal val="visible"/>
                                      </p:to>
                                    </p:set>
                                    <p:animEffect transition="in" filter="fade">
                                      <p:cBhvr>
                                        <p:cTn id="17" dur="500"/>
                                        <p:tgtEl>
                                          <p:spTgt spid="12523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2371" grpId="0" build="p" autoUpdateAnimBg="0"/>
      <p:bldP spid="1252371" grpId="1" build="allAtOnce"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p:txBody>
          <a:bodyPr/>
          <a:lstStyle/>
          <a:p>
            <a:pPr eaLnBrk="1" hangingPunct="1">
              <a:lnSpc>
                <a:spcPct val="90000"/>
              </a:lnSpc>
            </a:pPr>
            <a:r>
              <a:rPr lang="en-US" altLang="en-US">
                <a:ea typeface="ＭＳ Ｐゴシック" pitchFamily="34" charset="-128"/>
              </a:rPr>
              <a:t>How Confidence Intervals Behave</a:t>
            </a:r>
            <a:endParaRPr lang="en-US" altLang="en-US" sz="2400">
              <a:solidFill>
                <a:srgbClr val="33CCFF"/>
              </a:solidFill>
              <a:ea typeface="ＭＳ Ｐゴシック" pitchFamily="34" charset="-128"/>
            </a:endParaRPr>
          </a:p>
        </p:txBody>
      </p:sp>
      <p:sp>
        <p:nvSpPr>
          <p:cNvPr id="4403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081B3C9A-CB2E-42A6-A5F5-C1C1FE1374B8}" type="slidenum">
              <a:rPr lang="en-US" altLang="en-US" sz="1200">
                <a:solidFill>
                  <a:schemeClr val="accent1"/>
                </a:solidFill>
              </a:rPr>
              <a:pPr>
                <a:lnSpc>
                  <a:spcPct val="80000"/>
                </a:lnSpc>
              </a:pPr>
              <a:t>15</a:t>
            </a:fld>
            <a:endParaRPr lang="en-US" altLang="en-US" sz="1200">
              <a:solidFill>
                <a:schemeClr val="accent1"/>
              </a:solidFill>
            </a:endParaRPr>
          </a:p>
        </p:txBody>
      </p:sp>
      <p:sp>
        <p:nvSpPr>
          <p:cNvPr id="2" name="TextBox 1"/>
          <p:cNvSpPr txBox="1"/>
          <p:nvPr/>
        </p:nvSpPr>
        <p:spPr>
          <a:xfrm>
            <a:off x="173038" y="1042540"/>
            <a:ext cx="8589962" cy="2738438"/>
          </a:xfrm>
          <a:prstGeom prst="rect">
            <a:avLst/>
          </a:prstGeom>
          <a:noFill/>
        </p:spPr>
        <p:txBody>
          <a:bodyPr>
            <a:spAutoFit/>
          </a:bodyPr>
          <a:lstStyle/>
          <a:p>
            <a:pPr algn="just" eaLnBrk="1" hangingPunct="1">
              <a:defRPr/>
            </a:pPr>
            <a:r>
              <a:rPr lang="en-US" sz="2000" dirty="0">
                <a:latin typeface="Arial" charset="0"/>
                <a:ea typeface="ＭＳ Ｐゴシック" charset="0"/>
                <a:cs typeface="ＭＳ Ｐゴシック" charset="0"/>
              </a:rPr>
              <a:t>The </a:t>
            </a:r>
            <a:r>
              <a:rPr lang="en-US" sz="2000" i="1" dirty="0">
                <a:latin typeface="Arial" charset="0"/>
                <a:ea typeface="ＭＳ Ｐゴシック" charset="0"/>
                <a:cs typeface="ＭＳ Ｐゴシック" charset="0"/>
              </a:rPr>
              <a:t>z</a:t>
            </a:r>
            <a:r>
              <a:rPr lang="en-US" sz="2000" dirty="0">
                <a:latin typeface="Arial" charset="0"/>
                <a:ea typeface="ＭＳ Ｐゴシック" charset="0"/>
                <a:cs typeface="ＭＳ Ｐゴシック" charset="0"/>
              </a:rPr>
              <a:t> confidence interval for the mean of a Normal population illustrates several important properties that are shared by all confidence intervals in common use.</a:t>
            </a:r>
          </a:p>
          <a:p>
            <a:pPr marL="285750" indent="-285750" algn="just" eaLnBrk="1" hangingPunct="1">
              <a:buClr>
                <a:schemeClr val="accent1"/>
              </a:buClr>
              <a:buFont typeface="Wingdings" charset="2"/>
              <a:buChar char="§"/>
              <a:defRPr/>
            </a:pPr>
            <a:r>
              <a:rPr lang="en-US" sz="2000" dirty="0">
                <a:latin typeface="Arial" charset="0"/>
                <a:ea typeface="ＭＳ Ｐゴシック" charset="0"/>
                <a:cs typeface="ＭＳ Ｐゴシック" charset="0"/>
              </a:rPr>
              <a:t>The user chooses the confidence level, and the margin of error follows.</a:t>
            </a:r>
          </a:p>
          <a:p>
            <a:pPr marL="285750" indent="-285750" algn="just" eaLnBrk="1" hangingPunct="1">
              <a:buClr>
                <a:schemeClr val="accent1"/>
              </a:buClr>
              <a:buFont typeface="Wingdings" charset="2"/>
              <a:buChar char="§"/>
              <a:defRPr/>
            </a:pPr>
            <a:r>
              <a:rPr lang="en-US" sz="2000" dirty="0">
                <a:latin typeface="Arial" charset="0"/>
                <a:ea typeface="ＭＳ Ｐゴシック" charset="0"/>
                <a:cs typeface="ＭＳ Ｐゴシック" charset="0"/>
              </a:rPr>
              <a:t>We would like high confidence and a small margin of error.</a:t>
            </a:r>
          </a:p>
          <a:p>
            <a:pPr marL="742950" lvl="1" indent="-285750" algn="just" eaLnBrk="1" hangingPunct="1">
              <a:buClr>
                <a:schemeClr val="accent1"/>
              </a:buClr>
              <a:buFont typeface="Wingdings" charset="2"/>
              <a:buChar char="§"/>
              <a:defRPr/>
            </a:pPr>
            <a:r>
              <a:rPr lang="en-US" dirty="0">
                <a:latin typeface="Arial" charset="0"/>
                <a:ea typeface="ＭＳ Ｐゴシック" charset="0"/>
                <a:cs typeface="ＭＳ Ｐゴシック" charset="0"/>
              </a:rPr>
              <a:t>High confidence suggests that our method almost always gives correct answers.</a:t>
            </a:r>
          </a:p>
          <a:p>
            <a:pPr marL="742950" lvl="1" indent="-285750" algn="just" eaLnBrk="1" hangingPunct="1">
              <a:buClr>
                <a:schemeClr val="accent1"/>
              </a:buClr>
              <a:buFont typeface="Wingdings" charset="2"/>
              <a:buChar char="§"/>
              <a:defRPr/>
            </a:pPr>
            <a:r>
              <a:rPr lang="en-US" dirty="0">
                <a:latin typeface="Arial" charset="0"/>
                <a:ea typeface="ＭＳ Ｐゴシック" charset="0"/>
                <a:cs typeface="ＭＳ Ｐゴシック" charset="0"/>
              </a:rPr>
              <a:t>A small margin of error suggests that we have pinned down the parameter precisely.</a:t>
            </a:r>
          </a:p>
        </p:txBody>
      </p:sp>
      <mc:AlternateContent xmlns:mc="http://schemas.openxmlformats.org/markup-compatibility/2006">
        <mc:Choice xmlns:a14="http://schemas.microsoft.com/office/drawing/2010/main" Requires="a14">
          <p:sp>
            <p:nvSpPr>
              <p:cNvPr id="7" name="TextBox 6"/>
              <p:cNvSpPr txBox="1">
                <a:spLocks noChangeArrowheads="1"/>
              </p:cNvSpPr>
              <p:nvPr/>
            </p:nvSpPr>
            <p:spPr bwMode="auto">
              <a:xfrm>
                <a:off x="174624" y="3894274"/>
                <a:ext cx="8588375" cy="2695610"/>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marL="342900" indent="-342900">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600"/>
                  </a:spcAft>
                  <a:buClrTx/>
                  <a:buSzTx/>
                  <a:buFontTx/>
                  <a:buNone/>
                  <a:defRPr/>
                </a:pPr>
                <a:r>
                  <a:rPr lang="en-US" altLang="en-US" dirty="0">
                    <a:solidFill>
                      <a:srgbClr val="000000"/>
                    </a:solidFill>
                  </a:rPr>
                  <a:t>The margin of error for the </a:t>
                </a:r>
                <a:r>
                  <a:rPr lang="en-US" altLang="en-US" i="1" dirty="0">
                    <a:solidFill>
                      <a:srgbClr val="000000"/>
                    </a:solidFill>
                  </a:rPr>
                  <a:t>z </a:t>
                </a:r>
                <a:r>
                  <a:rPr lang="en-US" altLang="en-US" dirty="0">
                    <a:solidFill>
                      <a:srgbClr val="000000"/>
                    </a:solidFill>
                  </a:rPr>
                  <a:t>confidence interval is</a:t>
                </a:r>
              </a:p>
              <a:p>
                <a:pPr eaLnBrk="1" hangingPunct="1">
                  <a:spcBef>
                    <a:spcPct val="0"/>
                  </a:spcBef>
                  <a:spcAft>
                    <a:spcPts val="600"/>
                  </a:spcAft>
                  <a:buClrTx/>
                  <a:buSzTx/>
                  <a:buFontTx/>
                  <a:buNone/>
                  <a:defRPr/>
                </a:pPr>
                <a14:m>
                  <m:oMathPara xmlns:m="http://schemas.openxmlformats.org/officeDocument/2006/math">
                    <m:oMathParaPr>
                      <m:jc m:val="centerGroup"/>
                    </m:oMathParaPr>
                    <m:oMath xmlns:m="http://schemas.openxmlformats.org/officeDocument/2006/math">
                      <m:sSup>
                        <m:sSupPr>
                          <m:ctrlPr>
                            <a:rPr lang="en-US" altLang="en-US" i="1" smtClean="0">
                              <a:solidFill>
                                <a:srgbClr val="C00000"/>
                              </a:solidFill>
                              <a:latin typeface="Cambria Math" panose="02040503050406030204" pitchFamily="18" charset="0"/>
                            </a:rPr>
                          </m:ctrlPr>
                        </m:sSupPr>
                        <m:e>
                          <m:r>
                            <a:rPr lang="en-US" altLang="en-US" b="0" i="1" smtClean="0">
                              <a:solidFill>
                                <a:srgbClr val="C00000"/>
                              </a:solidFill>
                              <a:latin typeface="Cambria Math" panose="02040503050406030204" pitchFamily="18" charset="0"/>
                            </a:rPr>
                            <m:t>𝑧</m:t>
                          </m:r>
                        </m:e>
                        <m:sup>
                          <m:r>
                            <a:rPr lang="en-US" altLang="en-US" b="0" i="1" smtClean="0">
                              <a:solidFill>
                                <a:srgbClr val="C00000"/>
                              </a:solidFill>
                              <a:latin typeface="Cambria Math" panose="02040503050406030204" pitchFamily="18" charset="0"/>
                            </a:rPr>
                            <m:t>∗</m:t>
                          </m:r>
                        </m:sup>
                      </m:sSup>
                      <m:f>
                        <m:fPr>
                          <m:ctrlPr>
                            <a:rPr lang="en-US" altLang="en-US" i="1" smtClean="0">
                              <a:solidFill>
                                <a:srgbClr val="C00000"/>
                              </a:solidFill>
                              <a:latin typeface="Cambria Math" panose="02040503050406030204" pitchFamily="18" charset="0"/>
                            </a:rPr>
                          </m:ctrlPr>
                        </m:fPr>
                        <m:num>
                          <m:r>
                            <a:rPr lang="en-US" altLang="en-US" i="1" smtClean="0">
                              <a:solidFill>
                                <a:srgbClr val="C00000"/>
                              </a:solidFill>
                              <a:latin typeface="Cambria Math" panose="02040503050406030204" pitchFamily="18" charset="0"/>
                              <a:ea typeface="Cambria Math" panose="02040503050406030204" pitchFamily="18" charset="0"/>
                            </a:rPr>
                            <m:t>𝜎</m:t>
                          </m:r>
                        </m:num>
                        <m:den>
                          <m:rad>
                            <m:radPr>
                              <m:degHide m:val="on"/>
                              <m:ctrlPr>
                                <a:rPr lang="en-US" altLang="en-US" i="1" smtClean="0">
                                  <a:solidFill>
                                    <a:srgbClr val="C00000"/>
                                  </a:solidFill>
                                  <a:latin typeface="Cambria Math" panose="02040503050406030204" pitchFamily="18" charset="0"/>
                                </a:rPr>
                              </m:ctrlPr>
                            </m:radPr>
                            <m:deg/>
                            <m:e>
                              <m:r>
                                <a:rPr lang="en-US" altLang="en-US" b="0" i="1" smtClean="0">
                                  <a:solidFill>
                                    <a:srgbClr val="C00000"/>
                                  </a:solidFill>
                                  <a:latin typeface="Cambria Math" panose="02040503050406030204" pitchFamily="18" charset="0"/>
                                </a:rPr>
                                <m:t>𝑛</m:t>
                              </m:r>
                            </m:e>
                          </m:rad>
                        </m:den>
                      </m:f>
                    </m:oMath>
                  </m:oMathPara>
                </a14:m>
                <a:endParaRPr lang="en-US" altLang="en-US" dirty="0">
                  <a:solidFill>
                    <a:srgbClr val="FF0000"/>
                  </a:solidFill>
                </a:endParaRPr>
              </a:p>
              <a:p>
                <a:pPr eaLnBrk="1" hangingPunct="1">
                  <a:spcBef>
                    <a:spcPct val="0"/>
                  </a:spcBef>
                  <a:buClrTx/>
                  <a:buSzTx/>
                  <a:buFontTx/>
                  <a:buNone/>
                  <a:defRPr/>
                </a:pPr>
                <a:r>
                  <a:rPr lang="en-US" altLang="en-US" dirty="0">
                    <a:solidFill>
                      <a:schemeClr val="tx1"/>
                    </a:solidFill>
                    <a:highlight>
                      <a:srgbClr val="FFFF00"/>
                    </a:highlight>
                  </a:rPr>
                  <a:t>The margin of error gets smaller when</a:t>
                </a:r>
              </a:p>
              <a:p>
                <a:pPr eaLnBrk="1" hangingPunct="1">
                  <a:spcBef>
                    <a:spcPct val="0"/>
                  </a:spcBef>
                  <a:buSzTx/>
                  <a:buFont typeface="Wingdings" panose="05000000000000000000" pitchFamily="2" charset="2"/>
                  <a:buChar char="§"/>
                  <a:defRPr/>
                </a:pPr>
                <a:r>
                  <a:rPr lang="en-US" altLang="en-US" i="1" dirty="0">
                    <a:solidFill>
                      <a:srgbClr val="000000"/>
                    </a:solidFill>
                  </a:rPr>
                  <a:t>z</a:t>
                </a:r>
                <a:r>
                  <a:rPr lang="en-US" altLang="en-US" dirty="0">
                    <a:solidFill>
                      <a:srgbClr val="000000"/>
                    </a:solidFill>
                  </a:rPr>
                  <a:t>* gets smaller (the same as a lower confidence level </a:t>
                </a:r>
                <a:r>
                  <a:rPr lang="en-US" altLang="en-US" i="1" dirty="0">
                    <a:solidFill>
                      <a:srgbClr val="000000"/>
                    </a:solidFill>
                  </a:rPr>
                  <a:t>C</a:t>
                </a:r>
                <a:r>
                  <a:rPr lang="en-US" altLang="en-US" dirty="0">
                    <a:solidFill>
                      <a:srgbClr val="000000"/>
                    </a:solidFill>
                  </a:rPr>
                  <a:t>).</a:t>
                </a:r>
              </a:p>
              <a:p>
                <a:pPr eaLnBrk="1" hangingPunct="1">
                  <a:spcBef>
                    <a:spcPct val="0"/>
                  </a:spcBef>
                  <a:buSzTx/>
                  <a:buFont typeface="Wingdings" panose="05000000000000000000" pitchFamily="2" charset="2"/>
                  <a:buChar char="§"/>
                  <a:defRPr/>
                </a:pPr>
                <a:r>
                  <a:rPr lang="en-US" altLang="en-US" i="1" dirty="0">
                    <a:solidFill>
                      <a:srgbClr val="000000"/>
                    </a:solidFill>
                  </a:rPr>
                  <a:t>σ</a:t>
                </a:r>
                <a:r>
                  <a:rPr lang="en-US" altLang="en-US" dirty="0">
                    <a:solidFill>
                      <a:srgbClr val="000000"/>
                    </a:solidFill>
                  </a:rPr>
                  <a:t> is smaller. It is easier to pin down </a:t>
                </a:r>
                <a:r>
                  <a:rPr lang="en-US" altLang="en-US" i="1" dirty="0">
                    <a:solidFill>
                      <a:srgbClr val="000000"/>
                    </a:solidFill>
                  </a:rPr>
                  <a:t>µ</a:t>
                </a:r>
                <a:r>
                  <a:rPr lang="en-US" altLang="en-US" dirty="0">
                    <a:solidFill>
                      <a:srgbClr val="000000"/>
                    </a:solidFill>
                  </a:rPr>
                  <a:t> when </a:t>
                </a:r>
                <a:r>
                  <a:rPr lang="en-US" altLang="en-US" i="1" dirty="0">
                    <a:solidFill>
                      <a:srgbClr val="000000"/>
                    </a:solidFill>
                  </a:rPr>
                  <a:t>σ</a:t>
                </a:r>
                <a:r>
                  <a:rPr lang="en-US" altLang="en-US" dirty="0">
                    <a:solidFill>
                      <a:srgbClr val="000000"/>
                    </a:solidFill>
                  </a:rPr>
                  <a:t> is smaller.</a:t>
                </a:r>
              </a:p>
              <a:p>
                <a:pPr eaLnBrk="1" hangingPunct="1">
                  <a:spcBef>
                    <a:spcPct val="0"/>
                  </a:spcBef>
                  <a:buSzTx/>
                  <a:buFont typeface="Wingdings" panose="05000000000000000000" pitchFamily="2" charset="2"/>
                  <a:buChar char="§"/>
                  <a:defRPr/>
                </a:pPr>
                <a:r>
                  <a:rPr lang="en-US" altLang="en-US" i="1" dirty="0">
                    <a:solidFill>
                      <a:srgbClr val="000000"/>
                    </a:solidFill>
                  </a:rPr>
                  <a:t>n</a:t>
                </a:r>
                <a:r>
                  <a:rPr lang="en-US" altLang="en-US" dirty="0">
                    <a:solidFill>
                      <a:srgbClr val="000000"/>
                    </a:solidFill>
                  </a:rPr>
                  <a:t> gets larger. Because </a:t>
                </a:r>
                <a:r>
                  <a:rPr lang="en-US" altLang="en-US" i="1" dirty="0">
                    <a:solidFill>
                      <a:srgbClr val="000000"/>
                    </a:solidFill>
                  </a:rPr>
                  <a:t>n</a:t>
                </a:r>
                <a:r>
                  <a:rPr lang="en-US" altLang="en-US" dirty="0">
                    <a:solidFill>
                      <a:srgbClr val="000000"/>
                    </a:solidFill>
                  </a:rPr>
                  <a:t> is under the square root sign, we must take four times as many observations to cut the margin of error in half.</a:t>
                </a:r>
                <a:endParaRPr lang="en-US" altLang="en-US" i="1" dirty="0">
                  <a:solidFill>
                    <a:srgbClr val="000000"/>
                  </a:solidFill>
                </a:endParaRPr>
              </a:p>
            </p:txBody>
          </p:sp>
        </mc:Choice>
        <mc:Fallback>
          <p:sp>
            <p:nvSpPr>
              <p:cNvPr id="7" name="TextBox 6"/>
              <p:cNvSpPr txBox="1">
                <a:spLocks noRot="1" noChangeAspect="1" noMove="1" noResize="1" noEditPoints="1" noAdjustHandles="1" noChangeArrowheads="1" noChangeShapeType="1" noTextEdit="1"/>
              </p:cNvSpPr>
              <p:nvPr/>
            </p:nvSpPr>
            <p:spPr bwMode="auto">
              <a:xfrm>
                <a:off x="174624" y="3894274"/>
                <a:ext cx="8588375" cy="2695610"/>
              </a:xfrm>
              <a:prstGeom prst="rect">
                <a:avLst/>
              </a:prstGeom>
              <a:blipFill rotWithShape="0">
                <a:blip r:embed="rId3"/>
                <a:stretch>
                  <a:fillRect/>
                </a:stretch>
              </a:blipFill>
              <a:ln w="10000">
                <a:solidFill>
                  <a:srgbClr val="D2DA7A"/>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Effect transition="in" filter="fade">
                                      <p:cBhvr>
                                        <p:cTn id="7" dur="500"/>
                                        <p:tgtEl>
                                          <p:spTgt spid="7">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4" end="4"/>
                                            </p:txEl>
                                          </p:spTgt>
                                        </p:tgtEl>
                                        <p:attrNameLst>
                                          <p:attrName>style.visibility</p:attrName>
                                        </p:attrNameLst>
                                      </p:cBhvr>
                                      <p:to>
                                        <p:strVal val="visible"/>
                                      </p:to>
                                    </p:set>
                                    <p:animEffect transition="in" filter="fade">
                                      <p:cBhvr>
                                        <p:cTn id="12" dur="500"/>
                                        <p:tgtEl>
                                          <p:spTgt spid="7">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animEffect transition="in" filter="fade">
                                      <p:cBhvr>
                                        <p:cTn id="17"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US" altLang="en-US">
                <a:ea typeface="ＭＳ Ｐゴシック" pitchFamily="34" charset="-128"/>
              </a:rPr>
              <a:t>Impact of Sample Size</a:t>
            </a:r>
          </a:p>
        </p:txBody>
      </p:sp>
      <p:sp>
        <p:nvSpPr>
          <p:cNvPr id="4608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AF41F5C6-0AF8-449C-8641-66E019869825}" type="slidenum">
              <a:rPr lang="en-US" altLang="en-US" sz="1200">
                <a:solidFill>
                  <a:schemeClr val="accent1"/>
                </a:solidFill>
              </a:rPr>
              <a:pPr>
                <a:lnSpc>
                  <a:spcPct val="80000"/>
                </a:lnSpc>
              </a:pPr>
              <a:t>16</a:t>
            </a:fld>
            <a:endParaRPr lang="en-US" altLang="en-US" sz="1200">
              <a:solidFill>
                <a:schemeClr val="accent1"/>
              </a:solidFill>
            </a:endParaRPr>
          </a:p>
        </p:txBody>
      </p:sp>
      <p:sp>
        <p:nvSpPr>
          <p:cNvPr id="46087" name="Text Box 7"/>
          <p:cNvSpPr>
            <a:spLocks noGrp="1" noChangeArrowheads="1"/>
          </p:cNvSpPr>
          <p:nvPr>
            <p:ph type="body" idx="4294967295"/>
          </p:nvPr>
        </p:nvSpPr>
        <p:spPr>
          <a:xfrm>
            <a:off x="290946" y="1090066"/>
            <a:ext cx="8193487" cy="2038341"/>
          </a:xfrm>
          <a:solidFill>
            <a:srgbClr val="FFD780"/>
          </a:solidFill>
        </p:spPr>
        <p:txBody>
          <a:bodyPr/>
          <a:lstStyle/>
          <a:p>
            <a:pPr marL="0" indent="0">
              <a:spcBef>
                <a:spcPct val="0"/>
              </a:spcBef>
              <a:spcAft>
                <a:spcPct val="60000"/>
              </a:spcAft>
              <a:buClrTx/>
              <a:buSzTx/>
              <a:buFontTx/>
              <a:buNone/>
            </a:pPr>
            <a:r>
              <a:rPr lang="en-US" altLang="en-US" dirty="0">
                <a:solidFill>
                  <a:srgbClr val="0D0D0D"/>
                </a:solidFill>
                <a:ea typeface="ＭＳ Ｐゴシック" pitchFamily="34" charset="-128"/>
              </a:rPr>
              <a:t>The spread in the sampling distribution of the mean is a function of the number of individuals per sample.</a:t>
            </a:r>
          </a:p>
          <a:p>
            <a:pPr marL="731838" lvl="1">
              <a:spcBef>
                <a:spcPct val="0"/>
              </a:spcBef>
              <a:spcAft>
                <a:spcPct val="60000"/>
              </a:spcAft>
              <a:buClr>
                <a:schemeClr val="accent1"/>
              </a:buClr>
              <a:buSzTx/>
              <a:buFont typeface="Wingdings" pitchFamily="2" charset="2"/>
              <a:buChar char="§"/>
            </a:pPr>
            <a:r>
              <a:rPr lang="en-US" altLang="en-US" sz="2000" dirty="0">
                <a:solidFill>
                  <a:srgbClr val="0D0D0D"/>
                </a:solidFill>
                <a:ea typeface="ＭＳ Ｐゴシック" pitchFamily="34" charset="-128"/>
              </a:rPr>
              <a:t>The larger the sample size, the smaller the standard deviation (spread) of the sample mean distribution.</a:t>
            </a:r>
          </a:p>
          <a:p>
            <a:pPr marL="731838" lvl="1">
              <a:spcBef>
                <a:spcPct val="0"/>
              </a:spcBef>
              <a:spcAft>
                <a:spcPct val="60000"/>
              </a:spcAft>
              <a:buClr>
                <a:schemeClr val="accent1"/>
              </a:buClr>
              <a:buSzTx/>
              <a:buFont typeface="Wingdings" pitchFamily="2" charset="2"/>
              <a:buChar char="§"/>
            </a:pPr>
            <a:r>
              <a:rPr lang="en-US" altLang="en-US" sz="2000" dirty="0">
                <a:solidFill>
                  <a:srgbClr val="0D0D0D"/>
                </a:solidFill>
                <a:ea typeface="ＭＳ Ｐゴシック" pitchFamily="34" charset="-128"/>
              </a:rPr>
              <a:t>The spread decreases at a rate equal to      .   </a:t>
            </a:r>
          </a:p>
        </p:txBody>
      </p:sp>
      <p:graphicFrame>
        <p:nvGraphicFramePr>
          <p:cNvPr id="2" name="Object 1">
            <a:extLst>
              <a:ext uri="{FF2B5EF4-FFF2-40B4-BE49-F238E27FC236}">
                <a16:creationId xmlns:a16="http://schemas.microsoft.com/office/drawing/2014/main" xmlns="" id="{1444B281-1527-4BE0-AE49-3A26662E11E3}"/>
              </a:ext>
            </a:extLst>
          </p:cNvPr>
          <p:cNvGraphicFramePr>
            <a:graphicFrameLocks noChangeAspect="1"/>
          </p:cNvGraphicFramePr>
          <p:nvPr>
            <p:extLst>
              <p:ext uri="{D42A27DB-BD31-4B8C-83A1-F6EECF244321}">
                <p14:modId xmlns:p14="http://schemas.microsoft.com/office/powerpoint/2010/main" val="329909188"/>
              </p:ext>
            </p:extLst>
          </p:nvPr>
        </p:nvGraphicFramePr>
        <p:xfrm>
          <a:off x="5633383" y="2698229"/>
          <a:ext cx="361950" cy="342900"/>
        </p:xfrm>
        <a:graphic>
          <a:graphicData uri="http://schemas.openxmlformats.org/presentationml/2006/ole">
            <mc:AlternateContent xmlns:mc="http://schemas.openxmlformats.org/markup-compatibility/2006">
              <mc:Choice xmlns:v="urn:schemas-microsoft-com:vml" Requires="v">
                <p:oleObj spid="_x0000_s71724" name="Equation" r:id="rId4" imgW="241200" imgH="228600" progId="Equation.DSMT4">
                  <p:embed/>
                </p:oleObj>
              </mc:Choice>
              <mc:Fallback>
                <p:oleObj name="Equation" r:id="rId4" imgW="241200" imgH="228600" progId="Equation.DSMT4">
                  <p:embed/>
                  <p:pic>
                    <p:nvPicPr>
                      <p:cNvPr id="0" name=""/>
                      <p:cNvPicPr/>
                      <p:nvPr/>
                    </p:nvPicPr>
                    <p:blipFill>
                      <a:blip r:embed="rId5"/>
                      <a:stretch>
                        <a:fillRect/>
                      </a:stretch>
                    </p:blipFill>
                    <p:spPr>
                      <a:xfrm>
                        <a:off x="5633383" y="2698229"/>
                        <a:ext cx="361950" cy="342900"/>
                      </a:xfrm>
                      <a:prstGeom prst="rect">
                        <a:avLst/>
                      </a:prstGeom>
                    </p:spPr>
                  </p:pic>
                </p:oleObj>
              </mc:Fallback>
            </mc:AlternateContent>
          </a:graphicData>
        </a:graphic>
      </p:graphicFrame>
      <p:pic>
        <p:nvPicPr>
          <p:cNvPr id="46084" name="Picture 8" descr="The graph shows the relationship of the standard error &quot;sigma&quot; divided by square root of sample size with sample size &quot;n&quot;. The X-axis depicts sample size &quot;n&quot; which is increasing from left to right. The Y-axis depicts standard error increasing upwards. The graph shows that the standard error falls as the sample size increases. The larger the sample size, the smaller the standard error."/>
          <p:cNvPicPr>
            <a:picLocks noChangeAspect="1" noChangeArrowheads="1"/>
          </p:cNvPicPr>
          <p:nvPr/>
        </p:nvPicPr>
        <p:blipFill>
          <a:blip r:embed="rId6">
            <a:extLst>
              <a:ext uri="{28A0092B-C50C-407E-A947-70E740481C1C}">
                <a14:useLocalDpi xmlns:a14="http://schemas.microsoft.com/office/drawing/2010/main" val="0"/>
              </a:ext>
            </a:extLst>
          </a:blip>
          <a:srcRect l="10811" b="14264"/>
          <a:stretch>
            <a:fillRect/>
          </a:stretch>
        </p:blipFill>
        <p:spPr bwMode="auto">
          <a:xfrm>
            <a:off x="947738" y="3284538"/>
            <a:ext cx="2514600" cy="218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5" name="Text Box 9"/>
          <p:cNvSpPr txBox="1">
            <a:spLocks noChangeArrowheads="1"/>
          </p:cNvSpPr>
          <p:nvPr/>
        </p:nvSpPr>
        <p:spPr bwMode="auto">
          <a:xfrm>
            <a:off x="1414463" y="5418138"/>
            <a:ext cx="14605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sz="1600">
                <a:solidFill>
                  <a:schemeClr val="tx1"/>
                </a:solidFill>
              </a:rPr>
              <a:t>Sample size </a:t>
            </a:r>
            <a:r>
              <a:rPr lang="en-US" altLang="en-US" sz="1600" i="1">
                <a:solidFill>
                  <a:schemeClr val="tx1"/>
                </a:solidFill>
              </a:rPr>
              <a:t>n</a:t>
            </a:r>
          </a:p>
        </p:txBody>
      </p:sp>
      <p:sp>
        <p:nvSpPr>
          <p:cNvPr id="46086" name="Text Box 10"/>
          <p:cNvSpPr txBox="1">
            <a:spLocks noChangeArrowheads="1"/>
          </p:cNvSpPr>
          <p:nvPr/>
        </p:nvSpPr>
        <p:spPr bwMode="auto">
          <a:xfrm rot="-5400000">
            <a:off x="-280988" y="4232276"/>
            <a:ext cx="21367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sz="1600" dirty="0">
                <a:solidFill>
                  <a:schemeClr val="tx1"/>
                </a:solidFill>
              </a:rPr>
              <a:t>Standard error </a:t>
            </a:r>
            <a:r>
              <a:rPr lang="en-US" altLang="en-US" sz="1600" i="1" dirty="0">
                <a:solidFill>
                  <a:schemeClr val="tx1"/>
                </a:solidFill>
                <a:sym typeface="Symbol" pitchFamily="18" charset="2"/>
              </a:rPr>
              <a:t></a:t>
            </a:r>
            <a:r>
              <a:rPr lang="en-US" altLang="en-US" sz="1600" dirty="0">
                <a:solidFill>
                  <a:schemeClr val="tx1"/>
                </a:solidFill>
                <a:sym typeface="Symbol" pitchFamily="18" charset="2"/>
              </a:rPr>
              <a:t> </a:t>
            </a:r>
            <a:r>
              <a:rPr lang="en-US" altLang="en-US" sz="1600" dirty="0">
                <a:solidFill>
                  <a:schemeClr val="tx1"/>
                </a:solidFill>
              </a:rPr>
              <a:t>⁄ √</a:t>
            </a:r>
            <a:r>
              <a:rPr lang="en-US" altLang="en-US" sz="1600" i="1" dirty="0">
                <a:solidFill>
                  <a:schemeClr val="tx1"/>
                </a:solidFill>
              </a:rPr>
              <a:t>n</a:t>
            </a:r>
          </a:p>
        </p:txBody>
      </p:sp>
      <p:grpSp>
        <p:nvGrpSpPr>
          <p:cNvPr id="46083" name="Group 9" descr="described separately"/>
          <p:cNvGrpSpPr>
            <a:grpSpLocks/>
          </p:cNvGrpSpPr>
          <p:nvPr/>
        </p:nvGrpSpPr>
        <p:grpSpPr bwMode="auto">
          <a:xfrm>
            <a:off x="4830755" y="3205017"/>
            <a:ext cx="3466011" cy="3292619"/>
            <a:chOff x="4419601" y="3048000"/>
            <a:chExt cx="3466011" cy="3368070"/>
          </a:xfrm>
        </p:grpSpPr>
        <p:pic>
          <p:nvPicPr>
            <p:cNvPr id="46089" name="Picture 4" descr="The graph shows the relationship of standard deviation spread with sample size. It shows the standard deviation spread at different sample size &quot;n&quot; viz. &quot;n&quot; as &quot;50&quot;. &quot;n&quot; as &quot;30&quot;, &quot;n&quot; as &quot;10&quot;. With increase in the sample size the standard deviation spread becomes smaller. The spread decrease at a rate equal to square root of sample size &quot;n&quot;."/>
            <p:cNvPicPr>
              <a:picLocks noChangeAspect="1" noChangeArrowheads="1"/>
            </p:cNvPicPr>
            <p:nvPr/>
          </p:nvPicPr>
          <p:blipFill>
            <a:blip r:embed="rId7">
              <a:extLst>
                <a:ext uri="{28A0092B-C50C-407E-A947-70E740481C1C}">
                  <a14:useLocalDpi xmlns:a14="http://schemas.microsoft.com/office/drawing/2010/main" val="0"/>
                </a:ext>
              </a:extLst>
            </a:blip>
            <a:srcRect l="27777" t="8746" r="9723"/>
            <a:stretch>
              <a:fillRect/>
            </a:stretch>
          </p:blipFill>
          <p:spPr bwMode="auto">
            <a:xfrm>
              <a:off x="4419601" y="3048000"/>
              <a:ext cx="3385979" cy="3368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91" name="Picture 6" descr="pop, n=10, n=30, n=50"/>
            <p:cNvPicPr>
              <a:picLocks noChangeAspect="1" noChangeArrowheads="1"/>
            </p:cNvPicPr>
            <p:nvPr/>
          </p:nvPicPr>
          <p:blipFill>
            <a:blip r:embed="rId7">
              <a:extLst>
                <a:ext uri="{28A0092B-C50C-407E-A947-70E740481C1C}">
                  <a14:useLocalDpi xmlns:a14="http://schemas.microsoft.com/office/drawing/2010/main" val="0"/>
                </a:ext>
              </a:extLst>
            </a:blip>
            <a:srcRect l="2777" t="2632" r="73611" b="61826"/>
            <a:stretch>
              <a:fillRect/>
            </a:stretch>
          </p:blipFill>
          <p:spPr bwMode="auto">
            <a:xfrm>
              <a:off x="6590212" y="3048000"/>
              <a:ext cx="1295400" cy="132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lnSpc>
                <a:spcPct val="120000"/>
              </a:lnSpc>
            </a:pPr>
            <a:r>
              <a:rPr lang="en-US" altLang="en-US" dirty="0">
                <a:ea typeface="ＭＳ Ｐゴシック" pitchFamily="34" charset="-128"/>
              </a:rPr>
              <a:t>Choosing the Sample Size</a:t>
            </a:r>
          </a:p>
        </p:txBody>
      </p:sp>
      <p:sp>
        <p:nvSpPr>
          <p:cNvPr id="4813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966DF882-B521-4206-AC5B-BDDCB44CA5D7}" type="slidenum">
              <a:rPr lang="en-US" altLang="en-US" sz="1200">
                <a:solidFill>
                  <a:schemeClr val="accent1"/>
                </a:solidFill>
              </a:rPr>
              <a:pPr>
                <a:lnSpc>
                  <a:spcPct val="80000"/>
                </a:lnSpc>
              </a:pPr>
              <a:t>17</a:t>
            </a:fld>
            <a:endParaRPr lang="en-US" altLang="en-US" sz="1200">
              <a:solidFill>
                <a:schemeClr val="accent1"/>
              </a:solidFill>
            </a:endParaRPr>
          </a:p>
        </p:txBody>
      </p:sp>
      <p:sp>
        <p:nvSpPr>
          <p:cNvPr id="48131" name="Rectangle 3"/>
          <p:cNvSpPr>
            <a:spLocks noGrp="1" noChangeArrowheads="1"/>
          </p:cNvSpPr>
          <p:nvPr>
            <p:ph type="body" idx="4294967295"/>
          </p:nvPr>
        </p:nvSpPr>
        <p:spPr>
          <a:xfrm>
            <a:off x="174625" y="1423321"/>
            <a:ext cx="8699552" cy="3103709"/>
          </a:xfrm>
          <a:solidFill>
            <a:srgbClr val="FFD780"/>
          </a:solidFill>
        </p:spPr>
        <p:txBody>
          <a:bodyPr/>
          <a:lstStyle/>
          <a:p>
            <a:pPr marL="0" indent="0" eaLnBrk="1" hangingPunct="1">
              <a:spcBef>
                <a:spcPct val="0"/>
              </a:spcBef>
              <a:buFont typeface="Wingdings" pitchFamily="2" charset="2"/>
              <a:buNone/>
            </a:pPr>
            <a:r>
              <a:rPr lang="en-US" altLang="en-US" dirty="0">
                <a:solidFill>
                  <a:srgbClr val="0D0D0D"/>
                </a:solidFill>
                <a:ea typeface="ＭＳ Ｐゴシック" pitchFamily="34" charset="-128"/>
              </a:rPr>
              <a:t>You may need a certain margin of error (e.g., in drug trials or manufacturing specs). In most cases, we have no control over the population variability (</a:t>
            </a:r>
            <a:r>
              <a:rPr lang="en-US" altLang="en-US" i="1" dirty="0">
                <a:solidFill>
                  <a:srgbClr val="0D0D0D"/>
                </a:solidFill>
                <a:latin typeface="Symbol" pitchFamily="18" charset="2"/>
                <a:ea typeface="ＭＳ Ｐゴシック" pitchFamily="34" charset="-128"/>
              </a:rPr>
              <a:t>s</a:t>
            </a:r>
            <a:r>
              <a:rPr lang="en-US" altLang="en-US" dirty="0">
                <a:solidFill>
                  <a:srgbClr val="0D0D0D"/>
                </a:solidFill>
                <a:latin typeface="Symbol" pitchFamily="18" charset="2"/>
                <a:ea typeface="ＭＳ Ｐゴシック" pitchFamily="34" charset="-128"/>
              </a:rPr>
              <a:t>)</a:t>
            </a:r>
            <a:r>
              <a:rPr lang="en-US" altLang="en-US" dirty="0">
                <a:solidFill>
                  <a:srgbClr val="0D0D0D"/>
                </a:solidFill>
                <a:ea typeface="ＭＳ Ｐゴシック" pitchFamily="34" charset="-128"/>
              </a:rPr>
              <a:t>, but we can choose the number of measurements (</a:t>
            </a:r>
            <a:r>
              <a:rPr lang="en-US" altLang="en-US" i="1" dirty="0">
                <a:solidFill>
                  <a:srgbClr val="0D0D0D"/>
                </a:solidFill>
                <a:ea typeface="ＭＳ Ｐゴシック" pitchFamily="34" charset="-128"/>
              </a:rPr>
              <a:t>n</a:t>
            </a:r>
            <a:r>
              <a:rPr lang="en-US" altLang="en-US" dirty="0">
                <a:solidFill>
                  <a:srgbClr val="0D0D0D"/>
                </a:solidFill>
                <a:ea typeface="ＭＳ Ｐゴシック" pitchFamily="34" charset="-128"/>
              </a:rPr>
              <a:t>). </a:t>
            </a:r>
          </a:p>
          <a:p>
            <a:pPr marL="0" indent="0" eaLnBrk="1" hangingPunct="1">
              <a:spcBef>
                <a:spcPct val="0"/>
              </a:spcBef>
              <a:buFont typeface="Wingdings" pitchFamily="2" charset="2"/>
              <a:buNone/>
            </a:pPr>
            <a:endParaRPr lang="en-US" altLang="en-US" dirty="0">
              <a:solidFill>
                <a:srgbClr val="0D0D0D"/>
              </a:solidFill>
              <a:ea typeface="ＭＳ Ｐゴシック" pitchFamily="34" charset="-128"/>
            </a:endParaRPr>
          </a:p>
          <a:p>
            <a:pPr marL="0" indent="0" eaLnBrk="1" hangingPunct="1">
              <a:spcBef>
                <a:spcPct val="0"/>
              </a:spcBef>
              <a:spcAft>
                <a:spcPct val="50000"/>
              </a:spcAft>
              <a:buFont typeface="Wingdings" pitchFamily="2" charset="2"/>
              <a:buNone/>
            </a:pPr>
            <a:r>
              <a:rPr lang="en-US" altLang="en-US" dirty="0">
                <a:solidFill>
                  <a:srgbClr val="0D0D0D"/>
                </a:solidFill>
                <a:ea typeface="ＭＳ Ｐゴシック" pitchFamily="34" charset="-128"/>
              </a:rPr>
              <a:t>The confidence interval for a population mean will have a specified margin of error </a:t>
            </a:r>
            <a:r>
              <a:rPr lang="en-US" altLang="en-US" i="1" dirty="0">
                <a:solidFill>
                  <a:srgbClr val="0D0D0D"/>
                </a:solidFill>
                <a:ea typeface="ＭＳ Ｐゴシック" pitchFamily="34" charset="-128"/>
              </a:rPr>
              <a:t>m</a:t>
            </a:r>
            <a:r>
              <a:rPr lang="en-US" altLang="en-US" dirty="0">
                <a:solidFill>
                  <a:srgbClr val="0D0D0D"/>
                </a:solidFill>
                <a:ea typeface="ＭＳ Ｐゴシック" pitchFamily="34" charset="-128"/>
              </a:rPr>
              <a:t> when the sample size is</a:t>
            </a:r>
          </a:p>
          <a:p>
            <a:pPr marL="0" indent="0" eaLnBrk="1" hangingPunct="1">
              <a:spcBef>
                <a:spcPct val="0"/>
              </a:spcBef>
              <a:spcAft>
                <a:spcPct val="50000"/>
              </a:spcAft>
              <a:buFont typeface="Wingdings" pitchFamily="2" charset="2"/>
              <a:buNone/>
            </a:pPr>
            <a:endParaRPr lang="en-US" altLang="en-US" dirty="0">
              <a:solidFill>
                <a:srgbClr val="0D0D0D"/>
              </a:solidFill>
              <a:ea typeface="ＭＳ Ｐゴシック" pitchFamily="34" charset="-128"/>
            </a:endParaRPr>
          </a:p>
          <a:p>
            <a:pPr marL="0" indent="0" eaLnBrk="1" hangingPunct="1">
              <a:spcBef>
                <a:spcPct val="0"/>
              </a:spcBef>
              <a:spcAft>
                <a:spcPct val="50000"/>
              </a:spcAft>
              <a:buFont typeface="Wingdings" pitchFamily="2" charset="2"/>
              <a:buNone/>
            </a:pPr>
            <a:endParaRPr lang="en-US" altLang="en-US" dirty="0">
              <a:solidFill>
                <a:srgbClr val="0D0D0D"/>
              </a:solidFill>
              <a:ea typeface="ＭＳ Ｐゴシック" pitchFamily="34" charset="-128"/>
            </a:endParaRPr>
          </a:p>
          <a:p>
            <a:pPr marL="0" indent="0" eaLnBrk="1" hangingPunct="1">
              <a:spcBef>
                <a:spcPct val="0"/>
              </a:spcBef>
              <a:spcAft>
                <a:spcPct val="50000"/>
              </a:spcAft>
              <a:buFont typeface="Wingdings" pitchFamily="2" charset="2"/>
              <a:buNone/>
            </a:pPr>
            <a:endParaRPr lang="en-US" altLang="en-US" dirty="0">
              <a:solidFill>
                <a:srgbClr val="0D0D0D"/>
              </a:solidFill>
              <a:ea typeface="ＭＳ Ｐゴシック" pitchFamily="34" charset="-128"/>
            </a:endParaRPr>
          </a:p>
        </p:txBody>
      </p:sp>
      <p:graphicFrame>
        <p:nvGraphicFramePr>
          <p:cNvPr id="48132" name="Object 2" descr="The image shows the formula to calculate margin of error &quot;m&quot; as: critical value &quot;Z asterisk&quot; multiplied  by Standard deviation of the statistic &quot;sigma&quot; divided by square root of sample size &quot;n&quot;. Using this formula the image also shows to determine the sample size &quot;n&quot; as bracket open bracket open critical value &quot;Z*&quot; multiplied  by Standard deviation of the statistic &quot;σ&quot; bracket close divided by Margin of Error &quot;m&quot; bracket close Squared."/>
          <p:cNvGraphicFramePr>
            <a:graphicFrameLocks noChangeAspect="1"/>
          </p:cNvGraphicFramePr>
          <p:nvPr>
            <p:extLst>
              <p:ext uri="{D42A27DB-BD31-4B8C-83A1-F6EECF244321}">
                <p14:modId xmlns:p14="http://schemas.microsoft.com/office/powerpoint/2010/main" val="2169107716"/>
              </p:ext>
            </p:extLst>
          </p:nvPr>
        </p:nvGraphicFramePr>
        <p:xfrm>
          <a:off x="2344738" y="3386138"/>
          <a:ext cx="3846200" cy="986353"/>
        </p:xfrm>
        <a:graphic>
          <a:graphicData uri="http://schemas.openxmlformats.org/presentationml/2006/ole">
            <mc:AlternateContent xmlns:mc="http://schemas.openxmlformats.org/markup-compatibility/2006">
              <mc:Choice xmlns:v="urn:schemas-microsoft-com:vml" Requires="v">
                <p:oleObj spid="_x0000_s48216" name="Equation" r:id="rId4" imgW="1828800" imgH="469800" progId="Equation.DSMT4">
                  <p:embed/>
                </p:oleObj>
              </mc:Choice>
              <mc:Fallback>
                <p:oleObj name="Equation" r:id="rId4" imgW="1828800" imgH="469800" progId="Equation.DSMT4">
                  <p:embed/>
                  <p:pic>
                    <p:nvPicPr>
                      <p:cNvPr id="0" name="Object 2" descr="The image shows the formula to calculate margin of error &quot;m&quot; as: critical value &quot;Z asterisk&quot; multiplied  by Standard deviation of the statistic &quot;sigma&quot; divided by square root of sample size &quot;n&quot;. Using this formula the image also shows to determine the sample size &quot;n&quot; as bracket open bracket open critical value &quot;Z*&quot; multiplied  by Standard deviation of the statistic &quot;σ&quot; bracket close divided by Margin of Error &quot;m&quot; bracket close Squared."/>
                      <p:cNvPicPr>
                        <a:picLocks noChangeAspect="1" noChangeArrowheads="1"/>
                      </p:cNvPicPr>
                      <p:nvPr/>
                    </p:nvPicPr>
                    <p:blipFill>
                      <a:blip r:embed="rId5"/>
                      <a:srcRect/>
                      <a:stretch>
                        <a:fillRect/>
                      </a:stretch>
                    </p:blipFill>
                    <p:spPr bwMode="auto">
                      <a:xfrm>
                        <a:off x="2344738" y="3386138"/>
                        <a:ext cx="3846200" cy="986353"/>
                      </a:xfrm>
                      <a:prstGeom prst="rect">
                        <a:avLst/>
                      </a:prstGeom>
                      <a:solidFill>
                        <a:srgbClr val="FFD780"/>
                      </a:solidFill>
                      <a:ln>
                        <a:noFill/>
                      </a:ln>
                      <a:effectLst/>
                    </p:spPr>
                  </p:pic>
                </p:oleObj>
              </mc:Fallback>
            </mc:AlternateContent>
          </a:graphicData>
        </a:graphic>
      </p:graphicFrame>
      <p:sp>
        <p:nvSpPr>
          <p:cNvPr id="1260549" name="Rectangle 5"/>
          <p:cNvSpPr>
            <a:spLocks noChangeArrowheads="1"/>
          </p:cNvSpPr>
          <p:nvPr/>
        </p:nvSpPr>
        <p:spPr bwMode="auto">
          <a:xfrm>
            <a:off x="174625" y="4975604"/>
            <a:ext cx="8699552" cy="1200343"/>
          </a:xfrm>
          <a:prstGeom prst="rect">
            <a:avLst/>
          </a:prstGeom>
          <a:solidFill>
            <a:srgbClr val="FFD780"/>
          </a:solidFill>
          <a:ln>
            <a:noFill/>
          </a:ln>
        </p:spPr>
        <p:txBody>
          <a:bodyPr/>
          <a:lstStyle/>
          <a:p>
            <a:pPr eaLnBrk="1" hangingPunct="1">
              <a:spcBef>
                <a:spcPct val="20000"/>
              </a:spcBef>
              <a:spcAft>
                <a:spcPct val="50000"/>
              </a:spcAft>
              <a:buClr>
                <a:srgbClr val="00CC99"/>
              </a:buClr>
              <a:buSzPct val="65000"/>
              <a:buFont typeface="Wingdings" pitchFamily="2" charset="2"/>
              <a:buNone/>
            </a:pPr>
            <a:r>
              <a:rPr lang="en-US" altLang="en-US" b="1" dirty="0">
                <a:highlight>
                  <a:srgbClr val="FFFF00"/>
                </a:highlight>
              </a:rPr>
              <a:t>Note:</a:t>
            </a:r>
            <a:r>
              <a:rPr lang="en-US" altLang="en-US" b="1" dirty="0"/>
              <a:t>  </a:t>
            </a:r>
            <a:r>
              <a:rPr lang="en-US" altLang="en-US" dirty="0"/>
              <a:t>Remember, though, that sample size is not always stretchable at will. </a:t>
            </a:r>
          </a:p>
          <a:p>
            <a:pPr eaLnBrk="1" hangingPunct="1">
              <a:spcBef>
                <a:spcPct val="20000"/>
              </a:spcBef>
              <a:spcAft>
                <a:spcPct val="50000"/>
              </a:spcAft>
              <a:buClr>
                <a:srgbClr val="00CC99"/>
              </a:buClr>
              <a:buSzPct val="65000"/>
              <a:buFont typeface="Wingdings" pitchFamily="2" charset="2"/>
              <a:buNone/>
            </a:pPr>
            <a:r>
              <a:rPr lang="en-US" altLang="en-US" dirty="0"/>
              <a:t>There are typically costs and constraints associated with large samples. The best approach is to use the smallest sample size that can give you useful results.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605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0549"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en-US" altLang="en-US" dirty="0">
                <a:ea typeface="ＭＳ Ｐゴシック" pitchFamily="34" charset="-128"/>
              </a:rPr>
              <a:t>Sample Size</a:t>
            </a:r>
          </a:p>
        </p:txBody>
      </p:sp>
      <p:sp>
        <p:nvSpPr>
          <p:cNvPr id="50183" name="Slide Number Placeholder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281B6D97-7F41-4467-8612-1FC6E42FA1DB}" type="slidenum">
              <a:rPr lang="en-US" altLang="en-US" sz="1400">
                <a:solidFill>
                  <a:schemeClr val="accent1"/>
                </a:solidFill>
              </a:rPr>
              <a:pPr/>
              <a:t>18</a:t>
            </a:fld>
            <a:endParaRPr lang="en-US" altLang="en-US" sz="1400">
              <a:solidFill>
                <a:schemeClr val="accent1"/>
              </a:solidFill>
            </a:endParaRPr>
          </a:p>
        </p:txBody>
      </p:sp>
      <p:sp>
        <p:nvSpPr>
          <p:cNvPr id="50180" name="Text Box 5"/>
          <p:cNvSpPr txBox="1">
            <a:spLocks noChangeArrowheads="1"/>
          </p:cNvSpPr>
          <p:nvPr/>
        </p:nvSpPr>
        <p:spPr bwMode="auto">
          <a:xfrm>
            <a:off x="174625" y="1120775"/>
            <a:ext cx="8199437" cy="280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lnSpc>
                <a:spcPct val="130000"/>
              </a:lnSpc>
              <a:spcBef>
                <a:spcPct val="50000"/>
              </a:spcBef>
            </a:pPr>
            <a:r>
              <a:rPr lang="en-US" altLang="en-US" b="1" dirty="0">
                <a:solidFill>
                  <a:srgbClr val="000000"/>
                </a:solidFill>
              </a:rPr>
              <a:t>Example:  How many undergraduates should we survey?</a:t>
            </a:r>
            <a:endParaRPr lang="en-US" altLang="en-US" dirty="0">
              <a:solidFill>
                <a:srgbClr val="000000"/>
              </a:solidFill>
            </a:endParaRPr>
          </a:p>
          <a:p>
            <a:pPr eaLnBrk="1" hangingPunct="1">
              <a:spcBef>
                <a:spcPct val="50000"/>
              </a:spcBef>
            </a:pPr>
            <a:r>
              <a:rPr lang="en-US" altLang="en-US" dirty="0">
                <a:solidFill>
                  <a:srgbClr val="000000"/>
                </a:solidFill>
              </a:rPr>
              <a:t>Suppose we are planning a survey about college savings programs. We want the margin of error of the amount contributed to be $30 with 95% confidence. Let us assume the population standard deviation, </a:t>
            </a:r>
            <a:r>
              <a:rPr lang="en-US" altLang="en-US" i="1" dirty="0">
                <a:solidFill>
                  <a:srgbClr val="000000"/>
                </a:solidFill>
              </a:rPr>
              <a:t>σ</a:t>
            </a:r>
            <a:r>
              <a:rPr lang="en-US" altLang="en-US" dirty="0">
                <a:solidFill>
                  <a:srgbClr val="000000"/>
                </a:solidFill>
              </a:rPr>
              <a:t>, equals $1483.</a:t>
            </a:r>
            <a:endParaRPr lang="en-US" altLang="en-US" i="1" dirty="0">
              <a:solidFill>
                <a:srgbClr val="000000"/>
              </a:solidFill>
            </a:endParaRPr>
          </a:p>
          <a:p>
            <a:pPr eaLnBrk="1" hangingPunct="1">
              <a:spcBef>
                <a:spcPct val="50000"/>
              </a:spcBef>
            </a:pPr>
            <a:r>
              <a:rPr lang="en-US" altLang="en-US" dirty="0">
                <a:solidFill>
                  <a:srgbClr val="000000"/>
                </a:solidFill>
              </a:rPr>
              <a:t>How many measurements should we take?</a:t>
            </a:r>
          </a:p>
          <a:p>
            <a:pPr eaLnBrk="1" hangingPunct="1">
              <a:spcBef>
                <a:spcPct val="50000"/>
              </a:spcBef>
            </a:pPr>
            <a:r>
              <a:rPr lang="en-US" altLang="en-US" dirty="0">
                <a:solidFill>
                  <a:srgbClr val="000000"/>
                </a:solidFill>
              </a:rPr>
              <a:t>For a 95% confidence interval, </a:t>
            </a:r>
            <a:r>
              <a:rPr lang="en-US" altLang="en-US" i="1" dirty="0">
                <a:solidFill>
                  <a:srgbClr val="000000"/>
                </a:solidFill>
              </a:rPr>
              <a:t>z</a:t>
            </a:r>
            <a:r>
              <a:rPr lang="en-US" altLang="en-US" dirty="0">
                <a:solidFill>
                  <a:srgbClr val="000000"/>
                </a:solidFill>
              </a:rPr>
              <a:t>* = 1.96.</a:t>
            </a:r>
          </a:p>
        </p:txBody>
      </p:sp>
      <p:pic>
        <p:nvPicPr>
          <p:cNvPr id="50181" name="Picture 10" descr="The image shows the standard Normal probabilities or table of &quot;z/t&quot; values to find the critical value &quot;z*&quot;. For a particular confidence level, C, the appropriate z* value is just above it on the table"/>
          <p:cNvPicPr>
            <a:picLocks noChangeAspect="1" noChangeArrowheads="1"/>
          </p:cNvPicPr>
          <p:nvPr/>
        </p:nvPicPr>
        <p:blipFill>
          <a:blip r:embed="rId4">
            <a:extLst>
              <a:ext uri="{28A0092B-C50C-407E-A947-70E740481C1C}">
                <a14:useLocalDpi xmlns:a14="http://schemas.microsoft.com/office/drawing/2010/main" val="0"/>
              </a:ext>
            </a:extLst>
          </a:blip>
          <a:srcRect l="2377" t="36124" r="1463" b="8257"/>
          <a:stretch>
            <a:fillRect/>
          </a:stretch>
        </p:blipFill>
        <p:spPr bwMode="auto">
          <a:xfrm>
            <a:off x="97201" y="5737225"/>
            <a:ext cx="8926878" cy="914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59532" name="Object 2" descr="The image shows to determine the sample size &quot;n&quot; as bracket open bracket open critical value &quot;Z*&quot; multiplied  by Standard deviation of the statistic &quot;σ&quot; bracket close divided by Margin of Error &quot;m&quot; bracket close Squared. The expression n equals to bracket open 1.96 multiplied by 1483, divide by 30 bracket close Squared, equals to 9387.54."/>
          <p:cNvGraphicFramePr>
            <a:graphicFrameLocks noGrp="1" noChangeAspect="1"/>
          </p:cNvGraphicFramePr>
          <p:nvPr>
            <p:ph sz="half" idx="4294967295"/>
            <p:extLst>
              <p:ext uri="{D42A27DB-BD31-4B8C-83A1-F6EECF244321}">
                <p14:modId xmlns:p14="http://schemas.microsoft.com/office/powerpoint/2010/main" val="2961641748"/>
              </p:ext>
            </p:extLst>
          </p:nvPr>
        </p:nvGraphicFramePr>
        <p:xfrm>
          <a:off x="2339011" y="3971925"/>
          <a:ext cx="4638675" cy="755650"/>
        </p:xfrm>
        <a:graphic>
          <a:graphicData uri="http://schemas.openxmlformats.org/presentationml/2006/ole">
            <mc:AlternateContent xmlns:mc="http://schemas.openxmlformats.org/markup-compatibility/2006">
              <mc:Choice xmlns:v="urn:schemas-microsoft-com:vml" Requires="v">
                <p:oleObj spid="_x0000_s50266" name="Equation" r:id="rId5" imgW="2806700" imgH="457200" progId="Equation.3">
                  <p:embed/>
                </p:oleObj>
              </mc:Choice>
              <mc:Fallback>
                <p:oleObj name="Equation" r:id="rId5" imgW="2806700" imgH="457200" progId="Equation.3">
                  <p:embed/>
                  <p:pic>
                    <p:nvPicPr>
                      <p:cNvPr id="0" name="Object 2" descr="The image shows to determine the sample size &quot;n&quot; as bracket open bracket open critical value &quot;Z*&quot; multiplied  by Standard deviation of the statistic &quot;σ&quot; bracket close divided by Margin of Error &quot;m&quot; bracket close Squared. The expression n equals to bracket open 1.96 multiplied by 1483, divide by 30 bracket close Squared, equals to 9387.5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39011" y="3971925"/>
                        <a:ext cx="4638675" cy="755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59535" name="Text Box 15"/>
          <p:cNvSpPr txBox="1">
            <a:spLocks noChangeArrowheads="1"/>
          </p:cNvSpPr>
          <p:nvPr/>
        </p:nvSpPr>
        <p:spPr bwMode="auto">
          <a:xfrm>
            <a:off x="179387" y="4778375"/>
            <a:ext cx="81946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dirty="0">
                <a:solidFill>
                  <a:srgbClr val="000000"/>
                </a:solidFill>
              </a:rPr>
              <a:t>Using only 9387 measurements will not be enough to ensure that </a:t>
            </a:r>
            <a:r>
              <a:rPr lang="en-US" altLang="en-US" i="1" dirty="0">
                <a:solidFill>
                  <a:srgbClr val="000000"/>
                </a:solidFill>
              </a:rPr>
              <a:t>m</a:t>
            </a:r>
            <a:r>
              <a:rPr lang="en-US" altLang="en-US" dirty="0">
                <a:solidFill>
                  <a:srgbClr val="000000"/>
                </a:solidFill>
              </a:rPr>
              <a:t> is no more than $30. Therefore, we need at least 9388 measurements.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25953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595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3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174625" y="156605"/>
            <a:ext cx="5791460" cy="772639"/>
          </a:xfrm>
        </p:spPr>
        <p:txBody>
          <a:bodyPr/>
          <a:lstStyle/>
          <a:p>
            <a:pPr eaLnBrk="1" hangingPunct="1">
              <a:lnSpc>
                <a:spcPct val="110000"/>
              </a:lnSpc>
            </a:pPr>
            <a:r>
              <a:rPr lang="en-US" altLang="en-US" dirty="0">
                <a:solidFill>
                  <a:srgbClr val="073779"/>
                </a:solidFill>
                <a:ea typeface="ＭＳ Ｐゴシック" pitchFamily="34" charset="-128"/>
              </a:rPr>
              <a:t>Some Cautions</a:t>
            </a:r>
          </a:p>
        </p:txBody>
      </p:sp>
      <p:sp>
        <p:nvSpPr>
          <p:cNvPr id="52228" name="Slide Number Placeholder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9DB6C659-D3ED-4A4A-86F3-164BC2E2FDE5}" type="slidenum">
              <a:rPr lang="en-US" altLang="en-US" sz="1400">
                <a:solidFill>
                  <a:schemeClr val="accent1"/>
                </a:solidFill>
              </a:rPr>
              <a:pPr/>
              <a:t>19</a:t>
            </a:fld>
            <a:endParaRPr lang="en-US" altLang="en-US" sz="1400">
              <a:solidFill>
                <a:schemeClr val="accent1"/>
              </a:solidFill>
            </a:endParaRPr>
          </a:p>
        </p:txBody>
      </p:sp>
      <p:sp>
        <p:nvSpPr>
          <p:cNvPr id="41987" name="Rectangle 3"/>
          <p:cNvSpPr>
            <a:spLocks noGrp="1" noChangeArrowheads="1"/>
          </p:cNvSpPr>
          <p:nvPr>
            <p:ph type="body" idx="4294967295"/>
          </p:nvPr>
        </p:nvSpPr>
        <p:spPr>
          <a:xfrm>
            <a:off x="174625" y="1282023"/>
            <a:ext cx="8804483" cy="4802188"/>
          </a:xfrm>
          <a:solidFill>
            <a:srgbClr val="FFD780"/>
          </a:solidFill>
        </p:spPr>
        <p:txBody>
          <a:bodyPr/>
          <a:lstStyle/>
          <a:p>
            <a:pPr algn="just" eaLnBrk="1" hangingPunct="1">
              <a:lnSpc>
                <a:spcPct val="120000"/>
              </a:lnSpc>
              <a:buFont typeface="Wingdings 2" charset="0"/>
              <a:buChar char="¡"/>
              <a:defRPr/>
            </a:pPr>
            <a:r>
              <a:rPr lang="en-US" altLang="en-US" dirty="0">
                <a:solidFill>
                  <a:schemeClr val="tx1"/>
                </a:solidFill>
                <a:ea typeface="ＭＳ Ｐゴシック" pitchFamily="-65" charset="-128"/>
              </a:rPr>
              <a:t>The data should be an </a:t>
            </a:r>
            <a:r>
              <a:rPr lang="en-US" altLang="en-US" b="1" dirty="0">
                <a:solidFill>
                  <a:schemeClr val="tx1"/>
                </a:solidFill>
                <a:ea typeface="ＭＳ Ｐゴシック" pitchFamily="-65" charset="-128"/>
              </a:rPr>
              <a:t>SRS</a:t>
            </a:r>
            <a:r>
              <a:rPr lang="en-US" altLang="en-US" dirty="0">
                <a:solidFill>
                  <a:schemeClr val="tx1"/>
                </a:solidFill>
                <a:ea typeface="ＭＳ Ｐゴシック" pitchFamily="-65" charset="-128"/>
              </a:rPr>
              <a:t> from the population.</a:t>
            </a:r>
          </a:p>
          <a:p>
            <a:pPr algn="just" eaLnBrk="1" hangingPunct="1">
              <a:lnSpc>
                <a:spcPct val="120000"/>
              </a:lnSpc>
              <a:buFont typeface="Wingdings 2" pitchFamily="-65" charset="2"/>
              <a:buChar char="¡"/>
              <a:defRPr/>
            </a:pPr>
            <a:r>
              <a:rPr lang="en-US" altLang="en-US" dirty="0">
                <a:solidFill>
                  <a:schemeClr val="tx1"/>
                </a:solidFill>
                <a:ea typeface="ＭＳ Ｐゴシック" pitchFamily="-65" charset="-128"/>
              </a:rPr>
              <a:t>The formulas for confidence interval and sample size are </a:t>
            </a:r>
            <a:r>
              <a:rPr lang="en-US" altLang="en-US" b="1" dirty="0">
                <a:solidFill>
                  <a:schemeClr val="tx1"/>
                </a:solidFill>
                <a:ea typeface="ＭＳ Ｐゴシック" pitchFamily="-65" charset="-128"/>
              </a:rPr>
              <a:t>not</a:t>
            </a:r>
            <a:r>
              <a:rPr lang="en-US" altLang="en-US" dirty="0">
                <a:solidFill>
                  <a:schemeClr val="tx1"/>
                </a:solidFill>
                <a:ea typeface="ＭＳ Ｐゴシック" pitchFamily="-65" charset="-128"/>
              </a:rPr>
              <a:t> correct for other sampling methods.</a:t>
            </a:r>
          </a:p>
          <a:p>
            <a:pPr algn="just">
              <a:buFont typeface="Wingdings 2" pitchFamily="-65" charset="2"/>
              <a:buChar char="¡"/>
              <a:defRPr/>
            </a:pPr>
            <a:r>
              <a:rPr lang="en-US" altLang="en-US" dirty="0">
                <a:solidFill>
                  <a:schemeClr val="tx1"/>
                </a:solidFill>
                <a:ea typeface="ＭＳ Ｐゴシック" pitchFamily="-65" charset="-128"/>
              </a:rPr>
              <a:t>Inference </a:t>
            </a:r>
            <a:r>
              <a:rPr lang="en-US" altLang="en-US" b="1" dirty="0">
                <a:solidFill>
                  <a:schemeClr val="tx1"/>
                </a:solidFill>
                <a:ea typeface="ＭＳ Ｐゴシック" pitchFamily="-65" charset="-128"/>
              </a:rPr>
              <a:t>cannot</a:t>
            </a:r>
            <a:r>
              <a:rPr lang="en-US" altLang="en-US" dirty="0">
                <a:solidFill>
                  <a:schemeClr val="tx1"/>
                </a:solidFill>
                <a:ea typeface="ＭＳ Ｐゴシック" pitchFamily="-65" charset="-128"/>
              </a:rPr>
              <a:t> rescue badly produced data.</a:t>
            </a:r>
          </a:p>
          <a:p>
            <a:pPr algn="just">
              <a:buFont typeface="Wingdings 2" pitchFamily="-65" charset="2"/>
              <a:buChar char="¡"/>
              <a:defRPr/>
            </a:pPr>
            <a:r>
              <a:rPr lang="en-US" altLang="en-US" dirty="0">
                <a:solidFill>
                  <a:schemeClr val="tx1"/>
                </a:solidFill>
                <a:ea typeface="ＭＳ Ｐゴシック" pitchFamily="-65" charset="-128"/>
              </a:rPr>
              <a:t>Confidence intervals are </a:t>
            </a:r>
            <a:r>
              <a:rPr lang="en-US" altLang="en-US" b="1" dirty="0">
                <a:solidFill>
                  <a:schemeClr val="tx1"/>
                </a:solidFill>
                <a:ea typeface="ＭＳ Ｐゴシック" pitchFamily="-65" charset="-128"/>
              </a:rPr>
              <a:t>not resistant </a:t>
            </a:r>
            <a:r>
              <a:rPr lang="en-US" altLang="en-US" dirty="0">
                <a:solidFill>
                  <a:schemeClr val="tx1"/>
                </a:solidFill>
                <a:ea typeface="ＭＳ Ｐゴシック" pitchFamily="-65" charset="-128"/>
              </a:rPr>
              <a:t>to outliers.</a:t>
            </a:r>
          </a:p>
          <a:p>
            <a:pPr algn="just">
              <a:buFont typeface="Wingdings 2" pitchFamily="-65" charset="2"/>
              <a:buChar char="¡"/>
              <a:defRPr/>
            </a:pPr>
            <a:r>
              <a:rPr lang="en-US" altLang="en-US" dirty="0">
                <a:solidFill>
                  <a:schemeClr val="tx1"/>
                </a:solidFill>
                <a:ea typeface="ＭＳ Ｐゴシック" pitchFamily="-65" charset="-128"/>
              </a:rPr>
              <a:t>If </a:t>
            </a:r>
            <a:r>
              <a:rPr lang="en-US" altLang="en-US" b="1" i="1" dirty="0">
                <a:solidFill>
                  <a:schemeClr val="tx1"/>
                </a:solidFill>
                <a:ea typeface="ＭＳ Ｐゴシック" pitchFamily="-65" charset="-128"/>
              </a:rPr>
              <a:t>n</a:t>
            </a:r>
            <a:r>
              <a:rPr lang="en-US" altLang="en-US" dirty="0">
                <a:solidFill>
                  <a:schemeClr val="tx1"/>
                </a:solidFill>
                <a:ea typeface="ＭＳ Ｐゴシック" pitchFamily="-65" charset="-128"/>
              </a:rPr>
              <a:t> is small </a:t>
            </a:r>
            <a:r>
              <a:rPr lang="en-US" altLang="en-US" b="1" dirty="0">
                <a:solidFill>
                  <a:schemeClr val="tx1"/>
                </a:solidFill>
                <a:ea typeface="ＭＳ Ｐゴシック" pitchFamily="-65" charset="-128"/>
              </a:rPr>
              <a:t>(&lt;15)</a:t>
            </a:r>
            <a:r>
              <a:rPr lang="en-US" altLang="en-US" dirty="0">
                <a:solidFill>
                  <a:schemeClr val="tx1"/>
                </a:solidFill>
                <a:ea typeface="ＭＳ Ｐゴシック" pitchFamily="-65" charset="-128"/>
              </a:rPr>
              <a:t> and the population is not Normal, the true confidence level will be </a:t>
            </a:r>
            <a:r>
              <a:rPr lang="en-US" altLang="en-US" b="1" dirty="0">
                <a:solidFill>
                  <a:schemeClr val="tx1"/>
                </a:solidFill>
                <a:ea typeface="ＭＳ Ｐゴシック" pitchFamily="-65" charset="-128"/>
              </a:rPr>
              <a:t>different </a:t>
            </a:r>
            <a:r>
              <a:rPr lang="en-US" altLang="en-US" dirty="0">
                <a:solidFill>
                  <a:schemeClr val="tx1"/>
                </a:solidFill>
                <a:ea typeface="ＭＳ Ｐゴシック" pitchFamily="-65" charset="-128"/>
              </a:rPr>
              <a:t>from </a:t>
            </a:r>
            <a:r>
              <a:rPr lang="en-US" altLang="en-US" b="1" i="1" dirty="0">
                <a:solidFill>
                  <a:schemeClr val="tx1"/>
                </a:solidFill>
                <a:ea typeface="ＭＳ Ｐゴシック" pitchFamily="-65" charset="-128"/>
              </a:rPr>
              <a:t>C</a:t>
            </a:r>
            <a:r>
              <a:rPr lang="en-US" altLang="en-US" b="1" dirty="0">
                <a:solidFill>
                  <a:schemeClr val="tx1"/>
                </a:solidFill>
                <a:ea typeface="ＭＳ Ｐゴシック" pitchFamily="-65" charset="-128"/>
              </a:rPr>
              <a:t>.</a:t>
            </a:r>
            <a:r>
              <a:rPr lang="en-US" altLang="en-US" dirty="0">
                <a:solidFill>
                  <a:schemeClr val="tx1"/>
                </a:solidFill>
                <a:ea typeface="ＭＳ Ｐゴシック" pitchFamily="-65" charset="-128"/>
              </a:rPr>
              <a:t> </a:t>
            </a:r>
          </a:p>
          <a:p>
            <a:pPr algn="just">
              <a:buFont typeface="Wingdings 2" pitchFamily="-65" charset="2"/>
              <a:buChar char="¡"/>
              <a:defRPr/>
            </a:pPr>
            <a:r>
              <a:rPr lang="en-US" altLang="en-US" dirty="0">
                <a:solidFill>
                  <a:schemeClr val="tx1"/>
                </a:solidFill>
                <a:ea typeface="ＭＳ Ｐゴシック" pitchFamily="-65" charset="-128"/>
              </a:rPr>
              <a:t>The standard deviation </a:t>
            </a:r>
            <a:r>
              <a:rPr lang="en-US" altLang="en-US" b="1" i="1" dirty="0">
                <a:solidFill>
                  <a:schemeClr val="tx1"/>
                </a:solidFill>
                <a:ea typeface="ＭＳ Ｐゴシック" pitchFamily="-65" charset="-128"/>
                <a:sym typeface="Symbol" pitchFamily="-65" charset="2"/>
              </a:rPr>
              <a:t></a:t>
            </a:r>
            <a:r>
              <a:rPr lang="en-US" altLang="en-US" b="1" dirty="0">
                <a:solidFill>
                  <a:schemeClr val="tx1"/>
                </a:solidFill>
                <a:ea typeface="ＭＳ Ｐゴシック" pitchFamily="-65" charset="-128"/>
              </a:rPr>
              <a:t>  </a:t>
            </a:r>
            <a:r>
              <a:rPr lang="en-US" altLang="en-US" dirty="0">
                <a:solidFill>
                  <a:schemeClr val="tx1"/>
                </a:solidFill>
                <a:ea typeface="ＭＳ Ｐゴシック" pitchFamily="-65" charset="-128"/>
              </a:rPr>
              <a:t>of the population must be known.</a:t>
            </a:r>
          </a:p>
          <a:p>
            <a:pPr algn="just">
              <a:buFont typeface="Wingdings 2" pitchFamily="-65" charset="2"/>
              <a:buChar char="¡"/>
              <a:defRPr/>
            </a:pPr>
            <a:r>
              <a:rPr lang="en-US" altLang="en-US" dirty="0">
                <a:solidFill>
                  <a:schemeClr val="tx1"/>
                </a:solidFill>
                <a:ea typeface="ＭＳ Ｐゴシック" pitchFamily="-65" charset="-128"/>
              </a:rPr>
              <a:t>The margin of error in a confidence interval covers only random sampling errors!</a:t>
            </a:r>
          </a:p>
          <a:p>
            <a:pPr>
              <a:spcAft>
                <a:spcPts val="1200"/>
              </a:spcAft>
              <a:buFont typeface="Wingdings 2" pitchFamily="-65" charset="2"/>
              <a:buChar char="¡"/>
              <a:defRPr/>
            </a:pPr>
            <a:endParaRPr lang="en-US" altLang="en-US" dirty="0">
              <a:solidFill>
                <a:schemeClr val="tx1"/>
              </a:solidFill>
              <a:ea typeface="ＭＳ Ｐゴシック" pitchFamily="-65" charset="-128"/>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1987">
                                            <p:txEl>
                                              <p:pRg st="1" end="1"/>
                                            </p:txEl>
                                          </p:spTgt>
                                        </p:tgtEl>
                                        <p:attrNameLst>
                                          <p:attrName>style.visibility</p:attrName>
                                        </p:attrNameLst>
                                      </p:cBhvr>
                                      <p:to>
                                        <p:strVal val="visible"/>
                                      </p:to>
                                    </p:set>
                                    <p:animEffect transition="in" filter="dissolve">
                                      <p:cBhvr>
                                        <p:cTn id="7" dur="500"/>
                                        <p:tgtEl>
                                          <p:spTgt spid="4198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1987">
                                            <p:txEl>
                                              <p:pRg st="2" end="2"/>
                                            </p:txEl>
                                          </p:spTgt>
                                        </p:tgtEl>
                                        <p:attrNameLst>
                                          <p:attrName>style.visibility</p:attrName>
                                        </p:attrNameLst>
                                      </p:cBhvr>
                                      <p:to>
                                        <p:strVal val="visible"/>
                                      </p:to>
                                    </p:set>
                                    <p:animEffect transition="in" filter="blinds(horizontal)">
                                      <p:cBhvr>
                                        <p:cTn id="12" dur="500"/>
                                        <p:tgtEl>
                                          <p:spTgt spid="4198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1987">
                                            <p:txEl>
                                              <p:pRg st="3" end="3"/>
                                            </p:txEl>
                                          </p:spTgt>
                                        </p:tgtEl>
                                        <p:attrNameLst>
                                          <p:attrName>style.visibility</p:attrName>
                                        </p:attrNameLst>
                                      </p:cBhvr>
                                      <p:to>
                                        <p:strVal val="visible"/>
                                      </p:to>
                                    </p:set>
                                    <p:animEffect transition="in" filter="blinds(horizontal)">
                                      <p:cBhvr>
                                        <p:cTn id="17" dur="500"/>
                                        <p:tgtEl>
                                          <p:spTgt spid="41987">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41987">
                                            <p:txEl>
                                              <p:pRg st="4" end="4"/>
                                            </p:txEl>
                                          </p:spTgt>
                                        </p:tgtEl>
                                        <p:attrNameLst>
                                          <p:attrName>style.visibility</p:attrName>
                                        </p:attrNameLst>
                                      </p:cBhvr>
                                      <p:to>
                                        <p:strVal val="visible"/>
                                      </p:to>
                                    </p:set>
                                    <p:animEffect transition="in" filter="dissolve">
                                      <p:cBhvr>
                                        <p:cTn id="22" dur="500"/>
                                        <p:tgtEl>
                                          <p:spTgt spid="41987">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41987">
                                            <p:txEl>
                                              <p:pRg st="5" end="5"/>
                                            </p:txEl>
                                          </p:spTgt>
                                        </p:tgtEl>
                                        <p:attrNameLst>
                                          <p:attrName>style.visibility</p:attrName>
                                        </p:attrNameLst>
                                      </p:cBhvr>
                                      <p:to>
                                        <p:strVal val="visible"/>
                                      </p:to>
                                    </p:set>
                                    <p:animEffect transition="in" filter="blinds(horizontal)">
                                      <p:cBhvr>
                                        <p:cTn id="27" dur="500"/>
                                        <p:tgtEl>
                                          <p:spTgt spid="41987">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0"/>
                                          </p:stCondLst>
                                        </p:cTn>
                                        <p:tgtEl>
                                          <p:spTgt spid="4198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2"/>
          <p:cNvSpPr>
            <a:spLocks noGrp="1"/>
          </p:cNvSpPr>
          <p:nvPr>
            <p:ph type="title"/>
          </p:nvPr>
        </p:nvSpPr>
        <p:spPr>
          <a:xfrm>
            <a:off x="457200" y="342900"/>
            <a:ext cx="6508750" cy="1143000"/>
          </a:xfrm>
        </p:spPr>
        <p:txBody>
          <a:bodyPr anchor="t"/>
          <a:lstStyle/>
          <a:p>
            <a:pPr eaLnBrk="1" hangingPunct="1"/>
            <a:r>
              <a:rPr lang="en-US" altLang="en-US" b="1" dirty="0">
                <a:ea typeface="ＭＳ Ｐゴシック" pitchFamily="34" charset="-128"/>
              </a:rPr>
              <a:t>6.2 Tests of Significance</a:t>
            </a:r>
          </a:p>
        </p:txBody>
      </p:sp>
      <p:sp>
        <p:nvSpPr>
          <p:cNvPr id="54275" name="Text Placeholder 3"/>
          <p:cNvSpPr>
            <a:spLocks noGrp="1"/>
          </p:cNvSpPr>
          <p:nvPr>
            <p:ph idx="1"/>
          </p:nvPr>
        </p:nvSpPr>
        <p:spPr>
          <a:xfrm>
            <a:off x="457199" y="1670154"/>
            <a:ext cx="7832361" cy="4310921"/>
          </a:xfrm>
        </p:spPr>
        <p:txBody>
          <a:bodyPr/>
          <a:lstStyle/>
          <a:p>
            <a:pPr eaLnBrk="1" hangingPunct="1">
              <a:buSzPct val="110000"/>
              <a:buFont typeface="Wingdings" pitchFamily="2" charset="2"/>
              <a:buChar char="§"/>
            </a:pPr>
            <a:r>
              <a:rPr lang="en-US" altLang="en-US" sz="2400" dirty="0">
                <a:solidFill>
                  <a:schemeClr val="accent1"/>
                </a:solidFill>
                <a:ea typeface="ＭＳ Ｐゴシック" pitchFamily="34" charset="-128"/>
              </a:rPr>
              <a:t>The reasoning of significance tests</a:t>
            </a:r>
          </a:p>
          <a:p>
            <a:pPr eaLnBrk="1" hangingPunct="1">
              <a:buSzPct val="110000"/>
              <a:buFont typeface="Wingdings" pitchFamily="2" charset="2"/>
              <a:buChar char="§"/>
            </a:pPr>
            <a:r>
              <a:rPr lang="en-US" altLang="en-US" sz="2400" dirty="0">
                <a:solidFill>
                  <a:schemeClr val="accent1"/>
                </a:solidFill>
                <a:ea typeface="ＭＳ Ｐゴシック" pitchFamily="34" charset="-128"/>
              </a:rPr>
              <a:t>Stating hypotheses</a:t>
            </a:r>
          </a:p>
          <a:p>
            <a:pPr eaLnBrk="1" hangingPunct="1">
              <a:buSzPct val="110000"/>
              <a:buFont typeface="Wingdings" pitchFamily="2" charset="2"/>
              <a:buChar char="§"/>
            </a:pPr>
            <a:r>
              <a:rPr lang="en-US" altLang="en-US" sz="2400" dirty="0">
                <a:solidFill>
                  <a:schemeClr val="accent1"/>
                </a:solidFill>
                <a:ea typeface="ＭＳ Ｐゴシック" pitchFamily="34" charset="-128"/>
              </a:rPr>
              <a:t>Test statistics</a:t>
            </a:r>
          </a:p>
          <a:p>
            <a:pPr eaLnBrk="1" hangingPunct="1">
              <a:buSzPct val="110000"/>
              <a:buFont typeface="Wingdings" pitchFamily="2" charset="2"/>
              <a:buChar char="§"/>
            </a:pPr>
            <a:r>
              <a:rPr lang="en-US" altLang="en-US" sz="2400" i="1" dirty="0">
                <a:solidFill>
                  <a:schemeClr val="accent1"/>
                </a:solidFill>
                <a:ea typeface="ＭＳ Ｐゴシック" pitchFamily="34" charset="-128"/>
              </a:rPr>
              <a:t>P</a:t>
            </a:r>
            <a:r>
              <a:rPr lang="en-US" altLang="en-US" sz="2400" dirty="0">
                <a:solidFill>
                  <a:schemeClr val="accent1"/>
                </a:solidFill>
                <a:ea typeface="ＭＳ Ｐゴシック" pitchFamily="34" charset="-128"/>
              </a:rPr>
              <a:t>-values</a:t>
            </a:r>
          </a:p>
          <a:p>
            <a:pPr eaLnBrk="1" hangingPunct="1">
              <a:buSzPct val="110000"/>
              <a:buFont typeface="Wingdings" pitchFamily="2" charset="2"/>
              <a:buChar char="§"/>
            </a:pPr>
            <a:r>
              <a:rPr lang="en-US" altLang="en-US" sz="2400" dirty="0">
                <a:solidFill>
                  <a:schemeClr val="accent1"/>
                </a:solidFill>
                <a:ea typeface="ＭＳ Ｐゴシック" pitchFamily="34" charset="-128"/>
              </a:rPr>
              <a:t>Statistical significance</a:t>
            </a:r>
          </a:p>
          <a:p>
            <a:pPr eaLnBrk="1" hangingPunct="1">
              <a:buSzPct val="110000"/>
              <a:buFont typeface="Wingdings" pitchFamily="2" charset="2"/>
              <a:buChar char="§"/>
            </a:pPr>
            <a:r>
              <a:rPr lang="en-US" altLang="en-US" sz="2400" dirty="0">
                <a:solidFill>
                  <a:schemeClr val="accent1"/>
                </a:solidFill>
                <a:ea typeface="ＭＳ Ｐゴシック" pitchFamily="34" charset="-128"/>
              </a:rPr>
              <a:t>Tests for a population mean</a:t>
            </a:r>
          </a:p>
          <a:p>
            <a:pPr eaLnBrk="1" hangingPunct="1">
              <a:buSzPct val="110000"/>
              <a:buFont typeface="Wingdings" pitchFamily="2" charset="2"/>
              <a:buChar char="§"/>
            </a:pPr>
            <a:r>
              <a:rPr lang="en-US" altLang="en-US" sz="2400" dirty="0">
                <a:solidFill>
                  <a:schemeClr val="accent1"/>
                </a:solidFill>
                <a:ea typeface="ＭＳ Ｐゴシック" pitchFamily="34" charset="-128"/>
              </a:rPr>
              <a:t>Two-sided significance tests and confidence intervals</a:t>
            </a:r>
          </a:p>
        </p:txBody>
      </p:sp>
      <p:sp>
        <p:nvSpPr>
          <p:cNvPr id="54276"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CAE1C8DF-DA78-4BAA-8A13-81EBAAF52C0B}" type="slidenum">
              <a:rPr lang="en-US" altLang="en-US" sz="1400">
                <a:solidFill>
                  <a:schemeClr val="accent1"/>
                </a:solidFill>
              </a:rPr>
              <a:pPr/>
              <a:t>20</a:t>
            </a:fld>
            <a:endParaRPr lang="en-US" altLang="en-US" sz="1400">
              <a:solidFill>
                <a:schemeClr val="accent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300" name="Rectangle 2"/>
          <p:cNvSpPr>
            <a:spLocks noGrp="1" noChangeArrowheads="1"/>
          </p:cNvSpPr>
          <p:nvPr>
            <p:ph type="title"/>
          </p:nvPr>
        </p:nvSpPr>
        <p:spPr/>
        <p:txBody>
          <a:bodyPr/>
          <a:lstStyle/>
          <a:p>
            <a:pPr eaLnBrk="1" hangingPunct="1"/>
            <a:r>
              <a:rPr lang="en-US" altLang="en-US" dirty="0">
                <a:ea typeface="ＭＳ Ｐゴシック" pitchFamily="34" charset="-128"/>
              </a:rPr>
              <a:t>Statistical Inference 2</a:t>
            </a:r>
          </a:p>
        </p:txBody>
      </p:sp>
      <p:sp>
        <p:nvSpPr>
          <p:cNvPr id="5529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997E5B23-E68C-4FC0-B03C-29EB8A094E25}" type="slidenum">
              <a:rPr lang="en-US" altLang="en-US" sz="1200">
                <a:solidFill>
                  <a:schemeClr val="accent1"/>
                </a:solidFill>
              </a:rPr>
              <a:pPr>
                <a:lnSpc>
                  <a:spcPct val="80000"/>
                </a:lnSpc>
              </a:pPr>
              <a:t>21</a:t>
            </a:fld>
            <a:endParaRPr lang="en-US" altLang="en-US" sz="1200">
              <a:solidFill>
                <a:schemeClr val="accent1"/>
              </a:solidFill>
            </a:endParaRPr>
          </a:p>
        </p:txBody>
      </p:sp>
      <p:sp>
        <p:nvSpPr>
          <p:cNvPr id="55298" name="Rectangle 3"/>
          <p:cNvSpPr txBox="1">
            <a:spLocks noChangeArrowheads="1"/>
          </p:cNvSpPr>
          <p:nvPr/>
        </p:nvSpPr>
        <p:spPr bwMode="auto">
          <a:xfrm>
            <a:off x="193675" y="1308894"/>
            <a:ext cx="8412163" cy="2228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just">
              <a:buFont typeface="Wingdings" pitchFamily="2" charset="2"/>
              <a:buNone/>
            </a:pPr>
            <a:r>
              <a:rPr lang="en-US" altLang="en-US" dirty="0">
                <a:solidFill>
                  <a:schemeClr val="tx1"/>
                </a:solidFill>
              </a:rPr>
              <a:t>Confidence intervals are one of the two most common types of statistical inference. Use a confidence interval when your goal is to estimate a population parameter. </a:t>
            </a:r>
          </a:p>
          <a:p>
            <a:pPr algn="just">
              <a:buFont typeface="Wingdings" pitchFamily="2" charset="2"/>
              <a:buNone/>
            </a:pPr>
            <a:endParaRPr lang="en-US" altLang="en-US" dirty="0">
              <a:solidFill>
                <a:schemeClr val="tx1"/>
              </a:solidFill>
            </a:endParaRPr>
          </a:p>
          <a:p>
            <a:pPr algn="just">
              <a:buFont typeface="Wingdings" pitchFamily="2" charset="2"/>
              <a:buNone/>
            </a:pPr>
            <a:r>
              <a:rPr lang="en-US" altLang="en-US" dirty="0">
                <a:solidFill>
                  <a:schemeClr val="tx1"/>
                </a:solidFill>
              </a:rPr>
              <a:t>The second common type of inference, called </a:t>
            </a:r>
            <a:r>
              <a:rPr lang="en-US" altLang="en-US" i="1" dirty="0">
                <a:solidFill>
                  <a:schemeClr val="tx1"/>
                </a:solidFill>
              </a:rPr>
              <a:t>tests of significance</a:t>
            </a:r>
            <a:r>
              <a:rPr lang="en-US" altLang="en-US" dirty="0">
                <a:solidFill>
                  <a:schemeClr val="tx1"/>
                </a:solidFill>
              </a:rPr>
              <a:t>, has a different goal: to assess evidence in the data about some claim concerning a population.</a:t>
            </a:r>
          </a:p>
        </p:txBody>
      </p:sp>
      <p:sp>
        <p:nvSpPr>
          <p:cNvPr id="2" name="Rectangle 1"/>
          <p:cNvSpPr>
            <a:spLocks noChangeArrowheads="1"/>
          </p:cNvSpPr>
          <p:nvPr/>
        </p:nvSpPr>
        <p:spPr bwMode="auto">
          <a:xfrm>
            <a:off x="193675" y="3979070"/>
            <a:ext cx="8412162" cy="2708434"/>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just" eaLnBrk="1" hangingPunct="1">
              <a:buFont typeface="Wingdings" charset="2"/>
              <a:buNone/>
              <a:defRPr/>
            </a:pPr>
            <a:r>
              <a:rPr lang="en-US" altLang="en-US" sz="2000" dirty="0">
                <a:solidFill>
                  <a:srgbClr val="000000"/>
                </a:solidFill>
              </a:rPr>
              <a:t>A </a:t>
            </a:r>
            <a:r>
              <a:rPr lang="en-US" altLang="en-US" sz="2000" b="1" dirty="0"/>
              <a:t>test of significance </a:t>
            </a:r>
            <a:r>
              <a:rPr lang="en-US" altLang="en-US" sz="2000" dirty="0">
                <a:solidFill>
                  <a:srgbClr val="000000"/>
                </a:solidFill>
              </a:rPr>
              <a:t>is a formal procedure for comparing observed data with a claim (also called a hypothesis) the truth of which we want to assess. </a:t>
            </a:r>
          </a:p>
          <a:p>
            <a:pPr marL="347663" indent="-341313" algn="just" eaLnBrk="1" hangingPunct="1">
              <a:spcBef>
                <a:spcPts val="600"/>
              </a:spcBef>
              <a:buClr>
                <a:schemeClr val="accent1"/>
              </a:buClr>
              <a:buFont typeface="Wingdings" charset="2"/>
              <a:buChar char="§"/>
              <a:defRPr/>
            </a:pPr>
            <a:r>
              <a:rPr lang="en-US" altLang="en-US" sz="2000" dirty="0">
                <a:solidFill>
                  <a:srgbClr val="000000"/>
                </a:solidFill>
              </a:rPr>
              <a:t>The claim is a statement about a parameter such as the population proportion </a:t>
            </a:r>
            <a:r>
              <a:rPr lang="en-US" altLang="en-US" sz="2000" i="1" dirty="0">
                <a:solidFill>
                  <a:srgbClr val="000000"/>
                </a:solidFill>
              </a:rPr>
              <a:t>p</a:t>
            </a:r>
            <a:r>
              <a:rPr lang="en-US" altLang="en-US" sz="2000" dirty="0">
                <a:solidFill>
                  <a:srgbClr val="000000"/>
                </a:solidFill>
              </a:rPr>
              <a:t> or the population mean </a:t>
            </a:r>
            <a:r>
              <a:rPr lang="en-US" altLang="en-US" sz="2000" i="1" dirty="0">
                <a:solidFill>
                  <a:srgbClr val="000000"/>
                </a:solidFill>
              </a:rPr>
              <a:t>µ</a:t>
            </a:r>
            <a:r>
              <a:rPr lang="en-US" altLang="en-US" sz="2000" dirty="0">
                <a:solidFill>
                  <a:srgbClr val="000000"/>
                </a:solidFill>
              </a:rPr>
              <a:t>. </a:t>
            </a:r>
          </a:p>
          <a:p>
            <a:pPr marL="347663" indent="-341313" algn="just" eaLnBrk="1" hangingPunct="1">
              <a:spcBef>
                <a:spcPts val="600"/>
              </a:spcBef>
              <a:buClr>
                <a:schemeClr val="accent1"/>
              </a:buClr>
              <a:buFont typeface="Wingdings" charset="2"/>
              <a:buChar char="§"/>
              <a:defRPr/>
            </a:pPr>
            <a:r>
              <a:rPr lang="en-US" altLang="en-US" sz="2000" dirty="0">
                <a:solidFill>
                  <a:srgbClr val="000000"/>
                </a:solidFill>
              </a:rPr>
              <a:t>We express the results of a significance test in terms of a probability, called the </a:t>
            </a:r>
            <a:r>
              <a:rPr lang="en-US" altLang="en-US" sz="2000" i="1" dirty="0">
                <a:solidFill>
                  <a:srgbClr val="000000"/>
                </a:solidFill>
              </a:rPr>
              <a:t>P</a:t>
            </a:r>
            <a:r>
              <a:rPr lang="en-US" altLang="en-US" sz="2000" dirty="0">
                <a:solidFill>
                  <a:srgbClr val="000000"/>
                </a:solidFill>
              </a:rPr>
              <a:t>-value, that measures how well the data and the claim agree.</a:t>
            </a:r>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a:xfrm>
            <a:off x="174624" y="307448"/>
            <a:ext cx="8081963" cy="574116"/>
          </a:xfrm>
        </p:spPr>
        <p:txBody>
          <a:bodyPr/>
          <a:lstStyle/>
          <a:p>
            <a:pPr eaLnBrk="1" hangingPunct="1"/>
            <a:r>
              <a:rPr lang="en-US" altLang="en-US" dirty="0">
                <a:ea typeface="ＭＳ Ｐゴシック" pitchFamily="34" charset="-128"/>
              </a:rPr>
              <a:t>The Reasoning of Tests of Significance</a:t>
            </a:r>
          </a:p>
        </p:txBody>
      </p:sp>
      <p:sp>
        <p:nvSpPr>
          <p:cNvPr id="5632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70E02844-12B3-42DF-B094-ED043B18C190}" type="slidenum">
              <a:rPr lang="en-US" altLang="en-US" sz="1200">
                <a:solidFill>
                  <a:schemeClr val="accent1"/>
                </a:solidFill>
              </a:rPr>
              <a:pPr>
                <a:lnSpc>
                  <a:spcPct val="80000"/>
                </a:lnSpc>
              </a:pPr>
              <a:t>22</a:t>
            </a:fld>
            <a:endParaRPr lang="en-US" altLang="en-US" sz="1200">
              <a:solidFill>
                <a:schemeClr val="accent1"/>
              </a:solidFill>
            </a:endParaRPr>
          </a:p>
        </p:txBody>
      </p:sp>
      <p:sp>
        <p:nvSpPr>
          <p:cNvPr id="13" name="Rectangle 12"/>
          <p:cNvSpPr/>
          <p:nvPr/>
        </p:nvSpPr>
        <p:spPr>
          <a:xfrm>
            <a:off x="174624" y="1088799"/>
            <a:ext cx="8842376" cy="1354138"/>
          </a:xfrm>
          <a:prstGeom prst="rect">
            <a:avLst/>
          </a:prstGeom>
          <a:solidFill>
            <a:schemeClr val="accent2">
              <a:lumMod val="40000"/>
              <a:lumOff val="6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just" eaLnBrk="1" hangingPunct="1">
              <a:spcAft>
                <a:spcPts val="1200"/>
              </a:spcAft>
              <a:defRPr/>
            </a:pPr>
            <a:r>
              <a:rPr lang="en-US" altLang="en-US" sz="1800" b="1" dirty="0">
                <a:solidFill>
                  <a:srgbClr val="000000"/>
                </a:solidFill>
                <a:cs typeface="Arial" charset="0"/>
              </a:rPr>
              <a:t>Example: </a:t>
            </a:r>
            <a:r>
              <a:rPr lang="en-US" altLang="en-US" sz="1800" dirty="0">
                <a:solidFill>
                  <a:srgbClr val="000000"/>
                </a:solidFill>
                <a:cs typeface="Arial" charset="0"/>
              </a:rPr>
              <a:t>Suppose a basketball player claimed to be an 80% free-throw shooter. To test this claim, we have him attempt 50 free throws. He makes 32 of them. His sample proportion of made shots is 32/50 = 0.64.</a:t>
            </a:r>
          </a:p>
          <a:p>
            <a:pPr eaLnBrk="1" hangingPunct="1">
              <a:defRPr/>
            </a:pPr>
            <a:r>
              <a:rPr lang="en-US" altLang="en-US" sz="1800" dirty="0">
                <a:solidFill>
                  <a:srgbClr val="000000"/>
                </a:solidFill>
                <a:cs typeface="Arial" charset="0"/>
              </a:rPr>
              <a:t>What can we conclude about the claim based on these sample data?</a:t>
            </a:r>
          </a:p>
        </p:txBody>
      </p:sp>
      <p:sp>
        <p:nvSpPr>
          <p:cNvPr id="8" name="Rectangle 7"/>
          <p:cNvSpPr/>
          <p:nvPr/>
        </p:nvSpPr>
        <p:spPr>
          <a:xfrm>
            <a:off x="225425" y="2616237"/>
            <a:ext cx="4572000" cy="923330"/>
          </a:xfrm>
          <a:prstGeom prst="rect">
            <a:avLst/>
          </a:prstGeom>
          <a:solidFill>
            <a:schemeClr val="accent2">
              <a:lumMod val="40000"/>
              <a:lumOff val="6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wrap="square">
            <a:spAutoFit/>
          </a:bodyPr>
          <a:lstStyle/>
          <a:p>
            <a:pPr algn="just" eaLnBrk="1" hangingPunct="1">
              <a:defRPr/>
            </a:pPr>
            <a:r>
              <a:rPr lang="en-US" dirty="0">
                <a:solidFill>
                  <a:srgbClr val="000000"/>
                </a:solidFill>
                <a:cs typeface="Arial"/>
              </a:rPr>
              <a:t>We can use software to simulate 400 sets of 50 shots each </a:t>
            </a:r>
            <a:r>
              <a:rPr lang="en-US" i="1" dirty="0">
                <a:solidFill>
                  <a:srgbClr val="000000"/>
                </a:solidFill>
                <a:cs typeface="Arial"/>
              </a:rPr>
              <a:t>on the assumption that the player is an 80% free-throw shooter.</a:t>
            </a:r>
            <a:r>
              <a:rPr lang="en-US" dirty="0">
                <a:solidFill>
                  <a:srgbClr val="000000"/>
                </a:solidFill>
                <a:cs typeface="Arial"/>
              </a:rPr>
              <a:t> </a:t>
            </a:r>
          </a:p>
        </p:txBody>
      </p:sp>
      <p:sp>
        <p:nvSpPr>
          <p:cNvPr id="10" name="TextBox 9"/>
          <p:cNvSpPr txBox="1"/>
          <p:nvPr/>
        </p:nvSpPr>
        <p:spPr>
          <a:xfrm>
            <a:off x="225425" y="3712867"/>
            <a:ext cx="4572000" cy="1477963"/>
          </a:xfrm>
          <a:prstGeom prst="rect">
            <a:avLst/>
          </a:prstGeom>
          <a:solidFill>
            <a:schemeClr val="accent2">
              <a:lumMod val="40000"/>
              <a:lumOff val="60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just" eaLnBrk="1" hangingPunct="1">
              <a:defRPr/>
            </a:pPr>
            <a:r>
              <a:rPr lang="en-US" altLang="en-US" sz="1800" dirty="0">
                <a:solidFill>
                  <a:srgbClr val="000000"/>
                </a:solidFill>
              </a:rPr>
              <a:t>We can say how strong the evidence against the player’s claim is by giving the probability that he would make as few as 32 out of 50 free throws if he really makes 80% in the long run.</a:t>
            </a:r>
          </a:p>
        </p:txBody>
      </p:sp>
      <p:sp>
        <p:nvSpPr>
          <p:cNvPr id="9" name="Rectangle 8"/>
          <p:cNvSpPr/>
          <p:nvPr/>
        </p:nvSpPr>
        <p:spPr>
          <a:xfrm>
            <a:off x="225425" y="5364130"/>
            <a:ext cx="4572000" cy="120015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just" eaLnBrk="1" hangingPunct="1">
              <a:defRPr/>
            </a:pPr>
            <a:r>
              <a:rPr lang="en-US" altLang="en-US" sz="1800" i="1" dirty="0"/>
              <a:t>Assuming that the actual parameter value is p = </a:t>
            </a:r>
            <a:r>
              <a:rPr lang="en-US" altLang="en-US" sz="1800" dirty="0"/>
              <a:t>0.80</a:t>
            </a:r>
            <a:r>
              <a:rPr lang="en-US" altLang="en-US" sz="1800" i="1" dirty="0">
                <a:solidFill>
                  <a:srgbClr val="000000"/>
                </a:solidFill>
              </a:rPr>
              <a:t>, </a:t>
            </a:r>
            <a:r>
              <a:rPr lang="en-US" altLang="en-US" sz="1800" dirty="0">
                <a:solidFill>
                  <a:srgbClr val="000000"/>
                </a:solidFill>
              </a:rPr>
              <a:t>the observed statistic is so unlikely that it gives convincing evidence that the player’s claim is not true.</a:t>
            </a:r>
          </a:p>
        </p:txBody>
      </p:sp>
      <p:pic>
        <p:nvPicPr>
          <p:cNvPr id="7" name="Picture 6" descr="The image tries to explain the Reasoning of Statistical Tests of Significance by simulating the data to test the claim. The X-axis represents the sample proportion &quot;p&quot; which range from 0.48 to 0.96 in intervals of 0.02. It shows the stimulation of 400 sets of 50 shots on the assumption that the player is 80 percent free-throw shooter. It shows that on 400 sets of 50 shots there were only 3 times when our shooter made as few as the observed sample proportion &quot;p&quot; equals to &quot;0.64&quot;. Based on the evidence, we might conclude the player’s claim is incorrect."/>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97425" y="2729908"/>
            <a:ext cx="4219575" cy="392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childTnLst>
                                </p:cTn>
                              </p:par>
                            </p:childTnLst>
                          </p:cTn>
                        </p:par>
                        <p:par>
                          <p:cTn id="13" fill="hold" nodeType="afterGroup">
                            <p:stCondLst>
                              <p:cond delay="1000"/>
                            </p:stCondLst>
                            <p:childTnLst>
                              <p:par>
                                <p:cTn id="14" presetID="10" presetClass="entr" presetSubtype="0"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1000"/>
                                        <p:tgtEl>
                                          <p:spTgt spid="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p:txBody>
          <a:bodyPr/>
          <a:lstStyle/>
          <a:p>
            <a:pPr eaLnBrk="1" hangingPunct="1"/>
            <a:r>
              <a:rPr lang="en-US" altLang="en-US" dirty="0">
                <a:ea typeface="ＭＳ Ｐゴシック" pitchFamily="34" charset="-128"/>
              </a:rPr>
              <a:t>Stating Hypotheses</a:t>
            </a:r>
            <a:r>
              <a:rPr lang="en-US" altLang="en-US" sz="2000" dirty="0">
                <a:ea typeface="ＭＳ Ｐゴシック" pitchFamily="34" charset="-128"/>
              </a:rPr>
              <a:t> (1 of 2)</a:t>
            </a:r>
          </a:p>
        </p:txBody>
      </p:sp>
      <p:sp>
        <p:nvSpPr>
          <p:cNvPr id="5734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A37B42CE-9146-4182-80FF-0F0EE1956340}" type="slidenum">
              <a:rPr lang="en-US" altLang="en-US" sz="1200">
                <a:solidFill>
                  <a:schemeClr val="accent1"/>
                </a:solidFill>
              </a:rPr>
              <a:pPr>
                <a:lnSpc>
                  <a:spcPct val="80000"/>
                </a:lnSpc>
              </a:pPr>
              <a:t>23</a:t>
            </a:fld>
            <a:endParaRPr lang="en-US" altLang="en-US" sz="1200">
              <a:solidFill>
                <a:schemeClr val="accent1"/>
              </a:solidFill>
            </a:endParaRPr>
          </a:p>
        </p:txBody>
      </p:sp>
      <p:sp>
        <p:nvSpPr>
          <p:cNvPr id="57348" name="Rectangle 2"/>
          <p:cNvSpPr>
            <a:spLocks noChangeArrowheads="1"/>
          </p:cNvSpPr>
          <p:nvPr/>
        </p:nvSpPr>
        <p:spPr bwMode="auto">
          <a:xfrm>
            <a:off x="174625" y="1128713"/>
            <a:ext cx="828198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Font typeface="Wingdings" pitchFamily="2" charset="2"/>
              <a:buNone/>
            </a:pPr>
            <a:r>
              <a:rPr lang="en-US" altLang="en-US" sz="2000" dirty="0">
                <a:solidFill>
                  <a:srgbClr val="000000"/>
                </a:solidFill>
              </a:rPr>
              <a:t>A significance test starts with a careful statement of the claims we want to compare. </a:t>
            </a:r>
          </a:p>
        </p:txBody>
      </p:sp>
      <p:sp>
        <p:nvSpPr>
          <p:cNvPr id="18" name="TextBox 17"/>
          <p:cNvSpPr txBox="1">
            <a:spLocks noChangeArrowheads="1"/>
          </p:cNvSpPr>
          <p:nvPr/>
        </p:nvSpPr>
        <p:spPr bwMode="auto">
          <a:xfrm>
            <a:off x="244474" y="1939925"/>
            <a:ext cx="8142287" cy="3200400"/>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endParaRPr lang="en-US" altLang="en-US" sz="700" b="1" u="sng" dirty="0">
              <a:solidFill>
                <a:srgbClr val="E81F30"/>
              </a:solidFill>
            </a:endParaRPr>
          </a:p>
          <a:p>
            <a:pPr eaLnBrk="1" hangingPunct="1">
              <a:spcBef>
                <a:spcPct val="0"/>
              </a:spcBef>
              <a:spcAft>
                <a:spcPts val="1800"/>
              </a:spcAft>
              <a:buClrTx/>
              <a:buSzTx/>
              <a:buFontTx/>
              <a:buNone/>
              <a:defRPr/>
            </a:pPr>
            <a:r>
              <a:rPr lang="en-US" altLang="en-US" dirty="0">
                <a:solidFill>
                  <a:srgbClr val="000000"/>
                </a:solidFill>
              </a:rPr>
              <a:t>The claim </a:t>
            </a:r>
            <a:r>
              <a:rPr lang="en-US" altLang="en-US" dirty="0">
                <a:solidFill>
                  <a:schemeClr val="tx1"/>
                </a:solidFill>
              </a:rPr>
              <a:t>tested by a statistical test is called the </a:t>
            </a:r>
            <a:r>
              <a:rPr lang="en-US" altLang="en-US" b="1" dirty="0">
                <a:solidFill>
                  <a:schemeClr val="tx1"/>
                </a:solidFill>
              </a:rPr>
              <a:t>null hypothesis (</a:t>
            </a:r>
            <a:r>
              <a:rPr lang="en-US" altLang="en-US" b="1" i="1" dirty="0">
                <a:solidFill>
                  <a:schemeClr val="tx1"/>
                </a:solidFill>
              </a:rPr>
              <a:t>H</a:t>
            </a:r>
            <a:r>
              <a:rPr lang="en-US" altLang="en-US" b="1" baseline="-25000" dirty="0">
                <a:solidFill>
                  <a:schemeClr val="tx1"/>
                </a:solidFill>
              </a:rPr>
              <a:t>0</a:t>
            </a:r>
            <a:r>
              <a:rPr lang="en-US" altLang="en-US" b="1" dirty="0">
                <a:solidFill>
                  <a:schemeClr val="tx1"/>
                </a:solidFill>
              </a:rPr>
              <a:t>).</a:t>
            </a:r>
            <a:r>
              <a:rPr lang="en-US" altLang="en-US" dirty="0">
                <a:solidFill>
                  <a:schemeClr val="tx1"/>
                </a:solidFill>
              </a:rPr>
              <a:t> The test is designed to assess the strength of the evidence against the null hypothesis. Often, the null hypothesis is a statement of </a:t>
            </a:r>
            <a:r>
              <a:rPr lang="ja-JP" altLang="en-US" dirty="0">
                <a:solidFill>
                  <a:schemeClr val="tx1"/>
                </a:solidFill>
              </a:rPr>
              <a:t>“</a:t>
            </a:r>
            <a:r>
              <a:rPr lang="en-US" altLang="ja-JP" dirty="0">
                <a:solidFill>
                  <a:schemeClr val="tx1"/>
                </a:solidFill>
              </a:rPr>
              <a:t>no effect</a:t>
            </a:r>
            <a:r>
              <a:rPr lang="ja-JP" altLang="en-US" dirty="0">
                <a:solidFill>
                  <a:schemeClr val="tx1"/>
                </a:solidFill>
              </a:rPr>
              <a:t>”</a:t>
            </a:r>
            <a:r>
              <a:rPr lang="en-US" altLang="ja-JP" dirty="0">
                <a:solidFill>
                  <a:schemeClr val="tx1"/>
                </a:solidFill>
              </a:rPr>
              <a:t> or “no difference in the true means.” </a:t>
            </a:r>
          </a:p>
          <a:p>
            <a:pPr eaLnBrk="1" hangingPunct="1">
              <a:spcBef>
                <a:spcPct val="0"/>
              </a:spcBef>
              <a:buClrTx/>
              <a:buSzTx/>
              <a:buFontTx/>
              <a:buNone/>
              <a:defRPr/>
            </a:pPr>
            <a:r>
              <a:rPr lang="en-US" altLang="en-US" dirty="0">
                <a:solidFill>
                  <a:schemeClr val="tx1"/>
                </a:solidFill>
              </a:rPr>
              <a:t>The claim about the population for which we’re trying to find evidence is the </a:t>
            </a:r>
            <a:r>
              <a:rPr lang="en-US" altLang="en-US" b="1" dirty="0">
                <a:solidFill>
                  <a:schemeClr val="tx1"/>
                </a:solidFill>
              </a:rPr>
              <a:t>alternative hypothesis (</a:t>
            </a:r>
            <a:r>
              <a:rPr lang="en-US" altLang="en-US" b="1" i="1" dirty="0">
                <a:solidFill>
                  <a:schemeClr val="tx1"/>
                </a:solidFill>
              </a:rPr>
              <a:t>H</a:t>
            </a:r>
            <a:r>
              <a:rPr lang="en-US" altLang="en-US" b="1" baseline="-25000" dirty="0">
                <a:solidFill>
                  <a:schemeClr val="tx1"/>
                </a:solidFill>
              </a:rPr>
              <a:t>a</a:t>
            </a:r>
            <a:r>
              <a:rPr lang="en-US" altLang="en-US" b="1" dirty="0">
                <a:solidFill>
                  <a:schemeClr val="tx1"/>
                </a:solidFill>
              </a:rPr>
              <a:t>).</a:t>
            </a:r>
            <a:r>
              <a:rPr lang="en-US" altLang="en-US" dirty="0">
                <a:solidFill>
                  <a:schemeClr val="tx1"/>
                </a:solidFill>
              </a:rPr>
              <a:t> The alternative is </a:t>
            </a:r>
            <a:r>
              <a:rPr lang="en-US" altLang="en-US" b="1" dirty="0">
                <a:solidFill>
                  <a:schemeClr val="tx1"/>
                </a:solidFill>
              </a:rPr>
              <a:t>one-sided</a:t>
            </a:r>
            <a:r>
              <a:rPr lang="en-US" altLang="en-US" dirty="0">
                <a:solidFill>
                  <a:schemeClr val="tx1"/>
                </a:solidFill>
              </a:rPr>
              <a:t> if it states either that a parameter is </a:t>
            </a:r>
            <a:r>
              <a:rPr lang="en-US" altLang="en-US" i="1" dirty="0">
                <a:solidFill>
                  <a:schemeClr val="tx1"/>
                </a:solidFill>
              </a:rPr>
              <a:t>larger </a:t>
            </a:r>
            <a:r>
              <a:rPr lang="en-US" altLang="en-US" dirty="0">
                <a:solidFill>
                  <a:schemeClr val="tx1"/>
                </a:solidFill>
              </a:rPr>
              <a:t>than the null hypothesis value or that it is </a:t>
            </a:r>
            <a:r>
              <a:rPr lang="en-US" altLang="en-US" i="1" dirty="0">
                <a:solidFill>
                  <a:schemeClr val="tx1"/>
                </a:solidFill>
              </a:rPr>
              <a:t>smaller than</a:t>
            </a:r>
            <a:r>
              <a:rPr lang="en-US" altLang="en-US" dirty="0">
                <a:solidFill>
                  <a:schemeClr val="tx1"/>
                </a:solidFill>
              </a:rPr>
              <a:t> the null hypothesis value. It is </a:t>
            </a:r>
            <a:r>
              <a:rPr lang="en-US" altLang="en-US" b="1" dirty="0">
                <a:solidFill>
                  <a:schemeClr val="tx1"/>
                </a:solidFill>
              </a:rPr>
              <a:t>two-sided</a:t>
            </a:r>
            <a:r>
              <a:rPr lang="en-US" altLang="en-US" dirty="0">
                <a:solidFill>
                  <a:schemeClr val="tx1"/>
                </a:solidFill>
              </a:rPr>
              <a:t> if it states that the parameter is </a:t>
            </a:r>
            <a:r>
              <a:rPr lang="en-US" altLang="en-US" i="1" dirty="0">
                <a:solidFill>
                  <a:schemeClr val="tx1"/>
                </a:solidFill>
              </a:rPr>
              <a:t>different</a:t>
            </a:r>
            <a:r>
              <a:rPr lang="en-US" altLang="en-US" dirty="0">
                <a:solidFill>
                  <a:schemeClr val="tx1"/>
                </a:solidFill>
              </a:rPr>
              <a:t> </a:t>
            </a:r>
            <a:r>
              <a:rPr lang="en-US" altLang="en-US" i="1" dirty="0">
                <a:solidFill>
                  <a:schemeClr val="tx1"/>
                </a:solidFill>
              </a:rPr>
              <a:t>from</a:t>
            </a:r>
            <a:r>
              <a:rPr lang="en-US" altLang="en-US" dirty="0">
                <a:solidFill>
                  <a:schemeClr val="tx1"/>
                </a:solidFill>
              </a:rPr>
              <a:t> the null value.</a:t>
            </a:r>
            <a:endParaRPr lang="en-US" altLang="en-US" sz="2400" i="1" dirty="0">
              <a:solidFill>
                <a:schemeClr val="tx1"/>
              </a:solidFill>
              <a:latin typeface="Palatino" charset="0"/>
            </a:endParaRPr>
          </a:p>
        </p:txBody>
      </p:sp>
      <p:sp>
        <p:nvSpPr>
          <p:cNvPr id="19" name="Rectangle 18"/>
          <p:cNvSpPr>
            <a:spLocks noChangeArrowheads="1"/>
          </p:cNvSpPr>
          <p:nvPr/>
        </p:nvSpPr>
        <p:spPr bwMode="auto">
          <a:xfrm>
            <a:off x="244474" y="5457825"/>
            <a:ext cx="8281987" cy="140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Aft>
                <a:spcPts val="600"/>
              </a:spcAft>
            </a:pPr>
            <a:r>
              <a:rPr lang="en-US" altLang="en-US" sz="2000" dirty="0"/>
              <a:t>In the free-throw shooter example, let </a:t>
            </a:r>
            <a:r>
              <a:rPr lang="en-US" altLang="en-US" i="1" dirty="0">
                <a:solidFill>
                  <a:srgbClr val="000000"/>
                </a:solidFill>
              </a:rPr>
              <a:t>p</a:t>
            </a:r>
            <a:r>
              <a:rPr lang="en-US" altLang="en-US" dirty="0">
                <a:solidFill>
                  <a:srgbClr val="000000"/>
                </a:solidFill>
              </a:rPr>
              <a:t> be the true long-run proportion of made free throws, and suppose </a:t>
            </a:r>
            <a:r>
              <a:rPr lang="en-US" altLang="en-US" sz="2000" dirty="0"/>
              <a:t>our hypotheses are </a:t>
            </a:r>
          </a:p>
          <a:p>
            <a:pPr algn="ctr" eaLnBrk="1" hangingPunct="1"/>
            <a:r>
              <a:rPr lang="en-US" altLang="en-US" sz="2000" i="1" dirty="0"/>
              <a:t>H</a:t>
            </a:r>
            <a:r>
              <a:rPr lang="en-US" altLang="en-US" sz="2000" baseline="-25000" dirty="0"/>
              <a:t>0</a:t>
            </a:r>
            <a:r>
              <a:rPr lang="en-US" altLang="en-US" sz="2000" dirty="0"/>
              <a:t>: </a:t>
            </a:r>
            <a:r>
              <a:rPr lang="en-US" altLang="en-US" sz="2000" i="1" dirty="0"/>
              <a:t>p</a:t>
            </a:r>
            <a:r>
              <a:rPr lang="en-US" altLang="en-US" sz="2000" dirty="0"/>
              <a:t> = 0.80      </a:t>
            </a:r>
            <a:r>
              <a:rPr lang="en-US" altLang="en-US" sz="2000" i="1" dirty="0"/>
              <a:t>H</a:t>
            </a:r>
            <a:r>
              <a:rPr lang="en-US" altLang="en-US" sz="2000" baseline="-25000" dirty="0"/>
              <a:t>a</a:t>
            </a:r>
            <a:r>
              <a:rPr lang="en-US" altLang="en-US" sz="2000" dirty="0"/>
              <a:t>: </a:t>
            </a:r>
            <a:r>
              <a:rPr lang="en-US" altLang="en-US" sz="2000" i="1" dirty="0"/>
              <a:t>p</a:t>
            </a:r>
            <a:r>
              <a:rPr lang="en-US" altLang="en-US" sz="2000" dirty="0"/>
              <a:t> &lt; 0.80</a:t>
            </a:r>
          </a:p>
          <a:p>
            <a:pPr eaLnBrk="1" hangingPunct="1"/>
            <a:r>
              <a:rPr lang="en-US" altLang="en-US" sz="2000" dirty="0"/>
              <a:t>Here, </a:t>
            </a:r>
            <a:r>
              <a:rPr lang="en-US" altLang="en-US" sz="2000" i="1" dirty="0"/>
              <a:t>H</a:t>
            </a:r>
            <a:r>
              <a:rPr lang="en-US" altLang="en-US" sz="2000" baseline="-25000" dirty="0"/>
              <a:t>a</a:t>
            </a:r>
            <a:r>
              <a:rPr lang="en-US" altLang="en-US" sz="2000" dirty="0"/>
              <a:t> is a </a:t>
            </a:r>
            <a:r>
              <a:rPr lang="en-US" altLang="en-US" sz="2000" i="1" dirty="0"/>
              <a:t>one-sided </a:t>
            </a:r>
            <a:r>
              <a:rPr lang="en-US" altLang="en-US" sz="2000" dirty="0"/>
              <a:t>alternative.</a:t>
            </a:r>
            <a:endParaRPr lang="en-US" altLang="en-US" sz="2000" i="1" baseline="-25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5"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1000" fill="hold"/>
                                        <p:tgtEl>
                                          <p:spTgt spid="19"/>
                                        </p:tgtEl>
                                        <p:attrNameLst>
                                          <p:attrName>ppt_w</p:attrName>
                                        </p:attrNameLst>
                                      </p:cBhvr>
                                      <p:tavLst>
                                        <p:tav tm="0">
                                          <p:val>
                                            <p:fltVal val="0"/>
                                          </p:val>
                                        </p:tav>
                                        <p:tav tm="100000">
                                          <p:val>
                                            <p:strVal val="#ppt_w"/>
                                          </p:val>
                                        </p:tav>
                                      </p:tavLst>
                                    </p:anim>
                                    <p:anim calcmode="lin" valueType="num">
                                      <p:cBhvr>
                                        <p:cTn id="13" dur="1000" fill="hold"/>
                                        <p:tgtEl>
                                          <p:spTgt spid="19"/>
                                        </p:tgtEl>
                                        <p:attrNameLst>
                                          <p:attrName>ppt_h</p:attrName>
                                        </p:attrNameLst>
                                      </p:cBhvr>
                                      <p:tavLst>
                                        <p:tav tm="0">
                                          <p:val>
                                            <p:fltVal val="0"/>
                                          </p:val>
                                        </p:tav>
                                        <p:tav tm="100000">
                                          <p:val>
                                            <p:strVal val="#ppt_h"/>
                                          </p:val>
                                        </p:tav>
                                      </p:tavLst>
                                    </p:anim>
                                    <p:anim calcmode="lin" valueType="num">
                                      <p:cBhvr>
                                        <p:cTn id="14" dur="1000" fill="hold"/>
                                        <p:tgtEl>
                                          <p:spTgt spid="19"/>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19"/>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1" name="Rectangle 2"/>
          <p:cNvSpPr>
            <a:spLocks noGrp="1" noChangeArrowheads="1"/>
          </p:cNvSpPr>
          <p:nvPr>
            <p:ph type="title"/>
          </p:nvPr>
        </p:nvSpPr>
        <p:spPr>
          <a:xfrm>
            <a:off x="174625" y="156605"/>
            <a:ext cx="6309302" cy="772639"/>
          </a:xfrm>
        </p:spPr>
        <p:txBody>
          <a:bodyPr/>
          <a:lstStyle/>
          <a:p>
            <a:pPr eaLnBrk="1" hangingPunct="1"/>
            <a:r>
              <a:rPr lang="en-US" altLang="en-US" dirty="0">
                <a:ea typeface="ＭＳ Ｐゴシック" pitchFamily="34" charset="-128"/>
              </a:rPr>
              <a:t>Stating Hypotheses</a:t>
            </a:r>
            <a:r>
              <a:rPr lang="en-US" altLang="en-US" sz="2000" dirty="0">
                <a:ea typeface="ＭＳ Ｐゴシック" pitchFamily="34" charset="-128"/>
              </a:rPr>
              <a:t> (2 of 2)</a:t>
            </a:r>
          </a:p>
        </p:txBody>
      </p:sp>
      <p:sp>
        <p:nvSpPr>
          <p:cNvPr id="5837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27C22A8B-BF25-4C25-ACE2-E3295A582152}" type="slidenum">
              <a:rPr lang="en-US" altLang="en-US" sz="1200">
                <a:solidFill>
                  <a:schemeClr val="accent1"/>
                </a:solidFill>
              </a:rPr>
              <a:pPr>
                <a:lnSpc>
                  <a:spcPct val="80000"/>
                </a:lnSpc>
              </a:pPr>
              <a:t>24</a:t>
            </a:fld>
            <a:endParaRPr lang="en-US" altLang="en-US" sz="1200">
              <a:solidFill>
                <a:schemeClr val="accent1"/>
              </a:solidFill>
            </a:endParaRPr>
          </a:p>
        </p:txBody>
      </p:sp>
      <p:sp>
        <p:nvSpPr>
          <p:cNvPr id="58372" name="Rectangle 1"/>
          <p:cNvSpPr>
            <a:spLocks noChangeArrowheads="1"/>
          </p:cNvSpPr>
          <p:nvPr/>
        </p:nvSpPr>
        <p:spPr bwMode="auto">
          <a:xfrm>
            <a:off x="253207" y="1095375"/>
            <a:ext cx="8256587"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1" hangingPunct="1">
              <a:buFont typeface="Wingdings" pitchFamily="2" charset="2"/>
              <a:buNone/>
            </a:pPr>
            <a:r>
              <a:rPr lang="en-US" altLang="en-US" b="1" dirty="0">
                <a:solidFill>
                  <a:srgbClr val="000000"/>
                </a:solidFill>
              </a:rPr>
              <a:t>Example:  </a:t>
            </a:r>
            <a:r>
              <a:rPr lang="en-US" altLang="en-US" dirty="0">
                <a:solidFill>
                  <a:srgbClr val="000000"/>
                </a:solidFill>
              </a:rPr>
              <a:t>Does the job satisfaction of assembly-line workers differ when their work is machine-paced rather than self-paced? One study chose 18 subjects at random from a company with over 200 workers who assembled electronic devices. Half of the workers were assigned at random to each of two groups. Both groups did similar assembly work, but one group could pace itself, while the other group used an assembly line that moved at a fixed pace. After two weeks, all the workers took a test of job satisfaction. Then they switched work setups and took the test again after two more weeks. The response variable is the difference in satisfaction scores, self-paced minus machine-paced.</a:t>
            </a:r>
            <a:endParaRPr lang="en-US" altLang="en-US" b="1" dirty="0">
              <a:solidFill>
                <a:srgbClr val="000000"/>
              </a:solidFill>
            </a:endParaRPr>
          </a:p>
        </p:txBody>
      </p:sp>
      <p:sp>
        <p:nvSpPr>
          <p:cNvPr id="12" name="TextBox 11"/>
          <p:cNvSpPr txBox="1">
            <a:spLocks noChangeArrowheads="1"/>
          </p:cNvSpPr>
          <p:nvPr/>
        </p:nvSpPr>
        <p:spPr bwMode="auto">
          <a:xfrm>
            <a:off x="391319" y="3842651"/>
            <a:ext cx="8118475" cy="923925"/>
          </a:xfrm>
          <a:prstGeom prst="rect">
            <a:avLst/>
          </a:prstGeom>
          <a:solidFill>
            <a:srgbClr val="C9CCD8"/>
          </a:solidFill>
          <a:ln w="10000">
            <a:solidFill>
              <a:schemeClr val="accent1"/>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r>
              <a:rPr lang="en-US" altLang="en-US" sz="1800" dirty="0">
                <a:solidFill>
                  <a:srgbClr val="000000"/>
                </a:solidFill>
              </a:rPr>
              <a:t>The </a:t>
            </a:r>
            <a:r>
              <a:rPr lang="en-US" altLang="en-US" sz="1800" dirty="0"/>
              <a:t>parameter of interest is the mean </a:t>
            </a:r>
            <a:r>
              <a:rPr lang="en-US" altLang="en-US" sz="1800" i="1" dirty="0"/>
              <a:t>µ </a:t>
            </a:r>
            <a:r>
              <a:rPr lang="en-US" altLang="en-US" sz="1800" dirty="0"/>
              <a:t>of the differences (</a:t>
            </a:r>
            <a:r>
              <a:rPr lang="en-US" altLang="en-US" sz="1800" i="1" dirty="0"/>
              <a:t>self-paced </a:t>
            </a:r>
            <a:r>
              <a:rPr lang="en-US" altLang="en-US" sz="1800" dirty="0"/>
              <a:t>minus</a:t>
            </a:r>
            <a:r>
              <a:rPr lang="en-US" altLang="en-US" sz="1800" i="1" dirty="0"/>
              <a:t> machine-paced</a:t>
            </a:r>
            <a:r>
              <a:rPr lang="en-US" altLang="en-US" sz="1800" dirty="0"/>
              <a:t>) </a:t>
            </a:r>
            <a:r>
              <a:rPr lang="en-US" altLang="en-US" sz="1800" dirty="0">
                <a:solidFill>
                  <a:srgbClr val="000000"/>
                </a:solidFill>
              </a:rPr>
              <a:t>in job satisfaction scores in the population of all assembly-line workers at this company.</a:t>
            </a:r>
          </a:p>
        </p:txBody>
      </p:sp>
      <p:sp>
        <p:nvSpPr>
          <p:cNvPr id="58373" name="Rectangle 10"/>
          <p:cNvSpPr>
            <a:spLocks noChangeArrowheads="1"/>
          </p:cNvSpPr>
          <p:nvPr/>
        </p:nvSpPr>
        <p:spPr bwMode="auto">
          <a:xfrm>
            <a:off x="443707" y="4976019"/>
            <a:ext cx="8256586" cy="369887"/>
          </a:xfrm>
          <a:prstGeom prst="rect">
            <a:avLst/>
          </a:prstGeom>
          <a:solidFill>
            <a:schemeClr val="bg1">
              <a:lumMod val="85000"/>
            </a:schemeClr>
          </a:solidFill>
          <a:ln>
            <a:noFill/>
          </a:ln>
        </p:spPr>
        <p:txBody>
          <a:bodyPr wrap="square">
            <a:spAutoFit/>
          </a:bodyPr>
          <a:lstStyle/>
          <a:p>
            <a:pPr marL="342900" indent="-342900" algn="ctr" eaLnBrk="1" hangingPunct="1">
              <a:spcAft>
                <a:spcPts val="1800"/>
              </a:spcAft>
              <a:buClr>
                <a:srgbClr val="E81F30"/>
              </a:buClr>
            </a:pPr>
            <a:r>
              <a:rPr lang="en-US" altLang="en-US" b="1" dirty="0">
                <a:highlight>
                  <a:srgbClr val="FFFF00"/>
                </a:highlight>
              </a:rPr>
              <a:t>State appropriate hypotheses for performing a significance test. </a:t>
            </a:r>
          </a:p>
        </p:txBody>
      </p:sp>
      <p:sp>
        <p:nvSpPr>
          <p:cNvPr id="13" name="TextBox 12"/>
          <p:cNvSpPr txBox="1">
            <a:spLocks noChangeArrowheads="1"/>
          </p:cNvSpPr>
          <p:nvPr/>
        </p:nvSpPr>
        <p:spPr bwMode="auto">
          <a:xfrm>
            <a:off x="443707" y="5345906"/>
            <a:ext cx="8256586" cy="1477963"/>
          </a:xfrm>
          <a:prstGeom prst="rect">
            <a:avLst/>
          </a:prstGeom>
          <a:solidFill>
            <a:srgbClr val="C9CCD8"/>
          </a:solidFill>
          <a:ln w="10000">
            <a:solidFill>
              <a:schemeClr val="accent1"/>
            </a:solidFill>
            <a:miter lim="800000"/>
            <a:headEnd/>
            <a:tailEnd/>
          </a:ln>
          <a:effectLst>
            <a:outerShdw blurRad="38100" dist="30000" dir="5400000" rotWithShape="0">
              <a:srgbClr val="808080">
                <a:alpha val="45000"/>
              </a:srgbClr>
            </a:outerShdw>
          </a:effectLst>
        </p:spPr>
        <p:txBody>
          <a:bodyPr wrap="square">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r>
              <a:rPr lang="en-US" altLang="en-US" sz="1800" dirty="0">
                <a:solidFill>
                  <a:srgbClr val="000000"/>
                </a:solidFill>
              </a:rPr>
              <a:t>Because the initial question asked whether the two groups differ in job satisfaction, the alternative hypothesis is two-sided; either </a:t>
            </a:r>
            <a:r>
              <a:rPr lang="en-US" altLang="en-US" sz="1800" i="1" dirty="0">
                <a:solidFill>
                  <a:srgbClr val="000000"/>
                </a:solidFill>
              </a:rPr>
              <a:t>µ </a:t>
            </a:r>
            <a:r>
              <a:rPr lang="en-US" altLang="en-US" sz="1800" dirty="0">
                <a:solidFill>
                  <a:srgbClr val="000000"/>
                </a:solidFill>
              </a:rPr>
              <a:t>&lt; 0 or </a:t>
            </a:r>
            <a:r>
              <a:rPr lang="en-US" altLang="en-US" sz="1800" i="1" dirty="0">
                <a:solidFill>
                  <a:srgbClr val="000000"/>
                </a:solidFill>
              </a:rPr>
              <a:t>µ </a:t>
            </a:r>
            <a:r>
              <a:rPr lang="en-US" altLang="en-US" sz="1800" dirty="0">
                <a:solidFill>
                  <a:srgbClr val="000000"/>
                </a:solidFill>
              </a:rPr>
              <a:t>&gt; 0. For simplicity, we write this as </a:t>
            </a:r>
            <a:r>
              <a:rPr lang="en-US" altLang="en-US" sz="1800" i="1" dirty="0">
                <a:solidFill>
                  <a:srgbClr val="000000"/>
                </a:solidFill>
              </a:rPr>
              <a:t>µ </a:t>
            </a:r>
            <a:r>
              <a:rPr lang="en-US" altLang="en-US" sz="1800" dirty="0">
                <a:solidFill>
                  <a:srgbClr val="000000"/>
                </a:solidFill>
              </a:rPr>
              <a:t>≠ 0. That is,</a:t>
            </a:r>
          </a:p>
          <a:p>
            <a:pPr algn="ctr" eaLnBrk="1" hangingPunct="1">
              <a:defRPr/>
            </a:pPr>
            <a:r>
              <a:rPr lang="en-US" altLang="en-US" sz="1800" i="1" dirty="0">
                <a:solidFill>
                  <a:srgbClr val="000000"/>
                </a:solidFill>
              </a:rPr>
              <a:t>H</a:t>
            </a:r>
            <a:r>
              <a:rPr lang="en-US" altLang="en-US" sz="1800" baseline="-25000" dirty="0">
                <a:solidFill>
                  <a:srgbClr val="000000"/>
                </a:solidFill>
              </a:rPr>
              <a:t>0</a:t>
            </a:r>
            <a:r>
              <a:rPr lang="en-US" altLang="en-US" sz="1800" dirty="0">
                <a:solidFill>
                  <a:srgbClr val="000000"/>
                </a:solidFill>
              </a:rPr>
              <a:t>: </a:t>
            </a:r>
            <a:r>
              <a:rPr lang="en-US" altLang="en-US" sz="1800" i="1" dirty="0">
                <a:solidFill>
                  <a:srgbClr val="000000"/>
                </a:solidFill>
              </a:rPr>
              <a:t>µ</a:t>
            </a:r>
            <a:r>
              <a:rPr lang="en-US" altLang="en-US" sz="1800" dirty="0">
                <a:solidFill>
                  <a:srgbClr val="000000"/>
                </a:solidFill>
              </a:rPr>
              <a:t> = 0</a:t>
            </a:r>
          </a:p>
          <a:p>
            <a:pPr algn="ctr" eaLnBrk="1" hangingPunct="1">
              <a:defRPr/>
            </a:pPr>
            <a:r>
              <a:rPr lang="en-US" altLang="en-US" sz="1800" i="1" dirty="0">
                <a:solidFill>
                  <a:srgbClr val="000000"/>
                </a:solidFill>
              </a:rPr>
              <a:t>H</a:t>
            </a:r>
            <a:r>
              <a:rPr lang="en-US" altLang="en-US" sz="1800" baseline="-25000" dirty="0">
                <a:solidFill>
                  <a:srgbClr val="000000"/>
                </a:solidFill>
              </a:rPr>
              <a:t>a</a:t>
            </a:r>
            <a:r>
              <a:rPr lang="en-US" altLang="en-US" sz="1800" dirty="0">
                <a:solidFill>
                  <a:srgbClr val="000000"/>
                </a:solidFill>
              </a:rPr>
              <a:t>: </a:t>
            </a:r>
            <a:r>
              <a:rPr lang="en-US" altLang="en-US" sz="1800" i="1" dirty="0">
                <a:solidFill>
                  <a:srgbClr val="000000"/>
                </a:solidFill>
              </a:rPr>
              <a:t>µ</a:t>
            </a:r>
            <a:r>
              <a:rPr lang="en-US" altLang="en-US" sz="1800" dirty="0">
                <a:solidFill>
                  <a:srgbClr val="000000"/>
                </a:solidFill>
              </a:rPr>
              <a:t> ≠ 0</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p:txBody>
          <a:bodyPr/>
          <a:lstStyle/>
          <a:p>
            <a:pPr eaLnBrk="1" hangingPunct="1"/>
            <a:r>
              <a:rPr lang="en-US" altLang="en-US">
                <a:ea typeface="ＭＳ Ｐゴシック" pitchFamily="34" charset="-128"/>
              </a:rPr>
              <a:t>Test Statistic</a:t>
            </a:r>
          </a:p>
        </p:txBody>
      </p:sp>
      <p:sp>
        <p:nvSpPr>
          <p:cNvPr id="5939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F3A65FFC-0FDF-41D2-8CBC-9EB662326B07}" type="slidenum">
              <a:rPr lang="en-US" altLang="en-US" sz="1200">
                <a:solidFill>
                  <a:schemeClr val="accent1"/>
                </a:solidFill>
              </a:rPr>
              <a:pPr>
                <a:lnSpc>
                  <a:spcPct val="80000"/>
                </a:lnSpc>
              </a:pPr>
              <a:t>25</a:t>
            </a:fld>
            <a:endParaRPr lang="en-US" altLang="en-US" sz="1200">
              <a:solidFill>
                <a:schemeClr val="accent1"/>
              </a:solidFill>
            </a:endParaRPr>
          </a:p>
        </p:txBody>
      </p:sp>
      <p:sp>
        <p:nvSpPr>
          <p:cNvPr id="59396" name="Rectangle 1"/>
          <p:cNvSpPr>
            <a:spLocks noChangeArrowheads="1"/>
          </p:cNvSpPr>
          <p:nvPr/>
        </p:nvSpPr>
        <p:spPr bwMode="auto">
          <a:xfrm>
            <a:off x="174625" y="1103275"/>
            <a:ext cx="8354778"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buFont typeface="Wingdings" pitchFamily="2" charset="2"/>
              <a:buNone/>
            </a:pPr>
            <a:r>
              <a:rPr lang="en-US" altLang="en-US" sz="2000" dirty="0">
                <a:solidFill>
                  <a:srgbClr val="000000"/>
                </a:solidFill>
              </a:rPr>
              <a:t>A test of significance is based on a statistic that estimates the parameter that appears in the hypotheses. When </a:t>
            </a:r>
            <a:r>
              <a:rPr lang="en-US" altLang="en-US" sz="2000" i="1" dirty="0">
                <a:solidFill>
                  <a:srgbClr val="000000"/>
                </a:solidFill>
              </a:rPr>
              <a:t>H</a:t>
            </a:r>
            <a:r>
              <a:rPr lang="en-US" altLang="en-US" sz="2000" baseline="-25000" dirty="0">
                <a:solidFill>
                  <a:srgbClr val="000000"/>
                </a:solidFill>
              </a:rPr>
              <a:t>0</a:t>
            </a:r>
            <a:r>
              <a:rPr lang="en-US" altLang="en-US" sz="2000" dirty="0">
                <a:solidFill>
                  <a:srgbClr val="000000"/>
                </a:solidFill>
              </a:rPr>
              <a:t> is true, we expect the estimate to be near the parameter value specified in </a:t>
            </a:r>
            <a:r>
              <a:rPr lang="en-US" altLang="en-US" sz="2000" i="1" dirty="0">
                <a:solidFill>
                  <a:srgbClr val="000000"/>
                </a:solidFill>
              </a:rPr>
              <a:t>H</a:t>
            </a:r>
            <a:r>
              <a:rPr lang="en-US" altLang="en-US" sz="2000" baseline="-25000" dirty="0">
                <a:solidFill>
                  <a:srgbClr val="000000"/>
                </a:solidFill>
              </a:rPr>
              <a:t>0</a:t>
            </a:r>
            <a:r>
              <a:rPr lang="en-US" altLang="en-US" sz="2000" dirty="0">
                <a:solidFill>
                  <a:srgbClr val="000000"/>
                </a:solidFill>
              </a:rPr>
              <a:t>.</a:t>
            </a:r>
          </a:p>
          <a:p>
            <a:pPr eaLnBrk="1" hangingPunct="1">
              <a:buFont typeface="Wingdings" pitchFamily="2" charset="2"/>
              <a:buNone/>
            </a:pPr>
            <a:endParaRPr lang="en-US" altLang="en-US" sz="2000" dirty="0">
              <a:solidFill>
                <a:srgbClr val="000000"/>
              </a:solidFill>
            </a:endParaRPr>
          </a:p>
          <a:p>
            <a:pPr eaLnBrk="1" hangingPunct="1">
              <a:buFont typeface="Wingdings" pitchFamily="2" charset="2"/>
              <a:buNone/>
            </a:pPr>
            <a:r>
              <a:rPr lang="en-US" altLang="en-US" sz="2000" dirty="0">
                <a:solidFill>
                  <a:srgbClr val="000000"/>
                </a:solidFill>
              </a:rPr>
              <a:t>Values of the estimate far from the parameter value specified by </a:t>
            </a:r>
            <a:r>
              <a:rPr lang="en-US" altLang="en-US" sz="2000" i="1" dirty="0">
                <a:solidFill>
                  <a:srgbClr val="000000"/>
                </a:solidFill>
              </a:rPr>
              <a:t>H</a:t>
            </a:r>
            <a:r>
              <a:rPr lang="en-US" altLang="en-US" sz="2000" baseline="-25000" dirty="0">
                <a:solidFill>
                  <a:srgbClr val="000000"/>
                </a:solidFill>
              </a:rPr>
              <a:t>0</a:t>
            </a:r>
            <a:r>
              <a:rPr lang="en-US" altLang="en-US" sz="2000" dirty="0">
                <a:solidFill>
                  <a:srgbClr val="000000"/>
                </a:solidFill>
              </a:rPr>
              <a:t> give evidence against </a:t>
            </a:r>
            <a:r>
              <a:rPr lang="en-US" altLang="en-US" sz="2000" i="1" dirty="0">
                <a:solidFill>
                  <a:srgbClr val="000000"/>
                </a:solidFill>
              </a:rPr>
              <a:t>H</a:t>
            </a:r>
            <a:r>
              <a:rPr lang="en-US" altLang="en-US" sz="2000" baseline="-25000" dirty="0">
                <a:solidFill>
                  <a:srgbClr val="000000"/>
                </a:solidFill>
              </a:rPr>
              <a:t>0</a:t>
            </a:r>
            <a:r>
              <a:rPr lang="en-US" altLang="en-US" sz="2000" dirty="0">
                <a:solidFill>
                  <a:srgbClr val="000000"/>
                </a:solidFill>
              </a:rPr>
              <a:t>. </a:t>
            </a:r>
          </a:p>
        </p:txBody>
      </p:sp>
      <mc:AlternateContent xmlns:mc="http://schemas.openxmlformats.org/markup-compatibility/2006">
        <mc:Choice xmlns:a14="http://schemas.microsoft.com/office/drawing/2010/main" Requires="a14">
          <p:sp>
            <p:nvSpPr>
              <p:cNvPr id="19" name="TextBox 18" descr="The image shows the statement &quot;A test statistic calculated from the sample data measures how far the data diverge from what we would expect if the null hypothesis H0 were true.&quot; It also mentions a formula given as: z equals to estimate minus hypothesized value divided by standard deviation of the estimate. &#10;&#10;The statement &quot;Large values of the statistic show that the data are not consistent with H subscript 0&quot; is also mentioned.&#10;"/>
              <p:cNvSpPr txBox="1">
                <a:spLocks noChangeArrowheads="1"/>
              </p:cNvSpPr>
              <p:nvPr/>
            </p:nvSpPr>
            <p:spPr bwMode="auto">
              <a:xfrm>
                <a:off x="308052" y="3373439"/>
                <a:ext cx="8071449" cy="2939010"/>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endParaRPr lang="en-US" altLang="en-US" sz="700" b="1" u="sng" dirty="0">
                  <a:solidFill>
                    <a:srgbClr val="E81F30"/>
                  </a:solidFill>
                </a:endParaRPr>
              </a:p>
              <a:p>
                <a:pPr eaLnBrk="1" hangingPunct="1">
                  <a:spcBef>
                    <a:spcPct val="0"/>
                  </a:spcBef>
                  <a:spcAft>
                    <a:spcPts val="600"/>
                  </a:spcAft>
                  <a:buClrTx/>
                  <a:buSzTx/>
                  <a:buFontTx/>
                  <a:buNone/>
                  <a:defRPr/>
                </a:pPr>
                <a:r>
                  <a:rPr lang="en-US" altLang="en-US" dirty="0" smtClean="0">
                    <a:solidFill>
                      <a:schemeClr val="tx1"/>
                    </a:solidFill>
                  </a:rPr>
                  <a:t>A </a:t>
                </a:r>
                <a:r>
                  <a:rPr lang="en-US" altLang="en-US" b="1" dirty="0">
                    <a:solidFill>
                      <a:schemeClr val="tx1"/>
                    </a:solidFill>
                  </a:rPr>
                  <a:t>test statistic</a:t>
                </a:r>
                <a:r>
                  <a:rPr lang="en-US" altLang="en-US" dirty="0">
                    <a:solidFill>
                      <a:schemeClr val="tx1"/>
                    </a:solidFill>
                  </a:rPr>
                  <a:t> calculated from the sample data measures how far the data diverge from what we would expect if the null hypothesis </a:t>
                </a:r>
                <a:r>
                  <a:rPr lang="en-US" altLang="en-US" i="1" dirty="0">
                    <a:solidFill>
                      <a:schemeClr val="tx1"/>
                    </a:solidFill>
                  </a:rPr>
                  <a:t>H</a:t>
                </a:r>
                <a:r>
                  <a:rPr lang="en-US" altLang="en-US" baseline="-25000" dirty="0">
                    <a:solidFill>
                      <a:schemeClr val="tx1"/>
                    </a:solidFill>
                  </a:rPr>
                  <a:t>0</a:t>
                </a:r>
                <a:r>
                  <a:rPr lang="en-US" altLang="en-US" dirty="0">
                    <a:solidFill>
                      <a:schemeClr val="tx1"/>
                    </a:solidFill>
                  </a:rPr>
                  <a:t> were true. </a:t>
                </a:r>
              </a:p>
              <a:p>
                <a:pPr algn="ctr" eaLnBrk="1" hangingPunct="1">
                  <a:spcBef>
                    <a:spcPts val="1200"/>
                  </a:spcBef>
                  <a:spcAft>
                    <a:spcPts val="1200"/>
                  </a:spcAft>
                  <a:buClrTx/>
                  <a:buSzTx/>
                  <a:buFontTx/>
                  <a:buNone/>
                  <a:defRPr/>
                </a:pPr>
                <a14:m>
                  <m:oMathPara xmlns:m="http://schemas.openxmlformats.org/officeDocument/2006/math">
                    <m:oMathParaPr>
                      <m:jc m:val="centerGroup"/>
                    </m:oMathParaPr>
                    <m:oMath xmlns:m="http://schemas.openxmlformats.org/officeDocument/2006/math">
                      <m:r>
                        <a:rPr lang="en-US" altLang="en-US" b="1" i="1" smtClean="0">
                          <a:solidFill>
                            <a:schemeClr val="tx1"/>
                          </a:solidFill>
                          <a:latin typeface="Cambria Math" panose="02040503050406030204" pitchFamily="18" charset="0"/>
                        </a:rPr>
                        <m:t>𝒛</m:t>
                      </m:r>
                      <m:r>
                        <a:rPr lang="en-US" altLang="en-US" b="1" i="1" smtClean="0">
                          <a:solidFill>
                            <a:schemeClr val="tx1"/>
                          </a:solidFill>
                          <a:latin typeface="Cambria Math" panose="02040503050406030204" pitchFamily="18" charset="0"/>
                        </a:rPr>
                        <m:t>=</m:t>
                      </m:r>
                      <m:f>
                        <m:fPr>
                          <m:ctrlPr>
                            <a:rPr lang="en-US" altLang="en-US" b="1" i="1" smtClean="0">
                              <a:solidFill>
                                <a:schemeClr val="tx1"/>
                              </a:solidFill>
                              <a:latin typeface="Cambria Math" panose="02040503050406030204" pitchFamily="18" charset="0"/>
                            </a:rPr>
                          </m:ctrlPr>
                        </m:fPr>
                        <m:num>
                          <m:r>
                            <m:rPr>
                              <m:nor/>
                            </m:rPr>
                            <a:rPr lang="en-US" altLang="en-US" b="1" i="0" smtClean="0">
                              <a:solidFill>
                                <a:schemeClr val="tx1"/>
                              </a:solidFill>
                              <a:latin typeface="Cambria Math" panose="02040503050406030204" pitchFamily="18" charset="0"/>
                            </a:rPr>
                            <m:t>estimate</m:t>
                          </m:r>
                          <m:r>
                            <a:rPr lang="en-US" altLang="en-US" b="1" i="1" smtClean="0">
                              <a:solidFill>
                                <a:schemeClr val="tx1"/>
                              </a:solidFill>
                              <a:latin typeface="Cambria Math" panose="02040503050406030204" pitchFamily="18" charset="0"/>
                            </a:rPr>
                            <m:t>−</m:t>
                          </m:r>
                          <m:r>
                            <m:rPr>
                              <m:nor/>
                            </m:rPr>
                            <a:rPr lang="en-US" altLang="en-US" b="1" i="0" smtClean="0">
                              <a:solidFill>
                                <a:schemeClr val="tx1"/>
                              </a:solidFill>
                              <a:latin typeface="Cambria Math" panose="02040503050406030204" pitchFamily="18" charset="0"/>
                            </a:rPr>
                            <m:t>hypothesized</m:t>
                          </m:r>
                          <m:r>
                            <m:rPr>
                              <m:nor/>
                            </m:rPr>
                            <a:rPr lang="en-US" altLang="en-US" b="1" i="0" smtClean="0">
                              <a:solidFill>
                                <a:schemeClr val="tx1"/>
                              </a:solidFill>
                              <a:latin typeface="Cambria Math" panose="02040503050406030204" pitchFamily="18" charset="0"/>
                            </a:rPr>
                            <m:t> </m:t>
                          </m:r>
                          <m:r>
                            <m:rPr>
                              <m:nor/>
                            </m:rPr>
                            <a:rPr lang="en-US" altLang="en-US" b="1" i="0" smtClean="0">
                              <a:solidFill>
                                <a:schemeClr val="tx1"/>
                              </a:solidFill>
                              <a:latin typeface="Cambria Math" panose="02040503050406030204" pitchFamily="18" charset="0"/>
                            </a:rPr>
                            <m:t>value</m:t>
                          </m:r>
                        </m:num>
                        <m:den>
                          <m:r>
                            <m:rPr>
                              <m:nor/>
                            </m:rPr>
                            <a:rPr lang="en-US" altLang="en-US" b="1" i="0" smtClean="0">
                              <a:solidFill>
                                <a:schemeClr val="tx1"/>
                              </a:solidFill>
                              <a:latin typeface="Cambria Math" panose="02040503050406030204" pitchFamily="18" charset="0"/>
                            </a:rPr>
                            <m:t>standard</m:t>
                          </m:r>
                          <m:r>
                            <m:rPr>
                              <m:nor/>
                            </m:rPr>
                            <a:rPr lang="en-US" altLang="en-US" b="1" i="0" smtClean="0">
                              <a:solidFill>
                                <a:schemeClr val="tx1"/>
                              </a:solidFill>
                              <a:latin typeface="Cambria Math" panose="02040503050406030204" pitchFamily="18" charset="0"/>
                            </a:rPr>
                            <m:t> </m:t>
                          </m:r>
                          <m:r>
                            <m:rPr>
                              <m:nor/>
                            </m:rPr>
                            <a:rPr lang="en-US" altLang="en-US" b="1" i="0" smtClean="0">
                              <a:solidFill>
                                <a:schemeClr val="tx1"/>
                              </a:solidFill>
                              <a:latin typeface="Cambria Math" panose="02040503050406030204" pitchFamily="18" charset="0"/>
                            </a:rPr>
                            <m:t>deviation</m:t>
                          </m:r>
                          <m:r>
                            <m:rPr>
                              <m:nor/>
                            </m:rPr>
                            <a:rPr lang="en-US" altLang="en-US" b="1" i="0" smtClean="0">
                              <a:solidFill>
                                <a:schemeClr val="tx1"/>
                              </a:solidFill>
                              <a:latin typeface="Cambria Math" panose="02040503050406030204" pitchFamily="18" charset="0"/>
                            </a:rPr>
                            <m:t> </m:t>
                          </m:r>
                          <m:r>
                            <m:rPr>
                              <m:nor/>
                            </m:rPr>
                            <a:rPr lang="en-US" altLang="en-US" b="1" i="0" smtClean="0">
                              <a:solidFill>
                                <a:schemeClr val="tx1"/>
                              </a:solidFill>
                              <a:latin typeface="Cambria Math" panose="02040503050406030204" pitchFamily="18" charset="0"/>
                            </a:rPr>
                            <m:t>of</m:t>
                          </m:r>
                          <m:r>
                            <m:rPr>
                              <m:nor/>
                            </m:rPr>
                            <a:rPr lang="en-US" altLang="en-US" b="1" i="0" smtClean="0">
                              <a:solidFill>
                                <a:schemeClr val="tx1"/>
                              </a:solidFill>
                              <a:latin typeface="Cambria Math" panose="02040503050406030204" pitchFamily="18" charset="0"/>
                            </a:rPr>
                            <m:t> </m:t>
                          </m:r>
                          <m:r>
                            <m:rPr>
                              <m:nor/>
                            </m:rPr>
                            <a:rPr lang="en-US" altLang="en-US" b="1" i="0" smtClean="0">
                              <a:solidFill>
                                <a:schemeClr val="tx1"/>
                              </a:solidFill>
                              <a:latin typeface="Cambria Math" panose="02040503050406030204" pitchFamily="18" charset="0"/>
                            </a:rPr>
                            <m:t>the</m:t>
                          </m:r>
                          <m:r>
                            <m:rPr>
                              <m:nor/>
                            </m:rPr>
                            <a:rPr lang="en-US" altLang="en-US" b="1" i="0" smtClean="0">
                              <a:solidFill>
                                <a:schemeClr val="tx1"/>
                              </a:solidFill>
                              <a:latin typeface="Cambria Math" panose="02040503050406030204" pitchFamily="18" charset="0"/>
                            </a:rPr>
                            <m:t> </m:t>
                          </m:r>
                          <m:r>
                            <m:rPr>
                              <m:nor/>
                            </m:rPr>
                            <a:rPr lang="en-US" altLang="en-US" b="1" i="0" smtClean="0">
                              <a:solidFill>
                                <a:schemeClr val="tx1"/>
                              </a:solidFill>
                              <a:latin typeface="Cambria Math" panose="02040503050406030204" pitchFamily="18" charset="0"/>
                            </a:rPr>
                            <m:t>estimate</m:t>
                          </m:r>
                        </m:den>
                      </m:f>
                    </m:oMath>
                  </m:oMathPara>
                </a14:m>
                <a:endParaRPr lang="en-US" altLang="en-US" b="1" dirty="0">
                  <a:solidFill>
                    <a:schemeClr val="tx1"/>
                  </a:solidFill>
                </a:endParaRPr>
              </a:p>
              <a:p>
                <a:pPr eaLnBrk="1" hangingPunct="1">
                  <a:spcBef>
                    <a:spcPct val="0"/>
                  </a:spcBef>
                  <a:spcAft>
                    <a:spcPts val="600"/>
                  </a:spcAft>
                  <a:buClrTx/>
                  <a:buSzTx/>
                  <a:buFontTx/>
                  <a:buNone/>
                  <a:defRPr/>
                </a:pPr>
                <a:endParaRPr lang="en-US" altLang="en-US" dirty="0">
                  <a:solidFill>
                    <a:schemeClr val="tx1"/>
                  </a:solidFill>
                </a:endParaRPr>
              </a:p>
              <a:p>
                <a:pPr eaLnBrk="1" hangingPunct="1">
                  <a:spcBef>
                    <a:spcPct val="0"/>
                  </a:spcBef>
                  <a:spcAft>
                    <a:spcPts val="600"/>
                  </a:spcAft>
                  <a:buClrTx/>
                  <a:buSzTx/>
                  <a:buFontTx/>
                  <a:buNone/>
                  <a:defRPr/>
                </a:pPr>
                <a:r>
                  <a:rPr lang="en-US" altLang="en-US" dirty="0">
                    <a:solidFill>
                      <a:schemeClr val="tx1"/>
                    </a:solidFill>
                  </a:rPr>
                  <a:t>Large values of the statistic show that the data are not consistent with </a:t>
                </a:r>
                <a:r>
                  <a:rPr lang="en-US" altLang="en-US" i="1" dirty="0">
                    <a:solidFill>
                      <a:schemeClr val="tx1"/>
                    </a:solidFill>
                  </a:rPr>
                  <a:t>H</a:t>
                </a:r>
                <a:r>
                  <a:rPr lang="en-US" altLang="en-US" baseline="-25000" dirty="0">
                    <a:solidFill>
                      <a:schemeClr val="tx1"/>
                    </a:solidFill>
                  </a:rPr>
                  <a:t>0</a:t>
                </a:r>
                <a:r>
                  <a:rPr lang="en-US" altLang="en-US" dirty="0">
                    <a:solidFill>
                      <a:schemeClr val="tx1"/>
                    </a:solidFill>
                  </a:rPr>
                  <a:t>.</a:t>
                </a:r>
              </a:p>
            </p:txBody>
          </p:sp>
        </mc:Choice>
        <mc:Fallback>
          <p:sp>
            <p:nvSpPr>
              <p:cNvPr id="19" name="TextBox 18" descr="The image shows the statement &quot;A test statistic calculated from the sample data measures how far the data diverge from what we would expect if the null hypothesis H0 were true.&quot; It also mentions a formula given as: z equals to estimate minus hypothesized value divided by standard deviation of the estimate. &#10;&#10;The statement &quot;Large values of the statistic show that the data are not consistent with H subscript 0&quot; is also mentioned.&#10;"/>
              <p:cNvSpPr txBox="1">
                <a:spLocks noRot="1" noChangeAspect="1" noMove="1" noResize="1" noEditPoints="1" noAdjustHandles="1" noChangeArrowheads="1" noChangeShapeType="1" noTextEdit="1"/>
              </p:cNvSpPr>
              <p:nvPr/>
            </p:nvSpPr>
            <p:spPr bwMode="auto">
              <a:xfrm>
                <a:off x="308052" y="3373439"/>
                <a:ext cx="8071449" cy="2939010"/>
              </a:xfrm>
              <a:prstGeom prst="rect">
                <a:avLst/>
              </a:prstGeom>
              <a:blipFill rotWithShape="0">
                <a:blip r:embed="rId3"/>
                <a:stretch>
                  <a:fillRect/>
                </a:stretch>
              </a:blipFill>
              <a:ln w="10000">
                <a:solidFill>
                  <a:srgbClr val="D2DA7A"/>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3" name="Rectangle 2"/>
          <p:cNvSpPr>
            <a:spLocks noGrp="1" noChangeArrowheads="1"/>
          </p:cNvSpPr>
          <p:nvPr>
            <p:ph type="title"/>
          </p:nvPr>
        </p:nvSpPr>
        <p:spPr/>
        <p:txBody>
          <a:bodyPr/>
          <a:lstStyle/>
          <a:p>
            <a:pPr eaLnBrk="1" hangingPunct="1"/>
            <a:r>
              <a:rPr lang="en-US" altLang="en-US" i="1" dirty="0">
                <a:ea typeface="ＭＳ Ｐゴシック" pitchFamily="34" charset="-128"/>
              </a:rPr>
              <a:t>P-</a:t>
            </a:r>
            <a:r>
              <a:rPr lang="en-US" altLang="en-US" dirty="0">
                <a:ea typeface="ＭＳ Ｐゴシック" pitchFamily="34" charset="-128"/>
              </a:rPr>
              <a:t>Value</a:t>
            </a:r>
            <a:endParaRPr lang="en-US" altLang="en-US" i="1" dirty="0">
              <a:ea typeface="ＭＳ Ｐゴシック" pitchFamily="34" charset="-128"/>
            </a:endParaRPr>
          </a:p>
        </p:txBody>
      </p:sp>
      <p:sp>
        <p:nvSpPr>
          <p:cNvPr id="6144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367282D9-927B-4161-AC31-B972A219B2D1}" type="slidenum">
              <a:rPr lang="en-US" altLang="en-US" sz="1200">
                <a:solidFill>
                  <a:schemeClr val="accent1"/>
                </a:solidFill>
              </a:rPr>
              <a:pPr>
                <a:lnSpc>
                  <a:spcPct val="80000"/>
                </a:lnSpc>
              </a:pPr>
              <a:t>26</a:t>
            </a:fld>
            <a:endParaRPr lang="en-US" altLang="en-US" sz="1200">
              <a:solidFill>
                <a:schemeClr val="accent1"/>
              </a:solidFill>
            </a:endParaRPr>
          </a:p>
        </p:txBody>
      </p:sp>
      <p:sp>
        <p:nvSpPr>
          <p:cNvPr id="61444" name="Rectangle 1"/>
          <p:cNvSpPr>
            <a:spLocks noChangeArrowheads="1"/>
          </p:cNvSpPr>
          <p:nvPr/>
        </p:nvSpPr>
        <p:spPr bwMode="auto">
          <a:xfrm>
            <a:off x="174625" y="1215180"/>
            <a:ext cx="8159906" cy="1016000"/>
          </a:xfrm>
          <a:prstGeom prst="rect">
            <a:avLst/>
          </a:prstGeom>
          <a:solidFill>
            <a:srgbClr val="FFD780"/>
          </a:solidFill>
          <a:ln>
            <a:noFill/>
          </a:ln>
        </p:spPr>
        <p:txBody>
          <a:bodyPr wrap="square">
            <a:spAutoFit/>
          </a:bodyPr>
          <a:lstStyle/>
          <a:p>
            <a:pPr algn="just" eaLnBrk="1" hangingPunct="1">
              <a:buFont typeface="Wingdings" pitchFamily="2" charset="2"/>
              <a:buNone/>
            </a:pPr>
            <a:r>
              <a:rPr lang="en-US" altLang="en-US" sz="2000" dirty="0">
                <a:solidFill>
                  <a:srgbClr val="000000"/>
                </a:solidFill>
              </a:rPr>
              <a:t>The null hypothesis </a:t>
            </a:r>
            <a:r>
              <a:rPr lang="en-US" altLang="en-US" sz="2000" i="1" dirty="0">
                <a:solidFill>
                  <a:srgbClr val="000000"/>
                </a:solidFill>
              </a:rPr>
              <a:t>H</a:t>
            </a:r>
            <a:r>
              <a:rPr lang="en-US" altLang="en-US" sz="2000" baseline="-25000" dirty="0">
                <a:solidFill>
                  <a:srgbClr val="000000"/>
                </a:solidFill>
              </a:rPr>
              <a:t>0</a:t>
            </a:r>
            <a:r>
              <a:rPr lang="en-US" altLang="en-US" sz="2000" i="1" dirty="0">
                <a:solidFill>
                  <a:srgbClr val="000000"/>
                </a:solidFill>
              </a:rPr>
              <a:t> </a:t>
            </a:r>
            <a:r>
              <a:rPr lang="en-US" altLang="en-US" sz="2000" dirty="0">
                <a:solidFill>
                  <a:srgbClr val="000000"/>
                </a:solidFill>
              </a:rPr>
              <a:t>states the claim we seek to </a:t>
            </a:r>
            <a:r>
              <a:rPr lang="en-US" altLang="en-US" sz="2000" i="1" dirty="0">
                <a:solidFill>
                  <a:srgbClr val="000000"/>
                </a:solidFill>
              </a:rPr>
              <a:t>disprove</a:t>
            </a:r>
            <a:r>
              <a:rPr lang="en-US" altLang="en-US" sz="2000" dirty="0">
                <a:solidFill>
                  <a:srgbClr val="000000"/>
                </a:solidFill>
              </a:rPr>
              <a:t>. </a:t>
            </a:r>
          </a:p>
          <a:p>
            <a:pPr algn="just" eaLnBrk="1" hangingPunct="1">
              <a:buFont typeface="Wingdings" pitchFamily="2" charset="2"/>
              <a:buNone/>
            </a:pPr>
            <a:r>
              <a:rPr lang="en-US" altLang="en-US" sz="2000" dirty="0">
                <a:solidFill>
                  <a:srgbClr val="000000"/>
                </a:solidFill>
              </a:rPr>
              <a:t>The probability that measures the strength of the evidence against a null hypothesis is </a:t>
            </a:r>
            <a:r>
              <a:rPr lang="en-US" altLang="en-US" sz="2000" dirty="0"/>
              <a:t>called a </a:t>
            </a:r>
            <a:r>
              <a:rPr lang="en-US" altLang="en-US" sz="2000" b="1" i="1" dirty="0"/>
              <a:t>P</a:t>
            </a:r>
            <a:r>
              <a:rPr lang="en-US" altLang="en-US" sz="2000" b="1" dirty="0"/>
              <a:t>-value.</a:t>
            </a:r>
          </a:p>
        </p:txBody>
      </p:sp>
      <p:sp>
        <p:nvSpPr>
          <p:cNvPr id="19" name="TextBox 18"/>
          <p:cNvSpPr txBox="1">
            <a:spLocks noChangeArrowheads="1"/>
          </p:cNvSpPr>
          <p:nvPr/>
        </p:nvSpPr>
        <p:spPr bwMode="auto">
          <a:xfrm>
            <a:off x="174625" y="2517116"/>
            <a:ext cx="8193087" cy="1892826"/>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endParaRPr lang="en-US" altLang="en-US" sz="700" b="1" u="sng" dirty="0">
              <a:solidFill>
                <a:srgbClr val="E81F30"/>
              </a:solidFill>
            </a:endParaRPr>
          </a:p>
          <a:p>
            <a:pPr algn="just" eaLnBrk="1" hangingPunct="1">
              <a:spcBef>
                <a:spcPct val="0"/>
              </a:spcBef>
              <a:spcAft>
                <a:spcPts val="600"/>
              </a:spcAft>
              <a:buClrTx/>
              <a:buSzTx/>
              <a:buFontTx/>
              <a:buNone/>
              <a:defRPr/>
            </a:pPr>
            <a:r>
              <a:rPr lang="en-US" altLang="en-US" dirty="0">
                <a:solidFill>
                  <a:srgbClr val="000000"/>
                </a:solidFill>
              </a:rPr>
              <a:t>The probability, computed assuming </a:t>
            </a:r>
            <a:r>
              <a:rPr lang="en-US" altLang="en-US" i="1" dirty="0">
                <a:solidFill>
                  <a:srgbClr val="000000"/>
                </a:solidFill>
              </a:rPr>
              <a:t>H</a:t>
            </a:r>
            <a:r>
              <a:rPr lang="en-US" altLang="en-US" baseline="-25000" dirty="0">
                <a:solidFill>
                  <a:srgbClr val="000000"/>
                </a:solidFill>
              </a:rPr>
              <a:t>0</a:t>
            </a:r>
            <a:r>
              <a:rPr lang="en-US" altLang="en-US" i="1" dirty="0">
                <a:solidFill>
                  <a:srgbClr val="000000"/>
                </a:solidFill>
              </a:rPr>
              <a:t> </a:t>
            </a:r>
            <a:r>
              <a:rPr lang="en-US" altLang="en-US" dirty="0">
                <a:solidFill>
                  <a:srgbClr val="000000"/>
                </a:solidFill>
              </a:rPr>
              <a:t>is true, that the statistic would take a </a:t>
            </a:r>
            <a:r>
              <a:rPr lang="en-US" altLang="en-US" dirty="0">
                <a:solidFill>
                  <a:schemeClr val="tx1"/>
                </a:solidFill>
              </a:rPr>
              <a:t>value </a:t>
            </a:r>
            <a:r>
              <a:rPr lang="en-US" altLang="en-US" i="1" dirty="0">
                <a:solidFill>
                  <a:schemeClr val="tx1"/>
                </a:solidFill>
              </a:rPr>
              <a:t>as extreme as or more extreme</a:t>
            </a:r>
            <a:r>
              <a:rPr lang="en-US" altLang="en-US" dirty="0">
                <a:solidFill>
                  <a:schemeClr val="tx1"/>
                </a:solidFill>
              </a:rPr>
              <a:t> </a:t>
            </a:r>
            <a:r>
              <a:rPr lang="en-US" altLang="en-US" i="1" dirty="0">
                <a:solidFill>
                  <a:schemeClr val="tx1"/>
                </a:solidFill>
              </a:rPr>
              <a:t>than</a:t>
            </a:r>
            <a:r>
              <a:rPr lang="en-US" altLang="en-US" dirty="0">
                <a:solidFill>
                  <a:schemeClr val="tx1"/>
                </a:solidFill>
              </a:rPr>
              <a:t> the one observed is called the  </a:t>
            </a:r>
            <a:r>
              <a:rPr lang="en-US" altLang="en-US" b="1" i="1" dirty="0">
                <a:solidFill>
                  <a:schemeClr val="tx1"/>
                </a:solidFill>
              </a:rPr>
              <a:t>P</a:t>
            </a:r>
            <a:r>
              <a:rPr lang="en-US" altLang="en-US" b="1" dirty="0">
                <a:solidFill>
                  <a:schemeClr val="tx1"/>
                </a:solidFill>
              </a:rPr>
              <a:t>-value </a:t>
            </a:r>
            <a:r>
              <a:rPr lang="en-US" altLang="en-US" dirty="0">
                <a:solidFill>
                  <a:schemeClr val="tx1"/>
                </a:solidFill>
              </a:rPr>
              <a:t>of the test. </a:t>
            </a:r>
          </a:p>
          <a:p>
            <a:pPr algn="just" eaLnBrk="1" hangingPunct="1">
              <a:spcBef>
                <a:spcPct val="0"/>
              </a:spcBef>
              <a:spcAft>
                <a:spcPts val="600"/>
              </a:spcAft>
              <a:buClrTx/>
              <a:buSzTx/>
              <a:buFontTx/>
              <a:buNone/>
              <a:defRPr/>
            </a:pPr>
            <a:endParaRPr lang="en-US" altLang="en-US" dirty="0">
              <a:solidFill>
                <a:schemeClr val="tx1"/>
              </a:solidFill>
            </a:endParaRPr>
          </a:p>
          <a:p>
            <a:pPr algn="ctr" eaLnBrk="1" hangingPunct="1">
              <a:spcBef>
                <a:spcPct val="0"/>
              </a:spcBef>
              <a:spcAft>
                <a:spcPts val="600"/>
              </a:spcAft>
              <a:buClrTx/>
              <a:buSzTx/>
              <a:buFontTx/>
              <a:buNone/>
              <a:defRPr/>
            </a:pPr>
            <a:r>
              <a:rPr lang="en-US" altLang="en-US" b="1" dirty="0">
                <a:solidFill>
                  <a:schemeClr val="tx1"/>
                </a:solidFill>
                <a:highlight>
                  <a:srgbClr val="FFFF00"/>
                </a:highlight>
              </a:rPr>
              <a:t>The smaller the </a:t>
            </a:r>
            <a:r>
              <a:rPr lang="en-US" altLang="en-US" b="1" i="1" dirty="0">
                <a:solidFill>
                  <a:schemeClr val="tx1"/>
                </a:solidFill>
                <a:highlight>
                  <a:srgbClr val="FFFF00"/>
                </a:highlight>
              </a:rPr>
              <a:t>P</a:t>
            </a:r>
            <a:r>
              <a:rPr lang="en-US" altLang="en-US" b="1" dirty="0">
                <a:solidFill>
                  <a:schemeClr val="tx1"/>
                </a:solidFill>
                <a:highlight>
                  <a:srgbClr val="FFFF00"/>
                </a:highlight>
              </a:rPr>
              <a:t>-value, the stronger the evidence against </a:t>
            </a:r>
            <a:r>
              <a:rPr lang="en-US" altLang="en-US" b="1" i="1" dirty="0">
                <a:solidFill>
                  <a:schemeClr val="tx1"/>
                </a:solidFill>
                <a:highlight>
                  <a:srgbClr val="FFFF00"/>
                </a:highlight>
              </a:rPr>
              <a:t>H</a:t>
            </a:r>
            <a:r>
              <a:rPr lang="en-US" altLang="en-US" b="1" baseline="-25000" dirty="0">
                <a:solidFill>
                  <a:schemeClr val="tx1"/>
                </a:solidFill>
                <a:highlight>
                  <a:srgbClr val="FFFF00"/>
                </a:highlight>
              </a:rPr>
              <a:t>0</a:t>
            </a:r>
            <a:r>
              <a:rPr lang="en-US" altLang="en-US" b="1" dirty="0">
                <a:solidFill>
                  <a:schemeClr val="tx1"/>
                </a:solidFill>
                <a:highlight>
                  <a:srgbClr val="FFFF00"/>
                </a:highlight>
              </a:rPr>
              <a:t>.</a:t>
            </a:r>
            <a:endParaRPr lang="en-US" altLang="en-US" sz="2400" b="1" i="1" dirty="0">
              <a:solidFill>
                <a:schemeClr val="tx1"/>
              </a:solidFill>
              <a:highlight>
                <a:srgbClr val="FFFF00"/>
              </a:highlight>
              <a:latin typeface="Palatino" charset="0"/>
            </a:endParaRPr>
          </a:p>
        </p:txBody>
      </p:sp>
      <p:sp>
        <p:nvSpPr>
          <p:cNvPr id="20" name="Rectangle 19"/>
          <p:cNvSpPr>
            <a:spLocks noChangeArrowheads="1"/>
          </p:cNvSpPr>
          <p:nvPr/>
        </p:nvSpPr>
        <p:spPr bwMode="auto">
          <a:xfrm>
            <a:off x="141444" y="4681538"/>
            <a:ext cx="8193087" cy="1681162"/>
          </a:xfrm>
          <a:prstGeom prst="rect">
            <a:avLst/>
          </a:prstGeom>
          <a:solidFill>
            <a:srgbClr val="FFD780"/>
          </a:solidFill>
          <a:ln>
            <a:noFill/>
          </a:ln>
        </p:spPr>
        <p:txBody>
          <a:bodyPr>
            <a:spAutoFit/>
          </a:bodyPr>
          <a:lstStyle/>
          <a:p>
            <a:pPr marL="231775" indent="-231775" algn="just" eaLnBrk="1" hangingPunct="1">
              <a:spcAft>
                <a:spcPts val="400"/>
              </a:spcAft>
              <a:buClr>
                <a:schemeClr val="accent1"/>
              </a:buClr>
              <a:buFont typeface="Wingdings" pitchFamily="2" charset="2"/>
              <a:buChar char="§"/>
            </a:pPr>
            <a:r>
              <a:rPr lang="en-US" altLang="en-US" sz="2000" dirty="0"/>
              <a:t>Small </a:t>
            </a:r>
            <a:r>
              <a:rPr lang="en-US" altLang="en-US" sz="2000" i="1" dirty="0"/>
              <a:t>P</a:t>
            </a:r>
            <a:r>
              <a:rPr lang="en-US" altLang="en-US" sz="2000" dirty="0"/>
              <a:t>-values are evidence against </a:t>
            </a:r>
            <a:r>
              <a:rPr lang="en-US" altLang="en-US" sz="2000" i="1" dirty="0"/>
              <a:t>H</a:t>
            </a:r>
            <a:r>
              <a:rPr lang="en-US" altLang="en-US" sz="2000" baseline="-25000" dirty="0"/>
              <a:t>0</a:t>
            </a:r>
            <a:r>
              <a:rPr lang="en-US" altLang="en-US" sz="2000" i="1" dirty="0"/>
              <a:t> </a:t>
            </a:r>
            <a:r>
              <a:rPr lang="en-US" altLang="en-US" sz="2000" dirty="0"/>
              <a:t>because they say that the observed result is unlikely to occur when </a:t>
            </a:r>
            <a:r>
              <a:rPr lang="en-US" altLang="en-US" sz="2000" i="1" dirty="0"/>
              <a:t>H</a:t>
            </a:r>
            <a:r>
              <a:rPr lang="en-US" altLang="en-US" sz="2000" baseline="-25000" dirty="0"/>
              <a:t>0</a:t>
            </a:r>
            <a:r>
              <a:rPr lang="en-US" altLang="en-US" sz="2000" i="1" dirty="0"/>
              <a:t> </a:t>
            </a:r>
            <a:r>
              <a:rPr lang="en-US" altLang="en-US" sz="2000" dirty="0"/>
              <a:t>is true. </a:t>
            </a:r>
          </a:p>
          <a:p>
            <a:pPr marL="231775" indent="-231775" algn="just" eaLnBrk="1" hangingPunct="1">
              <a:spcAft>
                <a:spcPts val="600"/>
              </a:spcAft>
              <a:buClr>
                <a:schemeClr val="accent1"/>
              </a:buClr>
              <a:buFont typeface="Wingdings" pitchFamily="2" charset="2"/>
              <a:buChar char="§"/>
            </a:pPr>
            <a:r>
              <a:rPr lang="en-US" altLang="en-US" sz="2000" dirty="0"/>
              <a:t>Large </a:t>
            </a:r>
            <a:r>
              <a:rPr lang="en-US" altLang="en-US" sz="2000" i="1" dirty="0"/>
              <a:t>P</a:t>
            </a:r>
            <a:r>
              <a:rPr lang="en-US" altLang="en-US" sz="2000" dirty="0"/>
              <a:t>-values fail to give convincing evidence against </a:t>
            </a:r>
            <a:r>
              <a:rPr lang="en-US" altLang="en-US" sz="2000" i="1" dirty="0"/>
              <a:t>H</a:t>
            </a:r>
            <a:r>
              <a:rPr lang="en-US" altLang="en-US" sz="2000" baseline="-25000" dirty="0"/>
              <a:t>0</a:t>
            </a:r>
            <a:r>
              <a:rPr lang="en-US" altLang="en-US" sz="2000" i="1" dirty="0"/>
              <a:t> </a:t>
            </a:r>
            <a:r>
              <a:rPr lang="en-US" altLang="en-US" sz="2000" dirty="0"/>
              <a:t>because they say that the observed result is likely to occur by chance when </a:t>
            </a:r>
            <a:r>
              <a:rPr lang="en-US" altLang="en-US" sz="2000" i="1" dirty="0"/>
              <a:t>H</a:t>
            </a:r>
            <a:r>
              <a:rPr lang="en-US" altLang="en-US" sz="2000" baseline="-25000" dirty="0"/>
              <a:t>0</a:t>
            </a:r>
            <a:r>
              <a:rPr lang="en-US" altLang="en-US" sz="2000" i="1" dirty="0"/>
              <a:t> </a:t>
            </a:r>
            <a:r>
              <a:rPr lang="en-US" altLang="en-US" sz="2000" dirty="0"/>
              <a:t>is true.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4" presetClass="entr" presetSubtype="0" accel="10000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strVal val="#ppt_w*0.05"/>
                                          </p:val>
                                        </p:tav>
                                        <p:tav tm="100000">
                                          <p:val>
                                            <p:strVal val="#ppt_w"/>
                                          </p:val>
                                        </p:tav>
                                      </p:tavLst>
                                    </p:anim>
                                    <p:anim calcmode="lin" valueType="num">
                                      <p:cBhvr>
                                        <p:cTn id="13" dur="500" fill="hold"/>
                                        <p:tgtEl>
                                          <p:spTgt spid="20"/>
                                        </p:tgtEl>
                                        <p:attrNameLst>
                                          <p:attrName>ppt_h</p:attrName>
                                        </p:attrNameLst>
                                      </p:cBhvr>
                                      <p:tavLst>
                                        <p:tav tm="0">
                                          <p:val>
                                            <p:strVal val="#ppt_h"/>
                                          </p:val>
                                        </p:tav>
                                        <p:tav tm="100000">
                                          <p:val>
                                            <p:strVal val="#ppt_h"/>
                                          </p:val>
                                        </p:tav>
                                      </p:tavLst>
                                    </p:anim>
                                    <p:anim calcmode="lin" valueType="num">
                                      <p:cBhvr>
                                        <p:cTn id="14" dur="500" fill="hold"/>
                                        <p:tgtEl>
                                          <p:spTgt spid="20"/>
                                        </p:tgtEl>
                                        <p:attrNameLst>
                                          <p:attrName>ppt_x</p:attrName>
                                        </p:attrNameLst>
                                      </p:cBhvr>
                                      <p:tavLst>
                                        <p:tav tm="0">
                                          <p:val>
                                            <p:strVal val="#ppt_x-.2"/>
                                          </p:val>
                                        </p:tav>
                                        <p:tav tm="100000">
                                          <p:val>
                                            <p:strVal val="#ppt_x"/>
                                          </p:val>
                                        </p:tav>
                                      </p:tavLst>
                                    </p:anim>
                                    <p:anim calcmode="lin" valueType="num">
                                      <p:cBhvr>
                                        <p:cTn id="15" dur="500" fill="hold"/>
                                        <p:tgtEl>
                                          <p:spTgt spid="20"/>
                                        </p:tgtEl>
                                        <p:attrNameLst>
                                          <p:attrName>ppt_y</p:attrName>
                                        </p:attrNameLst>
                                      </p:cBhvr>
                                      <p:tavLst>
                                        <p:tav tm="0">
                                          <p:val>
                                            <p:strVal val="#ppt_y"/>
                                          </p:val>
                                        </p:tav>
                                        <p:tav tm="100000">
                                          <p:val>
                                            <p:strVal val="#ppt_y"/>
                                          </p:val>
                                        </p:tav>
                                      </p:tavLst>
                                    </p:anim>
                                    <p:animEffect transition="in" filter="fade">
                                      <p:cBhvr>
                                        <p:cTn id="1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1" name="Rectangle 19"/>
          <p:cNvSpPr>
            <a:spLocks noGrp="1" noChangeArrowheads="1"/>
          </p:cNvSpPr>
          <p:nvPr>
            <p:ph type="title"/>
          </p:nvPr>
        </p:nvSpPr>
        <p:spPr/>
        <p:txBody>
          <a:bodyPr/>
          <a:lstStyle/>
          <a:p>
            <a:pPr eaLnBrk="1" hangingPunct="1"/>
            <a:r>
              <a:rPr lang="en-US" altLang="en-US" dirty="0">
                <a:ea typeface="ＭＳ Ｐゴシック" pitchFamily="34" charset="-128"/>
              </a:rPr>
              <a:t>Statistical Significance 1</a:t>
            </a:r>
          </a:p>
        </p:txBody>
      </p:sp>
      <p:sp>
        <p:nvSpPr>
          <p:cNvPr id="6349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63909086-0AA1-4D1A-8856-EA0025E0D889}" type="slidenum">
              <a:rPr lang="en-US" altLang="en-US" sz="1200">
                <a:solidFill>
                  <a:schemeClr val="accent1"/>
                </a:solidFill>
              </a:rPr>
              <a:pPr>
                <a:lnSpc>
                  <a:spcPct val="80000"/>
                </a:lnSpc>
              </a:pPr>
              <a:t>27</a:t>
            </a:fld>
            <a:endParaRPr lang="en-US" altLang="en-US" sz="1200">
              <a:solidFill>
                <a:schemeClr val="accent1"/>
              </a:solidFill>
            </a:endParaRPr>
          </a:p>
        </p:txBody>
      </p:sp>
      <p:sp>
        <p:nvSpPr>
          <p:cNvPr id="63492" name="Rectangle 1"/>
          <p:cNvSpPr>
            <a:spLocks noChangeArrowheads="1"/>
          </p:cNvSpPr>
          <p:nvPr/>
        </p:nvSpPr>
        <p:spPr bwMode="auto">
          <a:xfrm>
            <a:off x="174625" y="1108075"/>
            <a:ext cx="8147050" cy="2708275"/>
          </a:xfrm>
          <a:prstGeom prst="rect">
            <a:avLst/>
          </a:prstGeom>
          <a:solidFill>
            <a:srgbClr val="FFD780"/>
          </a:solidFill>
          <a:ln>
            <a:noFill/>
          </a:ln>
        </p:spPr>
        <p:txBody>
          <a:bodyPr>
            <a:spAutoFit/>
          </a:bodyPr>
          <a:lstStyle/>
          <a:p>
            <a:pPr algn="just" eaLnBrk="1" hangingPunct="1">
              <a:buFont typeface="Wingdings" pitchFamily="2" charset="2"/>
              <a:buNone/>
            </a:pPr>
            <a:r>
              <a:rPr lang="en-US" altLang="en-US" sz="2000" dirty="0">
                <a:solidFill>
                  <a:srgbClr val="000000"/>
                </a:solidFill>
              </a:rPr>
              <a:t>The final step in performing a significance test is to draw a conclusion about the competing claims you were testing. We will make one of two decisions based on the strength of the evidence against the null hypothesis (and in favor of the alternative hypothesis)―</a:t>
            </a:r>
            <a:r>
              <a:rPr lang="en-US" altLang="en-US" sz="2000" b="1" dirty="0"/>
              <a:t>reject </a:t>
            </a:r>
            <a:r>
              <a:rPr lang="en-US" altLang="en-US" sz="2000" b="1" i="1" dirty="0"/>
              <a:t>H</a:t>
            </a:r>
            <a:r>
              <a:rPr lang="en-US" altLang="en-US" sz="2000" b="1" baseline="-25000" dirty="0"/>
              <a:t>0</a:t>
            </a:r>
            <a:r>
              <a:rPr lang="en-US" altLang="en-US" sz="2000" b="1" i="1" dirty="0"/>
              <a:t> </a:t>
            </a:r>
            <a:r>
              <a:rPr lang="en-US" altLang="en-US" sz="2000" dirty="0"/>
              <a:t>or</a:t>
            </a:r>
            <a:r>
              <a:rPr lang="en-US" altLang="en-US" sz="2000" b="1" dirty="0"/>
              <a:t> fail to reject </a:t>
            </a:r>
            <a:r>
              <a:rPr lang="en-US" altLang="en-US" sz="2000" b="1" i="1" dirty="0"/>
              <a:t>H</a:t>
            </a:r>
            <a:r>
              <a:rPr lang="en-US" altLang="en-US" sz="2000" b="1" baseline="-25000" dirty="0"/>
              <a:t>0</a:t>
            </a:r>
            <a:r>
              <a:rPr lang="en-US" altLang="en-US" sz="2000" b="1" dirty="0">
                <a:solidFill>
                  <a:srgbClr val="000000"/>
                </a:solidFill>
              </a:rPr>
              <a:t>.</a:t>
            </a:r>
            <a:r>
              <a:rPr lang="en-US" altLang="en-US" sz="2000" dirty="0">
                <a:solidFill>
                  <a:srgbClr val="000000"/>
                </a:solidFill>
              </a:rPr>
              <a:t> </a:t>
            </a:r>
          </a:p>
          <a:p>
            <a:pPr marL="742950" lvl="1" indent="-285750" eaLnBrk="1" hangingPunct="1">
              <a:spcBef>
                <a:spcPts val="600"/>
              </a:spcBef>
              <a:buClr>
                <a:schemeClr val="accent1"/>
              </a:buClr>
              <a:buFont typeface="Wingdings" pitchFamily="2" charset="2"/>
              <a:buChar char="§"/>
            </a:pPr>
            <a:r>
              <a:rPr lang="en-US" altLang="en-US" sz="2000" dirty="0">
                <a:solidFill>
                  <a:srgbClr val="000000"/>
                </a:solidFill>
              </a:rPr>
              <a:t>If our sample result is too unlikely to have happened by chance assuming </a:t>
            </a:r>
            <a:r>
              <a:rPr lang="en-US" altLang="en-US" sz="2000" i="1" dirty="0">
                <a:solidFill>
                  <a:srgbClr val="000000"/>
                </a:solidFill>
              </a:rPr>
              <a:t>H</a:t>
            </a:r>
            <a:r>
              <a:rPr lang="en-US" altLang="en-US" sz="2000" baseline="-25000" dirty="0">
                <a:solidFill>
                  <a:srgbClr val="000000"/>
                </a:solidFill>
              </a:rPr>
              <a:t>0</a:t>
            </a:r>
            <a:r>
              <a:rPr lang="en-US" altLang="en-US" sz="2000" i="1" dirty="0">
                <a:solidFill>
                  <a:srgbClr val="000000"/>
                </a:solidFill>
              </a:rPr>
              <a:t> </a:t>
            </a:r>
            <a:r>
              <a:rPr lang="en-US" altLang="en-US" sz="2000" dirty="0">
                <a:solidFill>
                  <a:srgbClr val="000000"/>
                </a:solidFill>
              </a:rPr>
              <a:t>is true, then we wi</a:t>
            </a:r>
            <a:r>
              <a:rPr lang="en-US" altLang="ja-JP" sz="2000" dirty="0">
                <a:solidFill>
                  <a:srgbClr val="000000"/>
                </a:solidFill>
              </a:rPr>
              <a:t>ll reject </a:t>
            </a:r>
            <a:r>
              <a:rPr lang="en-US" altLang="ja-JP" sz="2000" i="1" dirty="0">
                <a:solidFill>
                  <a:srgbClr val="000000"/>
                </a:solidFill>
              </a:rPr>
              <a:t>H</a:t>
            </a:r>
            <a:r>
              <a:rPr lang="en-US" altLang="ja-JP" sz="2000" baseline="-25000" dirty="0">
                <a:solidFill>
                  <a:srgbClr val="000000"/>
                </a:solidFill>
              </a:rPr>
              <a:t>0</a:t>
            </a:r>
            <a:r>
              <a:rPr lang="en-US" altLang="ja-JP" sz="2000" dirty="0">
                <a:solidFill>
                  <a:srgbClr val="000000"/>
                </a:solidFill>
              </a:rPr>
              <a:t>. </a:t>
            </a:r>
          </a:p>
          <a:p>
            <a:pPr marL="742950" lvl="1" indent="-285750" eaLnBrk="1" hangingPunct="1">
              <a:spcBef>
                <a:spcPts val="600"/>
              </a:spcBef>
              <a:buClr>
                <a:schemeClr val="accent1"/>
              </a:buClr>
              <a:buFont typeface="Wingdings" pitchFamily="2" charset="2"/>
              <a:buChar char="§"/>
            </a:pPr>
            <a:r>
              <a:rPr lang="en-US" altLang="en-US" sz="2000" dirty="0">
                <a:solidFill>
                  <a:srgbClr val="000000"/>
                </a:solidFill>
              </a:rPr>
              <a:t>Otherwise, we will fail to reject </a:t>
            </a:r>
            <a:r>
              <a:rPr lang="en-US" altLang="en-US" sz="2000" i="1" dirty="0">
                <a:solidFill>
                  <a:srgbClr val="000000"/>
                </a:solidFill>
              </a:rPr>
              <a:t>H</a:t>
            </a:r>
            <a:r>
              <a:rPr lang="en-US" altLang="en-US" sz="2000" baseline="-25000" dirty="0">
                <a:solidFill>
                  <a:srgbClr val="000000"/>
                </a:solidFill>
              </a:rPr>
              <a:t>0</a:t>
            </a:r>
            <a:r>
              <a:rPr lang="en-US" altLang="en-US" sz="2000" dirty="0">
                <a:solidFill>
                  <a:srgbClr val="000000"/>
                </a:solidFill>
              </a:rPr>
              <a:t>.</a:t>
            </a:r>
            <a:endParaRPr lang="en-US" altLang="en-US" sz="2000" b="1" dirty="0">
              <a:solidFill>
                <a:srgbClr val="000000"/>
              </a:solidFill>
            </a:endParaRPr>
          </a:p>
        </p:txBody>
      </p:sp>
      <p:sp>
        <p:nvSpPr>
          <p:cNvPr id="11" name="Rectangle 10"/>
          <p:cNvSpPr>
            <a:spLocks noChangeArrowheads="1"/>
          </p:cNvSpPr>
          <p:nvPr/>
        </p:nvSpPr>
        <p:spPr bwMode="auto">
          <a:xfrm>
            <a:off x="174625" y="3993356"/>
            <a:ext cx="8147050" cy="1016000"/>
          </a:xfrm>
          <a:prstGeom prst="rect">
            <a:avLst/>
          </a:prstGeom>
          <a:solidFill>
            <a:srgbClr val="FFD780"/>
          </a:solidFill>
          <a:ln>
            <a:noFill/>
          </a:ln>
        </p:spPr>
        <p:txBody>
          <a:bodyPr wrap="square">
            <a:spAutoFit/>
          </a:bodyPr>
          <a:lstStyle/>
          <a:p>
            <a:pPr algn="just" eaLnBrk="1" hangingPunct="1">
              <a:spcAft>
                <a:spcPts val="1800"/>
              </a:spcAft>
              <a:buClr>
                <a:srgbClr val="E81F30"/>
              </a:buClr>
            </a:pPr>
            <a:r>
              <a:rPr lang="en-US" altLang="en-US" sz="2000" b="1" dirty="0">
                <a:highlight>
                  <a:srgbClr val="FFFF00"/>
                </a:highlight>
              </a:rPr>
              <a:t>Note:</a:t>
            </a:r>
            <a:r>
              <a:rPr lang="en-US" altLang="en-US" sz="2000" dirty="0"/>
              <a:t> A fail-to-reject-</a:t>
            </a:r>
            <a:r>
              <a:rPr lang="en-US" altLang="en-US" sz="2000" i="1" dirty="0"/>
              <a:t>H</a:t>
            </a:r>
            <a:r>
              <a:rPr lang="en-US" altLang="en-US" sz="2000" baseline="-25000" dirty="0"/>
              <a:t>0</a:t>
            </a:r>
            <a:r>
              <a:rPr lang="en-US" altLang="en-US" sz="2000" dirty="0"/>
              <a:t> decision in a significance test does not mean that </a:t>
            </a:r>
            <a:r>
              <a:rPr lang="en-US" altLang="en-US" sz="2000" i="1" dirty="0"/>
              <a:t>H</a:t>
            </a:r>
            <a:r>
              <a:rPr lang="en-US" altLang="en-US" sz="2000" baseline="-25000" dirty="0"/>
              <a:t>0</a:t>
            </a:r>
            <a:r>
              <a:rPr lang="en-US" altLang="en-US" sz="2000" dirty="0"/>
              <a:t> is true. For that reason, you should never </a:t>
            </a:r>
            <a:r>
              <a:rPr lang="ja-JP" altLang="en-US" sz="2000" dirty="0"/>
              <a:t>“</a:t>
            </a:r>
            <a:r>
              <a:rPr lang="en-US" altLang="ja-JP" sz="2000" dirty="0"/>
              <a:t>accept </a:t>
            </a:r>
            <a:r>
              <a:rPr lang="en-US" altLang="ja-JP" sz="2000" i="1" dirty="0"/>
              <a:t>H</a:t>
            </a:r>
            <a:r>
              <a:rPr lang="en-US" altLang="ja-JP" sz="2000" baseline="-25000" dirty="0"/>
              <a:t>0</a:t>
            </a:r>
            <a:r>
              <a:rPr lang="ja-JP" altLang="en-US" sz="2000" dirty="0"/>
              <a:t>”</a:t>
            </a:r>
            <a:r>
              <a:rPr lang="en-US" altLang="ja-JP" sz="2000" dirty="0"/>
              <a:t> or use language implying that you believe </a:t>
            </a:r>
            <a:r>
              <a:rPr lang="en-US" altLang="ja-JP" sz="2000" i="1" dirty="0"/>
              <a:t>H</a:t>
            </a:r>
            <a:r>
              <a:rPr lang="en-US" altLang="ja-JP" sz="2000" baseline="-25000" dirty="0"/>
              <a:t>0</a:t>
            </a:r>
            <a:r>
              <a:rPr lang="en-US" altLang="ja-JP" sz="2000" dirty="0"/>
              <a:t> is true.</a:t>
            </a:r>
            <a:endParaRPr lang="en-US" altLang="en-US" sz="2000" dirty="0"/>
          </a:p>
        </p:txBody>
      </p:sp>
      <p:sp>
        <p:nvSpPr>
          <p:cNvPr id="12" name="Rectangle 11"/>
          <p:cNvSpPr/>
          <p:nvPr/>
        </p:nvSpPr>
        <p:spPr>
          <a:xfrm>
            <a:off x="174624" y="5318802"/>
            <a:ext cx="8147049" cy="1169987"/>
          </a:xfrm>
          <a:prstGeom prst="rect">
            <a:avLst/>
          </a:prstGeom>
          <a:solidFill>
            <a:srgbClr val="FFFF00"/>
          </a:solidFill>
          <a:ln>
            <a:noFill/>
          </a:ln>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spcAft>
                <a:spcPts val="600"/>
              </a:spcAft>
              <a:defRPr/>
            </a:pPr>
            <a:r>
              <a:rPr lang="en-US" altLang="en-US" sz="2000" dirty="0">
                <a:solidFill>
                  <a:srgbClr val="000000"/>
                </a:solidFill>
              </a:rPr>
              <a:t>In a nutshell, our conclusion in a significance test comes down to this:</a:t>
            </a:r>
          </a:p>
          <a:p>
            <a:pPr eaLnBrk="1" hangingPunct="1">
              <a:spcAft>
                <a:spcPts val="600"/>
              </a:spcAft>
              <a:defRPr/>
            </a:pPr>
            <a:r>
              <a:rPr lang="en-US" altLang="en-US" sz="2000" b="1" i="1" dirty="0"/>
              <a:t>P</a:t>
            </a:r>
            <a:r>
              <a:rPr lang="en-US" altLang="en-US" sz="2000" b="1" dirty="0"/>
              <a:t>-value small </a:t>
            </a:r>
            <a:r>
              <a:rPr lang="en-US" altLang="en-US" sz="2000" dirty="0"/>
              <a:t>→ reject </a:t>
            </a:r>
            <a:r>
              <a:rPr lang="en-US" altLang="en-US" sz="2000" i="1" dirty="0"/>
              <a:t>H</a:t>
            </a:r>
            <a:r>
              <a:rPr lang="en-US" altLang="en-US" sz="2000" baseline="-25000" dirty="0"/>
              <a:t>0</a:t>
            </a:r>
            <a:r>
              <a:rPr lang="en-US" altLang="en-US" sz="2000" i="1" dirty="0"/>
              <a:t> </a:t>
            </a:r>
            <a:r>
              <a:rPr lang="en-US" altLang="en-US" sz="2000" dirty="0"/>
              <a:t>→ conclude </a:t>
            </a:r>
            <a:r>
              <a:rPr lang="en-US" altLang="en-US" sz="2000" i="1" dirty="0"/>
              <a:t>H</a:t>
            </a:r>
            <a:r>
              <a:rPr lang="en-US" altLang="en-US" sz="2000" baseline="-25000" dirty="0"/>
              <a:t>a</a:t>
            </a:r>
            <a:r>
              <a:rPr lang="en-US" altLang="en-US" sz="2000" i="1" dirty="0"/>
              <a:t> </a:t>
            </a:r>
            <a:r>
              <a:rPr lang="en-US" altLang="en-US" sz="2000" dirty="0"/>
              <a:t>(in context),</a:t>
            </a:r>
          </a:p>
          <a:p>
            <a:pPr eaLnBrk="1" hangingPunct="1">
              <a:spcAft>
                <a:spcPts val="600"/>
              </a:spcAft>
              <a:defRPr/>
            </a:pPr>
            <a:r>
              <a:rPr lang="en-US" altLang="en-US" sz="2000" b="1" i="1" dirty="0"/>
              <a:t>P</a:t>
            </a:r>
            <a:r>
              <a:rPr lang="en-US" altLang="en-US" sz="2000" b="1" dirty="0"/>
              <a:t>-value large </a:t>
            </a:r>
            <a:r>
              <a:rPr lang="en-US" altLang="en-US" sz="2000" dirty="0"/>
              <a:t>→ </a:t>
            </a:r>
            <a:r>
              <a:rPr lang="en-US" altLang="en-US" sz="2000" dirty="0">
                <a:solidFill>
                  <a:srgbClr val="000000"/>
                </a:solidFill>
              </a:rPr>
              <a:t>fail to reject </a:t>
            </a:r>
            <a:r>
              <a:rPr lang="en-US" altLang="en-US" sz="2000" i="1" dirty="0">
                <a:solidFill>
                  <a:srgbClr val="000000"/>
                </a:solidFill>
              </a:rPr>
              <a:t>H</a:t>
            </a:r>
            <a:r>
              <a:rPr lang="en-US" altLang="en-US" sz="2000" baseline="-25000" dirty="0">
                <a:solidFill>
                  <a:srgbClr val="000000"/>
                </a:solidFill>
              </a:rPr>
              <a:t>0</a:t>
            </a:r>
            <a:r>
              <a:rPr lang="en-US" altLang="en-US" sz="2000" i="1" baseline="-25000" dirty="0">
                <a:solidFill>
                  <a:srgbClr val="000000"/>
                </a:solidFill>
              </a:rPr>
              <a:t> </a:t>
            </a:r>
            <a:r>
              <a:rPr lang="en-US" altLang="en-US" sz="2000" dirty="0">
                <a:solidFill>
                  <a:srgbClr val="000000"/>
                </a:solidFill>
              </a:rPr>
              <a:t>→ cannot conclude </a:t>
            </a:r>
            <a:r>
              <a:rPr lang="en-US" altLang="en-US" sz="2000" i="1" dirty="0">
                <a:solidFill>
                  <a:srgbClr val="000000"/>
                </a:solidFill>
              </a:rPr>
              <a:t>H</a:t>
            </a:r>
            <a:r>
              <a:rPr lang="en-US" altLang="en-US" sz="2000" baseline="-25000" dirty="0">
                <a:solidFill>
                  <a:srgbClr val="000000"/>
                </a:solidFill>
              </a:rPr>
              <a:t>a</a:t>
            </a:r>
            <a:r>
              <a:rPr lang="en-US" altLang="en-US" sz="2000" i="1" dirty="0">
                <a:solidFill>
                  <a:srgbClr val="000000"/>
                </a:solidFill>
              </a:rPr>
              <a:t> </a:t>
            </a:r>
            <a:r>
              <a:rPr lang="en-US" altLang="en-US" sz="2000" dirty="0">
                <a:solidFill>
                  <a:srgbClr val="000000"/>
                </a:solidFill>
              </a:rPr>
              <a:t>(in context).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from="(-#ppt_w/2)" to="(#ppt_x)" calcmode="lin" valueType="num">
                                      <p:cBhvr>
                                        <p:cTn id="7" dur="600" fill="hold">
                                          <p:stCondLst>
                                            <p:cond delay="0"/>
                                          </p:stCondLst>
                                        </p:cTn>
                                        <p:tgtEl>
                                          <p:spTgt spid="11"/>
                                        </p:tgtEl>
                                        <p:attrNameLst>
                                          <p:attrName>ppt_x</p:attrName>
                                        </p:attrNameLst>
                                      </p:cBhvr>
                                    </p:anim>
                                    <p:anim from="0" to="-1.0" calcmode="lin" valueType="num">
                                      <p:cBhvr>
                                        <p:cTn id="8" dur="200" decel="50000" autoRev="1" fill="hold">
                                          <p:stCondLst>
                                            <p:cond delay="600"/>
                                          </p:stCondLst>
                                        </p:cTn>
                                        <p:tgtEl>
                                          <p:spTgt spid="11"/>
                                        </p:tgtEl>
                                        <p:attrNameLst>
                                          <p:attrName>xshear</p:attrName>
                                        </p:attrNameLst>
                                      </p:cBhvr>
                                    </p:anim>
                                    <p:animScale>
                                      <p:cBhvr>
                                        <p:cTn id="9" dur="200" decel="100000" autoRev="1" fill="hold">
                                          <p:stCondLst>
                                            <p:cond delay="600"/>
                                          </p:stCondLst>
                                        </p:cTn>
                                        <p:tgtEl>
                                          <p:spTgt spid="11"/>
                                        </p:tgtEl>
                                      </p:cBhvr>
                                      <p:from x="100000" y="100000"/>
                                      <p:to x="80000" y="100000"/>
                                    </p:animScale>
                                    <p:anim by="(#ppt_h/3+#ppt_w*0.1)" calcmode="lin" valueType="num">
                                      <p:cBhvr additive="sum">
                                        <p:cTn id="10" dur="200" decel="100000" autoRev="1" fill="hold">
                                          <p:stCondLst>
                                            <p:cond delay="600"/>
                                          </p:stCondLst>
                                        </p:cTn>
                                        <p:tgtEl>
                                          <p:spTgt spid="11"/>
                                        </p:tgtEl>
                                        <p:attrNameLst>
                                          <p:attrName>ppt_x</p:attrName>
                                        </p:attrNameLst>
                                      </p:cBhvr>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p:cTn id="15" dur="1000" fill="hold"/>
                                        <p:tgtEl>
                                          <p:spTgt spid="12"/>
                                        </p:tgtEl>
                                        <p:attrNameLst>
                                          <p:attrName>ppt_w</p:attrName>
                                        </p:attrNameLst>
                                      </p:cBhvr>
                                      <p:tavLst>
                                        <p:tav tm="0">
                                          <p:val>
                                            <p:fltVal val="0"/>
                                          </p:val>
                                        </p:tav>
                                        <p:tav tm="100000">
                                          <p:val>
                                            <p:strVal val="#ppt_w"/>
                                          </p:val>
                                        </p:tav>
                                      </p:tavLst>
                                    </p:anim>
                                    <p:anim calcmode="lin" valueType="num">
                                      <p:cBhvr>
                                        <p:cTn id="16" dur="1000" fill="hold"/>
                                        <p:tgtEl>
                                          <p:spTgt spid="12"/>
                                        </p:tgtEl>
                                        <p:attrNameLst>
                                          <p:attrName>ppt_h</p:attrName>
                                        </p:attrNameLst>
                                      </p:cBhvr>
                                      <p:tavLst>
                                        <p:tav tm="0">
                                          <p:val>
                                            <p:fltVal val="0"/>
                                          </p:val>
                                        </p:tav>
                                        <p:tav tm="100000">
                                          <p:val>
                                            <p:strVal val="#ppt_h"/>
                                          </p:val>
                                        </p:tav>
                                      </p:tavLst>
                                    </p:anim>
                                    <p:anim calcmode="lin" valueType="num">
                                      <p:cBhvr>
                                        <p:cTn id="17" dur="1000" fill="hold"/>
                                        <p:tgtEl>
                                          <p:spTgt spid="12"/>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12"/>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Statistical Significance 2</a:t>
            </a:r>
            <a:endParaRPr lang="en-US" dirty="0"/>
          </a:p>
        </p:txBody>
      </p:sp>
      <p:sp>
        <p:nvSpPr>
          <p:cNvPr id="64514"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95DE478E-71A2-425D-A046-3D64BAEE3FE5}" type="slidenum">
              <a:rPr lang="en-US" altLang="en-US" sz="1200">
                <a:solidFill>
                  <a:schemeClr val="accent1"/>
                </a:solidFill>
              </a:rPr>
              <a:pPr>
                <a:lnSpc>
                  <a:spcPct val="80000"/>
                </a:lnSpc>
              </a:pPr>
              <a:t>28</a:t>
            </a:fld>
            <a:endParaRPr lang="en-US" altLang="en-US" sz="1200">
              <a:solidFill>
                <a:schemeClr val="accent1"/>
              </a:solidFill>
            </a:endParaRPr>
          </a:p>
        </p:txBody>
      </p:sp>
      <p:sp>
        <p:nvSpPr>
          <p:cNvPr id="64516" name="Rectangle 1"/>
          <p:cNvSpPr>
            <a:spLocks noChangeArrowheads="1"/>
          </p:cNvSpPr>
          <p:nvPr/>
        </p:nvSpPr>
        <p:spPr bwMode="auto">
          <a:xfrm>
            <a:off x="174625" y="1221990"/>
            <a:ext cx="8290718" cy="1938338"/>
          </a:xfrm>
          <a:prstGeom prst="rect">
            <a:avLst/>
          </a:prstGeom>
          <a:solidFill>
            <a:srgbClr val="FFD780"/>
          </a:solidFill>
          <a:ln>
            <a:noFill/>
          </a:ln>
        </p:spPr>
        <p:txBody>
          <a:bodyPr wrap="square">
            <a:spAutoFit/>
          </a:bodyPr>
          <a:lstStyle/>
          <a:p>
            <a:pPr algn="just" eaLnBrk="1" hangingPunct="1">
              <a:buFont typeface="Wingdings" pitchFamily="2" charset="2"/>
              <a:buNone/>
            </a:pPr>
            <a:r>
              <a:rPr lang="en-US" altLang="en-US" sz="2000" dirty="0">
                <a:solidFill>
                  <a:srgbClr val="000000"/>
                </a:solidFill>
              </a:rPr>
              <a:t>There is no ironclad rule for how small a </a:t>
            </a:r>
            <a:r>
              <a:rPr lang="en-US" altLang="en-US" sz="2000" i="1" dirty="0">
                <a:solidFill>
                  <a:srgbClr val="000000"/>
                </a:solidFill>
              </a:rPr>
              <a:t>P</a:t>
            </a:r>
            <a:r>
              <a:rPr lang="en-US" altLang="en-US" sz="2000" dirty="0">
                <a:solidFill>
                  <a:srgbClr val="000000"/>
                </a:solidFill>
              </a:rPr>
              <a:t>-value should be in order for us to reject </a:t>
            </a:r>
            <a:r>
              <a:rPr lang="en-US" altLang="en-US" sz="2000" i="1" dirty="0">
                <a:solidFill>
                  <a:srgbClr val="000000"/>
                </a:solidFill>
              </a:rPr>
              <a:t>H</a:t>
            </a:r>
            <a:r>
              <a:rPr lang="en-US" altLang="en-US" sz="2000" baseline="-25000" dirty="0">
                <a:solidFill>
                  <a:srgbClr val="000000"/>
                </a:solidFill>
              </a:rPr>
              <a:t>0</a:t>
            </a:r>
            <a:r>
              <a:rPr lang="en-US" altLang="en-US" sz="2000" dirty="0">
                <a:solidFill>
                  <a:srgbClr val="000000"/>
                </a:solidFill>
              </a:rPr>
              <a:t>—it is</a:t>
            </a:r>
            <a:r>
              <a:rPr lang="en-US" altLang="ja-JP" sz="2000" dirty="0">
                <a:solidFill>
                  <a:srgbClr val="000000"/>
                </a:solidFill>
              </a:rPr>
              <a:t> a matter of judgment and depends on the specific circumstances. But we can compare the </a:t>
            </a:r>
            <a:r>
              <a:rPr lang="en-US" altLang="ja-JP" sz="2000" i="1" dirty="0">
                <a:solidFill>
                  <a:srgbClr val="000000"/>
                </a:solidFill>
              </a:rPr>
              <a:t>P</a:t>
            </a:r>
            <a:r>
              <a:rPr lang="en-US" altLang="ja-JP" sz="2000" dirty="0">
                <a:solidFill>
                  <a:srgbClr val="000000"/>
                </a:solidFill>
              </a:rPr>
              <a:t>-value with a fixed value that we regard as decisive, </a:t>
            </a:r>
            <a:r>
              <a:rPr lang="en-US" altLang="ja-JP" sz="2000" dirty="0"/>
              <a:t>called the </a:t>
            </a:r>
            <a:r>
              <a:rPr lang="en-US" altLang="ja-JP" sz="2000" b="1" dirty="0"/>
              <a:t>significance level</a:t>
            </a:r>
            <a:r>
              <a:rPr lang="en-US" altLang="ja-JP" sz="2000" dirty="0"/>
              <a:t>. We write it as </a:t>
            </a:r>
            <a:r>
              <a:rPr lang="en-US" altLang="ja-JP" sz="2000" i="1" dirty="0">
                <a:latin typeface="Symbol" pitchFamily="18" charset="2"/>
                <a:sym typeface="Symbol" pitchFamily="18" charset="2"/>
              </a:rPr>
              <a:t></a:t>
            </a:r>
            <a:r>
              <a:rPr lang="en-US" altLang="ja-JP" sz="2000" dirty="0"/>
              <a:t>, the Greek letter alpha. When our </a:t>
            </a:r>
            <a:r>
              <a:rPr lang="en-US" altLang="ja-JP" sz="2000" i="1" dirty="0"/>
              <a:t>P</a:t>
            </a:r>
            <a:r>
              <a:rPr lang="en-US" altLang="ja-JP" sz="2000" dirty="0"/>
              <a:t>-value is less than the chosen </a:t>
            </a:r>
            <a:r>
              <a:rPr lang="en-US" altLang="ja-JP" sz="2000" i="1" dirty="0">
                <a:latin typeface="Symbol" pitchFamily="18" charset="2"/>
                <a:sym typeface="Symbol" pitchFamily="18" charset="2"/>
              </a:rPr>
              <a:t></a:t>
            </a:r>
            <a:r>
              <a:rPr lang="en-US" altLang="ja-JP" sz="2000" dirty="0"/>
              <a:t>, we say that the result is </a:t>
            </a:r>
            <a:r>
              <a:rPr lang="en-US" altLang="ja-JP" sz="2000" b="1" dirty="0"/>
              <a:t>statistically significant</a:t>
            </a:r>
            <a:r>
              <a:rPr lang="en-US" altLang="ja-JP" sz="2000" dirty="0"/>
              <a:t>. </a:t>
            </a:r>
            <a:endParaRPr lang="en-US" altLang="en-US" sz="2000" b="1" dirty="0"/>
          </a:p>
        </p:txBody>
      </p:sp>
      <p:sp>
        <p:nvSpPr>
          <p:cNvPr id="10" name="TextBox 9"/>
          <p:cNvSpPr txBox="1">
            <a:spLocks noChangeArrowheads="1"/>
          </p:cNvSpPr>
          <p:nvPr/>
        </p:nvSpPr>
        <p:spPr bwMode="auto">
          <a:xfrm>
            <a:off x="174625" y="3453074"/>
            <a:ext cx="8290718" cy="1014413"/>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just" eaLnBrk="1" hangingPunct="1">
              <a:spcBef>
                <a:spcPct val="0"/>
              </a:spcBef>
              <a:spcAft>
                <a:spcPts val="600"/>
              </a:spcAft>
              <a:buClrTx/>
              <a:buSzTx/>
              <a:buFontTx/>
              <a:buNone/>
              <a:defRPr/>
            </a:pPr>
            <a:r>
              <a:rPr lang="en-US" altLang="en-US" dirty="0">
                <a:solidFill>
                  <a:srgbClr val="000000"/>
                </a:solidFill>
              </a:rPr>
              <a:t>If the </a:t>
            </a:r>
            <a:r>
              <a:rPr lang="en-US" altLang="en-US" i="1" dirty="0">
                <a:solidFill>
                  <a:srgbClr val="000000"/>
                </a:solidFill>
              </a:rPr>
              <a:t>P</a:t>
            </a:r>
            <a:r>
              <a:rPr lang="en-US" altLang="en-US" dirty="0">
                <a:solidFill>
                  <a:srgbClr val="000000"/>
                </a:solidFill>
              </a:rPr>
              <a:t>-value is </a:t>
            </a:r>
            <a:r>
              <a:rPr lang="en-US" altLang="en-US" dirty="0">
                <a:solidFill>
                  <a:schemeClr val="tx1"/>
                </a:solidFill>
              </a:rPr>
              <a:t>smaller than </a:t>
            </a:r>
            <a:r>
              <a:rPr lang="en-US" altLang="ja-JP" i="1" dirty="0">
                <a:solidFill>
                  <a:schemeClr val="tx1"/>
                </a:solidFill>
                <a:latin typeface="Symbol" panose="05050102010706020507" pitchFamily="18" charset="2"/>
                <a:sym typeface="Symbol" panose="05050102010706020507" pitchFamily="18" charset="2"/>
              </a:rPr>
              <a:t></a:t>
            </a:r>
            <a:r>
              <a:rPr lang="en-US" altLang="en-US" dirty="0">
                <a:solidFill>
                  <a:schemeClr val="tx1"/>
                </a:solidFill>
              </a:rPr>
              <a:t>, we say that the data are </a:t>
            </a:r>
            <a:r>
              <a:rPr lang="en-US" altLang="en-US" b="1" dirty="0">
                <a:solidFill>
                  <a:schemeClr val="tx1"/>
                </a:solidFill>
              </a:rPr>
              <a:t>statistically significant at level </a:t>
            </a:r>
            <a:r>
              <a:rPr lang="en-US" altLang="ja-JP" b="1" i="1" dirty="0">
                <a:solidFill>
                  <a:schemeClr val="tx1"/>
                </a:solidFill>
                <a:latin typeface="Symbol" panose="05050102010706020507" pitchFamily="18" charset="2"/>
                <a:sym typeface="Symbol" panose="05050102010706020507" pitchFamily="18" charset="2"/>
              </a:rPr>
              <a:t></a:t>
            </a:r>
            <a:r>
              <a:rPr lang="en-US" altLang="en-US" b="1" dirty="0">
                <a:solidFill>
                  <a:schemeClr val="tx1"/>
                </a:solidFill>
              </a:rPr>
              <a:t>.</a:t>
            </a:r>
            <a:r>
              <a:rPr lang="en-US" altLang="en-US" dirty="0">
                <a:solidFill>
                  <a:schemeClr val="tx1"/>
                </a:solidFill>
              </a:rPr>
              <a:t> The quantity </a:t>
            </a:r>
            <a:r>
              <a:rPr lang="en-US" altLang="ja-JP" i="1" dirty="0">
                <a:solidFill>
                  <a:schemeClr val="tx1"/>
                </a:solidFill>
                <a:latin typeface="Symbol" panose="05050102010706020507" pitchFamily="18" charset="2"/>
                <a:sym typeface="Symbol" panose="05050102010706020507" pitchFamily="18" charset="2"/>
              </a:rPr>
              <a:t></a:t>
            </a:r>
            <a:r>
              <a:rPr lang="en-US" altLang="ja-JP" dirty="0">
                <a:solidFill>
                  <a:schemeClr val="tx1"/>
                </a:solidFill>
                <a:sym typeface="Symbol" panose="05050102010706020507" pitchFamily="18" charset="2"/>
              </a:rPr>
              <a:t> </a:t>
            </a:r>
            <a:r>
              <a:rPr lang="en-US" altLang="en-US" dirty="0">
                <a:solidFill>
                  <a:schemeClr val="tx1"/>
                </a:solidFill>
              </a:rPr>
              <a:t>is called the </a:t>
            </a:r>
            <a:r>
              <a:rPr lang="en-US" altLang="en-US" b="1" dirty="0">
                <a:solidFill>
                  <a:schemeClr val="tx1"/>
                </a:solidFill>
              </a:rPr>
              <a:t>significance level</a:t>
            </a:r>
            <a:r>
              <a:rPr lang="en-US" altLang="en-US" dirty="0">
                <a:solidFill>
                  <a:schemeClr val="tx1"/>
                </a:solidFill>
              </a:rPr>
              <a:t> or the </a:t>
            </a:r>
            <a:r>
              <a:rPr lang="en-US" altLang="en-US" b="1" dirty="0">
                <a:solidFill>
                  <a:schemeClr val="tx1"/>
                </a:solidFill>
              </a:rPr>
              <a:t>level of significance.</a:t>
            </a:r>
            <a:endParaRPr lang="en-US" altLang="en-US" sz="2400" b="1" i="1" dirty="0">
              <a:solidFill>
                <a:schemeClr val="tx1"/>
              </a:solidFill>
              <a:latin typeface="Palatino" charset="0"/>
            </a:endParaRPr>
          </a:p>
        </p:txBody>
      </p:sp>
      <p:sp>
        <p:nvSpPr>
          <p:cNvPr id="11" name="Rectangle 10"/>
          <p:cNvSpPr>
            <a:spLocks noChangeArrowheads="1"/>
          </p:cNvSpPr>
          <p:nvPr/>
        </p:nvSpPr>
        <p:spPr bwMode="auto">
          <a:xfrm>
            <a:off x="261937" y="4879975"/>
            <a:ext cx="8203405" cy="1476375"/>
          </a:xfrm>
          <a:prstGeom prst="rect">
            <a:avLst/>
          </a:prstGeom>
          <a:solidFill>
            <a:srgbClr val="FFFF00"/>
          </a:solidFill>
          <a:ln w="10000">
            <a:solidFill>
              <a:schemeClr val="accent2"/>
            </a:solidFill>
            <a:miter lim="800000"/>
            <a:headEnd/>
            <a:tailEnd/>
          </a:ln>
          <a:effectLst>
            <a:outerShdw blurRad="38100" dist="30000" dir="5400000" rotWithShape="0">
              <a:srgbClr val="808080">
                <a:alpha val="45000"/>
              </a:srgbClr>
            </a:outerShdw>
          </a:effectLst>
        </p:spPr>
        <p:txBody>
          <a:bodyPr wrap="square">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spcAft>
                <a:spcPts val="600"/>
              </a:spcAft>
              <a:defRPr/>
            </a:pPr>
            <a:r>
              <a:rPr lang="en-US" altLang="en-US" sz="2000" dirty="0">
                <a:solidFill>
                  <a:srgbClr val="000000"/>
                </a:solidFill>
              </a:rPr>
              <a:t>When we use a fixed level of significance to draw a conclusion in a significance test, we reason as follows:</a:t>
            </a:r>
          </a:p>
          <a:p>
            <a:pPr eaLnBrk="1" hangingPunct="1">
              <a:spcAft>
                <a:spcPts val="600"/>
              </a:spcAft>
              <a:defRPr/>
            </a:pPr>
            <a:r>
              <a:rPr lang="en-US" altLang="en-US" sz="2000" b="1" i="1" dirty="0"/>
              <a:t>P</a:t>
            </a:r>
            <a:r>
              <a:rPr lang="en-US" altLang="en-US" sz="2000" b="1" dirty="0"/>
              <a:t>-value &lt; </a:t>
            </a:r>
            <a:r>
              <a:rPr lang="en-US" altLang="ja-JP" sz="2000" b="1" i="1" dirty="0">
                <a:latin typeface="Symbol" charset="2"/>
                <a:sym typeface="Symbol" charset="2"/>
              </a:rPr>
              <a:t></a:t>
            </a:r>
            <a:r>
              <a:rPr lang="en-US" altLang="en-US" sz="2000" b="1" dirty="0"/>
              <a:t> </a:t>
            </a:r>
            <a:r>
              <a:rPr lang="en-US" altLang="en-US" sz="2000" dirty="0"/>
              <a:t>→ reject </a:t>
            </a:r>
            <a:r>
              <a:rPr lang="en-US" altLang="en-US" sz="2000" i="1" dirty="0"/>
              <a:t>H</a:t>
            </a:r>
            <a:r>
              <a:rPr lang="en-US" altLang="en-US" sz="2000" baseline="-25000" dirty="0"/>
              <a:t>0</a:t>
            </a:r>
            <a:r>
              <a:rPr lang="en-US" altLang="en-US" sz="2000" i="1" dirty="0"/>
              <a:t> </a:t>
            </a:r>
            <a:r>
              <a:rPr lang="en-US" altLang="en-US" sz="2000" dirty="0"/>
              <a:t>→ conclude </a:t>
            </a:r>
            <a:r>
              <a:rPr lang="en-US" altLang="en-US" sz="2000" i="1" dirty="0"/>
              <a:t>H</a:t>
            </a:r>
            <a:r>
              <a:rPr lang="en-US" altLang="en-US" sz="2000" baseline="-25000" dirty="0"/>
              <a:t>a</a:t>
            </a:r>
            <a:r>
              <a:rPr lang="en-US" altLang="en-US" sz="2000" i="1" dirty="0"/>
              <a:t> </a:t>
            </a:r>
            <a:r>
              <a:rPr lang="en-US" altLang="en-US" sz="2000" dirty="0"/>
              <a:t>(in context) </a:t>
            </a:r>
          </a:p>
          <a:p>
            <a:pPr eaLnBrk="1" hangingPunct="1">
              <a:spcAft>
                <a:spcPts val="600"/>
              </a:spcAft>
              <a:defRPr/>
            </a:pPr>
            <a:r>
              <a:rPr lang="en-US" altLang="en-US" sz="2000" b="1" i="1" dirty="0"/>
              <a:t>P</a:t>
            </a:r>
            <a:r>
              <a:rPr lang="en-US" altLang="en-US" sz="2000" b="1" dirty="0"/>
              <a:t>-value ≥ </a:t>
            </a:r>
            <a:r>
              <a:rPr lang="en-US" altLang="ja-JP" sz="2000" b="1" i="1" dirty="0">
                <a:latin typeface="Symbol" charset="2"/>
                <a:sym typeface="Symbol" charset="2"/>
              </a:rPr>
              <a:t></a:t>
            </a:r>
            <a:r>
              <a:rPr lang="en-US" altLang="en-US" sz="2000" dirty="0"/>
              <a:t> </a:t>
            </a:r>
            <a:r>
              <a:rPr lang="en-US" altLang="en-US" sz="2000" dirty="0">
                <a:solidFill>
                  <a:srgbClr val="000000"/>
                </a:solidFill>
              </a:rPr>
              <a:t>→ fail to reject </a:t>
            </a:r>
            <a:r>
              <a:rPr lang="en-US" altLang="en-US" sz="2000" i="1" dirty="0">
                <a:solidFill>
                  <a:srgbClr val="000000"/>
                </a:solidFill>
              </a:rPr>
              <a:t>H</a:t>
            </a:r>
            <a:r>
              <a:rPr lang="en-US" altLang="en-US" sz="2000" baseline="-25000" dirty="0">
                <a:solidFill>
                  <a:srgbClr val="000000"/>
                </a:solidFill>
              </a:rPr>
              <a:t>0</a:t>
            </a:r>
            <a:r>
              <a:rPr lang="en-US" altLang="en-US" sz="2000" i="1" dirty="0">
                <a:solidFill>
                  <a:srgbClr val="000000"/>
                </a:solidFill>
              </a:rPr>
              <a:t> </a:t>
            </a:r>
            <a:r>
              <a:rPr lang="en-US" altLang="en-US" sz="2000" dirty="0">
                <a:solidFill>
                  <a:srgbClr val="000000"/>
                </a:solidFill>
              </a:rPr>
              <a:t>→ cannot conclude </a:t>
            </a:r>
            <a:r>
              <a:rPr lang="en-US" altLang="en-US" sz="2000" i="1" dirty="0">
                <a:solidFill>
                  <a:srgbClr val="000000"/>
                </a:solidFill>
              </a:rPr>
              <a:t>H</a:t>
            </a:r>
            <a:r>
              <a:rPr lang="en-US" altLang="en-US" sz="2000" baseline="-25000" dirty="0">
                <a:solidFill>
                  <a:srgbClr val="000000"/>
                </a:solidFill>
              </a:rPr>
              <a:t>a</a:t>
            </a:r>
            <a:r>
              <a:rPr lang="en-US" altLang="en-US" sz="2000" i="1" dirty="0">
                <a:solidFill>
                  <a:srgbClr val="000000"/>
                </a:solidFill>
              </a:rPr>
              <a:t> </a:t>
            </a:r>
            <a:r>
              <a:rPr lang="en-US" altLang="en-US" sz="2000" dirty="0">
                <a:solidFill>
                  <a:srgbClr val="000000"/>
                </a:solidFill>
              </a:rPr>
              <a:t>(in context)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5"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p:cTn id="12" dur="1000" fill="hold"/>
                                        <p:tgtEl>
                                          <p:spTgt spid="11"/>
                                        </p:tgtEl>
                                        <p:attrNameLst>
                                          <p:attrName>ppt_w</p:attrName>
                                        </p:attrNameLst>
                                      </p:cBhvr>
                                      <p:tavLst>
                                        <p:tav tm="0">
                                          <p:val>
                                            <p:fltVal val="0"/>
                                          </p:val>
                                        </p:tav>
                                        <p:tav tm="100000">
                                          <p:val>
                                            <p:strVal val="#ppt_w"/>
                                          </p:val>
                                        </p:tav>
                                      </p:tavLst>
                                    </p:anim>
                                    <p:anim calcmode="lin" valueType="num">
                                      <p:cBhvr>
                                        <p:cTn id="13" dur="1000" fill="hold"/>
                                        <p:tgtEl>
                                          <p:spTgt spid="11"/>
                                        </p:tgtEl>
                                        <p:attrNameLst>
                                          <p:attrName>ppt_h</p:attrName>
                                        </p:attrNameLst>
                                      </p:cBhvr>
                                      <p:tavLst>
                                        <p:tav tm="0">
                                          <p:val>
                                            <p:fltVal val="0"/>
                                          </p:val>
                                        </p:tav>
                                        <p:tav tm="100000">
                                          <p:val>
                                            <p:strVal val="#ppt_h"/>
                                          </p:val>
                                        </p:tav>
                                      </p:tavLst>
                                    </p:anim>
                                    <p:anim calcmode="lin" valueType="num">
                                      <p:cBhvr>
                                        <p:cTn id="14" dur="1000" fill="hold"/>
                                        <p:tgtEl>
                                          <p:spTgt spid="11"/>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11"/>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9" name="Rectangle 2"/>
          <p:cNvSpPr>
            <a:spLocks noGrp="1" noChangeArrowheads="1"/>
          </p:cNvSpPr>
          <p:nvPr>
            <p:ph type="title"/>
          </p:nvPr>
        </p:nvSpPr>
        <p:spPr/>
        <p:txBody>
          <a:bodyPr/>
          <a:lstStyle/>
          <a:p>
            <a:pPr eaLnBrk="1" hangingPunct="1">
              <a:lnSpc>
                <a:spcPct val="90000"/>
              </a:lnSpc>
            </a:pPr>
            <a:r>
              <a:rPr lang="en-US" altLang="en-US">
                <a:ea typeface="ＭＳ Ｐゴシック" pitchFamily="34" charset="-128"/>
              </a:rPr>
              <a:t>Four Steps of Tests of Significance</a:t>
            </a:r>
            <a:endParaRPr lang="en-US" altLang="en-US" sz="2400">
              <a:solidFill>
                <a:srgbClr val="33CCFF"/>
              </a:solidFill>
              <a:ea typeface="ＭＳ Ｐゴシック" pitchFamily="34" charset="-128"/>
            </a:endParaRPr>
          </a:p>
        </p:txBody>
      </p:sp>
      <p:sp>
        <p:nvSpPr>
          <p:cNvPr id="6553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EE6FE09F-92B8-4A3C-B98E-0BFAE2B64DD4}" type="slidenum">
              <a:rPr lang="en-US" altLang="en-US" sz="1200">
                <a:solidFill>
                  <a:schemeClr val="accent1"/>
                </a:solidFill>
              </a:rPr>
              <a:pPr>
                <a:lnSpc>
                  <a:spcPct val="80000"/>
                </a:lnSpc>
              </a:pPr>
              <a:t>29</a:t>
            </a:fld>
            <a:endParaRPr lang="en-US" altLang="en-US" sz="1200">
              <a:solidFill>
                <a:schemeClr val="accent1"/>
              </a:solidFill>
            </a:endParaRPr>
          </a:p>
        </p:txBody>
      </p:sp>
      <p:sp>
        <p:nvSpPr>
          <p:cNvPr id="17" name="TextBox 16"/>
          <p:cNvSpPr txBox="1">
            <a:spLocks noChangeArrowheads="1"/>
          </p:cNvSpPr>
          <p:nvPr/>
        </p:nvSpPr>
        <p:spPr bwMode="auto">
          <a:xfrm>
            <a:off x="1843087" y="1476653"/>
            <a:ext cx="5422900" cy="461665"/>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b="1" dirty="0">
                <a:highlight>
                  <a:srgbClr val="FFFF00"/>
                </a:highlight>
              </a:rPr>
              <a:t>Tests of Significance: Four Steps</a:t>
            </a:r>
          </a:p>
        </p:txBody>
      </p:sp>
      <p:sp>
        <p:nvSpPr>
          <p:cNvPr id="16" name="TextBox 15"/>
          <p:cNvSpPr txBox="1">
            <a:spLocks noChangeArrowheads="1"/>
          </p:cNvSpPr>
          <p:nvPr/>
        </p:nvSpPr>
        <p:spPr bwMode="auto">
          <a:xfrm>
            <a:off x="694531" y="1876703"/>
            <a:ext cx="7754937" cy="1846262"/>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anchor="b">
            <a:spAutoFit/>
          </a:bodyPr>
          <a:lstStyle>
            <a:lvl1pPr marL="342900" indent="-342900">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1200"/>
              </a:spcAft>
              <a:buClrTx/>
              <a:buSzTx/>
              <a:buFontTx/>
              <a:buNone/>
              <a:defRPr/>
            </a:pPr>
            <a:r>
              <a:rPr lang="en-US" altLang="en-US" dirty="0">
                <a:solidFill>
                  <a:srgbClr val="000000"/>
                </a:solidFill>
              </a:rPr>
              <a:t>	1. State the n</a:t>
            </a:r>
            <a:r>
              <a:rPr lang="en-US" altLang="en-US" dirty="0">
                <a:solidFill>
                  <a:schemeClr val="tx1"/>
                </a:solidFill>
              </a:rPr>
              <a:t>ull and alternative </a:t>
            </a:r>
            <a:r>
              <a:rPr lang="en-US" altLang="en-US" b="1" dirty="0">
                <a:solidFill>
                  <a:schemeClr val="tx1"/>
                </a:solidFill>
              </a:rPr>
              <a:t>hypotheses</a:t>
            </a:r>
            <a:r>
              <a:rPr lang="en-US" altLang="en-US" dirty="0">
                <a:solidFill>
                  <a:schemeClr val="tx1"/>
                </a:solidFill>
              </a:rPr>
              <a:t>.</a:t>
            </a:r>
            <a:endParaRPr lang="en-US" altLang="en-US" b="1" dirty="0">
              <a:solidFill>
                <a:schemeClr val="tx1"/>
              </a:solidFill>
            </a:endParaRPr>
          </a:p>
          <a:p>
            <a:pPr eaLnBrk="1" hangingPunct="1">
              <a:spcBef>
                <a:spcPct val="0"/>
              </a:spcBef>
              <a:spcAft>
                <a:spcPts val="1200"/>
              </a:spcAft>
              <a:buClrTx/>
              <a:buSzTx/>
              <a:buFontTx/>
              <a:buNone/>
              <a:defRPr/>
            </a:pPr>
            <a:r>
              <a:rPr lang="en-US" altLang="en-US" dirty="0">
                <a:solidFill>
                  <a:schemeClr val="tx1"/>
                </a:solidFill>
              </a:rPr>
              <a:t>	2. Calculate the value of the </a:t>
            </a:r>
            <a:r>
              <a:rPr lang="en-US" altLang="en-US" b="1" dirty="0">
                <a:solidFill>
                  <a:schemeClr val="tx1"/>
                </a:solidFill>
              </a:rPr>
              <a:t>test statistic</a:t>
            </a:r>
            <a:r>
              <a:rPr lang="en-US" altLang="en-US" dirty="0">
                <a:solidFill>
                  <a:schemeClr val="tx1"/>
                </a:solidFill>
              </a:rPr>
              <a:t>.</a:t>
            </a:r>
          </a:p>
          <a:p>
            <a:pPr eaLnBrk="1" hangingPunct="1">
              <a:spcBef>
                <a:spcPct val="0"/>
              </a:spcBef>
              <a:spcAft>
                <a:spcPts val="1200"/>
              </a:spcAft>
              <a:buClrTx/>
              <a:buSzTx/>
              <a:buFontTx/>
              <a:buNone/>
              <a:defRPr/>
            </a:pPr>
            <a:r>
              <a:rPr lang="en-US" altLang="en-US" dirty="0">
                <a:solidFill>
                  <a:schemeClr val="tx1"/>
                </a:solidFill>
              </a:rPr>
              <a:t>	3. Find the </a:t>
            </a:r>
            <a:r>
              <a:rPr lang="en-US" altLang="en-US" b="1" i="1" dirty="0">
                <a:solidFill>
                  <a:schemeClr val="tx1"/>
                </a:solidFill>
              </a:rPr>
              <a:t>P</a:t>
            </a:r>
            <a:r>
              <a:rPr lang="en-US" altLang="en-US" b="1" dirty="0">
                <a:solidFill>
                  <a:schemeClr val="tx1"/>
                </a:solidFill>
              </a:rPr>
              <a:t>-value</a:t>
            </a:r>
            <a:r>
              <a:rPr lang="en-US" altLang="en-US" dirty="0">
                <a:solidFill>
                  <a:schemeClr val="tx1"/>
                </a:solidFill>
              </a:rPr>
              <a:t> for the observed data.</a:t>
            </a:r>
          </a:p>
          <a:p>
            <a:pPr eaLnBrk="1" hangingPunct="1">
              <a:spcBef>
                <a:spcPct val="0"/>
              </a:spcBef>
              <a:spcAft>
                <a:spcPts val="1200"/>
              </a:spcAft>
              <a:buClrTx/>
              <a:buSzTx/>
              <a:buFontTx/>
              <a:buNone/>
              <a:defRPr/>
            </a:pPr>
            <a:r>
              <a:rPr lang="en-US" altLang="en-US" b="1" dirty="0">
                <a:solidFill>
                  <a:schemeClr val="tx1"/>
                </a:solidFill>
              </a:rPr>
              <a:t>	</a:t>
            </a:r>
            <a:r>
              <a:rPr lang="en-US" altLang="en-US" dirty="0">
                <a:solidFill>
                  <a:schemeClr val="tx1"/>
                </a:solidFill>
              </a:rPr>
              <a:t>4. State a </a:t>
            </a:r>
            <a:r>
              <a:rPr lang="en-US" altLang="en-US" b="1" dirty="0">
                <a:solidFill>
                  <a:schemeClr val="tx1"/>
                </a:solidFill>
              </a:rPr>
              <a:t>conclusion</a:t>
            </a:r>
            <a:r>
              <a:rPr lang="en-US" altLang="en-US" dirty="0">
                <a:solidFill>
                  <a:schemeClr val="tx1"/>
                </a:solidFill>
              </a:rPr>
              <a:t>.</a:t>
            </a:r>
          </a:p>
        </p:txBody>
      </p:sp>
      <p:sp>
        <p:nvSpPr>
          <p:cNvPr id="65542" name="TextBox 5"/>
          <p:cNvSpPr txBox="1">
            <a:spLocks noChangeArrowheads="1"/>
          </p:cNvSpPr>
          <p:nvPr/>
        </p:nvSpPr>
        <p:spPr bwMode="auto">
          <a:xfrm>
            <a:off x="600075" y="4123015"/>
            <a:ext cx="79089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just" eaLnBrk="1" hangingPunct="1"/>
            <a:r>
              <a:rPr lang="en-US" altLang="en-US" dirty="0">
                <a:solidFill>
                  <a:schemeClr val="tx1"/>
                </a:solidFill>
              </a:rPr>
              <a:t>We will learn the details of many tests of significance in the following chapters. The proper test statistic is determined by the hypotheses and the data collection design.  </a:t>
            </a:r>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3" name="Rectangle 2"/>
          <p:cNvSpPr>
            <a:spLocks noGrp="1" noChangeArrowheads="1"/>
          </p:cNvSpPr>
          <p:nvPr>
            <p:ph type="title"/>
          </p:nvPr>
        </p:nvSpPr>
        <p:spPr/>
        <p:txBody>
          <a:bodyPr/>
          <a:lstStyle/>
          <a:p>
            <a:pPr eaLnBrk="1" hangingPunct="1">
              <a:lnSpc>
                <a:spcPct val="90000"/>
              </a:lnSpc>
            </a:pPr>
            <a:r>
              <a:rPr lang="en-US" altLang="en-US" dirty="0">
                <a:ea typeface="ＭＳ Ｐゴシック" pitchFamily="34" charset="-128"/>
              </a:rPr>
              <a:t>Tests for a Population Mean</a:t>
            </a:r>
            <a:endParaRPr lang="en-US" altLang="en-US" sz="2400" i="1" dirty="0">
              <a:solidFill>
                <a:srgbClr val="33CCFF"/>
              </a:solidFill>
              <a:ea typeface="ＭＳ Ｐゴシック" pitchFamily="34" charset="-128"/>
            </a:endParaRPr>
          </a:p>
        </p:txBody>
      </p:sp>
      <p:sp>
        <p:nvSpPr>
          <p:cNvPr id="6656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90B1FB60-DCC2-4C2A-AC4B-F0809DC88499}" type="slidenum">
              <a:rPr lang="en-US" altLang="en-US" sz="1200">
                <a:solidFill>
                  <a:schemeClr val="accent1"/>
                </a:solidFill>
              </a:rPr>
              <a:pPr>
                <a:lnSpc>
                  <a:spcPct val="80000"/>
                </a:lnSpc>
              </a:pPr>
              <a:t>30</a:t>
            </a:fld>
            <a:endParaRPr lang="en-US" altLang="en-US" sz="1200">
              <a:solidFill>
                <a:schemeClr val="accent1"/>
              </a:solidFill>
            </a:endParaRPr>
          </a:p>
        </p:txBody>
      </p:sp>
      <p:sp>
        <p:nvSpPr>
          <p:cNvPr id="2" name="TextBox 1"/>
          <p:cNvSpPr txBox="1"/>
          <p:nvPr/>
        </p:nvSpPr>
        <p:spPr>
          <a:xfrm>
            <a:off x="174624" y="988944"/>
            <a:ext cx="8588375" cy="1200329"/>
          </a:xfrm>
          <a:prstGeom prst="rect">
            <a:avLst/>
          </a:prstGeom>
          <a:noFill/>
        </p:spPr>
        <p:txBody>
          <a:bodyPr wrap="square" rtlCol="0">
            <a:spAutoFit/>
          </a:bodyPr>
          <a:lstStyle/>
          <a:p>
            <a:r>
              <a:rPr lang="en-US" dirty="0"/>
              <a:t>Z Test for a Population Mean</a:t>
            </a:r>
          </a:p>
          <a:p>
            <a:endParaRPr lang="en-US" dirty="0"/>
          </a:p>
          <a:p>
            <a:r>
              <a:rPr lang="en-US" dirty="0"/>
              <a:t>Draw an SRS of size </a:t>
            </a:r>
            <a:r>
              <a:rPr lang="en-US" i="1" dirty="0"/>
              <a:t>n</a:t>
            </a:r>
            <a:r>
              <a:rPr lang="en-US" dirty="0"/>
              <a:t> from a Normal population that has unknown mean </a:t>
            </a:r>
            <a:r>
              <a:rPr lang="en-US" i="1" dirty="0"/>
              <a:t>µ</a:t>
            </a:r>
            <a:r>
              <a:rPr lang="en-US" dirty="0"/>
              <a:t> and known standard deviation </a:t>
            </a:r>
            <a:r>
              <a:rPr lang="el-GR" i="1" dirty="0"/>
              <a:t>σ</a:t>
            </a:r>
            <a:r>
              <a:rPr lang="en-US" dirty="0"/>
              <a:t>. To test the null hypothesis that </a:t>
            </a:r>
            <a:r>
              <a:rPr lang="en-US" i="1" dirty="0"/>
              <a:t>µ</a:t>
            </a:r>
            <a:r>
              <a:rPr lang="en-US" dirty="0"/>
              <a:t> has a specific value,</a:t>
            </a:r>
            <a:endParaRPr lang="en-US" i="1" dirty="0"/>
          </a:p>
        </p:txBody>
      </p:sp>
      <p:graphicFrame>
        <p:nvGraphicFramePr>
          <p:cNvPr id="3" name="Object 2"/>
          <p:cNvGraphicFramePr>
            <a:graphicFrameLocks noChangeAspect="1"/>
          </p:cNvGraphicFramePr>
          <p:nvPr>
            <p:extLst>
              <p:ext uri="{D42A27DB-BD31-4B8C-83A1-F6EECF244321}">
                <p14:modId xmlns:p14="http://schemas.microsoft.com/office/powerpoint/2010/main" val="4154403857"/>
              </p:ext>
            </p:extLst>
          </p:nvPr>
        </p:nvGraphicFramePr>
        <p:xfrm>
          <a:off x="4146826" y="2217849"/>
          <a:ext cx="1309758" cy="420994"/>
        </p:xfrm>
        <a:graphic>
          <a:graphicData uri="http://schemas.openxmlformats.org/presentationml/2006/ole">
            <mc:AlternateContent xmlns:mc="http://schemas.openxmlformats.org/markup-compatibility/2006">
              <mc:Choice xmlns:v="urn:schemas-microsoft-com:vml" Requires="v">
                <p:oleObj spid="_x0000_s72768" name="Equation" r:id="rId4" imgW="711000" imgH="228600" progId="Equation.DSMT4">
                  <p:embed/>
                </p:oleObj>
              </mc:Choice>
              <mc:Fallback>
                <p:oleObj name="Equation" r:id="rId4" imgW="711000" imgH="228600" progId="Equation.DSMT4">
                  <p:embed/>
                  <p:pic>
                    <p:nvPicPr>
                      <p:cNvPr id="0" name=""/>
                      <p:cNvPicPr/>
                      <p:nvPr/>
                    </p:nvPicPr>
                    <p:blipFill>
                      <a:blip r:embed="rId5"/>
                      <a:stretch>
                        <a:fillRect/>
                      </a:stretch>
                    </p:blipFill>
                    <p:spPr>
                      <a:xfrm>
                        <a:off x="4146826" y="2217849"/>
                        <a:ext cx="1309758" cy="420994"/>
                      </a:xfrm>
                      <a:prstGeom prst="rect">
                        <a:avLst/>
                      </a:prstGeom>
                    </p:spPr>
                  </p:pic>
                </p:oleObj>
              </mc:Fallback>
            </mc:AlternateContent>
          </a:graphicData>
        </a:graphic>
      </p:graphicFrame>
      <p:sp>
        <p:nvSpPr>
          <p:cNvPr id="7" name="TextBox 6"/>
          <p:cNvSpPr txBox="1"/>
          <p:nvPr/>
        </p:nvSpPr>
        <p:spPr>
          <a:xfrm>
            <a:off x="174624" y="2777419"/>
            <a:ext cx="3972201" cy="369332"/>
          </a:xfrm>
          <a:prstGeom prst="rect">
            <a:avLst/>
          </a:prstGeom>
          <a:noFill/>
        </p:spPr>
        <p:txBody>
          <a:bodyPr wrap="square" rtlCol="0">
            <a:spAutoFit/>
          </a:bodyPr>
          <a:lstStyle/>
          <a:p>
            <a:r>
              <a:rPr lang="en-US" dirty="0"/>
              <a:t>Calculate the </a:t>
            </a:r>
            <a:r>
              <a:rPr lang="en-US" b="1" dirty="0"/>
              <a:t>one-sample </a:t>
            </a:r>
            <a:r>
              <a:rPr lang="en-US" b="1" i="1" dirty="0"/>
              <a:t>z</a:t>
            </a:r>
            <a:r>
              <a:rPr lang="en-US" b="1" dirty="0"/>
              <a:t> statistic</a:t>
            </a:r>
            <a:endParaRPr lang="en-US" b="1" i="1" dirty="0"/>
          </a:p>
        </p:txBody>
      </p:sp>
      <p:graphicFrame>
        <p:nvGraphicFramePr>
          <p:cNvPr id="8" name="Object 7"/>
          <p:cNvGraphicFramePr>
            <a:graphicFrameLocks noChangeAspect="1"/>
          </p:cNvGraphicFramePr>
          <p:nvPr>
            <p:extLst>
              <p:ext uri="{D42A27DB-BD31-4B8C-83A1-F6EECF244321}">
                <p14:modId xmlns:p14="http://schemas.microsoft.com/office/powerpoint/2010/main" val="284417824"/>
              </p:ext>
            </p:extLst>
          </p:nvPr>
        </p:nvGraphicFramePr>
        <p:xfrm>
          <a:off x="4211155" y="2669324"/>
          <a:ext cx="1181100" cy="771525"/>
        </p:xfrm>
        <a:graphic>
          <a:graphicData uri="http://schemas.openxmlformats.org/presentationml/2006/ole">
            <mc:AlternateContent xmlns:mc="http://schemas.openxmlformats.org/markup-compatibility/2006">
              <mc:Choice xmlns:v="urn:schemas-microsoft-com:vml" Requires="v">
                <p:oleObj spid="_x0000_s72769" name="Equation" r:id="rId6" imgW="698400" imgH="457200" progId="Equation.DSMT4">
                  <p:embed/>
                </p:oleObj>
              </mc:Choice>
              <mc:Fallback>
                <p:oleObj name="Equation" r:id="rId6" imgW="698400" imgH="457200" progId="Equation.DSMT4">
                  <p:embed/>
                  <p:pic>
                    <p:nvPicPr>
                      <p:cNvPr id="0" name=""/>
                      <p:cNvPicPr/>
                      <p:nvPr/>
                    </p:nvPicPr>
                    <p:blipFill>
                      <a:blip r:embed="rId7"/>
                      <a:stretch>
                        <a:fillRect/>
                      </a:stretch>
                    </p:blipFill>
                    <p:spPr>
                      <a:xfrm>
                        <a:off x="4211155" y="2669324"/>
                        <a:ext cx="1181100" cy="771525"/>
                      </a:xfrm>
                      <a:prstGeom prst="rect">
                        <a:avLst/>
                      </a:prstGeom>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3774567036"/>
              </p:ext>
            </p:extLst>
          </p:nvPr>
        </p:nvGraphicFramePr>
        <p:xfrm>
          <a:off x="248516" y="3597800"/>
          <a:ext cx="6474653" cy="693066"/>
        </p:xfrm>
        <a:graphic>
          <a:graphicData uri="http://schemas.openxmlformats.org/presentationml/2006/ole">
            <mc:AlternateContent xmlns:mc="http://schemas.openxmlformats.org/markup-compatibility/2006">
              <mc:Choice xmlns:v="urn:schemas-microsoft-com:vml" Requires="v">
                <p:oleObj spid="_x0000_s72770" name="Equation" r:id="rId8" imgW="4025880" imgH="431640" progId="Equation.DSMT4">
                  <p:embed/>
                </p:oleObj>
              </mc:Choice>
              <mc:Fallback>
                <p:oleObj name="Equation" r:id="rId8" imgW="4025880" imgH="431640" progId="Equation.DSMT4">
                  <p:embed/>
                  <p:pic>
                    <p:nvPicPr>
                      <p:cNvPr id="0" name=""/>
                      <p:cNvPicPr/>
                      <p:nvPr/>
                    </p:nvPicPr>
                    <p:blipFill>
                      <a:blip r:embed="rId9"/>
                      <a:stretch>
                        <a:fillRect/>
                      </a:stretch>
                    </p:blipFill>
                    <p:spPr>
                      <a:xfrm>
                        <a:off x="248516" y="3597800"/>
                        <a:ext cx="6474653" cy="693066"/>
                      </a:xfrm>
                      <a:prstGeom prst="rect">
                        <a:avLst/>
                      </a:prstGeom>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1021993605"/>
              </p:ext>
            </p:extLst>
          </p:nvPr>
        </p:nvGraphicFramePr>
        <p:xfrm>
          <a:off x="1816490" y="4526979"/>
          <a:ext cx="2446338" cy="385762"/>
        </p:xfrm>
        <a:graphic>
          <a:graphicData uri="http://schemas.openxmlformats.org/presentationml/2006/ole">
            <mc:AlternateContent xmlns:mc="http://schemas.openxmlformats.org/markup-compatibility/2006">
              <mc:Choice xmlns:v="urn:schemas-microsoft-com:vml" Requires="v">
                <p:oleObj spid="_x0000_s72771" name="Equation" r:id="rId10" imgW="1447560" imgH="228600" progId="Equation.DSMT4">
                  <p:embed/>
                </p:oleObj>
              </mc:Choice>
              <mc:Fallback>
                <p:oleObj name="Equation" r:id="rId10" imgW="1447560" imgH="228600" progId="Equation.DSMT4">
                  <p:embed/>
                  <p:pic>
                    <p:nvPicPr>
                      <p:cNvPr id="0" name=""/>
                      <p:cNvPicPr/>
                      <p:nvPr/>
                    </p:nvPicPr>
                    <p:blipFill>
                      <a:blip r:embed="rId11"/>
                      <a:stretch>
                        <a:fillRect/>
                      </a:stretch>
                    </p:blipFill>
                    <p:spPr>
                      <a:xfrm>
                        <a:off x="1816490" y="4526979"/>
                        <a:ext cx="2446338" cy="385762"/>
                      </a:xfrm>
                      <a:prstGeom prst="rect">
                        <a:avLst/>
                      </a:prstGeom>
                    </p:spPr>
                  </p:pic>
                </p:oleObj>
              </mc:Fallback>
            </mc:AlternateContent>
          </a:graphicData>
        </a:graphic>
      </p:graphicFrame>
      <p:graphicFrame>
        <p:nvGraphicFramePr>
          <p:cNvPr id="12" name="Object 11"/>
          <p:cNvGraphicFramePr>
            <a:graphicFrameLocks noChangeAspect="1"/>
          </p:cNvGraphicFramePr>
          <p:nvPr>
            <p:extLst>
              <p:ext uri="{D42A27DB-BD31-4B8C-83A1-F6EECF244321}">
                <p14:modId xmlns:p14="http://schemas.microsoft.com/office/powerpoint/2010/main" val="3274103338"/>
              </p:ext>
            </p:extLst>
          </p:nvPr>
        </p:nvGraphicFramePr>
        <p:xfrm>
          <a:off x="1816490" y="5328828"/>
          <a:ext cx="2446338" cy="385762"/>
        </p:xfrm>
        <a:graphic>
          <a:graphicData uri="http://schemas.openxmlformats.org/presentationml/2006/ole">
            <mc:AlternateContent xmlns:mc="http://schemas.openxmlformats.org/markup-compatibility/2006">
              <mc:Choice xmlns:v="urn:schemas-microsoft-com:vml" Requires="v">
                <p:oleObj spid="_x0000_s72772" name="Equation" r:id="rId12" imgW="1447560" imgH="228600" progId="Equation.DSMT4">
                  <p:embed/>
                </p:oleObj>
              </mc:Choice>
              <mc:Fallback>
                <p:oleObj name="Equation" r:id="rId12" imgW="1447560" imgH="228600" progId="Equation.DSMT4">
                  <p:embed/>
                  <p:pic>
                    <p:nvPicPr>
                      <p:cNvPr id="0" name=""/>
                      <p:cNvPicPr/>
                      <p:nvPr/>
                    </p:nvPicPr>
                    <p:blipFill>
                      <a:blip r:embed="rId13"/>
                      <a:stretch>
                        <a:fillRect/>
                      </a:stretch>
                    </p:blipFill>
                    <p:spPr>
                      <a:xfrm>
                        <a:off x="1816490" y="5328828"/>
                        <a:ext cx="2446338" cy="385762"/>
                      </a:xfrm>
                      <a:prstGeom prst="rect">
                        <a:avLst/>
                      </a:prstGeom>
                    </p:spPr>
                  </p:pic>
                </p:oleObj>
              </mc:Fallback>
            </mc:AlternateContent>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1282361112"/>
              </p:ext>
            </p:extLst>
          </p:nvPr>
        </p:nvGraphicFramePr>
        <p:xfrm>
          <a:off x="1559315" y="6130677"/>
          <a:ext cx="2703513" cy="428625"/>
        </p:xfrm>
        <a:graphic>
          <a:graphicData uri="http://schemas.openxmlformats.org/presentationml/2006/ole">
            <mc:AlternateContent xmlns:mc="http://schemas.openxmlformats.org/markup-compatibility/2006">
              <mc:Choice xmlns:v="urn:schemas-microsoft-com:vml" Requires="v">
                <p:oleObj spid="_x0000_s72773" name="Equation" r:id="rId14" imgW="1600200" imgH="253800" progId="Equation.DSMT4">
                  <p:embed/>
                </p:oleObj>
              </mc:Choice>
              <mc:Fallback>
                <p:oleObj name="Equation" r:id="rId14" imgW="1600200" imgH="253800" progId="Equation.DSMT4">
                  <p:embed/>
                  <p:pic>
                    <p:nvPicPr>
                      <p:cNvPr id="0" name=""/>
                      <p:cNvPicPr/>
                      <p:nvPr/>
                    </p:nvPicPr>
                    <p:blipFill>
                      <a:blip r:embed="rId15"/>
                      <a:stretch>
                        <a:fillRect/>
                      </a:stretch>
                    </p:blipFill>
                    <p:spPr>
                      <a:xfrm>
                        <a:off x="1559315" y="6130677"/>
                        <a:ext cx="2703513" cy="428625"/>
                      </a:xfrm>
                      <a:prstGeom prst="rect">
                        <a:avLst/>
                      </a:prstGeom>
                    </p:spPr>
                  </p:pic>
                </p:oleObj>
              </mc:Fallback>
            </mc:AlternateContent>
          </a:graphicData>
        </a:graphic>
      </p:graphicFrame>
      <p:pic>
        <p:nvPicPr>
          <p:cNvPr id="4" name="Picture 3" descr="A normal distribution curve. Z is marked under the right tail, with the area beyond it shaded. "/>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4572000" y="4190068"/>
            <a:ext cx="2504661" cy="884310"/>
          </a:xfrm>
          <a:prstGeom prst="rect">
            <a:avLst/>
          </a:prstGeom>
        </p:spPr>
      </p:pic>
      <p:pic>
        <p:nvPicPr>
          <p:cNvPr id="5" name="Picture 4" descr="A normal distribution curve. Z is marked under the left tail, with the area beyond it shaded."/>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4572000" y="5079554"/>
            <a:ext cx="2504661" cy="884310"/>
          </a:xfrm>
          <a:prstGeom prst="rect">
            <a:avLst/>
          </a:prstGeom>
        </p:spPr>
      </p:pic>
      <p:pic>
        <p:nvPicPr>
          <p:cNvPr id="6" name="Picture 5" descr="A normal distribution curve. The absolute value of z is marked under the right tail. The opposite value is also marked under the left. The area beyond each is shaded."/>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4572000" y="5963864"/>
            <a:ext cx="2504661" cy="863128"/>
          </a:xfrm>
          <a:prstGeom prst="rect">
            <a:avLst/>
          </a:prstGeom>
        </p:spPr>
      </p:pic>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1" name="Rectangle 2"/>
          <p:cNvSpPr>
            <a:spLocks noGrp="1" noChangeArrowheads="1"/>
          </p:cNvSpPr>
          <p:nvPr>
            <p:ph type="title"/>
          </p:nvPr>
        </p:nvSpPr>
        <p:spPr>
          <a:xfrm>
            <a:off x="174625" y="156605"/>
            <a:ext cx="5127048" cy="772639"/>
          </a:xfrm>
        </p:spPr>
        <p:txBody>
          <a:bodyPr/>
          <a:lstStyle/>
          <a:p>
            <a:pPr eaLnBrk="1" hangingPunct="1">
              <a:lnSpc>
                <a:spcPct val="90000"/>
              </a:lnSpc>
            </a:pPr>
            <a:r>
              <a:rPr lang="en-US" altLang="en-US" dirty="0">
                <a:ea typeface="ＭＳ Ｐゴシック" pitchFamily="34" charset="-128"/>
              </a:rPr>
              <a:t>Significance Test</a:t>
            </a:r>
            <a:r>
              <a:rPr lang="en-US" altLang="en-US" sz="2400" dirty="0">
                <a:ea typeface="ＭＳ Ｐゴシック" pitchFamily="34" charset="-128"/>
              </a:rPr>
              <a:t> (1 of 2)</a:t>
            </a:r>
            <a:endParaRPr lang="en-US" altLang="en-US" sz="2400" dirty="0">
              <a:solidFill>
                <a:srgbClr val="33CCFF"/>
              </a:solidFill>
              <a:ea typeface="ＭＳ Ｐゴシック" pitchFamily="34" charset="-128"/>
            </a:endParaRPr>
          </a:p>
        </p:txBody>
      </p:sp>
      <p:sp>
        <p:nvSpPr>
          <p:cNvPr id="6861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74390865-90FB-4BC0-A3ED-1910E969A611}" type="slidenum">
              <a:rPr lang="en-US" altLang="en-US" sz="1200">
                <a:solidFill>
                  <a:schemeClr val="accent1"/>
                </a:solidFill>
              </a:rPr>
              <a:pPr>
                <a:lnSpc>
                  <a:spcPct val="80000"/>
                </a:lnSpc>
              </a:pPr>
              <a:t>31</a:t>
            </a:fld>
            <a:endParaRPr lang="en-US" altLang="en-US" sz="1200">
              <a:solidFill>
                <a:schemeClr val="accent1"/>
              </a:solidFill>
            </a:endParaRPr>
          </a:p>
        </p:txBody>
      </p:sp>
      <p:sp>
        <p:nvSpPr>
          <p:cNvPr id="68612" name="Rectangle 1"/>
          <p:cNvSpPr>
            <a:spLocks noChangeArrowheads="1"/>
          </p:cNvSpPr>
          <p:nvPr/>
        </p:nvSpPr>
        <p:spPr bwMode="auto">
          <a:xfrm>
            <a:off x="174625" y="1246304"/>
            <a:ext cx="8474700"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338138" algn="just" eaLnBrk="1" hangingPunct="1">
              <a:spcBef>
                <a:spcPts val="0"/>
              </a:spcBef>
              <a:buClr>
                <a:schemeClr val="tx2"/>
              </a:buClr>
              <a:buSzPct val="75000"/>
              <a:buFont typeface="Monotype Sorts" charset="2"/>
              <a:buNone/>
            </a:pPr>
            <a:r>
              <a:rPr lang="en-US" altLang="en-US" sz="2000" b="1" dirty="0"/>
              <a:t>Example:  </a:t>
            </a:r>
            <a:r>
              <a:rPr lang="en-US" altLang="en-US" sz="2000" dirty="0"/>
              <a:t>Does the job satisfaction of assembly-line workers differ when their work is machine-paced rather than self-paced? </a:t>
            </a:r>
          </a:p>
          <a:p>
            <a:pPr indent="-338138" algn="just" eaLnBrk="1" hangingPunct="1">
              <a:spcBef>
                <a:spcPts val="0"/>
              </a:spcBef>
              <a:buClr>
                <a:schemeClr val="tx2"/>
              </a:buClr>
              <a:buSzPct val="75000"/>
              <a:buFont typeface="Monotype Sorts" charset="2"/>
              <a:buNone/>
            </a:pPr>
            <a:endParaRPr lang="en-US" altLang="en-US" sz="2000" dirty="0"/>
          </a:p>
          <a:p>
            <a:pPr indent="-338138" algn="just" eaLnBrk="1" hangingPunct="1">
              <a:spcBef>
                <a:spcPts val="0"/>
              </a:spcBef>
              <a:buClr>
                <a:schemeClr val="tx2"/>
              </a:buClr>
              <a:buSzPct val="75000"/>
              <a:buFont typeface="Monotype Sorts" charset="2"/>
              <a:buNone/>
            </a:pPr>
            <a:r>
              <a:rPr lang="en-US" altLang="en-US" sz="2000" dirty="0"/>
              <a:t>A matched pairs study was performed on a sample of workers, and each worker’</a:t>
            </a:r>
            <a:r>
              <a:rPr lang="en-US" altLang="ja-JP" sz="2000" dirty="0"/>
              <a:t>s satisfaction was assessed after she or he worked in each setting. The response variable is the difference in satisfaction scores, self-paced minus machine-paced.</a:t>
            </a:r>
            <a:endParaRPr lang="en-US" altLang="en-US" sz="2000" b="1" dirty="0">
              <a:solidFill>
                <a:schemeClr val="tx2"/>
              </a:solidFill>
            </a:endParaRPr>
          </a:p>
        </p:txBody>
      </p:sp>
      <p:sp>
        <p:nvSpPr>
          <p:cNvPr id="10" name="Rectangle 5"/>
          <p:cNvSpPr>
            <a:spLocks noChangeArrowheads="1"/>
          </p:cNvSpPr>
          <p:nvPr/>
        </p:nvSpPr>
        <p:spPr bwMode="auto">
          <a:xfrm>
            <a:off x="174625" y="3810133"/>
            <a:ext cx="8310562" cy="2862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nchor="ctr">
            <a:spAutoFit/>
          </a:bodyPr>
          <a:lstStyle/>
          <a:p>
            <a:pPr indent="-338138" algn="just" eaLnBrk="1" hangingPunct="1">
              <a:spcBef>
                <a:spcPts val="0"/>
              </a:spcBef>
              <a:buClr>
                <a:schemeClr val="tx2"/>
              </a:buClr>
              <a:buSzPct val="75000"/>
              <a:buFont typeface="Monotype Sorts" charset="2"/>
              <a:buNone/>
            </a:pPr>
            <a:r>
              <a:rPr lang="en-US" altLang="en-US" sz="2000" dirty="0"/>
              <a:t>The null hypothesis is that, on average, there is no difference in scores in the population of assembly-line workers, while the alternative hypothesis (the one we would like to prove true) is that, on average, there is a difference in scores in the population of assembly workers.</a:t>
            </a:r>
          </a:p>
          <a:p>
            <a:pPr indent="-338138" algn="just" eaLnBrk="1" hangingPunct="1">
              <a:spcBef>
                <a:spcPts val="0"/>
              </a:spcBef>
              <a:buClr>
                <a:schemeClr val="tx2"/>
              </a:buClr>
              <a:buSzPct val="75000"/>
              <a:buFont typeface="Monotype Sorts" charset="2"/>
              <a:buNone/>
            </a:pPr>
            <a:endParaRPr lang="en-US" altLang="en-US" sz="2000" dirty="0"/>
          </a:p>
          <a:p>
            <a:pPr indent="-338138" algn="ctr" eaLnBrk="1" hangingPunct="1">
              <a:spcBef>
                <a:spcPts val="0"/>
              </a:spcBef>
              <a:buClr>
                <a:schemeClr val="tx2"/>
              </a:buClr>
              <a:buSzPct val="75000"/>
              <a:buFont typeface="Monotype Sorts" charset="2"/>
              <a:buNone/>
            </a:pPr>
            <a:r>
              <a:rPr lang="en-US" altLang="en-US" sz="2000" i="1" dirty="0"/>
              <a:t>H</a:t>
            </a:r>
            <a:r>
              <a:rPr lang="en-US" altLang="en-US" sz="2000" baseline="-25000" dirty="0"/>
              <a:t>0</a:t>
            </a:r>
            <a:r>
              <a:rPr lang="en-US" altLang="en-US" sz="2000" dirty="0"/>
              <a:t>: </a:t>
            </a:r>
            <a:r>
              <a:rPr lang="en-US" altLang="en-US" sz="2000" i="1" dirty="0">
                <a:latin typeface="Symbol" pitchFamily="18" charset="2"/>
              </a:rPr>
              <a:t>m</a:t>
            </a:r>
            <a:r>
              <a:rPr lang="en-US" altLang="en-US" sz="2000" dirty="0"/>
              <a:t> = 0		</a:t>
            </a:r>
            <a:r>
              <a:rPr lang="en-US" altLang="en-US" sz="2000" i="1" dirty="0"/>
              <a:t>H</a:t>
            </a:r>
            <a:r>
              <a:rPr lang="en-US" altLang="en-US" sz="2000" baseline="-25000" dirty="0"/>
              <a:t>a</a:t>
            </a:r>
            <a:r>
              <a:rPr lang="en-US" altLang="en-US" sz="2000" dirty="0"/>
              <a:t>: </a:t>
            </a:r>
            <a:r>
              <a:rPr lang="en-US" altLang="en-US" sz="2000" i="1" dirty="0">
                <a:latin typeface="Symbol" pitchFamily="18" charset="2"/>
              </a:rPr>
              <a:t>m</a:t>
            </a:r>
            <a:r>
              <a:rPr lang="en-US" altLang="en-US" sz="2000" dirty="0"/>
              <a:t> ≠ 0</a:t>
            </a:r>
          </a:p>
          <a:p>
            <a:pPr indent="-338138" eaLnBrk="1" hangingPunct="1">
              <a:spcBef>
                <a:spcPts val="0"/>
              </a:spcBef>
              <a:buClr>
                <a:schemeClr val="tx2"/>
              </a:buClr>
              <a:buSzPct val="75000"/>
              <a:buFont typeface="Monotype Sorts" charset="2"/>
              <a:buNone/>
            </a:pPr>
            <a:endParaRPr lang="en-US" altLang="en-US" sz="2000" dirty="0"/>
          </a:p>
          <a:p>
            <a:pPr indent="-338138" eaLnBrk="1" hangingPunct="1">
              <a:spcBef>
                <a:spcPts val="0"/>
              </a:spcBef>
              <a:buClr>
                <a:schemeClr val="tx2"/>
              </a:buClr>
              <a:buSzPct val="75000"/>
              <a:buFont typeface="Monotype Sorts" charset="2"/>
              <a:buNone/>
            </a:pPr>
            <a:r>
              <a:rPr lang="en-US" altLang="en-US" sz="2000" dirty="0"/>
              <a:t>This is a two-sided alternative because we are interested in determining whether a difference, positive or negative, exists. </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6605"/>
            <a:ext cx="5699702" cy="772639"/>
          </a:xfrm>
        </p:spPr>
        <p:txBody>
          <a:bodyPr/>
          <a:lstStyle/>
          <a:p>
            <a:r>
              <a:rPr lang="en-US" altLang="en-US" dirty="0"/>
              <a:t>Significance Test</a:t>
            </a:r>
            <a:r>
              <a:rPr lang="en-US" altLang="en-US" sz="2000" dirty="0">
                <a:ea typeface="ＭＳ Ｐゴシック" pitchFamily="34" charset="-128"/>
              </a:rPr>
              <a:t> (2 of 2)</a:t>
            </a:r>
            <a:endParaRPr lang="en-US" sz="2000" dirty="0"/>
          </a:p>
        </p:txBody>
      </p:sp>
      <p:sp>
        <p:nvSpPr>
          <p:cNvPr id="6963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811A1DE4-FB35-43F5-A4F7-3128C5432EF1}" type="slidenum">
              <a:rPr lang="en-US" altLang="en-US" sz="1200">
                <a:solidFill>
                  <a:schemeClr val="accent1"/>
                </a:solidFill>
              </a:rPr>
              <a:pPr>
                <a:lnSpc>
                  <a:spcPct val="80000"/>
                </a:lnSpc>
              </a:pPr>
              <a:t>32</a:t>
            </a:fld>
            <a:endParaRPr lang="en-US" altLang="en-US" sz="1200">
              <a:solidFill>
                <a:schemeClr val="accent1"/>
              </a:solidFill>
            </a:endParaRPr>
          </a:p>
        </p:txBody>
      </p:sp>
      <p:sp>
        <p:nvSpPr>
          <p:cNvPr id="6" name="Rectangle 5"/>
          <p:cNvSpPr>
            <a:spLocks noChangeArrowheads="1"/>
          </p:cNvSpPr>
          <p:nvPr/>
        </p:nvSpPr>
        <p:spPr bwMode="auto">
          <a:xfrm>
            <a:off x="174625" y="1389844"/>
            <a:ext cx="8474699"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nchor="ctr">
            <a:spAutoFit/>
          </a:bodyPr>
          <a:lstStyle/>
          <a:p>
            <a:pPr indent="-338138" eaLnBrk="1" hangingPunct="1">
              <a:spcBef>
                <a:spcPts val="0"/>
              </a:spcBef>
              <a:buClr>
                <a:schemeClr val="tx2"/>
              </a:buClr>
              <a:buSzPct val="75000"/>
              <a:buFont typeface="Monotype Sorts" charset="2"/>
              <a:buNone/>
            </a:pPr>
            <a:r>
              <a:rPr lang="en-US" altLang="en-US" sz="2000" dirty="0"/>
              <a:t>Suppose job satisfaction scores follow a Normal distribution with standard deviation </a:t>
            </a:r>
            <a:r>
              <a:rPr lang="en-US" altLang="en-US" sz="2000" i="1" dirty="0">
                <a:latin typeface="Symbol" pitchFamily="18" charset="2"/>
              </a:rPr>
              <a:t>s</a:t>
            </a:r>
            <a:r>
              <a:rPr lang="en-US" altLang="en-US" sz="2000" dirty="0"/>
              <a:t> = 60. Data from 18 workers gave a sample mean score of 17. The test statistic is</a:t>
            </a:r>
            <a:endParaRPr lang="en-US" altLang="en-US" sz="2000" b="1" dirty="0">
              <a:solidFill>
                <a:schemeClr val="tx2"/>
              </a:solidFill>
            </a:endParaRPr>
          </a:p>
        </p:txBody>
      </p:sp>
      <p:graphicFrame>
        <p:nvGraphicFramePr>
          <p:cNvPr id="7" name="Object 6" descr="The image shows a statistical expression using the formula: &quot;z&quot; equals to &quot;x bar&quot; minus &quot;mew subscript 0&quot; divided by &quot;sigma&quot; divided by square root of &quot;n&quot;. Showing the Calculation as 17 minus 0 divided by 60 divided by square root of 18 giving the results as 1.20."/>
          <p:cNvGraphicFramePr>
            <a:graphicFrameLocks noChangeAspect="1"/>
          </p:cNvGraphicFramePr>
          <p:nvPr>
            <p:extLst>
              <p:ext uri="{D42A27DB-BD31-4B8C-83A1-F6EECF244321}">
                <p14:modId xmlns:p14="http://schemas.microsoft.com/office/powerpoint/2010/main" val="1008255229"/>
              </p:ext>
            </p:extLst>
          </p:nvPr>
        </p:nvGraphicFramePr>
        <p:xfrm>
          <a:off x="2715615" y="2532063"/>
          <a:ext cx="3460334" cy="1190708"/>
        </p:xfrm>
        <a:graphic>
          <a:graphicData uri="http://schemas.openxmlformats.org/presentationml/2006/ole">
            <mc:AlternateContent xmlns:mc="http://schemas.openxmlformats.org/markup-compatibility/2006">
              <mc:Choice xmlns:v="urn:schemas-microsoft-com:vml" Requires="v">
                <p:oleObj spid="_x0000_s69719" name="Equation" r:id="rId3" imgW="1543232" imgH="523904" progId="Equation.3">
                  <p:embed/>
                </p:oleObj>
              </mc:Choice>
              <mc:Fallback>
                <p:oleObj name="Equation" r:id="rId3" imgW="1543232" imgH="523904" progId="Equation.3">
                  <p:embed/>
                  <p:pic>
                    <p:nvPicPr>
                      <p:cNvPr id="0" name="Object 6" descr="The image shows a statistical expression using the formula: &quot;z&quot; equals to &quot;x bar&quot; minus &quot;mew subscript 0&quot; divided by &quot;sigma&quot; divided by square root of &quot;n&quot;. Showing the Calculation as 17 minus 0 divided by 60 divided by square root of 18 giving the results as 1.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2715615" y="2532063"/>
                        <a:ext cx="3460334" cy="1190708"/>
                      </a:xfrm>
                      <a:prstGeom prst="rect">
                        <a:avLst/>
                      </a:prstGeom>
                      <a:noFill/>
                      <a:ln>
                        <a:noFill/>
                      </a:ln>
                      <a:effectLst/>
                    </p:spPr>
                  </p:pic>
                </p:oleObj>
              </mc:Fallback>
            </mc:AlternateContent>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49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6605"/>
            <a:ext cx="4067591" cy="772639"/>
          </a:xfrm>
        </p:spPr>
        <p:txBody>
          <a:bodyPr/>
          <a:lstStyle/>
          <a:p>
            <a:r>
              <a:rPr lang="en-US" altLang="en-US" dirty="0"/>
              <a:t>Significance Test</a:t>
            </a:r>
            <a:endParaRPr lang="en-US" dirty="0"/>
          </a:p>
        </p:txBody>
      </p:sp>
      <p:sp>
        <p:nvSpPr>
          <p:cNvPr id="7065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4B232109-DCE0-484A-A2B8-43E511EDDA3A}" type="slidenum">
              <a:rPr lang="en-US" altLang="en-US" sz="1200">
                <a:solidFill>
                  <a:schemeClr val="accent1"/>
                </a:solidFill>
              </a:rPr>
              <a:pPr>
                <a:lnSpc>
                  <a:spcPct val="80000"/>
                </a:lnSpc>
              </a:pPr>
              <a:t>33</a:t>
            </a:fld>
            <a:endParaRPr lang="en-US" altLang="en-US" sz="1200">
              <a:solidFill>
                <a:schemeClr val="accent1"/>
              </a:solidFill>
            </a:endParaRPr>
          </a:p>
        </p:txBody>
      </p:sp>
      <p:sp>
        <p:nvSpPr>
          <p:cNvPr id="8" name="Rectangle 5" descr="The image shows the statement &quot;For the test statistic z = 1.20 and alternative hypothesis Ha: m ≠ 0, the P-value would be,&quot; which is followed by probability expression given as:&#10;&#10;P-value equals to P bracket open Z less than minus 1.20 or Z greater than 1.20 bracket close. This expression is further equals to 2 P bracket open Z less than minus 1.20 bracket close, equals to 2 P bracket open Z greater than 1.20. The expression given in the third line is: 2 multiplied by 0.1151 is equal to 0.2302. &#10;&#10;The image also mentions the statement &quot;If H0 is true, there is a chance of 0.2302 (23.02%) that we would see results at least as extreme as those in the sample. A probability of 0.2302 is not particularly small, and so the observed results are not unlikely if H0 is true. This means there is not strong evidence in favor of Ha.&quot;"/>
          <p:cNvSpPr>
            <a:spLocks noChangeArrowheads="1"/>
          </p:cNvSpPr>
          <p:nvPr/>
        </p:nvSpPr>
        <p:spPr bwMode="auto">
          <a:xfrm>
            <a:off x="174625" y="1090213"/>
            <a:ext cx="8153400" cy="5334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spAutoFit/>
          </a:bodyPr>
          <a:lstStyle/>
          <a:p>
            <a:pPr algn="just" eaLnBrk="1" hangingPunct="1">
              <a:spcBef>
                <a:spcPct val="20000"/>
              </a:spcBef>
              <a:buClr>
                <a:schemeClr val="tx2"/>
              </a:buClr>
              <a:buSzPct val="75000"/>
              <a:buFont typeface="Monotype Sorts" charset="2"/>
              <a:buNone/>
              <a:tabLst>
                <a:tab pos="2057400" algn="l"/>
              </a:tabLst>
            </a:pPr>
            <a:r>
              <a:rPr lang="en-US" altLang="en-US" sz="2000" dirty="0"/>
              <a:t>For the test statistic </a:t>
            </a:r>
            <a:r>
              <a:rPr lang="en-US" altLang="en-US" sz="2000" i="1" dirty="0"/>
              <a:t>z</a:t>
            </a:r>
            <a:r>
              <a:rPr lang="en-US" altLang="en-US" sz="2000" dirty="0"/>
              <a:t> = 1.20 and alternative hypothesis </a:t>
            </a:r>
            <a:r>
              <a:rPr lang="en-US" altLang="en-US" sz="2000" i="1" dirty="0"/>
              <a:t>H</a:t>
            </a:r>
            <a:r>
              <a:rPr lang="en-US" altLang="en-US" sz="2000" baseline="-25000" dirty="0"/>
              <a:t>a</a:t>
            </a:r>
            <a:r>
              <a:rPr lang="en-US" altLang="en-US" sz="2000" dirty="0"/>
              <a:t>: </a:t>
            </a:r>
            <a:r>
              <a:rPr lang="en-US" altLang="en-US" sz="2000" i="1" dirty="0">
                <a:latin typeface="Symbol" pitchFamily="18" charset="2"/>
              </a:rPr>
              <a:t>m</a:t>
            </a:r>
            <a:r>
              <a:rPr lang="en-US" altLang="en-US" sz="2000" dirty="0"/>
              <a:t> ≠ 0, the </a:t>
            </a:r>
            <a:r>
              <a:rPr lang="en-US" altLang="en-US" sz="2000" i="1" dirty="0"/>
              <a:t>P</a:t>
            </a:r>
            <a:r>
              <a:rPr lang="en-US" altLang="en-US" sz="2000" dirty="0"/>
              <a:t>-value would be</a:t>
            </a:r>
          </a:p>
          <a:p>
            <a:pPr eaLnBrk="1" hangingPunct="1">
              <a:spcBef>
                <a:spcPct val="20000"/>
              </a:spcBef>
              <a:buClr>
                <a:schemeClr val="tx2"/>
              </a:buClr>
              <a:buSzPct val="75000"/>
              <a:buFont typeface="Monotype Sorts" charset="2"/>
              <a:buNone/>
              <a:tabLst>
                <a:tab pos="2057400" algn="l"/>
              </a:tabLst>
            </a:pPr>
            <a:endParaRPr lang="en-US" altLang="en-US" sz="2400" dirty="0"/>
          </a:p>
          <a:p>
            <a:pPr eaLnBrk="1" hangingPunct="1">
              <a:spcBef>
                <a:spcPct val="20000"/>
              </a:spcBef>
              <a:buClr>
                <a:schemeClr val="tx2"/>
              </a:buClr>
              <a:buSzPct val="75000"/>
              <a:buFont typeface="Monotype Sorts" charset="2"/>
              <a:buNone/>
              <a:tabLst>
                <a:tab pos="2057400" algn="l"/>
              </a:tabLst>
            </a:pPr>
            <a:endParaRPr lang="en-US" altLang="en-US" sz="500" dirty="0"/>
          </a:p>
          <a:p>
            <a:pPr eaLnBrk="1" hangingPunct="1">
              <a:lnSpc>
                <a:spcPct val="95000"/>
              </a:lnSpc>
              <a:spcBef>
                <a:spcPct val="10000"/>
              </a:spcBef>
              <a:buClr>
                <a:schemeClr val="tx2"/>
              </a:buClr>
              <a:buSzPct val="75000"/>
              <a:buFont typeface="Monotype Sorts" charset="2"/>
              <a:buNone/>
              <a:tabLst>
                <a:tab pos="2057400" algn="l"/>
              </a:tabLst>
            </a:pPr>
            <a:r>
              <a:rPr lang="en-US" altLang="en-US" sz="2000" i="1" dirty="0"/>
              <a:t>P</a:t>
            </a:r>
            <a:r>
              <a:rPr lang="en-US" altLang="en-US" sz="2000" dirty="0"/>
              <a:t>-value = </a:t>
            </a:r>
            <a:r>
              <a:rPr lang="en-US" altLang="en-US" sz="2000" i="1" dirty="0"/>
              <a:t>P</a:t>
            </a:r>
            <a:r>
              <a:rPr lang="en-US" altLang="en-US" sz="2000" dirty="0"/>
              <a:t>(</a:t>
            </a:r>
            <a:r>
              <a:rPr lang="en-US" altLang="en-US" sz="2000" i="1" dirty="0"/>
              <a:t>Z</a:t>
            </a:r>
            <a:r>
              <a:rPr lang="en-US" altLang="en-US" sz="2000" dirty="0"/>
              <a:t> &lt; –1.20 or </a:t>
            </a:r>
            <a:r>
              <a:rPr lang="en-US" altLang="en-US" sz="2000" i="1" dirty="0"/>
              <a:t>Z</a:t>
            </a:r>
            <a:r>
              <a:rPr lang="en-US" altLang="en-US" sz="2000" dirty="0"/>
              <a:t> &gt; 1.20) </a:t>
            </a:r>
          </a:p>
          <a:p>
            <a:pPr lvl="2" eaLnBrk="1" hangingPunct="1">
              <a:lnSpc>
                <a:spcPct val="110000"/>
              </a:lnSpc>
              <a:spcBef>
                <a:spcPct val="20000"/>
              </a:spcBef>
              <a:buClr>
                <a:schemeClr val="tx2"/>
              </a:buClr>
              <a:buSzPct val="75000"/>
              <a:buFont typeface="Monotype Sorts" charset="2"/>
              <a:buNone/>
              <a:tabLst>
                <a:tab pos="2057400" algn="l"/>
              </a:tabLst>
            </a:pPr>
            <a:r>
              <a:rPr lang="en-US" altLang="en-US" sz="2000" dirty="0"/>
              <a:t>= 2 </a:t>
            </a:r>
            <a:r>
              <a:rPr lang="en-US" altLang="en-US" sz="2000" i="1" dirty="0"/>
              <a:t>P</a:t>
            </a:r>
            <a:r>
              <a:rPr lang="en-US" altLang="en-US" sz="2000" dirty="0"/>
              <a:t>(</a:t>
            </a:r>
            <a:r>
              <a:rPr lang="en-US" altLang="en-US" sz="2000" i="1" dirty="0"/>
              <a:t>Z</a:t>
            </a:r>
            <a:r>
              <a:rPr lang="en-US" altLang="en-US" sz="2000" dirty="0"/>
              <a:t> &lt; –1.20) = 2 </a:t>
            </a:r>
            <a:r>
              <a:rPr lang="en-US" altLang="en-US" sz="2000" i="1" dirty="0"/>
              <a:t>P</a:t>
            </a:r>
            <a:r>
              <a:rPr lang="en-US" altLang="en-US" sz="2000" dirty="0"/>
              <a:t>(</a:t>
            </a:r>
            <a:r>
              <a:rPr lang="en-US" altLang="en-US" sz="2000" i="1" dirty="0"/>
              <a:t>Z</a:t>
            </a:r>
            <a:r>
              <a:rPr lang="en-US" altLang="en-US" sz="2000" dirty="0"/>
              <a:t> &gt; 1.20)</a:t>
            </a:r>
            <a:br>
              <a:rPr lang="en-US" altLang="en-US" sz="2000" dirty="0"/>
            </a:br>
            <a:r>
              <a:rPr lang="en-US" altLang="en-US" sz="2000" dirty="0"/>
              <a:t>= (2)(0.1151) = 0.2302 </a:t>
            </a:r>
          </a:p>
          <a:p>
            <a:pPr lvl="4" eaLnBrk="1" hangingPunct="1">
              <a:lnSpc>
                <a:spcPct val="110000"/>
              </a:lnSpc>
              <a:spcBef>
                <a:spcPct val="20000"/>
              </a:spcBef>
              <a:buClr>
                <a:schemeClr val="tx2"/>
              </a:buClr>
              <a:buSzPct val="75000"/>
              <a:buFont typeface="Monotype Sorts" charset="2"/>
              <a:buNone/>
              <a:tabLst>
                <a:tab pos="2057400" algn="l"/>
              </a:tabLst>
            </a:pPr>
            <a:endParaRPr lang="en-US" altLang="en-US" sz="2400" dirty="0"/>
          </a:p>
          <a:p>
            <a:pPr algn="ctr" eaLnBrk="1" hangingPunct="1">
              <a:spcBef>
                <a:spcPct val="20000"/>
              </a:spcBef>
              <a:buClr>
                <a:schemeClr val="tx2"/>
              </a:buClr>
              <a:buSzPct val="75000"/>
              <a:buFont typeface="Monotype Sorts" charset="2"/>
              <a:buNone/>
              <a:tabLst>
                <a:tab pos="2057400" algn="l"/>
              </a:tabLst>
            </a:pPr>
            <a:endParaRPr lang="en-US" altLang="en-US" sz="500" dirty="0"/>
          </a:p>
          <a:p>
            <a:pPr eaLnBrk="1" hangingPunct="1">
              <a:lnSpc>
                <a:spcPct val="95000"/>
              </a:lnSpc>
              <a:buClr>
                <a:schemeClr val="tx2"/>
              </a:buClr>
              <a:buSzPct val="75000"/>
              <a:buFont typeface="Monotype Sorts" charset="2"/>
              <a:buNone/>
              <a:tabLst>
                <a:tab pos="2057400" algn="l"/>
              </a:tabLst>
            </a:pPr>
            <a:r>
              <a:rPr lang="en-US" altLang="en-US" sz="2400" dirty="0"/>
              <a:t>	</a:t>
            </a:r>
          </a:p>
          <a:p>
            <a:pPr eaLnBrk="1" hangingPunct="1">
              <a:lnSpc>
                <a:spcPct val="95000"/>
              </a:lnSpc>
              <a:buClr>
                <a:schemeClr val="tx2"/>
              </a:buClr>
              <a:buSzPct val="75000"/>
              <a:buFont typeface="Monotype Sorts" charset="2"/>
              <a:buNone/>
              <a:tabLst>
                <a:tab pos="2057400" algn="l"/>
              </a:tabLst>
            </a:pPr>
            <a:endParaRPr lang="en-US" altLang="en-US" sz="2400" dirty="0"/>
          </a:p>
          <a:p>
            <a:pPr algn="just" eaLnBrk="1" hangingPunct="1">
              <a:lnSpc>
                <a:spcPct val="95000"/>
              </a:lnSpc>
              <a:buClr>
                <a:schemeClr val="tx2"/>
              </a:buClr>
              <a:buSzPct val="75000"/>
              <a:buFont typeface="Monotype Sorts" charset="2"/>
              <a:buNone/>
              <a:tabLst>
                <a:tab pos="2057400" algn="l"/>
              </a:tabLst>
            </a:pPr>
            <a:r>
              <a:rPr lang="en-US" altLang="en-US" sz="2000" dirty="0"/>
              <a:t>If </a:t>
            </a:r>
            <a:r>
              <a:rPr lang="en-US" altLang="en-US" sz="2000" i="1" dirty="0"/>
              <a:t>H</a:t>
            </a:r>
            <a:r>
              <a:rPr lang="en-US" altLang="en-US" sz="2000" baseline="-25000" dirty="0"/>
              <a:t>0</a:t>
            </a:r>
            <a:r>
              <a:rPr lang="en-US" altLang="en-US" sz="2000" dirty="0"/>
              <a:t> is true, there is a chance of </a:t>
            </a:r>
            <a:r>
              <a:rPr lang="en-US" altLang="en-US" dirty="0">
                <a:solidFill>
                  <a:srgbClr val="000000"/>
                </a:solidFill>
              </a:rPr>
              <a:t>0.2302 (23.02%) </a:t>
            </a:r>
            <a:r>
              <a:rPr lang="en-US" altLang="en-US" sz="2000" dirty="0"/>
              <a:t>that we would see results at least as extreme as those in the sample. A probability of 0.2302 is not particularly small, and so the observed results are not unlikely if </a:t>
            </a:r>
            <a:r>
              <a:rPr lang="en-US" altLang="en-US" sz="2000" i="1" dirty="0"/>
              <a:t>H</a:t>
            </a:r>
            <a:r>
              <a:rPr lang="en-US" altLang="en-US" sz="2000" baseline="-25000" dirty="0"/>
              <a:t>0</a:t>
            </a:r>
            <a:r>
              <a:rPr lang="en-US" altLang="en-US" sz="2000" dirty="0"/>
              <a:t> is true. </a:t>
            </a:r>
          </a:p>
          <a:p>
            <a:pPr algn="just" eaLnBrk="1" hangingPunct="1">
              <a:lnSpc>
                <a:spcPct val="95000"/>
              </a:lnSpc>
              <a:buClr>
                <a:schemeClr val="tx2"/>
              </a:buClr>
              <a:buSzPct val="75000"/>
              <a:buFont typeface="Monotype Sorts" charset="2"/>
              <a:buNone/>
              <a:tabLst>
                <a:tab pos="2057400" algn="l"/>
              </a:tabLst>
            </a:pPr>
            <a:endParaRPr lang="en-US" altLang="en-US" sz="2000" dirty="0"/>
          </a:p>
          <a:p>
            <a:pPr algn="just" eaLnBrk="1" hangingPunct="1">
              <a:lnSpc>
                <a:spcPct val="95000"/>
              </a:lnSpc>
              <a:buClr>
                <a:schemeClr val="tx2"/>
              </a:buClr>
              <a:buSzPct val="75000"/>
              <a:buFont typeface="Monotype Sorts" charset="2"/>
              <a:buNone/>
              <a:tabLst>
                <a:tab pos="2057400" algn="l"/>
              </a:tabLst>
            </a:pPr>
            <a:r>
              <a:rPr lang="en-US" altLang="en-US" sz="2000" dirty="0"/>
              <a:t>This means there is not strong evidence in favor of </a:t>
            </a:r>
            <a:r>
              <a:rPr lang="en-US" altLang="en-US" sz="2000" i="1" dirty="0"/>
              <a:t>H</a:t>
            </a:r>
            <a:r>
              <a:rPr lang="en-US" altLang="en-US" sz="2000" baseline="-25000" dirty="0"/>
              <a:t>a</a:t>
            </a:r>
            <a:r>
              <a:rPr lang="en-US" altLang="en-US" sz="2000" dirty="0"/>
              <a:t>.</a:t>
            </a:r>
          </a:p>
        </p:txBody>
      </p:sp>
      <p:pic>
        <p:nvPicPr>
          <p:cNvPr id="9" name="Picture 5" descr="The image shows a distribution bell curve, where the two sided P-value for Z equal to 1.20 is the area at least 1.2 away from 0 in either direction. The Area is equal to 0.1151 in either direction from the edges. The P value is mentioned as 0.23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9338" y="1629218"/>
            <a:ext cx="3903662" cy="2509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8">
                                            <p:txEl>
                                              <p:pRg st="4" end="4"/>
                                            </p:txEl>
                                          </p:spTgt>
                                        </p:tgtEl>
                                        <p:attrNameLst>
                                          <p:attrName>style.visibility</p:attrName>
                                        </p:attrNameLst>
                                      </p:cBhvr>
                                      <p:to>
                                        <p:strVal val="visible"/>
                                      </p:to>
                                    </p:set>
                                  </p:childTnLst>
                                </p:cTn>
                              </p:par>
                              <p:par>
                                <p:cTn id="15" presetID="9"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8">
                                            <p:txEl>
                                              <p:pRg st="9" end="9"/>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74625" y="156604"/>
            <a:ext cx="7772400" cy="1143000"/>
          </a:xfrm>
        </p:spPr>
        <p:txBody>
          <a:bodyPr/>
          <a:lstStyle/>
          <a:p>
            <a:pPr eaLnBrk="1" hangingPunct="1"/>
            <a:r>
              <a:rPr lang="en-US" altLang="en-US" dirty="0">
                <a:ea typeface="ＭＳ Ｐゴシック" pitchFamily="34" charset="-128"/>
              </a:rPr>
              <a:t>Two-Sided Significance Tests and Confidence Intervals</a:t>
            </a:r>
          </a:p>
        </p:txBody>
      </p:sp>
      <p:sp>
        <p:nvSpPr>
          <p:cNvPr id="71687"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B3374DB7-0C7D-485B-8A7D-1BA7E9298645}" type="slidenum">
              <a:rPr lang="en-US" altLang="en-US" sz="1200">
                <a:solidFill>
                  <a:schemeClr val="accent1"/>
                </a:solidFill>
              </a:rPr>
              <a:pPr>
                <a:lnSpc>
                  <a:spcPct val="80000"/>
                </a:lnSpc>
              </a:pPr>
              <a:t>34</a:t>
            </a:fld>
            <a:endParaRPr lang="en-US" altLang="en-US" sz="1200">
              <a:solidFill>
                <a:schemeClr val="accent1"/>
              </a:solidFill>
            </a:endParaRPr>
          </a:p>
        </p:txBody>
      </p:sp>
      <p:sp>
        <p:nvSpPr>
          <p:cNvPr id="57347" name="Rectangle 3"/>
          <p:cNvSpPr>
            <a:spLocks noGrp="1" noChangeArrowheads="1"/>
          </p:cNvSpPr>
          <p:nvPr>
            <p:ph type="body" idx="4294967295"/>
          </p:nvPr>
        </p:nvSpPr>
        <p:spPr>
          <a:xfrm>
            <a:off x="174625" y="1488453"/>
            <a:ext cx="7772400" cy="850582"/>
          </a:xfrm>
        </p:spPr>
        <p:txBody>
          <a:bodyPr/>
          <a:lstStyle/>
          <a:p>
            <a:pPr marL="0" indent="0" eaLnBrk="1" hangingPunct="1">
              <a:lnSpc>
                <a:spcPct val="120000"/>
              </a:lnSpc>
              <a:spcBef>
                <a:spcPts val="0"/>
              </a:spcBef>
              <a:buFont typeface="Wingdings" pitchFamily="2" charset="2"/>
              <a:buNone/>
            </a:pPr>
            <a:r>
              <a:rPr lang="en-US" altLang="en-US" dirty="0">
                <a:solidFill>
                  <a:srgbClr val="000000"/>
                </a:solidFill>
                <a:ea typeface="ＭＳ Ｐゴシック" pitchFamily="34" charset="-128"/>
              </a:rPr>
              <a:t>Because a two-sided test is symmetric, we can also use a 1 – </a:t>
            </a:r>
            <a:r>
              <a:rPr lang="en-US" altLang="en-US" i="1" dirty="0">
                <a:solidFill>
                  <a:srgbClr val="000000"/>
                </a:solidFill>
                <a:latin typeface="Symbol" pitchFamily="18" charset="2"/>
                <a:ea typeface="ＭＳ Ｐゴシック" pitchFamily="34" charset="-128"/>
              </a:rPr>
              <a:t>a</a:t>
            </a:r>
            <a:r>
              <a:rPr lang="en-US" altLang="en-US" dirty="0">
                <a:solidFill>
                  <a:srgbClr val="000000"/>
                </a:solidFill>
                <a:ea typeface="ＭＳ Ｐゴシック" pitchFamily="34" charset="-128"/>
              </a:rPr>
              <a:t> confidence interval to test a two-sided hypothesis at level </a:t>
            </a:r>
            <a:r>
              <a:rPr lang="en-US" altLang="en-US" i="1" dirty="0">
                <a:solidFill>
                  <a:srgbClr val="000000"/>
                </a:solidFill>
                <a:latin typeface="Symbol" pitchFamily="18" charset="2"/>
                <a:ea typeface="ＭＳ Ｐゴシック" pitchFamily="34" charset="-128"/>
              </a:rPr>
              <a:t>a</a:t>
            </a:r>
            <a:r>
              <a:rPr lang="en-US" altLang="en-US" dirty="0">
                <a:solidFill>
                  <a:srgbClr val="000000"/>
                </a:solidFill>
                <a:ea typeface="ＭＳ Ｐゴシック" pitchFamily="34" charset="-128"/>
              </a:rPr>
              <a:t>.</a:t>
            </a:r>
          </a:p>
        </p:txBody>
      </p:sp>
      <p:sp>
        <p:nvSpPr>
          <p:cNvPr id="57352" name="TextBox 1"/>
          <p:cNvSpPr txBox="1">
            <a:spLocks noChangeArrowheads="1"/>
          </p:cNvSpPr>
          <p:nvPr/>
        </p:nvSpPr>
        <p:spPr bwMode="auto">
          <a:xfrm>
            <a:off x="372803" y="2981758"/>
            <a:ext cx="2505307"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just" eaLnBrk="1" hangingPunct="1"/>
            <a:r>
              <a:rPr lang="en-US" altLang="en-US" sz="1800" dirty="0">
                <a:solidFill>
                  <a:schemeClr val="tx1"/>
                </a:solidFill>
              </a:rPr>
              <a:t>Confidence level </a:t>
            </a:r>
            <a:r>
              <a:rPr lang="en-US" altLang="en-US" sz="1800" i="1" dirty="0">
                <a:solidFill>
                  <a:schemeClr val="tx1"/>
                </a:solidFill>
              </a:rPr>
              <a:t>C</a:t>
            </a:r>
            <a:r>
              <a:rPr lang="en-US" altLang="en-US" sz="1800" dirty="0">
                <a:solidFill>
                  <a:schemeClr val="tx1"/>
                </a:solidFill>
              </a:rPr>
              <a:t> and </a:t>
            </a:r>
            <a:r>
              <a:rPr lang="en-US" altLang="en-US" sz="1800" i="1" dirty="0">
                <a:solidFill>
                  <a:srgbClr val="000000"/>
                </a:solidFill>
                <a:latin typeface="Symbol" pitchFamily="18" charset="2"/>
              </a:rPr>
              <a:t>a</a:t>
            </a:r>
            <a:r>
              <a:rPr lang="en-US" altLang="en-US" sz="1800" dirty="0">
                <a:solidFill>
                  <a:schemeClr val="tx1"/>
                </a:solidFill>
              </a:rPr>
              <a:t> for a two-sided test are related as follows:</a:t>
            </a:r>
          </a:p>
          <a:p>
            <a:pPr eaLnBrk="1" hangingPunct="1"/>
            <a:endParaRPr lang="en-US" altLang="en-US" sz="1800" dirty="0">
              <a:solidFill>
                <a:schemeClr val="tx1"/>
              </a:solidFill>
            </a:endParaRPr>
          </a:p>
          <a:p>
            <a:pPr eaLnBrk="1" hangingPunct="1"/>
            <a:r>
              <a:rPr lang="en-US" altLang="en-US" sz="1800" i="1" dirty="0">
                <a:solidFill>
                  <a:schemeClr val="tx1"/>
                </a:solidFill>
              </a:rPr>
              <a:t>          C </a:t>
            </a:r>
            <a:r>
              <a:rPr lang="en-US" altLang="en-US" sz="1800" dirty="0">
                <a:solidFill>
                  <a:schemeClr val="tx1"/>
                </a:solidFill>
              </a:rPr>
              <a:t>= 1 – </a:t>
            </a:r>
            <a:r>
              <a:rPr lang="en-US" altLang="en-US" sz="1800" i="1" dirty="0">
                <a:solidFill>
                  <a:schemeClr val="tx1"/>
                </a:solidFill>
                <a:latin typeface="Symbol" pitchFamily="18" charset="2"/>
              </a:rPr>
              <a:t>a</a:t>
            </a:r>
            <a:endParaRPr lang="en-US" altLang="en-US" sz="1800" dirty="0">
              <a:solidFill>
                <a:schemeClr val="tx1"/>
              </a:solidFill>
            </a:endParaRPr>
          </a:p>
        </p:txBody>
      </p:sp>
      <p:pic>
        <p:nvPicPr>
          <p:cNvPr id="1302532" name="Picture 4" descr="The image shows a Bell Curve diagram to explain since two-sided test is symmetrical, we can also use a 1 minus alpha, α confidence interval to test a two-sided hypothesis at level alpha α. The graphs shows a standard normal curve with in the area left of z and right of minus z."/>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3822" y="2668588"/>
            <a:ext cx="5667375" cy="3379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02533" name="Text Box 5"/>
          <p:cNvSpPr txBox="1">
            <a:spLocks noChangeArrowheads="1"/>
          </p:cNvSpPr>
          <p:nvPr/>
        </p:nvSpPr>
        <p:spPr bwMode="auto">
          <a:xfrm>
            <a:off x="4275410" y="5648325"/>
            <a:ext cx="5667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i="1" dirty="0">
                <a:solidFill>
                  <a:srgbClr val="000000"/>
                </a:solidFill>
                <a:latin typeface="Symbol" pitchFamily="18" charset="2"/>
              </a:rPr>
              <a:t>a</a:t>
            </a:r>
            <a:r>
              <a:rPr lang="en-US" altLang="en-US" dirty="0">
                <a:solidFill>
                  <a:schemeClr val="tx1"/>
                </a:solidFill>
              </a:rPr>
              <a:t>/</a:t>
            </a:r>
            <a:r>
              <a:rPr lang="en-US" altLang="en-US" sz="1800" dirty="0">
                <a:solidFill>
                  <a:schemeClr val="tx1"/>
                </a:solidFill>
              </a:rPr>
              <a:t>2</a:t>
            </a:r>
          </a:p>
        </p:txBody>
      </p:sp>
      <p:sp>
        <p:nvSpPr>
          <p:cNvPr id="1302534" name="Text Box 6"/>
          <p:cNvSpPr txBox="1">
            <a:spLocks noChangeArrowheads="1"/>
          </p:cNvSpPr>
          <p:nvPr/>
        </p:nvSpPr>
        <p:spPr bwMode="auto">
          <a:xfrm>
            <a:off x="6971983" y="5648325"/>
            <a:ext cx="565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i="1" dirty="0">
                <a:solidFill>
                  <a:srgbClr val="000000"/>
                </a:solidFill>
                <a:latin typeface="Symbol" pitchFamily="18" charset="2"/>
              </a:rPr>
              <a:t>a</a:t>
            </a:r>
            <a:r>
              <a:rPr lang="en-US" altLang="en-US" dirty="0">
                <a:solidFill>
                  <a:schemeClr val="tx1"/>
                </a:solidFill>
              </a:rPr>
              <a:t>/</a:t>
            </a:r>
            <a:r>
              <a:rPr lang="en-US" altLang="en-US" sz="1800" dirty="0">
                <a:solidFill>
                  <a:schemeClr val="tx1"/>
                </a:solidFill>
              </a:rPr>
              <a:t>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7347">
                                            <p:txEl>
                                              <p:pRg st="0" end="0"/>
                                            </p:txEl>
                                          </p:spTgt>
                                        </p:tgtEl>
                                        <p:attrNameLst>
                                          <p:attrName>style.visibility</p:attrName>
                                        </p:attrNameLst>
                                      </p:cBhvr>
                                      <p:to>
                                        <p:strVal val="visible"/>
                                      </p:to>
                                    </p:set>
                                    <p:anim calcmode="lin" valueType="num">
                                      <p:cBhvr additive="base">
                                        <p:cTn id="7" dur="500" fill="hold"/>
                                        <p:tgtEl>
                                          <p:spTgt spid="573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73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57352"/>
                                        </p:tgtEl>
                                        <p:attrNameLst>
                                          <p:attrName>style.visibility</p:attrName>
                                        </p:attrNameLst>
                                      </p:cBhvr>
                                      <p:to>
                                        <p:strVal val="visible"/>
                                      </p:to>
                                    </p:set>
                                    <p:animEffect transition="in" filter="fade">
                                      <p:cBhvr>
                                        <p:cTn id="13" dur="1000"/>
                                        <p:tgtEl>
                                          <p:spTgt spid="57352"/>
                                        </p:tgtEl>
                                      </p:cBhvr>
                                    </p:animEffect>
                                    <p:anim calcmode="lin" valueType="num">
                                      <p:cBhvr>
                                        <p:cTn id="14" dur="1000" fill="hold"/>
                                        <p:tgtEl>
                                          <p:spTgt spid="57352"/>
                                        </p:tgtEl>
                                        <p:attrNameLst>
                                          <p:attrName>ppt_x</p:attrName>
                                        </p:attrNameLst>
                                      </p:cBhvr>
                                      <p:tavLst>
                                        <p:tav tm="0">
                                          <p:val>
                                            <p:strVal val="#ppt_x"/>
                                          </p:val>
                                        </p:tav>
                                        <p:tav tm="100000">
                                          <p:val>
                                            <p:strVal val="#ppt_x"/>
                                          </p:val>
                                        </p:tav>
                                      </p:tavLst>
                                    </p:anim>
                                    <p:anim calcmode="lin" valueType="num">
                                      <p:cBhvr>
                                        <p:cTn id="15" dur="1000" fill="hold"/>
                                        <p:tgtEl>
                                          <p:spTgt spid="57352"/>
                                        </p:tgtEl>
                                        <p:attrNameLst>
                                          <p:attrName>ppt_y</p:attrName>
                                        </p:attrNameLst>
                                      </p:cBhvr>
                                      <p:tavLst>
                                        <p:tav tm="0">
                                          <p:val>
                                            <p:strVal val="#ppt_y+.1"/>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31" presetClass="entr" presetSubtype="0" fill="hold" nodeType="clickEffect">
                                  <p:stCondLst>
                                    <p:cond delay="0"/>
                                  </p:stCondLst>
                                  <p:childTnLst>
                                    <p:set>
                                      <p:cBhvr>
                                        <p:cTn id="19" dur="1" fill="hold">
                                          <p:stCondLst>
                                            <p:cond delay="0"/>
                                          </p:stCondLst>
                                        </p:cTn>
                                        <p:tgtEl>
                                          <p:spTgt spid="1302532"/>
                                        </p:tgtEl>
                                        <p:attrNameLst>
                                          <p:attrName>style.visibility</p:attrName>
                                        </p:attrNameLst>
                                      </p:cBhvr>
                                      <p:to>
                                        <p:strVal val="visible"/>
                                      </p:to>
                                    </p:set>
                                    <p:anim calcmode="lin" valueType="num">
                                      <p:cBhvr>
                                        <p:cTn id="20" dur="1000" fill="hold"/>
                                        <p:tgtEl>
                                          <p:spTgt spid="1302532"/>
                                        </p:tgtEl>
                                        <p:attrNameLst>
                                          <p:attrName>ppt_w</p:attrName>
                                        </p:attrNameLst>
                                      </p:cBhvr>
                                      <p:tavLst>
                                        <p:tav tm="0">
                                          <p:val>
                                            <p:fltVal val="0"/>
                                          </p:val>
                                        </p:tav>
                                        <p:tav tm="100000">
                                          <p:val>
                                            <p:strVal val="#ppt_w"/>
                                          </p:val>
                                        </p:tav>
                                      </p:tavLst>
                                    </p:anim>
                                    <p:anim calcmode="lin" valueType="num">
                                      <p:cBhvr>
                                        <p:cTn id="21" dur="1000" fill="hold"/>
                                        <p:tgtEl>
                                          <p:spTgt spid="1302532"/>
                                        </p:tgtEl>
                                        <p:attrNameLst>
                                          <p:attrName>ppt_h</p:attrName>
                                        </p:attrNameLst>
                                      </p:cBhvr>
                                      <p:tavLst>
                                        <p:tav tm="0">
                                          <p:val>
                                            <p:fltVal val="0"/>
                                          </p:val>
                                        </p:tav>
                                        <p:tav tm="100000">
                                          <p:val>
                                            <p:strVal val="#ppt_h"/>
                                          </p:val>
                                        </p:tav>
                                      </p:tavLst>
                                    </p:anim>
                                    <p:anim calcmode="lin" valueType="num">
                                      <p:cBhvr>
                                        <p:cTn id="22" dur="1000" fill="hold"/>
                                        <p:tgtEl>
                                          <p:spTgt spid="1302532"/>
                                        </p:tgtEl>
                                        <p:attrNameLst>
                                          <p:attrName>style.rotation</p:attrName>
                                        </p:attrNameLst>
                                      </p:cBhvr>
                                      <p:tavLst>
                                        <p:tav tm="0">
                                          <p:val>
                                            <p:fltVal val="90"/>
                                          </p:val>
                                        </p:tav>
                                        <p:tav tm="100000">
                                          <p:val>
                                            <p:fltVal val="0"/>
                                          </p:val>
                                        </p:tav>
                                      </p:tavLst>
                                    </p:anim>
                                    <p:animEffect transition="in" filter="fade">
                                      <p:cBhvr>
                                        <p:cTn id="23" dur="1000"/>
                                        <p:tgtEl>
                                          <p:spTgt spid="1302532"/>
                                        </p:tgtEl>
                                      </p:cBhvr>
                                    </p:animEffect>
                                  </p:childTnLst>
                                </p:cTn>
                              </p:par>
                              <p:par>
                                <p:cTn id="24" presetID="1" presetClass="entr" presetSubtype="0" fill="hold" grpId="0" nodeType="withEffect">
                                  <p:stCondLst>
                                    <p:cond delay="0"/>
                                  </p:stCondLst>
                                  <p:childTnLst>
                                    <p:set>
                                      <p:cBhvr>
                                        <p:cTn id="25" dur="1" fill="hold">
                                          <p:stCondLst>
                                            <p:cond delay="0"/>
                                          </p:stCondLst>
                                        </p:cTn>
                                        <p:tgtEl>
                                          <p:spTgt spid="130253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3025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build="p"/>
      <p:bldP spid="57352" grpId="0"/>
      <p:bldP spid="1302533" grpId="0"/>
      <p:bldP spid="1302534" grpId="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1" name="Rectangle 2"/>
          <p:cNvSpPr>
            <a:spLocks noGrp="1" noChangeArrowheads="1"/>
          </p:cNvSpPr>
          <p:nvPr>
            <p:ph type="title"/>
          </p:nvPr>
        </p:nvSpPr>
        <p:spPr/>
        <p:txBody>
          <a:bodyPr/>
          <a:lstStyle/>
          <a:p>
            <a:pPr eaLnBrk="1" hangingPunct="1">
              <a:lnSpc>
                <a:spcPct val="90000"/>
              </a:lnSpc>
            </a:pPr>
            <a:r>
              <a:rPr lang="en-US" altLang="en-US" dirty="0">
                <a:ea typeface="ＭＳ Ｐゴシック" pitchFamily="34" charset="-128"/>
              </a:rPr>
              <a:t>More about </a:t>
            </a:r>
            <a:r>
              <a:rPr lang="en-US" altLang="en-US" i="1" dirty="0">
                <a:ea typeface="ＭＳ Ｐゴシック" pitchFamily="34" charset="-128"/>
              </a:rPr>
              <a:t>P</a:t>
            </a:r>
            <a:r>
              <a:rPr lang="en-US" altLang="en-US" dirty="0">
                <a:ea typeface="ＭＳ Ｐゴシック" pitchFamily="34" charset="-128"/>
              </a:rPr>
              <a:t>-Values</a:t>
            </a:r>
            <a:endParaRPr lang="en-US" altLang="en-US" sz="2400" i="1" dirty="0">
              <a:solidFill>
                <a:srgbClr val="33CCFF"/>
              </a:solidFill>
              <a:latin typeface="Symbol" pitchFamily="18" charset="2"/>
              <a:ea typeface="ＭＳ Ｐゴシック" pitchFamily="34" charset="-128"/>
            </a:endParaRPr>
          </a:p>
        </p:txBody>
      </p:sp>
      <p:sp>
        <p:nvSpPr>
          <p:cNvPr id="7373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89B39980-FD76-4C6D-8E9B-199A5160D095}" type="slidenum">
              <a:rPr lang="en-US" altLang="en-US" sz="1200">
                <a:solidFill>
                  <a:schemeClr val="accent1"/>
                </a:solidFill>
              </a:rPr>
              <a:pPr>
                <a:lnSpc>
                  <a:spcPct val="80000"/>
                </a:lnSpc>
              </a:pPr>
              <a:t>35</a:t>
            </a:fld>
            <a:endParaRPr lang="en-US" altLang="en-US" sz="1200">
              <a:solidFill>
                <a:schemeClr val="accent1"/>
              </a:solidFill>
            </a:endParaRPr>
          </a:p>
        </p:txBody>
      </p:sp>
      <p:sp>
        <p:nvSpPr>
          <p:cNvPr id="8" name="Rectangle 14"/>
          <p:cNvSpPr>
            <a:spLocks noChangeArrowheads="1"/>
          </p:cNvSpPr>
          <p:nvPr/>
        </p:nvSpPr>
        <p:spPr bwMode="auto">
          <a:xfrm>
            <a:off x="280194" y="1212850"/>
            <a:ext cx="8229600" cy="498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just" eaLnBrk="1" hangingPunct="1">
              <a:buClr>
                <a:schemeClr val="accent1"/>
              </a:buClr>
              <a:buSzPct val="65000"/>
              <a:buFont typeface="Wingdings" pitchFamily="2" charset="2"/>
              <a:buChar char="q"/>
            </a:pPr>
            <a:r>
              <a:rPr lang="en-US" altLang="en-US" sz="2000" dirty="0"/>
              <a:t>A significance test </a:t>
            </a:r>
            <a:r>
              <a:rPr lang="en-US" altLang="en-US" sz="2000" i="1" dirty="0"/>
              <a:t>can</a:t>
            </a:r>
            <a:r>
              <a:rPr lang="en-US" altLang="en-US" sz="2000" dirty="0"/>
              <a:t> be done in a black-and-white manner:  We reject </a:t>
            </a:r>
            <a:r>
              <a:rPr lang="en-US" altLang="en-US" sz="2000" i="1" dirty="0"/>
              <a:t>H</a:t>
            </a:r>
            <a:r>
              <a:rPr lang="en-US" altLang="en-US" sz="2000" baseline="-25000" dirty="0"/>
              <a:t>0</a:t>
            </a:r>
            <a:r>
              <a:rPr lang="en-US" altLang="en-US" sz="2000" dirty="0"/>
              <a:t> if </a:t>
            </a:r>
            <a:r>
              <a:rPr lang="en-US" altLang="en-US" sz="2000" i="1" dirty="0"/>
              <a:t>P</a:t>
            </a:r>
            <a:r>
              <a:rPr lang="en-US" altLang="en-US" sz="2000" dirty="0"/>
              <a:t> &lt; </a:t>
            </a:r>
            <a:r>
              <a:rPr lang="en-US" altLang="en-US" sz="2000" i="1" dirty="0">
                <a:solidFill>
                  <a:srgbClr val="000000"/>
                </a:solidFill>
                <a:latin typeface="Symbol" pitchFamily="18" charset="2"/>
              </a:rPr>
              <a:t>a</a:t>
            </a:r>
            <a:r>
              <a:rPr lang="en-US" altLang="en-US" sz="2000" dirty="0"/>
              <a:t>; otherwise, we do not reject </a:t>
            </a:r>
            <a:r>
              <a:rPr lang="en-US" altLang="en-US" i="1" dirty="0">
                <a:solidFill>
                  <a:srgbClr val="000000"/>
                </a:solidFill>
              </a:rPr>
              <a:t>H</a:t>
            </a:r>
            <a:r>
              <a:rPr lang="en-US" altLang="en-US" baseline="-25000" dirty="0">
                <a:solidFill>
                  <a:srgbClr val="000000"/>
                </a:solidFill>
              </a:rPr>
              <a:t>0</a:t>
            </a:r>
            <a:r>
              <a:rPr lang="en-US" altLang="en-US" i="1" dirty="0">
                <a:solidFill>
                  <a:srgbClr val="000000"/>
                </a:solidFill>
              </a:rPr>
              <a:t>.  </a:t>
            </a:r>
            <a:endParaRPr lang="en-US" altLang="en-US" sz="2000" dirty="0"/>
          </a:p>
          <a:p>
            <a:pPr marL="342900" indent="-342900" algn="just" eaLnBrk="1" hangingPunct="1">
              <a:spcBef>
                <a:spcPct val="70000"/>
              </a:spcBef>
              <a:buClr>
                <a:schemeClr val="accent1"/>
              </a:buClr>
              <a:buSzPct val="65000"/>
              <a:buFont typeface="Wingdings" pitchFamily="2" charset="2"/>
              <a:buChar char="q"/>
            </a:pPr>
            <a:r>
              <a:rPr lang="en-US" altLang="en-US" sz="2000" dirty="0"/>
              <a:t>Reporting the </a:t>
            </a:r>
            <a:r>
              <a:rPr lang="en-US" altLang="en-US" sz="2000" i="1" dirty="0"/>
              <a:t>P</a:t>
            </a:r>
            <a:r>
              <a:rPr lang="en-US" altLang="en-US" sz="2000" dirty="0"/>
              <a:t>-value is a better way to summarize a test than simply stating whether </a:t>
            </a:r>
            <a:r>
              <a:rPr lang="en-US" altLang="en-US" sz="2000" i="1" dirty="0">
                <a:solidFill>
                  <a:srgbClr val="000000"/>
                </a:solidFill>
              </a:rPr>
              <a:t>H</a:t>
            </a:r>
            <a:r>
              <a:rPr lang="en-US" altLang="en-US" sz="2000" baseline="-25000" dirty="0">
                <a:solidFill>
                  <a:srgbClr val="000000"/>
                </a:solidFill>
              </a:rPr>
              <a:t>0</a:t>
            </a:r>
            <a:r>
              <a:rPr lang="en-US" altLang="en-US" i="1" baseline="-25000" dirty="0">
                <a:solidFill>
                  <a:srgbClr val="000000"/>
                </a:solidFill>
              </a:rPr>
              <a:t>  </a:t>
            </a:r>
            <a:r>
              <a:rPr lang="en-US" altLang="en-US" sz="2000" dirty="0">
                <a:solidFill>
                  <a:srgbClr val="000000"/>
                </a:solidFill>
              </a:rPr>
              <a:t>is rejected. This is because </a:t>
            </a:r>
            <a:r>
              <a:rPr lang="en-US" altLang="en-US" i="1" dirty="0">
                <a:solidFill>
                  <a:srgbClr val="000000"/>
                </a:solidFill>
              </a:rPr>
              <a:t>P</a:t>
            </a:r>
            <a:r>
              <a:rPr lang="en-US" altLang="en-US" dirty="0">
                <a:solidFill>
                  <a:srgbClr val="000000"/>
                </a:solidFill>
              </a:rPr>
              <a:t> </a:t>
            </a:r>
            <a:r>
              <a:rPr lang="en-US" altLang="en-US" sz="2000" dirty="0"/>
              <a:t>quantifies how strong the evidence is against </a:t>
            </a:r>
            <a:r>
              <a:rPr lang="en-US" altLang="en-US" sz="2000" i="1" dirty="0"/>
              <a:t>H</a:t>
            </a:r>
            <a:r>
              <a:rPr lang="en-US" altLang="en-US" sz="2000" baseline="-25000" dirty="0"/>
              <a:t>0</a:t>
            </a:r>
            <a:r>
              <a:rPr lang="en-US" altLang="en-US" sz="2000" dirty="0"/>
              <a:t>. The smaller the value of </a:t>
            </a:r>
            <a:r>
              <a:rPr lang="en-US" altLang="en-US" sz="2000" i="1" dirty="0">
                <a:solidFill>
                  <a:srgbClr val="000000"/>
                </a:solidFill>
              </a:rPr>
              <a:t>P</a:t>
            </a:r>
            <a:r>
              <a:rPr lang="en-US" altLang="en-US" sz="2000" dirty="0">
                <a:solidFill>
                  <a:srgbClr val="000000"/>
                </a:solidFill>
              </a:rPr>
              <a:t>,</a:t>
            </a:r>
            <a:r>
              <a:rPr lang="en-US" altLang="en-US" i="1" dirty="0">
                <a:solidFill>
                  <a:srgbClr val="000000"/>
                </a:solidFill>
              </a:rPr>
              <a:t> </a:t>
            </a:r>
            <a:r>
              <a:rPr lang="en-US" altLang="en-US" sz="2000" dirty="0">
                <a:solidFill>
                  <a:srgbClr val="000000"/>
                </a:solidFill>
              </a:rPr>
              <a:t>the</a:t>
            </a:r>
            <a:r>
              <a:rPr lang="en-US" altLang="en-US" dirty="0">
                <a:solidFill>
                  <a:srgbClr val="000000"/>
                </a:solidFill>
              </a:rPr>
              <a:t> </a:t>
            </a:r>
            <a:r>
              <a:rPr lang="en-US" altLang="en-US" sz="2000" dirty="0">
                <a:solidFill>
                  <a:srgbClr val="000000"/>
                </a:solidFill>
              </a:rPr>
              <a:t>greater the evidence</a:t>
            </a:r>
            <a:r>
              <a:rPr lang="en-US" altLang="en-US" dirty="0">
                <a:solidFill>
                  <a:srgbClr val="000000"/>
                </a:solidFill>
              </a:rPr>
              <a:t>.  </a:t>
            </a:r>
          </a:p>
          <a:p>
            <a:pPr marL="342900" indent="-342900" algn="just" eaLnBrk="1" hangingPunct="1">
              <a:spcBef>
                <a:spcPct val="70000"/>
              </a:spcBef>
              <a:buClr>
                <a:schemeClr val="accent1"/>
              </a:buClr>
              <a:buSzPct val="65000"/>
              <a:buFont typeface="Wingdings" pitchFamily="2" charset="2"/>
              <a:buChar char="q"/>
            </a:pPr>
            <a:r>
              <a:rPr lang="en-US" altLang="en-US" sz="2000" dirty="0">
                <a:solidFill>
                  <a:srgbClr val="000000"/>
                </a:solidFill>
              </a:rPr>
              <a:t>On the other hand, </a:t>
            </a:r>
            <a:r>
              <a:rPr lang="en-US" altLang="en-US" sz="2000" i="1" dirty="0"/>
              <a:t>P</a:t>
            </a:r>
            <a:r>
              <a:rPr lang="en-US" altLang="en-US" sz="2000" dirty="0"/>
              <a:t> does not provide specific information about the true population mean </a:t>
            </a:r>
            <a:r>
              <a:rPr lang="en-US" altLang="en-US" sz="2000" i="1" dirty="0"/>
              <a:t>µ</a:t>
            </a:r>
            <a:r>
              <a:rPr lang="en-US" altLang="en-US" sz="2000" dirty="0"/>
              <a:t>. </a:t>
            </a:r>
            <a:r>
              <a:rPr lang="en-US" altLang="en-US" sz="2000" b="1" dirty="0"/>
              <a:t>If you desire a likely range of values for the parameter, use a confidence interval</a:t>
            </a:r>
            <a:r>
              <a:rPr lang="en-US" altLang="en-US" sz="2000" dirty="0"/>
              <a:t>.</a:t>
            </a:r>
          </a:p>
          <a:p>
            <a:pPr marL="342900" indent="-342900" algn="just" eaLnBrk="1" hangingPunct="1">
              <a:spcBef>
                <a:spcPct val="70000"/>
              </a:spcBef>
              <a:buClr>
                <a:schemeClr val="accent1"/>
              </a:buClr>
              <a:buSzPct val="65000"/>
              <a:buFont typeface="Wingdings" pitchFamily="2" charset="2"/>
              <a:buChar char="q"/>
            </a:pPr>
            <a:r>
              <a:rPr lang="en-US" altLang="en-US" sz="2000" dirty="0">
                <a:solidFill>
                  <a:srgbClr val="000000"/>
                </a:solidFill>
              </a:rPr>
              <a:t>Statistics in practice use technology to get </a:t>
            </a:r>
            <a:r>
              <a:rPr lang="en-US" altLang="en-US" sz="2000" i="1" dirty="0">
                <a:solidFill>
                  <a:srgbClr val="000000"/>
                </a:solidFill>
              </a:rPr>
              <a:t>P</a:t>
            </a:r>
            <a:r>
              <a:rPr lang="en-US" altLang="en-US" sz="2000" dirty="0">
                <a:solidFill>
                  <a:srgbClr val="000000"/>
                </a:solidFill>
              </a:rPr>
              <a:t>-values quickly and accurately. In the absence of suitable technology, you can get approximate </a:t>
            </a:r>
            <a:r>
              <a:rPr lang="en-US" altLang="en-US" sz="2000" i="1" dirty="0">
                <a:solidFill>
                  <a:srgbClr val="000000"/>
                </a:solidFill>
              </a:rPr>
              <a:t>P-</a:t>
            </a:r>
            <a:r>
              <a:rPr lang="en-US" altLang="en-US" sz="2000" dirty="0">
                <a:solidFill>
                  <a:srgbClr val="000000"/>
                </a:solidFill>
              </a:rPr>
              <a:t>values by comparing your test statistic with </a:t>
            </a:r>
            <a:r>
              <a:rPr lang="en-US" altLang="en-US" sz="2000" b="1" dirty="0"/>
              <a:t>critical values </a:t>
            </a:r>
            <a:r>
              <a:rPr lang="en-US" altLang="en-US" sz="2000" dirty="0">
                <a:solidFill>
                  <a:srgbClr val="000000"/>
                </a:solidFill>
              </a:rPr>
              <a:t>from a table. The example on the next slide shows how this works.</a:t>
            </a:r>
            <a:endParaRPr lang="en-US" alt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anim calcmode="lin" valueType="num">
                                      <p:cBhvr additive="base">
                                        <p:cTn id="25"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Approximating a </a:t>
            </a:r>
            <a:r>
              <a:rPr lang="en-US" altLang="en-US" i="1" dirty="0"/>
              <a:t>P</a:t>
            </a:r>
            <a:r>
              <a:rPr lang="en-US" altLang="en-US" dirty="0"/>
              <a:t>-Value</a:t>
            </a:r>
            <a:endParaRPr lang="en-US" dirty="0"/>
          </a:p>
        </p:txBody>
      </p:sp>
      <p:sp>
        <p:nvSpPr>
          <p:cNvPr id="75778"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0F059178-6DBE-482E-891A-B2CE10AF86A8}" type="slidenum">
              <a:rPr lang="en-US" altLang="en-US" sz="1400">
                <a:solidFill>
                  <a:schemeClr val="accent1"/>
                </a:solidFill>
              </a:rPr>
              <a:pPr/>
              <a:t>36</a:t>
            </a:fld>
            <a:endParaRPr lang="en-US" altLang="en-US" sz="1400">
              <a:solidFill>
                <a:schemeClr val="accent1"/>
              </a:solidFill>
            </a:endParaRPr>
          </a:p>
        </p:txBody>
      </p:sp>
      <p:sp>
        <p:nvSpPr>
          <p:cNvPr id="3" name="TextBox 2"/>
          <p:cNvSpPr txBox="1">
            <a:spLocks noChangeArrowheads="1"/>
          </p:cNvSpPr>
          <p:nvPr/>
        </p:nvSpPr>
        <p:spPr bwMode="auto">
          <a:xfrm>
            <a:off x="174625" y="1190379"/>
            <a:ext cx="8415338" cy="4801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sz="1800" dirty="0">
                <a:solidFill>
                  <a:schemeClr val="tx1"/>
                </a:solidFill>
              </a:rPr>
              <a:t>Suppose the hypotheses are</a:t>
            </a:r>
          </a:p>
          <a:p>
            <a:pPr eaLnBrk="1" hangingPunct="1"/>
            <a:endParaRPr lang="en-US" altLang="en-US" sz="1800" i="1" dirty="0">
              <a:solidFill>
                <a:schemeClr val="tx1"/>
              </a:solidFill>
            </a:endParaRPr>
          </a:p>
          <a:p>
            <a:pPr algn="ctr" eaLnBrk="1" hangingPunct="1"/>
            <a:r>
              <a:rPr lang="en-US" altLang="en-US" sz="1800" i="1" dirty="0">
                <a:solidFill>
                  <a:schemeClr val="tx1"/>
                </a:solidFill>
              </a:rPr>
              <a:t>H</a:t>
            </a:r>
            <a:r>
              <a:rPr lang="en-US" altLang="en-US" sz="1800" baseline="-25000" dirty="0">
                <a:solidFill>
                  <a:schemeClr val="tx1"/>
                </a:solidFill>
              </a:rPr>
              <a:t>0</a:t>
            </a:r>
            <a:r>
              <a:rPr lang="en-US" altLang="en-US" sz="1800" dirty="0">
                <a:solidFill>
                  <a:schemeClr val="tx1"/>
                </a:solidFill>
              </a:rPr>
              <a:t>: </a:t>
            </a:r>
            <a:r>
              <a:rPr lang="el-GR" altLang="en-US" sz="1800" i="1" dirty="0">
                <a:solidFill>
                  <a:schemeClr val="tx1"/>
                </a:solidFill>
              </a:rPr>
              <a:t>μ</a:t>
            </a:r>
            <a:r>
              <a:rPr lang="en-US" altLang="en-US" sz="1800" dirty="0">
                <a:solidFill>
                  <a:schemeClr val="tx1"/>
                </a:solidFill>
              </a:rPr>
              <a:t> = 0             </a:t>
            </a:r>
            <a:r>
              <a:rPr lang="en-US" altLang="en-US" sz="1800" i="1" dirty="0">
                <a:solidFill>
                  <a:schemeClr val="tx1"/>
                </a:solidFill>
              </a:rPr>
              <a:t>H</a:t>
            </a:r>
            <a:r>
              <a:rPr lang="en-US" altLang="en-US" sz="1800" baseline="-25000" dirty="0">
                <a:solidFill>
                  <a:schemeClr val="tx1"/>
                </a:solidFill>
              </a:rPr>
              <a:t>a</a:t>
            </a:r>
            <a:r>
              <a:rPr lang="en-US" altLang="en-US" sz="1800" dirty="0">
                <a:solidFill>
                  <a:schemeClr val="tx1"/>
                </a:solidFill>
              </a:rPr>
              <a:t>: </a:t>
            </a:r>
            <a:r>
              <a:rPr lang="el-GR" altLang="en-US" sz="1800" i="1" dirty="0">
                <a:solidFill>
                  <a:schemeClr val="tx1"/>
                </a:solidFill>
              </a:rPr>
              <a:t>μ</a:t>
            </a:r>
            <a:r>
              <a:rPr lang="en-US" altLang="en-US" sz="1800" dirty="0">
                <a:solidFill>
                  <a:schemeClr val="tx1"/>
                </a:solidFill>
              </a:rPr>
              <a:t> &gt; 0</a:t>
            </a:r>
          </a:p>
          <a:p>
            <a:pPr algn="ctr" eaLnBrk="1" hangingPunct="1"/>
            <a:endParaRPr lang="en-US" altLang="en-US" sz="1800" dirty="0">
              <a:solidFill>
                <a:schemeClr val="tx1"/>
              </a:solidFill>
            </a:endParaRPr>
          </a:p>
          <a:p>
            <a:pPr eaLnBrk="1" hangingPunct="1"/>
            <a:r>
              <a:rPr lang="en-US" altLang="en-US" sz="1800" dirty="0">
                <a:solidFill>
                  <a:schemeClr val="tx1"/>
                </a:solidFill>
              </a:rPr>
              <a:t>and the test statistic is </a:t>
            </a:r>
            <a:r>
              <a:rPr lang="en-US" altLang="en-US" sz="1800" i="1" dirty="0">
                <a:solidFill>
                  <a:schemeClr val="tx1"/>
                </a:solidFill>
              </a:rPr>
              <a:t>z = </a:t>
            </a:r>
            <a:r>
              <a:rPr lang="en-US" altLang="en-US" sz="1800" dirty="0">
                <a:solidFill>
                  <a:srgbClr val="000000"/>
                </a:solidFill>
              </a:rPr>
              <a:t>–</a:t>
            </a:r>
            <a:r>
              <a:rPr lang="en-US" altLang="en-US" sz="1800" dirty="0">
                <a:solidFill>
                  <a:schemeClr val="tx1"/>
                </a:solidFill>
              </a:rPr>
              <a:t>0.276.  Because the alternative is “</a:t>
            </a:r>
            <a:r>
              <a:rPr lang="el-GR" altLang="ja-JP" sz="1800" i="1" dirty="0">
                <a:solidFill>
                  <a:schemeClr val="tx1"/>
                </a:solidFill>
              </a:rPr>
              <a:t>μ</a:t>
            </a:r>
            <a:r>
              <a:rPr lang="en-US" altLang="ja-JP" sz="1800" dirty="0">
                <a:solidFill>
                  <a:schemeClr val="tx1"/>
                </a:solidFill>
              </a:rPr>
              <a:t> </a:t>
            </a:r>
            <a:r>
              <a:rPr lang="en-US" altLang="ja-JP" sz="1800" b="1" dirty="0">
                <a:solidFill>
                  <a:schemeClr val="tx1"/>
                </a:solidFill>
              </a:rPr>
              <a:t>greater than</a:t>
            </a:r>
            <a:r>
              <a:rPr lang="en-US" altLang="ja-JP" sz="1800" dirty="0">
                <a:solidFill>
                  <a:schemeClr val="tx1"/>
                </a:solidFill>
              </a:rPr>
              <a:t> 0,</a:t>
            </a:r>
            <a:r>
              <a:rPr lang="en-US" altLang="en-US" sz="1800" dirty="0">
                <a:solidFill>
                  <a:schemeClr val="tx1"/>
                </a:solidFill>
              </a:rPr>
              <a:t>”</a:t>
            </a:r>
            <a:r>
              <a:rPr lang="en-US" altLang="ja-JP" sz="1800" dirty="0">
                <a:solidFill>
                  <a:schemeClr val="tx1"/>
                </a:solidFill>
              </a:rPr>
              <a:t> the </a:t>
            </a:r>
            <a:r>
              <a:rPr lang="en-US" altLang="ja-JP" sz="1800" i="1" dirty="0">
                <a:solidFill>
                  <a:srgbClr val="000000"/>
                </a:solidFill>
              </a:rPr>
              <a:t>P</a:t>
            </a:r>
            <a:r>
              <a:rPr lang="en-US" altLang="ja-JP" sz="1800" dirty="0">
                <a:solidFill>
                  <a:srgbClr val="000000"/>
                </a:solidFill>
              </a:rPr>
              <a:t>-value is the area under the standard Normal density </a:t>
            </a:r>
            <a:r>
              <a:rPr lang="en-US" altLang="ja-JP" sz="1800" b="1" dirty="0">
                <a:solidFill>
                  <a:srgbClr val="000000"/>
                </a:solidFill>
              </a:rPr>
              <a:t>to the right of</a:t>
            </a:r>
            <a:r>
              <a:rPr lang="en-US" altLang="ja-JP" sz="1800" dirty="0">
                <a:solidFill>
                  <a:srgbClr val="000000"/>
                </a:solidFill>
              </a:rPr>
              <a:t> –0.276. </a:t>
            </a:r>
          </a:p>
          <a:p>
            <a:pPr eaLnBrk="1" hangingPunct="1"/>
            <a:endParaRPr lang="en-US" altLang="en-US" sz="1800" dirty="0">
              <a:solidFill>
                <a:srgbClr val="000000"/>
              </a:solidFill>
            </a:endParaRPr>
          </a:p>
          <a:p>
            <a:pPr algn="just" eaLnBrk="1" hangingPunct="1"/>
            <a:r>
              <a:rPr lang="en-US" altLang="en-US" sz="1800" dirty="0">
                <a:solidFill>
                  <a:srgbClr val="000000"/>
                </a:solidFill>
              </a:rPr>
              <a:t>Table A gives areas to the </a:t>
            </a:r>
            <a:r>
              <a:rPr lang="en-US" altLang="en-US" sz="1800" b="1" dirty="0">
                <a:solidFill>
                  <a:srgbClr val="000000"/>
                </a:solidFill>
              </a:rPr>
              <a:t>left</a:t>
            </a:r>
            <a:r>
              <a:rPr lang="en-US" altLang="en-US" sz="1800" dirty="0">
                <a:solidFill>
                  <a:srgbClr val="000000"/>
                </a:solidFill>
              </a:rPr>
              <a:t> of specified </a:t>
            </a:r>
            <a:r>
              <a:rPr lang="en-US" altLang="en-US" sz="1800" i="1" dirty="0">
                <a:solidFill>
                  <a:srgbClr val="000000"/>
                </a:solidFill>
              </a:rPr>
              <a:t>z</a:t>
            </a:r>
            <a:r>
              <a:rPr lang="en-US" altLang="en-US" sz="1800" dirty="0">
                <a:solidFill>
                  <a:srgbClr val="000000"/>
                </a:solidFill>
              </a:rPr>
              <a:t>, or critical, values. Because of the symmetry of the Normal curve, the area to the right of –0.276 is equal to the area to the left of 0.276. </a:t>
            </a:r>
          </a:p>
          <a:p>
            <a:pPr eaLnBrk="1" hangingPunct="1"/>
            <a:endParaRPr lang="en-US" altLang="en-US" sz="1800" dirty="0">
              <a:solidFill>
                <a:srgbClr val="000000"/>
              </a:solidFill>
            </a:endParaRPr>
          </a:p>
          <a:p>
            <a:pPr algn="just" eaLnBrk="1" hangingPunct="1"/>
            <a:r>
              <a:rPr lang="en-US" altLang="en-US" sz="1800" dirty="0">
                <a:solidFill>
                  <a:srgbClr val="000000"/>
                </a:solidFill>
              </a:rPr>
              <a:t>From Table A, the area to the left of 0.27 is 0.6064 and the area to the left of 0.28 is 0.6103. Because 0.276 is between 0.27 and 0.28, the </a:t>
            </a:r>
            <a:r>
              <a:rPr lang="en-US" altLang="en-US" sz="1800" i="1" dirty="0">
                <a:solidFill>
                  <a:srgbClr val="000000"/>
                </a:solidFill>
              </a:rPr>
              <a:t>P</a:t>
            </a:r>
            <a:r>
              <a:rPr lang="en-US" altLang="en-US" sz="1800" dirty="0">
                <a:solidFill>
                  <a:srgbClr val="000000"/>
                </a:solidFill>
              </a:rPr>
              <a:t>-value satisfies </a:t>
            </a:r>
          </a:p>
          <a:p>
            <a:pPr eaLnBrk="1" hangingPunct="1"/>
            <a:endParaRPr lang="en-US" altLang="en-US" sz="1800" dirty="0">
              <a:solidFill>
                <a:srgbClr val="000000"/>
              </a:solidFill>
            </a:endParaRPr>
          </a:p>
          <a:p>
            <a:pPr algn="ctr" eaLnBrk="1" hangingPunct="1"/>
            <a:r>
              <a:rPr lang="en-US" altLang="en-US" sz="1800" dirty="0">
                <a:solidFill>
                  <a:srgbClr val="000000"/>
                </a:solidFill>
              </a:rPr>
              <a:t>0.6064 &lt; </a:t>
            </a:r>
            <a:r>
              <a:rPr lang="en-US" altLang="en-US" sz="1800" i="1" dirty="0">
                <a:solidFill>
                  <a:srgbClr val="000000"/>
                </a:solidFill>
              </a:rPr>
              <a:t>P &lt; </a:t>
            </a:r>
            <a:r>
              <a:rPr lang="en-US" altLang="en-US" sz="1800" dirty="0">
                <a:solidFill>
                  <a:srgbClr val="000000"/>
                </a:solidFill>
              </a:rPr>
              <a:t>0.6103</a:t>
            </a:r>
            <a:endParaRPr lang="en-US" altLang="en-US" sz="1800" i="1" dirty="0">
              <a:solidFill>
                <a:srgbClr val="000000"/>
              </a:solidFill>
            </a:endParaRPr>
          </a:p>
          <a:p>
            <a:pPr eaLnBrk="1" hangingPunct="1"/>
            <a:endParaRPr lang="en-US" altLang="en-US" sz="1800" dirty="0">
              <a:solidFill>
                <a:srgbClr val="000000"/>
              </a:solidFill>
            </a:endParaRPr>
          </a:p>
          <a:p>
            <a:pPr eaLnBrk="1" hangingPunct="1"/>
            <a:r>
              <a:rPr lang="en-US" altLang="en-US" sz="1800" dirty="0">
                <a:solidFill>
                  <a:srgbClr val="000000"/>
                </a:solidFill>
              </a:rPr>
              <a:t>There is no reason whatsoever to reject </a:t>
            </a:r>
            <a:r>
              <a:rPr lang="en-US" altLang="en-US" sz="1800" i="1" dirty="0">
                <a:solidFill>
                  <a:srgbClr val="000000"/>
                </a:solidFill>
              </a:rPr>
              <a:t>H</a:t>
            </a:r>
            <a:r>
              <a:rPr lang="en-US" altLang="en-US" sz="1800" baseline="-25000" dirty="0">
                <a:solidFill>
                  <a:srgbClr val="000000"/>
                </a:solidFill>
              </a:rPr>
              <a:t>0</a:t>
            </a:r>
            <a:r>
              <a:rPr lang="en-US" altLang="en-US" sz="1800" dirty="0">
                <a:solidFill>
                  <a:srgbClr val="000000"/>
                </a:solidFill>
              </a:rPr>
              <a:t> in this case; the </a:t>
            </a:r>
            <a:r>
              <a:rPr lang="en-US" altLang="en-US" sz="1800" i="1" dirty="0">
                <a:solidFill>
                  <a:srgbClr val="000000"/>
                </a:solidFill>
              </a:rPr>
              <a:t>P</a:t>
            </a:r>
            <a:r>
              <a:rPr lang="en-US" altLang="en-US" sz="1800" dirty="0">
                <a:solidFill>
                  <a:srgbClr val="000000"/>
                </a:solidFill>
              </a:rPr>
              <a:t>-value is very large.</a:t>
            </a:r>
            <a:endParaRPr lang="en-US" altLang="en-US" sz="1800" i="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anim calcmode="lin" valueType="num">
                                      <p:cBhvr>
                                        <p:cTn id="1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42" presetClass="entr" presetSubtype="0" fill="hold" nodeType="click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1000"/>
                                        <p:tgtEl>
                                          <p:spTgt spid="3">
                                            <p:txEl>
                                              <p:pRg st="6" end="6"/>
                                            </p:txEl>
                                          </p:spTgt>
                                        </p:tgtEl>
                                      </p:cBhvr>
                                    </p:animEffect>
                                    <p:anim calcmode="lin" valueType="num">
                                      <p:cBhvr>
                                        <p:cTn id="2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42"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fade">
                                      <p:cBhvr>
                                        <p:cTn id="31" dur="1000"/>
                                        <p:tgtEl>
                                          <p:spTgt spid="3">
                                            <p:txEl>
                                              <p:pRg st="8" end="8"/>
                                            </p:txEl>
                                          </p:spTgt>
                                        </p:tgtEl>
                                      </p:cBhvr>
                                    </p:animEffect>
                                    <p:anim calcmode="lin" valueType="num">
                                      <p:cBhvr>
                                        <p:cTn id="32"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8" end="8"/>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3">
                                            <p:txEl>
                                              <p:pRg st="10" end="10"/>
                                            </p:txEl>
                                          </p:spTgt>
                                        </p:tgtEl>
                                        <p:attrNameLst>
                                          <p:attrName>style.visibility</p:attrName>
                                        </p:attrNameLst>
                                      </p:cBhvr>
                                      <p:to>
                                        <p:strVal val="visible"/>
                                      </p:to>
                                    </p:set>
                                    <p:animEffect transition="in" filter="fade">
                                      <p:cBhvr>
                                        <p:cTn id="36" dur="1000"/>
                                        <p:tgtEl>
                                          <p:spTgt spid="3">
                                            <p:txEl>
                                              <p:pRg st="10" end="10"/>
                                            </p:txEl>
                                          </p:spTgt>
                                        </p:tgtEl>
                                      </p:cBhvr>
                                    </p:animEffect>
                                    <p:anim calcmode="lin" valueType="num">
                                      <p:cBhvr>
                                        <p:cTn id="37"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anim calcmode="lin" valueType="num">
                                      <p:cBhvr additive="base">
                                        <p:cTn id="43"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2"/>
          <p:cNvSpPr>
            <a:spLocks noGrp="1"/>
          </p:cNvSpPr>
          <p:nvPr>
            <p:ph type="title"/>
          </p:nvPr>
        </p:nvSpPr>
        <p:spPr>
          <a:xfrm>
            <a:off x="352269" y="342900"/>
            <a:ext cx="6508750" cy="1143000"/>
          </a:xfrm>
        </p:spPr>
        <p:txBody>
          <a:bodyPr anchor="t"/>
          <a:lstStyle/>
          <a:p>
            <a:pPr eaLnBrk="1" hangingPunct="1"/>
            <a:r>
              <a:rPr lang="en-US" altLang="en-US" b="1" dirty="0">
                <a:ea typeface="ＭＳ Ｐゴシック" pitchFamily="34" charset="-128"/>
              </a:rPr>
              <a:t>6.3 Use and Abuse of Tests</a:t>
            </a:r>
          </a:p>
        </p:txBody>
      </p:sp>
      <p:sp>
        <p:nvSpPr>
          <p:cNvPr id="76803" name="Text Placeholder 3"/>
          <p:cNvSpPr>
            <a:spLocks noGrp="1"/>
          </p:cNvSpPr>
          <p:nvPr>
            <p:ph idx="1"/>
          </p:nvPr>
        </p:nvSpPr>
        <p:spPr>
          <a:xfrm>
            <a:off x="352269" y="1790075"/>
            <a:ext cx="6508750" cy="2901845"/>
          </a:xfrm>
        </p:spPr>
        <p:txBody>
          <a:bodyPr/>
          <a:lstStyle/>
          <a:p>
            <a:pPr eaLnBrk="1" hangingPunct="1">
              <a:buSzPct val="110000"/>
              <a:buFont typeface="Wingdings" pitchFamily="2" charset="2"/>
              <a:buChar char="§"/>
            </a:pPr>
            <a:r>
              <a:rPr lang="en-US" altLang="en-US" sz="2400" dirty="0">
                <a:solidFill>
                  <a:schemeClr val="accent1"/>
                </a:solidFill>
                <a:ea typeface="ＭＳ Ｐゴシック" pitchFamily="34" charset="-128"/>
              </a:rPr>
              <a:t>Choosing a level of significance</a:t>
            </a:r>
          </a:p>
          <a:p>
            <a:pPr eaLnBrk="1" hangingPunct="1">
              <a:buSzPct val="110000"/>
              <a:buFont typeface="Wingdings" pitchFamily="2" charset="2"/>
              <a:buChar char="§"/>
            </a:pPr>
            <a:r>
              <a:rPr lang="en-US" altLang="en-US" sz="2400" dirty="0">
                <a:solidFill>
                  <a:schemeClr val="accent1"/>
                </a:solidFill>
                <a:ea typeface="ＭＳ Ｐゴシック" pitchFamily="34" charset="-128"/>
              </a:rPr>
              <a:t>What statistical significance does not mean</a:t>
            </a:r>
          </a:p>
          <a:p>
            <a:pPr eaLnBrk="1" hangingPunct="1">
              <a:buSzPct val="110000"/>
              <a:buFont typeface="Wingdings" pitchFamily="2" charset="2"/>
              <a:buChar char="§"/>
            </a:pPr>
            <a:r>
              <a:rPr lang="en-US" altLang="en-US" sz="2400" dirty="0">
                <a:solidFill>
                  <a:schemeClr val="accent1"/>
                </a:solidFill>
                <a:ea typeface="ＭＳ Ｐゴシック" pitchFamily="34" charset="-128"/>
              </a:rPr>
              <a:t>Do not ignore lack of significance</a:t>
            </a:r>
          </a:p>
          <a:p>
            <a:pPr eaLnBrk="1" hangingPunct="1">
              <a:buSzPct val="110000"/>
              <a:buFont typeface="Wingdings" pitchFamily="2" charset="2"/>
              <a:buChar char="§"/>
            </a:pPr>
            <a:r>
              <a:rPr lang="en-US" altLang="en-US" sz="2400" dirty="0">
                <a:solidFill>
                  <a:schemeClr val="accent1"/>
                </a:solidFill>
                <a:ea typeface="ＭＳ Ｐゴシック" pitchFamily="34" charset="-128"/>
              </a:rPr>
              <a:t>Potential importance of small effects</a:t>
            </a:r>
          </a:p>
          <a:p>
            <a:pPr eaLnBrk="1" hangingPunct="1">
              <a:buSzPct val="110000"/>
              <a:buFont typeface="Wingdings" pitchFamily="2" charset="2"/>
              <a:buChar char="§"/>
            </a:pPr>
            <a:r>
              <a:rPr lang="en-US" altLang="en-US" sz="2400" dirty="0">
                <a:solidFill>
                  <a:schemeClr val="accent1"/>
                </a:solidFill>
                <a:ea typeface="ＭＳ Ｐゴシック" pitchFamily="34" charset="-128"/>
              </a:rPr>
              <a:t>Beware of searching for significance</a:t>
            </a:r>
          </a:p>
        </p:txBody>
      </p:sp>
      <p:sp>
        <p:nvSpPr>
          <p:cNvPr id="76804"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C738E208-9C22-4A97-8DE6-98283AF19473}" type="slidenum">
              <a:rPr lang="en-US" altLang="en-US" sz="1400">
                <a:solidFill>
                  <a:schemeClr val="accent1"/>
                </a:solidFill>
              </a:rPr>
              <a:pPr/>
              <a:t>37</a:t>
            </a:fld>
            <a:endParaRPr lang="en-US" altLang="en-US" sz="1400">
              <a:solidFill>
                <a:schemeClr val="accent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4"/>
          <p:cNvSpPr>
            <a:spLocks noGrp="1" noChangeArrowheads="1"/>
          </p:cNvSpPr>
          <p:nvPr>
            <p:ph type="title"/>
          </p:nvPr>
        </p:nvSpPr>
        <p:spPr/>
        <p:txBody>
          <a:bodyPr/>
          <a:lstStyle/>
          <a:p>
            <a:r>
              <a:rPr lang="en-US" altLang="en-US" dirty="0"/>
              <a:t>Cautions about Significance Tests 1</a:t>
            </a:r>
          </a:p>
        </p:txBody>
      </p:sp>
      <p:sp>
        <p:nvSpPr>
          <p:cNvPr id="77828" name="Slide Number Placeholder 11"/>
          <p:cNvSpPr>
            <a:spLocks noGrp="1"/>
          </p:cNvSpPr>
          <p:nvPr>
            <p:ph type="sldNum" sz="quarter" idx="12"/>
          </p:nvPr>
        </p:nvSpPr>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19C07801-FC7F-47E4-A5EF-592BE4187812}" type="slidenum">
              <a:rPr lang="en-US" altLang="en-US" sz="1200" smtClean="0">
                <a:solidFill>
                  <a:schemeClr val="accent1"/>
                </a:solidFill>
              </a:rPr>
              <a:pPr/>
              <a:t>38</a:t>
            </a:fld>
            <a:endParaRPr lang="en-US" altLang="en-US" sz="1200" dirty="0">
              <a:solidFill>
                <a:schemeClr val="accent1"/>
              </a:solidFill>
            </a:endParaRPr>
          </a:p>
        </p:txBody>
      </p:sp>
      <p:sp>
        <p:nvSpPr>
          <p:cNvPr id="77826" name="Rectangle 2"/>
          <p:cNvSpPr>
            <a:spLocks noGrp="1" noChangeArrowheads="1"/>
          </p:cNvSpPr>
          <p:nvPr>
            <p:ph type="body" idx="4294967295"/>
          </p:nvPr>
        </p:nvSpPr>
        <p:spPr>
          <a:xfrm>
            <a:off x="180182" y="1255297"/>
            <a:ext cx="8329612" cy="3854450"/>
          </a:xfrm>
          <a:solidFill>
            <a:srgbClr val="FFD780"/>
          </a:solidFill>
        </p:spPr>
        <p:txBody>
          <a:bodyPr/>
          <a:lstStyle/>
          <a:p>
            <a:pPr algn="ctr" eaLnBrk="1" hangingPunct="1">
              <a:lnSpc>
                <a:spcPct val="120000"/>
              </a:lnSpc>
              <a:buFont typeface="Wingdings" pitchFamily="2" charset="2"/>
              <a:buNone/>
            </a:pPr>
            <a:r>
              <a:rPr lang="en-US" altLang="en-US" sz="2400" b="1" dirty="0">
                <a:solidFill>
                  <a:schemeClr val="tx1"/>
                </a:solidFill>
                <a:highlight>
                  <a:srgbClr val="FFFF00"/>
                </a:highlight>
                <a:ea typeface="ＭＳ Ｐゴシック" pitchFamily="34" charset="-128"/>
              </a:rPr>
              <a:t>Choosing the significance level </a:t>
            </a:r>
            <a:r>
              <a:rPr lang="en-US" altLang="ja-JP" sz="2400" b="1" i="1" dirty="0">
                <a:solidFill>
                  <a:schemeClr val="tx1"/>
                </a:solidFill>
                <a:highlight>
                  <a:srgbClr val="FFFF00"/>
                </a:highlight>
                <a:latin typeface="Symbol" pitchFamily="18" charset="2"/>
                <a:ea typeface="ＭＳ Ｐゴシック" pitchFamily="34" charset="-128"/>
                <a:sym typeface="Symbol" pitchFamily="18" charset="2"/>
              </a:rPr>
              <a:t></a:t>
            </a:r>
            <a:endParaRPr lang="en-US" altLang="en-US" sz="2400" b="1" i="1" dirty="0">
              <a:solidFill>
                <a:schemeClr val="tx1"/>
              </a:solidFill>
              <a:highlight>
                <a:srgbClr val="FFFF00"/>
              </a:highlight>
              <a:ea typeface="ＭＳ Ｐゴシック" pitchFamily="34" charset="-128"/>
            </a:endParaRPr>
          </a:p>
          <a:p>
            <a:pPr eaLnBrk="1" hangingPunct="1">
              <a:lnSpc>
                <a:spcPct val="120000"/>
              </a:lnSpc>
              <a:spcAft>
                <a:spcPct val="35000"/>
              </a:spcAft>
              <a:buFont typeface="Wingdings" pitchFamily="2" charset="2"/>
              <a:buNone/>
            </a:pPr>
            <a:r>
              <a:rPr lang="en-US" altLang="en-US" dirty="0">
                <a:solidFill>
                  <a:srgbClr val="000000"/>
                </a:solidFill>
                <a:ea typeface="ＭＳ Ｐゴシック" pitchFamily="34" charset="-128"/>
              </a:rPr>
              <a:t>Factors often considered:</a:t>
            </a:r>
          </a:p>
          <a:p>
            <a:pPr eaLnBrk="1" hangingPunct="1">
              <a:spcBef>
                <a:spcPct val="0"/>
              </a:spcBef>
              <a:buFont typeface="Wingdings" pitchFamily="2" charset="2"/>
              <a:buChar char="§"/>
            </a:pPr>
            <a:r>
              <a:rPr lang="en-US" altLang="en-US" dirty="0">
                <a:solidFill>
                  <a:srgbClr val="000000"/>
                </a:solidFill>
                <a:ea typeface="ＭＳ Ｐゴシック" pitchFamily="34" charset="-128"/>
              </a:rPr>
              <a:t>What are the consequences of rejecting the null hypothesis when it is actually true? </a:t>
            </a:r>
          </a:p>
          <a:p>
            <a:pPr lvl="1" eaLnBrk="1" hangingPunct="1">
              <a:spcBef>
                <a:spcPct val="0"/>
              </a:spcBef>
              <a:buFont typeface="Arial" pitchFamily="34" charset="0"/>
              <a:buChar char="•"/>
            </a:pPr>
            <a:r>
              <a:rPr lang="en-US" altLang="en-US" dirty="0">
                <a:solidFill>
                  <a:srgbClr val="000000"/>
                </a:solidFill>
                <a:ea typeface="ＭＳ Ｐゴシック" pitchFamily="34" charset="-128"/>
              </a:rPr>
              <a:t>What might happen if we concluded that global warming was real when it really wasn’t?</a:t>
            </a:r>
          </a:p>
          <a:p>
            <a:pPr lvl="1" eaLnBrk="1" hangingPunct="1">
              <a:spcBef>
                <a:spcPct val="0"/>
              </a:spcBef>
              <a:buFont typeface="Arial" pitchFamily="34" charset="0"/>
              <a:buChar char="•"/>
            </a:pPr>
            <a:r>
              <a:rPr lang="en-US" altLang="en-US" dirty="0">
                <a:solidFill>
                  <a:srgbClr val="000000"/>
                </a:solidFill>
                <a:ea typeface="ＭＳ Ｐゴシック" pitchFamily="34" charset="-128"/>
              </a:rPr>
              <a:t>Suppose </a:t>
            </a:r>
            <a:r>
              <a:rPr lang="en-US" altLang="en-US" sz="2000" dirty="0">
                <a:solidFill>
                  <a:srgbClr val="000000"/>
                </a:solidFill>
                <a:ea typeface="ＭＳ Ｐゴシック" pitchFamily="34" charset="-128"/>
              </a:rPr>
              <a:t>an innocent person were</a:t>
            </a:r>
            <a:r>
              <a:rPr lang="en-US" altLang="en-US" dirty="0">
                <a:solidFill>
                  <a:srgbClr val="000000"/>
                </a:solidFill>
                <a:ea typeface="ＭＳ Ｐゴシック" pitchFamily="34" charset="-128"/>
              </a:rPr>
              <a:t> convicted of a crime. </a:t>
            </a:r>
          </a:p>
          <a:p>
            <a:pPr eaLnBrk="1" hangingPunct="1">
              <a:spcBef>
                <a:spcPct val="0"/>
              </a:spcBef>
              <a:buFont typeface="Wingdings 2" pitchFamily="18" charset="2"/>
              <a:buNone/>
            </a:pPr>
            <a:endParaRPr lang="en-US" altLang="en-US" dirty="0">
              <a:solidFill>
                <a:srgbClr val="000000"/>
              </a:solidFill>
              <a:ea typeface="ＭＳ Ｐゴシック" pitchFamily="34" charset="-128"/>
            </a:endParaRPr>
          </a:p>
          <a:p>
            <a:pPr eaLnBrk="1" hangingPunct="1">
              <a:spcBef>
                <a:spcPct val="0"/>
              </a:spcBef>
              <a:buFont typeface="Wingdings" pitchFamily="2" charset="2"/>
              <a:buChar char="§"/>
            </a:pPr>
            <a:r>
              <a:rPr lang="en-US" altLang="en-US" dirty="0">
                <a:solidFill>
                  <a:srgbClr val="000000"/>
                </a:solidFill>
                <a:ea typeface="ＭＳ Ｐゴシック" pitchFamily="34" charset="-128"/>
              </a:rPr>
              <a:t>Are you conducting a preliminary study? If so, you may want a larger </a:t>
            </a:r>
            <a:r>
              <a:rPr lang="en-US" altLang="ja-JP" sz="2400" i="1" dirty="0">
                <a:solidFill>
                  <a:srgbClr val="000000"/>
                </a:solidFill>
                <a:latin typeface="Symbol" pitchFamily="18" charset="2"/>
                <a:ea typeface="ＭＳ Ｐゴシック" pitchFamily="34" charset="-128"/>
                <a:sym typeface="Symbol" pitchFamily="18" charset="2"/>
              </a:rPr>
              <a:t></a:t>
            </a:r>
            <a:r>
              <a:rPr lang="en-US" altLang="en-US" dirty="0">
                <a:solidFill>
                  <a:srgbClr val="000000"/>
                </a:solidFill>
                <a:ea typeface="ＭＳ Ｐゴシック" pitchFamily="34" charset="-128"/>
              </a:rPr>
              <a:t> so that you will be less likely to miss an interesting result.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Cautions about Significance Tests 2</a:t>
            </a:r>
          </a:p>
        </p:txBody>
      </p:sp>
      <p:sp>
        <p:nvSpPr>
          <p:cNvPr id="79874"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247D7819-DF7B-40C0-BFCA-9E9DA6080071}" type="slidenum">
              <a:rPr lang="en-US" altLang="en-US" sz="1400">
                <a:solidFill>
                  <a:schemeClr val="accent1"/>
                </a:solidFill>
              </a:rPr>
              <a:pPr/>
              <a:t>39</a:t>
            </a:fld>
            <a:endParaRPr lang="en-US" altLang="en-US" sz="1400">
              <a:solidFill>
                <a:schemeClr val="accent1"/>
              </a:solidFill>
            </a:endParaRPr>
          </a:p>
        </p:txBody>
      </p:sp>
      <p:sp>
        <p:nvSpPr>
          <p:cNvPr id="8" name="TextBox 7"/>
          <p:cNvSpPr txBox="1"/>
          <p:nvPr/>
        </p:nvSpPr>
        <p:spPr>
          <a:xfrm>
            <a:off x="174625" y="1459017"/>
            <a:ext cx="7772400" cy="2923877"/>
          </a:xfrm>
          <a:prstGeom prst="rect">
            <a:avLst/>
          </a:prstGeom>
          <a:solidFill>
            <a:srgbClr val="FFD780"/>
          </a:solidFill>
        </p:spPr>
        <p:txBody>
          <a:bodyPr wrap="square">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r>
              <a:rPr lang="en-US" altLang="en-US" b="1" dirty="0">
                <a:highlight>
                  <a:srgbClr val="FFFF00"/>
                </a:highlight>
              </a:rPr>
              <a:t>Some conventions:</a:t>
            </a:r>
          </a:p>
          <a:p>
            <a:pPr eaLnBrk="1" hangingPunct="1">
              <a:defRPr/>
            </a:pPr>
            <a:endParaRPr lang="en-US" altLang="en-US" sz="2000" dirty="0"/>
          </a:p>
          <a:p>
            <a:pPr marL="347663" indent="-341313" eaLnBrk="1" hangingPunct="1">
              <a:buClr>
                <a:schemeClr val="accent1"/>
              </a:buClr>
              <a:buFont typeface="Wingdings" charset="2"/>
              <a:buChar char="§"/>
              <a:defRPr/>
            </a:pPr>
            <a:r>
              <a:rPr lang="en-US" altLang="en-US" sz="2000" dirty="0"/>
              <a:t>Typically, the standards of our field of work are used. </a:t>
            </a:r>
          </a:p>
          <a:p>
            <a:pPr marL="347663" indent="-341313" eaLnBrk="1" hangingPunct="1">
              <a:buClr>
                <a:schemeClr val="accent1"/>
              </a:buClr>
              <a:defRPr/>
            </a:pPr>
            <a:endParaRPr lang="en-US" altLang="en-US" sz="2000" dirty="0"/>
          </a:p>
          <a:p>
            <a:pPr marL="347663" indent="-341313" eaLnBrk="1" hangingPunct="1">
              <a:buClr>
                <a:schemeClr val="accent1"/>
              </a:buClr>
              <a:buFont typeface="Wingdings" charset="2"/>
              <a:buChar char="§"/>
              <a:defRPr/>
            </a:pPr>
            <a:r>
              <a:rPr lang="en-US" altLang="en-US" sz="2000" dirty="0"/>
              <a:t>There are no sharp cutoffs for </a:t>
            </a:r>
            <a:r>
              <a:rPr lang="en-US" altLang="en-US" sz="2000" i="1" dirty="0"/>
              <a:t>P</a:t>
            </a:r>
            <a:r>
              <a:rPr lang="en-US" altLang="en-US" sz="2000" dirty="0"/>
              <a:t>-values: for example, there is no practical difference between 4.9% and 5.1%.</a:t>
            </a:r>
          </a:p>
          <a:p>
            <a:pPr marL="347663" indent="-341313" eaLnBrk="1" hangingPunct="1">
              <a:buClr>
                <a:schemeClr val="accent1"/>
              </a:buClr>
              <a:defRPr/>
            </a:pPr>
            <a:endParaRPr lang="en-US" altLang="en-US" sz="2000" dirty="0"/>
          </a:p>
          <a:p>
            <a:pPr marL="347663" indent="-341313" eaLnBrk="1" hangingPunct="1">
              <a:buClr>
                <a:schemeClr val="accent1"/>
              </a:buClr>
              <a:buFont typeface="Wingdings" charset="2"/>
              <a:buChar char="§"/>
              <a:defRPr/>
            </a:pPr>
            <a:r>
              <a:rPr lang="en-US" altLang="en-US" sz="2000" dirty="0"/>
              <a:t>It is the order of magnitude of the </a:t>
            </a:r>
            <a:r>
              <a:rPr lang="en-US" altLang="en-US" sz="2000" i="1" dirty="0"/>
              <a:t>P</a:t>
            </a:r>
            <a:r>
              <a:rPr lang="en-US" altLang="en-US" sz="2000" dirty="0"/>
              <a:t>-value that matters: </a:t>
            </a:r>
          </a:p>
          <a:p>
            <a:pPr marL="6350" eaLnBrk="1" hangingPunct="1">
              <a:buClr>
                <a:schemeClr val="accent1"/>
              </a:buClr>
              <a:defRPr/>
            </a:pPr>
            <a:r>
              <a:rPr lang="en-US" altLang="en-US" sz="2000" dirty="0"/>
              <a:t>          </a:t>
            </a:r>
            <a:r>
              <a:rPr lang="ja-JP" altLang="en-US" sz="2000" dirty="0"/>
              <a:t>“</a:t>
            </a:r>
            <a:r>
              <a:rPr lang="en-US" altLang="ja-JP" sz="2000" dirty="0"/>
              <a:t>somewhat significant,</a:t>
            </a:r>
            <a:r>
              <a:rPr lang="ja-JP" altLang="en-US" sz="2000" dirty="0"/>
              <a:t>”</a:t>
            </a:r>
            <a:r>
              <a:rPr lang="en-US" altLang="ja-JP" sz="2000" dirty="0"/>
              <a:t> </a:t>
            </a:r>
            <a:r>
              <a:rPr lang="ja-JP" altLang="en-US" sz="2000" dirty="0"/>
              <a:t>“</a:t>
            </a:r>
            <a:r>
              <a:rPr lang="en-US" altLang="ja-JP" sz="2000" dirty="0"/>
              <a:t>significant,</a:t>
            </a:r>
            <a:r>
              <a:rPr lang="ja-JP" altLang="en-US" sz="2000" dirty="0"/>
              <a:t>”</a:t>
            </a:r>
            <a:r>
              <a:rPr lang="en-US" altLang="ja-JP" sz="2000" dirty="0"/>
              <a:t> or </a:t>
            </a:r>
            <a:r>
              <a:rPr lang="ja-JP" altLang="en-US" sz="2000" dirty="0"/>
              <a:t>“</a:t>
            </a:r>
            <a:r>
              <a:rPr lang="en-US" altLang="ja-JP" sz="2000" dirty="0"/>
              <a:t>very significant.</a:t>
            </a:r>
            <a:r>
              <a:rPr lang="ja-JP" altLang="en-US" sz="2000" dirty="0"/>
              <a:t>”</a:t>
            </a:r>
            <a:r>
              <a:rPr lang="en-US" altLang="ja-JP" sz="2000" dirty="0"/>
              <a:t> </a:t>
            </a:r>
            <a:endParaRPr lang="en-US" altLang="en-US"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Cautions about Significance Tests 3</a:t>
            </a:r>
            <a:endParaRPr lang="en-US" dirty="0"/>
          </a:p>
        </p:txBody>
      </p:sp>
      <p:sp>
        <p:nvSpPr>
          <p:cNvPr id="80900" name="Slide Number Placeholder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F70CE98A-CEE8-4807-A83E-6D182CFFA7BD}" type="slidenum">
              <a:rPr lang="en-US" altLang="en-US" sz="1400">
                <a:solidFill>
                  <a:schemeClr val="accent1"/>
                </a:solidFill>
              </a:rPr>
              <a:pPr/>
              <a:t>40</a:t>
            </a:fld>
            <a:endParaRPr lang="en-US" altLang="en-US" sz="1400">
              <a:solidFill>
                <a:schemeClr val="accent1"/>
              </a:solidFill>
            </a:endParaRPr>
          </a:p>
        </p:txBody>
      </p:sp>
      <p:sp>
        <p:nvSpPr>
          <p:cNvPr id="1307652" name="Rectangle 4"/>
          <p:cNvSpPr>
            <a:spLocks noGrp="1" noChangeArrowheads="1"/>
          </p:cNvSpPr>
          <p:nvPr>
            <p:ph type="body" idx="4294967295"/>
          </p:nvPr>
        </p:nvSpPr>
        <p:spPr>
          <a:xfrm>
            <a:off x="174625" y="1333755"/>
            <a:ext cx="8309808" cy="4978400"/>
          </a:xfrm>
          <a:solidFill>
            <a:srgbClr val="FFD780"/>
          </a:solidFill>
        </p:spPr>
        <p:txBody>
          <a:bodyPr/>
          <a:lstStyle/>
          <a:p>
            <a:pPr marL="0" indent="0" eaLnBrk="1" hangingPunct="1">
              <a:lnSpc>
                <a:spcPct val="130000"/>
              </a:lnSpc>
              <a:buFont typeface="Wingdings 2" pitchFamily="18" charset="2"/>
              <a:buNone/>
            </a:pPr>
            <a:r>
              <a:rPr lang="en-US" altLang="en-US" sz="2400" b="1" dirty="0">
                <a:solidFill>
                  <a:schemeClr val="tx1"/>
                </a:solidFill>
                <a:highlight>
                  <a:srgbClr val="FFFF00"/>
                </a:highlight>
                <a:ea typeface="ＭＳ Ｐゴシック" pitchFamily="34" charset="-128"/>
              </a:rPr>
              <a:t>What statistical significance does not mean:</a:t>
            </a:r>
            <a:endParaRPr lang="en-US" altLang="en-US" sz="2400" dirty="0">
              <a:solidFill>
                <a:schemeClr val="tx1"/>
              </a:solidFill>
              <a:highlight>
                <a:srgbClr val="FFFF00"/>
              </a:highlight>
              <a:ea typeface="ＭＳ Ｐゴシック" pitchFamily="34" charset="-128"/>
            </a:endParaRPr>
          </a:p>
          <a:p>
            <a:pPr marL="0" indent="0" algn="just" eaLnBrk="1" hangingPunct="1">
              <a:buFont typeface="Wingdings" pitchFamily="2" charset="2"/>
              <a:buNone/>
            </a:pPr>
            <a:r>
              <a:rPr lang="en-US" altLang="en-US" dirty="0">
                <a:solidFill>
                  <a:schemeClr val="tx1"/>
                </a:solidFill>
                <a:ea typeface="ＭＳ Ｐゴシック" pitchFamily="34" charset="-128"/>
              </a:rPr>
              <a:t>Statistical significance indicates only whether the effect observed is likely to be due to chance alone because of random sampling.</a:t>
            </a:r>
          </a:p>
          <a:p>
            <a:pPr marL="0" indent="0" algn="just" eaLnBrk="1" hangingPunct="1">
              <a:buFont typeface="Wingdings" pitchFamily="2" charset="2"/>
              <a:buNone/>
            </a:pPr>
            <a:r>
              <a:rPr lang="en-US" altLang="en-US" dirty="0">
                <a:solidFill>
                  <a:schemeClr val="tx1"/>
                </a:solidFill>
                <a:ea typeface="ＭＳ Ｐゴシック" pitchFamily="34" charset="-128"/>
              </a:rPr>
              <a:t>Statistical significance may not be practically important. That’</a:t>
            </a:r>
            <a:r>
              <a:rPr lang="en-US" altLang="ja-JP" dirty="0">
                <a:solidFill>
                  <a:schemeClr val="tx1"/>
                </a:solidFill>
                <a:ea typeface="ＭＳ Ｐゴシック" pitchFamily="34" charset="-128"/>
              </a:rPr>
              <a:t>s because statistical significance does not tell you about the </a:t>
            </a:r>
            <a:r>
              <a:rPr lang="en-US" altLang="ja-JP" b="1" dirty="0">
                <a:solidFill>
                  <a:srgbClr val="C00000"/>
                </a:solidFill>
                <a:ea typeface="ＭＳ Ｐゴシック" pitchFamily="34" charset="-128"/>
              </a:rPr>
              <a:t>magnitude</a:t>
            </a:r>
            <a:r>
              <a:rPr lang="en-US" altLang="ja-JP" dirty="0">
                <a:solidFill>
                  <a:srgbClr val="800000"/>
                </a:solidFill>
                <a:ea typeface="ＭＳ Ｐゴシック" pitchFamily="34" charset="-128"/>
              </a:rPr>
              <a:t> </a:t>
            </a:r>
            <a:r>
              <a:rPr lang="en-US" altLang="ja-JP" dirty="0">
                <a:solidFill>
                  <a:schemeClr val="tx1"/>
                </a:solidFill>
                <a:ea typeface="ＭＳ Ｐゴシック" pitchFamily="34" charset="-128"/>
              </a:rPr>
              <a:t>of the effect, only that there is one. </a:t>
            </a:r>
          </a:p>
          <a:p>
            <a:pPr marL="0" indent="0" algn="just" eaLnBrk="1" hangingPunct="1">
              <a:buFont typeface="Wingdings" pitchFamily="2" charset="2"/>
              <a:buNone/>
            </a:pPr>
            <a:r>
              <a:rPr lang="en-US" altLang="en-US" dirty="0">
                <a:solidFill>
                  <a:schemeClr val="tx1"/>
                </a:solidFill>
                <a:ea typeface="ＭＳ Ｐゴシック" pitchFamily="34" charset="-128"/>
              </a:rPr>
              <a:t>An effect could be too small to be relevant. And, with a large enough sample size, significance can be reached even for the tiniest effect.</a:t>
            </a:r>
            <a:endParaRPr lang="en-US" altLang="en-US" sz="1400" dirty="0">
              <a:solidFill>
                <a:schemeClr val="tx1"/>
              </a:solidFill>
              <a:ea typeface="ＭＳ Ｐゴシック" pitchFamily="34" charset="-128"/>
            </a:endParaRPr>
          </a:p>
          <a:p>
            <a:pPr marL="731838" lvl="1" algn="just" eaLnBrk="1" hangingPunct="1"/>
            <a:r>
              <a:rPr lang="en-US" altLang="en-US" dirty="0">
                <a:solidFill>
                  <a:schemeClr val="tx1"/>
                </a:solidFill>
                <a:ea typeface="ＭＳ Ｐゴシック" pitchFamily="34" charset="-128"/>
              </a:rPr>
              <a:t>A drug is found to lower patient temperature an average of 0.4° Celsius (</a:t>
            </a:r>
            <a:r>
              <a:rPr lang="en-US" altLang="en-US" i="1" dirty="0">
                <a:solidFill>
                  <a:schemeClr val="tx1"/>
                </a:solidFill>
                <a:ea typeface="ＭＳ Ｐゴシック" pitchFamily="34" charset="-128"/>
              </a:rPr>
              <a:t>P</a:t>
            </a:r>
            <a:r>
              <a:rPr lang="en-US" altLang="en-US" dirty="0">
                <a:solidFill>
                  <a:schemeClr val="tx1"/>
                </a:solidFill>
                <a:ea typeface="ＭＳ Ｐゴシック" pitchFamily="34" charset="-128"/>
              </a:rPr>
              <a:t>-value &lt; 0.01). But clinical benefits of temperature reduction appear only for a decrease of 1°Celsius or larger. </a:t>
            </a:r>
          </a:p>
          <a:p>
            <a:pPr marL="731838" lvl="1" eaLnBrk="1" hangingPunct="1">
              <a:lnSpc>
                <a:spcPct val="130000"/>
              </a:lnSpc>
            </a:pPr>
            <a:endParaRPr lang="en-US" altLang="en-US" dirty="0">
              <a:solidFill>
                <a:schemeClr val="tx1"/>
              </a:solidFill>
              <a:ea typeface="ＭＳ Ｐゴシック" pitchFamily="34" charset="-128"/>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07652">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307652">
                                            <p:txEl>
                                              <p:pRg st="3" end="3"/>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30765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7652" grpId="0" build="p" bldLvl="2"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Cautions about Significance Tests 4</a:t>
            </a:r>
            <a:endParaRPr lang="en-US" dirty="0"/>
          </a:p>
        </p:txBody>
      </p:sp>
      <p:sp>
        <p:nvSpPr>
          <p:cNvPr id="82948" name="Slide Number Placeholder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5A0F964E-7539-4BFD-B76C-9258CA0EBFB6}" type="slidenum">
              <a:rPr lang="en-US" altLang="en-US" sz="1400">
                <a:solidFill>
                  <a:schemeClr val="accent1"/>
                </a:solidFill>
              </a:rPr>
              <a:pPr/>
              <a:t>41</a:t>
            </a:fld>
            <a:endParaRPr lang="en-US" altLang="en-US" sz="1400">
              <a:solidFill>
                <a:schemeClr val="accent1"/>
              </a:solidFill>
            </a:endParaRPr>
          </a:p>
        </p:txBody>
      </p:sp>
      <p:sp>
        <p:nvSpPr>
          <p:cNvPr id="1308674" name="Rectangle 2"/>
          <p:cNvSpPr>
            <a:spLocks noChangeArrowheads="1"/>
          </p:cNvSpPr>
          <p:nvPr/>
        </p:nvSpPr>
        <p:spPr bwMode="auto">
          <a:xfrm>
            <a:off x="280194" y="1194216"/>
            <a:ext cx="8229600" cy="4959927"/>
          </a:xfrm>
          <a:prstGeom prst="rect">
            <a:avLst/>
          </a:prstGeom>
          <a:solidFill>
            <a:srgbClr val="FFD780"/>
          </a:solidFill>
          <a:ln>
            <a:noFill/>
          </a:ln>
        </p:spPr>
        <p:txBody>
          <a:bodyPr/>
          <a:lstStyle/>
          <a:p>
            <a:pPr eaLnBrk="1" hangingPunct="1">
              <a:lnSpc>
                <a:spcPct val="150000"/>
              </a:lnSpc>
              <a:spcBef>
                <a:spcPct val="20000"/>
              </a:spcBef>
              <a:buClr>
                <a:srgbClr val="00CC99"/>
              </a:buClr>
              <a:buSzPct val="65000"/>
              <a:buFont typeface="Wingdings" pitchFamily="2" charset="2"/>
              <a:buNone/>
            </a:pPr>
            <a:r>
              <a:rPr lang="en-US" altLang="en-US" sz="2400" b="1" dirty="0">
                <a:highlight>
                  <a:srgbClr val="FFFF00"/>
                </a:highlight>
              </a:rPr>
              <a:t>Do not ignore lack of significance.</a:t>
            </a:r>
          </a:p>
          <a:p>
            <a:pPr eaLnBrk="1" hangingPunct="1">
              <a:lnSpc>
                <a:spcPct val="130000"/>
              </a:lnSpc>
              <a:spcBef>
                <a:spcPct val="20000"/>
              </a:spcBef>
              <a:buClr>
                <a:srgbClr val="00CC99"/>
              </a:buClr>
              <a:buSzPct val="65000"/>
              <a:buFont typeface="Wingdings" pitchFamily="2" charset="2"/>
              <a:buNone/>
            </a:pPr>
            <a:endParaRPr lang="en-US" altLang="en-US" sz="1000" b="1" dirty="0">
              <a:solidFill>
                <a:srgbClr val="333399"/>
              </a:solidFill>
            </a:endParaRPr>
          </a:p>
          <a:p>
            <a:pPr marL="571500" lvl="1" indent="-228600" algn="just" eaLnBrk="1" hangingPunct="1">
              <a:spcBef>
                <a:spcPct val="20000"/>
              </a:spcBef>
              <a:buClr>
                <a:schemeClr val="accent1"/>
              </a:buClr>
              <a:buSzPct val="100000"/>
              <a:buFont typeface="Wingdings" pitchFamily="2" charset="2"/>
              <a:buChar char="§"/>
            </a:pPr>
            <a:r>
              <a:rPr lang="en-US" altLang="en-US" dirty="0"/>
              <a:t>Consider this provocative title from the </a:t>
            </a:r>
            <a:r>
              <a:rPr lang="en-US" altLang="en-US" i="1" dirty="0"/>
              <a:t>British Medical Journal</a:t>
            </a:r>
            <a:r>
              <a:rPr lang="en-US" altLang="en-US" dirty="0"/>
              <a:t>: “Absence of evidence is not evidence of absence.”</a:t>
            </a:r>
          </a:p>
          <a:p>
            <a:pPr marL="571500" lvl="1" indent="-228600" algn="just" eaLnBrk="1" hangingPunct="1">
              <a:spcBef>
                <a:spcPct val="20000"/>
              </a:spcBef>
              <a:buClr>
                <a:schemeClr val="accent1"/>
              </a:buClr>
              <a:buSzPct val="100000"/>
              <a:buFont typeface="Wingdings" pitchFamily="2" charset="2"/>
              <a:buChar char="§"/>
            </a:pPr>
            <a:r>
              <a:rPr lang="en-US" altLang="en-US" dirty="0"/>
              <a:t>Having no proof that a particular suspect committed a murder does not imply that the suspect did not commit the murder. </a:t>
            </a:r>
          </a:p>
          <a:p>
            <a:pPr algn="just" eaLnBrk="1" hangingPunct="1">
              <a:lnSpc>
                <a:spcPct val="130000"/>
              </a:lnSpc>
              <a:spcBef>
                <a:spcPct val="20000"/>
              </a:spcBef>
              <a:buClr>
                <a:srgbClr val="00CC99"/>
              </a:buClr>
              <a:buSzPct val="65000"/>
              <a:buFont typeface="Wingdings" pitchFamily="2" charset="2"/>
              <a:buNone/>
            </a:pPr>
            <a:endParaRPr lang="en-US" altLang="en-US" sz="1000" dirty="0"/>
          </a:p>
          <a:p>
            <a:pPr algn="just" eaLnBrk="1" hangingPunct="1">
              <a:spcBef>
                <a:spcPct val="20000"/>
              </a:spcBef>
              <a:buClr>
                <a:srgbClr val="00CC99"/>
              </a:buClr>
              <a:buSzPct val="65000"/>
              <a:buFont typeface="Wingdings" pitchFamily="2" charset="2"/>
              <a:buNone/>
            </a:pPr>
            <a:r>
              <a:rPr lang="en-US" altLang="en-US" sz="2000" dirty="0"/>
              <a:t>Indeed, failing to find statistical significance in results means that “the null hypothesis is not rejected.” </a:t>
            </a:r>
            <a:r>
              <a:rPr lang="en-US" altLang="en-US" sz="2000" b="1" dirty="0"/>
              <a:t>This is very different from actually accepting the null hypothesis.</a:t>
            </a:r>
            <a:r>
              <a:rPr lang="en-US" altLang="en-US" sz="2000" dirty="0"/>
              <a:t> The sample size, for instance, could be too small to overcome large variability in the population.</a:t>
            </a:r>
          </a:p>
          <a:p>
            <a:pPr algn="just" eaLnBrk="1" hangingPunct="1">
              <a:spcBef>
                <a:spcPct val="20000"/>
              </a:spcBef>
              <a:buClr>
                <a:srgbClr val="00CC99"/>
              </a:buClr>
              <a:buSzPct val="65000"/>
              <a:buFont typeface="Wingdings" pitchFamily="2" charset="2"/>
              <a:buNone/>
            </a:pPr>
            <a:endParaRPr lang="en-US" altLang="en-US" sz="1400" dirty="0"/>
          </a:p>
          <a:p>
            <a:pPr algn="just" eaLnBrk="1" hangingPunct="1">
              <a:spcBef>
                <a:spcPct val="20000"/>
              </a:spcBef>
              <a:buClr>
                <a:srgbClr val="00CC99"/>
              </a:buClr>
              <a:buSzPct val="65000"/>
              <a:buFont typeface="Wingdings" pitchFamily="2" charset="2"/>
              <a:buNone/>
            </a:pPr>
            <a:r>
              <a:rPr lang="en-US" altLang="en-US" sz="2000" dirty="0"/>
              <a:t>In comparing two populations, lack of significance does not imply that the two populations are the same. The populations might be different but have similar statistical properties.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08674">
                                            <p:txEl>
                                              <p:pRg st="5" end="5"/>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30867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73779"/>
                </a:solidFill>
              </a:rPr>
              <a:t>Cautions about Significance Tests 5</a:t>
            </a:r>
            <a:endParaRPr lang="en-US" dirty="0"/>
          </a:p>
        </p:txBody>
      </p:sp>
      <p:sp>
        <p:nvSpPr>
          <p:cNvPr id="84994"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94644A99-0A2D-4996-A34C-540F8801C9DC}" type="slidenum">
              <a:rPr lang="en-US" altLang="en-US" sz="1400">
                <a:solidFill>
                  <a:schemeClr val="accent1"/>
                </a:solidFill>
              </a:rPr>
              <a:pPr/>
              <a:t>42</a:t>
            </a:fld>
            <a:endParaRPr lang="en-US" altLang="en-US" sz="1400">
              <a:solidFill>
                <a:schemeClr val="accent1"/>
              </a:solidFill>
            </a:endParaRPr>
          </a:p>
        </p:txBody>
      </p:sp>
      <p:sp>
        <p:nvSpPr>
          <p:cNvPr id="84996" name="Rectangle 3"/>
          <p:cNvSpPr>
            <a:spLocks noChangeArrowheads="1"/>
          </p:cNvSpPr>
          <p:nvPr/>
        </p:nvSpPr>
        <p:spPr bwMode="auto">
          <a:xfrm>
            <a:off x="174625" y="1285336"/>
            <a:ext cx="8081963" cy="4656659"/>
          </a:xfrm>
          <a:prstGeom prst="rect">
            <a:avLst/>
          </a:prstGeom>
          <a:solidFill>
            <a:srgbClr val="FFD780"/>
          </a:solidFill>
          <a:ln>
            <a:noFill/>
          </a:ln>
        </p:spPr>
        <p:txBody>
          <a:bodyPr wrap="square">
            <a:spAutoFit/>
          </a:bodyPr>
          <a:lstStyle/>
          <a:p>
            <a:pPr eaLnBrk="1" hangingPunct="1">
              <a:lnSpc>
                <a:spcPct val="150000"/>
              </a:lnSpc>
              <a:spcBef>
                <a:spcPct val="20000"/>
              </a:spcBef>
              <a:buClr>
                <a:srgbClr val="00CC99"/>
              </a:buClr>
              <a:buSzPct val="65000"/>
            </a:pPr>
            <a:r>
              <a:rPr lang="en-US" altLang="en-US" sz="2400" b="1" dirty="0">
                <a:highlight>
                  <a:srgbClr val="FFFF00"/>
                </a:highlight>
              </a:rPr>
              <a:t>Potential importance of small effects</a:t>
            </a:r>
          </a:p>
          <a:p>
            <a:pPr eaLnBrk="1" hangingPunct="1">
              <a:buFont typeface="Wingdings" pitchFamily="2" charset="2"/>
              <a:buNone/>
            </a:pPr>
            <a:endParaRPr lang="en-US" altLang="en-US" sz="1000" b="1" dirty="0">
              <a:solidFill>
                <a:srgbClr val="800000"/>
              </a:solidFill>
            </a:endParaRPr>
          </a:p>
          <a:p>
            <a:pPr algn="just" eaLnBrk="1" hangingPunct="1">
              <a:buFont typeface="Wingdings" pitchFamily="2" charset="2"/>
              <a:buNone/>
            </a:pPr>
            <a:r>
              <a:rPr lang="en-US" altLang="en-US" sz="2000" dirty="0"/>
              <a:t>There is no consensus on how big an effect must be in order to be considered meaningful. In some cases, effects that may appear to be</a:t>
            </a:r>
          </a:p>
          <a:p>
            <a:pPr algn="just" eaLnBrk="1" hangingPunct="1">
              <a:buFont typeface="Wingdings" pitchFamily="2" charset="2"/>
              <a:buNone/>
            </a:pPr>
            <a:r>
              <a:rPr lang="en-US" altLang="en-US" sz="2000" dirty="0"/>
              <a:t>trivial can be very important.</a:t>
            </a:r>
          </a:p>
          <a:p>
            <a:pPr algn="just" eaLnBrk="1" hangingPunct="1">
              <a:buFont typeface="Wingdings" pitchFamily="2" charset="2"/>
              <a:buNone/>
            </a:pPr>
            <a:r>
              <a:rPr lang="en-US" altLang="en-US" dirty="0"/>
              <a:t> </a:t>
            </a:r>
            <a:br>
              <a:rPr lang="en-US" altLang="en-US" dirty="0"/>
            </a:br>
            <a:endParaRPr lang="en-US" altLang="en-US" sz="1200" dirty="0"/>
          </a:p>
          <a:p>
            <a:pPr marL="0" lvl="1" indent="6350" algn="just" eaLnBrk="1" hangingPunct="1"/>
            <a:r>
              <a:rPr lang="en-US" altLang="en-US" b="1" u="sng" dirty="0">
                <a:solidFill>
                  <a:srgbClr val="05295B"/>
                </a:solidFill>
              </a:rPr>
              <a:t>Example</a:t>
            </a:r>
            <a:r>
              <a:rPr lang="en-US" altLang="en-US" b="1" dirty="0">
                <a:solidFill>
                  <a:srgbClr val="05295B"/>
                </a:solidFill>
              </a:rPr>
              <a:t>: </a:t>
            </a:r>
            <a:r>
              <a:rPr lang="en-US" altLang="en-US" dirty="0"/>
              <a:t>Improving the format of a computerized test reduces the average response time by about 2 seconds. Although this effect is small, it is  important because this is done millions of times a year. The </a:t>
            </a:r>
            <a:r>
              <a:rPr lang="en-US" altLang="en-US" i="1" dirty="0"/>
              <a:t>cumulative</a:t>
            </a:r>
            <a:r>
              <a:rPr lang="en-US" altLang="en-US" dirty="0"/>
              <a:t> time saving of using the better format is gigantic. </a:t>
            </a:r>
          </a:p>
          <a:p>
            <a:pPr algn="just" eaLnBrk="1" hangingPunct="1">
              <a:buFont typeface="Wingdings" pitchFamily="2" charset="2"/>
              <a:buNone/>
            </a:pPr>
            <a:endParaRPr lang="en-US" altLang="en-US" dirty="0"/>
          </a:p>
          <a:p>
            <a:pPr algn="just" eaLnBrk="1" hangingPunct="1">
              <a:buFont typeface="Wingdings" pitchFamily="2" charset="2"/>
              <a:buNone/>
            </a:pPr>
            <a:r>
              <a:rPr lang="en-US" altLang="en-US" sz="2000" dirty="0"/>
              <a:t>Always think about the context. Try to plot your results and compare</a:t>
            </a:r>
          </a:p>
          <a:p>
            <a:pPr algn="just" eaLnBrk="1" hangingPunct="1">
              <a:buFont typeface="Wingdings" pitchFamily="2" charset="2"/>
              <a:buNone/>
            </a:pPr>
            <a:r>
              <a:rPr lang="en-US" altLang="en-US" sz="2000" dirty="0"/>
              <a:t>them with a baseline or results from similar studies.  </a:t>
            </a:r>
          </a:p>
          <a:p>
            <a:pPr eaLnBrk="1" hangingPunct="1">
              <a:lnSpc>
                <a:spcPct val="150000"/>
              </a:lnSpc>
              <a:spcBef>
                <a:spcPct val="20000"/>
              </a:spcBef>
              <a:buClr>
                <a:srgbClr val="00CC99"/>
              </a:buClr>
              <a:buSzPct val="65000"/>
            </a:pPr>
            <a:endParaRPr lang="en-US" altLang="en-US" b="1" dirty="0">
              <a:solidFill>
                <a:srgbClr val="80000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Cautions about Significance Tests 6</a:t>
            </a:r>
            <a:endParaRPr lang="en-US" dirty="0"/>
          </a:p>
        </p:txBody>
      </p:sp>
      <p:sp>
        <p:nvSpPr>
          <p:cNvPr id="86020" name="Slide Number Placeholder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56A7F1B8-499F-4AC0-A4CA-6C0835252372}" type="slidenum">
              <a:rPr lang="en-US" altLang="en-US" sz="1400">
                <a:solidFill>
                  <a:schemeClr val="accent1"/>
                </a:solidFill>
              </a:rPr>
              <a:pPr/>
              <a:t>43</a:t>
            </a:fld>
            <a:endParaRPr lang="en-US" altLang="en-US" sz="1400">
              <a:solidFill>
                <a:schemeClr val="accent1"/>
              </a:solidFill>
            </a:endParaRPr>
          </a:p>
        </p:txBody>
      </p:sp>
      <p:sp>
        <p:nvSpPr>
          <p:cNvPr id="1309700" name="Rectangle 4"/>
          <p:cNvSpPr>
            <a:spLocks noGrp="1" noChangeArrowheads="1"/>
          </p:cNvSpPr>
          <p:nvPr>
            <p:ph type="body" sz="half" idx="4294967295"/>
          </p:nvPr>
        </p:nvSpPr>
        <p:spPr>
          <a:xfrm>
            <a:off x="203994" y="1101803"/>
            <a:ext cx="8559006" cy="4219705"/>
          </a:xfrm>
          <a:solidFill>
            <a:srgbClr val="FFD780"/>
          </a:solidFill>
        </p:spPr>
        <p:txBody>
          <a:bodyPr/>
          <a:lstStyle/>
          <a:p>
            <a:pPr marL="0" indent="0" eaLnBrk="1" hangingPunct="1">
              <a:lnSpc>
                <a:spcPct val="130000"/>
              </a:lnSpc>
              <a:spcAft>
                <a:spcPct val="25000"/>
              </a:spcAft>
              <a:buFont typeface="Wingdings" pitchFamily="-65" charset="2"/>
              <a:buNone/>
              <a:defRPr/>
            </a:pPr>
            <a:r>
              <a:rPr lang="en-US" altLang="en-US" sz="2400" b="1" dirty="0">
                <a:solidFill>
                  <a:schemeClr val="tx1"/>
                </a:solidFill>
                <a:highlight>
                  <a:srgbClr val="FFFF00"/>
                </a:highlight>
                <a:ea typeface="ＭＳ Ｐゴシック" pitchFamily="-65" charset="-128"/>
              </a:rPr>
              <a:t>Beware of searching for significance.</a:t>
            </a:r>
          </a:p>
          <a:p>
            <a:pPr algn="just" eaLnBrk="1" hangingPunct="1">
              <a:spcAft>
                <a:spcPts val="0"/>
              </a:spcAft>
              <a:buFont typeface="Wingdings" panose="05000000000000000000" pitchFamily="2" charset="2"/>
              <a:buChar char="ü"/>
              <a:defRPr/>
            </a:pPr>
            <a:r>
              <a:rPr lang="en-US" altLang="en-US" i="1" dirty="0">
                <a:solidFill>
                  <a:schemeClr val="tx1"/>
                </a:solidFill>
                <a:ea typeface="ＭＳ Ｐゴシック" pitchFamily="-65" charset="-128"/>
              </a:rPr>
              <a:t>You cannot legitimately test a hypothesis using data that first suggested that hypothesis.  </a:t>
            </a:r>
          </a:p>
          <a:p>
            <a:pPr algn="just" eaLnBrk="1" hangingPunct="1">
              <a:spcAft>
                <a:spcPts val="0"/>
              </a:spcAft>
              <a:buFont typeface="Wingdings" panose="05000000000000000000" pitchFamily="2" charset="2"/>
              <a:buChar char="ü"/>
              <a:defRPr/>
            </a:pPr>
            <a:r>
              <a:rPr lang="en-US" altLang="en-US" dirty="0">
                <a:solidFill>
                  <a:schemeClr val="tx1"/>
                </a:solidFill>
                <a:ea typeface="ＭＳ Ｐゴシック" pitchFamily="-65" charset="-128"/>
              </a:rPr>
              <a:t>When a large number of null hypotheses are tested simultaneously, it can be expected that several of the tests will show significance, </a:t>
            </a:r>
            <a:r>
              <a:rPr lang="en-US" altLang="en-US" i="1" dirty="0">
                <a:solidFill>
                  <a:schemeClr val="tx1"/>
                </a:solidFill>
                <a:ea typeface="ＭＳ Ｐゴシック" pitchFamily="-65" charset="-128"/>
              </a:rPr>
              <a:t>even when all the null hypotheses are true.</a:t>
            </a:r>
          </a:p>
          <a:p>
            <a:pPr algn="just" eaLnBrk="1" hangingPunct="1">
              <a:spcAft>
                <a:spcPts val="0"/>
              </a:spcAft>
              <a:buFont typeface="Wingdings" panose="05000000000000000000" pitchFamily="2" charset="2"/>
              <a:buChar char="ü"/>
              <a:defRPr/>
            </a:pPr>
            <a:r>
              <a:rPr lang="en-US" altLang="en-US" dirty="0">
                <a:solidFill>
                  <a:schemeClr val="tx1"/>
                </a:solidFill>
                <a:ea typeface="ＭＳ Ｐゴシック" pitchFamily="-65" charset="-128"/>
              </a:rPr>
              <a:t>The previous two points do not imply that exploratory data analysis is a bad thing. Exploratory analysis often leads to interesting discoveries. However, if the data at hand suggest an interesting theory, then test that theory on a </a:t>
            </a:r>
            <a:r>
              <a:rPr lang="en-US" altLang="en-US" i="1" dirty="0">
                <a:solidFill>
                  <a:schemeClr val="tx1"/>
                </a:solidFill>
                <a:ea typeface="ＭＳ Ｐゴシック" pitchFamily="-65" charset="-128"/>
              </a:rPr>
              <a:t>new </a:t>
            </a:r>
            <a:r>
              <a:rPr lang="en-US" altLang="en-US" dirty="0">
                <a:solidFill>
                  <a:schemeClr val="tx1"/>
                </a:solidFill>
                <a:ea typeface="ＭＳ Ｐゴシック" pitchFamily="-65" charset="-128"/>
              </a:rPr>
              <a:t>set of data!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309700">
                                            <p:txEl>
                                              <p:pRg st="1" end="1"/>
                                            </p:txEl>
                                          </p:spTgt>
                                        </p:tgtEl>
                                        <p:attrNameLst>
                                          <p:attrName>style.visibility</p:attrName>
                                        </p:attrNameLst>
                                      </p:cBhvr>
                                      <p:to>
                                        <p:strVal val="visible"/>
                                      </p:to>
                                    </p:set>
                                    <p:animEffect transition="in" filter="fade">
                                      <p:cBhvr>
                                        <p:cTn id="7" dur="500"/>
                                        <p:tgtEl>
                                          <p:spTgt spid="1309700">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309700">
                                            <p:txEl>
                                              <p:pRg st="2" end="2"/>
                                            </p:txEl>
                                          </p:spTgt>
                                        </p:tgtEl>
                                        <p:attrNameLst>
                                          <p:attrName>style.visibility</p:attrName>
                                        </p:attrNameLst>
                                      </p:cBhvr>
                                      <p:to>
                                        <p:strVal val="visible"/>
                                      </p:to>
                                    </p:set>
                                    <p:animEffect transition="in" filter="fade">
                                      <p:cBhvr>
                                        <p:cTn id="12" dur="500"/>
                                        <p:tgtEl>
                                          <p:spTgt spid="1309700">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309700">
                                            <p:txEl>
                                              <p:pRg st="3" end="3"/>
                                            </p:txEl>
                                          </p:spTgt>
                                        </p:tgtEl>
                                        <p:attrNameLst>
                                          <p:attrName>style.visibility</p:attrName>
                                        </p:attrNameLst>
                                      </p:cBhvr>
                                      <p:to>
                                        <p:strVal val="visible"/>
                                      </p:to>
                                    </p:set>
                                    <p:animEffect transition="in" filter="fade">
                                      <p:cBhvr>
                                        <p:cTn id="17" dur="500"/>
                                        <p:tgtEl>
                                          <p:spTgt spid="130970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2"/>
          <p:cNvSpPr>
            <a:spLocks noGrp="1"/>
          </p:cNvSpPr>
          <p:nvPr>
            <p:ph type="title"/>
          </p:nvPr>
        </p:nvSpPr>
        <p:spPr>
          <a:xfrm>
            <a:off x="457199" y="479685"/>
            <a:ext cx="6738079" cy="1143000"/>
          </a:xfrm>
        </p:spPr>
        <p:txBody>
          <a:bodyPr anchor="t"/>
          <a:lstStyle/>
          <a:p>
            <a:pPr eaLnBrk="1" hangingPunct="1"/>
            <a:r>
              <a:rPr lang="en-US" altLang="en-US" b="1" dirty="0">
                <a:ea typeface="ＭＳ Ｐゴシック" pitchFamily="34" charset="-128"/>
              </a:rPr>
              <a:t>6.4 Power and Inference as a Decision</a:t>
            </a:r>
          </a:p>
        </p:txBody>
      </p:sp>
      <p:sp>
        <p:nvSpPr>
          <p:cNvPr id="88067" name="Text Placeholder 3"/>
          <p:cNvSpPr>
            <a:spLocks noGrp="1"/>
          </p:cNvSpPr>
          <p:nvPr>
            <p:ph idx="1"/>
          </p:nvPr>
        </p:nvSpPr>
        <p:spPr>
          <a:xfrm>
            <a:off x="457200" y="1939978"/>
            <a:ext cx="6508750" cy="2017426"/>
          </a:xfrm>
        </p:spPr>
        <p:txBody>
          <a:bodyPr/>
          <a:lstStyle/>
          <a:p>
            <a:pPr eaLnBrk="1" hangingPunct="1">
              <a:buSzPct val="110000"/>
              <a:buFont typeface="Wingdings" pitchFamily="2" charset="2"/>
              <a:buChar char="§"/>
            </a:pPr>
            <a:r>
              <a:rPr lang="en-US" altLang="en-US" sz="2400" dirty="0">
                <a:solidFill>
                  <a:schemeClr val="accent1"/>
                </a:solidFill>
                <a:ea typeface="ＭＳ Ｐゴシック" pitchFamily="34" charset="-128"/>
              </a:rPr>
              <a:t>Error probabilities and power</a:t>
            </a:r>
          </a:p>
          <a:p>
            <a:pPr eaLnBrk="1" hangingPunct="1">
              <a:buSzPct val="110000"/>
              <a:buFont typeface="Wingdings" pitchFamily="2" charset="2"/>
              <a:buChar char="§"/>
            </a:pPr>
            <a:r>
              <a:rPr lang="en-US" altLang="en-US" sz="2400" dirty="0">
                <a:solidFill>
                  <a:schemeClr val="accent1"/>
                </a:solidFill>
                <a:ea typeface="ＭＳ Ｐゴシック" pitchFamily="34" charset="-128"/>
              </a:rPr>
              <a:t>Increasing the power</a:t>
            </a:r>
          </a:p>
          <a:p>
            <a:pPr eaLnBrk="1" hangingPunct="1">
              <a:buSzPct val="110000"/>
              <a:buFont typeface="Wingdings" pitchFamily="2" charset="2"/>
              <a:buChar char="§"/>
            </a:pPr>
            <a:r>
              <a:rPr lang="en-US" altLang="en-US" sz="2400" dirty="0">
                <a:solidFill>
                  <a:schemeClr val="accent1"/>
                </a:solidFill>
                <a:ea typeface="ＭＳ Ｐゴシック" pitchFamily="34" charset="-128"/>
              </a:rPr>
              <a:t>The common practice of testing hypotheses</a:t>
            </a:r>
          </a:p>
        </p:txBody>
      </p:sp>
      <p:sp>
        <p:nvSpPr>
          <p:cNvPr id="88068"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9B7BF23A-5F48-4F3F-91C7-2078A3DA9F98}" type="slidenum">
              <a:rPr lang="en-US" altLang="en-US" sz="1400">
                <a:solidFill>
                  <a:schemeClr val="accent1"/>
                </a:solidFill>
              </a:rPr>
              <a:pPr/>
              <a:t>44</a:t>
            </a:fld>
            <a:endParaRPr lang="en-US" altLang="en-US" sz="1400">
              <a:solidFill>
                <a:schemeClr val="accent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9091" name="Rectangle 2"/>
          <p:cNvSpPr>
            <a:spLocks noGrp="1" noChangeArrowheads="1"/>
          </p:cNvSpPr>
          <p:nvPr>
            <p:ph type="title"/>
          </p:nvPr>
        </p:nvSpPr>
        <p:spPr/>
        <p:txBody>
          <a:bodyPr/>
          <a:lstStyle/>
          <a:p>
            <a:pPr eaLnBrk="1" hangingPunct="1">
              <a:lnSpc>
                <a:spcPct val="90000"/>
              </a:lnSpc>
            </a:pPr>
            <a:r>
              <a:rPr lang="en-US" altLang="en-US" dirty="0">
                <a:ea typeface="ＭＳ Ｐゴシック" pitchFamily="34" charset="-128"/>
              </a:rPr>
              <a:t>Power 1</a:t>
            </a:r>
            <a:endParaRPr lang="en-US" altLang="en-US" sz="2400" dirty="0">
              <a:solidFill>
                <a:srgbClr val="33CCFF"/>
              </a:solidFill>
              <a:ea typeface="ＭＳ Ｐゴシック" pitchFamily="34" charset="-128"/>
            </a:endParaRPr>
          </a:p>
        </p:txBody>
      </p:sp>
      <p:sp>
        <p:nvSpPr>
          <p:cNvPr id="8909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61AF1456-D91B-4888-B299-5BCFD076D714}" type="slidenum">
              <a:rPr lang="en-US" altLang="en-US" sz="1200">
                <a:solidFill>
                  <a:schemeClr val="accent1"/>
                </a:solidFill>
              </a:rPr>
              <a:pPr>
                <a:lnSpc>
                  <a:spcPct val="80000"/>
                </a:lnSpc>
              </a:pPr>
              <a:t>45</a:t>
            </a:fld>
            <a:endParaRPr lang="en-US" altLang="en-US" sz="1200">
              <a:solidFill>
                <a:schemeClr val="accent1"/>
              </a:solidFill>
            </a:endParaRPr>
          </a:p>
        </p:txBody>
      </p:sp>
      <p:sp>
        <p:nvSpPr>
          <p:cNvPr id="89092" name="TextBox 1"/>
          <p:cNvSpPr txBox="1">
            <a:spLocks noChangeArrowheads="1"/>
          </p:cNvSpPr>
          <p:nvPr/>
        </p:nvSpPr>
        <p:spPr bwMode="auto">
          <a:xfrm>
            <a:off x="174625" y="1165225"/>
            <a:ext cx="84772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just">
              <a:buFont typeface="Wingdings" pitchFamily="2" charset="2"/>
              <a:buNone/>
            </a:pPr>
            <a:r>
              <a:rPr lang="en-US" altLang="en-US" dirty="0">
                <a:solidFill>
                  <a:srgbClr val="000000"/>
                </a:solidFill>
              </a:rPr>
              <a:t>When we draw a conclusion from a significance test, we hope our conclusion will be correct. But sometimes it will be wrong. There are two types of mistakes we can make. </a:t>
            </a:r>
          </a:p>
        </p:txBody>
      </p:sp>
      <p:sp>
        <p:nvSpPr>
          <p:cNvPr id="17" name="TextBox 16"/>
          <p:cNvSpPr txBox="1">
            <a:spLocks noChangeArrowheads="1"/>
          </p:cNvSpPr>
          <p:nvPr/>
        </p:nvSpPr>
        <p:spPr bwMode="auto">
          <a:xfrm>
            <a:off x="283967" y="2253752"/>
            <a:ext cx="8477250" cy="892552"/>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endParaRPr lang="en-US" altLang="en-US" sz="700" b="1" u="sng" dirty="0">
              <a:solidFill>
                <a:srgbClr val="E81F30"/>
              </a:solidFill>
            </a:endParaRPr>
          </a:p>
          <a:p>
            <a:pPr eaLnBrk="1" hangingPunct="1">
              <a:spcBef>
                <a:spcPct val="0"/>
              </a:spcBef>
              <a:spcAft>
                <a:spcPts val="600"/>
              </a:spcAft>
              <a:buClrTx/>
              <a:buSzTx/>
              <a:buFontTx/>
              <a:buNone/>
              <a:defRPr/>
            </a:pPr>
            <a:r>
              <a:rPr lang="en-US" altLang="en-US" dirty="0">
                <a:solidFill>
                  <a:srgbClr val="000000"/>
                </a:solidFill>
              </a:rPr>
              <a:t>If we reject </a:t>
            </a:r>
            <a:r>
              <a:rPr lang="en-US" altLang="en-US" i="1" dirty="0">
                <a:solidFill>
                  <a:srgbClr val="000000"/>
                </a:solidFill>
              </a:rPr>
              <a:t>H</a:t>
            </a:r>
            <a:r>
              <a:rPr lang="en-US" altLang="en-US" baseline="-25000" dirty="0">
                <a:solidFill>
                  <a:srgbClr val="000000"/>
                </a:solidFill>
              </a:rPr>
              <a:t>0</a:t>
            </a:r>
            <a:r>
              <a:rPr lang="en-US" altLang="en-US" i="1" dirty="0">
                <a:solidFill>
                  <a:srgbClr val="000000"/>
                </a:solidFill>
              </a:rPr>
              <a:t> </a:t>
            </a:r>
            <a:r>
              <a:rPr lang="en-US" altLang="en-US" dirty="0">
                <a:solidFill>
                  <a:srgbClr val="000000"/>
                </a:solidFill>
              </a:rPr>
              <a:t>when </a:t>
            </a:r>
            <a:r>
              <a:rPr lang="en-US" altLang="en-US" i="1" dirty="0">
                <a:solidFill>
                  <a:srgbClr val="000000"/>
                </a:solidFill>
              </a:rPr>
              <a:t>H</a:t>
            </a:r>
            <a:r>
              <a:rPr lang="en-US" altLang="en-US" baseline="-25000" dirty="0">
                <a:solidFill>
                  <a:srgbClr val="000000"/>
                </a:solidFill>
              </a:rPr>
              <a:t>0</a:t>
            </a:r>
            <a:r>
              <a:rPr lang="en-US" altLang="en-US" i="1" dirty="0">
                <a:solidFill>
                  <a:srgbClr val="000000"/>
                </a:solidFill>
              </a:rPr>
              <a:t> </a:t>
            </a:r>
            <a:r>
              <a:rPr lang="en-US" altLang="en-US" dirty="0">
                <a:solidFill>
                  <a:srgbClr val="000000"/>
                </a:solidFill>
              </a:rPr>
              <a:t>is true, we have committed a </a:t>
            </a:r>
            <a:r>
              <a:rPr lang="en-US" altLang="en-US" b="1" dirty="0">
                <a:solidFill>
                  <a:schemeClr val="tx1"/>
                </a:solidFill>
              </a:rPr>
              <a:t>Type I error</a:t>
            </a:r>
            <a:r>
              <a:rPr lang="en-US" altLang="en-US" dirty="0">
                <a:solidFill>
                  <a:schemeClr val="tx1"/>
                </a:solidFill>
              </a:rPr>
              <a:t>. </a:t>
            </a:r>
          </a:p>
          <a:p>
            <a:pPr eaLnBrk="1" hangingPunct="1">
              <a:spcBef>
                <a:spcPct val="0"/>
              </a:spcBef>
              <a:spcAft>
                <a:spcPts val="600"/>
              </a:spcAft>
              <a:buClrTx/>
              <a:buSzTx/>
              <a:buFontTx/>
              <a:buNone/>
              <a:defRPr/>
            </a:pPr>
            <a:r>
              <a:rPr lang="en-US" altLang="en-US" dirty="0">
                <a:solidFill>
                  <a:schemeClr val="tx1"/>
                </a:solidFill>
              </a:rPr>
              <a:t>If we fail to reject </a:t>
            </a:r>
            <a:r>
              <a:rPr lang="en-US" altLang="en-US" i="1" dirty="0">
                <a:solidFill>
                  <a:schemeClr val="tx1"/>
                </a:solidFill>
              </a:rPr>
              <a:t>H</a:t>
            </a:r>
            <a:r>
              <a:rPr lang="en-US" altLang="en-US" baseline="-25000" dirty="0">
                <a:solidFill>
                  <a:schemeClr val="tx1"/>
                </a:solidFill>
              </a:rPr>
              <a:t>0</a:t>
            </a:r>
            <a:r>
              <a:rPr lang="en-US" altLang="en-US" i="1" dirty="0">
                <a:solidFill>
                  <a:schemeClr val="tx1"/>
                </a:solidFill>
              </a:rPr>
              <a:t> </a:t>
            </a:r>
            <a:r>
              <a:rPr lang="en-US" altLang="en-US" dirty="0">
                <a:solidFill>
                  <a:schemeClr val="tx1"/>
                </a:solidFill>
              </a:rPr>
              <a:t>when </a:t>
            </a:r>
            <a:r>
              <a:rPr lang="en-US" altLang="en-US" i="1" dirty="0">
                <a:solidFill>
                  <a:schemeClr val="tx1"/>
                </a:solidFill>
              </a:rPr>
              <a:t>H</a:t>
            </a:r>
            <a:r>
              <a:rPr lang="en-US" altLang="en-US" baseline="-25000" dirty="0">
                <a:solidFill>
                  <a:schemeClr val="tx1"/>
                </a:solidFill>
              </a:rPr>
              <a:t>0</a:t>
            </a:r>
            <a:r>
              <a:rPr lang="en-US" altLang="en-US" i="1" dirty="0">
                <a:solidFill>
                  <a:schemeClr val="tx1"/>
                </a:solidFill>
              </a:rPr>
              <a:t> </a:t>
            </a:r>
            <a:r>
              <a:rPr lang="en-US" altLang="en-US" dirty="0">
                <a:solidFill>
                  <a:schemeClr val="tx1"/>
                </a:solidFill>
              </a:rPr>
              <a:t>is false, we have committed a </a:t>
            </a:r>
            <a:r>
              <a:rPr lang="en-US" altLang="en-US" b="1" dirty="0">
                <a:solidFill>
                  <a:schemeClr val="tx1"/>
                </a:solidFill>
              </a:rPr>
              <a:t>Type II error</a:t>
            </a:r>
            <a:r>
              <a:rPr lang="en-US" altLang="en-US" dirty="0">
                <a:solidFill>
                  <a:schemeClr val="tx1"/>
                </a:solidFill>
              </a:rPr>
              <a:t>.</a:t>
            </a:r>
            <a:endParaRPr lang="en-US" altLang="en-US" sz="2400" i="1" dirty="0">
              <a:solidFill>
                <a:schemeClr val="tx1"/>
              </a:solidFill>
              <a:latin typeface="Palatino" charset="0"/>
            </a:endParaRPr>
          </a:p>
        </p:txBody>
      </p:sp>
      <p:pic>
        <p:nvPicPr>
          <p:cNvPr id="2" name="Picture 1" descr="A matrix of error type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7976" y="3388093"/>
            <a:ext cx="5536575" cy="3114789"/>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Power 2</a:t>
            </a:r>
            <a:endParaRPr lang="en-US" dirty="0"/>
          </a:p>
        </p:txBody>
      </p:sp>
      <p:sp>
        <p:nvSpPr>
          <p:cNvPr id="9011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D6C0F3D5-B596-4607-AE51-3232A7680696}" type="slidenum">
              <a:rPr lang="en-US" altLang="en-US" sz="1200">
                <a:solidFill>
                  <a:schemeClr val="accent1"/>
                </a:solidFill>
              </a:rPr>
              <a:pPr>
                <a:lnSpc>
                  <a:spcPct val="80000"/>
                </a:lnSpc>
              </a:pPr>
              <a:t>46</a:t>
            </a:fld>
            <a:endParaRPr lang="en-US" altLang="en-US" sz="1200">
              <a:solidFill>
                <a:schemeClr val="accent1"/>
              </a:solidFill>
            </a:endParaRPr>
          </a:p>
        </p:txBody>
      </p:sp>
      <p:sp>
        <p:nvSpPr>
          <p:cNvPr id="27651" name="Rectangle 1"/>
          <p:cNvSpPr>
            <a:spLocks noChangeArrowheads="1"/>
          </p:cNvSpPr>
          <p:nvPr/>
        </p:nvSpPr>
        <p:spPr bwMode="auto">
          <a:xfrm>
            <a:off x="174625" y="1249362"/>
            <a:ext cx="82296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buFont typeface="Wingdings" pitchFamily="2" charset="2"/>
              <a:buNone/>
            </a:pPr>
            <a:r>
              <a:rPr lang="en-US" altLang="en-US" sz="2000" dirty="0">
                <a:solidFill>
                  <a:srgbClr val="000000"/>
                </a:solidFill>
              </a:rPr>
              <a:t>The probability of a Type I error is the probability of rejecting </a:t>
            </a:r>
            <a:r>
              <a:rPr lang="en-US" altLang="en-US" sz="2000" i="1" dirty="0">
                <a:solidFill>
                  <a:srgbClr val="000000"/>
                </a:solidFill>
              </a:rPr>
              <a:t>H</a:t>
            </a:r>
            <a:r>
              <a:rPr lang="en-US" altLang="en-US" sz="2000" baseline="-25000" dirty="0">
                <a:solidFill>
                  <a:srgbClr val="000000"/>
                </a:solidFill>
              </a:rPr>
              <a:t>0</a:t>
            </a:r>
            <a:r>
              <a:rPr lang="en-US" altLang="en-US" sz="2000" i="1" dirty="0">
                <a:solidFill>
                  <a:srgbClr val="000000"/>
                </a:solidFill>
              </a:rPr>
              <a:t> </a:t>
            </a:r>
            <a:r>
              <a:rPr lang="en-US" altLang="en-US" sz="2000" dirty="0">
                <a:solidFill>
                  <a:srgbClr val="000000"/>
                </a:solidFill>
              </a:rPr>
              <a:t>when it really is true. This is exactly the significance level of the test.</a:t>
            </a:r>
          </a:p>
        </p:txBody>
      </p:sp>
      <p:sp>
        <p:nvSpPr>
          <p:cNvPr id="11" name="TextBox 10"/>
          <p:cNvSpPr txBox="1">
            <a:spLocks noChangeArrowheads="1"/>
          </p:cNvSpPr>
          <p:nvPr/>
        </p:nvSpPr>
        <p:spPr bwMode="auto">
          <a:xfrm>
            <a:off x="280195" y="2200276"/>
            <a:ext cx="8229599" cy="1785104"/>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just" eaLnBrk="1" hangingPunct="1">
              <a:spcAft>
                <a:spcPts val="1200"/>
              </a:spcAft>
              <a:defRPr/>
            </a:pPr>
            <a:r>
              <a:rPr lang="en-US" altLang="en-US" sz="2000" dirty="0">
                <a:solidFill>
                  <a:srgbClr val="000000"/>
                </a:solidFill>
              </a:rPr>
              <a:t>The </a:t>
            </a:r>
            <a:r>
              <a:rPr lang="en-US" altLang="en-US" sz="2000" b="1" dirty="0"/>
              <a:t>significance level </a:t>
            </a:r>
            <a:r>
              <a:rPr lang="en-US" altLang="ja-JP" sz="2000" b="1" i="1" dirty="0">
                <a:latin typeface="Symbol" pitchFamily="-65" charset="2"/>
                <a:sym typeface="Symbol" pitchFamily="-65" charset="2"/>
              </a:rPr>
              <a:t></a:t>
            </a:r>
            <a:r>
              <a:rPr lang="en-US" altLang="en-US" sz="2000" b="1" dirty="0"/>
              <a:t> of any fixed-level test </a:t>
            </a:r>
            <a:r>
              <a:rPr lang="en-US" altLang="en-US" sz="2000" dirty="0">
                <a:solidFill>
                  <a:srgbClr val="000000"/>
                </a:solidFill>
              </a:rPr>
              <a:t>is the probability of a Type I error. That is, </a:t>
            </a:r>
            <a:r>
              <a:rPr lang="en-US" altLang="ja-JP" sz="2000" i="1" dirty="0">
                <a:solidFill>
                  <a:srgbClr val="000000"/>
                </a:solidFill>
                <a:latin typeface="Symbol" pitchFamily="-65" charset="2"/>
                <a:sym typeface="Symbol" pitchFamily="-65" charset="2"/>
              </a:rPr>
              <a:t></a:t>
            </a:r>
            <a:r>
              <a:rPr lang="en-US" altLang="en-US" sz="2000" dirty="0">
                <a:solidFill>
                  <a:srgbClr val="000000"/>
                </a:solidFill>
              </a:rPr>
              <a:t> is the probability that the test will reject the null hypothesis </a:t>
            </a:r>
            <a:r>
              <a:rPr lang="en-US" altLang="en-US" sz="2000" i="1" dirty="0">
                <a:solidFill>
                  <a:srgbClr val="000000"/>
                </a:solidFill>
              </a:rPr>
              <a:t>H</a:t>
            </a:r>
            <a:r>
              <a:rPr lang="en-US" altLang="en-US" sz="2000" baseline="-25000" dirty="0">
                <a:solidFill>
                  <a:srgbClr val="000000"/>
                </a:solidFill>
              </a:rPr>
              <a:t>0</a:t>
            </a:r>
            <a:r>
              <a:rPr lang="en-US" altLang="en-US" sz="2000" dirty="0">
                <a:solidFill>
                  <a:srgbClr val="000000"/>
                </a:solidFill>
              </a:rPr>
              <a:t> when </a:t>
            </a:r>
            <a:r>
              <a:rPr lang="en-US" altLang="en-US" sz="2000" i="1" dirty="0">
                <a:solidFill>
                  <a:srgbClr val="000000"/>
                </a:solidFill>
              </a:rPr>
              <a:t>H</a:t>
            </a:r>
            <a:r>
              <a:rPr lang="en-US" altLang="en-US" sz="2000" baseline="-25000" dirty="0">
                <a:solidFill>
                  <a:srgbClr val="000000"/>
                </a:solidFill>
              </a:rPr>
              <a:t>0</a:t>
            </a:r>
            <a:r>
              <a:rPr lang="en-US" altLang="en-US" sz="2000" i="1" dirty="0">
                <a:solidFill>
                  <a:srgbClr val="000000"/>
                </a:solidFill>
              </a:rPr>
              <a:t> </a:t>
            </a:r>
            <a:r>
              <a:rPr lang="en-US" altLang="en-US" sz="2000" dirty="0">
                <a:solidFill>
                  <a:srgbClr val="000000"/>
                </a:solidFill>
              </a:rPr>
              <a:t>is in fact true. </a:t>
            </a:r>
          </a:p>
          <a:p>
            <a:pPr algn="just" eaLnBrk="1" hangingPunct="1">
              <a:spcAft>
                <a:spcPts val="1200"/>
              </a:spcAft>
              <a:defRPr/>
            </a:pPr>
            <a:r>
              <a:rPr lang="en-US" altLang="en-US" sz="2000" dirty="0">
                <a:solidFill>
                  <a:srgbClr val="000000"/>
                </a:solidFill>
              </a:rPr>
              <a:t>Consider the consequences of a Type I error before choosing a significance level.</a:t>
            </a:r>
          </a:p>
        </p:txBody>
      </p:sp>
      <p:sp>
        <p:nvSpPr>
          <p:cNvPr id="69637" name="Rectangle 1"/>
          <p:cNvSpPr>
            <a:spLocks noChangeArrowheads="1"/>
          </p:cNvSpPr>
          <p:nvPr/>
        </p:nvSpPr>
        <p:spPr bwMode="auto">
          <a:xfrm>
            <a:off x="280195" y="4236361"/>
            <a:ext cx="8229600" cy="2246769"/>
          </a:xfrm>
          <a:prstGeom prst="rect">
            <a:avLst/>
          </a:prstGeom>
          <a:solidFill>
            <a:srgbClr val="FFD780"/>
          </a:solidFill>
          <a:ln>
            <a:noFill/>
          </a:ln>
        </p:spPr>
        <p:txBody>
          <a:bodyPr wrap="square">
            <a:spAutoFit/>
          </a:bodyPr>
          <a:lstStyle/>
          <a:p>
            <a:pPr algn="just" eaLnBrk="1" hangingPunct="1"/>
            <a:r>
              <a:rPr lang="en-US" altLang="en-US" sz="2000" dirty="0"/>
              <a:t>A significance test makes a Type II error when it fails to reject a null hypothesis that really is false. There are many values of the parameter that satisfy the alternative hypothesis. We can calculate the probability that a test </a:t>
            </a:r>
            <a:r>
              <a:rPr lang="en-US" altLang="en-US" sz="2000" i="1" dirty="0"/>
              <a:t>does</a:t>
            </a:r>
            <a:r>
              <a:rPr lang="en-US" altLang="en-US" sz="2000" dirty="0"/>
              <a:t> reject </a:t>
            </a:r>
            <a:r>
              <a:rPr lang="en-US" altLang="en-US" sz="2000" i="1" dirty="0"/>
              <a:t>H</a:t>
            </a:r>
            <a:r>
              <a:rPr lang="en-US" altLang="en-US" sz="2000" baseline="-25000" dirty="0"/>
              <a:t>0</a:t>
            </a:r>
            <a:r>
              <a:rPr lang="en-US" altLang="en-US" sz="2000" i="1" dirty="0"/>
              <a:t> </a:t>
            </a:r>
            <a:r>
              <a:rPr lang="en-US" altLang="en-US" sz="2000" dirty="0"/>
              <a:t>when any </a:t>
            </a:r>
            <a:r>
              <a:rPr lang="en-US" altLang="en-US" sz="2000" i="1" dirty="0"/>
              <a:t>specific</a:t>
            </a:r>
            <a:r>
              <a:rPr lang="en-US" altLang="en-US" sz="2000" dirty="0"/>
              <a:t> alternative is true. </a:t>
            </a:r>
          </a:p>
          <a:p>
            <a:pPr algn="just" eaLnBrk="1" hangingPunct="1"/>
            <a:endParaRPr lang="en-US" altLang="en-US" sz="2000" dirty="0"/>
          </a:p>
          <a:p>
            <a:pPr algn="just" eaLnBrk="1" hangingPunct="1"/>
            <a:r>
              <a:rPr lang="en-US" altLang="en-US" sz="2000" dirty="0"/>
              <a:t>This probability is called the </a:t>
            </a:r>
            <a:r>
              <a:rPr lang="en-US" altLang="en-US" sz="2000" b="1" dirty="0">
                <a:solidFill>
                  <a:srgbClr val="C00000"/>
                </a:solidFill>
              </a:rPr>
              <a:t>power</a:t>
            </a:r>
            <a:r>
              <a:rPr lang="en-US" altLang="en-US" sz="2000" b="1" dirty="0"/>
              <a:t> </a:t>
            </a:r>
            <a:r>
              <a:rPr lang="en-US" altLang="en-US" sz="2000" dirty="0"/>
              <a:t>of the test against that specific alternative.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Effect transition="in" filter="fade">
                                      <p:cBhvr>
                                        <p:cTn id="7" dur="500"/>
                                        <p:tgtEl>
                                          <p:spTgt spid="276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ppt_x"/>
                                          </p:val>
                                        </p:tav>
                                        <p:tav tm="100000">
                                          <p:val>
                                            <p:strVal val="#ppt_x"/>
                                          </p:val>
                                        </p:tav>
                                      </p:tavLst>
                                    </p:anim>
                                    <p:anim calcmode="lin" valueType="num">
                                      <p:cBhvr additive="base">
                                        <p:cTn id="13" dur="500" fill="hold"/>
                                        <p:tgtEl>
                                          <p:spTgt spid="11"/>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69637"/>
                                        </p:tgtEl>
                                        <p:attrNameLst>
                                          <p:attrName>style.visibility</p:attrName>
                                        </p:attrNameLst>
                                      </p:cBhvr>
                                      <p:to>
                                        <p:strVal val="visible"/>
                                      </p:to>
                                    </p:set>
                                    <p:animEffect transition="in" filter="fade">
                                      <p:cBhvr>
                                        <p:cTn id="17" dur="500"/>
                                        <p:tgtEl>
                                          <p:spTgt spid="696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P spid="11" grpId="0" animBg="1"/>
      <p:bldP spid="69637" grpId="0" animBg="1"/>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itle 2"/>
          <p:cNvSpPr>
            <a:spLocks noGrp="1"/>
          </p:cNvSpPr>
          <p:nvPr>
            <p:ph type="title"/>
          </p:nvPr>
        </p:nvSpPr>
        <p:spPr>
          <a:xfrm>
            <a:off x="174625" y="76517"/>
            <a:ext cx="7772400" cy="772639"/>
          </a:xfrm>
        </p:spPr>
        <p:txBody>
          <a:bodyPr/>
          <a:lstStyle/>
          <a:p>
            <a:r>
              <a:rPr lang="en-US" altLang="en-US" dirty="0"/>
              <a:t>Power 3</a:t>
            </a:r>
            <a:endParaRPr lang="en-US" dirty="0"/>
          </a:p>
        </p:txBody>
      </p:sp>
      <p:sp>
        <p:nvSpPr>
          <p:cNvPr id="9113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284A96E5-0F88-4286-80DF-C25067D8964D}" type="slidenum">
              <a:rPr lang="en-US" altLang="en-US" sz="1200">
                <a:solidFill>
                  <a:schemeClr val="accent1"/>
                </a:solidFill>
              </a:rPr>
              <a:pPr>
                <a:lnSpc>
                  <a:spcPct val="80000"/>
                </a:lnSpc>
              </a:pPr>
              <a:t>47</a:t>
            </a:fld>
            <a:endParaRPr lang="en-US" altLang="en-US" sz="1200">
              <a:solidFill>
                <a:schemeClr val="accent1"/>
              </a:solidFill>
            </a:endParaRPr>
          </a:p>
        </p:txBody>
      </p:sp>
      <p:sp>
        <p:nvSpPr>
          <p:cNvPr id="91139" name="Rectangle 2"/>
          <p:cNvSpPr>
            <a:spLocks noChangeArrowheads="1"/>
          </p:cNvSpPr>
          <p:nvPr/>
        </p:nvSpPr>
        <p:spPr bwMode="auto">
          <a:xfrm>
            <a:off x="116682" y="985422"/>
            <a:ext cx="882967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buFont typeface="Wingdings" pitchFamily="2" charset="2"/>
              <a:buNone/>
            </a:pPr>
            <a:r>
              <a:rPr lang="en-US" altLang="en-US" sz="2000" b="1" dirty="0">
                <a:solidFill>
                  <a:srgbClr val="000000"/>
                </a:solidFill>
              </a:rPr>
              <a:t>Example:  </a:t>
            </a:r>
            <a:r>
              <a:rPr lang="en-US" altLang="en-US" sz="2000" dirty="0">
                <a:solidFill>
                  <a:srgbClr val="000000"/>
                </a:solidFill>
              </a:rPr>
              <a:t>A potato chip producer wonders whether the significance test of </a:t>
            </a:r>
            <a:r>
              <a:rPr lang="en-US" altLang="en-US" sz="2000" i="1" dirty="0">
                <a:solidFill>
                  <a:srgbClr val="000000"/>
                </a:solidFill>
              </a:rPr>
              <a:t>H</a:t>
            </a:r>
            <a:r>
              <a:rPr lang="en-US" altLang="en-US" sz="2000" baseline="-25000" dirty="0">
                <a:solidFill>
                  <a:srgbClr val="000000"/>
                </a:solidFill>
              </a:rPr>
              <a:t>0</a:t>
            </a:r>
            <a:r>
              <a:rPr lang="en-US" altLang="en-US" sz="2000" dirty="0">
                <a:solidFill>
                  <a:srgbClr val="000000"/>
                </a:solidFill>
              </a:rPr>
              <a:t>: </a:t>
            </a:r>
            <a:r>
              <a:rPr lang="en-US" altLang="en-US" sz="2000" i="1" dirty="0">
                <a:solidFill>
                  <a:srgbClr val="000000"/>
                </a:solidFill>
              </a:rPr>
              <a:t>p </a:t>
            </a:r>
            <a:r>
              <a:rPr lang="en-US" altLang="en-US" sz="2000" dirty="0">
                <a:solidFill>
                  <a:srgbClr val="000000"/>
                </a:solidFill>
              </a:rPr>
              <a:t>= 0.08 versus </a:t>
            </a:r>
            <a:r>
              <a:rPr lang="en-US" altLang="en-US" sz="2000" i="1" dirty="0">
                <a:solidFill>
                  <a:srgbClr val="000000"/>
                </a:solidFill>
              </a:rPr>
              <a:t>H</a:t>
            </a:r>
            <a:r>
              <a:rPr lang="en-US" altLang="en-US" sz="2000" baseline="-25000" dirty="0">
                <a:solidFill>
                  <a:srgbClr val="000000"/>
                </a:solidFill>
              </a:rPr>
              <a:t>a</a:t>
            </a:r>
            <a:r>
              <a:rPr lang="en-US" altLang="en-US" sz="2000" dirty="0">
                <a:solidFill>
                  <a:srgbClr val="000000"/>
                </a:solidFill>
              </a:rPr>
              <a:t>: </a:t>
            </a:r>
            <a:r>
              <a:rPr lang="en-US" altLang="en-US" sz="2000" i="1" dirty="0">
                <a:solidFill>
                  <a:srgbClr val="000000"/>
                </a:solidFill>
              </a:rPr>
              <a:t>p </a:t>
            </a:r>
            <a:r>
              <a:rPr lang="en-US" altLang="en-US" sz="2000" dirty="0">
                <a:solidFill>
                  <a:srgbClr val="000000"/>
                </a:solidFill>
              </a:rPr>
              <a:t>&gt; 0.08 based on a random sample of 500 potatoes has enough power to detect a shipment with, say, 11% blemished potatoes. </a:t>
            </a:r>
          </a:p>
        </p:txBody>
      </p:sp>
      <p:pic>
        <p:nvPicPr>
          <p:cNvPr id="22" name="Picture 21" descr="A normal distribution curve rises and falls across a horizontal axis representing values of p hat. The curve represents a sampling distribution of p hat if H sub 0 is false and p = 0.11 is true. If H sub 0 is false, a decision to reject H sub 0 based on the data is a type 2 error. The curve has a mean of 0.1100 and standard deviations marked in intervals of 0.0140. A value is marked to the left of mean at p hat = 0.0999. The area under the curve to the right of is shaded, representing 0.7635, the power of the test to detect that p = 0.11. The area to the right represents P of type 2 error = 1 minus 0.7635, = 0.2365."/>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807849" y="2159749"/>
            <a:ext cx="7487047" cy="383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Rectangle 22"/>
          <p:cNvSpPr/>
          <p:nvPr/>
        </p:nvSpPr>
        <p:spPr>
          <a:xfrm>
            <a:off x="187325" y="2159749"/>
            <a:ext cx="2474913" cy="40005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a:spAutoFit/>
          </a:bodyPr>
          <a:lstStyle/>
          <a:p>
            <a:pPr eaLnBrk="1" hangingPunct="1">
              <a:defRPr/>
            </a:pPr>
            <a:r>
              <a:rPr lang="en-US" sz="2000" b="1" dirty="0">
                <a:solidFill>
                  <a:schemeClr val="bg1"/>
                </a:solidFill>
              </a:rPr>
              <a:t>What if </a:t>
            </a:r>
            <a:r>
              <a:rPr lang="en-US" sz="2000" b="1" i="1" dirty="0" err="1">
                <a:solidFill>
                  <a:schemeClr val="bg1"/>
                </a:solidFill>
              </a:rPr>
              <a:t>p</a:t>
            </a:r>
            <a:r>
              <a:rPr lang="en-US" sz="2000" b="1" dirty="0">
                <a:solidFill>
                  <a:schemeClr val="bg1"/>
                </a:solidFill>
              </a:rPr>
              <a:t> = 0.11?</a:t>
            </a:r>
          </a:p>
        </p:txBody>
      </p:sp>
      <p:sp>
        <p:nvSpPr>
          <p:cNvPr id="24" name="Rectangle 23"/>
          <p:cNvSpPr/>
          <p:nvPr/>
        </p:nvSpPr>
        <p:spPr>
          <a:xfrm>
            <a:off x="6007894" y="5855025"/>
            <a:ext cx="2938462" cy="95408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r>
              <a:rPr lang="en-US" altLang="en-US" sz="1400" dirty="0">
                <a:solidFill>
                  <a:srgbClr val="000000"/>
                </a:solidFill>
              </a:rPr>
              <a:t>Because we reject </a:t>
            </a:r>
            <a:r>
              <a:rPr lang="en-US" altLang="en-US" sz="1400" i="1" dirty="0">
                <a:solidFill>
                  <a:srgbClr val="000000"/>
                </a:solidFill>
              </a:rPr>
              <a:t>H</a:t>
            </a:r>
            <a:r>
              <a:rPr lang="en-US" altLang="en-US" sz="1400" baseline="-25000" dirty="0">
                <a:solidFill>
                  <a:srgbClr val="000000"/>
                </a:solidFill>
              </a:rPr>
              <a:t>0</a:t>
            </a:r>
            <a:r>
              <a:rPr lang="en-US" altLang="en-US" sz="1400" i="1" dirty="0">
                <a:solidFill>
                  <a:srgbClr val="000000"/>
                </a:solidFill>
              </a:rPr>
              <a:t> </a:t>
            </a:r>
            <a:r>
              <a:rPr lang="en-US" altLang="en-US" sz="1400" dirty="0">
                <a:solidFill>
                  <a:srgbClr val="000000"/>
                </a:solidFill>
              </a:rPr>
              <a:t>at </a:t>
            </a:r>
            <a:r>
              <a:rPr lang="en-US" altLang="ja-JP" sz="1400" i="1" dirty="0">
                <a:solidFill>
                  <a:srgbClr val="000000"/>
                </a:solidFill>
                <a:latin typeface="Symbol" charset="2"/>
                <a:sym typeface="Symbol" charset="2"/>
              </a:rPr>
              <a:t></a:t>
            </a:r>
            <a:r>
              <a:rPr lang="en-US" altLang="en-US" sz="1400" i="1" dirty="0">
                <a:solidFill>
                  <a:srgbClr val="000000"/>
                </a:solidFill>
              </a:rPr>
              <a:t> </a:t>
            </a:r>
            <a:r>
              <a:rPr lang="en-US" altLang="en-US" sz="1400" dirty="0">
                <a:solidFill>
                  <a:srgbClr val="000000"/>
                </a:solidFill>
              </a:rPr>
              <a:t>= 0.05 if our sample yields a proportion &gt; 0.0999, we</a:t>
            </a:r>
            <a:r>
              <a:rPr lang="en-US" altLang="ja-JP" sz="1400" dirty="0">
                <a:solidFill>
                  <a:srgbClr val="000000"/>
                </a:solidFill>
              </a:rPr>
              <a:t>’d correctly reject the shipment about 76% of the time.</a:t>
            </a:r>
            <a:endParaRPr lang="en-US" altLang="en-US" sz="1400" dirty="0">
              <a:solidFill>
                <a:srgbClr val="000000"/>
              </a:solidFill>
            </a:endParaRPr>
          </a:p>
        </p:txBody>
      </p:sp>
      <p:grpSp>
        <p:nvGrpSpPr>
          <p:cNvPr id="2" name="Group 9" descr="already described"/>
          <p:cNvGrpSpPr>
            <a:grpSpLocks/>
          </p:cNvGrpSpPr>
          <p:nvPr/>
        </p:nvGrpSpPr>
        <p:grpSpPr bwMode="auto">
          <a:xfrm>
            <a:off x="187325" y="5701206"/>
            <a:ext cx="3562350" cy="1055688"/>
            <a:chOff x="422536" y="2946400"/>
            <a:chExt cx="7093949" cy="1056679"/>
          </a:xfrm>
        </p:grpSpPr>
        <p:sp>
          <p:nvSpPr>
            <p:cNvPr id="26" name="TextBox 25"/>
            <p:cNvSpPr txBox="1">
              <a:spLocks noChangeArrowheads="1"/>
            </p:cNvSpPr>
            <p:nvPr/>
          </p:nvSpPr>
          <p:spPr bwMode="auto">
            <a:xfrm>
              <a:off x="422536" y="3264198"/>
              <a:ext cx="7093949" cy="738881"/>
            </a:xfrm>
            <a:prstGeom prst="rect">
              <a:avLst/>
            </a:prstGeom>
            <a:solidFill>
              <a:srgbClr val="FAEDB8"/>
            </a:solidFill>
            <a:ln w="10000">
              <a:solidFill>
                <a:srgbClr val="B88472"/>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1200"/>
                </a:spcAft>
                <a:buClrTx/>
                <a:buSzTx/>
                <a:buFontTx/>
                <a:buNone/>
                <a:defRPr/>
              </a:pPr>
              <a:r>
                <a:rPr lang="en-US" altLang="en-US" sz="1400" dirty="0">
                  <a:solidFill>
                    <a:srgbClr val="000000"/>
                  </a:solidFill>
                </a:rPr>
                <a:t>The power of a test against any alternative is 1 minus the probability of a Type II error for that alternative; that is, power = 1 – </a:t>
              </a:r>
              <a:r>
                <a:rPr lang="en-US" altLang="en-US" sz="1400" i="1" dirty="0">
                  <a:solidFill>
                    <a:srgbClr val="000000"/>
                  </a:solidFill>
                </a:rPr>
                <a:t>β</a:t>
              </a:r>
              <a:r>
                <a:rPr lang="en-US" altLang="en-US" sz="1400" dirty="0">
                  <a:solidFill>
                    <a:srgbClr val="000000"/>
                  </a:solidFill>
                </a:rPr>
                <a:t>.</a:t>
              </a:r>
            </a:p>
          </p:txBody>
        </p:sp>
        <p:sp>
          <p:nvSpPr>
            <p:cNvPr id="27" name="TextBox 26"/>
            <p:cNvSpPr txBox="1"/>
            <p:nvPr/>
          </p:nvSpPr>
          <p:spPr bwMode="auto">
            <a:xfrm>
              <a:off x="1887912" y="2946400"/>
              <a:ext cx="4659704" cy="307927"/>
            </a:xfrm>
            <a:prstGeom prst="rect">
              <a:avLst/>
            </a:prstGeom>
            <a:solidFill>
              <a:schemeClr val="tx2"/>
            </a:solidFill>
          </p:spPr>
          <p:style>
            <a:lnRef idx="0">
              <a:schemeClr val="accent6"/>
            </a:lnRef>
            <a:fillRef idx="3">
              <a:schemeClr val="accent6"/>
            </a:fillRef>
            <a:effectRef idx="3">
              <a:schemeClr val="accent6"/>
            </a:effectRef>
            <a:fontRef idx="minor">
              <a:schemeClr val="lt1"/>
            </a:fontRef>
          </p:style>
          <p:txBody>
            <a:bodyPr>
              <a:spAutoFit/>
            </a:bodyPr>
            <a:lstStyle/>
            <a:p>
              <a:pPr algn="ctr" eaLnBrk="1" hangingPunct="1">
                <a:defRPr/>
              </a:pPr>
              <a:r>
                <a:rPr lang="en-US" sz="1400" b="1" dirty="0">
                  <a:solidFill>
                    <a:srgbClr val="FFFFFF"/>
                  </a:solidFill>
                  <a:ea typeface="ＭＳ Ｐゴシック" charset="-128"/>
                  <a:cs typeface="ＭＳ Ｐゴシック" charset="-128"/>
                </a:rPr>
                <a:t>Power and Type II Error</a:t>
              </a:r>
            </a:p>
          </p:txBody>
        </p:sp>
      </p:grpSp>
      <p:sp>
        <p:nvSpPr>
          <p:cNvPr id="18" name="Rectangle 17"/>
          <p:cNvSpPr/>
          <p:nvPr/>
        </p:nvSpPr>
        <p:spPr>
          <a:xfrm>
            <a:off x="7524958" y="3709988"/>
            <a:ext cx="1539875" cy="1600200"/>
          </a:xfrm>
          <a:prstGeom prst="rect">
            <a:avLst/>
          </a:prstGeom>
          <a:solidFill>
            <a:schemeClr val="accent4">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r>
              <a:rPr lang="en-US" altLang="en-US" sz="1400" dirty="0">
                <a:solidFill>
                  <a:schemeClr val="bg1">
                    <a:lumMod val="95000"/>
                  </a:schemeClr>
                </a:solidFill>
              </a:rPr>
              <a:t>We would reject </a:t>
            </a:r>
            <a:r>
              <a:rPr lang="en-US" altLang="en-US" sz="1400" i="1" dirty="0">
                <a:solidFill>
                  <a:schemeClr val="bg1">
                    <a:lumMod val="95000"/>
                  </a:schemeClr>
                </a:solidFill>
              </a:rPr>
              <a:t>H</a:t>
            </a:r>
            <a:r>
              <a:rPr lang="en-US" altLang="en-US" sz="1400" i="1" baseline="-25000" dirty="0">
                <a:solidFill>
                  <a:schemeClr val="bg1">
                    <a:lumMod val="95000"/>
                  </a:schemeClr>
                </a:solidFill>
              </a:rPr>
              <a:t>0</a:t>
            </a:r>
            <a:r>
              <a:rPr lang="en-US" altLang="en-US" sz="1400" i="1" dirty="0">
                <a:solidFill>
                  <a:schemeClr val="bg1">
                    <a:lumMod val="95000"/>
                  </a:schemeClr>
                </a:solidFill>
              </a:rPr>
              <a:t> </a:t>
            </a:r>
            <a:r>
              <a:rPr lang="en-US" altLang="en-US" sz="1400" dirty="0">
                <a:solidFill>
                  <a:schemeClr val="bg1">
                    <a:lumMod val="95000"/>
                  </a:schemeClr>
                </a:solidFill>
              </a:rPr>
              <a:t>at </a:t>
            </a:r>
            <a:r>
              <a:rPr lang="en-US" altLang="en-US" sz="1400" i="1" dirty="0">
                <a:solidFill>
                  <a:schemeClr val="bg1">
                    <a:lumMod val="95000"/>
                  </a:schemeClr>
                </a:solidFill>
              </a:rPr>
              <a:t>α </a:t>
            </a:r>
            <a:r>
              <a:rPr lang="en-US" altLang="en-US" sz="1400" dirty="0">
                <a:solidFill>
                  <a:schemeClr val="bg1">
                    <a:lumMod val="95000"/>
                  </a:schemeClr>
                </a:solidFill>
              </a:rPr>
              <a:t>= 0.05 if our sample yielded a sample proportion to the right of the green line. </a:t>
            </a:r>
          </a:p>
        </p:txBody>
      </p:sp>
    </p:spTree>
    <p:extLst>
      <p:ext uri="{BB962C8B-B14F-4D97-AF65-F5344CB8AC3E}">
        <p14:creationId xmlns:p14="http://schemas.microsoft.com/office/powerpoint/2010/main" val="288899223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from="(-#ppt_w/2)" to="(#ppt_x)" calcmode="lin" valueType="num">
                                      <p:cBhvr>
                                        <p:cTn id="7" dur="600" fill="hold">
                                          <p:stCondLst>
                                            <p:cond delay="0"/>
                                          </p:stCondLst>
                                        </p:cTn>
                                        <p:tgtEl>
                                          <p:spTgt spid="18"/>
                                        </p:tgtEl>
                                        <p:attrNameLst>
                                          <p:attrName>ppt_x</p:attrName>
                                        </p:attrNameLst>
                                      </p:cBhvr>
                                    </p:anim>
                                    <p:anim from="0" to="-1.0" calcmode="lin" valueType="num">
                                      <p:cBhvr>
                                        <p:cTn id="8" dur="200" decel="50000" autoRev="1" fill="hold">
                                          <p:stCondLst>
                                            <p:cond delay="600"/>
                                          </p:stCondLst>
                                        </p:cTn>
                                        <p:tgtEl>
                                          <p:spTgt spid="18"/>
                                        </p:tgtEl>
                                        <p:attrNameLst>
                                          <p:attrName>xshear</p:attrName>
                                        </p:attrNameLst>
                                      </p:cBhvr>
                                    </p:anim>
                                    <p:animScale>
                                      <p:cBhvr>
                                        <p:cTn id="9" dur="200" decel="100000" autoRev="1" fill="hold">
                                          <p:stCondLst>
                                            <p:cond delay="600"/>
                                          </p:stCondLst>
                                        </p:cTn>
                                        <p:tgtEl>
                                          <p:spTgt spid="18"/>
                                        </p:tgtEl>
                                      </p:cBhvr>
                                      <p:from x="100000" y="100000"/>
                                      <p:to x="80000" y="100000"/>
                                    </p:animScale>
                                    <p:anim by="(#ppt_h/3+#ppt_w*0.1)" calcmode="lin" valueType="num">
                                      <p:cBhvr additive="sum">
                                        <p:cTn id="10" dur="200" decel="100000" autoRev="1" fill="hold">
                                          <p:stCondLst>
                                            <p:cond delay="600"/>
                                          </p:stCondLst>
                                        </p:cTn>
                                        <p:tgtEl>
                                          <p:spTgt spid="18"/>
                                        </p:tgtEl>
                                        <p:attrNameLst>
                                          <p:attrName>ppt_x</p:attrName>
                                        </p:attrNameLst>
                                      </p:cBhvr>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1000"/>
                                        <p:tgtEl>
                                          <p:spTgt spid="2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2" presetClass="entr" presetSubtype="4" fill="hold" nodeType="click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slide(fromBottom)">
                                      <p:cBhvr>
                                        <p:cTn id="20" dur="1000"/>
                                        <p:tgtEl>
                                          <p:spTgt spid="22"/>
                                        </p:tgtEl>
                                      </p:cBhvr>
                                    </p:animEffect>
                                  </p:childTnLst>
                                </p:cTn>
                              </p:par>
                              <p:par>
                                <p:cTn id="21" presetID="10" presetClass="exit" presetSubtype="0" fill="hold" grpId="1" nodeType="withEffect">
                                  <p:stCondLst>
                                    <p:cond delay="0"/>
                                  </p:stCondLst>
                                  <p:childTnLst>
                                    <p:animEffect transition="out" filter="fade">
                                      <p:cBhvr>
                                        <p:cTn id="22" dur="1000"/>
                                        <p:tgtEl>
                                          <p:spTgt spid="18"/>
                                        </p:tgtEl>
                                      </p:cBhvr>
                                    </p:animEffect>
                                    <p:set>
                                      <p:cBhvr>
                                        <p:cTn id="23" dur="1" fill="hold">
                                          <p:stCondLst>
                                            <p:cond delay="999"/>
                                          </p:stCondLst>
                                        </p:cTn>
                                        <p:tgtEl>
                                          <p:spTgt spid="18"/>
                                        </p:tgtEl>
                                        <p:attrNameLst>
                                          <p:attrName>style.visibility</p:attrName>
                                        </p:attrNameLst>
                                      </p:cBhvr>
                                      <p:to>
                                        <p:strVal val="hidden"/>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34" presetClass="entr" presetSubtype="0" fill="hold" grpId="0" nodeType="clickEffect">
                                  <p:stCondLst>
                                    <p:cond delay="0"/>
                                  </p:stCondLst>
                                  <p:childTnLst>
                                    <p:set>
                                      <p:cBhvr>
                                        <p:cTn id="27" dur="1" fill="hold">
                                          <p:stCondLst>
                                            <p:cond delay="0"/>
                                          </p:stCondLst>
                                        </p:cTn>
                                        <p:tgtEl>
                                          <p:spTgt spid="24"/>
                                        </p:tgtEl>
                                        <p:attrNameLst>
                                          <p:attrName>style.visibility</p:attrName>
                                        </p:attrNameLst>
                                      </p:cBhvr>
                                      <p:to>
                                        <p:strVal val="visible"/>
                                      </p:to>
                                    </p:set>
                                    <p:anim from="(-#ppt_w/2)" to="(#ppt_x)" calcmode="lin" valueType="num">
                                      <p:cBhvr>
                                        <p:cTn id="28" dur="600" fill="hold">
                                          <p:stCondLst>
                                            <p:cond delay="0"/>
                                          </p:stCondLst>
                                        </p:cTn>
                                        <p:tgtEl>
                                          <p:spTgt spid="24"/>
                                        </p:tgtEl>
                                        <p:attrNameLst>
                                          <p:attrName>ppt_x</p:attrName>
                                        </p:attrNameLst>
                                      </p:cBhvr>
                                    </p:anim>
                                    <p:anim from="0" to="-1.0" calcmode="lin" valueType="num">
                                      <p:cBhvr>
                                        <p:cTn id="29" dur="200" decel="50000" autoRev="1" fill="hold">
                                          <p:stCondLst>
                                            <p:cond delay="600"/>
                                          </p:stCondLst>
                                        </p:cTn>
                                        <p:tgtEl>
                                          <p:spTgt spid="24"/>
                                        </p:tgtEl>
                                        <p:attrNameLst>
                                          <p:attrName>xshear</p:attrName>
                                        </p:attrNameLst>
                                      </p:cBhvr>
                                    </p:anim>
                                    <p:animScale>
                                      <p:cBhvr>
                                        <p:cTn id="30" dur="200" decel="100000" autoRev="1" fill="hold">
                                          <p:stCondLst>
                                            <p:cond delay="600"/>
                                          </p:stCondLst>
                                        </p:cTn>
                                        <p:tgtEl>
                                          <p:spTgt spid="24"/>
                                        </p:tgtEl>
                                      </p:cBhvr>
                                      <p:from x="100000" y="100000"/>
                                      <p:to x="80000" y="100000"/>
                                    </p:animScale>
                                    <p:anim by="(#ppt_h/3+#ppt_w*0.1)" calcmode="lin" valueType="num">
                                      <p:cBhvr additive="sum">
                                        <p:cTn id="31" dur="200" decel="100000" autoRev="1" fill="hold">
                                          <p:stCondLst>
                                            <p:cond delay="600"/>
                                          </p:stCondLst>
                                        </p:cTn>
                                        <p:tgtEl>
                                          <p:spTgt spid="24"/>
                                        </p:tgtEl>
                                        <p:attrNameLst>
                                          <p:attrName>ppt_x</p:attrName>
                                        </p:attrNameLst>
                                      </p:cBhvr>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10" presetClass="entr" presetSubtype="0" fill="hold"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fade">
                                      <p:cBhvr>
                                        <p:cTn id="36"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18" grpId="0" animBg="1"/>
      <p:bldP spid="18" grpId="1" animBg="1"/>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Increasing the Power</a:t>
            </a:r>
            <a:endParaRPr lang="en-US" dirty="0"/>
          </a:p>
        </p:txBody>
      </p:sp>
      <p:sp>
        <p:nvSpPr>
          <p:cNvPr id="9216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D645465C-0266-462E-ACCE-D5DC112AF377}" type="slidenum">
              <a:rPr lang="en-US" altLang="en-US" sz="1200">
                <a:solidFill>
                  <a:schemeClr val="accent1"/>
                </a:solidFill>
              </a:rPr>
              <a:pPr>
                <a:lnSpc>
                  <a:spcPct val="80000"/>
                </a:lnSpc>
              </a:pPr>
              <a:t>48</a:t>
            </a:fld>
            <a:endParaRPr lang="en-US" altLang="en-US" sz="1200">
              <a:solidFill>
                <a:schemeClr val="accent1"/>
              </a:solidFill>
            </a:endParaRPr>
          </a:p>
        </p:txBody>
      </p:sp>
      <p:sp>
        <p:nvSpPr>
          <p:cNvPr id="92163" name="Rectangle 1"/>
          <p:cNvSpPr>
            <a:spLocks noChangeArrowheads="1"/>
          </p:cNvSpPr>
          <p:nvPr/>
        </p:nvSpPr>
        <p:spPr bwMode="auto">
          <a:xfrm>
            <a:off x="191294" y="1136650"/>
            <a:ext cx="8571706"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buFont typeface="Wingdings" pitchFamily="2" charset="2"/>
              <a:buNone/>
            </a:pPr>
            <a:r>
              <a:rPr lang="en-US" altLang="en-US" sz="2000" dirty="0">
                <a:solidFill>
                  <a:srgbClr val="000000"/>
                </a:solidFill>
              </a:rPr>
              <a:t>Suppose we have performed a power calculation and found that the power is too small. There are four ways to increase power: </a:t>
            </a:r>
          </a:p>
        </p:txBody>
      </p:sp>
      <p:sp>
        <p:nvSpPr>
          <p:cNvPr id="17" name="Rectangle 16"/>
          <p:cNvSpPr>
            <a:spLocks noChangeArrowheads="1"/>
          </p:cNvSpPr>
          <p:nvPr/>
        </p:nvSpPr>
        <p:spPr bwMode="auto">
          <a:xfrm>
            <a:off x="191294" y="2052081"/>
            <a:ext cx="8443040" cy="3400931"/>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marL="457200" indent="-457200">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just" eaLnBrk="1" hangingPunct="1">
              <a:spcBef>
                <a:spcPct val="0"/>
              </a:spcBef>
              <a:spcAft>
                <a:spcPts val="600"/>
              </a:spcAft>
              <a:buSzTx/>
              <a:buFont typeface="Arial" panose="020B0604020202020204" pitchFamily="34" charset="0"/>
              <a:buAutoNum type="arabicPeriod"/>
              <a:defRPr/>
            </a:pPr>
            <a:r>
              <a:rPr lang="en-US" altLang="en-US" b="1" dirty="0">
                <a:solidFill>
                  <a:schemeClr val="tx1"/>
                </a:solidFill>
              </a:rPr>
              <a:t>Increase the significance level </a:t>
            </a:r>
            <a:r>
              <a:rPr lang="en-US" altLang="en-US" b="1" i="1" dirty="0">
                <a:solidFill>
                  <a:schemeClr val="tx1"/>
                </a:solidFill>
              </a:rPr>
              <a:t>α</a:t>
            </a:r>
            <a:r>
              <a:rPr lang="en-US" altLang="en-US" b="1" dirty="0">
                <a:solidFill>
                  <a:schemeClr val="tx1"/>
                </a:solidFill>
              </a:rPr>
              <a:t>. </a:t>
            </a:r>
            <a:r>
              <a:rPr lang="en-US" altLang="en-US" dirty="0">
                <a:solidFill>
                  <a:schemeClr val="tx1"/>
                </a:solidFill>
              </a:rPr>
              <a:t>It is more difficult to reject a null hypothesis with a larger </a:t>
            </a:r>
            <a:r>
              <a:rPr lang="en-US" altLang="en-US" i="1" dirty="0">
                <a:solidFill>
                  <a:schemeClr val="tx1"/>
                </a:solidFill>
              </a:rPr>
              <a:t>α </a:t>
            </a:r>
            <a:r>
              <a:rPr lang="en-US" altLang="en-US" dirty="0">
                <a:solidFill>
                  <a:schemeClr val="tx1"/>
                </a:solidFill>
              </a:rPr>
              <a:t>level.</a:t>
            </a:r>
            <a:endParaRPr lang="en-US" altLang="ja-JP" dirty="0">
              <a:solidFill>
                <a:schemeClr val="tx1"/>
              </a:solidFill>
            </a:endParaRPr>
          </a:p>
          <a:p>
            <a:pPr algn="just" eaLnBrk="1" hangingPunct="1">
              <a:spcBef>
                <a:spcPct val="0"/>
              </a:spcBef>
              <a:spcAft>
                <a:spcPts val="600"/>
              </a:spcAft>
              <a:buSzTx/>
              <a:buFont typeface="Arial" panose="020B0604020202020204" pitchFamily="34" charset="0"/>
              <a:buAutoNum type="arabicPeriod"/>
              <a:defRPr/>
            </a:pPr>
            <a:r>
              <a:rPr lang="en-US" altLang="en-US" b="1" dirty="0">
                <a:solidFill>
                  <a:schemeClr val="tx1"/>
                </a:solidFill>
              </a:rPr>
              <a:t>Consider another value for </a:t>
            </a:r>
            <a:r>
              <a:rPr lang="en-US" altLang="en-US" b="1" i="1" dirty="0">
                <a:solidFill>
                  <a:schemeClr val="tx1"/>
                </a:solidFill>
              </a:rPr>
              <a:t>μ</a:t>
            </a:r>
            <a:r>
              <a:rPr lang="en-US" altLang="en-US" b="1" dirty="0">
                <a:solidFill>
                  <a:schemeClr val="tx1"/>
                </a:solidFill>
              </a:rPr>
              <a:t> that is farther from the null value.</a:t>
            </a:r>
            <a:r>
              <a:rPr lang="en-US" altLang="en-US" dirty="0">
                <a:solidFill>
                  <a:schemeClr val="tx1"/>
                </a:solidFill>
              </a:rPr>
              <a:t> Values of </a:t>
            </a:r>
            <a:r>
              <a:rPr lang="en-US" altLang="en-US" i="1" dirty="0">
                <a:solidFill>
                  <a:schemeClr val="tx1"/>
                </a:solidFill>
              </a:rPr>
              <a:t>μ</a:t>
            </a:r>
            <a:r>
              <a:rPr lang="en-US" altLang="en-US" dirty="0">
                <a:solidFill>
                  <a:schemeClr val="tx1"/>
                </a:solidFill>
              </a:rPr>
              <a:t> that are farther from the hypothesized value are easier to detect.</a:t>
            </a:r>
            <a:endParaRPr lang="en-US" altLang="en-US" b="1" dirty="0">
              <a:solidFill>
                <a:schemeClr val="tx1"/>
              </a:solidFill>
            </a:endParaRPr>
          </a:p>
          <a:p>
            <a:pPr algn="just" eaLnBrk="1" hangingPunct="1">
              <a:spcBef>
                <a:spcPct val="0"/>
              </a:spcBef>
              <a:spcAft>
                <a:spcPts val="600"/>
              </a:spcAft>
              <a:buSzTx/>
              <a:buFont typeface="Arial" panose="020B0604020202020204" pitchFamily="34" charset="0"/>
              <a:buAutoNum type="arabicPeriod"/>
              <a:defRPr/>
            </a:pPr>
            <a:r>
              <a:rPr lang="en-US" altLang="en-US" b="1" dirty="0">
                <a:solidFill>
                  <a:schemeClr val="tx1"/>
                </a:solidFill>
              </a:rPr>
              <a:t>Increase the sample size. </a:t>
            </a:r>
            <a:r>
              <a:rPr lang="en-US" altLang="en-US" dirty="0">
                <a:solidFill>
                  <a:schemeClr val="tx1"/>
                </a:solidFill>
              </a:rPr>
              <a:t>More data will provide better information about the sample average, so we have a better chance of distinguishing values of </a:t>
            </a:r>
            <a:r>
              <a:rPr lang="en-US" altLang="en-US" i="1" dirty="0">
                <a:solidFill>
                  <a:schemeClr val="tx1"/>
                </a:solidFill>
              </a:rPr>
              <a:t>μ</a:t>
            </a:r>
            <a:r>
              <a:rPr lang="en-US" altLang="en-US" dirty="0">
                <a:solidFill>
                  <a:schemeClr val="tx1"/>
                </a:solidFill>
              </a:rPr>
              <a:t>.</a:t>
            </a:r>
            <a:endParaRPr lang="en-US" altLang="en-US" b="1" dirty="0">
              <a:solidFill>
                <a:schemeClr val="tx1"/>
              </a:solidFill>
            </a:endParaRPr>
          </a:p>
          <a:p>
            <a:pPr eaLnBrk="1" hangingPunct="1">
              <a:spcBef>
                <a:spcPct val="0"/>
              </a:spcBef>
              <a:spcAft>
                <a:spcPts val="600"/>
              </a:spcAft>
              <a:buSzTx/>
              <a:buFont typeface="Arial" panose="020B0604020202020204" pitchFamily="34" charset="0"/>
              <a:buAutoNum type="arabicPeriod"/>
              <a:defRPr/>
            </a:pPr>
            <a:r>
              <a:rPr lang="en-US" altLang="en-US" b="1" dirty="0">
                <a:solidFill>
                  <a:schemeClr val="tx1"/>
                </a:solidFill>
              </a:rPr>
              <a:t>Decrease </a:t>
            </a:r>
            <a:r>
              <a:rPr lang="en-US" altLang="en-US" b="1" i="1" dirty="0">
                <a:solidFill>
                  <a:schemeClr val="tx1"/>
                </a:solidFill>
              </a:rPr>
              <a:t>σ</a:t>
            </a:r>
            <a:r>
              <a:rPr lang="en-US" altLang="en-US" b="1" dirty="0">
                <a:solidFill>
                  <a:schemeClr val="tx1"/>
                </a:solidFill>
              </a:rPr>
              <a:t>. </a:t>
            </a:r>
            <a:r>
              <a:rPr lang="en-US" altLang="en-US" dirty="0">
                <a:solidFill>
                  <a:schemeClr val="tx1"/>
                </a:solidFill>
              </a:rPr>
              <a:t>Improving </a:t>
            </a:r>
            <a:r>
              <a:rPr lang="en-US" altLang="en-US" dirty="0">
                <a:solidFill>
                  <a:srgbClr val="000000"/>
                </a:solidFill>
              </a:rPr>
              <a:t>the measuring process and restricting attention to a subpopulation are possible ways to decrease </a:t>
            </a:r>
            <a:r>
              <a:rPr lang="en-US" altLang="en-US" i="1" dirty="0">
                <a:solidFill>
                  <a:srgbClr val="000000"/>
                </a:solidFill>
              </a:rPr>
              <a:t>σ</a:t>
            </a:r>
            <a:r>
              <a:rPr lang="en-US" altLang="en-US" dirty="0">
                <a:solidFill>
                  <a:srgbClr val="000000"/>
                </a:solidFill>
              </a:rPr>
              <a:t>.</a:t>
            </a:r>
            <a:endParaRPr lang="en-US" altLang="en-US" b="1" dirty="0">
              <a:solidFill>
                <a:srgbClr val="B14C0F"/>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bg/>
                                          </p:spTgt>
                                        </p:tgtEl>
                                        <p:attrNameLst>
                                          <p:attrName>style.visibility</p:attrName>
                                        </p:attrNameLst>
                                      </p:cBhvr>
                                      <p:to>
                                        <p:strVal val="visible"/>
                                      </p:to>
                                    </p:set>
                                    <p:animEffect transition="in" filter="fade">
                                      <p:cBhvr>
                                        <p:cTn id="7" dur="1000"/>
                                        <p:tgtEl>
                                          <p:spTgt spid="17">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xEl>
                                              <p:pRg st="0" end="0"/>
                                            </p:txEl>
                                          </p:spTgt>
                                        </p:tgtEl>
                                        <p:attrNameLst>
                                          <p:attrName>style.visibility</p:attrName>
                                        </p:attrNameLst>
                                      </p:cBhvr>
                                      <p:to>
                                        <p:strVal val="visible"/>
                                      </p:to>
                                    </p:set>
                                    <p:animEffect transition="in" filter="fade">
                                      <p:cBhvr>
                                        <p:cTn id="10" dur="1000"/>
                                        <p:tgtEl>
                                          <p:spTgt spid="17">
                                            <p:txEl>
                                              <p:pRg st="0" end="0"/>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
                                            <p:txEl>
                                              <p:pRg st="1" end="1"/>
                                            </p:txEl>
                                          </p:spTgt>
                                        </p:tgtEl>
                                        <p:attrNameLst>
                                          <p:attrName>style.visibility</p:attrName>
                                        </p:attrNameLst>
                                      </p:cBhvr>
                                      <p:to>
                                        <p:strVal val="visible"/>
                                      </p:to>
                                    </p:set>
                                    <p:animEffect transition="in" filter="fade">
                                      <p:cBhvr>
                                        <p:cTn id="15" dur="1000"/>
                                        <p:tgtEl>
                                          <p:spTgt spid="17">
                                            <p:txEl>
                                              <p:pRg st="1" end="1"/>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7">
                                            <p:txEl>
                                              <p:pRg st="2" end="2"/>
                                            </p:txEl>
                                          </p:spTgt>
                                        </p:tgtEl>
                                        <p:attrNameLst>
                                          <p:attrName>style.visibility</p:attrName>
                                        </p:attrNameLst>
                                      </p:cBhvr>
                                      <p:to>
                                        <p:strVal val="visible"/>
                                      </p:to>
                                    </p:set>
                                    <p:animEffect transition="in" filter="fade">
                                      <p:cBhvr>
                                        <p:cTn id="20" dur="1000"/>
                                        <p:tgtEl>
                                          <p:spTgt spid="17">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7">
                                            <p:txEl>
                                              <p:pRg st="3" end="3"/>
                                            </p:txEl>
                                          </p:spTgt>
                                        </p:tgtEl>
                                        <p:attrNameLst>
                                          <p:attrName>style.visibility</p:attrName>
                                        </p:attrNameLst>
                                      </p:cBhvr>
                                      <p:to>
                                        <p:strVal val="visible"/>
                                      </p:to>
                                    </p:set>
                                    <p:animEffect transition="in" filter="fade">
                                      <p:cBhvr>
                                        <p:cTn id="25" dur="1000"/>
                                        <p:tgtEl>
                                          <p:spTgt spid="1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bldLvl="5"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xfrm>
            <a:off x="174625" y="156604"/>
            <a:ext cx="7772400" cy="1143000"/>
          </a:xfrm>
        </p:spPr>
        <p:txBody>
          <a:bodyPr/>
          <a:lstStyle/>
          <a:p>
            <a:pPr eaLnBrk="1" hangingPunct="1"/>
            <a:r>
              <a:rPr lang="en-US" altLang="en-US" sz="3400" dirty="0">
                <a:ea typeface="ＭＳ Ｐゴシック" pitchFamily="34" charset="-128"/>
              </a:rPr>
              <a:t>The Common Practice of Testing Hypotheses</a:t>
            </a:r>
          </a:p>
        </p:txBody>
      </p:sp>
      <p:sp>
        <p:nvSpPr>
          <p:cNvPr id="93188"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26558E79-9EBA-4069-91F2-2A32021111C1}" type="slidenum">
              <a:rPr lang="en-US" altLang="en-US" sz="1400">
                <a:solidFill>
                  <a:schemeClr val="accent1"/>
                </a:solidFill>
              </a:rPr>
              <a:pPr/>
              <a:t>49</a:t>
            </a:fld>
            <a:endParaRPr lang="en-US" altLang="en-US" sz="1400">
              <a:solidFill>
                <a:schemeClr val="accent1"/>
              </a:solidFill>
            </a:endParaRPr>
          </a:p>
        </p:txBody>
      </p:sp>
      <p:sp>
        <p:nvSpPr>
          <p:cNvPr id="1296394" name="Rectangle 10"/>
          <p:cNvSpPr>
            <a:spLocks noGrp="1" noChangeArrowheads="1"/>
          </p:cNvSpPr>
          <p:nvPr>
            <p:ph type="body" idx="4294967295"/>
          </p:nvPr>
        </p:nvSpPr>
        <p:spPr>
          <a:xfrm>
            <a:off x="280194" y="1645976"/>
            <a:ext cx="8229600" cy="3210837"/>
          </a:xfrm>
          <a:solidFill>
            <a:srgbClr val="FFD780"/>
          </a:solidFill>
          <a:effectLst>
            <a:outerShdw blurRad="50800" dist="38100" dir="2700000" rotWithShape="0">
              <a:srgbClr val="000000">
                <a:alpha val="42998"/>
              </a:srgbClr>
            </a:outerShdw>
          </a:effectLst>
        </p:spPr>
        <p:txBody>
          <a:bodyPr/>
          <a:lstStyle/>
          <a:p>
            <a:pPr marL="457200" indent="-457200" algn="just" eaLnBrk="1" hangingPunct="1">
              <a:lnSpc>
                <a:spcPct val="140000"/>
              </a:lnSpc>
              <a:buClr>
                <a:schemeClr val="tx1"/>
              </a:buClr>
              <a:buFont typeface="Garamond" panose="02020404030301010803" pitchFamily="18" charset="0"/>
              <a:buAutoNum type="arabicPeriod"/>
              <a:defRPr/>
            </a:pPr>
            <a:r>
              <a:rPr lang="en-US" altLang="en-US" dirty="0">
                <a:solidFill>
                  <a:srgbClr val="000000"/>
                </a:solidFill>
                <a:ea typeface="ＭＳ Ｐゴシック" panose="020B0600070205080204" pitchFamily="34" charset="-128"/>
                <a:cs typeface="Times New Roman" panose="02020603050405020304" pitchFamily="18" charset="0"/>
              </a:rPr>
              <a:t>State </a:t>
            </a:r>
            <a:r>
              <a:rPr lang="en-US" altLang="en-US" i="1" dirty="0">
                <a:solidFill>
                  <a:srgbClr val="000000"/>
                </a:solidFill>
                <a:ea typeface="ＭＳ Ｐゴシック" panose="020B0600070205080204" pitchFamily="34" charset="-128"/>
                <a:cs typeface="Times New Roman" panose="02020603050405020304" pitchFamily="18" charset="0"/>
              </a:rPr>
              <a:t>H</a:t>
            </a:r>
            <a:r>
              <a:rPr lang="en-US" altLang="en-US" baseline="-25000" dirty="0">
                <a:solidFill>
                  <a:srgbClr val="000000"/>
                </a:solidFill>
                <a:ea typeface="ＭＳ Ｐゴシック" panose="020B0600070205080204" pitchFamily="34" charset="-128"/>
                <a:cs typeface="Times New Roman" panose="02020603050405020304" pitchFamily="18" charset="0"/>
              </a:rPr>
              <a:t>0</a:t>
            </a:r>
            <a:r>
              <a:rPr lang="en-US" altLang="en-US" i="1" dirty="0">
                <a:solidFill>
                  <a:srgbClr val="000000"/>
                </a:solidFill>
                <a:ea typeface="ＭＳ Ｐゴシック" panose="020B0600070205080204" pitchFamily="34" charset="-128"/>
                <a:cs typeface="Times New Roman" panose="02020603050405020304" pitchFamily="18" charset="0"/>
              </a:rPr>
              <a:t> </a:t>
            </a:r>
            <a:r>
              <a:rPr lang="en-US" altLang="en-US" dirty="0">
                <a:solidFill>
                  <a:srgbClr val="000000"/>
                </a:solidFill>
                <a:ea typeface="ＭＳ Ｐゴシック" panose="020B0600070205080204" pitchFamily="34" charset="-128"/>
                <a:cs typeface="Times New Roman" panose="02020603050405020304" pitchFamily="18" charset="0"/>
              </a:rPr>
              <a:t>and </a:t>
            </a:r>
            <a:r>
              <a:rPr lang="en-US" altLang="en-US" i="1" dirty="0">
                <a:solidFill>
                  <a:srgbClr val="000000"/>
                </a:solidFill>
                <a:ea typeface="ＭＳ Ｐゴシック" panose="020B0600070205080204" pitchFamily="34" charset="-128"/>
                <a:cs typeface="Times New Roman" panose="02020603050405020304" pitchFamily="18" charset="0"/>
              </a:rPr>
              <a:t>H</a:t>
            </a:r>
            <a:r>
              <a:rPr lang="en-US" altLang="en-US" baseline="-25000" dirty="0">
                <a:solidFill>
                  <a:srgbClr val="000000"/>
                </a:solidFill>
                <a:ea typeface="ＭＳ Ｐゴシック" panose="020B0600070205080204" pitchFamily="34" charset="-128"/>
                <a:cs typeface="Times New Roman" panose="02020603050405020304" pitchFamily="18" charset="0"/>
              </a:rPr>
              <a:t>a</a:t>
            </a:r>
            <a:r>
              <a:rPr lang="en-US" altLang="en-US" dirty="0">
                <a:solidFill>
                  <a:srgbClr val="000000"/>
                </a:solidFill>
                <a:ea typeface="ＭＳ Ｐゴシック" panose="020B0600070205080204" pitchFamily="34" charset="-128"/>
                <a:cs typeface="Times New Roman" panose="02020603050405020304" pitchFamily="18" charset="0"/>
              </a:rPr>
              <a:t> as in a test of significance.</a:t>
            </a:r>
            <a:endParaRPr lang="en-US" altLang="en-US" sz="1600" dirty="0">
              <a:solidFill>
                <a:srgbClr val="000000"/>
              </a:solidFill>
              <a:ea typeface="ＭＳ Ｐゴシック" panose="020B0600070205080204" pitchFamily="34" charset="-128"/>
              <a:cs typeface="Times New Roman" panose="02020603050405020304" pitchFamily="18" charset="0"/>
            </a:endParaRPr>
          </a:p>
          <a:p>
            <a:pPr marL="457200" indent="-457200" algn="just" eaLnBrk="1" hangingPunct="1">
              <a:buClr>
                <a:schemeClr val="tx1"/>
              </a:buClr>
              <a:buFont typeface="Garamond" panose="02020404030301010803" pitchFamily="18" charset="0"/>
              <a:buAutoNum type="arabicPeriod"/>
              <a:defRPr/>
            </a:pPr>
            <a:r>
              <a:rPr lang="en-US" altLang="en-US" dirty="0">
                <a:solidFill>
                  <a:srgbClr val="000000"/>
                </a:solidFill>
                <a:ea typeface="ＭＳ Ｐゴシック" panose="020B0600070205080204" pitchFamily="34" charset="-128"/>
                <a:cs typeface="Times New Roman" panose="02020603050405020304" pitchFamily="18" charset="0"/>
              </a:rPr>
              <a:t>Think of the problem as a decision problem, so the probabilities of Type I and Type II errors are relevant.</a:t>
            </a:r>
            <a:endParaRPr lang="en-US" altLang="en-US" sz="1600" dirty="0">
              <a:solidFill>
                <a:srgbClr val="000000"/>
              </a:solidFill>
              <a:ea typeface="ＭＳ Ｐゴシック" panose="020B0600070205080204" pitchFamily="34" charset="-128"/>
              <a:cs typeface="Times New Roman" panose="02020603050405020304" pitchFamily="18" charset="0"/>
            </a:endParaRPr>
          </a:p>
          <a:p>
            <a:pPr marL="457200" indent="-457200" algn="just" eaLnBrk="1" hangingPunct="1">
              <a:buClr>
                <a:schemeClr val="tx1"/>
              </a:buClr>
              <a:buFont typeface="Garamond" panose="02020404030301010803" pitchFamily="18" charset="0"/>
              <a:buAutoNum type="arabicPeriod"/>
              <a:defRPr/>
            </a:pPr>
            <a:r>
              <a:rPr lang="en-US" altLang="en-US" dirty="0">
                <a:solidFill>
                  <a:srgbClr val="000000"/>
                </a:solidFill>
                <a:ea typeface="ＭＳ Ｐゴシック" panose="020B0600070205080204" pitchFamily="34" charset="-128"/>
                <a:cs typeface="Times New Roman" panose="02020603050405020304" pitchFamily="18" charset="0"/>
              </a:rPr>
              <a:t>Consider only tests in which the probability of a Type I error is no greater than a specified </a:t>
            </a:r>
            <a:r>
              <a:rPr lang="en-US" altLang="ja-JP" i="1" dirty="0">
                <a:solidFill>
                  <a:srgbClr val="000000"/>
                </a:solidFill>
                <a:latin typeface="Symbol" panose="05050102010706020507" pitchFamily="18" charset="2"/>
                <a:ea typeface="ＭＳ Ｐゴシック" panose="020B0600070205080204" pitchFamily="34" charset="-128"/>
                <a:sym typeface="Symbol" panose="05050102010706020507" pitchFamily="18" charset="2"/>
              </a:rPr>
              <a:t></a:t>
            </a:r>
            <a:r>
              <a:rPr lang="en-US" altLang="en-US" dirty="0">
                <a:solidFill>
                  <a:srgbClr val="000000"/>
                </a:solidFill>
                <a:ea typeface="ＭＳ Ｐゴシック" panose="020B0600070205080204" pitchFamily="34" charset="-128"/>
                <a:cs typeface="Times New Roman" panose="02020603050405020304" pitchFamily="18" charset="0"/>
              </a:rPr>
              <a:t>.</a:t>
            </a:r>
            <a:endParaRPr lang="en-US" altLang="en-US" sz="1600" dirty="0">
              <a:solidFill>
                <a:srgbClr val="000000"/>
              </a:solidFill>
              <a:ea typeface="ＭＳ Ｐゴシック" panose="020B0600070205080204" pitchFamily="34" charset="-128"/>
              <a:cs typeface="Times New Roman" panose="02020603050405020304" pitchFamily="18" charset="0"/>
            </a:endParaRPr>
          </a:p>
          <a:p>
            <a:pPr marL="457200" indent="-457200" algn="just" eaLnBrk="1" hangingPunct="1">
              <a:buClr>
                <a:schemeClr val="tx1"/>
              </a:buClr>
              <a:buFont typeface="Garamond" panose="02020404030301010803" pitchFamily="18" charset="0"/>
              <a:buAutoNum type="arabicPeriod"/>
              <a:defRPr/>
            </a:pPr>
            <a:r>
              <a:rPr lang="en-US" altLang="en-US" dirty="0">
                <a:solidFill>
                  <a:srgbClr val="000000"/>
                </a:solidFill>
                <a:ea typeface="ＭＳ Ｐゴシック" panose="020B0600070205080204" pitchFamily="34" charset="-128"/>
                <a:cs typeface="Times New Roman" panose="02020603050405020304" pitchFamily="18" charset="0"/>
              </a:rPr>
              <a:t>From among these tests, select a test that makes the probability of a Type II error as small as possible.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96394">
                                            <p:bg/>
                                          </p:spTgt>
                                        </p:tgtEl>
                                        <p:attrNameLst>
                                          <p:attrName>style.visibility</p:attrName>
                                        </p:attrNameLst>
                                      </p:cBhvr>
                                      <p:to>
                                        <p:strVal val="visible"/>
                                      </p:to>
                                    </p:set>
                                  </p:childTnLst>
                                </p:cTn>
                              </p:par>
                            </p:childTnLst>
                          </p:cTn>
                        </p:par>
                        <p:par>
                          <p:cTn id="7" fill="hold" nodeType="afterGroup">
                            <p:stCondLst>
                              <p:cond delay="0"/>
                            </p:stCondLst>
                            <p:childTnLst>
                              <p:par>
                                <p:cTn id="8" presetID="42" presetClass="entr" presetSubtype="0" fill="hold" grpId="0" nodeType="afterEffect">
                                  <p:stCondLst>
                                    <p:cond delay="0"/>
                                  </p:stCondLst>
                                  <p:childTnLst>
                                    <p:set>
                                      <p:cBhvr>
                                        <p:cTn id="9" dur="1" fill="hold">
                                          <p:stCondLst>
                                            <p:cond delay="0"/>
                                          </p:stCondLst>
                                        </p:cTn>
                                        <p:tgtEl>
                                          <p:spTgt spid="1296394">
                                            <p:txEl>
                                              <p:pRg st="0" end="0"/>
                                            </p:txEl>
                                          </p:spTgt>
                                        </p:tgtEl>
                                        <p:attrNameLst>
                                          <p:attrName>style.visibility</p:attrName>
                                        </p:attrNameLst>
                                      </p:cBhvr>
                                      <p:to>
                                        <p:strVal val="visible"/>
                                      </p:to>
                                    </p:set>
                                    <p:animEffect transition="in" filter="fade">
                                      <p:cBhvr>
                                        <p:cTn id="10" dur="1000"/>
                                        <p:tgtEl>
                                          <p:spTgt spid="1296394">
                                            <p:txEl>
                                              <p:pRg st="0" end="0"/>
                                            </p:txEl>
                                          </p:spTgt>
                                        </p:tgtEl>
                                      </p:cBhvr>
                                    </p:animEffect>
                                    <p:anim calcmode="lin" valueType="num">
                                      <p:cBhvr>
                                        <p:cTn id="11" dur="1000" fill="hold"/>
                                        <p:tgtEl>
                                          <p:spTgt spid="1296394">
                                            <p:txEl>
                                              <p:pRg st="0" end="0"/>
                                            </p:txEl>
                                          </p:spTgt>
                                        </p:tgtEl>
                                        <p:attrNameLst>
                                          <p:attrName>ppt_x</p:attrName>
                                        </p:attrNameLst>
                                      </p:cBhvr>
                                      <p:tavLst>
                                        <p:tav tm="0">
                                          <p:val>
                                            <p:strVal val="#ppt_x"/>
                                          </p:val>
                                        </p:tav>
                                        <p:tav tm="100000">
                                          <p:val>
                                            <p:strVal val="#ppt_x"/>
                                          </p:val>
                                        </p:tav>
                                      </p:tavLst>
                                    </p:anim>
                                    <p:anim calcmode="lin" valueType="num">
                                      <p:cBhvr>
                                        <p:cTn id="12" dur="1000" fill="hold"/>
                                        <p:tgtEl>
                                          <p:spTgt spid="129639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296394">
                                            <p:txEl>
                                              <p:pRg st="1" end="1"/>
                                            </p:txEl>
                                          </p:spTgt>
                                        </p:tgtEl>
                                        <p:attrNameLst>
                                          <p:attrName>style.visibility</p:attrName>
                                        </p:attrNameLst>
                                      </p:cBhvr>
                                      <p:to>
                                        <p:strVal val="visible"/>
                                      </p:to>
                                    </p:set>
                                    <p:animEffect transition="in" filter="fade">
                                      <p:cBhvr>
                                        <p:cTn id="17" dur="1000"/>
                                        <p:tgtEl>
                                          <p:spTgt spid="1296394">
                                            <p:txEl>
                                              <p:pRg st="1" end="1"/>
                                            </p:txEl>
                                          </p:spTgt>
                                        </p:tgtEl>
                                      </p:cBhvr>
                                    </p:animEffect>
                                    <p:anim calcmode="lin" valueType="num">
                                      <p:cBhvr>
                                        <p:cTn id="18" dur="1000" fill="hold"/>
                                        <p:tgtEl>
                                          <p:spTgt spid="1296394">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129639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296394">
                                            <p:txEl>
                                              <p:pRg st="2" end="2"/>
                                            </p:txEl>
                                          </p:spTgt>
                                        </p:tgtEl>
                                        <p:attrNameLst>
                                          <p:attrName>style.visibility</p:attrName>
                                        </p:attrNameLst>
                                      </p:cBhvr>
                                      <p:to>
                                        <p:strVal val="visible"/>
                                      </p:to>
                                    </p:set>
                                    <p:animEffect transition="in" filter="fade">
                                      <p:cBhvr>
                                        <p:cTn id="24" dur="1000"/>
                                        <p:tgtEl>
                                          <p:spTgt spid="1296394">
                                            <p:txEl>
                                              <p:pRg st="2" end="2"/>
                                            </p:txEl>
                                          </p:spTgt>
                                        </p:tgtEl>
                                      </p:cBhvr>
                                    </p:animEffect>
                                    <p:anim calcmode="lin" valueType="num">
                                      <p:cBhvr>
                                        <p:cTn id="25" dur="1000" fill="hold"/>
                                        <p:tgtEl>
                                          <p:spTgt spid="1296394">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129639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296394">
                                            <p:txEl>
                                              <p:pRg st="3" end="3"/>
                                            </p:txEl>
                                          </p:spTgt>
                                        </p:tgtEl>
                                        <p:attrNameLst>
                                          <p:attrName>style.visibility</p:attrName>
                                        </p:attrNameLst>
                                      </p:cBhvr>
                                      <p:to>
                                        <p:strVal val="visible"/>
                                      </p:to>
                                    </p:set>
                                    <p:animEffect transition="in" filter="fade">
                                      <p:cBhvr>
                                        <p:cTn id="31" dur="1000"/>
                                        <p:tgtEl>
                                          <p:spTgt spid="1296394">
                                            <p:txEl>
                                              <p:pRg st="3" end="3"/>
                                            </p:txEl>
                                          </p:spTgt>
                                        </p:tgtEl>
                                      </p:cBhvr>
                                    </p:animEffect>
                                    <p:anim calcmode="lin" valueType="num">
                                      <p:cBhvr>
                                        <p:cTn id="32" dur="1000" fill="hold"/>
                                        <p:tgtEl>
                                          <p:spTgt spid="1296394">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129639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6394" grpId="0" build="p"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7102"/>
            <a:ext cx="7937292" cy="1325563"/>
          </a:xfrm>
        </p:spPr>
        <p:txBody>
          <a:bodyPr/>
          <a:lstStyle/>
          <a:p>
            <a:r>
              <a:rPr lang="en-US" altLang="en-US" b="1" dirty="0"/>
              <a:t>Chapter 6</a:t>
            </a:r>
            <a:br>
              <a:rPr lang="en-US" altLang="en-US" b="1" dirty="0"/>
            </a:br>
            <a:r>
              <a:rPr lang="en-US" altLang="en-US" b="1" dirty="0"/>
              <a:t>Introduction to Inference (Review)</a:t>
            </a:r>
            <a:endParaRPr lang="en-US" b="1" dirty="0"/>
          </a:p>
        </p:txBody>
      </p:sp>
      <p:sp>
        <p:nvSpPr>
          <p:cNvPr id="3" name="Content Placeholder 2"/>
          <p:cNvSpPr>
            <a:spLocks noGrp="1"/>
          </p:cNvSpPr>
          <p:nvPr>
            <p:ph idx="1"/>
          </p:nvPr>
        </p:nvSpPr>
        <p:spPr>
          <a:xfrm>
            <a:off x="457200" y="2059899"/>
            <a:ext cx="7592518" cy="2736953"/>
          </a:xfrm>
        </p:spPr>
        <p:txBody>
          <a:bodyPr/>
          <a:lstStyle/>
          <a:p>
            <a:pPr marL="0" lvl="0" indent="0" eaLnBrk="1" hangingPunct="1">
              <a:spcBef>
                <a:spcPct val="0"/>
              </a:spcBef>
              <a:spcAft>
                <a:spcPts val="1800"/>
              </a:spcAft>
              <a:buClrTx/>
              <a:buSzTx/>
              <a:buNone/>
            </a:pPr>
            <a:r>
              <a:rPr lang="en-US" altLang="en-US" sz="2800" b="1" dirty="0">
                <a:solidFill>
                  <a:srgbClr val="073779"/>
                </a:solidFill>
                <a:latin typeface="Arial" pitchFamily="34" charset="0"/>
                <a:ea typeface="ＭＳ Ｐゴシック" pitchFamily="34" charset="-128"/>
                <a:cs typeface="+mn-cs"/>
              </a:rPr>
              <a:t>6.1 Estimating with Confidence</a:t>
            </a:r>
          </a:p>
          <a:p>
            <a:pPr marL="0" lvl="0" indent="0" eaLnBrk="1" hangingPunct="1">
              <a:spcBef>
                <a:spcPct val="0"/>
              </a:spcBef>
              <a:spcAft>
                <a:spcPts val="1800"/>
              </a:spcAft>
              <a:buClrTx/>
              <a:buSzTx/>
              <a:buNone/>
            </a:pPr>
            <a:r>
              <a:rPr lang="en-US" altLang="en-US" sz="2800" b="1" dirty="0">
                <a:solidFill>
                  <a:srgbClr val="073779"/>
                </a:solidFill>
                <a:latin typeface="Arial" pitchFamily="34" charset="0"/>
                <a:ea typeface="ＭＳ Ｐゴシック" pitchFamily="34" charset="-128"/>
                <a:cs typeface="+mn-cs"/>
              </a:rPr>
              <a:t>6.2 Tests of Significance</a:t>
            </a:r>
          </a:p>
          <a:p>
            <a:pPr marL="0" lvl="0" indent="0" eaLnBrk="1" hangingPunct="1">
              <a:spcBef>
                <a:spcPct val="0"/>
              </a:spcBef>
              <a:spcAft>
                <a:spcPts val="1800"/>
              </a:spcAft>
              <a:buClrTx/>
              <a:buSzTx/>
              <a:buNone/>
            </a:pPr>
            <a:r>
              <a:rPr lang="en-US" altLang="en-US" sz="2800" b="1" dirty="0">
                <a:solidFill>
                  <a:srgbClr val="073779"/>
                </a:solidFill>
                <a:latin typeface="Arial" pitchFamily="34" charset="0"/>
                <a:ea typeface="ＭＳ Ｐゴシック" pitchFamily="34" charset="-128"/>
                <a:cs typeface="+mn-cs"/>
              </a:rPr>
              <a:t>6.3 Use and Abuse of Tests</a:t>
            </a:r>
          </a:p>
          <a:p>
            <a:pPr marL="0" lvl="0" indent="0" eaLnBrk="1" hangingPunct="1">
              <a:spcBef>
                <a:spcPct val="0"/>
              </a:spcBef>
              <a:spcAft>
                <a:spcPts val="1800"/>
              </a:spcAft>
              <a:buClrTx/>
              <a:buSzTx/>
              <a:buNone/>
            </a:pPr>
            <a:r>
              <a:rPr lang="en-US" altLang="en-US" sz="2800" b="1" dirty="0">
                <a:solidFill>
                  <a:srgbClr val="073779"/>
                </a:solidFill>
                <a:latin typeface="Arial" pitchFamily="34" charset="0"/>
                <a:ea typeface="ＭＳ Ｐゴシック" pitchFamily="34" charset="-128"/>
                <a:cs typeface="+mn-cs"/>
              </a:rPr>
              <a:t>6.4 Power and Inference as a Decision</a:t>
            </a:r>
          </a:p>
          <a:p>
            <a:pPr marL="0" indent="0">
              <a:buNone/>
            </a:pPr>
            <a:endParaRPr lang="en-US" dirty="0"/>
          </a:p>
        </p:txBody>
      </p:sp>
      <p:sp>
        <p:nvSpPr>
          <p:cNvPr id="95234"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F29C33CC-9CE3-4E2F-8B4E-174958367632}" type="slidenum">
              <a:rPr lang="en-US" altLang="en-US" sz="1400">
                <a:solidFill>
                  <a:schemeClr val="accent1"/>
                </a:solidFill>
              </a:rPr>
              <a:pPr/>
              <a:t>50</a:t>
            </a:fld>
            <a:endParaRPr lang="en-US" altLang="en-US" sz="1400">
              <a:solidFill>
                <a:schemeClr val="accent1"/>
              </a:solidFill>
            </a:endParaRPr>
          </a:p>
        </p:txBody>
      </p:sp>
    </p:spTree>
  </p:cSld>
  <p:clrMapOvr>
    <a:masterClrMapping/>
  </p:clrMapOvr>
</p:sld>
</file>

<file path=ppt/theme/theme1.xml><?xml version="1.0" encoding="utf-8"?>
<a:theme xmlns:a="http://schemas.openxmlformats.org/drawingml/2006/main" name="Plaza">
  <a:themeElements>
    <a:clrScheme name="Sky">
      <a:dk1>
        <a:sysClr val="windowText" lastClr="000000"/>
      </a:dk1>
      <a:lt1>
        <a:sysClr val="window" lastClr="FFFFFF"/>
      </a:lt1>
      <a:dk2>
        <a:srgbClr val="1782BF"/>
      </a:dk2>
      <a:lt2>
        <a:srgbClr val="62BCE9"/>
      </a:lt2>
      <a:accent1>
        <a:srgbClr val="073779"/>
      </a:accent1>
      <a:accent2>
        <a:srgbClr val="8FD9FB"/>
      </a:accent2>
      <a:accent3>
        <a:srgbClr val="FFCC00"/>
      </a:accent3>
      <a:accent4>
        <a:srgbClr val="EB6615"/>
      </a:accent4>
      <a:accent5>
        <a:srgbClr val="C76402"/>
      </a:accent5>
      <a:accent6>
        <a:srgbClr val="B523B4"/>
      </a:accent6>
      <a:hlink>
        <a:srgbClr val="FFDE26"/>
      </a:hlink>
      <a:folHlink>
        <a:srgbClr val="DEBE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Plaza.thmx</Template>
  <TotalTime>3462</TotalTime>
  <Words>4803</Words>
  <Application>Microsoft Office PowerPoint</Application>
  <PresentationFormat>On-screen Show (4:3)</PresentationFormat>
  <Paragraphs>416</Paragraphs>
  <Slides>50</Slides>
  <Notes>19</Notes>
  <HiddenSlides>0</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2</vt:i4>
      </vt:variant>
      <vt:variant>
        <vt:lpstr>Slide Titles</vt:lpstr>
      </vt:variant>
      <vt:variant>
        <vt:i4>50</vt:i4>
      </vt:variant>
    </vt:vector>
  </HeadingPairs>
  <TitlesOfParts>
    <vt:vector size="66" baseType="lpstr">
      <vt:lpstr>ＭＳ Ｐゴシック</vt:lpstr>
      <vt:lpstr>Arial</vt:lpstr>
      <vt:lpstr>Calibri</vt:lpstr>
      <vt:lpstr>Cambria Math</vt:lpstr>
      <vt:lpstr>Courier</vt:lpstr>
      <vt:lpstr>Garamond</vt:lpstr>
      <vt:lpstr>Monotype Sorts</vt:lpstr>
      <vt:lpstr>Palatino</vt:lpstr>
      <vt:lpstr>Symbol</vt:lpstr>
      <vt:lpstr>Times New Roman</vt:lpstr>
      <vt:lpstr>Wingdings</vt:lpstr>
      <vt:lpstr>Wingdings 2</vt:lpstr>
      <vt:lpstr>ヒラギノ角ゴ Pro W3</vt:lpstr>
      <vt:lpstr>Plaza</vt:lpstr>
      <vt:lpstr>Equation</vt:lpstr>
      <vt:lpstr>MathType 6.0 Equation</vt:lpstr>
      <vt:lpstr>Chapter 6 Introduction to Inference  Lecture Slides</vt:lpstr>
      <vt:lpstr>Chapter 6 Introduction to Inference</vt:lpstr>
      <vt:lpstr>6.1 Estimating with Confidence</vt:lpstr>
      <vt:lpstr>Statistical Inference 1</vt:lpstr>
      <vt:lpstr>Overview of Inference</vt:lpstr>
      <vt:lpstr>Simple Conditions for Inference about a Mean</vt:lpstr>
      <vt:lpstr>Statistical Estimation 1</vt:lpstr>
      <vt:lpstr>Statistical Estimation 2</vt:lpstr>
      <vt:lpstr>Statistical Estimation 3</vt:lpstr>
      <vt:lpstr>Statistical Confidence</vt:lpstr>
      <vt:lpstr>Confidence Interval</vt:lpstr>
      <vt:lpstr>Confidence Interval for a Population Mean</vt:lpstr>
      <vt:lpstr>Finding Specific z*-Values</vt:lpstr>
      <vt:lpstr>The Margin of Error</vt:lpstr>
      <vt:lpstr>How Confidence Intervals Behave</vt:lpstr>
      <vt:lpstr>Impact of Sample Size</vt:lpstr>
      <vt:lpstr>Choosing the Sample Size</vt:lpstr>
      <vt:lpstr>Sample Size</vt:lpstr>
      <vt:lpstr>Some Cautions</vt:lpstr>
      <vt:lpstr>6.2 Tests of Significance</vt:lpstr>
      <vt:lpstr>Statistical Inference 2</vt:lpstr>
      <vt:lpstr>The Reasoning of Tests of Significance</vt:lpstr>
      <vt:lpstr>Stating Hypotheses (1 of 2)</vt:lpstr>
      <vt:lpstr>Stating Hypotheses (2 of 2)</vt:lpstr>
      <vt:lpstr>Test Statistic</vt:lpstr>
      <vt:lpstr>P-Value</vt:lpstr>
      <vt:lpstr>Statistical Significance 1</vt:lpstr>
      <vt:lpstr>Statistical Significance 2</vt:lpstr>
      <vt:lpstr>Four Steps of Tests of Significance</vt:lpstr>
      <vt:lpstr>Tests for a Population Mean</vt:lpstr>
      <vt:lpstr>Significance Test (1 of 2)</vt:lpstr>
      <vt:lpstr>Significance Test (2 of 2)</vt:lpstr>
      <vt:lpstr>Significance Test</vt:lpstr>
      <vt:lpstr>Two-Sided Significance Tests and Confidence Intervals</vt:lpstr>
      <vt:lpstr>More about P-Values</vt:lpstr>
      <vt:lpstr>Approximating a P-Value</vt:lpstr>
      <vt:lpstr>6.3 Use and Abuse of Tests</vt:lpstr>
      <vt:lpstr>Cautions about Significance Tests 1</vt:lpstr>
      <vt:lpstr>Cautions about Significance Tests 2</vt:lpstr>
      <vt:lpstr>Cautions about Significance Tests 3</vt:lpstr>
      <vt:lpstr>Cautions about Significance Tests 4</vt:lpstr>
      <vt:lpstr>Cautions about Significance Tests 5</vt:lpstr>
      <vt:lpstr>Cautions about Significance Tests 6</vt:lpstr>
      <vt:lpstr>6.4 Power and Inference as a Decision</vt:lpstr>
      <vt:lpstr>Power 1</vt:lpstr>
      <vt:lpstr>Power 2</vt:lpstr>
      <vt:lpstr>Power 3</vt:lpstr>
      <vt:lpstr>Increasing the Power</vt:lpstr>
      <vt:lpstr>The Common Practice of Testing Hypotheses</vt:lpstr>
      <vt:lpstr>Chapter 6 Introduction to Inference (Review)</vt:lpstr>
    </vt:vector>
  </TitlesOfParts>
  <Company>ISD 194</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 Introduction to Inference</dc:title>
  <dc:creator>Jason Molesky</dc:creator>
  <cp:lastModifiedBy>Newton, Andy</cp:lastModifiedBy>
  <cp:revision>349</cp:revision>
  <dcterms:created xsi:type="dcterms:W3CDTF">2012-03-04T21:21:46Z</dcterms:created>
  <dcterms:modified xsi:type="dcterms:W3CDTF">2020-11-12T15:26:29Z</dcterms:modified>
</cp:coreProperties>
</file>