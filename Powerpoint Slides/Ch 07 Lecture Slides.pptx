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1"/>
  </p:sldMasterIdLst>
  <p:notesMasterIdLst>
    <p:notesMasterId r:id="rId46"/>
  </p:notesMasterIdLst>
  <p:handoutMasterIdLst>
    <p:handoutMasterId r:id="rId47"/>
  </p:handoutMasterIdLst>
  <p:sldIdLst>
    <p:sldId id="377" r:id="rId2"/>
    <p:sldId id="314" r:id="rId3"/>
    <p:sldId id="258" r:id="rId4"/>
    <p:sldId id="321" r:id="rId5"/>
    <p:sldId id="322" r:id="rId6"/>
    <p:sldId id="323" r:id="rId7"/>
    <p:sldId id="324" r:id="rId8"/>
    <p:sldId id="326" r:id="rId9"/>
    <p:sldId id="371" r:id="rId10"/>
    <p:sldId id="327" r:id="rId11"/>
    <p:sldId id="328" r:id="rId12"/>
    <p:sldId id="372" r:id="rId13"/>
    <p:sldId id="331" r:id="rId14"/>
    <p:sldId id="330" r:id="rId15"/>
    <p:sldId id="373" r:id="rId16"/>
    <p:sldId id="334" r:id="rId17"/>
    <p:sldId id="364" r:id="rId18"/>
    <p:sldId id="374" r:id="rId19"/>
    <p:sldId id="335" r:id="rId20"/>
    <p:sldId id="340" r:id="rId21"/>
    <p:sldId id="341" r:id="rId22"/>
    <p:sldId id="343" r:id="rId23"/>
    <p:sldId id="369" r:id="rId24"/>
    <p:sldId id="345" r:id="rId25"/>
    <p:sldId id="346" r:id="rId26"/>
    <p:sldId id="366" r:id="rId27"/>
    <p:sldId id="375" r:id="rId28"/>
    <p:sldId id="370" r:id="rId29"/>
    <p:sldId id="376" r:id="rId30"/>
    <p:sldId id="352" r:id="rId31"/>
    <p:sldId id="367" r:id="rId32"/>
    <p:sldId id="353" r:id="rId33"/>
    <p:sldId id="354" r:id="rId34"/>
    <p:sldId id="363" r:id="rId35"/>
    <p:sldId id="368" r:id="rId36"/>
    <p:sldId id="356" r:id="rId37"/>
    <p:sldId id="360" r:id="rId38"/>
    <p:sldId id="336" r:id="rId39"/>
    <p:sldId id="357" r:id="rId40"/>
    <p:sldId id="358" r:id="rId41"/>
    <p:sldId id="337" r:id="rId42"/>
    <p:sldId id="359" r:id="rId43"/>
    <p:sldId id="362" r:id="rId44"/>
    <p:sldId id="319" r:id="rId45"/>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780"/>
    <a:srgbClr val="8590B1"/>
    <a:srgbClr val="EEEF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29" autoAdjust="0"/>
  </p:normalViewPr>
  <p:slideViewPr>
    <p:cSldViewPr snapToGrid="0" snapToObjects="1">
      <p:cViewPr varScale="1">
        <p:scale>
          <a:sx n="84" d="100"/>
          <a:sy n="84" d="100"/>
        </p:scale>
        <p:origin x="562"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image" Target="../media/image39.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image" Target="../media/image4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pitchFamily="34" charset="0"/>
                <a:ea typeface="ＭＳ Ｐゴシック" pitchFamily="34" charset="-128"/>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defRPr>
            </a:lvl1pPr>
          </a:lstStyle>
          <a:p>
            <a:fld id="{4C252E09-5ACC-4683-B3A6-1DA0A5CF0765}" type="datetime1">
              <a:rPr lang="en-US"/>
              <a:pPr/>
              <a:t>11/8/2022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pitchFamily="34" charset="0"/>
                <a:ea typeface="ＭＳ Ｐゴシック" pitchFamily="34" charset="-128"/>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5236B89F-D29E-4749-A432-EA02A50CE3EA}" type="slidenum">
              <a:rPr lang="en-US"/>
              <a:pPr/>
              <a:t>‹#›</a:t>
            </a:fld>
            <a:endParaRPr lang="en-US"/>
          </a:p>
        </p:txBody>
      </p:sp>
    </p:spTree>
    <p:extLst>
      <p:ext uri="{BB962C8B-B14F-4D97-AF65-F5344CB8AC3E}">
        <p14:creationId xmlns:p14="http://schemas.microsoft.com/office/powerpoint/2010/main" val="6617406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pitchFamily="34" charset="0"/>
                <a:ea typeface="ＭＳ Ｐゴシック" pitchFamily="34" charset="-128"/>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defRPr>
            </a:lvl1pPr>
          </a:lstStyle>
          <a:p>
            <a:fld id="{0813095B-61BA-4001-B17C-781A5E7A9748}" type="datetime1">
              <a:rPr lang="en-US"/>
              <a:pPr/>
              <a:t>11/8/2022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pitchFamily="34" charset="0"/>
                <a:ea typeface="ＭＳ Ｐゴシック" pitchFamily="34" charset="-128"/>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7BA89BB2-44D8-4EF8-9DCF-98FC344FD489}" type="slidenum">
              <a:rPr lang="en-US"/>
              <a:pPr/>
              <a:t>‹#›</a:t>
            </a:fld>
            <a:endParaRPr lang="en-US"/>
          </a:p>
        </p:txBody>
      </p:sp>
    </p:spTree>
    <p:extLst>
      <p:ext uri="{BB962C8B-B14F-4D97-AF65-F5344CB8AC3E}">
        <p14:creationId xmlns:p14="http://schemas.microsoft.com/office/powerpoint/2010/main" val="4222350536"/>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pitchFamily="-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ヒラギノ角ゴ Pro W3" pitchFamily="-105" charset="-128"/>
            </a:endParaRPr>
          </a:p>
        </p:txBody>
      </p:sp>
    </p:spTree>
    <p:extLst>
      <p:ext uri="{BB962C8B-B14F-4D97-AF65-F5344CB8AC3E}">
        <p14:creationId xmlns:p14="http://schemas.microsoft.com/office/powerpoint/2010/main" val="3707563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A2795913-C003-4FE1-BE32-1FB11FEF78C7}" type="slidenum">
              <a:rPr lang="en-US" sz="1200">
                <a:latin typeface="Calibri" pitchFamily="34" charset="0"/>
              </a:rPr>
              <a:pPr/>
              <a:t>6</a:t>
            </a:fld>
            <a:endParaRPr lang="en-US" sz="1200">
              <a:latin typeface="Calibri" pitchFamily="34" charset="0"/>
            </a:endParaRPr>
          </a:p>
        </p:txBody>
      </p:sp>
    </p:spTree>
    <p:extLst>
      <p:ext uri="{BB962C8B-B14F-4D97-AF65-F5344CB8AC3E}">
        <p14:creationId xmlns:p14="http://schemas.microsoft.com/office/powerpoint/2010/main" val="10315270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3379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5E570A63-3787-40F7-8584-080086AE28DB}" type="slidenum">
              <a:rPr lang="en-US" sz="1200">
                <a:latin typeface="Calibri" pitchFamily="34" charset="0"/>
              </a:rPr>
              <a:pPr/>
              <a:t>7</a:t>
            </a:fld>
            <a:endParaRPr lang="en-US" sz="1200">
              <a:latin typeface="Calibri" pitchFamily="34" charset="0"/>
            </a:endParaRPr>
          </a:p>
        </p:txBody>
      </p:sp>
    </p:spTree>
    <p:extLst>
      <p:ext uri="{BB962C8B-B14F-4D97-AF65-F5344CB8AC3E}">
        <p14:creationId xmlns:p14="http://schemas.microsoft.com/office/powerpoint/2010/main" val="1309625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358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99AD9E85-6375-4D3F-91EB-5E147FE305F4}" type="slidenum">
              <a:rPr lang="en-US" sz="1200">
                <a:latin typeface="Calibri" pitchFamily="34" charset="0"/>
              </a:rPr>
              <a:pPr/>
              <a:t>8</a:t>
            </a:fld>
            <a:endParaRPr lang="en-US" sz="1200">
              <a:latin typeface="Calibri" pitchFamily="34" charset="0"/>
            </a:endParaRPr>
          </a:p>
        </p:txBody>
      </p:sp>
    </p:spTree>
    <p:extLst>
      <p:ext uri="{BB962C8B-B14F-4D97-AF65-F5344CB8AC3E}">
        <p14:creationId xmlns:p14="http://schemas.microsoft.com/office/powerpoint/2010/main" val="671924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3789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E4174FA5-39ED-4232-8ACC-41AF4C0E0B7F}" type="slidenum">
              <a:rPr lang="en-US" sz="1200">
                <a:latin typeface="Calibri" pitchFamily="34" charset="0"/>
              </a:rPr>
              <a:pPr/>
              <a:t>9</a:t>
            </a:fld>
            <a:endParaRPr lang="en-US" sz="1200">
              <a:latin typeface="Calibri" pitchFamily="34" charset="0"/>
            </a:endParaRPr>
          </a:p>
        </p:txBody>
      </p:sp>
    </p:spTree>
    <p:extLst>
      <p:ext uri="{BB962C8B-B14F-4D97-AF65-F5344CB8AC3E}">
        <p14:creationId xmlns:p14="http://schemas.microsoft.com/office/powerpoint/2010/main" val="2346702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5325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F54B5191-E9FE-4621-8E25-BD22B6949595}" type="slidenum">
              <a:rPr lang="en-US" sz="1200">
                <a:latin typeface="Calibri" pitchFamily="34" charset="0"/>
              </a:rPr>
              <a:pPr/>
              <a:t>23</a:t>
            </a:fld>
            <a:endParaRPr lang="en-US" sz="1200">
              <a:latin typeface="Calibri" pitchFamily="34" charset="0"/>
            </a:endParaRPr>
          </a:p>
        </p:txBody>
      </p:sp>
    </p:spTree>
    <p:extLst>
      <p:ext uri="{BB962C8B-B14F-4D97-AF65-F5344CB8AC3E}">
        <p14:creationId xmlns:p14="http://schemas.microsoft.com/office/powerpoint/2010/main" val="324680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5529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6ACBB8AF-6E12-42EB-9C69-0DA843883E5E}" type="slidenum">
              <a:rPr lang="en-US" sz="1200">
                <a:latin typeface="Calibri" pitchFamily="34" charset="0"/>
              </a:rPr>
              <a:pPr/>
              <a:t>24</a:t>
            </a:fld>
            <a:endParaRPr lang="en-US" sz="1200">
              <a:latin typeface="Calibri" pitchFamily="34" charset="0"/>
            </a:endParaRPr>
          </a:p>
        </p:txBody>
      </p:sp>
    </p:spTree>
    <p:extLst>
      <p:ext uri="{BB962C8B-B14F-4D97-AF65-F5344CB8AC3E}">
        <p14:creationId xmlns:p14="http://schemas.microsoft.com/office/powerpoint/2010/main" val="2332329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573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363AFF66-3860-4055-97EE-46BC0123F2E6}" type="slidenum">
              <a:rPr lang="en-US" sz="1200">
                <a:latin typeface="Calibri" pitchFamily="34" charset="0"/>
              </a:rPr>
              <a:pPr/>
              <a:t>25</a:t>
            </a:fld>
            <a:endParaRPr lang="en-US" sz="1200">
              <a:latin typeface="Calibri" pitchFamily="34" charset="0"/>
            </a:endParaRPr>
          </a:p>
        </p:txBody>
      </p:sp>
    </p:spTree>
    <p:extLst>
      <p:ext uri="{BB962C8B-B14F-4D97-AF65-F5344CB8AC3E}">
        <p14:creationId xmlns:p14="http://schemas.microsoft.com/office/powerpoint/2010/main" val="1186747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5939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92CA4D3D-2383-4D47-9508-1837B59C4C0F}" type="slidenum">
              <a:rPr lang="en-US" sz="1200">
                <a:latin typeface="Calibri" pitchFamily="34" charset="0"/>
              </a:rPr>
              <a:pPr/>
              <a:t>26</a:t>
            </a:fld>
            <a:endParaRPr lang="en-US" sz="1200">
              <a:latin typeface="Calibri" pitchFamily="34" charset="0"/>
            </a:endParaRPr>
          </a:p>
        </p:txBody>
      </p:sp>
    </p:spTree>
    <p:extLst>
      <p:ext uri="{BB962C8B-B14F-4D97-AF65-F5344CB8AC3E}">
        <p14:creationId xmlns:p14="http://schemas.microsoft.com/office/powerpoint/2010/main" val="416626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614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DE2AEF08-A2D6-4B7B-A7D9-895A1013A10E}" type="slidenum">
              <a:rPr lang="en-US" sz="1200">
                <a:latin typeface="Calibri" pitchFamily="34" charset="0"/>
              </a:rPr>
              <a:pPr/>
              <a:t>27</a:t>
            </a:fld>
            <a:endParaRPr lang="en-US" sz="1200">
              <a:latin typeface="Calibri" pitchFamily="34" charset="0"/>
            </a:endParaRPr>
          </a:p>
        </p:txBody>
      </p:sp>
    </p:spTree>
    <p:extLst>
      <p:ext uri="{BB962C8B-B14F-4D97-AF65-F5344CB8AC3E}">
        <p14:creationId xmlns:p14="http://schemas.microsoft.com/office/powerpoint/2010/main" val="2671668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6349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0337B498-A8A9-41C1-99AF-A53C21766082}" type="slidenum">
              <a:rPr lang="en-US" sz="1200">
                <a:latin typeface="Calibri" pitchFamily="34" charset="0"/>
              </a:rPr>
              <a:pPr/>
              <a:t>28</a:t>
            </a:fld>
            <a:endParaRPr lang="en-US" sz="1200">
              <a:latin typeface="Calibri" pitchFamily="34" charset="0"/>
            </a:endParaRPr>
          </a:p>
        </p:txBody>
      </p:sp>
    </p:spTree>
    <p:extLst>
      <p:ext uri="{BB962C8B-B14F-4D97-AF65-F5344CB8AC3E}">
        <p14:creationId xmlns:p14="http://schemas.microsoft.com/office/powerpoint/2010/main" val="29270377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9AB369B1-C653-4E32-AF25-3EAF3318DB59}" type="slidenum">
              <a:rPr lang="en-US" sz="1200">
                <a:latin typeface="Calibri" pitchFamily="34" charset="0"/>
              </a:rPr>
              <a:pPr/>
              <a:t>29</a:t>
            </a:fld>
            <a:endParaRPr lang="en-US" sz="1200">
              <a:latin typeface="Calibri" pitchFamily="34" charset="0"/>
            </a:endParaRPr>
          </a:p>
        </p:txBody>
      </p:sp>
    </p:spTree>
    <p:extLst>
      <p:ext uri="{BB962C8B-B14F-4D97-AF65-F5344CB8AC3E}">
        <p14:creationId xmlns:p14="http://schemas.microsoft.com/office/powerpoint/2010/main" val="845873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20273788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727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7EA7F78E-E2F0-4D03-905A-797E9DA17F8F}" type="slidenum">
              <a:rPr lang="en-US" sz="1200">
                <a:latin typeface="Calibri" pitchFamily="34" charset="0"/>
              </a:rPr>
              <a:pPr/>
              <a:t>34</a:t>
            </a:fld>
            <a:endParaRPr lang="en-US" sz="1200">
              <a:latin typeface="Calibri" pitchFamily="34" charset="0"/>
            </a:endParaRPr>
          </a:p>
        </p:txBody>
      </p:sp>
    </p:spTree>
    <p:extLst>
      <p:ext uri="{BB962C8B-B14F-4D97-AF65-F5344CB8AC3E}">
        <p14:creationId xmlns:p14="http://schemas.microsoft.com/office/powerpoint/2010/main" val="33642241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7475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EE7ED9EB-67A6-4F3A-936B-F37704153FF2}" type="slidenum">
              <a:rPr lang="en-US" sz="1200">
                <a:latin typeface="Calibri" pitchFamily="34" charset="0"/>
              </a:rPr>
              <a:pPr/>
              <a:t>35</a:t>
            </a:fld>
            <a:endParaRPr lang="en-US" sz="1200">
              <a:latin typeface="Calibri" pitchFamily="34" charset="0"/>
            </a:endParaRPr>
          </a:p>
        </p:txBody>
      </p:sp>
    </p:spTree>
    <p:extLst>
      <p:ext uri="{BB962C8B-B14F-4D97-AF65-F5344CB8AC3E}">
        <p14:creationId xmlns:p14="http://schemas.microsoft.com/office/powerpoint/2010/main" val="40151598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3659849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5278885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8898578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22365107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18455481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1752520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57200" y="4114800"/>
            <a:ext cx="6508750" cy="1143000"/>
          </a:xfrm>
          <a:noFill/>
        </p:spPr>
        <p:txBody>
          <a:bodyPr/>
          <a:lstStyle/>
          <a:p>
            <a:r>
              <a:rPr lang="en-US" dirty="0"/>
              <a:t>Click to edit Master title style</a:t>
            </a:r>
          </a:p>
        </p:txBody>
      </p:sp>
    </p:spTree>
    <p:extLst>
      <p:ext uri="{BB962C8B-B14F-4D97-AF65-F5344CB8AC3E}">
        <p14:creationId xmlns:p14="http://schemas.microsoft.com/office/powerpoint/2010/main" val="3710304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722E5E8F-426B-4780-A50F-7FF96C3E9AD9}" type="slidenum">
              <a:rPr lang="en-US"/>
              <a:pPr/>
              <a:t>‹#›</a:t>
            </a:fld>
            <a:endParaRPr lang="en-US"/>
          </a:p>
        </p:txBody>
      </p:sp>
    </p:spTree>
    <p:extLst>
      <p:ext uri="{BB962C8B-B14F-4D97-AF65-F5344CB8AC3E}">
        <p14:creationId xmlns:p14="http://schemas.microsoft.com/office/powerpoint/2010/main" val="4222216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0580C474-D37A-4ED3-BF36-5D1F02E7FFA9}" type="slidenum">
              <a:rPr lang="en-US"/>
              <a:pPr/>
              <a:t>‹#›</a:t>
            </a:fld>
            <a:endParaRPr lang="en-US"/>
          </a:p>
        </p:txBody>
      </p:sp>
    </p:spTree>
    <p:extLst>
      <p:ext uri="{BB962C8B-B14F-4D97-AF65-F5344CB8AC3E}">
        <p14:creationId xmlns:p14="http://schemas.microsoft.com/office/powerpoint/2010/main" val="681206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5" name="Rectangle 4"/>
          <p:cNvSpPr/>
          <p:nvPr/>
        </p:nvSpPr>
        <p:spPr>
          <a:xfrm>
            <a:off x="269875" y="268288"/>
            <a:ext cx="1646238"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pitchFamily="34" charset="-128"/>
            </a:endParaRPr>
          </a:p>
        </p:txBody>
      </p:sp>
      <p:pic>
        <p:nvPicPr>
          <p:cNvPr id="6" name="Picture 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9875" y="268288"/>
            <a:ext cx="1162050" cy="164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
        <p:nvSpPr>
          <p:cNvPr id="2" name="Title 1"/>
          <p:cNvSpPr>
            <a:spLocks noGrp="1"/>
          </p:cNvSpPr>
          <p:nvPr>
            <p:ph type="title"/>
          </p:nvPr>
        </p:nvSpPr>
        <p:spPr>
          <a:xfrm>
            <a:off x="2178423" y="914400"/>
            <a:ext cx="6508377" cy="1143000"/>
          </a:xfrm>
        </p:spPr>
        <p:txBody>
          <a:bodyPr/>
          <a:lstStyle/>
          <a:p>
            <a:r>
              <a:rPr lang="en-US"/>
              <a:t>Click to edit Master title style</a:t>
            </a:r>
            <a:endParaRPr/>
          </a:p>
        </p:txBody>
      </p:sp>
      <p:sp>
        <p:nvSpPr>
          <p:cNvPr id="3" name="Content Placeholder 2"/>
          <p:cNvSpPr>
            <a:spLocks noGrp="1"/>
          </p:cNvSpPr>
          <p:nvPr>
            <p:ph idx="1"/>
          </p:nvPr>
        </p:nvSpPr>
        <p:spPr>
          <a:xfrm>
            <a:off x="2178423" y="2209800"/>
            <a:ext cx="6508377"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Picture Placeholder 8"/>
          <p:cNvSpPr>
            <a:spLocks noGrp="1"/>
          </p:cNvSpPr>
          <p:nvPr>
            <p:ph type="pic" sz="quarter" idx="13"/>
          </p:nvPr>
        </p:nvSpPr>
        <p:spPr>
          <a:xfrm>
            <a:off x="269875" y="1976718"/>
            <a:ext cx="1645920" cy="4625788"/>
          </a:xfrm>
        </p:spPr>
        <p:txBody>
          <a:bodyPr rtlCol="0">
            <a:normAutofit/>
          </a:bodyPr>
          <a:lstStyle>
            <a:lvl1pPr>
              <a:buNone/>
              <a:defRPr/>
            </a:lvl1pPr>
          </a:lstStyle>
          <a:p>
            <a:pPr lvl="0"/>
            <a:r>
              <a:rPr lang="en-US" noProof="0" dirty="0"/>
              <a:t>Click icon to add picture</a:t>
            </a:r>
            <a:endParaRPr noProof="0" dirty="0"/>
          </a:p>
        </p:txBody>
      </p:sp>
      <p:sp>
        <p:nvSpPr>
          <p:cNvPr id="7" name="Slide Number Placeholder 5"/>
          <p:cNvSpPr>
            <a:spLocks noGrp="1"/>
          </p:cNvSpPr>
          <p:nvPr>
            <p:ph type="sldNum" sz="quarter" idx="14"/>
          </p:nvPr>
        </p:nvSpPr>
        <p:spPr>
          <a:xfrm>
            <a:off x="8509000" y="6356350"/>
            <a:ext cx="508000" cy="365125"/>
          </a:xfrm>
        </p:spPr>
        <p:txBody>
          <a:bodyPr/>
          <a:lstStyle>
            <a:lvl1pPr>
              <a:defRPr sz="1400">
                <a:solidFill>
                  <a:schemeClr val="accent1"/>
                </a:solidFill>
              </a:defRPr>
            </a:lvl1pPr>
          </a:lstStyle>
          <a:p>
            <a:fld id="{0153CBA9-91D1-461F-9E39-CE774D7FB5A7}" type="slidenum">
              <a:rPr lang="en-US"/>
              <a:pPr/>
              <a:t>‹#›</a:t>
            </a:fld>
            <a:endParaRPr lang="en-US"/>
          </a:p>
        </p:txBody>
      </p:sp>
    </p:spTree>
    <p:extLst>
      <p:ext uri="{BB962C8B-B14F-4D97-AF65-F5344CB8AC3E}">
        <p14:creationId xmlns:p14="http://schemas.microsoft.com/office/powerpoint/2010/main" val="2799737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09801" y="3429000"/>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209801"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0"/>
          </p:nvPr>
        </p:nvSpPr>
        <p:spPr/>
        <p:txBody>
          <a:bodyPr/>
          <a:lstStyle>
            <a:lvl1pPr>
              <a:defRPr sz="1400"/>
            </a:lvl1pPr>
          </a:lstStyle>
          <a:p>
            <a:fld id="{ACA5C434-5F38-4273-8FFD-E4B1FEBF881C}" type="slidenum">
              <a:rPr lang="en-US"/>
              <a:pPr/>
              <a:t>‹#›</a:t>
            </a:fld>
            <a:endParaRPr lang="en-US"/>
          </a:p>
        </p:txBody>
      </p:sp>
    </p:spTree>
    <p:extLst>
      <p:ext uri="{BB962C8B-B14F-4D97-AF65-F5344CB8AC3E}">
        <p14:creationId xmlns:p14="http://schemas.microsoft.com/office/powerpoint/2010/main" val="30656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720354" y="3429001"/>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3720354"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Picture Placeholder 8"/>
          <p:cNvSpPr>
            <a:spLocks noGrp="1"/>
          </p:cNvSpPr>
          <p:nvPr>
            <p:ph type="pic" sz="quarter" idx="13"/>
          </p:nvPr>
        </p:nvSpPr>
        <p:spPr>
          <a:xfrm>
            <a:off x="269874" y="268288"/>
            <a:ext cx="2971800" cy="4438650"/>
          </a:xfrm>
        </p:spPr>
        <p:txBody>
          <a:bodyPr rtlCol="0">
            <a:normAutofit/>
          </a:bodyPr>
          <a:lstStyle>
            <a:lvl1pPr>
              <a:buNone/>
              <a:defRPr/>
            </a:lvl1pPr>
          </a:lstStyle>
          <a:p>
            <a:pPr lvl="0"/>
            <a:r>
              <a:rPr lang="en-US" noProof="0" dirty="0"/>
              <a:t>Click icon to add picture</a:t>
            </a:r>
            <a:endParaRPr noProof="0" dirty="0"/>
          </a:p>
        </p:txBody>
      </p:sp>
      <p:sp>
        <p:nvSpPr>
          <p:cNvPr id="6" name="Slide Number Placeholder 5"/>
          <p:cNvSpPr>
            <a:spLocks noGrp="1"/>
          </p:cNvSpPr>
          <p:nvPr>
            <p:ph type="sldNum" sz="quarter" idx="14"/>
          </p:nvPr>
        </p:nvSpPr>
        <p:spPr>
          <a:xfrm>
            <a:off x="350838" y="6105525"/>
            <a:ext cx="506412" cy="365125"/>
          </a:xfrm>
        </p:spPr>
        <p:txBody>
          <a:bodyPr/>
          <a:lstStyle>
            <a:lvl1pPr>
              <a:defRPr/>
            </a:lvl1pPr>
          </a:lstStyle>
          <a:p>
            <a:fld id="{1A227D5B-8738-4F44-853F-708952265192}" type="slidenum">
              <a:rPr lang="en-US"/>
              <a:pPr/>
              <a:t>‹#›</a:t>
            </a:fld>
            <a:endParaRPr lang="en-US"/>
          </a:p>
        </p:txBody>
      </p:sp>
    </p:spTree>
    <p:extLst>
      <p:ext uri="{BB962C8B-B14F-4D97-AF65-F5344CB8AC3E}">
        <p14:creationId xmlns:p14="http://schemas.microsoft.com/office/powerpoint/2010/main" val="634886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82CC887D-17F4-43C0-9F95-DA8BC0CDF279}" type="slidenum">
              <a:rPr lang="en-US"/>
              <a:pPr/>
              <a:t>‹#›</a:t>
            </a:fld>
            <a:endParaRPr lang="en-US"/>
          </a:p>
        </p:txBody>
      </p:sp>
    </p:spTree>
    <p:extLst>
      <p:ext uri="{BB962C8B-B14F-4D97-AF65-F5344CB8AC3E}">
        <p14:creationId xmlns:p14="http://schemas.microsoft.com/office/powerpoint/2010/main" val="2527404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88352"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fld id="{55CA40F8-D55D-41A1-8E7E-ED5D3E36DB14}" type="slidenum">
              <a:rPr lang="en-US"/>
              <a:pPr/>
              <a:t>‹#›</a:t>
            </a:fld>
            <a:endParaRPr lang="en-US"/>
          </a:p>
        </p:txBody>
      </p:sp>
    </p:spTree>
    <p:extLst>
      <p:ext uri="{BB962C8B-B14F-4D97-AF65-F5344CB8AC3E}">
        <p14:creationId xmlns:p14="http://schemas.microsoft.com/office/powerpoint/2010/main" val="3971858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4"/>
          </p:nvPr>
        </p:nvSpPr>
        <p:spPr/>
        <p:txBody>
          <a:bodyPr/>
          <a:lstStyle>
            <a:lvl1pPr>
              <a:defRPr/>
            </a:lvl1pPr>
          </a:lstStyle>
          <a:p>
            <a:pPr>
              <a:defRPr/>
            </a:pPr>
            <a:endParaRPr lang="en-US"/>
          </a:p>
        </p:txBody>
      </p:sp>
      <p:sp>
        <p:nvSpPr>
          <p:cNvPr id="7" name="Footer Placeholder 5"/>
          <p:cNvSpPr>
            <a:spLocks noGrp="1"/>
          </p:cNvSpPr>
          <p:nvPr>
            <p:ph type="ftr" sz="quarter" idx="15"/>
          </p:nvPr>
        </p:nvSpPr>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F87E7AF7-3C1A-487D-916E-B34BD345E313}" type="slidenum">
              <a:rPr lang="en-US"/>
              <a:pPr/>
              <a:t>‹#›</a:t>
            </a:fld>
            <a:endParaRPr lang="en-US"/>
          </a:p>
        </p:txBody>
      </p:sp>
    </p:spTree>
    <p:extLst>
      <p:ext uri="{BB962C8B-B14F-4D97-AF65-F5344CB8AC3E}">
        <p14:creationId xmlns:p14="http://schemas.microsoft.com/office/powerpoint/2010/main" val="3422417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p:cNvSpPr>
            <a:spLocks noGrp="1"/>
          </p:cNvSpPr>
          <p:nvPr>
            <p:ph type="dt" sz="half" idx="15"/>
          </p:nvPr>
        </p:nvSpPr>
        <p:spPr/>
        <p:txBody>
          <a:bodyPr/>
          <a:lstStyle>
            <a:lvl1pPr>
              <a:defRPr/>
            </a:lvl1pPr>
          </a:lstStyle>
          <a:p>
            <a:pPr>
              <a:defRPr/>
            </a:pPr>
            <a:endParaRPr lang="en-US"/>
          </a:p>
        </p:txBody>
      </p:sp>
      <p:sp>
        <p:nvSpPr>
          <p:cNvPr id="8" name="Footer Placeholder 5"/>
          <p:cNvSpPr>
            <a:spLocks noGrp="1"/>
          </p:cNvSpPr>
          <p:nvPr>
            <p:ph type="ftr" sz="quarter" idx="16"/>
          </p:nvPr>
        </p:nvSpPr>
        <p:spPr/>
        <p:txBody>
          <a:bodyPr/>
          <a:lstStyle>
            <a:lvl1pPr>
              <a:defRPr/>
            </a:lvl1pPr>
          </a:lstStyle>
          <a:p>
            <a:pPr>
              <a:defRPr/>
            </a:pPr>
            <a:endParaRPr lang="en-US"/>
          </a:p>
        </p:txBody>
      </p:sp>
      <p:sp>
        <p:nvSpPr>
          <p:cNvPr id="11" name="Slide Number Placeholder 6"/>
          <p:cNvSpPr>
            <a:spLocks noGrp="1"/>
          </p:cNvSpPr>
          <p:nvPr>
            <p:ph type="sldNum" sz="quarter" idx="17"/>
          </p:nvPr>
        </p:nvSpPr>
        <p:spPr/>
        <p:txBody>
          <a:bodyPr/>
          <a:lstStyle>
            <a:lvl1pPr>
              <a:defRPr/>
            </a:lvl1pPr>
          </a:lstStyle>
          <a:p>
            <a:fld id="{835F6A56-464E-471B-BFEA-F46E8B7DA553}" type="slidenum">
              <a:rPr lang="en-US"/>
              <a:pPr/>
              <a:t>‹#›</a:t>
            </a:fld>
            <a:endParaRPr lang="en-US"/>
          </a:p>
        </p:txBody>
      </p:sp>
    </p:spTree>
    <p:extLst>
      <p:ext uri="{BB962C8B-B14F-4D97-AF65-F5344CB8AC3E}">
        <p14:creationId xmlns:p14="http://schemas.microsoft.com/office/powerpoint/2010/main" val="1491301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6"/>
          </p:nvPr>
        </p:nvSpPr>
        <p:spPr/>
        <p:txBody>
          <a:bodyPr/>
          <a:lstStyle>
            <a:lvl1pPr>
              <a:defRPr/>
            </a:lvl1pPr>
          </a:lstStyle>
          <a:p>
            <a:pPr>
              <a:defRPr/>
            </a:pPr>
            <a:endParaRPr lang="en-US"/>
          </a:p>
        </p:txBody>
      </p:sp>
      <p:sp>
        <p:nvSpPr>
          <p:cNvPr id="10" name="Footer Placeholder 5"/>
          <p:cNvSpPr>
            <a:spLocks noGrp="1"/>
          </p:cNvSpPr>
          <p:nvPr>
            <p:ph type="ftr" sz="quarter" idx="17"/>
          </p:nvPr>
        </p:nvSpPr>
        <p:spPr/>
        <p:txBody>
          <a:bodyPr/>
          <a:lstStyle>
            <a:lvl1pPr>
              <a:defRPr/>
            </a:lvl1pPr>
          </a:lstStyle>
          <a:p>
            <a:pPr>
              <a:defRPr/>
            </a:pPr>
            <a:endParaRPr lang="en-US"/>
          </a:p>
        </p:txBody>
      </p:sp>
      <p:sp>
        <p:nvSpPr>
          <p:cNvPr id="13" name="Slide Number Placeholder 6"/>
          <p:cNvSpPr>
            <a:spLocks noGrp="1"/>
          </p:cNvSpPr>
          <p:nvPr>
            <p:ph type="sldNum" sz="quarter" idx="18"/>
          </p:nvPr>
        </p:nvSpPr>
        <p:spPr/>
        <p:txBody>
          <a:bodyPr/>
          <a:lstStyle>
            <a:lvl1pPr>
              <a:defRPr/>
            </a:lvl1pPr>
          </a:lstStyle>
          <a:p>
            <a:fld id="{4766BF41-5B14-4301-8557-2D48BB33618A}" type="slidenum">
              <a:rPr lang="en-US"/>
              <a:pPr/>
              <a:t>‹#›</a:t>
            </a:fld>
            <a:endParaRPr lang="en-US"/>
          </a:p>
        </p:txBody>
      </p:sp>
    </p:spTree>
    <p:extLst>
      <p:ext uri="{BB962C8B-B14F-4D97-AF65-F5344CB8AC3E}">
        <p14:creationId xmlns:p14="http://schemas.microsoft.com/office/powerpoint/2010/main" val="7048352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777240"/>
          </a:xfrm>
        </p:spPr>
        <p:txBody>
          <a:bodyPr/>
          <a:lstStyle/>
          <a:p>
            <a:r>
              <a:rPr lang="en-US" dirty="0"/>
              <a:t>Click to edit Master title style</a:t>
            </a:r>
            <a:endParaRPr dirty="0"/>
          </a:p>
        </p:txBody>
      </p:sp>
      <p:sp>
        <p:nvSpPr>
          <p:cNvPr id="6" name="Slide Number Placeholder 4"/>
          <p:cNvSpPr>
            <a:spLocks noGrp="1"/>
          </p:cNvSpPr>
          <p:nvPr>
            <p:ph type="sldNum" sz="quarter" idx="12"/>
          </p:nvPr>
        </p:nvSpPr>
        <p:spPr/>
        <p:txBody>
          <a:bodyPr/>
          <a:lstStyle>
            <a:lvl1pPr>
              <a:defRPr sz="1400">
                <a:solidFill>
                  <a:schemeClr val="accent1"/>
                </a:solidFill>
              </a:defRPr>
            </a:lvl1pPr>
          </a:lstStyle>
          <a:p>
            <a:fld id="{D5533D12-EE30-46A3-9352-2C8CED1AB420}" type="slidenum">
              <a:rPr lang="en-US" smtClean="0"/>
              <a:pPr/>
              <a:t>‹#›</a:t>
            </a:fld>
            <a:endParaRPr lang="en-US" dirty="0"/>
          </a:p>
        </p:txBody>
      </p:sp>
    </p:spTree>
    <p:extLst>
      <p:ext uri="{BB962C8B-B14F-4D97-AF65-F5344CB8AC3E}">
        <p14:creationId xmlns:p14="http://schemas.microsoft.com/office/powerpoint/2010/main" val="2516211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C471EDFE-1E0A-40AC-BAA0-2026BDBF41C3}" type="slidenum">
              <a:rPr lang="en-US"/>
              <a:pPr/>
              <a:t>‹#›</a:t>
            </a:fld>
            <a:endParaRPr lang="en-US"/>
          </a:p>
        </p:txBody>
      </p:sp>
    </p:spTree>
    <p:extLst>
      <p:ext uri="{BB962C8B-B14F-4D97-AF65-F5344CB8AC3E}">
        <p14:creationId xmlns:p14="http://schemas.microsoft.com/office/powerpoint/2010/main" val="3495795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4FCAAD27-1E17-4380-9992-449531798437}" type="slidenum">
              <a:rPr lang="en-US"/>
              <a:pPr/>
              <a:t>‹#›</a:t>
            </a:fld>
            <a:endParaRPr lang="en-US"/>
          </a:p>
        </p:txBody>
      </p:sp>
    </p:spTree>
    <p:extLst>
      <p:ext uri="{BB962C8B-B14F-4D97-AF65-F5344CB8AC3E}">
        <p14:creationId xmlns:p14="http://schemas.microsoft.com/office/powerpoint/2010/main" val="2221131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9"/>
          <p:cNvSpPr>
            <a:spLocks noGrp="1"/>
          </p:cNvSpPr>
          <p:nvPr>
            <p:ph type="pic" sz="quarter" idx="13"/>
          </p:nvPr>
        </p:nvSpPr>
        <p:spPr>
          <a:xfrm>
            <a:off x="4760258" y="990600"/>
            <a:ext cx="4096512" cy="5611813"/>
          </a:xfrm>
        </p:spPr>
        <p:txBody>
          <a:bodyPr rtlCol="0">
            <a:normAutofit/>
          </a:bodyPr>
          <a:lstStyle>
            <a:lvl1pPr>
              <a:buNone/>
              <a:defRPr/>
            </a:lvl1pPr>
          </a:lstStyle>
          <a:p>
            <a:pPr lvl="0"/>
            <a:r>
              <a:rPr lang="en-US" noProof="0" dirty="0"/>
              <a:t>Click icon to add picture</a:t>
            </a:r>
            <a:endParaRPr noProof="0" dirty="0"/>
          </a:p>
        </p:txBody>
      </p:sp>
      <p:sp>
        <p:nvSpPr>
          <p:cNvPr id="6" name="Date Placeholder 4"/>
          <p:cNvSpPr>
            <a:spLocks noGrp="1"/>
          </p:cNvSpPr>
          <p:nvPr>
            <p:ph type="dt" sz="half" idx="14"/>
          </p:nvPr>
        </p:nvSpPr>
        <p:spPr>
          <a:xfrm>
            <a:off x="161925" y="6124575"/>
            <a:ext cx="1752600" cy="365125"/>
          </a:xfrm>
        </p:spPr>
        <p:txBody>
          <a:bodyPr/>
          <a:lstStyle>
            <a:lvl1pPr algn="l">
              <a:defRPr/>
            </a:lvl1pPr>
          </a:lstStyle>
          <a:p>
            <a:pPr>
              <a:defRPr/>
            </a:pPr>
            <a:endParaRPr lang="en-US"/>
          </a:p>
        </p:txBody>
      </p:sp>
      <p:sp>
        <p:nvSpPr>
          <p:cNvPr id="7" name="Footer Placeholder 5"/>
          <p:cNvSpPr>
            <a:spLocks noGrp="1"/>
          </p:cNvSpPr>
          <p:nvPr>
            <p:ph type="ftr" sz="quarter" idx="15"/>
          </p:nvPr>
        </p:nvSpPr>
        <p:spPr>
          <a:xfrm>
            <a:off x="174625" y="6356350"/>
            <a:ext cx="3863975" cy="365125"/>
          </a:xfrm>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E5771345-E64D-422B-8F4D-076F4FBDEDC6}" type="slidenum">
              <a:rPr lang="en-US"/>
              <a:pPr/>
              <a:t>‹#›</a:t>
            </a:fld>
            <a:endParaRPr lang="en-US"/>
          </a:p>
        </p:txBody>
      </p:sp>
    </p:spTree>
    <p:extLst>
      <p:ext uri="{BB962C8B-B14F-4D97-AF65-F5344CB8AC3E}">
        <p14:creationId xmlns:p14="http://schemas.microsoft.com/office/powerpoint/2010/main" val="951900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6858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2C8FBDFF-098F-4917-B625-38C8D49C6DC3}" type="slidenum">
              <a:rPr lang="en-US"/>
              <a:pPr/>
              <a:t>‹#›</a:t>
            </a:fld>
            <a:endParaRPr lang="en-US"/>
          </a:p>
        </p:txBody>
      </p:sp>
    </p:spTree>
    <p:extLst>
      <p:ext uri="{BB962C8B-B14F-4D97-AF65-F5344CB8AC3E}">
        <p14:creationId xmlns:p14="http://schemas.microsoft.com/office/powerpoint/2010/main" val="18226209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3006726"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2"/>
          <p:cNvSpPr>
            <a:spLocks noGrp="1"/>
          </p:cNvSpPr>
          <p:nvPr>
            <p:ph type="pic" idx="13"/>
          </p:nvPr>
        </p:nvSpPr>
        <p:spPr>
          <a:xfrm>
            <a:off x="3352800" y="268288"/>
            <a:ext cx="47019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11" name="Picture Placeholder 2"/>
          <p:cNvSpPr>
            <a:spLocks noGrp="1"/>
          </p:cNvSpPr>
          <p:nvPr>
            <p:ph type="pic" idx="14"/>
          </p:nvPr>
        </p:nvSpPr>
        <p:spPr>
          <a:xfrm>
            <a:off x="33528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12" name="Picture Placeholder 2"/>
          <p:cNvSpPr>
            <a:spLocks noGrp="1"/>
          </p:cNvSpPr>
          <p:nvPr>
            <p:ph type="pic" idx="15"/>
          </p:nvPr>
        </p:nvSpPr>
        <p:spPr>
          <a:xfrm>
            <a:off x="57505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9" name="Date Placeholder 4"/>
          <p:cNvSpPr>
            <a:spLocks noGrp="1"/>
          </p:cNvSpPr>
          <p:nvPr>
            <p:ph type="dt" sz="half" idx="16"/>
          </p:nvPr>
        </p:nvSpPr>
        <p:spPr/>
        <p:txBody>
          <a:bodyPr/>
          <a:lstStyle>
            <a:lvl1pPr>
              <a:defRPr/>
            </a:lvl1pPr>
          </a:lstStyle>
          <a:p>
            <a:pPr>
              <a:defRPr/>
            </a:pPr>
            <a:endParaRPr lang="en-US"/>
          </a:p>
        </p:txBody>
      </p:sp>
      <p:sp>
        <p:nvSpPr>
          <p:cNvPr id="13" name="Footer Placeholder 5"/>
          <p:cNvSpPr>
            <a:spLocks noGrp="1"/>
          </p:cNvSpPr>
          <p:nvPr>
            <p:ph type="ftr" sz="quarter" idx="17"/>
          </p:nvPr>
        </p:nvSpPr>
        <p:spPr/>
        <p:txBody>
          <a:bodyPr/>
          <a:lstStyle>
            <a:lvl1pPr>
              <a:defRPr/>
            </a:lvl1pPr>
          </a:lstStyle>
          <a:p>
            <a:pPr>
              <a:defRPr/>
            </a:pPr>
            <a:endParaRPr lang="en-US"/>
          </a:p>
        </p:txBody>
      </p:sp>
      <p:sp>
        <p:nvSpPr>
          <p:cNvPr id="14" name="Slide Number Placeholder 6"/>
          <p:cNvSpPr>
            <a:spLocks noGrp="1"/>
          </p:cNvSpPr>
          <p:nvPr>
            <p:ph type="sldNum" sz="quarter" idx="18"/>
          </p:nvPr>
        </p:nvSpPr>
        <p:spPr/>
        <p:txBody>
          <a:bodyPr/>
          <a:lstStyle>
            <a:lvl1pPr>
              <a:defRPr/>
            </a:lvl1pPr>
          </a:lstStyle>
          <a:p>
            <a:fld id="{A4C2EB88-4128-4CF6-BA11-E1F28208D1DB}" type="slidenum">
              <a:rPr lang="en-US"/>
              <a:pPr/>
              <a:t>‹#›</a:t>
            </a:fld>
            <a:endParaRPr lang="en-US"/>
          </a:p>
        </p:txBody>
      </p:sp>
    </p:spTree>
    <p:extLst>
      <p:ext uri="{BB962C8B-B14F-4D97-AF65-F5344CB8AC3E}">
        <p14:creationId xmlns:p14="http://schemas.microsoft.com/office/powerpoint/2010/main" val="27056658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54B5638-81FF-4674-BEF4-CFB2A71418BC}" type="slidenum">
              <a:rPr lang="en-US"/>
              <a:pPr/>
              <a:t>‹#›</a:t>
            </a:fld>
            <a:endParaRPr lang="en-US"/>
          </a:p>
        </p:txBody>
      </p:sp>
    </p:spTree>
    <p:extLst>
      <p:ext uri="{BB962C8B-B14F-4D97-AF65-F5344CB8AC3E}">
        <p14:creationId xmlns:p14="http://schemas.microsoft.com/office/powerpoint/2010/main" val="33580167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43799" y="1035424"/>
            <a:ext cx="1322295" cy="5090739"/>
          </a:xfrm>
        </p:spPr>
        <p:txBody>
          <a:bodyPr vert="eaVert" anchor="t"/>
          <a:lstStyle/>
          <a:p>
            <a:r>
              <a:rPr lang="en-US"/>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6D0C4D6-DAF9-4A04-B9AA-DBB23BB695D1}" type="slidenum">
              <a:rPr lang="en-US"/>
              <a:pPr/>
              <a:t>‹#›</a:t>
            </a:fld>
            <a:endParaRPr lang="en-US"/>
          </a:p>
        </p:txBody>
      </p:sp>
    </p:spTree>
    <p:extLst>
      <p:ext uri="{BB962C8B-B14F-4D97-AF65-F5344CB8AC3E}">
        <p14:creationId xmlns:p14="http://schemas.microsoft.com/office/powerpoint/2010/main" val="28748369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450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6715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rtlCol="0"/>
          <a:lstStyle>
            <a:lvl1pPr fontAlgn="auto">
              <a:spcBef>
                <a:spcPts val="0"/>
              </a:spcBef>
              <a:spcAft>
                <a:spcPts val="0"/>
              </a:spcAft>
              <a:defRPr>
                <a:solidFill>
                  <a:schemeClr val="tx2">
                    <a:lumMod val="60000"/>
                    <a:lumOff val="40000"/>
                  </a:schemeClr>
                </a:solidFill>
                <a:latin typeface="+mn-lt"/>
                <a:ea typeface="+mn-ea"/>
                <a:cs typeface="+mn-cs"/>
              </a:defRPr>
            </a:lvl1pPr>
          </a:lstStyle>
          <a:p>
            <a:pPr>
              <a:defRPr/>
            </a:pPr>
            <a:r>
              <a:rPr lang="en-US"/>
              <a:t>BPS - 5th Ed.</a:t>
            </a:r>
          </a:p>
        </p:txBody>
      </p:sp>
      <p:sp>
        <p:nvSpPr>
          <p:cNvPr id="7" name="Footer Placeholder 6"/>
          <p:cNvSpPr>
            <a:spLocks noGrp="1"/>
          </p:cNvSpPr>
          <p:nvPr>
            <p:ph type="ftr" sz="quarter" idx="11"/>
          </p:nvPr>
        </p:nvSpPr>
        <p:spPr>
          <a:xfrm>
            <a:off x="3124200" y="6248400"/>
            <a:ext cx="2895600" cy="457200"/>
          </a:xfrm>
        </p:spPr>
        <p:txBody>
          <a:bodyPr rtlCol="0"/>
          <a:lstStyle>
            <a:lvl1pPr fontAlgn="auto">
              <a:spcBef>
                <a:spcPts val="0"/>
              </a:spcBef>
              <a:spcAft>
                <a:spcPts val="0"/>
              </a:spcAft>
              <a:defRPr>
                <a:solidFill>
                  <a:schemeClr val="tx2">
                    <a:lumMod val="60000"/>
                    <a:lumOff val="40000"/>
                  </a:schemeClr>
                </a:solidFill>
                <a:latin typeface="+mn-lt"/>
                <a:ea typeface="+mn-ea"/>
              </a:defRPr>
            </a:lvl1pPr>
          </a:lstStyle>
          <a:p>
            <a:pPr>
              <a:defRPr/>
            </a:pPr>
            <a:r>
              <a:rPr lang="en-US"/>
              <a:t>Chapter 5</a:t>
            </a:r>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fld id="{05EE0205-9B90-4606-A06B-EDEA585DDAE1}" type="slidenum">
              <a:rPr lang="en-US"/>
              <a:pPr/>
              <a:t>‹#›</a:t>
            </a:fld>
            <a:endParaRPr lang="en-US"/>
          </a:p>
        </p:txBody>
      </p:sp>
    </p:spTree>
    <p:extLst>
      <p:ext uri="{BB962C8B-B14F-4D97-AF65-F5344CB8AC3E}">
        <p14:creationId xmlns:p14="http://schemas.microsoft.com/office/powerpoint/2010/main" val="40851026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rtlCol="0"/>
          <a:lstStyle>
            <a:lvl1pPr fontAlgn="auto">
              <a:spcBef>
                <a:spcPts val="0"/>
              </a:spcBef>
              <a:spcAft>
                <a:spcPts val="0"/>
              </a:spcAft>
              <a:defRPr>
                <a:solidFill>
                  <a:schemeClr val="tx2">
                    <a:lumMod val="60000"/>
                    <a:lumOff val="40000"/>
                  </a:schemeClr>
                </a:solidFill>
                <a:latin typeface="+mn-lt"/>
                <a:ea typeface="+mn-ea"/>
                <a:cs typeface="+mn-cs"/>
              </a:defRPr>
            </a:lvl1pPr>
          </a:lstStyle>
          <a:p>
            <a:pPr>
              <a:defRPr/>
            </a:pPr>
            <a:r>
              <a:rPr lang="en-US"/>
              <a:t>BPS - 5th Ed.</a:t>
            </a:r>
          </a:p>
        </p:txBody>
      </p:sp>
      <p:sp>
        <p:nvSpPr>
          <p:cNvPr id="6" name="Footer Placeholder 5"/>
          <p:cNvSpPr>
            <a:spLocks noGrp="1"/>
          </p:cNvSpPr>
          <p:nvPr>
            <p:ph type="ftr" sz="quarter" idx="11"/>
          </p:nvPr>
        </p:nvSpPr>
        <p:spPr>
          <a:xfrm>
            <a:off x="3124200" y="6248400"/>
            <a:ext cx="2895600" cy="457200"/>
          </a:xfrm>
        </p:spPr>
        <p:txBody>
          <a:bodyPr rtlCol="0"/>
          <a:lstStyle>
            <a:lvl1pPr fontAlgn="auto">
              <a:spcBef>
                <a:spcPts val="0"/>
              </a:spcBef>
              <a:spcAft>
                <a:spcPts val="0"/>
              </a:spcAft>
              <a:defRPr>
                <a:solidFill>
                  <a:schemeClr val="tx2">
                    <a:lumMod val="60000"/>
                    <a:lumOff val="40000"/>
                  </a:schemeClr>
                </a:solidFill>
                <a:latin typeface="+mn-lt"/>
                <a:ea typeface="+mn-ea"/>
              </a:defRPr>
            </a:lvl1pPr>
          </a:lstStyle>
          <a:p>
            <a:pPr>
              <a:defRPr/>
            </a:pPr>
            <a:r>
              <a:rPr lang="en-US"/>
              <a:t>Chapter 5</a:t>
            </a:r>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7BDAC6BE-B282-4782-BB5F-870F7773BF97}" type="slidenum">
              <a:rPr lang="en-US"/>
              <a:pPr/>
              <a:t>‹#›</a:t>
            </a:fld>
            <a:endParaRPr lang="en-US"/>
          </a:p>
        </p:txBody>
      </p:sp>
    </p:spTree>
    <p:extLst>
      <p:ext uri="{BB962C8B-B14F-4D97-AF65-F5344CB8AC3E}">
        <p14:creationId xmlns:p14="http://schemas.microsoft.com/office/powerpoint/2010/main" val="17322503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a:t>Click to edit Master title style</a:t>
            </a:r>
          </a:p>
        </p:txBody>
      </p:sp>
      <p:sp>
        <p:nvSpPr>
          <p:cNvPr id="3" name="Content Placeholder 2"/>
          <p:cNvSpPr>
            <a:spLocks noGrp="1"/>
          </p:cNvSpPr>
          <p:nvPr>
            <p:ph sz="half" idx="1"/>
          </p:nvPr>
        </p:nvSpPr>
        <p:spPr>
          <a:xfrm>
            <a:off x="457200" y="1143000"/>
            <a:ext cx="40386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1430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624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6997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14400"/>
            <a:ext cx="6508750" cy="1143000"/>
          </a:xfrm>
          <a:prstGeom prst="rect">
            <a:avLst/>
          </a:prstGeom>
          <a:solidFill>
            <a:schemeClr val="accent2"/>
          </a:solidFill>
          <a:ln>
            <a:noFill/>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2209800"/>
            <a:ext cx="6508750"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199313" y="6356350"/>
            <a:ext cx="1752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100" b="1">
                <a:solidFill>
                  <a:srgbClr val="60B9EC"/>
                </a:solidFill>
                <a:latin typeface="Arial" pitchFamily="34" charset="0"/>
                <a:ea typeface="ＭＳ Ｐゴシック" pitchFamily="34" charset="-128"/>
                <a:cs typeface="+mn-cs"/>
              </a:defRPr>
            </a:lvl1pPr>
          </a:lstStyle>
          <a:p>
            <a:pPr>
              <a:defRPr/>
            </a:pPr>
            <a:endParaRPr lang="en-US"/>
          </a:p>
        </p:txBody>
      </p:sp>
      <p:sp>
        <p:nvSpPr>
          <p:cNvPr id="5" name="Footer Placeholder 4"/>
          <p:cNvSpPr>
            <a:spLocks noGrp="1"/>
          </p:cNvSpPr>
          <p:nvPr>
            <p:ph type="ftr" sz="quarter" idx="3"/>
          </p:nvPr>
        </p:nvSpPr>
        <p:spPr>
          <a:xfrm>
            <a:off x="174625" y="6356350"/>
            <a:ext cx="60071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100" b="1">
                <a:solidFill>
                  <a:srgbClr val="60B9EC"/>
                </a:solidFill>
                <a:latin typeface="Arial" pitchFamily="34" charset="0"/>
                <a:ea typeface="ＭＳ Ｐゴシック" pitchFamily="34" charset="-128"/>
                <a:cs typeface="+mn-cs"/>
              </a:defRPr>
            </a:lvl1pPr>
          </a:lstStyle>
          <a:p>
            <a:pPr>
              <a:defRPr/>
            </a:pPr>
            <a:endParaRPr lang="en-US"/>
          </a:p>
        </p:txBody>
      </p:sp>
      <p:sp>
        <p:nvSpPr>
          <p:cNvPr id="6" name="Slide Number Placeholder 5"/>
          <p:cNvSpPr>
            <a:spLocks noGrp="1"/>
          </p:cNvSpPr>
          <p:nvPr>
            <p:ph type="sldNum" sz="quarter" idx="4"/>
          </p:nvPr>
        </p:nvSpPr>
        <p:spPr>
          <a:xfrm>
            <a:off x="8256588" y="360363"/>
            <a:ext cx="50641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200" b="1">
                <a:solidFill>
                  <a:schemeClr val="bg1"/>
                </a:solidFill>
              </a:defRPr>
            </a:lvl1pPr>
          </a:lstStyle>
          <a:p>
            <a:fld id="{B72E27DA-0B5B-4FE6-BA29-4BB884A84EA4}"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5357" r:id="rId1"/>
    <p:sldLayoutId id="2147485358" r:id="rId2"/>
    <p:sldLayoutId id="2147485359" r:id="rId3"/>
    <p:sldLayoutId id="2147485360" r:id="rId4"/>
    <p:sldLayoutId id="2147485361" r:id="rId5"/>
    <p:sldLayoutId id="2147485362" r:id="rId6"/>
    <p:sldLayoutId id="2147485363" r:id="rId7"/>
    <p:sldLayoutId id="2147485364" r:id="rId8"/>
    <p:sldLayoutId id="2147485365" r:id="rId9"/>
    <p:sldLayoutId id="2147485366" r:id="rId10"/>
    <p:sldLayoutId id="2147485367" r:id="rId11"/>
    <p:sldLayoutId id="2147485368" r:id="rId12"/>
    <p:sldLayoutId id="2147485369" r:id="rId13"/>
    <p:sldLayoutId id="2147485370" r:id="rId14"/>
    <p:sldLayoutId id="2147485371" r:id="rId15"/>
    <p:sldLayoutId id="2147485372" r:id="rId16"/>
    <p:sldLayoutId id="2147485373" r:id="rId17"/>
    <p:sldLayoutId id="2147485374" r:id="rId18"/>
    <p:sldLayoutId id="2147485375" r:id="rId19"/>
    <p:sldLayoutId id="2147485376" r:id="rId20"/>
    <p:sldLayoutId id="2147485377" r:id="rId21"/>
    <p:sldLayoutId id="2147485378" r:id="rId22"/>
  </p:sldLayoutIdLst>
  <p:hf hdr="0" ftr="0" dt="0"/>
  <p:txStyles>
    <p:titleStyle>
      <a:lvl1pPr algn="l" rtl="0" eaLnBrk="0" fontAlgn="base" hangingPunct="0">
        <a:spcBef>
          <a:spcPct val="0"/>
        </a:spcBef>
        <a:spcAft>
          <a:spcPct val="0"/>
        </a:spcAft>
        <a:defRPr sz="3600" kern="1200">
          <a:solidFill>
            <a:schemeClr val="accent1"/>
          </a:solidFill>
          <a:latin typeface="+mj-lt"/>
          <a:ea typeface="ＭＳ Ｐゴシック" pitchFamily="-1" charset="-128"/>
          <a:cs typeface="ＭＳ Ｐゴシック" pitchFamily="-1" charset="-128"/>
        </a:defRPr>
      </a:lvl1pPr>
      <a:lvl2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2pPr>
      <a:lvl3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3pPr>
      <a:lvl4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4pPr>
      <a:lvl5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5pPr>
      <a:lvl6pPr marL="4572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6pPr>
      <a:lvl7pPr marL="9144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7pPr>
      <a:lvl8pPr marL="13716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8pPr>
      <a:lvl9pPr marL="18288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9pPr>
    </p:titleStyle>
    <p:bodyStyle>
      <a:lvl1pPr marL="228600" indent="-228600" algn="l" rtl="0" eaLnBrk="0" fontAlgn="base" hangingPunct="0">
        <a:spcBef>
          <a:spcPts val="1800"/>
        </a:spcBef>
        <a:spcAft>
          <a:spcPct val="0"/>
        </a:spcAft>
        <a:buClr>
          <a:schemeClr val="accent1"/>
        </a:buClr>
        <a:buSzPct val="100000"/>
        <a:buFont typeface="Wingdings 2"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7.png"/><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7"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0.png"/><Relationship Id="rId9"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5" Type="http://schemas.openxmlformats.org/officeDocument/2006/relationships/image" Target="../media/image27.png"/><Relationship Id="rId4" Type="http://schemas.openxmlformats.org/officeDocument/2006/relationships/image" Target="../media/image26.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9.emf"/><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vmlDrawing" Target="../drawings/vmlDrawing5.vml"/><Relationship Id="rId5" Type="http://schemas.openxmlformats.org/officeDocument/2006/relationships/image" Target="../media/image35.emf"/><Relationship Id="rId4" Type="http://schemas.openxmlformats.org/officeDocument/2006/relationships/oleObject" Target="../embeddings/oleObject5.bin"/></Relationships>
</file>

<file path=ppt/slides/_rels/slide28.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vmlDrawing" Target="../drawings/vmlDrawing6.vml"/><Relationship Id="rId5" Type="http://schemas.openxmlformats.org/officeDocument/2006/relationships/image" Target="../media/image37.emf"/><Relationship Id="rId4" Type="http://schemas.openxmlformats.org/officeDocument/2006/relationships/oleObject" Target="../embeddings/oleObject6.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14.xml"/><Relationship Id="rId7" Type="http://schemas.openxmlformats.org/officeDocument/2006/relationships/image" Target="../media/image40.emf"/><Relationship Id="rId2" Type="http://schemas.openxmlformats.org/officeDocument/2006/relationships/slideLayout" Target="../slideLayouts/slideLayout12.xml"/><Relationship Id="rId1" Type="http://schemas.openxmlformats.org/officeDocument/2006/relationships/vmlDrawing" Target="../drawings/vmlDrawing7.vml"/><Relationship Id="rId6" Type="http://schemas.openxmlformats.org/officeDocument/2006/relationships/oleObject" Target="../embeddings/oleObject8.bin"/><Relationship Id="rId5" Type="http://schemas.openxmlformats.org/officeDocument/2006/relationships/image" Target="../media/image39.emf"/><Relationship Id="rId4" Type="http://schemas.openxmlformats.org/officeDocument/2006/relationships/oleObject" Target="../embeddings/oleObject7.bin"/><Relationship Id="rId9" Type="http://schemas.openxmlformats.org/officeDocument/2006/relationships/image" Target="../media/image41.emf"/></Relationships>
</file>

<file path=ppt/slides/_rels/slide3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notesSlide" Target="../notesSlides/notesSlide15.xml"/><Relationship Id="rId7" Type="http://schemas.openxmlformats.org/officeDocument/2006/relationships/image" Target="../media/image43.emf"/><Relationship Id="rId2" Type="http://schemas.openxmlformats.org/officeDocument/2006/relationships/slideLayout" Target="../slideLayouts/slideLayout12.xml"/><Relationship Id="rId1" Type="http://schemas.openxmlformats.org/officeDocument/2006/relationships/vmlDrawing" Target="../drawings/vmlDrawing8.vml"/><Relationship Id="rId6" Type="http://schemas.openxmlformats.org/officeDocument/2006/relationships/oleObject" Target="../embeddings/oleObject11.bin"/><Relationship Id="rId5" Type="http://schemas.openxmlformats.org/officeDocument/2006/relationships/image" Target="../media/image42.emf"/><Relationship Id="rId4" Type="http://schemas.openxmlformats.org/officeDocument/2006/relationships/oleObject" Target="../embeddings/oleObject10.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27208" y="4298469"/>
            <a:ext cx="7772400" cy="1829761"/>
          </a:xfrm>
        </p:spPr>
        <p:txBody>
          <a:bodyPr>
            <a:normAutofit fontScale="90000"/>
          </a:bodyPr>
          <a:lstStyle/>
          <a:p>
            <a:pPr algn="ctr" eaLnBrk="1" fontAlgn="auto" hangingPunct="1">
              <a:spcAft>
                <a:spcPts val="0"/>
              </a:spcAft>
              <a:defRPr/>
            </a:pPr>
            <a:r>
              <a:rPr lang="en-US" sz="3000" b="0" dirty="0">
                <a:solidFill>
                  <a:schemeClr val="tx1"/>
                </a:solidFill>
                <a:effectLst/>
                <a:latin typeface="Arial" pitchFamily="34" charset="0"/>
                <a:ea typeface="ヒラギノ角ゴ Pro W3" pitchFamily="-84" charset="-128"/>
                <a:cs typeface="Arial" pitchFamily="34" charset="0"/>
              </a:rPr>
              <a:t>Chapter 7</a:t>
            </a:r>
            <a:br>
              <a:rPr lang="en-US" sz="3000" b="0" dirty="0">
                <a:solidFill>
                  <a:schemeClr val="tx1"/>
                </a:solidFill>
                <a:effectLst/>
                <a:latin typeface="Arial" pitchFamily="34" charset="0"/>
                <a:ea typeface="ヒラギノ角ゴ Pro W3" pitchFamily="-84" charset="-128"/>
                <a:cs typeface="Arial" pitchFamily="34" charset="0"/>
              </a:rPr>
            </a:br>
            <a:r>
              <a:rPr lang="en-US" sz="3000" b="0" dirty="0">
                <a:solidFill>
                  <a:schemeClr val="tx1"/>
                </a:solidFill>
                <a:effectLst/>
                <a:latin typeface="Arial" pitchFamily="34" charset="0"/>
                <a:ea typeface="ヒラギノ角ゴ Pro W3" pitchFamily="-84" charset="-128"/>
                <a:cs typeface="Arial" pitchFamily="34" charset="0"/>
              </a:rPr>
              <a:t>Inference for </a:t>
            </a:r>
            <a:r>
              <a:rPr lang="en-US" sz="3000" b="0" dirty="0" smtClean="0">
                <a:solidFill>
                  <a:schemeClr val="tx1"/>
                </a:solidFill>
                <a:effectLst/>
                <a:latin typeface="Arial" pitchFamily="34" charset="0"/>
                <a:ea typeface="ヒラギノ角ゴ Pro W3" pitchFamily="-84" charset="-128"/>
                <a:cs typeface="Arial" pitchFamily="34" charset="0"/>
              </a:rPr>
              <a:t>Means</a:t>
            </a:r>
            <a:r>
              <a:rPr lang="en-US" sz="3000" b="0" dirty="0">
                <a:solidFill>
                  <a:schemeClr val="tx1"/>
                </a:solidFill>
                <a:effectLst/>
                <a:latin typeface="Arial" pitchFamily="34" charset="0"/>
                <a:ea typeface="ヒラギノ角ゴ Pro W3" pitchFamily="-84" charset="-128"/>
                <a:cs typeface="Arial" pitchFamily="34" charset="0"/>
              </a:rPr>
              <a:t/>
            </a:r>
            <a:br>
              <a:rPr lang="en-US" sz="3000" b="0" dirty="0">
                <a:solidFill>
                  <a:schemeClr val="tx1"/>
                </a:solidFill>
                <a:effectLst/>
                <a:latin typeface="Arial" pitchFamily="34" charset="0"/>
                <a:ea typeface="ヒラギノ角ゴ Pro W3" pitchFamily="-84" charset="-128"/>
                <a:cs typeface="Arial" pitchFamily="34" charset="0"/>
              </a:rPr>
            </a:br>
            <a:r>
              <a:rPr lang="en-US" sz="3000" b="0" dirty="0">
                <a:effectLst/>
                <a:ea typeface="ヒラギノ角ゴ Pro W3" pitchFamily="-84" charset="-128"/>
              </a:rPr>
              <a:t/>
            </a:r>
            <a:br>
              <a:rPr lang="en-US" sz="3000" b="0" dirty="0">
                <a:effectLst/>
                <a:ea typeface="ヒラギノ角ゴ Pro W3" pitchFamily="-84" charset="-128"/>
              </a:rPr>
            </a:br>
            <a:r>
              <a:rPr lang="en-US" sz="3000" b="0" dirty="0">
                <a:effectLst/>
                <a:ea typeface="ヒラギノ角ゴ Pro W3" pitchFamily="-84" charset="-128"/>
              </a:rPr>
              <a:t>Lecture Slides</a:t>
            </a:r>
            <a:endParaRPr lang="en-US" sz="3000" b="0" dirty="0">
              <a:solidFill>
                <a:schemeClr val="tx1"/>
              </a:solidFill>
              <a:effectLst/>
              <a:latin typeface="Arial" pitchFamily="34" charset="0"/>
              <a:ea typeface="ヒラギノ角ゴ Pro W3" pitchFamily="-84" charset="-128"/>
              <a:cs typeface="Arial" pitchFamily="34" charset="0"/>
            </a:endParaRPr>
          </a:p>
        </p:txBody>
      </p:sp>
      <p:sp>
        <p:nvSpPr>
          <p:cNvPr id="2" name="Footer Placeholder 1"/>
          <p:cNvSpPr>
            <a:spLocks noGrp="1"/>
          </p:cNvSpPr>
          <p:nvPr>
            <p:ph type="ftr" sz="quarter" idx="4294967295"/>
          </p:nvPr>
        </p:nvSpPr>
        <p:spPr>
          <a:xfrm>
            <a:off x="5943600" y="6294120"/>
            <a:ext cx="2807738" cy="365125"/>
          </a:xfrm>
          <a:prstGeom prst="rect">
            <a:avLst/>
          </a:prstGeom>
        </p:spPr>
        <p:txBody>
          <a:bodyPr/>
          <a:lstStyle/>
          <a:p>
            <a:pPr>
              <a:defRPr/>
            </a:pPr>
            <a:r>
              <a:rPr lang="en-US" sz="1200" dirty="0">
                <a:solidFill>
                  <a:prstClr val="black"/>
                </a:solidFill>
              </a:rPr>
              <a:t>© 2021 W.H. Freeman and Company</a:t>
            </a:r>
          </a:p>
        </p:txBody>
      </p:sp>
      <p:sp>
        <p:nvSpPr>
          <p:cNvPr id="6" name="Google Shape;56;p1"/>
          <p:cNvSpPr txBox="1">
            <a:spLocks/>
          </p:cNvSpPr>
          <p:nvPr/>
        </p:nvSpPr>
        <p:spPr>
          <a:xfrm>
            <a:off x="304800" y="457200"/>
            <a:ext cx="8617217" cy="3644900"/>
          </a:xfrm>
          <a:prstGeom prst="rect">
            <a:avLst/>
          </a:prstGeom>
          <a:noFill/>
          <a:ln>
            <a:noFill/>
          </a:ln>
        </p:spPr>
        <p:txBody>
          <a:bodyPr spcFirstLastPara="1" vert="horz" wrap="square" lIns="91425" tIns="45700" rIns="91425" bIns="4570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spcBef>
                <a:spcPts val="0"/>
              </a:spcBef>
              <a:buClrTx/>
              <a:buFontTx/>
            </a:pPr>
            <a:r>
              <a:rPr lang="en-US" sz="5000" dirty="0">
                <a:latin typeface="Garamond"/>
                <a:ea typeface="Garamond"/>
                <a:cs typeface="Garamond"/>
                <a:sym typeface="Garamond"/>
              </a:rPr>
              <a:t>Introduction to the Practice of Statistics</a:t>
            </a:r>
            <a:br>
              <a:rPr lang="en-US" sz="5000" dirty="0">
                <a:latin typeface="Garamond"/>
                <a:ea typeface="Garamond"/>
                <a:cs typeface="Garamond"/>
                <a:sym typeface="Garamond"/>
              </a:rPr>
            </a:br>
            <a:r>
              <a:rPr lang="en-US" sz="5000" dirty="0">
                <a:latin typeface="Garamond"/>
                <a:ea typeface="Garamond"/>
                <a:cs typeface="Garamond"/>
                <a:sym typeface="Garamond"/>
              </a:rPr>
              <a:t>Tenth Edition</a:t>
            </a: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3500" dirty="0">
                <a:latin typeface="Garamond"/>
                <a:ea typeface="Garamond"/>
                <a:cs typeface="Garamond"/>
                <a:sym typeface="Garamond"/>
              </a:rPr>
              <a:t>David S. Moore			George P. McCabe</a:t>
            </a:r>
            <a:br>
              <a:rPr lang="en-US" sz="3500" dirty="0">
                <a:latin typeface="Garamond"/>
                <a:ea typeface="Garamond"/>
                <a:cs typeface="Garamond"/>
                <a:sym typeface="Garamond"/>
              </a:rPr>
            </a:br>
            <a:r>
              <a:rPr lang="en-US" sz="3500" dirty="0">
                <a:latin typeface="Garamond"/>
                <a:ea typeface="Garamond"/>
                <a:cs typeface="Garamond"/>
                <a:sym typeface="Garamond"/>
              </a:rPr>
              <a:t>Bruce Craig</a:t>
            </a:r>
          </a:p>
        </p:txBody>
      </p:sp>
    </p:spTree>
    <p:extLst>
      <p:ext uri="{BB962C8B-B14F-4D97-AF65-F5344CB8AC3E}">
        <p14:creationId xmlns:p14="http://schemas.microsoft.com/office/powerpoint/2010/main" val="4159262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87" y="311152"/>
            <a:ext cx="6508750" cy="1143000"/>
          </a:xfrm>
        </p:spPr>
        <p:txBody>
          <a:bodyPr/>
          <a:lstStyle/>
          <a:p>
            <a:r>
              <a:rPr lang="en-US" b="1" dirty="0"/>
              <a:t>Chapter 7</a:t>
            </a:r>
            <a:br>
              <a:rPr lang="en-US" b="1" dirty="0"/>
            </a:br>
            <a:r>
              <a:rPr lang="en-US" b="1" dirty="0"/>
              <a:t>Inference for </a:t>
            </a:r>
            <a:r>
              <a:rPr lang="en-US" b="1" dirty="0" smtClean="0"/>
              <a:t>Means</a:t>
            </a:r>
            <a:endParaRPr lang="en-US" b="1" dirty="0"/>
          </a:p>
        </p:txBody>
      </p:sp>
      <p:sp>
        <p:nvSpPr>
          <p:cNvPr id="3" name="Content Placeholder 2"/>
          <p:cNvSpPr>
            <a:spLocks noGrp="1"/>
          </p:cNvSpPr>
          <p:nvPr>
            <p:ph idx="1"/>
          </p:nvPr>
        </p:nvSpPr>
        <p:spPr>
          <a:xfrm>
            <a:off x="357187" y="1952626"/>
            <a:ext cx="8186738" cy="2247900"/>
          </a:xfrm>
        </p:spPr>
        <p:txBody>
          <a:bodyPr/>
          <a:lstStyle/>
          <a:p>
            <a:pPr marL="0" lvl="0" indent="0" eaLnBrk="1" hangingPunct="1">
              <a:spcBef>
                <a:spcPct val="0"/>
              </a:spcBef>
              <a:spcAft>
                <a:spcPts val="1800"/>
              </a:spcAft>
              <a:buClrTx/>
              <a:buSzTx/>
              <a:buNone/>
            </a:pPr>
            <a:r>
              <a:rPr lang="en-US" sz="2800" b="1" dirty="0">
                <a:solidFill>
                  <a:srgbClr val="073779"/>
                </a:solidFill>
                <a:latin typeface="Arial" pitchFamily="34" charset="0"/>
                <a:ea typeface="ＭＳ Ｐゴシック" pitchFamily="34" charset="-128"/>
                <a:cs typeface="+mn-cs"/>
              </a:rPr>
              <a:t>7.1 Inference for the Mean of a Population</a:t>
            </a:r>
          </a:p>
          <a:p>
            <a:pPr marL="0" lvl="0" indent="0" eaLnBrk="1" hangingPunct="1">
              <a:spcBef>
                <a:spcPct val="0"/>
              </a:spcBef>
              <a:spcAft>
                <a:spcPts val="1800"/>
              </a:spcAft>
              <a:buClrTx/>
              <a:buSzTx/>
              <a:buNone/>
            </a:pPr>
            <a:r>
              <a:rPr lang="en-US" sz="2800" b="1" dirty="0">
                <a:solidFill>
                  <a:srgbClr val="073779"/>
                </a:solidFill>
                <a:latin typeface="Arial" pitchFamily="34" charset="0"/>
                <a:ea typeface="ＭＳ Ｐゴシック" pitchFamily="34" charset="-128"/>
                <a:cs typeface="+mn-cs"/>
              </a:rPr>
              <a:t>7.2 Comparing Two Means</a:t>
            </a:r>
          </a:p>
          <a:p>
            <a:pPr marL="0" lvl="0" indent="0" eaLnBrk="1" hangingPunct="1">
              <a:spcBef>
                <a:spcPct val="0"/>
              </a:spcBef>
              <a:spcAft>
                <a:spcPts val="1800"/>
              </a:spcAft>
              <a:buClrTx/>
              <a:buSzTx/>
              <a:buNone/>
            </a:pPr>
            <a:r>
              <a:rPr lang="en-US" sz="2800" b="1" dirty="0">
                <a:solidFill>
                  <a:srgbClr val="073779"/>
                </a:solidFill>
                <a:latin typeface="Arial" pitchFamily="34" charset="0"/>
                <a:ea typeface="ＭＳ Ｐゴシック" pitchFamily="34" charset="-128"/>
                <a:cs typeface="+mn-cs"/>
              </a:rPr>
              <a:t>7.3 Sample Size Calculations </a:t>
            </a:r>
          </a:p>
          <a:p>
            <a:pPr marL="0" indent="0">
              <a:buNone/>
            </a:pPr>
            <a:endParaRPr lang="en-US" dirty="0"/>
          </a:p>
        </p:txBody>
      </p:sp>
      <p:sp>
        <p:nvSpPr>
          <p:cNvPr id="26625"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D9310B4-81D7-48E4-9D0F-23F6BB76A932}" type="slidenum">
              <a:rPr lang="en-US" sz="1400">
                <a:solidFill>
                  <a:schemeClr val="accent1"/>
                </a:solidFill>
              </a:rPr>
              <a:pPr/>
              <a:t>2</a:t>
            </a:fld>
            <a:endParaRPr lang="en-US" sz="140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2"/>
          <p:cNvSpPr>
            <a:spLocks noGrp="1"/>
          </p:cNvSpPr>
          <p:nvPr>
            <p:ph type="title"/>
          </p:nvPr>
        </p:nvSpPr>
        <p:spPr/>
        <p:txBody>
          <a:bodyPr anchor="t"/>
          <a:lstStyle/>
          <a:p>
            <a:pPr eaLnBrk="1" hangingPunct="1"/>
            <a:r>
              <a:rPr lang="en-US" b="1">
                <a:ea typeface="ＭＳ Ｐゴシック" pitchFamily="34" charset="-128"/>
              </a:rPr>
              <a:t>7.1 Inference for the Mean of a Population</a:t>
            </a:r>
          </a:p>
        </p:txBody>
      </p:sp>
      <p:sp>
        <p:nvSpPr>
          <p:cNvPr id="27650" name="Text Placeholder 3"/>
          <p:cNvSpPr>
            <a:spLocks noGrp="1"/>
          </p:cNvSpPr>
          <p:nvPr>
            <p:ph idx="1"/>
          </p:nvPr>
        </p:nvSpPr>
        <p:spPr/>
        <p:txBody>
          <a:bodyPr/>
          <a:lstStyle/>
          <a:p>
            <a:pPr eaLnBrk="1" hangingPunct="1">
              <a:buSzPct val="110000"/>
              <a:buFont typeface="Wingdings" pitchFamily="2" charset="2"/>
              <a:buChar char="§"/>
            </a:pPr>
            <a:r>
              <a:rPr lang="en-US" sz="2400">
                <a:solidFill>
                  <a:schemeClr val="accent1"/>
                </a:solidFill>
                <a:ea typeface="ＭＳ Ｐゴシック" pitchFamily="34" charset="-128"/>
              </a:rPr>
              <a:t>The </a:t>
            </a:r>
            <a:r>
              <a:rPr lang="en-US" sz="2400" i="1">
                <a:solidFill>
                  <a:schemeClr val="accent1"/>
                </a:solidFill>
                <a:ea typeface="ＭＳ Ｐゴシック" pitchFamily="34" charset="-128"/>
              </a:rPr>
              <a:t>t</a:t>
            </a:r>
            <a:r>
              <a:rPr lang="en-US" sz="2400">
                <a:solidFill>
                  <a:schemeClr val="accent1"/>
                </a:solidFill>
                <a:ea typeface="ＭＳ Ｐゴシック" pitchFamily="34" charset="-128"/>
              </a:rPr>
              <a:t> distributions</a:t>
            </a:r>
          </a:p>
          <a:p>
            <a:pPr eaLnBrk="1" hangingPunct="1">
              <a:buSzPct val="110000"/>
              <a:buFont typeface="Wingdings" pitchFamily="2" charset="2"/>
              <a:buChar char="§"/>
            </a:pPr>
            <a:r>
              <a:rPr lang="en-US" sz="2400">
                <a:solidFill>
                  <a:schemeClr val="accent1"/>
                </a:solidFill>
                <a:ea typeface="ＭＳ Ｐゴシック" pitchFamily="34" charset="-128"/>
              </a:rPr>
              <a:t>One-sample </a:t>
            </a:r>
            <a:r>
              <a:rPr lang="en-US" sz="2400" i="1">
                <a:solidFill>
                  <a:schemeClr val="accent1"/>
                </a:solidFill>
                <a:ea typeface="ＭＳ Ｐゴシック" pitchFamily="34" charset="-128"/>
              </a:rPr>
              <a:t>t</a:t>
            </a:r>
            <a:r>
              <a:rPr lang="en-US" sz="2400">
                <a:solidFill>
                  <a:schemeClr val="accent1"/>
                </a:solidFill>
                <a:ea typeface="ＭＳ Ｐゴシック" pitchFamily="34" charset="-128"/>
              </a:rPr>
              <a:t> confidence interval</a:t>
            </a:r>
          </a:p>
          <a:p>
            <a:pPr eaLnBrk="1" hangingPunct="1">
              <a:buSzPct val="110000"/>
              <a:buFont typeface="Wingdings" pitchFamily="2" charset="2"/>
              <a:buChar char="§"/>
            </a:pPr>
            <a:r>
              <a:rPr lang="en-US" sz="2400">
                <a:solidFill>
                  <a:schemeClr val="accent1"/>
                </a:solidFill>
                <a:ea typeface="ＭＳ Ｐゴシック" pitchFamily="34" charset="-128"/>
              </a:rPr>
              <a:t>One-sample </a:t>
            </a:r>
            <a:r>
              <a:rPr lang="en-US" sz="2400" i="1">
                <a:solidFill>
                  <a:schemeClr val="accent1"/>
                </a:solidFill>
                <a:ea typeface="ＭＳ Ｐゴシック" pitchFamily="34" charset="-128"/>
              </a:rPr>
              <a:t>t</a:t>
            </a:r>
            <a:r>
              <a:rPr lang="en-US" sz="2400">
                <a:solidFill>
                  <a:schemeClr val="accent1"/>
                </a:solidFill>
                <a:ea typeface="ＭＳ Ｐゴシック" pitchFamily="34" charset="-128"/>
              </a:rPr>
              <a:t> test</a:t>
            </a:r>
          </a:p>
          <a:p>
            <a:pPr eaLnBrk="1" hangingPunct="1">
              <a:buSzPct val="110000"/>
              <a:buFont typeface="Wingdings" pitchFamily="2" charset="2"/>
              <a:buChar char="§"/>
            </a:pPr>
            <a:r>
              <a:rPr lang="en-US" sz="2400">
                <a:solidFill>
                  <a:schemeClr val="accent1"/>
                </a:solidFill>
                <a:ea typeface="ＭＳ Ｐゴシック" pitchFamily="34" charset="-128"/>
              </a:rPr>
              <a:t>Matched pairs </a:t>
            </a:r>
            <a:r>
              <a:rPr lang="en-US" sz="2400" i="1">
                <a:solidFill>
                  <a:schemeClr val="accent1"/>
                </a:solidFill>
                <a:ea typeface="ＭＳ Ｐゴシック" pitchFamily="34" charset="-128"/>
              </a:rPr>
              <a:t>t</a:t>
            </a:r>
            <a:r>
              <a:rPr lang="en-US" sz="2400">
                <a:solidFill>
                  <a:schemeClr val="accent1"/>
                </a:solidFill>
                <a:ea typeface="ＭＳ Ｐゴシック" pitchFamily="34" charset="-128"/>
              </a:rPr>
              <a:t> procedures</a:t>
            </a:r>
          </a:p>
          <a:p>
            <a:pPr eaLnBrk="1" hangingPunct="1">
              <a:buSzPct val="110000"/>
              <a:buFont typeface="Wingdings" pitchFamily="2" charset="2"/>
              <a:buChar char="§"/>
            </a:pPr>
            <a:r>
              <a:rPr lang="en-US" sz="2400">
                <a:solidFill>
                  <a:schemeClr val="accent1"/>
                </a:solidFill>
                <a:ea typeface="ＭＳ Ｐゴシック" pitchFamily="34" charset="-128"/>
              </a:rPr>
              <a:t>Robustness of the </a:t>
            </a:r>
            <a:r>
              <a:rPr lang="en-US" sz="2400" i="1">
                <a:solidFill>
                  <a:schemeClr val="accent1"/>
                </a:solidFill>
                <a:ea typeface="ＭＳ Ｐゴシック" pitchFamily="34" charset="-128"/>
              </a:rPr>
              <a:t>t</a:t>
            </a:r>
            <a:r>
              <a:rPr lang="en-US" sz="2400">
                <a:solidFill>
                  <a:schemeClr val="accent1"/>
                </a:solidFill>
                <a:ea typeface="ＭＳ Ｐゴシック" pitchFamily="34" charset="-128"/>
              </a:rPr>
              <a:t> procedures</a:t>
            </a:r>
          </a:p>
        </p:txBody>
      </p:sp>
      <p:sp>
        <p:nvSpPr>
          <p:cNvPr id="27651"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B4B026E6-E7FA-4D23-BCC5-B077CFA046F6}" type="slidenum">
              <a:rPr lang="en-US" sz="1400">
                <a:solidFill>
                  <a:schemeClr val="accent1"/>
                </a:solidFill>
              </a:rPr>
              <a:pPr/>
              <a:t>3</a:t>
            </a:fld>
            <a:endParaRPr lang="en-US" sz="140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dirty="0">
                <a:ea typeface="ＭＳ Ｐゴシック" pitchFamily="34" charset="-128"/>
              </a:rPr>
              <a:t>The </a:t>
            </a:r>
            <a:r>
              <a:rPr lang="en-US" i="1" dirty="0">
                <a:ea typeface="ＭＳ Ｐゴシック" pitchFamily="34" charset="-128"/>
              </a:rPr>
              <a:t>t</a:t>
            </a:r>
            <a:r>
              <a:rPr lang="en-US" dirty="0">
                <a:ea typeface="ＭＳ Ｐゴシック" pitchFamily="34" charset="-128"/>
              </a:rPr>
              <a:t> Distributions 1</a:t>
            </a:r>
          </a:p>
        </p:txBody>
      </p:sp>
      <p:sp>
        <p:nvSpPr>
          <p:cNvPr id="2867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59434EF2-1C0E-4EC3-AEFA-E28D200F0EA8}" type="slidenum">
              <a:rPr lang="en-US" sz="1200">
                <a:solidFill>
                  <a:schemeClr val="accent1"/>
                </a:solidFill>
              </a:rPr>
              <a:pPr>
                <a:lnSpc>
                  <a:spcPct val="80000"/>
                </a:lnSpc>
              </a:pPr>
              <a:t>4</a:t>
            </a:fld>
            <a:endParaRPr lang="en-US" sz="1200">
              <a:solidFill>
                <a:schemeClr val="accent1"/>
              </a:solidFill>
            </a:endParaRPr>
          </a:p>
        </p:txBody>
      </p:sp>
      <mc:AlternateContent xmlns:mc="http://schemas.openxmlformats.org/markup-compatibility/2006" xmlns:a14="http://schemas.microsoft.com/office/drawing/2010/main">
        <mc:Choice Requires="a14">
          <p:sp>
            <p:nvSpPr>
              <p:cNvPr id="28681" name="TextBox 1" descr="The image shows the statement &quot;When the sampling distribution of 'x bar' is close to Normal, we can find probabilities involving 'x bar' by standardizing:&quot;"/>
              <p:cNvSpPr txBox="1">
                <a:spLocks noChangeArrowheads="1"/>
              </p:cNvSpPr>
              <p:nvPr/>
            </p:nvSpPr>
            <p:spPr bwMode="auto">
              <a:xfrm>
                <a:off x="271462" y="1069975"/>
                <a:ext cx="8478838" cy="1200329"/>
              </a:xfrm>
              <a:prstGeom prst="rect">
                <a:avLst/>
              </a:prstGeom>
              <a:solidFill>
                <a:srgbClr val="FFD780"/>
              </a:solidFill>
              <a:ln>
                <a:noFill/>
              </a:ln>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t>When the sampling distribution of </a:t>
                </a:r>
                <a14:m>
                  <m:oMath xmlns:m="http://schemas.openxmlformats.org/officeDocument/2006/math">
                    <m:acc>
                      <m:accPr>
                        <m:chr m:val="̅"/>
                        <m:ctrlPr>
                          <a:rPr lang="en-US" sz="1800" i="1" smtClean="0">
                            <a:latin typeface="Cambria Math" panose="02040503050406030204" pitchFamily="18" charset="0"/>
                          </a:rPr>
                        </m:ctrlPr>
                      </m:accPr>
                      <m:e>
                        <m:r>
                          <a:rPr lang="en-US" sz="1800" b="0" i="1" smtClean="0">
                            <a:latin typeface="Cambria Math" panose="02040503050406030204" pitchFamily="18" charset="0"/>
                          </a:rPr>
                          <m:t>𝑥</m:t>
                        </m:r>
                      </m:e>
                    </m:acc>
                  </m:oMath>
                </a14:m>
                <a:r>
                  <a:rPr lang="en-US" sz="1800" dirty="0"/>
                  <a:t> is close to Normal, we can find probabilities involving </a:t>
                </a:r>
                <a14:m>
                  <m:oMath xmlns:m="http://schemas.openxmlformats.org/officeDocument/2006/math">
                    <m:acc>
                      <m:accPr>
                        <m:chr m:val="̅"/>
                        <m:ctrlPr>
                          <a:rPr lang="en-US" sz="1800" i="1" smtClean="0">
                            <a:latin typeface="Cambria Math" panose="02040503050406030204" pitchFamily="18" charset="0"/>
                          </a:rPr>
                        </m:ctrlPr>
                      </m:accPr>
                      <m:e>
                        <m:r>
                          <a:rPr lang="en-US" sz="1800" b="0" i="1" smtClean="0">
                            <a:latin typeface="Cambria Math" panose="02040503050406030204" pitchFamily="18" charset="0"/>
                          </a:rPr>
                          <m:t>𝑥</m:t>
                        </m:r>
                      </m:e>
                    </m:acc>
                  </m:oMath>
                </a14:m>
                <a:r>
                  <a:rPr lang="en-US" sz="1800" dirty="0"/>
                  <a:t> by standardizing:</a:t>
                </a:r>
              </a:p>
              <a:p>
                <a:pPr eaLnBrk="1" hangingPunct="1"/>
                <a:endParaRPr lang="en-US" sz="1800" dirty="0"/>
              </a:p>
              <a:p>
                <a:pPr eaLnBrk="1" hangingPunct="1"/>
                <a:endParaRPr lang="en-US" sz="1800" dirty="0"/>
              </a:p>
            </p:txBody>
          </p:sp>
        </mc:Choice>
        <mc:Fallback xmlns="">
          <p:sp>
            <p:nvSpPr>
              <p:cNvPr id="28681" name="TextBox 1" descr="The image shows the statement &quot;When the sampling distribution of 'x bar' is close to Normal, we can find probabilities involving 'x bar' by standardizing:&quot;"/>
              <p:cNvSpPr txBox="1">
                <a:spLocks noRot="1" noChangeAspect="1" noMove="1" noResize="1" noEditPoints="1" noAdjustHandles="1" noChangeArrowheads="1" noChangeShapeType="1" noTextEdit="1"/>
              </p:cNvSpPr>
              <p:nvPr/>
            </p:nvSpPr>
            <p:spPr bwMode="auto">
              <a:xfrm>
                <a:off x="271462" y="1069975"/>
                <a:ext cx="8478838" cy="1200329"/>
              </a:xfrm>
              <a:prstGeom prst="rect">
                <a:avLst/>
              </a:prstGeom>
              <a:blipFill>
                <a:blip r:embed="rId3"/>
                <a:stretch>
                  <a:fillRect l="-647" t="-3061"/>
                </a:stretch>
              </a:blipFill>
              <a:ln>
                <a:noFill/>
              </a:ln>
            </p:spPr>
            <p:txBody>
              <a:bodyPr/>
              <a:lstStyle/>
              <a:p>
                <a:r>
                  <a:rPr lang="en-US">
                    <a:noFill/>
                  </a:rPr>
                  <a:t> </a:t>
                </a:r>
              </a:p>
            </p:txBody>
          </p:sp>
        </mc:Fallback>
      </mc:AlternateContent>
      <p:graphicFrame>
        <p:nvGraphicFramePr>
          <p:cNvPr id="28675" name="Object 2" descr="The image shows a mathematical expression given as: 'Z' equals to 'x bar' minus mew whole divide by sigma upon sqaure root of n."/>
          <p:cNvGraphicFramePr>
            <a:graphicFrameLocks noChangeAspect="1"/>
          </p:cNvGraphicFramePr>
          <p:nvPr>
            <p:extLst>
              <p:ext uri="{D42A27DB-BD31-4B8C-83A1-F6EECF244321}">
                <p14:modId xmlns:p14="http://schemas.microsoft.com/office/powerpoint/2010/main" val="2222050490"/>
              </p:ext>
            </p:extLst>
          </p:nvPr>
        </p:nvGraphicFramePr>
        <p:xfrm>
          <a:off x="3859213" y="1525588"/>
          <a:ext cx="1058862" cy="725487"/>
        </p:xfrm>
        <a:graphic>
          <a:graphicData uri="http://schemas.openxmlformats.org/presentationml/2006/ole">
            <mc:AlternateContent xmlns:mc="http://schemas.openxmlformats.org/markup-compatibility/2006">
              <mc:Choice xmlns:v="urn:schemas-microsoft-com:vml" Requires="v">
                <p:oleObj spid="_x0000_s1031" name="Equation" r:id="rId4" imgW="647700" imgH="444500" progId="Equation.3">
                  <p:embed/>
                </p:oleObj>
              </mc:Choice>
              <mc:Fallback>
                <p:oleObj name="Equation" r:id="rId4" imgW="647700" imgH="4445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9213" y="1525588"/>
                        <a:ext cx="1058862" cy="725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8" name="Picture 7" descr="The image shows two graphs representing 't-distribution.' The first graph is a sampling distribution graph of 'x bar'. The x axis shows 'values of x bar.' The graph peaks at mew, which is unknown. On standardizing, the graph becomes a standard normal curve, where mew equals to 0 and sigma equals to 1. There is an equation depicted in between these graphs, which is given as: 'Z' equals to 'x bar' minus mew whole divide by sigma upon sqaure root of n."/>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85800" y="2498725"/>
            <a:ext cx="7559675"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525463" y="5138738"/>
            <a:ext cx="82248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t>When we don</a:t>
            </a:r>
            <a:r>
              <a:rPr lang="en-US" altLang="en-US" sz="1800" dirty="0"/>
              <a:t>’</a:t>
            </a:r>
            <a:r>
              <a:rPr lang="en-US" altLang="ja-JP" sz="1800" dirty="0"/>
              <a:t>t know </a:t>
            </a:r>
            <a:r>
              <a:rPr lang="en-US" altLang="ja-JP" sz="1800" i="1" dirty="0"/>
              <a:t>σ</a:t>
            </a:r>
            <a:r>
              <a:rPr lang="en-US" altLang="ja-JP" sz="1800" dirty="0"/>
              <a:t>, we can estimate it using the sample standard deviation </a:t>
            </a:r>
            <a:r>
              <a:rPr lang="en-US" altLang="ja-JP" sz="1800" i="1" dirty="0" smtClean="0"/>
              <a:t>s. </a:t>
            </a:r>
            <a:r>
              <a:rPr lang="en-US" altLang="ja-JP" sz="1800" dirty="0"/>
              <a:t>What happens when we standardize?</a:t>
            </a:r>
            <a:endParaRPr lang="en-US" sz="1800" dirty="0"/>
          </a:p>
        </p:txBody>
      </p:sp>
      <mc:AlternateContent xmlns:mc="http://schemas.openxmlformats.org/markup-compatibility/2006">
        <mc:Choice xmlns:a14="http://schemas.microsoft.com/office/drawing/2010/main" Requires="a14">
          <p:sp>
            <p:nvSpPr>
              <p:cNvPr id="10" name="Object 3" descr="The image shows a mathematical expression given as: question mark sign is mentioned twice, which is equal to 'x bar' minus 'mew,' whole divide by 'sigma' by 'sqaure root of n.'"/>
              <p:cNvSpPr txBox="1"/>
              <p:nvPr/>
            </p:nvSpPr>
            <p:spPr bwMode="auto">
              <a:xfrm>
                <a:off x="563563" y="5845175"/>
                <a:ext cx="1289050" cy="725488"/>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en-US" i="1" smtClean="0">
                          <a:solidFill>
                            <a:srgbClr val="FF0000"/>
                          </a:solidFill>
                          <a:latin typeface="Cambria Math" panose="02040503050406030204" pitchFamily="18" charset="0"/>
                        </a:rPr>
                        <m:t>??</m:t>
                      </m: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𝑥</m:t>
                              </m:r>
                            </m:e>
                          </m:acc>
                          <m:r>
                            <a:rPr lang="en-US" i="1">
                              <a:solidFill>
                                <a:srgbClr val="000000"/>
                              </a:solidFill>
                              <a:latin typeface="Cambria Math" panose="02040503050406030204" pitchFamily="18" charset="0"/>
                            </a:rPr>
                            <m:t>−</m:t>
                          </m:r>
                          <m:r>
                            <m:rPr>
                              <m:sty m:val="p"/>
                            </m:rPr>
                            <a:rPr lang="en-US" i="1">
                              <a:solidFill>
                                <a:srgbClr val="000000"/>
                              </a:solidFill>
                              <a:latin typeface="Cambria Math" panose="02040503050406030204" pitchFamily="18" charset="0"/>
                            </a:rPr>
                            <m:t>μ</m:t>
                          </m:r>
                        </m:num>
                        <m:den>
                          <m:f>
                            <m:fPr>
                              <m:ctrlPr>
                                <a:rPr lang="en-US" i="1">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𝑠</m:t>
                              </m:r>
                            </m:num>
                            <m:den>
                              <m:rad>
                                <m:radPr>
                                  <m:degHide m:val="on"/>
                                  <m:ctrlPr>
                                    <a:rPr lang="en-US" i="1">
                                      <a:solidFill>
                                        <a:srgbClr val="000000"/>
                                      </a:solidFill>
                                      <a:latin typeface="Cambria Math" panose="02040503050406030204" pitchFamily="18" charset="0"/>
                                    </a:rPr>
                                  </m:ctrlPr>
                                </m:radPr>
                                <m:deg/>
                                <m:e>
                                  <m:r>
                                    <a:rPr lang="en-US" i="1">
                                      <a:solidFill>
                                        <a:srgbClr val="000000"/>
                                      </a:solidFill>
                                      <a:latin typeface="Cambria Math" panose="02040503050406030204" pitchFamily="18" charset="0"/>
                                    </a:rPr>
                                    <m:t>𝑛</m:t>
                                  </m:r>
                                </m:e>
                              </m:rad>
                            </m:den>
                          </m:f>
                        </m:den>
                      </m:f>
                    </m:oMath>
                  </m:oMathPara>
                </a14:m>
                <a:endParaRPr lang="en-US" dirty="0"/>
              </a:p>
            </p:txBody>
          </p:sp>
        </mc:Choice>
        <mc:Fallback>
          <p:sp>
            <p:nvSpPr>
              <p:cNvPr id="10" name="Object 3" descr="The image shows a mathematical expression given as: question mark sign is mentioned twice, which is equal to 'x bar' minus 'mew,' whole divide by 'sigma' by 'sqaure root of n.'"/>
              <p:cNvSpPr txBox="1">
                <a:spLocks noRot="1" noChangeAspect="1" noMove="1" noResize="1" noEditPoints="1" noAdjustHandles="1" noChangeArrowheads="1" noChangeShapeType="1" noTextEdit="1"/>
              </p:cNvSpPr>
              <p:nvPr/>
            </p:nvSpPr>
            <p:spPr bwMode="auto">
              <a:xfrm>
                <a:off x="563563" y="5845175"/>
                <a:ext cx="1289050" cy="725488"/>
              </a:xfrm>
              <a:prstGeom prst="rect">
                <a:avLst/>
              </a:prstGeom>
              <a:blipFill rotWithShape="0">
                <a:blip r:embed="rId7"/>
                <a:stretch>
                  <a:fillRect/>
                </a:stretch>
              </a:blipFill>
              <a:ln>
                <a:noFill/>
              </a:ln>
              <a:effectLst/>
            </p:spPr>
            <p:txBody>
              <a:bodyPr/>
              <a:lstStyle/>
              <a:p>
                <a:r>
                  <a:rPr lang="en-US">
                    <a:noFill/>
                  </a:rPr>
                  <a:t> </a:t>
                </a:r>
              </a:p>
            </p:txBody>
          </p:sp>
        </mc:Fallback>
      </mc:AlternateContent>
      <p:sp>
        <p:nvSpPr>
          <p:cNvPr id="11" name="TextBox 10"/>
          <p:cNvSpPr txBox="1">
            <a:spLocks noChangeArrowheads="1"/>
          </p:cNvSpPr>
          <p:nvPr/>
        </p:nvSpPr>
        <p:spPr bwMode="auto">
          <a:xfrm>
            <a:off x="2076450" y="5935663"/>
            <a:ext cx="6854825" cy="400050"/>
          </a:xfrm>
          <a:prstGeom prst="rect">
            <a:avLst/>
          </a:prstGeom>
          <a:solidFill>
            <a:srgbClr val="FFFF00"/>
          </a:solidFill>
          <a:ln w="10000">
            <a:solidFill>
              <a:srgbClr val="B88472"/>
            </a:solidFill>
            <a:miter lim="800000"/>
            <a:headEnd/>
            <a:tailEnd/>
          </a:ln>
          <a:effectLst>
            <a:outerShdw blurRad="38100" dist="30000" dir="5400000" rotWithShape="0">
              <a:srgbClr val="808080">
                <a:alpha val="45000"/>
              </a:srgbClr>
            </a:outerShdw>
          </a:effectLst>
        </p:spPr>
        <p:txBody>
          <a:bodyPr wrap="none">
            <a:spAutoFit/>
          </a:bodyPr>
          <a:lstStyle/>
          <a:p>
            <a:pPr eaLnBrk="1" hangingPunct="1">
              <a:defRPr/>
            </a:pPr>
            <a:r>
              <a:rPr lang="en-US" sz="2000" b="1" dirty="0">
                <a:highlight>
                  <a:srgbClr val="FFFF00"/>
                </a:highlight>
                <a:latin typeface="+mn-lt"/>
                <a:ea typeface="+mn-ea"/>
              </a:rPr>
              <a:t>This new statistic does </a:t>
            </a:r>
            <a:r>
              <a:rPr lang="en-US" sz="2000" b="1" i="1" dirty="0">
                <a:highlight>
                  <a:srgbClr val="FFFF00"/>
                </a:highlight>
                <a:latin typeface="+mn-lt"/>
                <a:ea typeface="+mn-ea"/>
              </a:rPr>
              <a:t>not</a:t>
            </a:r>
            <a:r>
              <a:rPr lang="en-US" sz="2000" b="1" dirty="0">
                <a:highlight>
                  <a:srgbClr val="FFFF00"/>
                </a:highlight>
                <a:latin typeface="+mn-lt"/>
                <a:ea typeface="+mn-ea"/>
              </a:rPr>
              <a:t> have a Normal distribution.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Bottom)">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slide(fromBottom)">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i="1" dirty="0"/>
              <a:t>t</a:t>
            </a:r>
            <a:r>
              <a:rPr lang="en-US" dirty="0"/>
              <a:t> Distributions 2</a:t>
            </a:r>
          </a:p>
        </p:txBody>
      </p:sp>
      <p:sp>
        <p:nvSpPr>
          <p:cNvPr id="2969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36B5F7C4-90B3-4CA4-ABF9-399F7523C44F}" type="slidenum">
              <a:rPr lang="en-US" sz="1200">
                <a:solidFill>
                  <a:schemeClr val="accent1"/>
                </a:solidFill>
              </a:rPr>
              <a:pPr>
                <a:lnSpc>
                  <a:spcPct val="80000"/>
                </a:lnSpc>
              </a:pPr>
              <a:t>5</a:t>
            </a:fld>
            <a:endParaRPr lang="en-US" sz="1200">
              <a:solidFill>
                <a:schemeClr val="accent1"/>
              </a:solidFill>
            </a:endParaRPr>
          </a:p>
        </p:txBody>
      </p:sp>
      <p:sp>
        <p:nvSpPr>
          <p:cNvPr id="29698" name="Vertical Text Placeholder 2"/>
          <p:cNvSpPr txBox="1">
            <a:spLocks/>
          </p:cNvSpPr>
          <p:nvPr/>
        </p:nvSpPr>
        <p:spPr bwMode="auto">
          <a:xfrm>
            <a:off x="142080" y="1127125"/>
            <a:ext cx="8889625" cy="1984375"/>
          </a:xfrm>
          <a:prstGeom prst="rect">
            <a:avLst/>
          </a:prstGeom>
          <a:solidFill>
            <a:srgbClr val="FFD780"/>
          </a:solidFill>
          <a:ln>
            <a:noFill/>
          </a:ln>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spcBef>
                <a:spcPts val="700"/>
              </a:spcBef>
              <a:buClr>
                <a:schemeClr val="accent2"/>
              </a:buClr>
              <a:buSzPct val="60000"/>
              <a:buFont typeface="Wingdings" pitchFamily="2" charset="2"/>
              <a:buNone/>
            </a:pPr>
            <a:r>
              <a:rPr lang="en-US" sz="2000" dirty="0">
                <a:solidFill>
                  <a:srgbClr val="000000"/>
                </a:solidFill>
              </a:rPr>
              <a:t>When we standardize based on the sample standard deviation </a:t>
            </a:r>
            <a:r>
              <a:rPr lang="en-US" sz="2000" i="1" dirty="0" smtClean="0">
                <a:solidFill>
                  <a:srgbClr val="000000"/>
                </a:solidFill>
              </a:rPr>
              <a:t>s</a:t>
            </a:r>
            <a:r>
              <a:rPr lang="en-US" sz="2000" dirty="0" smtClean="0">
                <a:solidFill>
                  <a:srgbClr val="000000"/>
                </a:solidFill>
              </a:rPr>
              <a:t>, </a:t>
            </a:r>
            <a:r>
              <a:rPr lang="en-US" sz="2000" dirty="0">
                <a:solidFill>
                  <a:srgbClr val="000000"/>
                </a:solidFill>
              </a:rPr>
              <a:t>the statistic has a new distribution </a:t>
            </a:r>
            <a:r>
              <a:rPr lang="en-US" sz="2000" dirty="0"/>
              <a:t>called a </a:t>
            </a:r>
            <a:r>
              <a:rPr lang="en-US" sz="2000" b="1" i="1" dirty="0"/>
              <a:t>t</a:t>
            </a:r>
            <a:r>
              <a:rPr lang="en-US" sz="2000" b="1" dirty="0"/>
              <a:t> distribution</a:t>
            </a:r>
            <a:r>
              <a:rPr lang="en-US" sz="2000" dirty="0"/>
              <a:t>.</a:t>
            </a:r>
            <a:r>
              <a:rPr lang="en-US" sz="2000" b="1" dirty="0"/>
              <a:t>  </a:t>
            </a:r>
          </a:p>
          <a:p>
            <a:pPr>
              <a:spcBef>
                <a:spcPts val="700"/>
              </a:spcBef>
              <a:buClr>
                <a:schemeClr val="accent2"/>
              </a:buClr>
              <a:buSzPct val="60000"/>
              <a:buFont typeface="Wingdings" pitchFamily="2" charset="2"/>
              <a:buNone/>
            </a:pPr>
            <a:r>
              <a:rPr lang="en-US" sz="2000" dirty="0">
                <a:solidFill>
                  <a:srgbClr val="000000"/>
                </a:solidFill>
              </a:rPr>
              <a:t>The </a:t>
            </a:r>
            <a:r>
              <a:rPr lang="en-US" sz="2000" i="1" dirty="0">
                <a:solidFill>
                  <a:srgbClr val="000000"/>
                </a:solidFill>
              </a:rPr>
              <a:t>t </a:t>
            </a:r>
            <a:r>
              <a:rPr lang="en-US" sz="2000" dirty="0">
                <a:solidFill>
                  <a:srgbClr val="000000"/>
                </a:solidFill>
              </a:rPr>
              <a:t>distribution has a shape similar to that of the standard Normal curve in that </a:t>
            </a:r>
            <a:r>
              <a:rPr lang="en-US" sz="2000" i="1" dirty="0">
                <a:solidFill>
                  <a:srgbClr val="000000"/>
                </a:solidFill>
              </a:rPr>
              <a:t>it is symmetric with a single peak at 0.</a:t>
            </a:r>
          </a:p>
          <a:p>
            <a:pPr>
              <a:spcBef>
                <a:spcPts val="700"/>
              </a:spcBef>
              <a:buClr>
                <a:schemeClr val="accent2"/>
              </a:buClr>
              <a:buSzPct val="60000"/>
              <a:buFont typeface="Wingdings" pitchFamily="2" charset="2"/>
              <a:buNone/>
            </a:pPr>
            <a:r>
              <a:rPr lang="en-US" sz="2000" dirty="0">
                <a:solidFill>
                  <a:srgbClr val="000000"/>
                </a:solidFill>
              </a:rPr>
              <a:t>However, it differs from the Normal curve in that it has </a:t>
            </a:r>
            <a:r>
              <a:rPr lang="en-US" sz="2000" i="1" dirty="0">
                <a:solidFill>
                  <a:srgbClr val="000000"/>
                </a:solidFill>
              </a:rPr>
              <a:t>more area in the tails</a:t>
            </a:r>
            <a:r>
              <a:rPr lang="en-US" sz="2000" dirty="0">
                <a:solidFill>
                  <a:srgbClr val="000000"/>
                </a:solidFill>
              </a:rPr>
              <a:t>.</a:t>
            </a:r>
          </a:p>
        </p:txBody>
      </p:sp>
      <p:graphicFrame>
        <p:nvGraphicFramePr>
          <p:cNvPr id="9" name="Object 2" descr="The image shows the statement &quot;Like any standardized statistic, 't' tells us how far 'x bar' is from its mean mew in the standard deviation units.&quot;"/>
          <p:cNvGraphicFramePr>
            <a:graphicFrameLocks noChangeAspect="1"/>
          </p:cNvGraphicFramePr>
          <p:nvPr>
            <p:extLst>
              <p:ext uri="{D42A27DB-BD31-4B8C-83A1-F6EECF244321}">
                <p14:modId xmlns:p14="http://schemas.microsoft.com/office/powerpoint/2010/main" val="2351630318"/>
              </p:ext>
            </p:extLst>
          </p:nvPr>
        </p:nvGraphicFramePr>
        <p:xfrm>
          <a:off x="203200" y="5341938"/>
          <a:ext cx="8828505" cy="539750"/>
        </p:xfrm>
        <a:graphic>
          <a:graphicData uri="http://schemas.openxmlformats.org/presentationml/2006/ole">
            <mc:AlternateContent xmlns:mc="http://schemas.openxmlformats.org/markup-compatibility/2006">
              <mc:Choice xmlns:v="urn:schemas-microsoft-com:vml" Requires="v">
                <p:oleObj spid="_x0000_s2055" name="Equation" r:id="rId3" imgW="4737100" imgH="330200" progId="Equation.DSMT4">
                  <p:embed/>
                </p:oleObj>
              </mc:Choice>
              <mc:Fallback>
                <p:oleObj name="Equation" r:id="rId3" imgW="4737100" imgH="3302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200" y="5341938"/>
                        <a:ext cx="8828505" cy="539750"/>
                      </a:xfrm>
                      <a:prstGeom prst="rect">
                        <a:avLst/>
                      </a:prstGeom>
                      <a:noFill/>
                      <a:ln>
                        <a:noFill/>
                      </a:ln>
                      <a:effectLst/>
                    </p:spPr>
                  </p:pic>
                </p:oleObj>
              </mc:Fallback>
            </mc:AlternateContent>
          </a:graphicData>
        </a:graphic>
      </p:graphicFrame>
      <p:sp>
        <p:nvSpPr>
          <p:cNvPr id="7" name="TextBox 6"/>
          <p:cNvSpPr txBox="1">
            <a:spLocks noChangeArrowheads="1"/>
          </p:cNvSpPr>
          <p:nvPr/>
        </p:nvSpPr>
        <p:spPr bwMode="auto">
          <a:xfrm>
            <a:off x="174625" y="6098691"/>
            <a:ext cx="8828504" cy="708025"/>
          </a:xfrm>
          <a:prstGeom prst="rect">
            <a:avLst/>
          </a:prstGeom>
          <a:solidFill>
            <a:srgbClr val="FFD780"/>
          </a:solidFill>
          <a:ln>
            <a:noFill/>
          </a:ln>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2000" dirty="0"/>
              <a:t>However, there is a different </a:t>
            </a:r>
            <a:r>
              <a:rPr lang="en-US" sz="2000" i="1" dirty="0"/>
              <a:t>t</a:t>
            </a:r>
            <a:r>
              <a:rPr lang="en-US" sz="2000" dirty="0"/>
              <a:t> distribution for each sample size, specified by its </a:t>
            </a:r>
            <a:r>
              <a:rPr lang="en-US" sz="2000" b="1" dirty="0"/>
              <a:t>degrees of freedom (df)</a:t>
            </a:r>
            <a:r>
              <a:rPr lang="en-US" sz="2000" dirty="0"/>
              <a:t>.</a:t>
            </a:r>
            <a:endParaRPr lang="en-US" sz="2000" b="1" dirty="0"/>
          </a:p>
        </p:txBody>
      </p:sp>
      <p:pic>
        <p:nvPicPr>
          <p:cNvPr id="3" name="Picture 2" descr="The image shows a graph of 't' distribution and 'z' distribution. It mentions an equation 't' is equal to 'x bar' minus mu whole divide by 's' by 'square root of n,' and the graph corresponding to this equation is a bell curve with more area in its tails. The t distribution has a shape similar to that of the standard normal curve as it is symmetric with a single peak at 0. &#10;The other graph is obtained from z distribution given by an equation: 'x bar' minus mu whole divide by 'sigma' upon 'square root of n,' which is a bell curve with less or no area in its tails.&#10;"/>
          <p:cNvPicPr>
            <a:picLocks noChangeAspect="1"/>
          </p:cNvPicPr>
          <p:nvPr/>
        </p:nvPicPr>
        <p:blipFill>
          <a:blip r:embed="rId5"/>
          <a:stretch>
            <a:fillRect/>
          </a:stretch>
        </p:blipFill>
        <p:spPr>
          <a:xfrm>
            <a:off x="1911096" y="3210111"/>
            <a:ext cx="4682299" cy="203321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The </a:t>
            </a:r>
            <a:r>
              <a:rPr lang="en-US" i="1" dirty="0"/>
              <a:t>t</a:t>
            </a:r>
            <a:r>
              <a:rPr lang="en-US" dirty="0"/>
              <a:t> Distributions 3</a:t>
            </a:r>
          </a:p>
        </p:txBody>
      </p:sp>
      <p:sp>
        <p:nvSpPr>
          <p:cNvPr id="3072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29CCAD93-8230-41E9-9316-90926D819D91}" type="slidenum">
              <a:rPr lang="en-US" sz="1200">
                <a:solidFill>
                  <a:schemeClr val="accent1"/>
                </a:solidFill>
              </a:rPr>
              <a:pPr>
                <a:lnSpc>
                  <a:spcPct val="80000"/>
                </a:lnSpc>
              </a:pPr>
              <a:t>6</a:t>
            </a:fld>
            <a:endParaRPr lang="en-US" sz="1200">
              <a:solidFill>
                <a:schemeClr val="accent1"/>
              </a:solidFill>
            </a:endParaRPr>
          </a:p>
        </p:txBody>
      </p:sp>
      <p:sp>
        <p:nvSpPr>
          <p:cNvPr id="30722" name="Vertical Text Placeholder 2"/>
          <p:cNvSpPr txBox="1">
            <a:spLocks/>
          </p:cNvSpPr>
          <p:nvPr/>
        </p:nvSpPr>
        <p:spPr bwMode="auto">
          <a:xfrm>
            <a:off x="174625" y="1151777"/>
            <a:ext cx="8824996" cy="1012825"/>
          </a:xfrm>
          <a:prstGeom prst="rect">
            <a:avLst/>
          </a:prstGeom>
          <a:solidFill>
            <a:srgbClr val="FFD780"/>
          </a:solidFill>
          <a:ln>
            <a:noFill/>
          </a:ln>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buFont typeface="Wingdings" pitchFamily="2" charset="2"/>
              <a:buNone/>
            </a:pPr>
            <a:r>
              <a:rPr lang="en-US" sz="2000" dirty="0">
                <a:solidFill>
                  <a:srgbClr val="000000"/>
                </a:solidFill>
              </a:rPr>
              <a:t>When we perform inference about a population mean </a:t>
            </a:r>
            <a:r>
              <a:rPr lang="en-US" sz="2000" i="1" dirty="0">
                <a:solidFill>
                  <a:srgbClr val="000000"/>
                </a:solidFill>
              </a:rPr>
              <a:t>µ </a:t>
            </a:r>
            <a:r>
              <a:rPr lang="en-US" sz="2000" dirty="0">
                <a:solidFill>
                  <a:srgbClr val="000000"/>
                </a:solidFill>
              </a:rPr>
              <a:t>using a </a:t>
            </a:r>
            <a:r>
              <a:rPr lang="en-US" sz="2000" i="1" dirty="0">
                <a:solidFill>
                  <a:srgbClr val="000000"/>
                </a:solidFill>
              </a:rPr>
              <a:t>t </a:t>
            </a:r>
            <a:r>
              <a:rPr lang="en-US" sz="2000" dirty="0">
                <a:solidFill>
                  <a:srgbClr val="000000"/>
                </a:solidFill>
              </a:rPr>
              <a:t>distribution, the appropriate degrees of freedom are found by subtracting 1 from the sample size </a:t>
            </a:r>
            <a:r>
              <a:rPr lang="en-US" sz="2000" i="1" dirty="0">
                <a:solidFill>
                  <a:srgbClr val="000000"/>
                </a:solidFill>
              </a:rPr>
              <a:t>n</a:t>
            </a:r>
            <a:r>
              <a:rPr lang="en-US" sz="2000" dirty="0">
                <a:solidFill>
                  <a:srgbClr val="000000"/>
                </a:solidFill>
              </a:rPr>
              <a:t>, </a:t>
            </a:r>
            <a:r>
              <a:rPr lang="en-US" sz="2000" dirty="0"/>
              <a:t>making </a:t>
            </a:r>
            <a:r>
              <a:rPr lang="en-US" sz="2000" dirty="0" err="1"/>
              <a:t>df</a:t>
            </a:r>
            <a:r>
              <a:rPr lang="en-US" sz="2000" dirty="0"/>
              <a:t> = </a:t>
            </a:r>
            <a:r>
              <a:rPr lang="en-US" sz="2000" i="1" dirty="0"/>
              <a:t>n </a:t>
            </a:r>
            <a:r>
              <a:rPr lang="en-US" sz="2000" dirty="0"/>
              <a:t>– 1. </a:t>
            </a:r>
            <a:endParaRPr lang="en-US" sz="2000" b="1" dirty="0"/>
          </a:p>
        </p:txBody>
      </p:sp>
      <p:grpSp>
        <p:nvGrpSpPr>
          <p:cNvPr id="2" name="Group 9" descr="The t Distributions: Degrees of Freedom"/>
          <p:cNvGrpSpPr>
            <a:grpSpLocks/>
          </p:cNvGrpSpPr>
          <p:nvPr/>
        </p:nvGrpSpPr>
        <p:grpSpPr bwMode="auto">
          <a:xfrm>
            <a:off x="665956" y="2789574"/>
            <a:ext cx="8097044" cy="2062133"/>
            <a:chOff x="497526" y="2946401"/>
            <a:chExt cx="7843838" cy="2061838"/>
          </a:xfrm>
        </p:grpSpPr>
        <p:sp>
          <p:nvSpPr>
            <p:cNvPr id="9" name="TextBox 8"/>
            <p:cNvSpPr txBox="1">
              <a:spLocks noChangeArrowheads="1"/>
            </p:cNvSpPr>
            <p:nvPr/>
          </p:nvSpPr>
          <p:spPr bwMode="auto">
            <a:xfrm>
              <a:off x="640401" y="2946401"/>
              <a:ext cx="7558087" cy="400053"/>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defRPr/>
              </a:pPr>
              <a:r>
                <a:rPr lang="en-US" altLang="en-US" b="1" dirty="0">
                  <a:solidFill>
                    <a:schemeClr val="tx1"/>
                  </a:solidFill>
                  <a:highlight>
                    <a:srgbClr val="FFFF00"/>
                  </a:highlight>
                </a:rPr>
                <a:t>The </a:t>
              </a:r>
              <a:r>
                <a:rPr lang="en-US" altLang="en-US" b="1" i="1" dirty="0">
                  <a:solidFill>
                    <a:schemeClr val="tx1"/>
                  </a:solidFill>
                  <a:highlight>
                    <a:srgbClr val="FFFF00"/>
                  </a:highlight>
                </a:rPr>
                <a:t>t</a:t>
              </a:r>
              <a:r>
                <a:rPr lang="en-US" altLang="en-US" b="1" dirty="0">
                  <a:solidFill>
                    <a:schemeClr val="tx1"/>
                  </a:solidFill>
                  <a:highlight>
                    <a:srgbClr val="FFFF00"/>
                  </a:highlight>
                </a:rPr>
                <a:t> Distributions: Degrees of Freedom</a:t>
              </a:r>
              <a:endParaRPr lang="en-US" altLang="en-US" b="1" i="1" dirty="0">
                <a:solidFill>
                  <a:schemeClr val="tx1"/>
                </a:solidFill>
                <a:highlight>
                  <a:srgbClr val="FFFF00"/>
                </a:highlight>
              </a:endParaRPr>
            </a:p>
          </p:txBody>
        </p:sp>
        <mc:AlternateContent xmlns:mc="http://schemas.openxmlformats.org/markup-compatibility/2006">
          <mc:Choice xmlns:a14="http://schemas.microsoft.com/office/drawing/2010/main" Requires="a14">
            <p:sp>
              <p:nvSpPr>
                <p:cNvPr id="7" name="TextBox 6"/>
                <p:cNvSpPr txBox="1">
                  <a:spLocks noChangeArrowheads="1"/>
                </p:cNvSpPr>
                <p:nvPr/>
              </p:nvSpPr>
              <p:spPr bwMode="auto">
                <a:xfrm>
                  <a:off x="497526" y="3284488"/>
                  <a:ext cx="7843838" cy="1723751"/>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Aft>
                      <a:spcPts val="600"/>
                    </a:spcAft>
                  </a:pPr>
                  <a:r>
                    <a:rPr lang="en-US" sz="1800" dirty="0" smtClean="0">
                      <a:solidFill>
                        <a:srgbClr val="000000"/>
                      </a:solidFill>
                    </a:rPr>
                    <a:t>Draw an SRS of size </a:t>
                  </a:r>
                  <a:r>
                    <a:rPr lang="en-US" sz="1800" i="1" dirty="0">
                      <a:solidFill>
                        <a:srgbClr val="000000"/>
                      </a:solidFill>
                    </a:rPr>
                    <a:t>n </a:t>
                  </a:r>
                  <a:r>
                    <a:rPr lang="en-US" sz="1800" dirty="0">
                      <a:solidFill>
                        <a:srgbClr val="000000"/>
                      </a:solidFill>
                    </a:rPr>
                    <a:t>from a large population that has a Normal distribution with mean </a:t>
                  </a:r>
                  <a:r>
                    <a:rPr lang="en-US" sz="1800" i="1" dirty="0">
                      <a:solidFill>
                        <a:srgbClr val="000000"/>
                      </a:solidFill>
                    </a:rPr>
                    <a:t>µ </a:t>
                  </a:r>
                  <a:r>
                    <a:rPr lang="en-US" sz="1800" dirty="0">
                      <a:solidFill>
                        <a:srgbClr val="000000"/>
                      </a:solidFill>
                    </a:rPr>
                    <a:t>and standard </a:t>
                  </a:r>
                  <a:r>
                    <a:rPr lang="en-US" sz="1800" dirty="0">
                      <a:solidFill>
                        <a:schemeClr val="tx1"/>
                      </a:solidFill>
                    </a:rPr>
                    <a:t>deviation </a:t>
                  </a:r>
                  <a:r>
                    <a:rPr lang="en-US" sz="1800" i="1" dirty="0">
                      <a:solidFill>
                        <a:schemeClr val="tx1"/>
                      </a:solidFill>
                    </a:rPr>
                    <a:t>σ</a:t>
                  </a:r>
                  <a:r>
                    <a:rPr lang="en-US" sz="1800" dirty="0">
                      <a:solidFill>
                        <a:schemeClr val="tx1"/>
                      </a:solidFill>
                    </a:rPr>
                    <a:t>. The </a:t>
                  </a:r>
                  <a:r>
                    <a:rPr lang="en-US" sz="1800" b="1" dirty="0">
                      <a:solidFill>
                        <a:schemeClr val="tx1"/>
                      </a:solidFill>
                    </a:rPr>
                    <a:t>one-sample </a:t>
                  </a:r>
                  <a:r>
                    <a:rPr lang="en-US" sz="1800" b="1" i="1" dirty="0">
                      <a:solidFill>
                        <a:schemeClr val="tx1"/>
                      </a:solidFill>
                    </a:rPr>
                    <a:t>t</a:t>
                  </a:r>
                  <a:r>
                    <a:rPr lang="en-US" sz="1800" b="1" dirty="0">
                      <a:solidFill>
                        <a:schemeClr val="tx1"/>
                      </a:solidFill>
                    </a:rPr>
                    <a:t> statistic</a:t>
                  </a:r>
                </a:p>
                <a:p>
                  <a:pPr eaLnBrk="1" hangingPunct="1">
                    <a:spcAft>
                      <a:spcPts val="1200"/>
                    </a:spcAft>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𝑡</m:t>
                        </m:r>
                        <m:r>
                          <a:rPr lang="en-US" sz="1800" b="0" i="1" smtClean="0">
                            <a:solidFill>
                              <a:schemeClr val="tx1"/>
                            </a:solidFill>
                            <a:latin typeface="Cambria Math" panose="02040503050406030204" pitchFamily="18" charset="0"/>
                          </a:rPr>
                          <m:t>=</m:t>
                        </m:r>
                        <m:f>
                          <m:fPr>
                            <m:ctrlPr>
                              <a:rPr lang="en-US" sz="1800" b="0" i="1" smtClean="0">
                                <a:solidFill>
                                  <a:schemeClr val="tx1"/>
                                </a:solidFill>
                                <a:latin typeface="Cambria Math" panose="02040503050406030204" pitchFamily="18" charset="0"/>
                              </a:rPr>
                            </m:ctrlPr>
                          </m:fPr>
                          <m:num>
                            <m:acc>
                              <m:accPr>
                                <m:chr m:val="̅"/>
                                <m:ctrlPr>
                                  <a:rPr lang="en-US" sz="1800" b="0" i="1" smtClean="0">
                                    <a:solidFill>
                                      <a:schemeClr val="tx1"/>
                                    </a:solidFill>
                                    <a:latin typeface="Cambria Math" panose="02040503050406030204" pitchFamily="18" charset="0"/>
                                  </a:rPr>
                                </m:ctrlPr>
                              </m:accPr>
                              <m:e>
                                <m:r>
                                  <a:rPr lang="en-US" sz="1800" b="0" i="1" smtClean="0">
                                    <a:solidFill>
                                      <a:schemeClr val="tx1"/>
                                    </a:solidFill>
                                    <a:latin typeface="Cambria Math" panose="02040503050406030204" pitchFamily="18" charset="0"/>
                                  </a:rPr>
                                  <m:t>𝑥</m:t>
                                </m:r>
                              </m:e>
                            </m:acc>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ea typeface="Cambria Math" panose="02040503050406030204" pitchFamily="18" charset="0"/>
                              </a:rPr>
                              <m:t>𝜇</m:t>
                            </m:r>
                          </m:num>
                          <m:den>
                            <m:f>
                              <m:fPr>
                                <m:type m:val="lin"/>
                                <m:ctrlPr>
                                  <a:rPr lang="en-US" sz="1800" b="0" i="1" smtClean="0">
                                    <a:solidFill>
                                      <a:schemeClr val="tx1"/>
                                    </a:solidFill>
                                    <a:latin typeface="Cambria Math" panose="02040503050406030204" pitchFamily="18" charset="0"/>
                                  </a:rPr>
                                </m:ctrlPr>
                              </m:fPr>
                              <m:num>
                                <m:r>
                                  <a:rPr lang="en-US" sz="1800" b="0" i="1" smtClean="0">
                                    <a:solidFill>
                                      <a:schemeClr val="tx1"/>
                                    </a:solidFill>
                                    <a:latin typeface="Cambria Math" panose="02040503050406030204" pitchFamily="18" charset="0"/>
                                  </a:rPr>
                                  <m:t>𝑠</m:t>
                                </m:r>
                              </m:num>
                              <m:den>
                                <m:rad>
                                  <m:radPr>
                                    <m:degHide m:val="on"/>
                                    <m:ctrlPr>
                                      <a:rPr lang="en-US" sz="1800" b="0" i="1" smtClean="0">
                                        <a:solidFill>
                                          <a:schemeClr val="tx1"/>
                                        </a:solidFill>
                                        <a:latin typeface="Cambria Math" panose="02040503050406030204" pitchFamily="18" charset="0"/>
                                      </a:rPr>
                                    </m:ctrlPr>
                                  </m:radPr>
                                  <m:deg/>
                                  <m:e>
                                    <m:r>
                                      <a:rPr lang="en-US" sz="1800" b="0" i="1" smtClean="0">
                                        <a:solidFill>
                                          <a:schemeClr val="tx1"/>
                                        </a:solidFill>
                                        <a:latin typeface="Cambria Math" panose="02040503050406030204" pitchFamily="18" charset="0"/>
                                      </a:rPr>
                                      <m:t>𝑛</m:t>
                                    </m:r>
                                  </m:e>
                                </m:rad>
                              </m:den>
                            </m:f>
                          </m:den>
                        </m:f>
                      </m:oMath>
                    </m:oMathPara>
                  </a14:m>
                  <a:endParaRPr lang="en-US" sz="1800" dirty="0">
                    <a:solidFill>
                      <a:schemeClr val="tx1"/>
                    </a:solidFill>
                  </a:endParaRPr>
                </a:p>
                <a:p>
                  <a:pPr eaLnBrk="1" hangingPunct="1">
                    <a:spcAft>
                      <a:spcPts val="600"/>
                    </a:spcAft>
                  </a:pPr>
                  <a:r>
                    <a:rPr lang="en-US" sz="1800" dirty="0">
                      <a:solidFill>
                        <a:schemeClr val="tx1"/>
                      </a:solidFill>
                    </a:rPr>
                    <a:t>has the </a:t>
                  </a:r>
                  <a:r>
                    <a:rPr lang="en-US" sz="1800" b="1" i="1" dirty="0">
                      <a:solidFill>
                        <a:schemeClr val="tx1"/>
                      </a:solidFill>
                    </a:rPr>
                    <a:t>t</a:t>
                  </a:r>
                  <a:r>
                    <a:rPr lang="en-US" sz="1800" b="1" dirty="0">
                      <a:solidFill>
                        <a:schemeClr val="tx1"/>
                      </a:solidFill>
                    </a:rPr>
                    <a:t> distribution with</a:t>
                  </a:r>
                  <a:r>
                    <a:rPr lang="en-US" sz="1800" dirty="0">
                      <a:solidFill>
                        <a:schemeClr val="tx1"/>
                      </a:solidFill>
                    </a:rPr>
                    <a:t> </a:t>
                  </a:r>
                  <a:r>
                    <a:rPr lang="en-US" sz="1800" b="1" dirty="0">
                      <a:solidFill>
                        <a:schemeClr val="tx1"/>
                      </a:solidFill>
                    </a:rPr>
                    <a:t>degrees of freedom</a:t>
                  </a:r>
                  <a:r>
                    <a:rPr lang="en-US" sz="1800" dirty="0">
                      <a:solidFill>
                        <a:schemeClr val="tx1"/>
                      </a:solidFill>
                    </a:rPr>
                    <a:t> </a:t>
                  </a:r>
                  <a:r>
                    <a:rPr lang="en-US" sz="1800" dirty="0" err="1">
                      <a:solidFill>
                        <a:schemeClr val="tx1"/>
                      </a:solidFill>
                    </a:rPr>
                    <a:t>df</a:t>
                  </a:r>
                  <a:r>
                    <a:rPr lang="en-US" sz="1800" dirty="0">
                      <a:solidFill>
                        <a:schemeClr val="tx1"/>
                      </a:solidFill>
                    </a:rPr>
                    <a:t> = </a:t>
                  </a:r>
                  <a:r>
                    <a:rPr lang="en-US" sz="1800" i="1" dirty="0">
                      <a:solidFill>
                        <a:schemeClr val="tx1"/>
                      </a:solidFill>
                    </a:rPr>
                    <a:t>n</a:t>
                  </a:r>
                  <a:r>
                    <a:rPr lang="en-US" sz="1800" dirty="0">
                      <a:solidFill>
                        <a:schemeClr val="tx1"/>
                      </a:solidFill>
                    </a:rPr>
                    <a:t> – 1. </a:t>
                  </a:r>
                </a:p>
              </p:txBody>
            </p:sp>
          </mc:Choice>
          <mc:Fallback>
            <p:sp>
              <p:nvSpPr>
                <p:cNvPr id="7" name="TextBox 6"/>
                <p:cNvSpPr txBox="1">
                  <a:spLocks noRot="1" noChangeAspect="1" noMove="1" noResize="1" noEditPoints="1" noAdjustHandles="1" noChangeArrowheads="1" noChangeShapeType="1" noTextEdit="1"/>
                </p:cNvSpPr>
                <p:nvPr/>
              </p:nvSpPr>
              <p:spPr bwMode="auto">
                <a:xfrm>
                  <a:off x="497526" y="3284488"/>
                  <a:ext cx="7843838" cy="1723751"/>
                </a:xfrm>
                <a:prstGeom prst="rect">
                  <a:avLst/>
                </a:prstGeom>
                <a:blipFill rotWithShape="0">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i="1" dirty="0"/>
              <a:t>t</a:t>
            </a:r>
            <a:r>
              <a:rPr lang="en-US" dirty="0"/>
              <a:t> Distributions 4</a:t>
            </a:r>
          </a:p>
        </p:txBody>
      </p:sp>
      <p:sp>
        <p:nvSpPr>
          <p:cNvPr id="3276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B609499A-8450-4596-930A-70ABAAE28C81}" type="slidenum">
              <a:rPr lang="en-US" sz="1200">
                <a:solidFill>
                  <a:schemeClr val="accent1"/>
                </a:solidFill>
              </a:rPr>
              <a:pPr>
                <a:lnSpc>
                  <a:spcPct val="80000"/>
                </a:lnSpc>
              </a:pPr>
              <a:t>7</a:t>
            </a:fld>
            <a:endParaRPr lang="en-US" sz="1200">
              <a:solidFill>
                <a:schemeClr val="accent1"/>
              </a:solidFill>
            </a:endParaRPr>
          </a:p>
        </p:txBody>
      </p:sp>
      <p:sp>
        <p:nvSpPr>
          <p:cNvPr id="32770" name="Vertical Text Placeholder 2"/>
          <p:cNvSpPr txBox="1">
            <a:spLocks/>
          </p:cNvSpPr>
          <p:nvPr/>
        </p:nvSpPr>
        <p:spPr bwMode="auto">
          <a:xfrm>
            <a:off x="173831" y="1228725"/>
            <a:ext cx="8713493"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buFont typeface="Wingdings" pitchFamily="2" charset="2"/>
              <a:buNone/>
            </a:pPr>
            <a:r>
              <a:rPr lang="en-US" sz="2000" dirty="0">
                <a:solidFill>
                  <a:srgbClr val="000000"/>
                </a:solidFill>
              </a:rPr>
              <a:t>When we compare the density curves of the standard Normal distribution and </a:t>
            </a:r>
            <a:r>
              <a:rPr lang="en-US" sz="2000" i="1" dirty="0">
                <a:solidFill>
                  <a:srgbClr val="000000"/>
                </a:solidFill>
              </a:rPr>
              <a:t>t</a:t>
            </a:r>
            <a:r>
              <a:rPr lang="en-US" sz="2000" dirty="0">
                <a:solidFill>
                  <a:srgbClr val="000000"/>
                </a:solidFill>
              </a:rPr>
              <a:t> distributions, several facts are apparent:</a:t>
            </a:r>
            <a:endParaRPr lang="en-US" sz="2000" b="1" dirty="0">
              <a:solidFill>
                <a:srgbClr val="000000"/>
              </a:solidFill>
            </a:endParaRPr>
          </a:p>
        </p:txBody>
      </p:sp>
      <p:pic>
        <p:nvPicPr>
          <p:cNvPr id="6" name="Picture 5" descr="Three overlapping, bell-shaped density curves are plotted between negative 4 and 4 on the same horizontal axis, with intervals marked in increments of 2. Each has a mean of 0. The curves represent a standard normal distribution, N (0, 1), a t (5) distribution, and a t (15) distribution, respectively. Each has a slightly shorter peak than the previous, and slightly taller area under the tails. As the degrees of freedom increase, the t distribution gets closer to the N (0,1) curve. The t distributions have more probability in the tails than the standard Normal distribution."/>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81728" y="2967276"/>
            <a:ext cx="3904486" cy="2168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auto">
          <a:xfrm>
            <a:off x="4097338" y="2032000"/>
            <a:ext cx="4789987" cy="3878263"/>
          </a:xfrm>
          <a:prstGeom prst="rect">
            <a:avLst/>
          </a:prstGeom>
          <a:solidFill>
            <a:srgbClr val="FFD780"/>
          </a:solidFill>
          <a:ln>
            <a:noFill/>
          </a:ln>
        </p:spPr>
        <p:txBody>
          <a:bodyPr wrap="square">
            <a:spAutoFit/>
          </a:bodyPr>
          <a:lstStyle/>
          <a:p>
            <a:pPr marL="227013" indent="-227013" algn="just" eaLnBrk="1" hangingPunct="1">
              <a:spcAft>
                <a:spcPts val="1200"/>
              </a:spcAft>
              <a:buClr>
                <a:srgbClr val="E81F30"/>
              </a:buClr>
              <a:buFont typeface="Wingdings" pitchFamily="2" charset="2"/>
              <a:buChar char="ü"/>
            </a:pPr>
            <a:r>
              <a:rPr lang="en-US" dirty="0"/>
              <a:t>The density curves of the </a:t>
            </a:r>
            <a:r>
              <a:rPr lang="en-US" i="1" dirty="0"/>
              <a:t>t </a:t>
            </a:r>
            <a:r>
              <a:rPr lang="en-US" dirty="0"/>
              <a:t>distributions are similar in shape to the standard Normal curve.</a:t>
            </a:r>
          </a:p>
          <a:p>
            <a:pPr marL="227013" indent="-227013" algn="just" eaLnBrk="1" hangingPunct="1">
              <a:spcAft>
                <a:spcPts val="1200"/>
              </a:spcAft>
              <a:buClr>
                <a:srgbClr val="E81F30"/>
              </a:buClr>
              <a:buFont typeface="Wingdings" pitchFamily="2" charset="2"/>
              <a:buChar char="ü"/>
            </a:pPr>
            <a:r>
              <a:rPr lang="en-US" dirty="0"/>
              <a:t>The spread of the </a:t>
            </a:r>
            <a:r>
              <a:rPr lang="en-US" i="1" dirty="0"/>
              <a:t>t </a:t>
            </a:r>
            <a:r>
              <a:rPr lang="en-US" dirty="0"/>
              <a:t>distributions is a bit larger than that of the standard Normal distribution. </a:t>
            </a:r>
          </a:p>
          <a:p>
            <a:pPr marL="227013" indent="-227013" algn="just" eaLnBrk="1" hangingPunct="1">
              <a:spcAft>
                <a:spcPts val="1200"/>
              </a:spcAft>
              <a:buClr>
                <a:srgbClr val="E81F30"/>
              </a:buClr>
              <a:buFont typeface="Wingdings" pitchFamily="2" charset="2"/>
              <a:buChar char="ü"/>
            </a:pPr>
            <a:r>
              <a:rPr lang="en-US" dirty="0"/>
              <a:t>The </a:t>
            </a:r>
            <a:r>
              <a:rPr lang="en-US" i="1" dirty="0"/>
              <a:t>t </a:t>
            </a:r>
            <a:r>
              <a:rPr lang="en-US" dirty="0"/>
              <a:t>distributions have more probability in the tails and less in the center than does the standard Normal distribution. </a:t>
            </a:r>
          </a:p>
          <a:p>
            <a:pPr marL="227013" indent="-227013" algn="just" eaLnBrk="1" hangingPunct="1">
              <a:spcAft>
                <a:spcPts val="1200"/>
              </a:spcAft>
              <a:buClr>
                <a:srgbClr val="E81F30"/>
              </a:buClr>
              <a:buFont typeface="Wingdings" pitchFamily="2" charset="2"/>
              <a:buChar char="ü"/>
            </a:pPr>
            <a:r>
              <a:rPr lang="en-US" dirty="0"/>
              <a:t>As the degrees of freedom increase, the </a:t>
            </a:r>
            <a:r>
              <a:rPr lang="en-US" i="1" dirty="0"/>
              <a:t>t </a:t>
            </a:r>
            <a:r>
              <a:rPr lang="en-US" dirty="0"/>
              <a:t>density curve becomes ever closer to the standard Normal curve. </a:t>
            </a:r>
          </a:p>
        </p:txBody>
      </p:sp>
      <p:sp>
        <p:nvSpPr>
          <p:cNvPr id="9" name="TextBox 8"/>
          <p:cNvSpPr txBox="1">
            <a:spLocks noChangeArrowheads="1"/>
          </p:cNvSpPr>
          <p:nvPr/>
        </p:nvSpPr>
        <p:spPr bwMode="auto">
          <a:xfrm>
            <a:off x="427039" y="6163470"/>
            <a:ext cx="8335961"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t>We can use Table D in the back of the text to determine critical values </a:t>
            </a:r>
            <a:r>
              <a:rPr lang="en-US" sz="1800" i="1" dirty="0"/>
              <a:t>t*</a:t>
            </a:r>
            <a:r>
              <a:rPr lang="en-US" sz="1800" dirty="0"/>
              <a:t> for </a:t>
            </a:r>
            <a:r>
              <a:rPr lang="en-US" sz="1800" i="1" dirty="0"/>
              <a:t>t</a:t>
            </a:r>
            <a:r>
              <a:rPr lang="en-US" sz="1800" dirty="0"/>
              <a:t> distributions with different degrees of freedom.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bg/>
                                          </p:spTgt>
                                        </p:tgtEl>
                                        <p:attrNameLst>
                                          <p:attrName>style.visibility</p:attrName>
                                        </p:attrNameLst>
                                      </p:cBhvr>
                                      <p:to>
                                        <p:strVal val="visible"/>
                                      </p:to>
                                    </p:set>
                                    <p:animEffect transition="in" filter="fade">
                                      <p:cBhvr>
                                        <p:cTn id="15" dur="1000"/>
                                        <p:tgtEl>
                                          <p:spTgt spid="7">
                                            <p:bg/>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fade">
                                      <p:cBhvr>
                                        <p:cTn id="20" dur="1000"/>
                                        <p:tgtEl>
                                          <p:spTgt spid="7">
                                            <p:txEl>
                                              <p:pRg st="0" end="0"/>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animEffect transition="in" filter="fade">
                                      <p:cBhvr>
                                        <p:cTn id="25" dur="1000"/>
                                        <p:tgtEl>
                                          <p:spTgt spid="7">
                                            <p:txEl>
                                              <p:pRg st="1" end="1"/>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2" end="2"/>
                                            </p:txEl>
                                          </p:spTgt>
                                        </p:tgtEl>
                                        <p:attrNameLst>
                                          <p:attrName>style.visibility</p:attrName>
                                        </p:attrNameLst>
                                      </p:cBhvr>
                                      <p:to>
                                        <p:strVal val="visible"/>
                                      </p:to>
                                    </p:set>
                                    <p:animEffect transition="in" filter="fade">
                                      <p:cBhvr>
                                        <p:cTn id="30" dur="1000"/>
                                        <p:tgtEl>
                                          <p:spTgt spid="7">
                                            <p:txEl>
                                              <p:pRg st="2" end="2"/>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animBg="1"/>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dirty="0">
                <a:ea typeface="ＭＳ Ｐゴシック" pitchFamily="34" charset="-128"/>
              </a:rPr>
              <a:t>One-Sample </a:t>
            </a:r>
            <a:r>
              <a:rPr lang="en-US" i="1" dirty="0">
                <a:ea typeface="ＭＳ Ｐゴシック" pitchFamily="34" charset="-128"/>
              </a:rPr>
              <a:t>t</a:t>
            </a:r>
            <a:r>
              <a:rPr lang="en-US" dirty="0">
                <a:ea typeface="ＭＳ Ｐゴシック" pitchFamily="34" charset="-128"/>
              </a:rPr>
              <a:t> Confidence Interval</a:t>
            </a:r>
          </a:p>
        </p:txBody>
      </p:sp>
      <p:sp>
        <p:nvSpPr>
          <p:cNvPr id="3481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2EE76BF4-9B22-42C9-B75D-8F5F16A7AC68}" type="slidenum">
              <a:rPr lang="en-US" sz="1200">
                <a:solidFill>
                  <a:schemeClr val="accent1"/>
                </a:solidFill>
              </a:rPr>
              <a:pPr>
                <a:lnSpc>
                  <a:spcPct val="80000"/>
                </a:lnSpc>
              </a:pPr>
              <a:t>8</a:t>
            </a:fld>
            <a:endParaRPr lang="en-US" sz="1200">
              <a:solidFill>
                <a:schemeClr val="accent1"/>
              </a:solidFill>
            </a:endParaRPr>
          </a:p>
        </p:txBody>
      </p:sp>
      <p:sp>
        <p:nvSpPr>
          <p:cNvPr id="34819" name="Vertical Text Placeholder 2"/>
          <p:cNvSpPr txBox="1">
            <a:spLocks/>
          </p:cNvSpPr>
          <p:nvPr/>
        </p:nvSpPr>
        <p:spPr bwMode="auto">
          <a:xfrm>
            <a:off x="273050" y="1177521"/>
            <a:ext cx="8455025" cy="1055914"/>
          </a:xfrm>
          <a:prstGeom prst="rect">
            <a:avLst/>
          </a:prstGeom>
          <a:solidFill>
            <a:srgbClr val="FFD780"/>
          </a:solidFill>
          <a:ln>
            <a:noFill/>
          </a:ln>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buFont typeface="Wingdings" pitchFamily="2" charset="2"/>
              <a:buNone/>
            </a:pPr>
            <a:r>
              <a:rPr lang="en-US" sz="2000" dirty="0">
                <a:solidFill>
                  <a:srgbClr val="000000"/>
                </a:solidFill>
              </a:rPr>
              <a:t>The </a:t>
            </a:r>
            <a:r>
              <a:rPr lang="en-US" sz="2000" b="1" dirty="0"/>
              <a:t>one-sample </a:t>
            </a:r>
            <a:r>
              <a:rPr lang="en-US" sz="2000" b="1" i="1" dirty="0"/>
              <a:t>t </a:t>
            </a:r>
            <a:r>
              <a:rPr lang="en-US" sz="2000" b="1" dirty="0"/>
              <a:t>interval for a population mean</a:t>
            </a:r>
            <a:r>
              <a:rPr lang="en-US" sz="2000" dirty="0"/>
              <a:t> is </a:t>
            </a:r>
            <a:r>
              <a:rPr lang="en-US" sz="2000" dirty="0">
                <a:solidFill>
                  <a:srgbClr val="000000"/>
                </a:solidFill>
              </a:rPr>
              <a:t>similar in both reasoning and computational detail to the one-sample </a:t>
            </a:r>
            <a:r>
              <a:rPr lang="en-US" sz="2000" i="1" dirty="0">
                <a:solidFill>
                  <a:srgbClr val="000000"/>
                </a:solidFill>
              </a:rPr>
              <a:t>z</a:t>
            </a:r>
            <a:r>
              <a:rPr lang="en-US" sz="2000" dirty="0">
                <a:solidFill>
                  <a:srgbClr val="000000"/>
                </a:solidFill>
              </a:rPr>
              <a:t> interval for a population mean. </a:t>
            </a:r>
          </a:p>
        </p:txBody>
      </p:sp>
      <p:grpSp>
        <p:nvGrpSpPr>
          <p:cNvPr id="2" name="Group 14" descr="The One-Sample t Interval for a Population Mean"/>
          <p:cNvGrpSpPr>
            <a:grpSpLocks/>
          </p:cNvGrpSpPr>
          <p:nvPr/>
        </p:nvGrpSpPr>
        <p:grpSpPr bwMode="auto">
          <a:xfrm>
            <a:off x="600075" y="2347332"/>
            <a:ext cx="8335378" cy="4138088"/>
            <a:chOff x="213999" y="2946373"/>
            <a:chExt cx="8334725" cy="4138218"/>
          </a:xfrm>
        </p:grpSpPr>
        <p:sp>
          <p:nvSpPr>
            <p:cNvPr id="7" name="TextBox 6"/>
            <p:cNvSpPr txBox="1">
              <a:spLocks noChangeArrowheads="1"/>
            </p:cNvSpPr>
            <p:nvPr/>
          </p:nvSpPr>
          <p:spPr bwMode="auto">
            <a:xfrm>
              <a:off x="1566443" y="2946373"/>
              <a:ext cx="5422475" cy="707908"/>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sz="2000" b="1" dirty="0">
                  <a:highlight>
                    <a:srgbClr val="FFFF00"/>
                  </a:highlight>
                  <a:latin typeface="+mn-lt"/>
                  <a:ea typeface="+mn-ea"/>
                </a:rPr>
                <a:t>The One-Sample </a:t>
              </a:r>
              <a:r>
                <a:rPr lang="en-US" sz="2000" b="1" i="1" dirty="0">
                  <a:highlight>
                    <a:srgbClr val="FFFF00"/>
                  </a:highlight>
                  <a:latin typeface="+mn-lt"/>
                  <a:ea typeface="+mn-ea"/>
                </a:rPr>
                <a:t>t</a:t>
              </a:r>
              <a:r>
                <a:rPr lang="en-US" sz="2000" b="1" dirty="0">
                  <a:highlight>
                    <a:srgbClr val="FFFF00"/>
                  </a:highlight>
                  <a:latin typeface="+mn-lt"/>
                  <a:ea typeface="+mn-ea"/>
                </a:rPr>
                <a:t> Interval for a Population </a:t>
              </a:r>
              <a:r>
                <a:rPr lang="en-US" sz="2000" b="1" dirty="0">
                  <a:solidFill>
                    <a:srgbClr val="FF0000"/>
                  </a:solidFill>
                  <a:highlight>
                    <a:srgbClr val="FFFF00"/>
                  </a:highlight>
                  <a:latin typeface="+mn-lt"/>
                  <a:ea typeface="+mn-ea"/>
                </a:rPr>
                <a:t>Mean</a:t>
              </a:r>
            </a:p>
          </p:txBody>
        </p:sp>
        <mc:AlternateContent xmlns:mc="http://schemas.openxmlformats.org/markup-compatibility/2006">
          <mc:Choice xmlns:a14="http://schemas.microsoft.com/office/drawing/2010/main" Requires="a14">
            <p:sp>
              <p:nvSpPr>
                <p:cNvPr id="6" name="TextBox 5"/>
                <p:cNvSpPr txBox="1">
                  <a:spLocks noChangeArrowheads="1"/>
                </p:cNvSpPr>
                <p:nvPr/>
              </p:nvSpPr>
              <p:spPr bwMode="auto">
                <a:xfrm>
                  <a:off x="213999" y="3284520"/>
                  <a:ext cx="8334725" cy="3800071"/>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Aft>
                      <a:spcPts val="1200"/>
                    </a:spcAft>
                  </a:pPr>
                  <a:r>
                    <a:rPr lang="en-US" sz="1800" dirty="0" smtClean="0">
                      <a:solidFill>
                        <a:srgbClr val="000000"/>
                      </a:solidFill>
                    </a:rPr>
                    <a:t>Choose an SRS of size </a:t>
                  </a:r>
                  <a:r>
                    <a:rPr lang="en-US" sz="1800" i="1" dirty="0">
                      <a:solidFill>
                        <a:srgbClr val="000000"/>
                      </a:solidFill>
                    </a:rPr>
                    <a:t>n</a:t>
                  </a:r>
                  <a:r>
                    <a:rPr lang="en-US" sz="1800" dirty="0">
                      <a:solidFill>
                        <a:srgbClr val="000000"/>
                      </a:solidFill>
                    </a:rPr>
                    <a:t> from a population having unknown mean </a:t>
                  </a:r>
                  <a:r>
                    <a:rPr lang="en-US" sz="1800" i="1" dirty="0">
                      <a:solidFill>
                        <a:srgbClr val="000000"/>
                      </a:solidFill>
                    </a:rPr>
                    <a:t>µ</a:t>
                  </a:r>
                  <a:r>
                    <a:rPr lang="en-US" sz="1800" dirty="0">
                      <a:solidFill>
                        <a:srgbClr val="000000"/>
                      </a:solidFill>
                    </a:rPr>
                    <a:t>. </a:t>
                  </a:r>
                </a:p>
                <a:p>
                  <a:pPr eaLnBrk="1" hangingPunct="1">
                    <a:spcAft>
                      <a:spcPts val="1200"/>
                    </a:spcAft>
                  </a:pPr>
                  <a:r>
                    <a:rPr lang="en-US" sz="1800" dirty="0">
                      <a:solidFill>
                        <a:schemeClr val="tx1"/>
                      </a:solidFill>
                    </a:rPr>
                    <a:t>A </a:t>
                  </a:r>
                  <a:r>
                    <a:rPr lang="en-US" sz="1800" b="1" dirty="0">
                      <a:solidFill>
                        <a:schemeClr val="tx1"/>
                      </a:solidFill>
                    </a:rPr>
                    <a:t>level </a:t>
                  </a:r>
                  <a:r>
                    <a:rPr lang="en-US" sz="1800" b="1" i="1" dirty="0">
                      <a:solidFill>
                        <a:schemeClr val="tx1"/>
                      </a:solidFill>
                    </a:rPr>
                    <a:t>C</a:t>
                  </a:r>
                  <a:r>
                    <a:rPr lang="en-US" sz="1800" dirty="0">
                      <a:solidFill>
                        <a:schemeClr val="tx1"/>
                      </a:solidFill>
                    </a:rPr>
                    <a:t> </a:t>
                  </a:r>
                  <a:r>
                    <a:rPr lang="en-US" sz="1800" b="1" dirty="0">
                      <a:solidFill>
                        <a:schemeClr val="tx1"/>
                      </a:solidFill>
                    </a:rPr>
                    <a:t>confidence interval </a:t>
                  </a:r>
                  <a:r>
                    <a:rPr lang="en-US" sz="1800" dirty="0">
                      <a:solidFill>
                        <a:schemeClr val="tx1"/>
                      </a:solidFill>
                    </a:rPr>
                    <a:t>for </a:t>
                  </a:r>
                  <a:r>
                    <a:rPr lang="en-US" sz="1800" i="1" dirty="0">
                      <a:solidFill>
                        <a:schemeClr val="tx1"/>
                      </a:solidFill>
                    </a:rPr>
                    <a:t>µ</a:t>
                  </a:r>
                  <a:r>
                    <a:rPr lang="en-US" sz="1800" dirty="0">
                      <a:solidFill>
                        <a:schemeClr val="tx1"/>
                      </a:solidFill>
                    </a:rPr>
                    <a:t> is</a:t>
                  </a:r>
                </a:p>
                <a:p>
                  <a:pPr algn="ctr" eaLnBrk="1" hangingPunct="1">
                    <a:spcAft>
                      <a:spcPts val="1200"/>
                    </a:spcAft>
                  </a:pPr>
                  <a14:m>
                    <m:oMathPara xmlns:m="http://schemas.openxmlformats.org/officeDocument/2006/math">
                      <m:oMathParaPr>
                        <m:jc m:val="centerGroup"/>
                      </m:oMathParaPr>
                      <m:oMath xmlns:m="http://schemas.openxmlformats.org/officeDocument/2006/math">
                        <m:acc>
                          <m:accPr>
                            <m:chr m:val="̅"/>
                            <m:ctrlPr>
                              <a:rPr lang="en-US" sz="1800" i="1" smtClean="0">
                                <a:solidFill>
                                  <a:schemeClr val="tx1"/>
                                </a:solidFill>
                                <a:latin typeface="Cambria Math" panose="02040503050406030204" pitchFamily="18" charset="0"/>
                              </a:rPr>
                            </m:ctrlPr>
                          </m:accPr>
                          <m:e>
                            <m:r>
                              <a:rPr lang="en-US" sz="1800" b="0" i="1" smtClean="0">
                                <a:solidFill>
                                  <a:schemeClr val="tx1"/>
                                </a:solidFill>
                                <a:latin typeface="Cambria Math" panose="02040503050406030204" pitchFamily="18" charset="0"/>
                              </a:rPr>
                              <m:t>𝑥</m:t>
                            </m:r>
                          </m:e>
                        </m:acc>
                        <m:r>
                          <a:rPr lang="en-US" sz="1800" i="1" smtClean="0">
                            <a:solidFill>
                              <a:schemeClr val="tx1"/>
                            </a:solidFill>
                            <a:latin typeface="Cambria Math" panose="02040503050406030204" pitchFamily="18" charset="0"/>
                            <a:ea typeface="Cambria Math" panose="02040503050406030204" pitchFamily="18" charset="0"/>
                          </a:rPr>
                          <m:t>±</m:t>
                        </m:r>
                        <m:sSup>
                          <m:sSupPr>
                            <m:ctrlPr>
                              <a:rPr lang="en-US" sz="1800" i="1" smtClean="0">
                                <a:solidFill>
                                  <a:schemeClr val="tx1"/>
                                </a:solidFill>
                                <a:latin typeface="Cambria Math" panose="02040503050406030204" pitchFamily="18" charset="0"/>
                                <a:ea typeface="Cambria Math" panose="02040503050406030204" pitchFamily="18" charset="0"/>
                              </a:rPr>
                            </m:ctrlPr>
                          </m:sSupPr>
                          <m:e>
                            <m:r>
                              <a:rPr lang="en-US" sz="1800" b="0" i="1" smtClean="0">
                                <a:solidFill>
                                  <a:schemeClr val="tx1"/>
                                </a:solidFill>
                                <a:latin typeface="Cambria Math" panose="02040503050406030204" pitchFamily="18" charset="0"/>
                                <a:ea typeface="Cambria Math" panose="02040503050406030204" pitchFamily="18" charset="0"/>
                              </a:rPr>
                              <m:t>𝑡</m:t>
                            </m:r>
                          </m:e>
                          <m:sup>
                            <m:r>
                              <a:rPr lang="en-US" sz="1800" b="0" i="1" smtClean="0">
                                <a:solidFill>
                                  <a:schemeClr val="tx1"/>
                                </a:solidFill>
                                <a:latin typeface="Cambria Math" panose="02040503050406030204" pitchFamily="18" charset="0"/>
                                <a:ea typeface="Cambria Math" panose="02040503050406030204" pitchFamily="18" charset="0"/>
                              </a:rPr>
                              <m:t>∗</m:t>
                            </m:r>
                          </m:sup>
                        </m:sSup>
                        <m:f>
                          <m:fPr>
                            <m:ctrlPr>
                              <a:rPr lang="en-US" sz="1800" i="1" smtClean="0">
                                <a:solidFill>
                                  <a:schemeClr val="tx1"/>
                                </a:solidFill>
                                <a:latin typeface="Cambria Math" panose="02040503050406030204" pitchFamily="18" charset="0"/>
                                <a:ea typeface="Cambria Math" panose="02040503050406030204" pitchFamily="18" charset="0"/>
                              </a:rPr>
                            </m:ctrlPr>
                          </m:fPr>
                          <m:num>
                            <m:r>
                              <a:rPr lang="en-US" sz="1800" i="1" smtClean="0">
                                <a:solidFill>
                                  <a:schemeClr val="tx1"/>
                                </a:solidFill>
                                <a:latin typeface="Cambria Math" panose="02040503050406030204" pitchFamily="18" charset="0"/>
                                <a:ea typeface="Cambria Math" panose="02040503050406030204" pitchFamily="18" charset="0"/>
                              </a:rPr>
                              <m:t>𝑠</m:t>
                            </m:r>
                          </m:num>
                          <m:den>
                            <m:rad>
                              <m:radPr>
                                <m:degHide m:val="on"/>
                                <m:ctrlPr>
                                  <a:rPr lang="en-US" sz="1800" i="1" smtClean="0">
                                    <a:solidFill>
                                      <a:schemeClr val="tx1"/>
                                    </a:solidFill>
                                    <a:latin typeface="Cambria Math" panose="02040503050406030204" pitchFamily="18" charset="0"/>
                                    <a:ea typeface="Cambria Math" panose="02040503050406030204" pitchFamily="18" charset="0"/>
                                  </a:rPr>
                                </m:ctrlPr>
                              </m:radPr>
                              <m:deg/>
                              <m:e>
                                <m:r>
                                  <a:rPr lang="en-US" sz="1800" b="0" i="1" smtClean="0">
                                    <a:solidFill>
                                      <a:schemeClr val="tx1"/>
                                    </a:solidFill>
                                    <a:latin typeface="Cambria Math" panose="02040503050406030204" pitchFamily="18" charset="0"/>
                                    <a:ea typeface="Cambria Math" panose="02040503050406030204" pitchFamily="18" charset="0"/>
                                  </a:rPr>
                                  <m:t>𝑛</m:t>
                                </m:r>
                              </m:e>
                            </m:rad>
                          </m:den>
                        </m:f>
                      </m:oMath>
                    </m:oMathPara>
                  </a14:m>
                  <a:endParaRPr lang="en-US" sz="1800" dirty="0">
                    <a:solidFill>
                      <a:schemeClr val="tx1"/>
                    </a:solidFill>
                  </a:endParaRPr>
                </a:p>
                <a:p>
                  <a:pPr eaLnBrk="1" hangingPunct="1">
                    <a:spcAft>
                      <a:spcPts val="1200"/>
                    </a:spcAft>
                  </a:pPr>
                  <a:r>
                    <a:rPr lang="en-US" sz="1800" dirty="0">
                      <a:solidFill>
                        <a:schemeClr val="tx1"/>
                      </a:solidFill>
                    </a:rPr>
                    <a:t>where </a:t>
                  </a:r>
                  <a:r>
                    <a:rPr lang="en-US" sz="1800" i="1" dirty="0">
                      <a:solidFill>
                        <a:schemeClr val="tx1"/>
                      </a:solidFill>
                    </a:rPr>
                    <a:t>t*</a:t>
                  </a:r>
                  <a:r>
                    <a:rPr lang="en-US" sz="1800" dirty="0">
                      <a:solidFill>
                        <a:schemeClr val="tx1"/>
                      </a:solidFill>
                    </a:rPr>
                    <a:t> is the critical value for the </a:t>
                  </a:r>
                  <a:r>
                    <a:rPr lang="en-US" sz="1800" i="1" dirty="0">
                      <a:solidFill>
                        <a:schemeClr val="tx1"/>
                      </a:solidFill>
                    </a:rPr>
                    <a:t>t</a:t>
                  </a:r>
                  <a:r>
                    <a:rPr lang="en-US" sz="1800" dirty="0">
                      <a:solidFill>
                        <a:schemeClr val="tx1"/>
                      </a:solidFill>
                    </a:rPr>
                    <a:t>(</a:t>
                  </a:r>
                  <a:r>
                    <a:rPr lang="en-US" sz="1800" i="1" dirty="0">
                      <a:solidFill>
                        <a:schemeClr val="tx1"/>
                      </a:solidFill>
                    </a:rPr>
                    <a:t>n</a:t>
                  </a:r>
                  <a:r>
                    <a:rPr lang="en-US" sz="1800" dirty="0">
                      <a:solidFill>
                        <a:schemeClr val="tx1"/>
                      </a:solidFill>
                    </a:rPr>
                    <a:t> – 1) distribution.</a:t>
                  </a:r>
                </a:p>
                <a:p>
                  <a:pPr eaLnBrk="1" hangingPunct="1">
                    <a:spcAft>
                      <a:spcPts val="1200"/>
                    </a:spcAft>
                  </a:pPr>
                  <a:r>
                    <a:rPr lang="en-US" sz="1800" dirty="0">
                      <a:solidFill>
                        <a:schemeClr val="tx1"/>
                      </a:solidFill>
                    </a:rPr>
                    <a:t>The </a:t>
                  </a:r>
                  <a:r>
                    <a:rPr lang="en-US" sz="1800" b="1" dirty="0">
                      <a:solidFill>
                        <a:schemeClr val="tx1"/>
                      </a:solidFill>
                    </a:rPr>
                    <a:t>margin of error</a:t>
                  </a:r>
                  <a:r>
                    <a:rPr lang="en-US" sz="1800" dirty="0">
                      <a:solidFill>
                        <a:schemeClr val="tx1"/>
                      </a:solidFill>
                    </a:rPr>
                    <a:t> is </a:t>
                  </a:r>
                </a:p>
                <a:p>
                  <a:pPr eaLnBrk="1" hangingPunct="1">
                    <a:spcAft>
                      <a:spcPts val="1200"/>
                    </a:spcAft>
                  </a:pPr>
                  <a14:m>
                    <m:oMathPara xmlns:m="http://schemas.openxmlformats.org/officeDocument/2006/math">
                      <m:oMathParaPr>
                        <m:jc m:val="centerGroup"/>
                      </m:oMathParaPr>
                      <m:oMath xmlns:m="http://schemas.openxmlformats.org/officeDocument/2006/math">
                        <m:sSup>
                          <m:sSupPr>
                            <m:ctrlPr>
                              <a:rPr lang="en-US" sz="180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𝑡</m:t>
                            </m:r>
                          </m:e>
                          <m:sup>
                            <m:r>
                              <a:rPr lang="en-US" sz="1800" b="0" i="1" smtClean="0">
                                <a:solidFill>
                                  <a:schemeClr val="tx1"/>
                                </a:solidFill>
                                <a:latin typeface="Cambria Math" panose="02040503050406030204" pitchFamily="18" charset="0"/>
                              </a:rPr>
                              <m:t>∗</m:t>
                            </m:r>
                          </m:sup>
                        </m:sSup>
                        <m:f>
                          <m:fPr>
                            <m:ctrlPr>
                              <a:rPr lang="en-US" sz="1800" i="1" smtClean="0">
                                <a:solidFill>
                                  <a:schemeClr val="tx1"/>
                                </a:solidFill>
                                <a:latin typeface="Cambria Math" panose="02040503050406030204" pitchFamily="18" charset="0"/>
                              </a:rPr>
                            </m:ctrlPr>
                          </m:fPr>
                          <m:num>
                            <m:r>
                              <a:rPr lang="en-US" sz="1800" b="0" i="1" smtClean="0">
                                <a:solidFill>
                                  <a:schemeClr val="tx1"/>
                                </a:solidFill>
                                <a:latin typeface="Cambria Math" panose="02040503050406030204" pitchFamily="18" charset="0"/>
                              </a:rPr>
                              <m:t>𝑠</m:t>
                            </m:r>
                          </m:num>
                          <m:den>
                            <m:rad>
                              <m:radPr>
                                <m:degHide m:val="on"/>
                                <m:ctrlPr>
                                  <a:rPr lang="en-US" sz="1800" i="1" smtClean="0">
                                    <a:solidFill>
                                      <a:schemeClr val="tx1"/>
                                    </a:solidFill>
                                    <a:latin typeface="Cambria Math" panose="02040503050406030204" pitchFamily="18" charset="0"/>
                                  </a:rPr>
                                </m:ctrlPr>
                              </m:radPr>
                              <m:deg/>
                              <m:e>
                                <m:r>
                                  <a:rPr lang="en-US" sz="1800" b="0" i="1" smtClean="0">
                                    <a:solidFill>
                                      <a:schemeClr val="tx1"/>
                                    </a:solidFill>
                                    <a:latin typeface="Cambria Math" panose="02040503050406030204" pitchFamily="18" charset="0"/>
                                  </a:rPr>
                                  <m:t>𝑛</m:t>
                                </m:r>
                              </m:e>
                            </m:rad>
                          </m:den>
                        </m:f>
                      </m:oMath>
                    </m:oMathPara>
                  </a14:m>
                  <a:endParaRPr lang="en-US" sz="1800" dirty="0">
                    <a:solidFill>
                      <a:schemeClr val="tx1"/>
                    </a:solidFill>
                  </a:endParaRPr>
                </a:p>
                <a:p>
                  <a:pPr eaLnBrk="1" hangingPunct="1">
                    <a:spcAft>
                      <a:spcPts val="1200"/>
                    </a:spcAft>
                  </a:pPr>
                  <a:r>
                    <a:rPr lang="en-US" sz="1800" dirty="0">
                      <a:solidFill>
                        <a:schemeClr val="tx1"/>
                      </a:solidFill>
                    </a:rPr>
                    <a:t>This interval is exact when the population distribution is Normal and approximate for large </a:t>
                  </a:r>
                  <a:r>
                    <a:rPr lang="en-US" sz="1800" i="1" dirty="0">
                      <a:solidFill>
                        <a:schemeClr val="tx1"/>
                      </a:solidFill>
                    </a:rPr>
                    <a:t>n </a:t>
                  </a:r>
                  <a:r>
                    <a:rPr lang="en-US" sz="1800" dirty="0">
                      <a:solidFill>
                        <a:schemeClr val="tx1"/>
                      </a:solidFill>
                    </a:rPr>
                    <a:t>in other cases.</a:t>
                  </a:r>
                </a:p>
              </p:txBody>
            </p:sp>
          </mc:Choice>
          <mc:Fallback>
            <p:sp>
              <p:nvSpPr>
                <p:cNvPr id="6" name="TextBox 5"/>
                <p:cNvSpPr txBox="1">
                  <a:spLocks noRot="1" noChangeAspect="1" noMove="1" noResize="1" noEditPoints="1" noAdjustHandles="1" noChangeArrowheads="1" noChangeShapeType="1" noTextEdit="1"/>
                </p:cNvSpPr>
                <p:nvPr/>
              </p:nvSpPr>
              <p:spPr bwMode="auto">
                <a:xfrm>
                  <a:off x="213999" y="3284520"/>
                  <a:ext cx="8334725" cy="3800071"/>
                </a:xfrm>
                <a:prstGeom prst="rect">
                  <a:avLst/>
                </a:prstGeom>
                <a:blipFill rotWithShape="0">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ea typeface="ＭＳ Ｐゴシック" pitchFamily="34" charset="-128"/>
              </a:rPr>
              <a:t>Using Table D</a:t>
            </a:r>
          </a:p>
        </p:txBody>
      </p:sp>
      <p:sp>
        <p:nvSpPr>
          <p:cNvPr id="3686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9EC824C2-AC5C-4598-878F-8BA4AB943762}" type="slidenum">
              <a:rPr lang="en-US" sz="1200">
                <a:solidFill>
                  <a:schemeClr val="accent1"/>
                </a:solidFill>
              </a:rPr>
              <a:pPr>
                <a:lnSpc>
                  <a:spcPct val="80000"/>
                </a:lnSpc>
              </a:pPr>
              <a:t>9</a:t>
            </a:fld>
            <a:endParaRPr lang="en-US" sz="1200">
              <a:solidFill>
                <a:schemeClr val="accent1"/>
              </a:solidFill>
            </a:endParaRPr>
          </a:p>
        </p:txBody>
      </p:sp>
      <p:sp>
        <p:nvSpPr>
          <p:cNvPr id="36867" name="Vertical Text Placeholder 2"/>
          <p:cNvSpPr txBox="1">
            <a:spLocks/>
          </p:cNvSpPr>
          <p:nvPr/>
        </p:nvSpPr>
        <p:spPr bwMode="auto">
          <a:xfrm>
            <a:off x="174625" y="1105664"/>
            <a:ext cx="8455025" cy="1033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buFont typeface="Wingdings" pitchFamily="2" charset="2"/>
              <a:buNone/>
            </a:pPr>
            <a:r>
              <a:rPr lang="en-US" sz="2000" dirty="0">
                <a:solidFill>
                  <a:srgbClr val="000000"/>
                </a:solidFill>
              </a:rPr>
              <a:t>Suppose you want to construct a 95% confidence interval for the mean </a:t>
            </a:r>
            <a:r>
              <a:rPr lang="en-US" sz="2000" i="1" dirty="0">
                <a:solidFill>
                  <a:srgbClr val="000000"/>
                </a:solidFill>
              </a:rPr>
              <a:t>µ</a:t>
            </a:r>
            <a:r>
              <a:rPr lang="en-US" sz="2000" dirty="0">
                <a:solidFill>
                  <a:srgbClr val="000000"/>
                </a:solidFill>
              </a:rPr>
              <a:t> of a Normal population based on an SRS of size </a:t>
            </a:r>
            <a:r>
              <a:rPr lang="en-US" sz="2000" i="1" dirty="0">
                <a:solidFill>
                  <a:srgbClr val="000000"/>
                </a:solidFill>
              </a:rPr>
              <a:t>n</a:t>
            </a:r>
            <a:r>
              <a:rPr lang="en-US" sz="2000" dirty="0">
                <a:solidFill>
                  <a:srgbClr val="000000"/>
                </a:solidFill>
              </a:rPr>
              <a:t> = 12. What critical </a:t>
            </a:r>
            <a:r>
              <a:rPr lang="en-US" sz="2000" i="1" dirty="0">
                <a:solidFill>
                  <a:srgbClr val="000000"/>
                </a:solidFill>
              </a:rPr>
              <a:t>t*</a:t>
            </a:r>
            <a:r>
              <a:rPr lang="en-US" sz="2000" dirty="0">
                <a:solidFill>
                  <a:srgbClr val="000000"/>
                </a:solidFill>
              </a:rPr>
              <a:t> should you use?</a:t>
            </a:r>
          </a:p>
        </p:txBody>
      </p:sp>
      <p:sp>
        <p:nvSpPr>
          <p:cNvPr id="7" name="TextBox 6"/>
          <p:cNvSpPr txBox="1">
            <a:spLocks noChangeArrowheads="1"/>
          </p:cNvSpPr>
          <p:nvPr/>
        </p:nvSpPr>
        <p:spPr bwMode="auto">
          <a:xfrm>
            <a:off x="4527550" y="2700338"/>
            <a:ext cx="38322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t>In Table D, we consult the row corresponding to df = </a:t>
            </a:r>
            <a:r>
              <a:rPr lang="en-US" sz="1800" i="1" dirty="0"/>
              <a:t>n</a:t>
            </a:r>
            <a:r>
              <a:rPr lang="en-US" sz="1800" dirty="0"/>
              <a:t> – 1 = 11.</a:t>
            </a:r>
          </a:p>
        </p:txBody>
      </p:sp>
      <p:grpSp>
        <p:nvGrpSpPr>
          <p:cNvPr id="2" name="Group 25" descr="already described"/>
          <p:cNvGrpSpPr>
            <a:grpSpLocks/>
          </p:cNvGrpSpPr>
          <p:nvPr/>
        </p:nvGrpSpPr>
        <p:grpSpPr bwMode="auto">
          <a:xfrm>
            <a:off x="565150" y="3651689"/>
            <a:ext cx="7454900" cy="557212"/>
            <a:chOff x="416561" y="3070182"/>
            <a:chExt cx="7454821" cy="556938"/>
          </a:xfrm>
        </p:grpSpPr>
        <p:sp>
          <p:nvSpPr>
            <p:cNvPr id="11" name="Rectangle 10"/>
            <p:cNvSpPr>
              <a:spLocks noChangeArrowheads="1"/>
            </p:cNvSpPr>
            <p:nvPr/>
          </p:nvSpPr>
          <p:spPr bwMode="auto">
            <a:xfrm>
              <a:off x="416561" y="3322470"/>
              <a:ext cx="3876634" cy="304650"/>
            </a:xfrm>
            <a:prstGeom prst="rect">
              <a:avLst/>
            </a:prstGeom>
            <a:solidFill>
              <a:srgbClr val="FFFF00"/>
            </a:solidFill>
            <a:ln>
              <a:noFill/>
            </a:ln>
            <a:effectLst>
              <a:outerShdw blurRad="38100" dist="30000" dir="5400000" rotWithShape="0">
                <a:srgbClr val="808080">
                  <a:alpha val="45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defRPr/>
              </a:pPr>
              <a:endParaRPr lang="en-US" altLang="en-US">
                <a:solidFill>
                  <a:srgbClr val="FFFFFF"/>
                </a:solidFill>
              </a:endParaRPr>
            </a:p>
          </p:txBody>
        </p:sp>
        <p:sp>
          <p:nvSpPr>
            <p:cNvPr id="12" name="Curved Left Arrow 11"/>
            <p:cNvSpPr>
              <a:spLocks noChangeArrowheads="1"/>
            </p:cNvSpPr>
            <p:nvPr/>
          </p:nvSpPr>
          <p:spPr bwMode="auto">
            <a:xfrm rot="4737031">
              <a:off x="5754590" y="1437339"/>
              <a:ext cx="483949" cy="3749635"/>
            </a:xfrm>
            <a:prstGeom prst="curvedLeftArrow">
              <a:avLst>
                <a:gd name="adj1" fmla="val 24966"/>
                <a:gd name="adj2" fmla="val 50003"/>
                <a:gd name="adj3" fmla="val 25000"/>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endParaRPr lang="en-US" altLang="en-US"/>
            </a:p>
          </p:txBody>
        </p:sp>
      </p:grpSp>
      <p:sp>
        <p:nvSpPr>
          <p:cNvPr id="13" name="TextBox 12"/>
          <p:cNvSpPr txBox="1">
            <a:spLocks noChangeArrowheads="1"/>
          </p:cNvSpPr>
          <p:nvPr/>
        </p:nvSpPr>
        <p:spPr bwMode="auto">
          <a:xfrm>
            <a:off x="4527550" y="4660900"/>
            <a:ext cx="38322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t>We move across that row to the entry that is directly above the 95% confidence level.</a:t>
            </a:r>
          </a:p>
        </p:txBody>
      </p:sp>
      <p:grpSp>
        <p:nvGrpSpPr>
          <p:cNvPr id="3" name="Group 26" descr="already described"/>
          <p:cNvGrpSpPr>
            <a:grpSpLocks/>
          </p:cNvGrpSpPr>
          <p:nvPr/>
        </p:nvGrpSpPr>
        <p:grpSpPr bwMode="auto">
          <a:xfrm>
            <a:off x="1947684" y="3050819"/>
            <a:ext cx="5570715" cy="2849922"/>
            <a:chOff x="1947685" y="2483760"/>
            <a:chExt cx="5570712" cy="2850242"/>
          </a:xfrm>
        </p:grpSpPr>
        <p:sp>
          <p:nvSpPr>
            <p:cNvPr id="15" name="Rectangle 14"/>
            <p:cNvSpPr>
              <a:spLocks noChangeArrowheads="1"/>
            </p:cNvSpPr>
            <p:nvPr/>
          </p:nvSpPr>
          <p:spPr bwMode="auto">
            <a:xfrm>
              <a:off x="1947685" y="2483760"/>
              <a:ext cx="711200" cy="2316424"/>
            </a:xfrm>
            <a:prstGeom prst="rect">
              <a:avLst/>
            </a:prstGeom>
            <a:solidFill>
              <a:srgbClr val="B2B2BE"/>
            </a:solidFill>
            <a:ln>
              <a:noFill/>
            </a:ln>
            <a:effectLst>
              <a:outerShdw blurRad="38100" dist="30000" dir="5400000" rotWithShape="0">
                <a:srgbClr val="808080">
                  <a:alpha val="45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defRPr/>
              </a:pPr>
              <a:endParaRPr lang="en-US" altLang="en-US">
                <a:solidFill>
                  <a:srgbClr val="FFFFFF"/>
                </a:solidFill>
              </a:endParaRPr>
            </a:p>
          </p:txBody>
        </p:sp>
        <p:sp>
          <p:nvSpPr>
            <p:cNvPr id="16" name="Curved Left Arrow 15"/>
            <p:cNvSpPr>
              <a:spLocks noChangeArrowheads="1"/>
            </p:cNvSpPr>
            <p:nvPr/>
          </p:nvSpPr>
          <p:spPr bwMode="auto">
            <a:xfrm rot="5400000">
              <a:off x="4600543" y="2416147"/>
              <a:ext cx="552512" cy="5283197"/>
            </a:xfrm>
            <a:prstGeom prst="curvedLeftArrow">
              <a:avLst>
                <a:gd name="adj1" fmla="val 25012"/>
                <a:gd name="adj2" fmla="val 49980"/>
                <a:gd name="adj3" fmla="val 25000"/>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endParaRPr lang="en-US" altLang="en-US"/>
            </a:p>
          </p:txBody>
        </p:sp>
      </p:grpSp>
      <p:graphicFrame>
        <p:nvGraphicFramePr>
          <p:cNvPr id="17" name="Table 16" descr="already described"/>
          <p:cNvGraphicFramePr>
            <a:graphicFrameLocks noGrp="1"/>
          </p:cNvGraphicFramePr>
          <p:nvPr>
            <p:extLst>
              <p:ext uri="{D42A27DB-BD31-4B8C-83A1-F6EECF244321}">
                <p14:modId xmlns:p14="http://schemas.microsoft.com/office/powerpoint/2010/main" val="3343703012"/>
              </p:ext>
            </p:extLst>
          </p:nvPr>
        </p:nvGraphicFramePr>
        <p:xfrm>
          <a:off x="284163" y="2751138"/>
          <a:ext cx="4157663" cy="2971800"/>
        </p:xfrm>
        <a:graphic>
          <a:graphicData uri="http://schemas.openxmlformats.org/drawingml/2006/table">
            <a:tbl>
              <a:tblPr firstRow="1"/>
              <a:tblGrid>
                <a:gridCol w="830876">
                  <a:extLst>
                    <a:ext uri="{9D8B030D-6E8A-4147-A177-3AD203B41FA5}">
                      <a16:colId xmlns:a16="http://schemas.microsoft.com/office/drawing/2014/main" xmlns="" val="20000"/>
                    </a:ext>
                  </a:extLst>
                </a:gridCol>
                <a:gridCol w="832517">
                  <a:extLst>
                    <a:ext uri="{9D8B030D-6E8A-4147-A177-3AD203B41FA5}">
                      <a16:colId xmlns:a16="http://schemas.microsoft.com/office/drawing/2014/main" xmlns="" val="20001"/>
                    </a:ext>
                  </a:extLst>
                </a:gridCol>
                <a:gridCol w="830876">
                  <a:extLst>
                    <a:ext uri="{9D8B030D-6E8A-4147-A177-3AD203B41FA5}">
                      <a16:colId xmlns:a16="http://schemas.microsoft.com/office/drawing/2014/main" xmlns="" val="20002"/>
                    </a:ext>
                  </a:extLst>
                </a:gridCol>
                <a:gridCol w="830876">
                  <a:extLst>
                    <a:ext uri="{9D8B030D-6E8A-4147-A177-3AD203B41FA5}">
                      <a16:colId xmlns:a16="http://schemas.microsoft.com/office/drawing/2014/main" xmlns="" val="20003"/>
                    </a:ext>
                  </a:extLst>
                </a:gridCol>
                <a:gridCol w="832518">
                  <a:extLst>
                    <a:ext uri="{9D8B030D-6E8A-4147-A177-3AD203B41FA5}">
                      <a16:colId xmlns:a16="http://schemas.microsoft.com/office/drawing/2014/main" xmlns="" val="20004"/>
                    </a:ext>
                  </a:extLst>
                </a:gridCol>
              </a:tblGrid>
              <a:tr h="371475">
                <a:tc gridSpan="5">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itchFamily="34" charset="0"/>
                          <a:ea typeface="ＭＳ Ｐゴシック" pitchFamily="34" charset="-128"/>
                        </a:rPr>
                        <a:t>           Upper-tail probability </a:t>
                      </a:r>
                      <a:r>
                        <a:rPr kumimoji="0" lang="en-US" altLang="en-US" sz="1800" b="1" i="1" u="none" strike="noStrike" cap="none" normalizeH="0" baseline="0" dirty="0">
                          <a:ln>
                            <a:noFill/>
                          </a:ln>
                          <a:solidFill>
                            <a:schemeClr val="tx1"/>
                          </a:solidFill>
                          <a:effectLst/>
                          <a:latin typeface="Arial" pitchFamily="34" charset="0"/>
                          <a:ea typeface="ＭＳ Ｐゴシック" pitchFamily="34" charset="-128"/>
                        </a:rPr>
                        <a:t>p</a:t>
                      </a:r>
                    </a:p>
                  </a:txBody>
                  <a:tcPr horzOverflow="overflow">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itchFamily="34" charset="0"/>
                          <a:ea typeface="ＭＳ Ｐゴシック" pitchFamily="34" charset="-128"/>
                        </a:rPr>
                        <a:t>df</a:t>
                      </a:r>
                      <a:endParaRPr kumimoji="0" lang="en-US" altLang="en-US" sz="1800" b="1"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itchFamily="34" charset="0"/>
                          <a:ea typeface="ＭＳ Ｐゴシック" pitchFamily="34" charset="-128"/>
                        </a:rPr>
                        <a:t>0.05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itchFamily="34" charset="0"/>
                          <a:ea typeface="ＭＳ Ｐゴシック" pitchFamily="34" charset="-128"/>
                        </a:rPr>
                        <a:t>0.025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itchFamily="34" charset="0"/>
                          <a:ea typeface="ＭＳ Ｐゴシック" pitchFamily="34" charset="-128"/>
                        </a:rPr>
                        <a:t>0.02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itchFamily="34" charset="0"/>
                          <a:ea typeface="ＭＳ Ｐゴシック" pitchFamily="34" charset="-128"/>
                        </a:rPr>
                        <a:t>0.01</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1"/>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itchFamily="34" charset="0"/>
                          <a:ea typeface="ＭＳ Ｐゴシック" pitchFamily="34" charset="-128"/>
                        </a:rPr>
                        <a:t>10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1.812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2.228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2.359</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2.764</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2"/>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itchFamily="34" charset="0"/>
                          <a:ea typeface="ＭＳ Ｐゴシック" pitchFamily="34" charset="-128"/>
                        </a:rPr>
                        <a:t>11</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1.796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2.201</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2.328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2.718</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3"/>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itchFamily="34" charset="0"/>
                          <a:ea typeface="ＭＳ Ｐゴシック" pitchFamily="34" charset="-128"/>
                        </a:rPr>
                        <a:t>12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1.782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2.179</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2.303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2.681</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4"/>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1" u="none" strike="noStrike" cap="none" normalizeH="0" baseline="0" dirty="0">
                          <a:ln>
                            <a:noFill/>
                          </a:ln>
                          <a:solidFill>
                            <a:schemeClr val="tx1"/>
                          </a:solidFill>
                          <a:effectLst/>
                          <a:latin typeface="Arial" pitchFamily="34" charset="0"/>
                          <a:ea typeface="ＭＳ Ｐゴシック" pitchFamily="34" charset="-128"/>
                        </a:rPr>
                        <a:t>z*</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1.645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1.960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2.054</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2.326</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5"/>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1" i="1"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90%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95%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96%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itchFamily="34" charset="0"/>
                          <a:ea typeface="ＭＳ Ｐゴシック" pitchFamily="34" charset="-128"/>
                        </a:rPr>
                        <a:t>98%</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6"/>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1" i="1"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a:noFill/>
                    </a:lnL>
                    <a:lnR>
                      <a:noFill/>
                    </a:lnR>
                    <a:lnT>
                      <a:noFill/>
                    </a:lnT>
                    <a:lnB>
                      <a:noFill/>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itchFamily="34" charset="0"/>
                          <a:ea typeface="ＭＳ Ｐゴシック" pitchFamily="34" charset="-128"/>
                        </a:rPr>
                        <a:t>Confidence level </a:t>
                      </a:r>
                      <a:r>
                        <a:rPr kumimoji="0" lang="en-US" altLang="en-US" sz="1800" b="1" i="1" u="none" strike="noStrike" cap="none" normalizeH="0" baseline="0" dirty="0">
                          <a:ln>
                            <a:noFill/>
                          </a:ln>
                          <a:solidFill>
                            <a:schemeClr val="tx1"/>
                          </a:solidFill>
                          <a:effectLst/>
                          <a:latin typeface="Arial" pitchFamily="34" charset="0"/>
                          <a:ea typeface="ＭＳ Ｐゴシック" pitchFamily="34" charset="-128"/>
                        </a:rPr>
                        <a:t>C</a:t>
                      </a:r>
                      <a:endParaRPr kumimoji="0" lang="en-US" altLang="en-US" sz="1800" b="1"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7"/>
                  </a:ext>
                </a:extLst>
              </a:tr>
            </a:tbl>
          </a:graphicData>
        </a:graphic>
      </p:graphicFrame>
      <p:sp>
        <p:nvSpPr>
          <p:cNvPr id="9" name="Rectangle 8"/>
          <p:cNvSpPr>
            <a:spLocks noChangeArrowheads="1"/>
          </p:cNvSpPr>
          <p:nvPr/>
        </p:nvSpPr>
        <p:spPr bwMode="auto">
          <a:xfrm>
            <a:off x="1679574" y="6177836"/>
            <a:ext cx="5984875" cy="461665"/>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a:spAutoFit/>
          </a:bodyPr>
          <a:lstStyle/>
          <a:p>
            <a:pPr algn="ctr" eaLnBrk="1" hangingPunct="1">
              <a:defRPr/>
            </a:pPr>
            <a:r>
              <a:rPr lang="en-US" b="1" dirty="0">
                <a:solidFill>
                  <a:srgbClr val="000000"/>
                </a:solidFill>
              </a:rPr>
              <a:t>The desired critical value is </a:t>
            </a:r>
            <a:r>
              <a:rPr lang="en-US" b="1" i="1" dirty="0">
                <a:solidFill>
                  <a:srgbClr val="000000"/>
                </a:solidFill>
              </a:rPr>
              <a:t>t </a:t>
            </a:r>
            <a:r>
              <a:rPr lang="en-US" b="1" dirty="0">
                <a:solidFill>
                  <a:srgbClr val="000000"/>
                </a:solidFill>
              </a:rPr>
              <a:t>* = 2.201.</a:t>
            </a:r>
          </a:p>
        </p:txBody>
      </p:sp>
    </p:spTree>
    <p:extLst>
      <p:ext uri="{BB962C8B-B14F-4D97-AF65-F5344CB8AC3E}">
        <p14:creationId xmlns:p14="http://schemas.microsoft.com/office/powerpoint/2010/main" val="238870554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nodeType="afterGroup">
                            <p:stCondLst>
                              <p:cond delay="1000"/>
                            </p:stCondLst>
                            <p:childTnLst>
                              <p:par>
                                <p:cTn id="14" presetID="10"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childTnLst>
                                </p:cTn>
                              </p:par>
                            </p:childTnLst>
                          </p:cTn>
                        </p:par>
                        <p:par>
                          <p:cTn id="22" fill="hold" nodeType="afterGroup">
                            <p:stCondLst>
                              <p:cond delay="1000"/>
                            </p:stCondLst>
                            <p:childTnLst>
                              <p:par>
                                <p:cTn id="23" presetID="10" presetClass="entr" presetSubtype="0"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19"/>
          <p:cNvSpPr>
            <a:spLocks noGrp="1" noChangeArrowheads="1"/>
          </p:cNvSpPr>
          <p:nvPr>
            <p:ph type="title"/>
          </p:nvPr>
        </p:nvSpPr>
        <p:spPr>
          <a:xfrm>
            <a:off x="174625" y="257016"/>
            <a:ext cx="8322830" cy="571817"/>
          </a:xfrm>
        </p:spPr>
        <p:txBody>
          <a:bodyPr/>
          <a:lstStyle/>
          <a:p>
            <a:pPr eaLnBrk="1" hangingPunct="1"/>
            <a:r>
              <a:rPr lang="en-US" dirty="0">
                <a:ea typeface="ＭＳ Ｐゴシック" pitchFamily="34" charset="-128"/>
              </a:rPr>
              <a:t>One-Sample </a:t>
            </a:r>
            <a:r>
              <a:rPr lang="en-US" i="1" dirty="0">
                <a:ea typeface="ＭＳ Ｐゴシック" pitchFamily="34" charset="-128"/>
              </a:rPr>
              <a:t>t</a:t>
            </a:r>
            <a:r>
              <a:rPr lang="en-US" dirty="0">
                <a:ea typeface="ＭＳ Ｐゴシック" pitchFamily="34" charset="-128"/>
              </a:rPr>
              <a:t> Confidence Interval</a:t>
            </a:r>
            <a:r>
              <a:rPr lang="en-US" sz="2000" dirty="0">
                <a:ea typeface="ＭＳ Ｐゴシック" pitchFamily="34" charset="-128"/>
              </a:rPr>
              <a:t> (1 of 3)</a:t>
            </a:r>
          </a:p>
        </p:txBody>
      </p:sp>
      <p:sp>
        <p:nvSpPr>
          <p:cNvPr id="3891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D8E08DF0-8945-4E4E-819F-484BBF3F3355}" type="slidenum">
              <a:rPr lang="en-US" sz="1200">
                <a:solidFill>
                  <a:schemeClr val="accent1"/>
                </a:solidFill>
              </a:rPr>
              <a:pPr>
                <a:lnSpc>
                  <a:spcPct val="80000"/>
                </a:lnSpc>
              </a:pPr>
              <a:t>10</a:t>
            </a:fld>
            <a:endParaRPr lang="en-US" sz="1200">
              <a:solidFill>
                <a:schemeClr val="accent1"/>
              </a:solidFill>
            </a:endParaRPr>
          </a:p>
        </p:txBody>
      </p:sp>
      <mc:AlternateContent xmlns:mc="http://schemas.openxmlformats.org/markup-compatibility/2006">
        <mc:Choice xmlns:a14="http://schemas.microsoft.com/office/drawing/2010/main" Requires="a14">
          <p:sp>
            <p:nvSpPr>
              <p:cNvPr id="38915" name="TextBox 1"/>
              <p:cNvSpPr txBox="1">
                <a:spLocks noChangeArrowheads="1"/>
              </p:cNvSpPr>
              <p:nvPr/>
            </p:nvSpPr>
            <p:spPr bwMode="auto">
              <a:xfrm>
                <a:off x="174624" y="1112039"/>
                <a:ext cx="8714543" cy="440120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r>
                  <a:rPr lang="en-US" sz="2000" b="1" dirty="0" smtClean="0">
                    <a:solidFill>
                      <a:srgbClr val="000000"/>
                    </a:solidFill>
                  </a:rPr>
                  <a:t>Example:  </a:t>
                </a:r>
                <a:r>
                  <a:rPr lang="en-US" sz="2000" dirty="0"/>
                  <a:t>Your university recently launched robot food delivery services that works in conjunction with your meal plan. An advertisement states that you can order food and drinks to be delivered anywhere on campus, within minutes. You decide to investigate this claim and record the delivery times for your weekday lunch orders from Cosi. Let’s construct a 95% confidence interval for the average delivery time (in minutes) from Cosi to your dormitory based on the following </a:t>
                </a:r>
                <a:r>
                  <a:rPr lang="en-US" sz="2000" i="1" dirty="0"/>
                  <a:t>n </a:t>
                </a:r>
                <a:r>
                  <a:rPr lang="en-US" sz="2000" dirty="0"/>
                  <a:t>= 8 samples:</a:t>
                </a:r>
              </a:p>
              <a:p>
                <a:endParaRPr lang="en-US" sz="2000" dirty="0"/>
              </a:p>
              <a:p>
                <a:pPr algn="ctr"/>
                <a:r>
                  <a:rPr lang="en-US" sz="2000" dirty="0"/>
                  <a:t>13.7   26.3   20.0   45.3   8.5   43.6   10.1   17.3</a:t>
                </a:r>
                <a:endParaRPr lang="en-US" sz="2000" i="1" dirty="0">
                  <a:solidFill>
                    <a:srgbClr val="000000"/>
                  </a:solidFill>
                  <a:latin typeface="Cambria Math" panose="02040503050406030204" pitchFamily="18" charset="0"/>
                </a:endParaRPr>
              </a:p>
              <a:p>
                <a:pPr algn="just">
                  <a:buFont typeface="Wingdings" pitchFamily="2" charset="2"/>
                  <a:buNone/>
                </a:pPr>
                <a:endParaRPr lang="en-US" sz="2000" i="1" dirty="0">
                  <a:solidFill>
                    <a:srgbClr val="000000"/>
                  </a:solidFill>
                  <a:latin typeface="Cambria Math" panose="02040503050406030204" pitchFamily="18" charset="0"/>
                </a:endParaRPr>
              </a:p>
              <a:p>
                <a:pPr algn="just">
                  <a:buFont typeface="Wingdings" pitchFamily="2" charset="2"/>
                  <a:buNone/>
                </a:pPr>
                <a14:m>
                  <m:oMath xmlns:m="http://schemas.openxmlformats.org/officeDocument/2006/math">
                    <m:acc>
                      <m:accPr>
                        <m:chr m:val="̅"/>
                        <m:ctrlPr>
                          <a:rPr lang="en-US" sz="200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𝑥</m:t>
                        </m:r>
                      </m:e>
                    </m:acc>
                    <m:r>
                      <a:rPr lang="en-US" sz="2000" b="0" i="1" smtClean="0">
                        <a:solidFill>
                          <a:srgbClr val="000000"/>
                        </a:solidFill>
                        <a:latin typeface="Cambria Math" panose="02040503050406030204" pitchFamily="18" charset="0"/>
                      </a:rPr>
                      <m:t>=23.1 </m:t>
                    </m:r>
                  </m:oMath>
                </a14:m>
                <a:r>
                  <a:rPr lang="en-US" sz="2000" dirty="0">
                    <a:solidFill>
                      <a:srgbClr val="000000"/>
                    </a:solidFill>
                  </a:rPr>
                  <a:t>min and </a:t>
                </a:r>
                <a14:m>
                  <m:oMath xmlns:m="http://schemas.openxmlformats.org/officeDocument/2006/math">
                    <m:r>
                      <a:rPr lang="en-US" sz="2000" i="1" smtClean="0">
                        <a:solidFill>
                          <a:srgbClr val="000000"/>
                        </a:solidFill>
                        <a:latin typeface="Cambria Math" panose="02040503050406030204" pitchFamily="18" charset="0"/>
                      </a:rPr>
                      <m:t>𝑠</m:t>
                    </m:r>
                    <m:r>
                      <a:rPr lang="en-US" sz="2000" b="0" i="1" smtClean="0">
                        <a:solidFill>
                          <a:srgbClr val="000000"/>
                        </a:solidFill>
                        <a:latin typeface="Cambria Math" panose="02040503050406030204" pitchFamily="18" charset="0"/>
                      </a:rPr>
                      <m:t>=14.328</m:t>
                    </m:r>
                  </m:oMath>
                </a14:m>
                <a:r>
                  <a:rPr lang="en-US" sz="2000" dirty="0"/>
                  <a:t> min.</a:t>
                </a:r>
              </a:p>
              <a:p>
                <a:pPr algn="just">
                  <a:buFont typeface="Wingdings" pitchFamily="2" charset="2"/>
                  <a:buNone/>
                </a:pPr>
                <a:endParaRPr lang="en-US" sz="2000" b="1" dirty="0">
                  <a:solidFill>
                    <a:srgbClr val="FF0000"/>
                  </a:solidFill>
                </a:endParaRPr>
              </a:p>
              <a:p>
                <a:pPr algn="just">
                  <a:buFont typeface="Wingdings" pitchFamily="2" charset="2"/>
                  <a:buNone/>
                </a:pPr>
                <a:r>
                  <a:rPr lang="en-US" sz="2000" dirty="0">
                    <a:solidFill>
                      <a:srgbClr val="000000"/>
                    </a:solidFill>
                  </a:rPr>
                  <a:t>We want to estimate the true mean hours of television watched per week, </a:t>
                </a:r>
                <a:r>
                  <a:rPr lang="en-US" sz="2000" i="1" dirty="0">
                    <a:solidFill>
                      <a:srgbClr val="000000"/>
                    </a:solidFill>
                  </a:rPr>
                  <a:t>µ,</a:t>
                </a:r>
                <a:r>
                  <a:rPr lang="en-US" sz="2000" dirty="0">
                    <a:solidFill>
                      <a:srgbClr val="000000"/>
                    </a:solidFill>
                  </a:rPr>
                  <a:t> for all college students with a 95% confidence level.</a:t>
                </a:r>
              </a:p>
            </p:txBody>
          </p:sp>
        </mc:Choice>
        <mc:Fallback>
          <p:sp>
            <p:nvSpPr>
              <p:cNvPr id="38915" name="TextBox 1"/>
              <p:cNvSpPr txBox="1">
                <a:spLocks noRot="1" noChangeAspect="1" noMove="1" noResize="1" noEditPoints="1" noAdjustHandles="1" noChangeArrowheads="1" noChangeShapeType="1" noTextEdit="1"/>
              </p:cNvSpPr>
              <p:nvPr/>
            </p:nvSpPr>
            <p:spPr bwMode="auto">
              <a:xfrm>
                <a:off x="174624" y="1112039"/>
                <a:ext cx="8714543" cy="4401205"/>
              </a:xfrm>
              <a:prstGeom prst="rect">
                <a:avLst/>
              </a:prstGeom>
              <a:blipFill rotWithShape="0">
                <a:blip r:embed="rId2"/>
                <a:stretch>
                  <a:fillRect l="-770" t="-554" r="-700" b="-166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413" y="205274"/>
            <a:ext cx="8143442" cy="571817"/>
          </a:xfrm>
        </p:spPr>
        <p:txBody>
          <a:bodyPr/>
          <a:lstStyle/>
          <a:p>
            <a:r>
              <a:rPr lang="en-US" dirty="0">
                <a:ea typeface="ＭＳ Ｐゴシック" pitchFamily="34" charset="-128"/>
              </a:rPr>
              <a:t>One-Sample </a:t>
            </a:r>
            <a:r>
              <a:rPr lang="en-US" i="1" dirty="0">
                <a:ea typeface="ＭＳ Ｐゴシック" pitchFamily="34" charset="-128"/>
              </a:rPr>
              <a:t>t</a:t>
            </a:r>
            <a:r>
              <a:rPr lang="en-US" dirty="0">
                <a:ea typeface="ＭＳ Ｐゴシック" pitchFamily="34" charset="-128"/>
              </a:rPr>
              <a:t> Confidence Interval</a:t>
            </a:r>
            <a:r>
              <a:rPr lang="en-US" sz="2000" dirty="0">
                <a:ea typeface="ＭＳ Ｐゴシック" pitchFamily="34" charset="-128"/>
              </a:rPr>
              <a:t> (2 of 3) </a:t>
            </a:r>
            <a:endParaRPr lang="en-US" sz="2000" dirty="0"/>
          </a:p>
        </p:txBody>
      </p:sp>
      <p:sp>
        <p:nvSpPr>
          <p:cNvPr id="39937"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2F9DEA97-678C-4711-BA4B-D87FD1071E9F}" type="slidenum">
              <a:rPr lang="en-US" sz="1200">
                <a:solidFill>
                  <a:schemeClr val="accent1"/>
                </a:solidFill>
              </a:rPr>
              <a:pPr>
                <a:lnSpc>
                  <a:spcPct val="80000"/>
                </a:lnSpc>
              </a:pPr>
              <a:t>11</a:t>
            </a:fld>
            <a:endParaRPr lang="en-US" sz="1200">
              <a:solidFill>
                <a:schemeClr val="accent1"/>
              </a:solidFill>
            </a:endParaRPr>
          </a:p>
        </p:txBody>
      </p:sp>
      <p:sp>
        <p:nvSpPr>
          <p:cNvPr id="39938" name="TextBox 6"/>
          <p:cNvSpPr txBox="1">
            <a:spLocks noChangeArrowheads="1"/>
          </p:cNvSpPr>
          <p:nvPr/>
        </p:nvSpPr>
        <p:spPr bwMode="auto">
          <a:xfrm>
            <a:off x="252413" y="1020836"/>
            <a:ext cx="79660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600" dirty="0"/>
              <a:t>If these conditions are met, we can use a one-sample </a:t>
            </a:r>
            <a:r>
              <a:rPr lang="en-US" sz="1600" i="1" dirty="0"/>
              <a:t>t</a:t>
            </a:r>
            <a:r>
              <a:rPr lang="en-US" sz="1600" dirty="0"/>
              <a:t> interval to estimate </a:t>
            </a:r>
            <a:r>
              <a:rPr lang="en-US" sz="1600" i="1" dirty="0"/>
              <a:t>µ</a:t>
            </a:r>
            <a:r>
              <a:rPr lang="en-US" sz="1600" dirty="0"/>
              <a:t>. </a:t>
            </a:r>
          </a:p>
        </p:txBody>
      </p:sp>
      <p:pic>
        <p:nvPicPr>
          <p:cNvPr id="88066" name="Picture 2" descr="The graph plots time in minutes on the vertical axis, ranging from negative 10 to 60 in increments of 10, versus normal score on the horizontal axis, ranging from negative 2 to 2 in increments of 1. Eight points are plotted in a loose, nearly linear cluster that rises diagonally from left to right. A diagonal line of fit rises through the center of the cluster from approximately (negative 2.5, negative 10) through (2, 50). All points are near the line."/>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92268" y="3170515"/>
            <a:ext cx="4405035" cy="2676068"/>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a:spLocks noChangeArrowheads="1"/>
          </p:cNvSpPr>
          <p:nvPr/>
        </p:nvSpPr>
        <p:spPr bwMode="auto">
          <a:xfrm>
            <a:off x="204787" y="1460698"/>
            <a:ext cx="80613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buClr>
                <a:srgbClr val="FF0000"/>
              </a:buClr>
              <a:buFont typeface="Wingdings" pitchFamily="2" charset="2"/>
              <a:buChar char="ü"/>
            </a:pPr>
            <a:r>
              <a:rPr lang="en-US" sz="1600" b="1" dirty="0"/>
              <a:t>Random:</a:t>
            </a:r>
            <a:r>
              <a:rPr lang="en-US" sz="1600" dirty="0"/>
              <a:t> We are told that the data come from a random sample of eight college students from the population of all college students.</a:t>
            </a:r>
            <a:endParaRPr lang="en-US" sz="1600" b="1" dirty="0"/>
          </a:p>
        </p:txBody>
      </p:sp>
      <p:sp>
        <p:nvSpPr>
          <p:cNvPr id="20" name="TextBox 19"/>
          <p:cNvSpPr txBox="1">
            <a:spLocks noChangeArrowheads="1"/>
          </p:cNvSpPr>
          <p:nvPr/>
        </p:nvSpPr>
        <p:spPr bwMode="auto">
          <a:xfrm>
            <a:off x="204787" y="2190471"/>
            <a:ext cx="79644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buClr>
                <a:srgbClr val="FF0000"/>
              </a:buClr>
              <a:buFont typeface="Wingdings" pitchFamily="2" charset="2"/>
              <a:buChar char="ü"/>
            </a:pPr>
            <a:r>
              <a:rPr lang="en-US" sz="1600" b="1" dirty="0"/>
              <a:t>Normal:</a:t>
            </a:r>
            <a:r>
              <a:rPr lang="en-US" sz="1600" dirty="0"/>
              <a:t> Because the sample size is small (</a:t>
            </a:r>
            <a:r>
              <a:rPr lang="en-US" sz="1600" i="1" dirty="0"/>
              <a:t>n</a:t>
            </a:r>
            <a:r>
              <a:rPr lang="en-US" sz="1600" dirty="0"/>
              <a:t> &lt; 30), we must check whether it i</a:t>
            </a:r>
            <a:r>
              <a:rPr lang="en-US" altLang="ja-JP" sz="1600" dirty="0"/>
              <a:t>s reasonable to believe that the population distribution is Normal. Examine the distribution of the sample data.</a:t>
            </a:r>
            <a:endParaRPr lang="en-US" sz="1600" b="1" dirty="0"/>
          </a:p>
        </p:txBody>
      </p:sp>
      <p:sp>
        <p:nvSpPr>
          <p:cNvPr id="24" name="TextBox 23"/>
          <p:cNvSpPr txBox="1">
            <a:spLocks noChangeArrowheads="1"/>
          </p:cNvSpPr>
          <p:nvPr/>
        </p:nvSpPr>
        <p:spPr bwMode="auto">
          <a:xfrm>
            <a:off x="5784784" y="3021468"/>
            <a:ext cx="2846387" cy="830997"/>
          </a:xfrm>
          <a:prstGeom prst="rect">
            <a:avLst/>
          </a:prstGeom>
          <a:solidFill>
            <a:schemeClr val="accent2"/>
          </a:solidFill>
          <a:ln>
            <a:noFill/>
          </a:ln>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600" dirty="0"/>
              <a:t>With no extreme outliers, this graph suggests no severe departure from Normality.</a:t>
            </a:r>
          </a:p>
        </p:txBody>
      </p:sp>
      <p:sp>
        <p:nvSpPr>
          <p:cNvPr id="25" name="TextBox 24"/>
          <p:cNvSpPr txBox="1">
            <a:spLocks noChangeArrowheads="1"/>
          </p:cNvSpPr>
          <p:nvPr/>
        </p:nvSpPr>
        <p:spPr bwMode="auto">
          <a:xfrm>
            <a:off x="331786" y="5949369"/>
            <a:ext cx="79644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buClr>
                <a:srgbClr val="FF0000"/>
              </a:buClr>
              <a:buFont typeface="Wingdings" pitchFamily="2" charset="2"/>
              <a:buChar char="ü"/>
            </a:pPr>
            <a:r>
              <a:rPr lang="en-US" sz="1600" b="1" dirty="0"/>
              <a:t>Independent:</a:t>
            </a:r>
            <a:r>
              <a:rPr lang="en-US" sz="1600" dirty="0"/>
              <a:t> Because we are sampling without replacement, we must assume that the population is much, much larger than the sample. It is obvious that there are many thousands of college students in the population.</a:t>
            </a:r>
            <a:endParaRPr lang="en-US" sz="1600" b="1"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1000"/>
                                        <p:tgtEl>
                                          <p:spTgt spid="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4" grpId="0" animBg="1"/>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le 3"/>
          <p:cNvSpPr>
            <a:spLocks noGrp="1"/>
          </p:cNvSpPr>
          <p:nvPr>
            <p:ph type="title"/>
          </p:nvPr>
        </p:nvSpPr>
        <p:spPr>
          <a:xfrm>
            <a:off x="185237" y="192164"/>
            <a:ext cx="8182908" cy="575409"/>
          </a:xfrm>
        </p:spPr>
        <p:txBody>
          <a:bodyPr/>
          <a:lstStyle/>
          <a:p>
            <a:r>
              <a:rPr lang="en-US" dirty="0">
                <a:ea typeface="ＭＳ Ｐゴシック" pitchFamily="34" charset="-128"/>
              </a:rPr>
              <a:t>One-Sample </a:t>
            </a:r>
            <a:r>
              <a:rPr lang="en-US" i="1" dirty="0">
                <a:ea typeface="ＭＳ Ｐゴシック" pitchFamily="34" charset="-128"/>
              </a:rPr>
              <a:t>t</a:t>
            </a:r>
            <a:r>
              <a:rPr lang="en-US" dirty="0">
                <a:ea typeface="ＭＳ Ｐゴシック" pitchFamily="34" charset="-128"/>
              </a:rPr>
              <a:t> Confidence Interval</a:t>
            </a:r>
            <a:r>
              <a:rPr lang="en-US" sz="2000" dirty="0">
                <a:ea typeface="ＭＳ Ｐゴシック" pitchFamily="34" charset="-128"/>
              </a:rPr>
              <a:t> (3 of 3)</a:t>
            </a:r>
            <a:r>
              <a:rPr lang="en-US" dirty="0">
                <a:ea typeface="ＭＳ Ｐゴシック" pitchFamily="34" charset="-128"/>
              </a:rPr>
              <a:t> </a:t>
            </a:r>
            <a:endParaRPr lang="en-US" dirty="0"/>
          </a:p>
        </p:txBody>
      </p:sp>
      <p:sp>
        <p:nvSpPr>
          <p:cNvPr id="4096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0327C7FD-1A18-499A-8DE1-449FD7D71802}" type="slidenum">
              <a:rPr lang="en-US" sz="1200">
                <a:solidFill>
                  <a:schemeClr val="accent1"/>
                </a:solidFill>
              </a:rPr>
              <a:pPr>
                <a:lnSpc>
                  <a:spcPct val="80000"/>
                </a:lnSpc>
              </a:pPr>
              <a:t>12</a:t>
            </a:fld>
            <a:endParaRPr lang="en-US" sz="1200">
              <a:solidFill>
                <a:schemeClr val="accent1"/>
              </a:solidFill>
            </a:endParaRPr>
          </a:p>
        </p:txBody>
      </p:sp>
      <p:sp>
        <p:nvSpPr>
          <p:cNvPr id="40963" name="TextBox 6"/>
          <p:cNvSpPr txBox="1">
            <a:spLocks noChangeArrowheads="1"/>
          </p:cNvSpPr>
          <p:nvPr/>
        </p:nvSpPr>
        <p:spPr bwMode="auto">
          <a:xfrm>
            <a:off x="244224" y="1078865"/>
            <a:ext cx="83703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r>
              <a:rPr lang="en-US" sz="2000" b="1" dirty="0"/>
              <a:t>Example:  </a:t>
            </a:r>
            <a:r>
              <a:rPr lang="en-US" sz="2000" dirty="0"/>
              <a:t>We have calculated the mean and standard deviation of the eight students in the sample.</a:t>
            </a:r>
          </a:p>
        </p:txBody>
      </p:sp>
      <mc:AlternateContent xmlns:mc="http://schemas.openxmlformats.org/markup-compatibility/2006" xmlns:a14="http://schemas.microsoft.com/office/drawing/2010/main">
        <mc:Choice Requires="a14">
          <p:sp>
            <p:nvSpPr>
              <p:cNvPr id="40994" name="Object 2" descr="already described"/>
              <p:cNvSpPr txBox="1"/>
              <p:nvPr/>
            </p:nvSpPr>
            <p:spPr bwMode="auto">
              <a:xfrm>
                <a:off x="1989138" y="2090738"/>
                <a:ext cx="4964112" cy="42068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acc>
                        <m:accPr>
                          <m:chr m:val="̄"/>
                          <m:ctrlPr>
                            <a:rPr lang="en-US" i="1" smtClean="0">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𝑥</m:t>
                          </m:r>
                        </m:e>
                      </m:acc>
                      <m:r>
                        <a:rPr lang="en-US" i="1">
                          <a:solidFill>
                            <a:srgbClr val="000000"/>
                          </a:solidFill>
                          <a:latin typeface="Cambria Math" panose="02040503050406030204" pitchFamily="18" charset="0"/>
                        </a:rPr>
                        <m:t>=23.1 </m:t>
                      </m:r>
                      <m:r>
                        <m:rPr>
                          <m:nor/>
                        </m:rPr>
                        <a:rPr lang="en-US" i="0">
                          <a:solidFill>
                            <a:srgbClr val="000000"/>
                          </a:solidFill>
                          <a:latin typeface="Cambria Math" panose="02040503050406030204" pitchFamily="18" charset="0"/>
                        </a:rPr>
                        <m:t>hours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and</m:t>
                      </m:r>
                      <m:r>
                        <m:rPr>
                          <m:nor/>
                        </m:rPr>
                        <a:rPr lang="en-US" i="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𝑠</m:t>
                      </m:r>
                      <m:r>
                        <a:rPr lang="en-US" i="1">
                          <a:solidFill>
                            <a:srgbClr val="000000"/>
                          </a:solidFill>
                          <a:latin typeface="Cambria Math" panose="02040503050406030204" pitchFamily="18" charset="0"/>
                        </a:rPr>
                        <m:t>=14.328</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hours</m:t>
                      </m:r>
                    </m:oMath>
                  </m:oMathPara>
                </a14:m>
                <a:endParaRPr lang="en-US" dirty="0"/>
              </a:p>
            </p:txBody>
          </p:sp>
        </mc:Choice>
        <mc:Fallback xmlns="">
          <p:sp>
            <p:nvSpPr>
              <p:cNvPr id="40994" name="Object 2" descr="already described"/>
              <p:cNvSpPr txBox="1">
                <a:spLocks noRot="1" noChangeAspect="1" noMove="1" noResize="1" noEditPoints="1" noAdjustHandles="1" noChangeArrowheads="1" noChangeShapeType="1" noTextEdit="1"/>
              </p:cNvSpPr>
              <p:nvPr/>
            </p:nvSpPr>
            <p:spPr bwMode="auto">
              <a:xfrm>
                <a:off x="1989138" y="2090738"/>
                <a:ext cx="4964112" cy="420687"/>
              </a:xfrm>
              <a:prstGeom prst="rect">
                <a:avLst/>
              </a:prstGeom>
              <a:blipFill>
                <a:blip r:embed="rId2"/>
                <a:stretch>
                  <a:fillRect/>
                </a:stretch>
              </a:blipFill>
              <a:ln>
                <a:noFill/>
              </a:ln>
              <a:effectLst/>
            </p:spPr>
            <p:txBody>
              <a:bodyPr/>
              <a:lstStyle/>
              <a:p>
                <a:r>
                  <a:rPr lang="en-US">
                    <a:noFill/>
                  </a:rPr>
                  <a:t> </a:t>
                </a:r>
              </a:p>
            </p:txBody>
          </p:sp>
        </mc:Fallback>
      </mc:AlternateContent>
      <p:grpSp>
        <p:nvGrpSpPr>
          <p:cNvPr id="2" name="Group 19" descr="already described"/>
          <p:cNvGrpSpPr>
            <a:grpSpLocks/>
          </p:cNvGrpSpPr>
          <p:nvPr/>
        </p:nvGrpSpPr>
        <p:grpSpPr bwMode="auto">
          <a:xfrm>
            <a:off x="771524" y="3075130"/>
            <a:ext cx="2409825" cy="1535113"/>
            <a:chOff x="487679" y="3586480"/>
            <a:chExt cx="2409951" cy="1534160"/>
          </a:xfrm>
        </p:grpSpPr>
        <p:sp>
          <p:nvSpPr>
            <p:cNvPr id="8" name="Rectangle 7"/>
            <p:cNvSpPr>
              <a:spLocks noChangeArrowheads="1"/>
            </p:cNvSpPr>
            <p:nvPr/>
          </p:nvSpPr>
          <p:spPr bwMode="auto">
            <a:xfrm>
              <a:off x="1575174" y="3586480"/>
              <a:ext cx="711237" cy="1534160"/>
            </a:xfrm>
            <a:prstGeom prst="rect">
              <a:avLst/>
            </a:prstGeom>
            <a:solidFill>
              <a:srgbClr val="FFFF00"/>
            </a:solidFill>
            <a:ln>
              <a:noFill/>
            </a:ln>
            <a:effectLst>
              <a:outerShdw blurRad="38100" dist="30000" dir="5400000" rotWithShape="0">
                <a:srgbClr val="808080">
                  <a:alpha val="45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defRPr/>
              </a:pPr>
              <a:endParaRPr lang="en-US" altLang="en-US">
                <a:solidFill>
                  <a:srgbClr val="FFFFFF"/>
                </a:solidFill>
              </a:endParaRPr>
            </a:p>
          </p:txBody>
        </p:sp>
        <p:sp>
          <p:nvSpPr>
            <p:cNvPr id="9" name="Rectangle 8"/>
            <p:cNvSpPr>
              <a:spLocks noChangeArrowheads="1"/>
            </p:cNvSpPr>
            <p:nvPr/>
          </p:nvSpPr>
          <p:spPr bwMode="auto">
            <a:xfrm>
              <a:off x="487679" y="4156039"/>
              <a:ext cx="2409951" cy="344273"/>
            </a:xfrm>
            <a:prstGeom prst="rect">
              <a:avLst/>
            </a:prstGeom>
            <a:solidFill>
              <a:srgbClr val="FFFF00"/>
            </a:solidFill>
            <a:ln>
              <a:noFill/>
            </a:ln>
            <a:effectLst>
              <a:outerShdw blurRad="38100" dist="30000" dir="5400000" rotWithShape="0">
                <a:srgbClr val="808080">
                  <a:alpha val="45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defRPr/>
              </a:pPr>
              <a:endParaRPr lang="en-US" altLang="en-US">
                <a:solidFill>
                  <a:srgbClr val="FFFFFF"/>
                </a:solidFill>
              </a:endParaRPr>
            </a:p>
          </p:txBody>
        </p:sp>
      </p:grpSp>
      <p:graphicFrame>
        <p:nvGraphicFramePr>
          <p:cNvPr id="12" name="Table 11" descr="already described"/>
          <p:cNvGraphicFramePr>
            <a:graphicFrameLocks noGrp="1"/>
          </p:cNvGraphicFramePr>
          <p:nvPr>
            <p:extLst>
              <p:ext uri="{D42A27DB-BD31-4B8C-83A1-F6EECF244321}">
                <p14:modId xmlns:p14="http://schemas.microsoft.com/office/powerpoint/2010/main" val="72560164"/>
              </p:ext>
            </p:extLst>
          </p:nvPr>
        </p:nvGraphicFramePr>
        <p:xfrm>
          <a:off x="228600" y="2763838"/>
          <a:ext cx="3057525" cy="2133600"/>
        </p:xfrm>
        <a:graphic>
          <a:graphicData uri="http://schemas.openxmlformats.org/drawingml/2006/table">
            <a:tbl>
              <a:tblPr firstRow="1"/>
              <a:tblGrid>
                <a:gridCol w="763588">
                  <a:extLst>
                    <a:ext uri="{9D8B030D-6E8A-4147-A177-3AD203B41FA5}">
                      <a16:colId xmlns:a16="http://schemas.microsoft.com/office/drawing/2014/main" xmlns="" val="20000"/>
                    </a:ext>
                  </a:extLst>
                </a:gridCol>
                <a:gridCol w="766762">
                  <a:extLst>
                    <a:ext uri="{9D8B030D-6E8A-4147-A177-3AD203B41FA5}">
                      <a16:colId xmlns:a16="http://schemas.microsoft.com/office/drawing/2014/main" xmlns="" val="20001"/>
                    </a:ext>
                  </a:extLst>
                </a:gridCol>
                <a:gridCol w="763588">
                  <a:extLst>
                    <a:ext uri="{9D8B030D-6E8A-4147-A177-3AD203B41FA5}">
                      <a16:colId xmlns:a16="http://schemas.microsoft.com/office/drawing/2014/main" xmlns="" val="20002"/>
                    </a:ext>
                  </a:extLst>
                </a:gridCol>
                <a:gridCol w="763587">
                  <a:extLst>
                    <a:ext uri="{9D8B030D-6E8A-4147-A177-3AD203B41FA5}">
                      <a16:colId xmlns:a16="http://schemas.microsoft.com/office/drawing/2014/main" xmlns="" val="20003"/>
                    </a:ext>
                  </a:extLst>
                </a:gridCol>
              </a:tblGrid>
              <a:tr h="304800">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                 Upper-tail probability </a:t>
                      </a:r>
                      <a:r>
                        <a:rPr kumimoji="0" lang="en-US" altLang="en-US" sz="1400" b="1" i="1" u="none" strike="noStrike" cap="none" normalizeH="0" baseline="0" dirty="0">
                          <a:ln>
                            <a:noFill/>
                          </a:ln>
                          <a:solidFill>
                            <a:schemeClr val="tx1"/>
                          </a:solidFill>
                          <a:effectLst/>
                          <a:latin typeface="Arial" pitchFamily="34" charset="0"/>
                          <a:ea typeface="ＭＳ Ｐゴシック" pitchFamily="34" charset="-128"/>
                        </a:rPr>
                        <a:t>p</a:t>
                      </a:r>
                    </a:p>
                  </a:txBody>
                  <a:tcPr horzOverflow="overflow">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err="1">
                          <a:ln>
                            <a:noFill/>
                          </a:ln>
                          <a:solidFill>
                            <a:schemeClr val="tx1"/>
                          </a:solidFill>
                          <a:effectLst/>
                          <a:latin typeface="Arial" pitchFamily="34" charset="0"/>
                          <a:ea typeface="ＭＳ Ｐゴシック" pitchFamily="34" charset="-128"/>
                        </a:rPr>
                        <a:t>df</a:t>
                      </a:r>
                      <a:endParaRPr kumimoji="0" lang="en-US" altLang="en-US" sz="1400" b="1"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0.05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0.025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0.02</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1"/>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1.943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2.447</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2.612</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2"/>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7</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1.895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2.365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2.517</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3"/>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8</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1.860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2.306</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2.449</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4"/>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400" b="1" i="1"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90%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95%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96%</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5"/>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400" b="1" i="1"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a:noFill/>
                    </a:lnL>
                    <a:lnR>
                      <a:noFill/>
                    </a:lnR>
                    <a:lnT>
                      <a:noFill/>
                    </a:lnT>
                    <a:lnB>
                      <a:noFill/>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Confidence level </a:t>
                      </a:r>
                      <a:r>
                        <a:rPr kumimoji="0" lang="en-US" altLang="en-US" sz="1400" b="1" i="1" u="none" strike="noStrike" cap="none" normalizeH="0" baseline="0" dirty="0">
                          <a:ln>
                            <a:noFill/>
                          </a:ln>
                          <a:solidFill>
                            <a:schemeClr val="tx1"/>
                          </a:solidFill>
                          <a:effectLst/>
                          <a:latin typeface="Arial" pitchFamily="34" charset="0"/>
                          <a:ea typeface="ＭＳ Ｐゴシック" pitchFamily="34" charset="-128"/>
                        </a:rPr>
                        <a:t>C</a:t>
                      </a:r>
                      <a:endParaRPr kumimoji="0" lang="en-US" altLang="en-US" sz="1400" b="1"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6"/>
                  </a:ext>
                </a:extLst>
              </a:tr>
            </a:tbl>
          </a:graphicData>
        </a:graphic>
      </p:graphicFrame>
      <p:sp>
        <p:nvSpPr>
          <p:cNvPr id="13" name="TextBox 12"/>
          <p:cNvSpPr txBox="1">
            <a:spLocks noChangeArrowheads="1"/>
          </p:cNvSpPr>
          <p:nvPr/>
        </p:nvSpPr>
        <p:spPr bwMode="auto">
          <a:xfrm>
            <a:off x="3544887" y="2747481"/>
            <a:ext cx="53213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Aft>
                <a:spcPts val="1200"/>
              </a:spcAft>
            </a:pPr>
            <a:r>
              <a:rPr lang="en-US" sz="2000" dirty="0"/>
              <a:t>Because </a:t>
            </a:r>
            <a:r>
              <a:rPr lang="en-US" sz="2000" i="1" dirty="0"/>
              <a:t>n</a:t>
            </a:r>
            <a:r>
              <a:rPr lang="en-US" sz="2000" dirty="0"/>
              <a:t> = 8, we use the </a:t>
            </a:r>
            <a:r>
              <a:rPr lang="en-US" sz="2000" i="1" dirty="0"/>
              <a:t>t</a:t>
            </a:r>
            <a:r>
              <a:rPr lang="en-US" sz="2000" dirty="0"/>
              <a:t> distribution with </a:t>
            </a:r>
            <a:r>
              <a:rPr lang="en-US" sz="2000" dirty="0" err="1"/>
              <a:t>df</a:t>
            </a:r>
            <a:r>
              <a:rPr lang="en-US" sz="2000" dirty="0"/>
              <a:t> = 7 to find the critical value. </a:t>
            </a:r>
          </a:p>
        </p:txBody>
      </p:sp>
      <p:sp>
        <p:nvSpPr>
          <p:cNvPr id="15" name="TextBox 14"/>
          <p:cNvSpPr txBox="1">
            <a:spLocks noChangeArrowheads="1"/>
          </p:cNvSpPr>
          <p:nvPr/>
        </p:nvSpPr>
        <p:spPr bwMode="auto">
          <a:xfrm>
            <a:off x="3544888" y="3423132"/>
            <a:ext cx="5321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Aft>
                <a:spcPts val="1200"/>
              </a:spcAft>
            </a:pPr>
            <a:r>
              <a:rPr lang="en-US" sz="2000" dirty="0"/>
              <a:t>From Table D, we find </a:t>
            </a:r>
            <a:r>
              <a:rPr lang="en-US" sz="2000" i="1" dirty="0"/>
              <a:t>t*</a:t>
            </a:r>
            <a:r>
              <a:rPr lang="en-US" sz="2000" dirty="0"/>
              <a:t> = 2.365.  </a:t>
            </a:r>
          </a:p>
        </p:txBody>
      </p:sp>
      <p:grpSp>
        <p:nvGrpSpPr>
          <p:cNvPr id="3" name="Group 26" descr="already described"/>
          <p:cNvGrpSpPr>
            <a:grpSpLocks/>
          </p:cNvGrpSpPr>
          <p:nvPr/>
        </p:nvGrpSpPr>
        <p:grpSpPr bwMode="auto">
          <a:xfrm>
            <a:off x="3544888" y="3830638"/>
            <a:ext cx="5321300" cy="1304925"/>
            <a:chOff x="3121151" y="4076480"/>
            <a:chExt cx="5321809" cy="1304824"/>
          </a:xfrm>
        </p:grpSpPr>
        <p:sp>
          <p:nvSpPr>
            <p:cNvPr id="40996" name="TextBox 25"/>
            <p:cNvSpPr txBox="1">
              <a:spLocks noChangeArrowheads="1"/>
            </p:cNvSpPr>
            <p:nvPr/>
          </p:nvSpPr>
          <p:spPr bwMode="auto">
            <a:xfrm>
              <a:off x="3121151" y="4076480"/>
              <a:ext cx="5321809" cy="70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Aft>
                  <a:spcPts val="1200"/>
                </a:spcAft>
              </a:pPr>
              <a:r>
                <a:rPr lang="en-US" sz="2000" dirty="0"/>
                <a:t>Therefore, the 95% confidence interval for </a:t>
              </a:r>
              <a:r>
                <a:rPr lang="en-US" sz="2000" i="1" dirty="0"/>
                <a:t>µ</a:t>
              </a:r>
              <a:r>
                <a:rPr lang="en-US" sz="2000" dirty="0"/>
                <a:t> is</a:t>
              </a:r>
            </a:p>
          </p:txBody>
        </p:sp>
        <mc:AlternateContent xmlns:mc="http://schemas.openxmlformats.org/markup-compatibility/2006" xmlns:a14="http://schemas.microsoft.com/office/drawing/2010/main">
          <mc:Choice Requires="a14">
            <p:sp>
              <p:nvSpPr>
                <p:cNvPr id="40995" name="Object 4"/>
                <p:cNvSpPr txBox="1"/>
                <p:nvPr/>
              </p:nvSpPr>
              <p:spPr bwMode="auto">
                <a:xfrm>
                  <a:off x="3749861" y="4659047"/>
                  <a:ext cx="3421389" cy="722257"/>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𝑥</m:t>
                            </m:r>
                          </m:e>
                        </m:acc>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𝑡</m:t>
                        </m: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𝑠</m:t>
                                </m:r>
                              </m:e>
                              <m:sub>
                                <m:r>
                                  <a:rPr lang="en-US" i="1">
                                    <a:solidFill>
                                      <a:srgbClr val="000000"/>
                                    </a:solidFill>
                                    <a:latin typeface="Cambria Math" panose="02040503050406030204" pitchFamily="18" charset="0"/>
                                  </a:rPr>
                                  <m:t>𝑥</m:t>
                                </m:r>
                              </m:sub>
                            </m:sSub>
                          </m:num>
                          <m:den>
                            <m:rad>
                              <m:radPr>
                                <m:degHide m:val="on"/>
                                <m:ctrlPr>
                                  <a:rPr lang="en-US" i="1">
                                    <a:solidFill>
                                      <a:srgbClr val="000000"/>
                                    </a:solidFill>
                                    <a:latin typeface="Cambria Math" panose="02040503050406030204" pitchFamily="18" charset="0"/>
                                  </a:rPr>
                                </m:ctrlPr>
                              </m:radPr>
                              <m:deg/>
                              <m:e>
                                <m:r>
                                  <a:rPr lang="en-US" i="1">
                                    <a:solidFill>
                                      <a:srgbClr val="000000"/>
                                    </a:solidFill>
                                    <a:latin typeface="Cambria Math" panose="02040503050406030204" pitchFamily="18" charset="0"/>
                                  </a:rPr>
                                  <m:t>𝑛</m:t>
                                </m:r>
                              </m:e>
                            </m:rad>
                          </m:den>
                        </m:f>
                        <m:r>
                          <a:rPr lang="en-US" i="1">
                            <a:solidFill>
                              <a:srgbClr val="000000"/>
                            </a:solidFill>
                            <a:latin typeface="Cambria Math" panose="02040503050406030204" pitchFamily="18" charset="0"/>
                          </a:rPr>
                          <m:t>=23.1±2.365</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14.328</m:t>
                            </m:r>
                          </m:num>
                          <m:den>
                            <m:rad>
                              <m:radPr>
                                <m:degHide m:val="on"/>
                                <m:ctrlPr>
                                  <a:rPr lang="en-US" i="1">
                                    <a:solidFill>
                                      <a:srgbClr val="000000"/>
                                    </a:solidFill>
                                    <a:latin typeface="Cambria Math" panose="02040503050406030204" pitchFamily="18" charset="0"/>
                                  </a:rPr>
                                </m:ctrlPr>
                              </m:radPr>
                              <m:deg/>
                              <m:e>
                                <m:r>
                                  <a:rPr lang="en-US" i="1">
                                    <a:solidFill>
                                      <a:srgbClr val="000000"/>
                                    </a:solidFill>
                                    <a:latin typeface="Cambria Math" panose="02040503050406030204" pitchFamily="18" charset="0"/>
                                  </a:rPr>
                                  <m:t>8</m:t>
                                </m:r>
                              </m:e>
                            </m:rad>
                          </m:den>
                        </m:f>
                      </m:oMath>
                    </m:oMathPara>
                  </a14:m>
                  <a:endParaRPr lang="en-US" dirty="0"/>
                </a:p>
              </p:txBody>
            </p:sp>
          </mc:Choice>
          <mc:Fallback xmlns="">
            <p:sp>
              <p:nvSpPr>
                <p:cNvPr id="40995" name="Object 4"/>
                <p:cNvSpPr txBox="1">
                  <a:spLocks noRot="1" noChangeAspect="1" noMove="1" noResize="1" noEditPoints="1" noAdjustHandles="1" noChangeArrowheads="1" noChangeShapeType="1" noTextEdit="1"/>
                </p:cNvSpPr>
                <p:nvPr/>
              </p:nvSpPr>
              <p:spPr bwMode="auto">
                <a:xfrm>
                  <a:off x="3749861" y="4659047"/>
                  <a:ext cx="3421389" cy="722257"/>
                </a:xfrm>
                <a:prstGeom prst="rect">
                  <a:avLst/>
                </a:prstGeom>
                <a:blipFill>
                  <a:blip r:embed="rId3"/>
                  <a:stretch>
                    <a:fillRect/>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4" name="Object 3" descr="already described"/>
              <p:cNvSpPr txBox="1"/>
              <p:nvPr/>
            </p:nvSpPr>
            <p:spPr bwMode="auto">
              <a:xfrm>
                <a:off x="5399088" y="5119688"/>
                <a:ext cx="1757362" cy="7461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i="1" smtClean="0">
                          <a:solidFill>
                            <a:srgbClr val="000000"/>
                          </a:solidFill>
                          <a:latin typeface="Cambria Math" panose="02040503050406030204" pitchFamily="18" charset="0"/>
                        </a:rPr>
                        <m:t>=23.1±11.98</m:t>
                      </m:r>
                    </m:oMath>
                    <m:oMath xmlns:m="http://schemas.openxmlformats.org/officeDocument/2006/math">
                      <m:r>
                        <a:rPr lang="en-US" i="1">
                          <a:solidFill>
                            <a:srgbClr val="000000"/>
                          </a:solidFill>
                          <a:latin typeface="Cambria Math" panose="02040503050406030204" pitchFamily="18" charset="0"/>
                        </a:rPr>
                        <m:t>=(11.12,</m:t>
                      </m:r>
                      <m:r>
                        <a:rPr lang="en-US" b="0" i="1" smtClean="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35.08)</m:t>
                      </m:r>
                    </m:oMath>
                  </m:oMathPara>
                </a14:m>
                <a:endParaRPr lang="en-US" dirty="0"/>
              </a:p>
            </p:txBody>
          </p:sp>
        </mc:Choice>
        <mc:Fallback xmlns="">
          <p:sp>
            <p:nvSpPr>
              <p:cNvPr id="14" name="Object 3" descr="already described"/>
              <p:cNvSpPr txBox="1">
                <a:spLocks noRot="1" noChangeAspect="1" noMove="1" noResize="1" noEditPoints="1" noAdjustHandles="1" noChangeArrowheads="1" noChangeShapeType="1" noTextEdit="1"/>
              </p:cNvSpPr>
              <p:nvPr/>
            </p:nvSpPr>
            <p:spPr bwMode="auto">
              <a:xfrm>
                <a:off x="5399088" y="5119688"/>
                <a:ext cx="1757362" cy="746125"/>
              </a:xfrm>
              <a:prstGeom prst="rect">
                <a:avLst/>
              </a:prstGeom>
              <a:blipFill>
                <a:blip r:embed="rId4"/>
                <a:stretch>
                  <a:fillRect r="-4167"/>
                </a:stretch>
              </a:blipFill>
              <a:ln>
                <a:noFill/>
              </a:ln>
              <a:effectLst/>
            </p:spPr>
            <p:txBody>
              <a:bodyPr/>
              <a:lstStyle/>
              <a:p>
                <a:r>
                  <a:rPr lang="en-US">
                    <a:noFill/>
                  </a:rPr>
                  <a:t> </a:t>
                </a:r>
              </a:p>
            </p:txBody>
          </p:sp>
        </mc:Fallback>
      </mc:AlternateContent>
      <p:sp>
        <p:nvSpPr>
          <p:cNvPr id="21" name="Rectangle 20"/>
          <p:cNvSpPr>
            <a:spLocks noChangeArrowheads="1"/>
          </p:cNvSpPr>
          <p:nvPr/>
        </p:nvSpPr>
        <p:spPr bwMode="auto">
          <a:xfrm>
            <a:off x="366713" y="5934075"/>
            <a:ext cx="85105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dirty="0"/>
              <a:t>We are 95% confident that the interval from 11.12 to 35.08 min captures the true mean delivery time from Cosi to your dormitory.</a:t>
            </a:r>
          </a:p>
        </p:txBody>
      </p:sp>
    </p:spTree>
    <p:extLst>
      <p:ext uri="{BB962C8B-B14F-4D97-AF65-F5344CB8AC3E}">
        <p14:creationId xmlns:p14="http://schemas.microsoft.com/office/powerpoint/2010/main" val="107603905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1000"/>
                                        <p:tgtEl>
                                          <p:spTgt spid="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6004502" cy="777240"/>
          </a:xfrm>
        </p:spPr>
        <p:txBody>
          <a:bodyPr/>
          <a:lstStyle/>
          <a:p>
            <a:r>
              <a:rPr lang="en-US" dirty="0">
                <a:ea typeface="ＭＳ Ｐゴシック" pitchFamily="34" charset="-128"/>
              </a:rPr>
              <a:t>One-Sample </a:t>
            </a:r>
            <a:r>
              <a:rPr lang="en-US" i="1" dirty="0">
                <a:ea typeface="ＭＳ Ｐゴシック" pitchFamily="34" charset="-128"/>
              </a:rPr>
              <a:t>t</a:t>
            </a:r>
            <a:r>
              <a:rPr lang="en-US" dirty="0">
                <a:ea typeface="ＭＳ Ｐゴシック" pitchFamily="34" charset="-128"/>
              </a:rPr>
              <a:t> Test</a:t>
            </a:r>
            <a:r>
              <a:rPr lang="en-US" sz="2000" dirty="0">
                <a:ea typeface="ＭＳ Ｐゴシック" pitchFamily="34" charset="-128"/>
              </a:rPr>
              <a:t> (1 of 2)</a:t>
            </a:r>
            <a:r>
              <a:rPr lang="en-US" dirty="0">
                <a:ea typeface="ＭＳ Ｐゴシック" pitchFamily="34" charset="-128"/>
              </a:rPr>
              <a:t> </a:t>
            </a:r>
            <a:endParaRPr lang="en-US" dirty="0"/>
          </a:p>
        </p:txBody>
      </p:sp>
      <p:sp>
        <p:nvSpPr>
          <p:cNvPr id="4300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59F66FB4-13EB-449C-BA97-665033304C2D}" type="slidenum">
              <a:rPr lang="en-US" sz="1200">
                <a:solidFill>
                  <a:schemeClr val="accent1"/>
                </a:solidFill>
              </a:rPr>
              <a:pPr>
                <a:lnSpc>
                  <a:spcPct val="80000"/>
                </a:lnSpc>
              </a:pPr>
              <a:t>13</a:t>
            </a:fld>
            <a:endParaRPr lang="en-US" sz="1200">
              <a:solidFill>
                <a:schemeClr val="accent1"/>
              </a:solidFill>
            </a:endParaRPr>
          </a:p>
        </p:txBody>
      </p:sp>
      <p:sp>
        <p:nvSpPr>
          <p:cNvPr id="43010" name="Rectangle 1"/>
          <p:cNvSpPr>
            <a:spLocks noChangeArrowheads="1"/>
          </p:cNvSpPr>
          <p:nvPr/>
        </p:nvSpPr>
        <p:spPr bwMode="auto">
          <a:xfrm>
            <a:off x="174624" y="1095392"/>
            <a:ext cx="829310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buFont typeface="Wingdings" pitchFamily="2" charset="2"/>
              <a:buNone/>
            </a:pPr>
            <a:r>
              <a:rPr lang="en-US" sz="2000" b="1" dirty="0">
                <a:solidFill>
                  <a:srgbClr val="000000"/>
                </a:solidFill>
              </a:rPr>
              <a:t>Example:  </a:t>
            </a:r>
            <a:r>
              <a:rPr lang="en-US" sz="2000" dirty="0">
                <a:solidFill>
                  <a:srgbClr val="000000"/>
                </a:solidFill>
              </a:rPr>
              <a:t>In the earlier delivery time example, the mean delivery time was 23.1 minutes.</a:t>
            </a:r>
            <a:r>
              <a:rPr lang="en-US" sz="2000" dirty="0">
                <a:solidFill>
                  <a:srgbClr val="000000"/>
                </a:solidFill>
                <a:latin typeface="+mn-lt"/>
              </a:rPr>
              <a:t> </a:t>
            </a:r>
            <a:r>
              <a:rPr lang="en-US" sz="2000" b="0" i="0" dirty="0">
                <a:solidFill>
                  <a:srgbClr val="000000"/>
                </a:solidFill>
                <a:effectLst/>
                <a:latin typeface="+mn-lt"/>
              </a:rPr>
              <a:t>If you were to pick up an order from Cosi, it would take you 15 minutes to walk there and back. Focusing just on the time it takes to get an order, we might want to test whether the average robot delivery time differs from this 15.0 minutes.</a:t>
            </a:r>
            <a:endParaRPr lang="en-US" sz="2000" dirty="0">
              <a:solidFill>
                <a:srgbClr val="000000"/>
              </a:solidFill>
              <a:latin typeface="+mn-lt"/>
            </a:endParaRPr>
          </a:p>
        </p:txBody>
      </p:sp>
      <p:sp>
        <p:nvSpPr>
          <p:cNvPr id="16" name="Rectangle 15"/>
          <p:cNvSpPr>
            <a:spLocks noChangeArrowheads="1"/>
          </p:cNvSpPr>
          <p:nvPr/>
        </p:nvSpPr>
        <p:spPr bwMode="auto">
          <a:xfrm>
            <a:off x="174624" y="2895730"/>
            <a:ext cx="8728743" cy="170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sz="2000" dirty="0"/>
              <a:t>We want to perform a test at the </a:t>
            </a:r>
            <a:r>
              <a:rPr lang="en-US" altLang="ja-JP" sz="2000" i="1" dirty="0">
                <a:solidFill>
                  <a:srgbClr val="000000"/>
                </a:solidFill>
                <a:latin typeface="Symbol" pitchFamily="18" charset="2"/>
                <a:sym typeface="Symbol" pitchFamily="18" charset="2"/>
              </a:rPr>
              <a:t></a:t>
            </a:r>
            <a:r>
              <a:rPr lang="en-US" sz="2000" dirty="0"/>
              <a:t> = 0.05 significance level of</a:t>
            </a:r>
          </a:p>
          <a:p>
            <a:pPr algn="ctr" eaLnBrk="1" hangingPunct="1"/>
            <a:r>
              <a:rPr lang="en-US" sz="2000" i="1" dirty="0">
                <a:solidFill>
                  <a:srgbClr val="000000"/>
                </a:solidFill>
              </a:rPr>
              <a:t>H</a:t>
            </a:r>
            <a:r>
              <a:rPr lang="en-US" sz="2000" baseline="-25000" dirty="0">
                <a:solidFill>
                  <a:srgbClr val="000000"/>
                </a:solidFill>
              </a:rPr>
              <a:t>0</a:t>
            </a:r>
            <a:r>
              <a:rPr lang="en-US" sz="2000" dirty="0">
                <a:solidFill>
                  <a:srgbClr val="000000"/>
                </a:solidFill>
              </a:rPr>
              <a:t>: </a:t>
            </a:r>
            <a:r>
              <a:rPr lang="en-US" sz="2000" i="1" dirty="0">
                <a:solidFill>
                  <a:srgbClr val="000000"/>
                </a:solidFill>
              </a:rPr>
              <a:t>µ </a:t>
            </a:r>
            <a:r>
              <a:rPr lang="en-US" sz="2000" dirty="0">
                <a:solidFill>
                  <a:srgbClr val="000000"/>
                </a:solidFill>
              </a:rPr>
              <a:t>= 15.0</a:t>
            </a:r>
          </a:p>
          <a:p>
            <a:pPr algn="ctr" eaLnBrk="1" hangingPunct="1">
              <a:spcAft>
                <a:spcPts val="600"/>
              </a:spcAft>
            </a:pPr>
            <a:r>
              <a:rPr lang="en-US" sz="2000" i="1" dirty="0">
                <a:solidFill>
                  <a:srgbClr val="000000"/>
                </a:solidFill>
              </a:rPr>
              <a:t>H</a:t>
            </a:r>
            <a:r>
              <a:rPr lang="en-US" sz="2000" baseline="-25000" dirty="0">
                <a:solidFill>
                  <a:srgbClr val="000000"/>
                </a:solidFill>
              </a:rPr>
              <a:t>a</a:t>
            </a:r>
            <a:r>
              <a:rPr lang="en-US" sz="2000" dirty="0">
                <a:solidFill>
                  <a:srgbClr val="000000"/>
                </a:solidFill>
              </a:rPr>
              <a:t>: </a:t>
            </a:r>
            <a:r>
              <a:rPr lang="en-US" sz="2000" i="1" dirty="0">
                <a:solidFill>
                  <a:srgbClr val="000000"/>
                </a:solidFill>
              </a:rPr>
              <a:t>µ </a:t>
            </a:r>
            <a:r>
              <a:rPr lang="en-US" sz="2000" dirty="0">
                <a:solidFill>
                  <a:srgbClr val="000000"/>
                </a:solidFill>
              </a:rPr>
              <a:t>≠ 15.0</a:t>
            </a:r>
          </a:p>
          <a:p>
            <a:pPr eaLnBrk="1" hangingPunct="1">
              <a:spcAft>
                <a:spcPts val="600"/>
              </a:spcAft>
            </a:pPr>
            <a:r>
              <a:rPr lang="en-US" sz="2000" dirty="0">
                <a:solidFill>
                  <a:srgbClr val="000000"/>
                </a:solidFill>
              </a:rPr>
              <a:t>where </a:t>
            </a:r>
            <a:r>
              <a:rPr lang="en-US" sz="2000" i="1" dirty="0">
                <a:solidFill>
                  <a:srgbClr val="000000"/>
                </a:solidFill>
              </a:rPr>
              <a:t>µ</a:t>
            </a:r>
            <a:r>
              <a:rPr lang="en-US" sz="2000" dirty="0">
                <a:solidFill>
                  <a:srgbClr val="000000"/>
                </a:solidFill>
              </a:rPr>
              <a:t> is the actual mean number of minutes it takes to make the delivery from Cosi to your dormitory. </a:t>
            </a:r>
            <a:endParaRPr lang="en-US" sz="2000" dirty="0"/>
          </a:p>
        </p:txBody>
      </p:sp>
      <p:sp>
        <p:nvSpPr>
          <p:cNvPr id="43013" name="TextBox 1"/>
          <p:cNvSpPr txBox="1">
            <a:spLocks noChangeArrowheads="1"/>
          </p:cNvSpPr>
          <p:nvPr/>
        </p:nvSpPr>
        <p:spPr bwMode="auto">
          <a:xfrm>
            <a:off x="174624" y="4942135"/>
            <a:ext cx="8588375" cy="646113"/>
          </a:xfrm>
          <a:prstGeom prst="rect">
            <a:avLst/>
          </a:prstGeom>
          <a:solidFill>
            <a:schemeClr val="accent2"/>
          </a:solidFill>
          <a:ln>
            <a:noFill/>
          </a:ln>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t>Earlier, we checked that the conditions for inference were satisfied, so we can proceed to the </a:t>
            </a:r>
            <a:r>
              <a:rPr lang="en-US" sz="1800" i="1" dirty="0"/>
              <a:t>t</a:t>
            </a:r>
            <a:r>
              <a:rPr lang="en-US" sz="1800" dirty="0"/>
              <a:t> test.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430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dirty="0">
                <a:ea typeface="ＭＳ Ｐゴシック" pitchFamily="34" charset="-128"/>
              </a:rPr>
              <a:t>The One-Sample </a:t>
            </a:r>
            <a:r>
              <a:rPr lang="en-US" i="1" dirty="0">
                <a:ea typeface="ＭＳ Ｐゴシック" pitchFamily="34" charset="-128"/>
              </a:rPr>
              <a:t>t</a:t>
            </a:r>
            <a:r>
              <a:rPr lang="en-US" dirty="0">
                <a:ea typeface="ＭＳ Ｐゴシック" pitchFamily="34" charset="-128"/>
              </a:rPr>
              <a:t> Test</a:t>
            </a:r>
          </a:p>
        </p:txBody>
      </p:sp>
      <p:sp>
        <p:nvSpPr>
          <p:cNvPr id="4198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F41C4EAF-926C-4845-89E9-43ACA2E4CF29}" type="slidenum">
              <a:rPr lang="en-US" sz="1200">
                <a:solidFill>
                  <a:schemeClr val="accent1"/>
                </a:solidFill>
              </a:rPr>
              <a:pPr>
                <a:lnSpc>
                  <a:spcPct val="80000"/>
                </a:lnSpc>
              </a:pPr>
              <a:t>14</a:t>
            </a:fld>
            <a:endParaRPr lang="en-US" sz="1200">
              <a:solidFill>
                <a:schemeClr val="accent1"/>
              </a:solidFill>
            </a:endParaRPr>
          </a:p>
        </p:txBody>
      </p:sp>
      <p:sp>
        <p:nvSpPr>
          <p:cNvPr id="19" name="TextBox 18"/>
          <p:cNvSpPr txBox="1">
            <a:spLocks noChangeArrowheads="1"/>
          </p:cNvSpPr>
          <p:nvPr/>
        </p:nvSpPr>
        <p:spPr bwMode="auto">
          <a:xfrm>
            <a:off x="1859754" y="1076326"/>
            <a:ext cx="5421313" cy="400110"/>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sz="2000" b="1" dirty="0">
                <a:highlight>
                  <a:srgbClr val="FFFF00"/>
                </a:highlight>
                <a:latin typeface="+mn-lt"/>
                <a:ea typeface="ＭＳ Ｐゴシック" charset="-128"/>
                <a:cs typeface="ＭＳ Ｐゴシック" charset="-128"/>
              </a:rPr>
              <a:t>One-Sample </a:t>
            </a:r>
            <a:r>
              <a:rPr lang="en-US" sz="2000" b="1" i="1" dirty="0">
                <a:highlight>
                  <a:srgbClr val="FFFF00"/>
                </a:highlight>
                <a:latin typeface="+mn-lt"/>
                <a:ea typeface="ＭＳ Ｐゴシック" charset="-128"/>
                <a:cs typeface="ＭＳ Ｐゴシック" charset="-128"/>
              </a:rPr>
              <a:t>t</a:t>
            </a:r>
            <a:r>
              <a:rPr lang="en-US" sz="2000" b="1" dirty="0">
                <a:highlight>
                  <a:srgbClr val="FFFF00"/>
                </a:highlight>
                <a:latin typeface="+mn-lt"/>
                <a:ea typeface="ＭＳ Ｐゴシック" charset="-128"/>
                <a:cs typeface="ＭＳ Ｐゴシック" charset="-128"/>
              </a:rPr>
              <a:t> Test</a:t>
            </a:r>
          </a:p>
        </p:txBody>
      </p:sp>
      <mc:AlternateContent xmlns:mc="http://schemas.openxmlformats.org/markup-compatibility/2006">
        <mc:Choice xmlns:a14="http://schemas.microsoft.com/office/drawing/2010/main" Requires="a14">
          <p:sp>
            <p:nvSpPr>
              <p:cNvPr id="18" name="TextBox 17"/>
              <p:cNvSpPr txBox="1">
                <a:spLocks noChangeArrowheads="1"/>
              </p:cNvSpPr>
              <p:nvPr/>
            </p:nvSpPr>
            <p:spPr bwMode="auto">
              <a:xfrm>
                <a:off x="533400" y="1476436"/>
                <a:ext cx="8074025" cy="193726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spcAft>
                    <a:spcPts val="1200"/>
                  </a:spcAft>
                </a:pPr>
                <a:r>
                  <a:rPr lang="en-US" sz="1500" dirty="0" smtClean="0">
                    <a:solidFill>
                      <a:srgbClr val="000000"/>
                    </a:solidFill>
                  </a:rPr>
                  <a:t>Choose an SRS of size </a:t>
                </a:r>
                <a:r>
                  <a:rPr lang="en-US" sz="1500" i="1" dirty="0">
                    <a:solidFill>
                      <a:srgbClr val="000000"/>
                    </a:solidFill>
                  </a:rPr>
                  <a:t>n </a:t>
                </a:r>
                <a:r>
                  <a:rPr lang="en-US" sz="1500" dirty="0">
                    <a:solidFill>
                      <a:srgbClr val="000000"/>
                    </a:solidFill>
                  </a:rPr>
                  <a:t>from a large population that contains an unknown mean </a:t>
                </a:r>
                <a:r>
                  <a:rPr lang="en-US" sz="1500" i="1" dirty="0">
                    <a:solidFill>
                      <a:srgbClr val="000000"/>
                    </a:solidFill>
                  </a:rPr>
                  <a:t>µ</a:t>
                </a:r>
                <a:r>
                  <a:rPr lang="en-US" sz="1500" dirty="0">
                    <a:solidFill>
                      <a:srgbClr val="000000"/>
                    </a:solidFill>
                  </a:rPr>
                  <a:t>. To test the hypothesis </a:t>
                </a:r>
                <a:r>
                  <a:rPr lang="en-US" sz="1500" i="1" dirty="0">
                    <a:solidFill>
                      <a:srgbClr val="000000"/>
                    </a:solidFill>
                  </a:rPr>
                  <a:t>H</a:t>
                </a:r>
                <a:r>
                  <a:rPr lang="en-US" sz="1500" baseline="-25000" dirty="0">
                    <a:solidFill>
                      <a:srgbClr val="000000"/>
                    </a:solidFill>
                  </a:rPr>
                  <a:t>0</a:t>
                </a:r>
                <a:r>
                  <a:rPr lang="en-US" sz="1500" dirty="0">
                    <a:solidFill>
                      <a:srgbClr val="000000"/>
                    </a:solidFill>
                  </a:rPr>
                  <a:t>: </a:t>
                </a:r>
                <a:r>
                  <a:rPr lang="en-US" sz="1500" i="1" dirty="0">
                    <a:solidFill>
                      <a:srgbClr val="000000"/>
                    </a:solidFill>
                  </a:rPr>
                  <a:t>µ </a:t>
                </a:r>
                <a:r>
                  <a:rPr lang="en-US" sz="1500" dirty="0">
                    <a:solidFill>
                      <a:srgbClr val="000000"/>
                    </a:solidFill>
                  </a:rPr>
                  <a:t>= </a:t>
                </a:r>
                <a:r>
                  <a:rPr lang="en-US" sz="1500" i="1" dirty="0">
                    <a:solidFill>
                      <a:srgbClr val="000000"/>
                    </a:solidFill>
                  </a:rPr>
                  <a:t>µ</a:t>
                </a:r>
                <a:r>
                  <a:rPr lang="en-US" sz="1500" baseline="-25000" dirty="0">
                    <a:solidFill>
                      <a:srgbClr val="000000"/>
                    </a:solidFill>
                  </a:rPr>
                  <a:t>0</a:t>
                </a:r>
                <a:r>
                  <a:rPr lang="en-US" sz="1500" dirty="0">
                    <a:solidFill>
                      <a:srgbClr val="000000"/>
                    </a:solidFill>
                  </a:rPr>
                  <a:t>, compute the one-sample </a:t>
                </a:r>
                <a:r>
                  <a:rPr lang="en-US" sz="1500" i="1" dirty="0">
                    <a:solidFill>
                      <a:srgbClr val="000000"/>
                    </a:solidFill>
                  </a:rPr>
                  <a:t>t </a:t>
                </a:r>
                <a:r>
                  <a:rPr lang="en-US" sz="1500" dirty="0">
                    <a:solidFill>
                      <a:srgbClr val="000000"/>
                    </a:solidFill>
                  </a:rPr>
                  <a:t>statistic:</a:t>
                </a:r>
              </a:p>
              <a:p>
                <a:pPr algn="just" eaLnBrk="1" hangingPunct="1">
                  <a:spcAft>
                    <a:spcPts val="1200"/>
                  </a:spcAft>
                </a:pPr>
                <a14:m>
                  <m:oMathPara xmlns:m="http://schemas.openxmlformats.org/officeDocument/2006/math">
                    <m:oMathParaPr>
                      <m:jc m:val="centerGroup"/>
                    </m:oMathParaPr>
                    <m:oMath xmlns:m="http://schemas.openxmlformats.org/officeDocument/2006/math">
                      <m:r>
                        <a:rPr lang="en-US" sz="1500" b="0" i="1" smtClean="0">
                          <a:solidFill>
                            <a:srgbClr val="000000"/>
                          </a:solidFill>
                          <a:latin typeface="Cambria Math" panose="02040503050406030204" pitchFamily="18" charset="0"/>
                        </a:rPr>
                        <m:t>𝑡</m:t>
                      </m:r>
                      <m:r>
                        <a:rPr lang="en-US" sz="1500" b="0" i="1" smtClean="0">
                          <a:solidFill>
                            <a:srgbClr val="000000"/>
                          </a:solidFill>
                          <a:latin typeface="Cambria Math" panose="02040503050406030204" pitchFamily="18" charset="0"/>
                        </a:rPr>
                        <m:t>=</m:t>
                      </m:r>
                      <m:f>
                        <m:fPr>
                          <m:ctrlPr>
                            <a:rPr lang="en-US" sz="1500" b="0" i="1" smtClean="0">
                              <a:solidFill>
                                <a:srgbClr val="000000"/>
                              </a:solidFill>
                              <a:latin typeface="Cambria Math" panose="02040503050406030204" pitchFamily="18" charset="0"/>
                            </a:rPr>
                          </m:ctrlPr>
                        </m:fPr>
                        <m:num>
                          <m:acc>
                            <m:accPr>
                              <m:chr m:val="̅"/>
                              <m:ctrlPr>
                                <a:rPr lang="en-US" sz="1500" b="0" i="1" smtClean="0">
                                  <a:solidFill>
                                    <a:srgbClr val="000000"/>
                                  </a:solidFill>
                                  <a:latin typeface="Cambria Math" panose="02040503050406030204" pitchFamily="18" charset="0"/>
                                </a:rPr>
                              </m:ctrlPr>
                            </m:accPr>
                            <m:e>
                              <m:r>
                                <a:rPr lang="en-US" sz="1500" b="0" i="1" smtClean="0">
                                  <a:solidFill>
                                    <a:srgbClr val="000000"/>
                                  </a:solidFill>
                                  <a:latin typeface="Cambria Math" panose="02040503050406030204" pitchFamily="18" charset="0"/>
                                </a:rPr>
                                <m:t>𝑥</m:t>
                              </m:r>
                            </m:e>
                          </m:acc>
                          <m:r>
                            <a:rPr lang="en-US" sz="1500" b="0" i="1" smtClean="0">
                              <a:solidFill>
                                <a:srgbClr val="000000"/>
                              </a:solidFill>
                              <a:latin typeface="Cambria Math" panose="02040503050406030204" pitchFamily="18" charset="0"/>
                            </a:rPr>
                            <m:t>−</m:t>
                          </m:r>
                          <m:sSub>
                            <m:sSubPr>
                              <m:ctrlPr>
                                <a:rPr lang="en-US" sz="1500" b="0" i="1" smtClean="0">
                                  <a:solidFill>
                                    <a:srgbClr val="000000"/>
                                  </a:solidFill>
                                  <a:latin typeface="Cambria Math" panose="02040503050406030204" pitchFamily="18" charset="0"/>
                                </a:rPr>
                              </m:ctrlPr>
                            </m:sSubPr>
                            <m:e>
                              <m:r>
                                <a:rPr lang="en-US" sz="1500" b="0" i="1" smtClean="0">
                                  <a:solidFill>
                                    <a:srgbClr val="000000"/>
                                  </a:solidFill>
                                  <a:latin typeface="Cambria Math" panose="02040503050406030204" pitchFamily="18" charset="0"/>
                                  <a:ea typeface="Cambria Math" panose="02040503050406030204" pitchFamily="18" charset="0"/>
                                </a:rPr>
                                <m:t>𝜇</m:t>
                              </m:r>
                            </m:e>
                            <m:sub>
                              <m:r>
                                <a:rPr lang="en-US" sz="1500" b="0" i="1" smtClean="0">
                                  <a:solidFill>
                                    <a:srgbClr val="000000"/>
                                  </a:solidFill>
                                  <a:latin typeface="Cambria Math" panose="02040503050406030204" pitchFamily="18" charset="0"/>
                                </a:rPr>
                                <m:t>0</m:t>
                              </m:r>
                            </m:sub>
                          </m:sSub>
                        </m:num>
                        <m:den>
                          <m:f>
                            <m:fPr>
                              <m:type m:val="skw"/>
                              <m:ctrlPr>
                                <a:rPr lang="en-US" sz="1500" b="0" i="1" smtClean="0">
                                  <a:solidFill>
                                    <a:srgbClr val="000000"/>
                                  </a:solidFill>
                                  <a:latin typeface="Cambria Math" panose="02040503050406030204" pitchFamily="18" charset="0"/>
                                </a:rPr>
                              </m:ctrlPr>
                            </m:fPr>
                            <m:num>
                              <m:r>
                                <a:rPr lang="en-US" sz="1500" b="0" i="1" smtClean="0">
                                  <a:solidFill>
                                    <a:srgbClr val="000000"/>
                                  </a:solidFill>
                                  <a:latin typeface="Cambria Math" panose="02040503050406030204" pitchFamily="18" charset="0"/>
                                </a:rPr>
                                <m:t>𝑠</m:t>
                              </m:r>
                            </m:num>
                            <m:den>
                              <m:rad>
                                <m:radPr>
                                  <m:degHide m:val="on"/>
                                  <m:ctrlPr>
                                    <a:rPr lang="en-US" sz="1500" b="0" i="1" smtClean="0">
                                      <a:solidFill>
                                        <a:srgbClr val="000000"/>
                                      </a:solidFill>
                                      <a:latin typeface="Cambria Math" panose="02040503050406030204" pitchFamily="18" charset="0"/>
                                    </a:rPr>
                                  </m:ctrlPr>
                                </m:radPr>
                                <m:deg/>
                                <m:e>
                                  <m:r>
                                    <a:rPr lang="en-US" sz="1500" b="0" i="1" smtClean="0">
                                      <a:solidFill>
                                        <a:srgbClr val="000000"/>
                                      </a:solidFill>
                                      <a:latin typeface="Cambria Math" panose="02040503050406030204" pitchFamily="18" charset="0"/>
                                    </a:rPr>
                                    <m:t>𝑛</m:t>
                                  </m:r>
                                </m:e>
                              </m:rad>
                            </m:den>
                          </m:f>
                        </m:den>
                      </m:f>
                    </m:oMath>
                  </m:oMathPara>
                </a14:m>
                <a:endParaRPr lang="en-US" sz="1500" dirty="0">
                  <a:solidFill>
                    <a:srgbClr val="000000"/>
                  </a:solidFill>
                </a:endParaRPr>
              </a:p>
              <a:p>
                <a:pPr algn="just" eaLnBrk="1" hangingPunct="1">
                  <a:spcAft>
                    <a:spcPts val="1200"/>
                  </a:spcAft>
                </a:pPr>
                <a:r>
                  <a:rPr lang="en-US" sz="1500" dirty="0">
                    <a:solidFill>
                      <a:srgbClr val="000000"/>
                    </a:solidFill>
                  </a:rPr>
                  <a:t>Find the </a:t>
                </a:r>
                <a:r>
                  <a:rPr lang="en-US" sz="1500" i="1" dirty="0">
                    <a:solidFill>
                      <a:srgbClr val="000000"/>
                    </a:solidFill>
                  </a:rPr>
                  <a:t>P</a:t>
                </a:r>
                <a:r>
                  <a:rPr lang="en-US" sz="1500" dirty="0">
                    <a:solidFill>
                      <a:srgbClr val="000000"/>
                    </a:solidFill>
                  </a:rPr>
                  <a:t>-value by calculating the probability (at degrees of freedom = </a:t>
                </a:r>
                <a:r>
                  <a:rPr lang="en-US" sz="1500" i="1" dirty="0">
                    <a:solidFill>
                      <a:srgbClr val="000000"/>
                    </a:solidFill>
                  </a:rPr>
                  <a:t>n</a:t>
                </a:r>
                <a:r>
                  <a:rPr lang="en-US" sz="1500" dirty="0">
                    <a:solidFill>
                      <a:srgbClr val="000000"/>
                    </a:solidFill>
                  </a:rPr>
                  <a:t> – 1) of getting a </a:t>
                </a:r>
                <a:r>
                  <a:rPr lang="en-US" sz="1500" i="1" dirty="0">
                    <a:solidFill>
                      <a:srgbClr val="000000"/>
                    </a:solidFill>
                  </a:rPr>
                  <a:t>t </a:t>
                </a:r>
                <a:r>
                  <a:rPr lang="en-US" sz="1500" dirty="0">
                    <a:solidFill>
                      <a:srgbClr val="000000"/>
                    </a:solidFill>
                  </a:rPr>
                  <a:t>statistic this large or larger in the direction specified by the alternative hypothesis </a:t>
                </a:r>
                <a:r>
                  <a:rPr lang="en-US" sz="1500" i="1" dirty="0">
                    <a:solidFill>
                      <a:srgbClr val="000000"/>
                    </a:solidFill>
                  </a:rPr>
                  <a:t>H</a:t>
                </a:r>
                <a:r>
                  <a:rPr lang="en-US" sz="1500" baseline="-25000" dirty="0">
                    <a:solidFill>
                      <a:srgbClr val="000000"/>
                    </a:solidFill>
                  </a:rPr>
                  <a:t>a</a:t>
                </a:r>
                <a:r>
                  <a:rPr lang="en-US" sz="1500" dirty="0">
                    <a:solidFill>
                      <a:srgbClr val="000000"/>
                    </a:solidFill>
                  </a:rPr>
                  <a:t>.  </a:t>
                </a:r>
              </a:p>
            </p:txBody>
          </p:sp>
        </mc:Choice>
        <mc:Fallback>
          <p:sp>
            <p:nvSpPr>
              <p:cNvPr id="18" name="TextBox 17"/>
              <p:cNvSpPr txBox="1">
                <a:spLocks noRot="1" noChangeAspect="1" noMove="1" noResize="1" noEditPoints="1" noAdjustHandles="1" noChangeArrowheads="1" noChangeShapeType="1" noTextEdit="1"/>
              </p:cNvSpPr>
              <p:nvPr/>
            </p:nvSpPr>
            <p:spPr bwMode="auto">
              <a:xfrm>
                <a:off x="533400" y="1476436"/>
                <a:ext cx="8074025" cy="1937262"/>
              </a:xfrm>
              <a:prstGeom prst="rect">
                <a:avLst/>
              </a:prstGeom>
              <a:blipFill rotWithShape="0">
                <a:blip r:embed="rId2"/>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
        <p:nvSpPr>
          <p:cNvPr id="36872" name="TextBox 1"/>
          <p:cNvSpPr txBox="1">
            <a:spLocks noChangeArrowheads="1"/>
          </p:cNvSpPr>
          <p:nvPr/>
        </p:nvSpPr>
        <p:spPr bwMode="auto">
          <a:xfrm>
            <a:off x="533400" y="6304002"/>
            <a:ext cx="807402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r>
              <a:rPr lang="en-US" sz="1500" dirty="0"/>
              <a:t>These </a:t>
            </a:r>
            <a:r>
              <a:rPr lang="en-US" sz="1500" i="1" dirty="0"/>
              <a:t>P</a:t>
            </a:r>
            <a:r>
              <a:rPr lang="en-US" sz="1500" dirty="0"/>
              <a:t>-values are exact if the population distribution is Normal and are approximately correct for large </a:t>
            </a:r>
            <a:r>
              <a:rPr lang="en-US" sz="1500" i="1" dirty="0"/>
              <a:t>n</a:t>
            </a:r>
            <a:r>
              <a:rPr lang="en-US" sz="1500" dirty="0"/>
              <a:t> in other cases. </a:t>
            </a:r>
          </a:p>
        </p:txBody>
      </p:sp>
      <mc:AlternateContent xmlns:mc="http://schemas.openxmlformats.org/markup-compatibility/2006" xmlns:a14="http://schemas.microsoft.com/office/drawing/2010/main">
        <mc:Choice Requires="a14">
          <p:sp>
            <p:nvSpPr>
              <p:cNvPr id="5" name="Object 4"/>
              <p:cNvSpPr txBox="1"/>
              <p:nvPr/>
            </p:nvSpPr>
            <p:spPr>
              <a:xfrm>
                <a:off x="2775719" y="3739960"/>
                <a:ext cx="2818765" cy="457097"/>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𝐻</m:t>
                          </m:r>
                        </m:e>
                        <m:sub>
                          <m:r>
                            <a:rPr lang="en-US" i="1">
                              <a:solidFill>
                                <a:srgbClr val="000000"/>
                              </a:solidFill>
                              <a:latin typeface="Cambria Math" panose="02040503050406030204" pitchFamily="18" charset="0"/>
                            </a:rPr>
                            <m:t>𝑎</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𝜇</m:t>
                      </m:r>
                      <m:r>
                        <a:rPr lang="en-US" i="1">
                          <a:solidFill>
                            <a:srgbClr val="000000"/>
                          </a:solidFill>
                          <a:latin typeface="Cambria Math" panose="02040503050406030204" pitchFamily="18" charset="0"/>
                        </a:rPr>
                        <m:t>&gt;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𝜇</m:t>
                          </m:r>
                        </m:e>
                        <m:sub>
                          <m:r>
                            <a:rPr lang="en-US" i="1">
                              <a:solidFill>
                                <a:srgbClr val="000000"/>
                              </a:solidFill>
                              <a:latin typeface="Cambria Math" panose="02040503050406030204" pitchFamily="18" charset="0"/>
                            </a:rPr>
                            <m:t>0</m:t>
                          </m:r>
                        </m:sub>
                      </m:sSub>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is</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𝑃</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𝑇</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𝑡</m:t>
                      </m:r>
                      <m:r>
                        <a:rPr lang="en-US" i="1">
                          <a:solidFill>
                            <a:srgbClr val="000000"/>
                          </a:solidFill>
                          <a:latin typeface="Cambria Math" panose="02040503050406030204" pitchFamily="18" charset="0"/>
                        </a:rPr>
                        <m:t>)</m:t>
                      </m:r>
                    </m:oMath>
                  </m:oMathPara>
                </a14:m>
                <a:endParaRPr lang="en-US"/>
              </a:p>
            </p:txBody>
          </p:sp>
        </mc:Choice>
        <mc:Fallback xmlns="">
          <p:sp>
            <p:nvSpPr>
              <p:cNvPr id="5" name="Object 4"/>
              <p:cNvSpPr txBox="1">
                <a:spLocks noRot="1" noChangeAspect="1" noMove="1" noResize="1" noEditPoints="1" noAdjustHandles="1" noChangeArrowheads="1" noChangeShapeType="1" noTextEdit="1"/>
              </p:cNvSpPr>
              <p:nvPr/>
            </p:nvSpPr>
            <p:spPr>
              <a:xfrm>
                <a:off x="2775719" y="3739960"/>
                <a:ext cx="2818765" cy="457097"/>
              </a:xfrm>
              <a:prstGeom prst="rect">
                <a:avLst/>
              </a:prstGeom>
              <a:blipFill>
                <a:blip r:embed="rId4"/>
                <a:stretch>
                  <a:fillRect/>
                </a:stretch>
              </a:blipFill>
            </p:spPr>
            <p:txBody>
              <a:bodyPr/>
              <a:lstStyle/>
              <a:p>
                <a:r>
                  <a:rPr lang="en-US">
                    <a:noFill/>
                  </a:rPr>
                  <a:t> </a:t>
                </a:r>
              </a:p>
            </p:txBody>
          </p:sp>
        </mc:Fallback>
      </mc:AlternateContent>
      <p:pic>
        <p:nvPicPr>
          <p:cNvPr id="2" name="Picture 1" descr="A normal distribution curve. t is marked under the right tail, with the area beyond it shaded. "/>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81035" y="3524679"/>
            <a:ext cx="2726389" cy="887661"/>
          </a:xfrm>
          <a:prstGeom prst="rect">
            <a:avLst/>
          </a:prstGeom>
        </p:spPr>
      </p:pic>
      <mc:AlternateContent xmlns:mc="http://schemas.openxmlformats.org/markup-compatibility/2006" xmlns:a14="http://schemas.microsoft.com/office/drawing/2010/main">
        <mc:Choice Requires="a14">
          <p:sp>
            <p:nvSpPr>
              <p:cNvPr id="12" name="Object 11"/>
              <p:cNvSpPr txBox="1"/>
              <p:nvPr/>
            </p:nvSpPr>
            <p:spPr>
              <a:xfrm>
                <a:off x="2793933" y="4603577"/>
                <a:ext cx="2818765" cy="457097"/>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𝐻</m:t>
                          </m:r>
                        </m:e>
                        <m:sub>
                          <m:r>
                            <a:rPr lang="en-US" i="1">
                              <a:solidFill>
                                <a:srgbClr val="000000"/>
                              </a:solidFill>
                              <a:latin typeface="Cambria Math" panose="02040503050406030204" pitchFamily="18" charset="0"/>
                            </a:rPr>
                            <m:t>𝑎</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𝜇</m:t>
                      </m:r>
                      <m:r>
                        <a:rPr lang="en-US" i="1">
                          <a:solidFill>
                            <a:srgbClr val="000000"/>
                          </a:solidFill>
                          <a:latin typeface="Cambria Math" panose="02040503050406030204" pitchFamily="18" charset="0"/>
                        </a:rPr>
                        <m:t>&lt;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𝜇</m:t>
                          </m:r>
                        </m:e>
                        <m:sub>
                          <m:r>
                            <a:rPr lang="en-US" i="1">
                              <a:solidFill>
                                <a:srgbClr val="000000"/>
                              </a:solidFill>
                              <a:latin typeface="Cambria Math" panose="02040503050406030204" pitchFamily="18" charset="0"/>
                            </a:rPr>
                            <m:t>0</m:t>
                          </m:r>
                        </m:sub>
                      </m:sSub>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is</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𝑃</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𝑇</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𝑡</m:t>
                      </m:r>
                      <m:r>
                        <a:rPr lang="en-US" i="1">
                          <a:solidFill>
                            <a:srgbClr val="000000"/>
                          </a:solidFill>
                          <a:latin typeface="Cambria Math" panose="02040503050406030204" pitchFamily="18" charset="0"/>
                        </a:rPr>
                        <m:t>)</m:t>
                      </m:r>
                    </m:oMath>
                  </m:oMathPara>
                </a14:m>
                <a:endParaRPr lang="en-US"/>
              </a:p>
            </p:txBody>
          </p:sp>
        </mc:Choice>
        <mc:Fallback xmlns="">
          <p:sp>
            <p:nvSpPr>
              <p:cNvPr id="12" name="Object 11"/>
              <p:cNvSpPr txBox="1">
                <a:spLocks noRot="1" noChangeAspect="1" noMove="1" noResize="1" noEditPoints="1" noAdjustHandles="1" noChangeArrowheads="1" noChangeShapeType="1" noTextEdit="1"/>
              </p:cNvSpPr>
              <p:nvPr/>
            </p:nvSpPr>
            <p:spPr>
              <a:xfrm>
                <a:off x="2793933" y="4603577"/>
                <a:ext cx="2818765" cy="457097"/>
              </a:xfrm>
              <a:prstGeom prst="rect">
                <a:avLst/>
              </a:prstGeom>
              <a:blipFill>
                <a:blip r:embed="rId6"/>
                <a:stretch>
                  <a:fillRect/>
                </a:stretch>
              </a:blipFill>
            </p:spPr>
            <p:txBody>
              <a:bodyPr/>
              <a:lstStyle/>
              <a:p>
                <a:r>
                  <a:rPr lang="en-US">
                    <a:noFill/>
                  </a:rPr>
                  <a:t> </a:t>
                </a:r>
              </a:p>
            </p:txBody>
          </p:sp>
        </mc:Fallback>
      </mc:AlternateContent>
      <p:pic>
        <p:nvPicPr>
          <p:cNvPr id="3" name="Picture 2" descr="A normal distribution curve. t is marked under the left tail, with the area beyond it shaded."/>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81035" y="4391177"/>
            <a:ext cx="2726390" cy="881898"/>
          </a:xfrm>
          <a:prstGeom prst="rect">
            <a:avLst/>
          </a:prstGeom>
        </p:spPr>
      </p:pic>
      <mc:AlternateContent xmlns:mc="http://schemas.openxmlformats.org/markup-compatibility/2006" xmlns:a14="http://schemas.microsoft.com/office/drawing/2010/main">
        <mc:Choice Requires="a14">
          <p:sp>
            <p:nvSpPr>
              <p:cNvPr id="13" name="Object 12"/>
              <p:cNvSpPr txBox="1"/>
              <p:nvPr/>
            </p:nvSpPr>
            <p:spPr>
              <a:xfrm>
                <a:off x="2641600" y="5514975"/>
                <a:ext cx="3124200" cy="5080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𝐻</m:t>
                          </m:r>
                        </m:e>
                        <m:sub>
                          <m:r>
                            <a:rPr lang="en-US" i="1">
                              <a:solidFill>
                                <a:srgbClr val="000000"/>
                              </a:solidFill>
                              <a:latin typeface="Cambria Math" panose="02040503050406030204" pitchFamily="18" charset="0"/>
                            </a:rPr>
                            <m:t>𝑎</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𝜇</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𝜇</m:t>
                          </m:r>
                        </m:e>
                        <m:sub>
                          <m:r>
                            <a:rPr lang="en-US" i="1">
                              <a:solidFill>
                                <a:srgbClr val="000000"/>
                              </a:solidFill>
                              <a:latin typeface="Cambria Math" panose="02040503050406030204" pitchFamily="18" charset="0"/>
                            </a:rPr>
                            <m:t>0</m:t>
                          </m:r>
                        </m:sub>
                      </m:sSub>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is</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𝑃</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𝑇</m:t>
                      </m:r>
                      <m:r>
                        <a:rPr lang="en-US" i="1">
                          <a:solidFill>
                            <a:srgbClr val="000000"/>
                          </a:solidFill>
                          <a:latin typeface="Cambria Math" panose="02040503050406030204" pitchFamily="18" charset="0"/>
                        </a:rPr>
                        <m:t>≥</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𝑡</m:t>
                          </m:r>
                        </m:e>
                      </m:d>
                      <m:r>
                        <a:rPr lang="en-US" i="1">
                          <a:solidFill>
                            <a:srgbClr val="000000"/>
                          </a:solidFill>
                          <a:latin typeface="Cambria Math" panose="02040503050406030204" pitchFamily="18" charset="0"/>
                        </a:rPr>
                        <m:t>)</m:t>
                      </m:r>
                    </m:oMath>
                  </m:oMathPara>
                </a14:m>
                <a:endParaRPr lang="en-US"/>
              </a:p>
            </p:txBody>
          </p:sp>
        </mc:Choice>
        <mc:Fallback xmlns="">
          <p:sp>
            <p:nvSpPr>
              <p:cNvPr id="13" name="Object 12"/>
              <p:cNvSpPr txBox="1">
                <a:spLocks noRot="1" noChangeAspect="1" noMove="1" noResize="1" noEditPoints="1" noAdjustHandles="1" noChangeArrowheads="1" noChangeShapeType="1" noTextEdit="1"/>
              </p:cNvSpPr>
              <p:nvPr/>
            </p:nvSpPr>
            <p:spPr>
              <a:xfrm>
                <a:off x="2641600" y="5514975"/>
                <a:ext cx="3124200" cy="508000"/>
              </a:xfrm>
              <a:prstGeom prst="rect">
                <a:avLst/>
              </a:prstGeom>
              <a:blipFill>
                <a:blip r:embed="rId8"/>
                <a:stretch>
                  <a:fillRect/>
                </a:stretch>
              </a:blipFill>
            </p:spPr>
            <p:txBody>
              <a:bodyPr/>
              <a:lstStyle/>
              <a:p>
                <a:r>
                  <a:rPr lang="en-US">
                    <a:noFill/>
                  </a:rPr>
                  <a:t> </a:t>
                </a:r>
              </a:p>
            </p:txBody>
          </p:sp>
        </mc:Fallback>
      </mc:AlternateContent>
      <p:pic>
        <p:nvPicPr>
          <p:cNvPr id="4" name="Picture 3" descr="A normal distribution curve. The absolute value of t is marked under the right tail. The opposite value is also marked under the left. The area beyond each is shaded."/>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79830" y="5273076"/>
            <a:ext cx="2727595" cy="99185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1000"/>
                                        <p:tgtEl>
                                          <p:spTgt spid="1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36872"/>
                                        </p:tgtEl>
                                        <p:attrNameLst>
                                          <p:attrName>style.visibility</p:attrName>
                                        </p:attrNameLst>
                                      </p:cBhvr>
                                      <p:to>
                                        <p:strVal val="visible"/>
                                      </p:to>
                                    </p:set>
                                    <p:anim calcmode="lin" valueType="num">
                                      <p:cBhvr additive="base">
                                        <p:cTn id="15" dur="500" fill="hold"/>
                                        <p:tgtEl>
                                          <p:spTgt spid="36872"/>
                                        </p:tgtEl>
                                        <p:attrNameLst>
                                          <p:attrName>ppt_x</p:attrName>
                                        </p:attrNameLst>
                                      </p:cBhvr>
                                      <p:tavLst>
                                        <p:tav tm="0">
                                          <p:val>
                                            <p:strVal val="#ppt_x"/>
                                          </p:val>
                                        </p:tav>
                                        <p:tav tm="100000">
                                          <p:val>
                                            <p:strVal val="#ppt_x"/>
                                          </p:val>
                                        </p:tav>
                                      </p:tavLst>
                                    </p:anim>
                                    <p:anim calcmode="lin" valueType="num">
                                      <p:cBhvr additive="base">
                                        <p:cTn id="16" dur="500" fill="hold"/>
                                        <p:tgtEl>
                                          <p:spTgt spid="368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36872"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One-Sample </a:t>
            </a:r>
            <a:r>
              <a:rPr lang="en-US" i="1" dirty="0">
                <a:ea typeface="ＭＳ Ｐゴシック" pitchFamily="34" charset="-128"/>
              </a:rPr>
              <a:t>t</a:t>
            </a:r>
            <a:r>
              <a:rPr lang="en-US" dirty="0">
                <a:ea typeface="ＭＳ Ｐゴシック" pitchFamily="34" charset="-128"/>
              </a:rPr>
              <a:t> Test</a:t>
            </a:r>
            <a:r>
              <a:rPr lang="en-US" sz="2000" dirty="0">
                <a:ea typeface="ＭＳ Ｐゴシック" pitchFamily="34" charset="-128"/>
              </a:rPr>
              <a:t> (2 of 2)</a:t>
            </a:r>
            <a:endParaRPr lang="en-US" sz="2000" dirty="0"/>
          </a:p>
        </p:txBody>
      </p:sp>
      <p:sp>
        <p:nvSpPr>
          <p:cNvPr id="4403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F9B4734C-8A91-4FC4-BF78-C7DE2370D5D5}" type="slidenum">
              <a:rPr lang="en-US" sz="1200">
                <a:solidFill>
                  <a:schemeClr val="accent1"/>
                </a:solidFill>
              </a:rPr>
              <a:pPr>
                <a:lnSpc>
                  <a:spcPct val="80000"/>
                </a:lnSpc>
              </a:pPr>
              <a:t>15</a:t>
            </a:fld>
            <a:endParaRPr lang="en-US" sz="1200">
              <a:solidFill>
                <a:schemeClr val="accent1"/>
              </a:solidFill>
            </a:endParaRPr>
          </a:p>
        </p:txBody>
      </p:sp>
      <p:pic>
        <p:nvPicPr>
          <p:cNvPr id="4" name="Picture 3" descr="The animations explain an example to predict whether or not the mean hours of television watched by college students differs from the Nielsen value of 18.5. In the example, mean &quot;x bar&quot; equals 14.5 hours, and standard deviation &quot;s sub x&quot; equals 14.854 hours for SRS &quot;n&quot; equals 8 is mentioned. The test statistic, t value &quot;minus 0.762&quot; is calculated using the formula: &quot;x bar&quot; minus &quot;mew 0,&quot; divided by &quot;s sub x&quot; divided by square root of &quot;n&quot;. The P-value is twice the area to the left of t equals minus 0.76 under the t distribution curve with df equals 7. The animations reflect that P value is between 0.40 and 0.50, which is greater than alpha equals 0.05 significance level. Hence, we fail to reject the null hypothesis, and we don't have enough evidence to conclude that the mean hours differs from the Nielsen value, &quot;mew 0&quot; of 18.5.&#10;The example also mentions that a Type 2 error is made in which null hypothesis fails to reject when the null hypothesis is fals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4525" y="375398"/>
            <a:ext cx="638175" cy="276225"/>
          </a:xfrm>
          <a:prstGeom prst="rect">
            <a:avLst/>
          </a:prstGeom>
        </p:spPr>
      </p:pic>
      <p:pic>
        <p:nvPicPr>
          <p:cNvPr id="5" name="Picture 4"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6068" y="448470"/>
            <a:ext cx="638175" cy="276225"/>
          </a:xfrm>
          <a:prstGeom prst="rect">
            <a:avLst/>
          </a:prstGeom>
        </p:spPr>
      </p:pic>
      <p:grpSp>
        <p:nvGrpSpPr>
          <p:cNvPr id="44035" name="Group 6" descr="already described"/>
          <p:cNvGrpSpPr>
            <a:grpSpLocks/>
          </p:cNvGrpSpPr>
          <p:nvPr/>
        </p:nvGrpSpPr>
        <p:grpSpPr bwMode="auto">
          <a:xfrm>
            <a:off x="443004" y="1000126"/>
            <a:ext cx="7812088" cy="373063"/>
            <a:chOff x="454521" y="954088"/>
            <a:chExt cx="7812652" cy="371943"/>
          </a:xfrm>
        </p:grpSpPr>
        <p:sp>
          <p:nvSpPr>
            <p:cNvPr id="44068" name="Rectangle 8"/>
            <p:cNvSpPr>
              <a:spLocks noChangeArrowheads="1"/>
            </p:cNvSpPr>
            <p:nvPr/>
          </p:nvSpPr>
          <p:spPr bwMode="auto">
            <a:xfrm>
              <a:off x="454521" y="954088"/>
              <a:ext cx="7812652" cy="36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dirty="0"/>
                <a:t>The sample mean and standard deviation are                                      </a:t>
              </a:r>
            </a:p>
          </p:txBody>
        </p:sp>
        <mc:AlternateContent xmlns:mc="http://schemas.openxmlformats.org/markup-compatibility/2006">
          <mc:Choice xmlns:a14="http://schemas.microsoft.com/office/drawing/2010/main" Requires="a14">
            <p:sp>
              <p:nvSpPr>
                <p:cNvPr id="44069" name="Object 3"/>
                <p:cNvSpPr txBox="1"/>
                <p:nvPr/>
              </p:nvSpPr>
              <p:spPr bwMode="auto">
                <a:xfrm>
                  <a:off x="5336344" y="1009484"/>
                  <a:ext cx="2265527" cy="316547"/>
                </a:xfrm>
                <a:prstGeom prst="rect">
                  <a:avLst/>
                </a:prstGeom>
                <a:noFill/>
                <a:ln>
                  <a:noFill/>
                </a:ln>
              </p:spPr>
              <p:txBody>
                <a:bodyPr>
                  <a:normAutofit fontScale="77500" lnSpcReduction="20000"/>
                </a:bodyPr>
                <a:lstStyle/>
                <a:p>
                  <a:pPr/>
                  <a14:m>
                    <m:oMathPara xmlns:m="http://schemas.openxmlformats.org/officeDocument/2006/math">
                      <m:oMathParaPr>
                        <m:jc m:val="left"/>
                      </m:oMathParaPr>
                      <m:oMath xmlns:m="http://schemas.openxmlformats.org/officeDocument/2006/math">
                        <m:acc>
                          <m:accPr>
                            <m:chr m:val="̄"/>
                            <m:ctrlPr>
                              <a:rPr lang="en-US" i="1" smtClean="0">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𝑥</m:t>
                            </m:r>
                          </m:e>
                        </m:acc>
                        <m:r>
                          <a:rPr lang="en-US" i="1">
                            <a:solidFill>
                              <a:srgbClr val="000000"/>
                            </a:solidFill>
                            <a:latin typeface="Cambria Math" panose="02040503050406030204" pitchFamily="18" charset="0"/>
                          </a:rPr>
                          <m:t>=23.1</m:t>
                        </m:r>
                        <m:r>
                          <m:rPr>
                            <m:nor/>
                          </m:rPr>
                          <a:rPr lang="en-US" i="0">
                            <a:solidFill>
                              <a:srgbClr val="000000"/>
                            </a:solidFill>
                            <a:latin typeface="Cambria Math" panose="02040503050406030204" pitchFamily="18" charset="0"/>
                          </a:rPr>
                          <m:t>and</m:t>
                        </m:r>
                        <m:r>
                          <m:rPr>
                            <m:nor/>
                          </m:rPr>
                          <a:rPr lang="en-US" i="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𝑠</m:t>
                        </m:r>
                        <m:r>
                          <a:rPr lang="en-US" i="1">
                            <a:solidFill>
                              <a:srgbClr val="000000"/>
                            </a:solidFill>
                            <a:latin typeface="Cambria Math" panose="02040503050406030204" pitchFamily="18" charset="0"/>
                          </a:rPr>
                          <m:t>=14.328</m:t>
                        </m:r>
                      </m:oMath>
                    </m:oMathPara>
                  </a14:m>
                  <a:endParaRPr lang="en-US" dirty="0"/>
                </a:p>
              </p:txBody>
            </p:sp>
          </mc:Choice>
          <mc:Fallback>
            <p:sp>
              <p:nvSpPr>
                <p:cNvPr id="44069" name="Object 3"/>
                <p:cNvSpPr txBox="1">
                  <a:spLocks noRot="1" noChangeAspect="1" noMove="1" noResize="1" noEditPoints="1" noAdjustHandles="1" noChangeArrowheads="1" noChangeShapeType="1" noTextEdit="1"/>
                </p:cNvSpPr>
                <p:nvPr/>
              </p:nvSpPr>
              <p:spPr bwMode="auto">
                <a:xfrm>
                  <a:off x="5336344" y="1009484"/>
                  <a:ext cx="2265527" cy="316547"/>
                </a:xfrm>
                <a:prstGeom prst="rect">
                  <a:avLst/>
                </a:prstGeom>
                <a:blipFill rotWithShape="0">
                  <a:blip r:embed="rId3"/>
                  <a:stretch>
                    <a:fillRect/>
                  </a:stretch>
                </a:blipFill>
                <a:ln>
                  <a:noFill/>
                </a:ln>
              </p:spPr>
              <p:txBody>
                <a:bodyPr/>
                <a:lstStyle/>
                <a:p>
                  <a:r>
                    <a:rPr lang="en-US">
                      <a:noFill/>
                    </a:rPr>
                    <a:t> </a:t>
                  </a:r>
                </a:p>
              </p:txBody>
            </p:sp>
          </mc:Fallback>
        </mc:AlternateContent>
      </p:grpSp>
      <p:pic>
        <p:nvPicPr>
          <p:cNvPr id="44258" name="Picture 226" descr="A normal distribution curve is plotted from just beyond negative 3 to just beyond 3 with a mean of 0. Intervals are marked in increments of 1. Test statistics are marked at approximately 1.599 and negative 1.599. The area under the curve beyond each value is shaded, with each representing P = 0.1539. "/>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74624" y="1943747"/>
            <a:ext cx="3413125" cy="1982922"/>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a:spLocks noChangeArrowheads="1"/>
          </p:cNvSpPr>
          <p:nvPr/>
        </p:nvSpPr>
        <p:spPr bwMode="auto">
          <a:xfrm>
            <a:off x="3673475" y="2458275"/>
            <a:ext cx="47323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b="1" i="1" dirty="0"/>
              <a:t>P</a:t>
            </a:r>
            <a:r>
              <a:rPr lang="en-US" b="1" dirty="0"/>
              <a:t>-value  </a:t>
            </a:r>
            <a:r>
              <a:rPr lang="en-US" dirty="0"/>
              <a:t>The </a:t>
            </a:r>
            <a:r>
              <a:rPr lang="en-US" i="1" dirty="0"/>
              <a:t>P</a:t>
            </a:r>
            <a:r>
              <a:rPr lang="en-US" dirty="0"/>
              <a:t>-value is twice the area to the right of </a:t>
            </a:r>
            <a:r>
              <a:rPr lang="en-US" i="1" dirty="0"/>
              <a:t>t</a:t>
            </a:r>
            <a:r>
              <a:rPr lang="en-US" dirty="0"/>
              <a:t> = 1.599 under the </a:t>
            </a:r>
            <a:r>
              <a:rPr lang="en-US" i="1" dirty="0"/>
              <a:t>t</a:t>
            </a:r>
            <a:r>
              <a:rPr lang="en-US" dirty="0"/>
              <a:t> distribution curve with df = 8 – 1 = 7. </a:t>
            </a:r>
          </a:p>
        </p:txBody>
      </p:sp>
      <p:grpSp>
        <p:nvGrpSpPr>
          <p:cNvPr id="3" name="Group 18" descr="already described"/>
          <p:cNvGrpSpPr>
            <a:grpSpLocks/>
          </p:cNvGrpSpPr>
          <p:nvPr/>
        </p:nvGrpSpPr>
        <p:grpSpPr bwMode="auto">
          <a:xfrm>
            <a:off x="1136650" y="4186238"/>
            <a:ext cx="1368425" cy="1736725"/>
            <a:chOff x="1806633" y="3599194"/>
            <a:chExt cx="1367557" cy="1730271"/>
          </a:xfrm>
        </p:grpSpPr>
        <p:sp>
          <p:nvSpPr>
            <p:cNvPr id="17" name="Rectangle 16"/>
            <p:cNvSpPr>
              <a:spLocks noChangeArrowheads="1"/>
            </p:cNvSpPr>
            <p:nvPr/>
          </p:nvSpPr>
          <p:spPr bwMode="auto">
            <a:xfrm>
              <a:off x="1806633" y="4983094"/>
              <a:ext cx="1367557" cy="346371"/>
            </a:xfrm>
            <a:prstGeom prst="rect">
              <a:avLst/>
            </a:prstGeom>
            <a:solidFill>
              <a:srgbClr val="FFFF00"/>
            </a:solidFill>
            <a:ln>
              <a:noFill/>
            </a:ln>
            <a:effectLst>
              <a:outerShdw blurRad="38100" dist="30000" dir="5400000" rotWithShape="0">
                <a:srgbClr val="808080">
                  <a:alpha val="45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defRPr/>
              </a:pPr>
              <a:endParaRPr lang="en-US" altLang="en-US">
                <a:solidFill>
                  <a:srgbClr val="FFFFFF"/>
                </a:solidFill>
              </a:endParaRPr>
            </a:p>
          </p:txBody>
        </p:sp>
        <p:sp>
          <p:nvSpPr>
            <p:cNvPr id="18" name="Curved Left Arrow 17"/>
            <p:cNvSpPr>
              <a:spLocks noChangeArrowheads="1"/>
            </p:cNvSpPr>
            <p:nvPr/>
          </p:nvSpPr>
          <p:spPr bwMode="auto">
            <a:xfrm rot="-215681">
              <a:off x="2531661" y="3599194"/>
              <a:ext cx="409315" cy="1568948"/>
            </a:xfrm>
            <a:prstGeom prst="curvedLeftArrow">
              <a:avLst>
                <a:gd name="adj1" fmla="val 24986"/>
                <a:gd name="adj2" fmla="val 50008"/>
                <a:gd name="adj3" fmla="val 25000"/>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endParaRPr lang="en-US" altLang="en-US"/>
            </a:p>
          </p:txBody>
        </p:sp>
      </p:grpSp>
      <p:graphicFrame>
        <p:nvGraphicFramePr>
          <p:cNvPr id="20" name="Table 19" descr="already described"/>
          <p:cNvGraphicFramePr>
            <a:graphicFrameLocks noGrp="1"/>
          </p:cNvGraphicFramePr>
          <p:nvPr>
            <p:extLst>
              <p:ext uri="{D42A27DB-BD31-4B8C-83A1-F6EECF244321}">
                <p14:modId xmlns:p14="http://schemas.microsoft.com/office/powerpoint/2010/main" val="4062948916"/>
              </p:ext>
            </p:extLst>
          </p:nvPr>
        </p:nvGraphicFramePr>
        <p:xfrm>
          <a:off x="560388" y="4684713"/>
          <a:ext cx="2593975" cy="2133600"/>
        </p:xfrm>
        <a:graphic>
          <a:graphicData uri="http://schemas.openxmlformats.org/drawingml/2006/table">
            <a:tbl>
              <a:tblPr firstRow="1"/>
              <a:tblGrid>
                <a:gridCol w="647700">
                  <a:extLst>
                    <a:ext uri="{9D8B030D-6E8A-4147-A177-3AD203B41FA5}">
                      <a16:colId xmlns:a16="http://schemas.microsoft.com/office/drawing/2014/main" xmlns="" val="20000"/>
                    </a:ext>
                  </a:extLst>
                </a:gridCol>
                <a:gridCol w="650875">
                  <a:extLst>
                    <a:ext uri="{9D8B030D-6E8A-4147-A177-3AD203B41FA5}">
                      <a16:colId xmlns:a16="http://schemas.microsoft.com/office/drawing/2014/main" xmlns="" val="20001"/>
                    </a:ext>
                  </a:extLst>
                </a:gridCol>
                <a:gridCol w="647700">
                  <a:extLst>
                    <a:ext uri="{9D8B030D-6E8A-4147-A177-3AD203B41FA5}">
                      <a16:colId xmlns:a16="http://schemas.microsoft.com/office/drawing/2014/main" xmlns="" val="20002"/>
                    </a:ext>
                  </a:extLst>
                </a:gridCol>
                <a:gridCol w="647700">
                  <a:extLst>
                    <a:ext uri="{9D8B030D-6E8A-4147-A177-3AD203B41FA5}">
                      <a16:colId xmlns:a16="http://schemas.microsoft.com/office/drawing/2014/main" xmlns="" val="20003"/>
                    </a:ext>
                  </a:extLst>
                </a:gridCol>
              </a:tblGrid>
              <a:tr h="304800">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         Upper-tail probability </a:t>
                      </a:r>
                      <a:r>
                        <a:rPr kumimoji="0" lang="en-US" altLang="en-US" sz="1400" b="1" i="1" u="none" strike="noStrike" cap="none" normalizeH="0" baseline="0" dirty="0">
                          <a:ln>
                            <a:noFill/>
                          </a:ln>
                          <a:solidFill>
                            <a:schemeClr val="tx1"/>
                          </a:solidFill>
                          <a:effectLst/>
                          <a:latin typeface="Arial" pitchFamily="34" charset="0"/>
                          <a:ea typeface="ＭＳ Ｐゴシック" pitchFamily="34" charset="-128"/>
                        </a:rPr>
                        <a:t>p</a:t>
                      </a:r>
                    </a:p>
                  </a:txBody>
                  <a:tcPr marL="91496" marR="91496" horzOverflow="overflow">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df</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0.10</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0.05</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0.025</a:t>
                      </a:r>
                    </a:p>
                  </a:txBody>
                  <a:tcPr marL="91496" marR="9149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1"/>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Arial" pitchFamily="34" charset="0"/>
                          <a:ea typeface="ＭＳ Ｐゴシック" pitchFamily="34" charset="-128"/>
                        </a:rPr>
                        <a:t>6</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1.440</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1.943</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2.447</a:t>
                      </a:r>
                    </a:p>
                  </a:txBody>
                  <a:tcPr marL="91496" marR="9149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2"/>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Arial" pitchFamily="34" charset="0"/>
                          <a:ea typeface="ＭＳ Ｐゴシック" pitchFamily="34" charset="-128"/>
                        </a:rPr>
                        <a:t>7</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1.415</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1.895</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2.365</a:t>
                      </a:r>
                    </a:p>
                  </a:txBody>
                  <a:tcPr marL="91496" marR="9149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3"/>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Arial" pitchFamily="34" charset="0"/>
                          <a:ea typeface="ＭＳ Ｐゴシック" pitchFamily="34" charset="-128"/>
                        </a:rPr>
                        <a:t>8</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1.397</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1.860</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2.306</a:t>
                      </a:r>
                    </a:p>
                  </a:txBody>
                  <a:tcPr marL="91496" marR="9149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4"/>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400" b="1" i="1" u="none" strike="noStrike" cap="none" normalizeH="0" baseline="0">
                        <a:ln>
                          <a:noFill/>
                        </a:ln>
                        <a:solidFill>
                          <a:schemeClr val="tx1"/>
                        </a:solidFill>
                        <a:effectLst/>
                        <a:latin typeface="Arial" pitchFamily="34" charset="0"/>
                        <a:ea typeface="ＭＳ Ｐゴシック" pitchFamily="34" charset="-128"/>
                      </a:endParaRP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80%</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90%</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95%</a:t>
                      </a:r>
                    </a:p>
                  </a:txBody>
                  <a:tcPr marL="91496" marR="9149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5"/>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400" b="1" i="1" u="none" strike="noStrike" cap="none" normalizeH="0" baseline="0">
                        <a:ln>
                          <a:noFill/>
                        </a:ln>
                        <a:solidFill>
                          <a:schemeClr val="tx1"/>
                        </a:solidFill>
                        <a:effectLst/>
                        <a:latin typeface="Arial" pitchFamily="34" charset="0"/>
                        <a:ea typeface="ＭＳ Ｐゴシック" pitchFamily="34" charset="-128"/>
                      </a:endParaRPr>
                    </a:p>
                  </a:txBody>
                  <a:tcPr marL="91496" marR="91496" horzOverflow="overflow">
                    <a:lnL>
                      <a:noFill/>
                    </a:lnL>
                    <a:lnR>
                      <a:noFill/>
                    </a:lnR>
                    <a:lnT>
                      <a:noFill/>
                    </a:lnT>
                    <a:lnB>
                      <a:noFill/>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Confidence level </a:t>
                      </a:r>
                      <a:r>
                        <a:rPr kumimoji="0" lang="en-US" altLang="en-US" sz="1400" b="1" i="1" u="none" strike="noStrike" cap="none" normalizeH="0" baseline="0" dirty="0">
                          <a:ln>
                            <a:noFill/>
                          </a:ln>
                          <a:solidFill>
                            <a:schemeClr val="tx1"/>
                          </a:solidFill>
                          <a:effectLst/>
                          <a:latin typeface="Arial" pitchFamily="34" charset="0"/>
                          <a:ea typeface="ＭＳ Ｐゴシック" pitchFamily="34" charset="-128"/>
                        </a:rPr>
                        <a:t>C</a:t>
                      </a:r>
                      <a:endParaRPr kumimoji="0" lang="en-US" altLang="en-US" sz="1400" b="1" i="0" u="none" strike="noStrike" cap="none" normalizeH="0" baseline="0" dirty="0">
                        <a:ln>
                          <a:noFill/>
                        </a:ln>
                        <a:solidFill>
                          <a:schemeClr val="tx1"/>
                        </a:solidFill>
                        <a:effectLst/>
                        <a:latin typeface="Arial" pitchFamily="34" charset="0"/>
                        <a:ea typeface="ＭＳ Ｐゴシック" pitchFamily="34" charset="-128"/>
                      </a:endParaRPr>
                    </a:p>
                  </a:txBody>
                  <a:tcPr marL="91496" marR="91496" horzOverflow="overflow">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6"/>
                  </a:ext>
                </a:extLst>
              </a:tr>
            </a:tbl>
          </a:graphicData>
        </a:graphic>
      </p:graphicFrame>
      <p:sp>
        <p:nvSpPr>
          <p:cNvPr id="9" name="Rectangle 8"/>
          <p:cNvSpPr>
            <a:spLocks noChangeArrowheads="1"/>
          </p:cNvSpPr>
          <p:nvPr/>
        </p:nvSpPr>
        <p:spPr bwMode="auto">
          <a:xfrm>
            <a:off x="3673475" y="3470275"/>
            <a:ext cx="5189538"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lang="en-US" dirty="0"/>
              <a:t>With software, the P-value is 0.1539. Using table D, the </a:t>
            </a:r>
            <a:r>
              <a:rPr lang="en-US" i="1" dirty="0"/>
              <a:t>P</a:t>
            </a:r>
            <a:r>
              <a:rPr lang="en-US" dirty="0"/>
              <a:t>-value is between 2 x 0.05 = 0.10 and        2 x 0.10 = 0.20. Because this is greater than our      </a:t>
            </a:r>
            <a:r>
              <a:rPr lang="en-US" altLang="ja-JP" i="1" dirty="0">
                <a:solidFill>
                  <a:srgbClr val="000000"/>
                </a:solidFill>
                <a:latin typeface="Symbol" pitchFamily="18" charset="2"/>
                <a:sym typeface="Symbol" pitchFamily="18" charset="2"/>
              </a:rPr>
              <a:t></a:t>
            </a:r>
            <a:r>
              <a:rPr lang="en-US" dirty="0"/>
              <a:t> = 0.05 significance level, we fail to reject </a:t>
            </a:r>
            <a:r>
              <a:rPr lang="en-US" i="1" dirty="0"/>
              <a:t>H</a:t>
            </a:r>
            <a:r>
              <a:rPr lang="en-US" baseline="-25000" dirty="0"/>
              <a:t>0</a:t>
            </a:r>
            <a:r>
              <a:rPr lang="en-US" dirty="0"/>
              <a:t>. We don</a:t>
            </a:r>
            <a:r>
              <a:rPr lang="en-US" altLang="en-US" dirty="0"/>
              <a:t>’</a:t>
            </a:r>
            <a:r>
              <a:rPr lang="en-US" altLang="ja-JP" dirty="0"/>
              <a:t>t have enough evidence to conclude that the mean delivery time differs from 15 minutes.</a:t>
            </a:r>
            <a:endParaRPr lang="en-US" dirty="0"/>
          </a:p>
        </p:txBody>
      </p:sp>
      <p:sp>
        <p:nvSpPr>
          <p:cNvPr id="19" name="TextBox 18"/>
          <p:cNvSpPr txBox="1">
            <a:spLocks noChangeArrowheads="1"/>
          </p:cNvSpPr>
          <p:nvPr/>
        </p:nvSpPr>
        <p:spPr bwMode="auto">
          <a:xfrm>
            <a:off x="3587750" y="5312538"/>
            <a:ext cx="5360987" cy="1323439"/>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defRPr/>
            </a:pPr>
            <a:r>
              <a:rPr lang="en-US" sz="1600" dirty="0">
                <a:solidFill>
                  <a:srgbClr val="000000"/>
                </a:solidFill>
              </a:rPr>
              <a:t>Because we decided not to reject </a:t>
            </a:r>
            <a:r>
              <a:rPr lang="en-US" sz="1600" i="1" dirty="0">
                <a:solidFill>
                  <a:srgbClr val="000000"/>
                </a:solidFill>
              </a:rPr>
              <a:t>H</a:t>
            </a:r>
            <a:r>
              <a:rPr lang="en-US" sz="1600" baseline="-25000" dirty="0">
                <a:solidFill>
                  <a:srgbClr val="000000"/>
                </a:solidFill>
              </a:rPr>
              <a:t>0</a:t>
            </a:r>
            <a:r>
              <a:rPr lang="en-US" sz="1600" dirty="0">
                <a:solidFill>
                  <a:srgbClr val="000000"/>
                </a:solidFill>
              </a:rPr>
              <a:t>, we might have made a Type II error (failing to reject </a:t>
            </a:r>
            <a:r>
              <a:rPr lang="en-US" sz="1600" i="1" dirty="0">
                <a:solidFill>
                  <a:srgbClr val="000000"/>
                </a:solidFill>
              </a:rPr>
              <a:t>H</a:t>
            </a:r>
            <a:r>
              <a:rPr lang="en-US" sz="1600" baseline="-25000" dirty="0">
                <a:solidFill>
                  <a:srgbClr val="000000"/>
                </a:solidFill>
              </a:rPr>
              <a:t>0 </a:t>
            </a:r>
            <a:r>
              <a:rPr lang="en-US" sz="1600" dirty="0">
                <a:solidFill>
                  <a:srgbClr val="000000"/>
                </a:solidFill>
              </a:rPr>
              <a:t>when </a:t>
            </a:r>
            <a:r>
              <a:rPr lang="en-US" sz="1600" i="1" dirty="0">
                <a:solidFill>
                  <a:srgbClr val="000000"/>
                </a:solidFill>
              </a:rPr>
              <a:t>H</a:t>
            </a:r>
            <a:r>
              <a:rPr lang="en-US" sz="1600" baseline="-25000" dirty="0">
                <a:solidFill>
                  <a:srgbClr val="000000"/>
                </a:solidFill>
              </a:rPr>
              <a:t>0 </a:t>
            </a:r>
            <a:r>
              <a:rPr lang="en-US" sz="1600" dirty="0">
                <a:solidFill>
                  <a:srgbClr val="000000"/>
                </a:solidFill>
              </a:rPr>
              <a:t>is false). If we did, then the mean delivery time from Cosi to your dormitory is actually not 15 minutes, even though we did not </a:t>
            </a:r>
            <a:r>
              <a:rPr lang="en-US" altLang="ja-JP" sz="1600" dirty="0">
                <a:solidFill>
                  <a:srgbClr val="000000"/>
                </a:solidFill>
              </a:rPr>
              <a:t>detect that with our significance test.</a:t>
            </a:r>
            <a:endParaRPr lang="en-US" sz="1600" dirty="0">
              <a:solidFill>
                <a:srgbClr val="000000"/>
              </a:solidFill>
            </a:endParaRPr>
          </a:p>
        </p:txBody>
      </p:sp>
      <mc:AlternateContent xmlns:mc="http://schemas.openxmlformats.org/markup-compatibility/2006">
        <mc:Choice xmlns:a14="http://schemas.microsoft.com/office/drawing/2010/main" Requires="a14">
          <p:sp>
            <p:nvSpPr>
              <p:cNvPr id="6" name="Object 5"/>
              <p:cNvSpPr txBox="1"/>
              <p:nvPr/>
            </p:nvSpPr>
            <p:spPr>
              <a:xfrm>
                <a:off x="3744913" y="1516063"/>
                <a:ext cx="4562475" cy="774700"/>
              </a:xfrm>
              <a:prstGeom prst="rect">
                <a:avLst/>
              </a:prstGeom>
            </p:spPr>
            <p:txBody>
              <a:bodyPr>
                <a:normAutofit fontScale="92500"/>
              </a:bodyPr>
              <a:lstStyle/>
              <a:p>
                <a:pPr/>
                <a14:m>
                  <m:oMathPara xmlns:m="http://schemas.openxmlformats.org/officeDocument/2006/math">
                    <m:oMathParaPr>
                      <m:jc m:val="left"/>
                    </m:oMathParaPr>
                    <m:oMath xmlns:m="http://schemas.openxmlformats.org/officeDocument/2006/math">
                      <m:r>
                        <m:rPr>
                          <m:nor/>
                        </m:rPr>
                        <a:rPr lang="en-US" i="0" smtClean="0">
                          <a:solidFill>
                            <a:srgbClr val="000000"/>
                          </a:solidFill>
                          <a:latin typeface="Cambria Math" panose="02040503050406030204" pitchFamily="18" charset="0"/>
                        </a:rPr>
                        <m:t>Test</m:t>
                      </m:r>
                      <m:r>
                        <m:rPr>
                          <m:nor/>
                        </m:rPr>
                        <a:rPr lang="en-US" i="0" smtClean="0">
                          <a:solidFill>
                            <a:srgbClr val="000000"/>
                          </a:solidFill>
                          <a:latin typeface="Cambria Math" panose="02040503050406030204" pitchFamily="18" charset="0"/>
                        </a:rPr>
                        <m:t> </m:t>
                      </m:r>
                      <m:r>
                        <m:rPr>
                          <m:nor/>
                        </m:rPr>
                        <a:rPr lang="en-US" i="0" smtClean="0">
                          <a:solidFill>
                            <a:srgbClr val="000000"/>
                          </a:solidFill>
                          <a:latin typeface="Cambria Math" panose="02040503050406030204" pitchFamily="18" charset="0"/>
                        </a:rPr>
                        <m:t>statistic</m:t>
                      </m:r>
                      <m:r>
                        <m:rPr>
                          <m:nor/>
                        </m:rPr>
                        <a:rPr lang="en-US" i="0" smtClean="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𝑡</m:t>
                      </m: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bar>
                            <m:barPr>
                              <m:pos m:val="top"/>
                              <m:ctrlPr>
                                <a:rPr lang="en-US" i="1">
                                  <a:solidFill>
                                    <a:srgbClr val="000000"/>
                                  </a:solidFill>
                                  <a:latin typeface="Cambria Math" panose="02040503050406030204" pitchFamily="18" charset="0"/>
                                </a:rPr>
                              </m:ctrlPr>
                            </m:barPr>
                            <m:e>
                              <m:r>
                                <a:rPr lang="en-US" i="1">
                                  <a:solidFill>
                                    <a:srgbClr val="000000"/>
                                  </a:solidFill>
                                  <a:latin typeface="Cambria Math" panose="02040503050406030204" pitchFamily="18" charset="0"/>
                                </a:rPr>
                                <m:t>𝑥</m:t>
                              </m:r>
                            </m:e>
                          </m:ba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𝜇</m:t>
                              </m:r>
                            </m:e>
                            <m:sub>
                              <m:r>
                                <a:rPr lang="en-US" i="1">
                                  <a:solidFill>
                                    <a:srgbClr val="000000"/>
                                  </a:solidFill>
                                  <a:latin typeface="Cambria Math" panose="02040503050406030204" pitchFamily="18" charset="0"/>
                                </a:rPr>
                                <m:t>0</m:t>
                              </m:r>
                            </m:sub>
                          </m:sSub>
                        </m:num>
                        <m:den>
                          <m:r>
                            <a:rPr lang="en-US" b="0" i="1" smtClean="0">
                              <a:solidFill>
                                <a:srgbClr val="000000"/>
                              </a:solidFill>
                              <a:latin typeface="Cambria Math" panose="02040503050406030204" pitchFamily="18" charset="0"/>
                            </a:rPr>
                            <m:t>𝑠</m:t>
                          </m:r>
                          <m: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r>
                                <a:rPr lang="en-US" i="1">
                                  <a:solidFill>
                                    <a:srgbClr val="000000"/>
                                  </a:solidFill>
                                  <a:latin typeface="Cambria Math" panose="02040503050406030204" pitchFamily="18" charset="0"/>
                                </a:rPr>
                                <m:t>𝑛</m:t>
                              </m:r>
                            </m:e>
                          </m:rad>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23.1−</m:t>
                          </m:r>
                          <m:r>
                            <a:rPr lang="en-US" b="0" i="1" smtClean="0">
                              <a:solidFill>
                                <a:srgbClr val="000000"/>
                              </a:solidFill>
                              <a:latin typeface="Cambria Math" panose="02040503050406030204" pitchFamily="18" charset="0"/>
                            </a:rPr>
                            <m:t>15.0</m:t>
                          </m:r>
                        </m:num>
                        <m:den>
                          <m:r>
                            <a:rPr lang="en-US" i="1">
                              <a:solidFill>
                                <a:srgbClr val="000000"/>
                              </a:solidFill>
                              <a:latin typeface="Cambria Math" panose="02040503050406030204" pitchFamily="18" charset="0"/>
                            </a:rPr>
                            <m:t>14.328/</m:t>
                          </m:r>
                          <m:rad>
                            <m:radPr>
                              <m:degHide m:val="on"/>
                              <m:ctrlPr>
                                <a:rPr lang="en-US" i="1">
                                  <a:solidFill>
                                    <a:srgbClr val="000000"/>
                                  </a:solidFill>
                                  <a:latin typeface="Cambria Math" panose="02040503050406030204" pitchFamily="18" charset="0"/>
                                </a:rPr>
                              </m:ctrlPr>
                            </m:radPr>
                            <m:deg/>
                            <m:e>
                              <m:r>
                                <a:rPr lang="en-US" i="1">
                                  <a:solidFill>
                                    <a:srgbClr val="000000"/>
                                  </a:solidFill>
                                  <a:latin typeface="Cambria Math" panose="02040503050406030204" pitchFamily="18" charset="0"/>
                                </a:rPr>
                                <m:t>8</m:t>
                              </m:r>
                            </m:e>
                          </m:rad>
                        </m:den>
                      </m:f>
                      <m:r>
                        <a:rPr lang="en-US" b="0" i="1" smtClean="0">
                          <a:solidFill>
                            <a:srgbClr val="000000"/>
                          </a:solidFill>
                          <a:latin typeface="Cambria Math" panose="02040503050406030204" pitchFamily="18" charset="0"/>
                        </a:rPr>
                        <m:t>=1.599</m:t>
                      </m:r>
                    </m:oMath>
                  </m:oMathPara>
                </a14:m>
                <a:endParaRPr lang="en-US" dirty="0"/>
              </a:p>
            </p:txBody>
          </p:sp>
        </mc:Choice>
        <mc:Fallback>
          <p:sp>
            <p:nvSpPr>
              <p:cNvPr id="6" name="Object 5"/>
              <p:cNvSpPr txBox="1">
                <a:spLocks noRot="1" noChangeAspect="1" noMove="1" noResize="1" noEditPoints="1" noAdjustHandles="1" noChangeArrowheads="1" noChangeShapeType="1" noTextEdit="1"/>
              </p:cNvSpPr>
              <p:nvPr/>
            </p:nvSpPr>
            <p:spPr>
              <a:xfrm>
                <a:off x="3744913" y="1516063"/>
                <a:ext cx="4562475" cy="774700"/>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2700524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1000"/>
                                        <p:tgtEl>
                                          <p:spTgt spid="2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4"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 from="(-#ppt_w/2)" to="(#ppt_x)" calcmode="lin" valueType="num">
                                      <p:cBhvr>
                                        <p:cTn id="26" dur="600" fill="hold">
                                          <p:stCondLst>
                                            <p:cond delay="0"/>
                                          </p:stCondLst>
                                        </p:cTn>
                                        <p:tgtEl>
                                          <p:spTgt spid="19"/>
                                        </p:tgtEl>
                                        <p:attrNameLst>
                                          <p:attrName>ppt_x</p:attrName>
                                        </p:attrNameLst>
                                      </p:cBhvr>
                                    </p:anim>
                                    <p:anim from="0" to="-1.0" calcmode="lin" valueType="num">
                                      <p:cBhvr>
                                        <p:cTn id="27" dur="200" decel="50000" autoRev="1" fill="hold">
                                          <p:stCondLst>
                                            <p:cond delay="600"/>
                                          </p:stCondLst>
                                        </p:cTn>
                                        <p:tgtEl>
                                          <p:spTgt spid="19"/>
                                        </p:tgtEl>
                                        <p:attrNameLst>
                                          <p:attrName>xshear</p:attrName>
                                        </p:attrNameLst>
                                      </p:cBhvr>
                                    </p:anim>
                                    <p:animScale>
                                      <p:cBhvr>
                                        <p:cTn id="28" dur="200" decel="100000" autoRev="1" fill="hold">
                                          <p:stCondLst>
                                            <p:cond delay="600"/>
                                          </p:stCondLst>
                                        </p:cTn>
                                        <p:tgtEl>
                                          <p:spTgt spid="19"/>
                                        </p:tgtEl>
                                      </p:cBhvr>
                                      <p:from x="100000" y="100000"/>
                                      <p:to x="80000" y="100000"/>
                                    </p:animScale>
                                    <p:anim by="(#ppt_h/3+#ppt_w*0.1)" calcmode="lin" valueType="num">
                                      <p:cBhvr additive="sum">
                                        <p:cTn id="29" dur="200" decel="100000" autoRev="1" fill="hold">
                                          <p:stCondLst>
                                            <p:cond delay="600"/>
                                          </p:stCondLst>
                                        </p:cTn>
                                        <p:tgtEl>
                                          <p:spTgt spid="19"/>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9" grpId="0"/>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dirty="0">
                <a:ea typeface="ＭＳ Ｐゴシック" pitchFamily="34" charset="-128"/>
              </a:rPr>
              <a:t>Matched Pairs </a:t>
            </a:r>
            <a:r>
              <a:rPr lang="en-US" i="1" dirty="0">
                <a:ea typeface="ＭＳ Ｐゴシック" pitchFamily="34" charset="-128"/>
              </a:rPr>
              <a:t>t</a:t>
            </a:r>
            <a:r>
              <a:rPr lang="en-US" dirty="0">
                <a:ea typeface="ＭＳ Ｐゴシック" pitchFamily="34" charset="-128"/>
              </a:rPr>
              <a:t> Procedures</a:t>
            </a:r>
            <a:r>
              <a:rPr lang="en-US" sz="2000" dirty="0">
                <a:ea typeface="ＭＳ Ｐゴシック" pitchFamily="34" charset="-128"/>
              </a:rPr>
              <a:t> (1 of 3)</a:t>
            </a:r>
          </a:p>
        </p:txBody>
      </p:sp>
      <p:sp>
        <p:nvSpPr>
          <p:cNvPr id="4505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C570B3A7-C64A-4B8D-9BB2-AA8E7BE5A84C}" type="slidenum">
              <a:rPr lang="en-US" sz="1200">
                <a:solidFill>
                  <a:schemeClr val="accent1"/>
                </a:solidFill>
              </a:rPr>
              <a:pPr>
                <a:lnSpc>
                  <a:spcPct val="80000"/>
                </a:lnSpc>
              </a:pPr>
              <a:t>16</a:t>
            </a:fld>
            <a:endParaRPr lang="en-US" sz="1200">
              <a:solidFill>
                <a:schemeClr val="accent1"/>
              </a:solidFill>
            </a:endParaRPr>
          </a:p>
        </p:txBody>
      </p:sp>
      <p:sp>
        <p:nvSpPr>
          <p:cNvPr id="45059" name="Rectangle 8"/>
          <p:cNvSpPr>
            <a:spLocks noChangeArrowheads="1"/>
          </p:cNvSpPr>
          <p:nvPr/>
        </p:nvSpPr>
        <p:spPr bwMode="auto">
          <a:xfrm>
            <a:off x="179388" y="1218837"/>
            <a:ext cx="8290844" cy="1631950"/>
          </a:xfrm>
          <a:prstGeom prst="rect">
            <a:avLst/>
          </a:prstGeom>
          <a:solidFill>
            <a:schemeClr val="accent2">
              <a:lumMod val="40000"/>
              <a:lumOff val="60000"/>
            </a:schemeClr>
          </a:solidFill>
          <a:ln>
            <a:noFill/>
          </a:ln>
        </p:spPr>
        <p:txBody>
          <a:bodyPr wrap="square">
            <a:spAutoFit/>
          </a:bodyPr>
          <a:lstStyle/>
          <a:p>
            <a:pPr algn="just" eaLnBrk="1" hangingPunct="1"/>
            <a:r>
              <a:rPr lang="en-US" sz="2000" dirty="0"/>
              <a:t>Comparative studies are more convincing than single-sample investigations. For that reason, one-sample inference is less common than comparative inference. Study designs that involve making two observations on the same individual, or one observation on each of two similar individuals, result in </a:t>
            </a:r>
            <a:r>
              <a:rPr lang="en-US" sz="2000" b="1" dirty="0"/>
              <a:t>paired data</a:t>
            </a:r>
            <a:r>
              <a:rPr lang="en-US" sz="2000" dirty="0"/>
              <a:t>.</a:t>
            </a:r>
            <a:endParaRPr lang="en-US" sz="2000" i="1" dirty="0">
              <a:latin typeface="Palatino" charset="0"/>
            </a:endParaRPr>
          </a:p>
        </p:txBody>
      </p:sp>
      <p:sp>
        <p:nvSpPr>
          <p:cNvPr id="45060" name="Rectangle 9"/>
          <p:cNvSpPr>
            <a:spLocks noChangeArrowheads="1"/>
          </p:cNvSpPr>
          <p:nvPr/>
        </p:nvSpPr>
        <p:spPr bwMode="auto">
          <a:xfrm>
            <a:off x="179386" y="2964955"/>
            <a:ext cx="8290843"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sz="2000" dirty="0"/>
              <a:t>When paired data result from measuring the same quantitative variable twice, as in the job satisfaction study, we can make comparisons by analyzing the differences in each pair. If the conditions for inference are met, we can use one-sample </a:t>
            </a:r>
            <a:r>
              <a:rPr lang="en-US" sz="2000" i="1" dirty="0"/>
              <a:t>t </a:t>
            </a:r>
            <a:r>
              <a:rPr lang="en-US" sz="2000" dirty="0"/>
              <a:t>procedures to perform inference about the mean difference </a:t>
            </a:r>
            <a:r>
              <a:rPr lang="en-US" sz="2000" i="1" dirty="0"/>
              <a:t>µ</a:t>
            </a:r>
            <a:r>
              <a:rPr lang="en-US" sz="2000" dirty="0"/>
              <a:t>.</a:t>
            </a:r>
          </a:p>
        </p:txBody>
      </p:sp>
      <p:sp>
        <p:nvSpPr>
          <p:cNvPr id="11" name="TextBox 10"/>
          <p:cNvSpPr txBox="1">
            <a:spLocks noChangeArrowheads="1"/>
          </p:cNvSpPr>
          <p:nvPr/>
        </p:nvSpPr>
        <p:spPr bwMode="auto">
          <a:xfrm>
            <a:off x="609601" y="4997631"/>
            <a:ext cx="7860628" cy="1323439"/>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2000" b="1" dirty="0">
                <a:highlight>
                  <a:srgbClr val="FFFF00"/>
                </a:highlight>
              </a:rPr>
              <a:t>Matched Pairs </a:t>
            </a:r>
            <a:r>
              <a:rPr lang="en-US" sz="2000" b="1" i="1" dirty="0">
                <a:highlight>
                  <a:srgbClr val="FFFF00"/>
                </a:highlight>
              </a:rPr>
              <a:t>t</a:t>
            </a:r>
            <a:r>
              <a:rPr lang="en-US" sz="2000" b="1" dirty="0">
                <a:highlight>
                  <a:srgbClr val="FFFF00"/>
                </a:highlight>
              </a:rPr>
              <a:t> Procedures</a:t>
            </a:r>
          </a:p>
          <a:p>
            <a:pPr algn="just" eaLnBrk="1" hangingPunct="1">
              <a:defRPr/>
            </a:pPr>
            <a:r>
              <a:rPr lang="en-US" sz="2000" dirty="0">
                <a:solidFill>
                  <a:srgbClr val="000000"/>
                </a:solidFill>
              </a:rPr>
              <a:t>To compare the responses to the two treatments in a matched pairs design, find the difference between the responses within each pair. Then apply the one-sample </a:t>
            </a:r>
            <a:r>
              <a:rPr lang="en-US" sz="2000" i="1" dirty="0">
                <a:solidFill>
                  <a:srgbClr val="000000"/>
                </a:solidFill>
              </a:rPr>
              <a:t>t</a:t>
            </a:r>
            <a:r>
              <a:rPr lang="en-US" sz="2000" dirty="0">
                <a:solidFill>
                  <a:srgbClr val="000000"/>
                </a:solidFill>
              </a:rPr>
              <a:t> procedures to these differences.</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Matched Pairs </a:t>
            </a:r>
            <a:r>
              <a:rPr lang="en-US" i="1" dirty="0">
                <a:ea typeface="ＭＳ Ｐゴシック" pitchFamily="34" charset="-128"/>
              </a:rPr>
              <a:t>t</a:t>
            </a:r>
            <a:r>
              <a:rPr lang="en-US" dirty="0">
                <a:ea typeface="ＭＳ Ｐゴシック" pitchFamily="34" charset="-128"/>
              </a:rPr>
              <a:t> Procedures</a:t>
            </a:r>
            <a:r>
              <a:rPr lang="en-US" sz="2000" dirty="0">
                <a:ea typeface="ＭＳ Ｐゴシック" pitchFamily="34" charset="-128"/>
              </a:rPr>
              <a:t> (2 of 3)</a:t>
            </a:r>
            <a:endParaRPr lang="en-US" sz="2000" dirty="0"/>
          </a:p>
        </p:txBody>
      </p:sp>
      <p:sp>
        <p:nvSpPr>
          <p:cNvPr id="4608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E90CF496-06E2-41F3-AB59-6038A4FDB10A}" type="slidenum">
              <a:rPr lang="en-US" sz="1200">
                <a:solidFill>
                  <a:schemeClr val="accent1"/>
                </a:solidFill>
              </a:rPr>
              <a:pPr>
                <a:lnSpc>
                  <a:spcPct val="80000"/>
                </a:lnSpc>
              </a:pPr>
              <a:t>17</a:t>
            </a:fld>
            <a:endParaRPr lang="en-US" sz="1200">
              <a:solidFill>
                <a:schemeClr val="accent1"/>
              </a:solidFill>
            </a:endParaRPr>
          </a:p>
        </p:txBody>
      </p:sp>
      <p:sp>
        <p:nvSpPr>
          <p:cNvPr id="46082" name="Rectangle 1"/>
          <p:cNvSpPr>
            <a:spLocks noChangeArrowheads="1"/>
          </p:cNvSpPr>
          <p:nvPr/>
        </p:nvSpPr>
        <p:spPr bwMode="auto">
          <a:xfrm>
            <a:off x="174625" y="1015841"/>
            <a:ext cx="858837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buFont typeface="Wingdings" pitchFamily="2" charset="2"/>
              <a:buNone/>
            </a:pPr>
            <a:r>
              <a:rPr lang="en-US" sz="1600" b="1" dirty="0">
                <a:solidFill>
                  <a:srgbClr val="000000"/>
                </a:solidFill>
              </a:rPr>
              <a:t>Example:  </a:t>
            </a:r>
            <a:r>
              <a:rPr lang="en-US" sz="1600" dirty="0">
                <a:solidFill>
                  <a:srgbClr val="000000"/>
                </a:solidFill>
              </a:rPr>
              <a:t>The </a:t>
            </a:r>
            <a:r>
              <a:rPr lang="en-US" sz="1600" dirty="0" err="1">
                <a:solidFill>
                  <a:srgbClr val="000000"/>
                </a:solidFill>
              </a:rPr>
              <a:t>MeasureMind</a:t>
            </a:r>
            <a:r>
              <a:rPr lang="en-US" sz="1600" dirty="0">
                <a:solidFill>
                  <a:srgbClr val="000000"/>
                </a:solidFill>
              </a:rPr>
              <a:t> 3D </a:t>
            </a:r>
            <a:r>
              <a:rPr lang="en-US" sz="1600" dirty="0" err="1">
                <a:solidFill>
                  <a:srgbClr val="000000"/>
                </a:solidFill>
              </a:rPr>
              <a:t>MultiSensor</a:t>
            </a:r>
            <a:r>
              <a:rPr lang="en-US" sz="1600" dirty="0">
                <a:solidFill>
                  <a:srgbClr val="000000"/>
                </a:solidFill>
              </a:rPr>
              <a:t> metrology software is used by various companies to measure complex machine parts. GE Healthcare discovered that unchecking one software option reduced measurement time by 10%. To further investigate this, the researchers measured 51 parts using the software both with and without the option checked. (Order of checking the option or not was randomized.) The difference in the measurements with the option checked and unchecked was recorded.</a:t>
            </a:r>
          </a:p>
        </p:txBody>
      </p:sp>
      <p:pic>
        <p:nvPicPr>
          <p:cNvPr id="90114" name="Picture 2" descr="A histogram and normal density curve."/>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31774" y="4668582"/>
            <a:ext cx="3328831" cy="208332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p:cNvSpPr>
            <a:spLocks noChangeArrowheads="1"/>
          </p:cNvSpPr>
          <p:nvPr/>
        </p:nvSpPr>
        <p:spPr bwMode="auto">
          <a:xfrm>
            <a:off x="705643" y="2669798"/>
            <a:ext cx="7526338" cy="1708150"/>
          </a:xfrm>
          <a:prstGeom prst="rect">
            <a:avLst/>
          </a:prstGeom>
          <a:ln/>
        </p:spPr>
        <p:style>
          <a:lnRef idx="1">
            <a:schemeClr val="accent2"/>
          </a:lnRef>
          <a:fillRef idx="2">
            <a:schemeClr val="accent2"/>
          </a:fillRef>
          <a:effectRef idx="1">
            <a:schemeClr val="accent2"/>
          </a:effectRef>
          <a:fontRef idx="minor">
            <a:schemeClr val="dk1"/>
          </a:fontRef>
        </p:style>
        <p:txBody>
          <a:bodyPr>
            <a:spAutoFit/>
          </a:bodyPr>
          <a:lstStyle/>
          <a:p>
            <a:pPr eaLnBrk="1" hangingPunct="1"/>
            <a:r>
              <a:rPr lang="en-US" sz="2000" dirty="0">
                <a:solidFill>
                  <a:srgbClr val="000000"/>
                </a:solidFill>
                <a:ea typeface="ＭＳ Ｐゴシック" pitchFamily="34" charset="-128"/>
              </a:rPr>
              <a:t>We want to perform a test at the </a:t>
            </a:r>
            <a:r>
              <a:rPr lang="en-US" altLang="ja-JP" sz="2000" i="1" dirty="0">
                <a:solidFill>
                  <a:srgbClr val="000000"/>
                </a:solidFill>
                <a:latin typeface="Symbol" pitchFamily="18" charset="2"/>
                <a:sym typeface="Symbol" pitchFamily="18" charset="2"/>
              </a:rPr>
              <a:t></a:t>
            </a:r>
            <a:r>
              <a:rPr lang="en-US" sz="2000" dirty="0">
                <a:solidFill>
                  <a:srgbClr val="000000"/>
                </a:solidFill>
                <a:ea typeface="ＭＳ Ｐゴシック" pitchFamily="34" charset="-128"/>
              </a:rPr>
              <a:t> = 0.05 significance level of</a:t>
            </a:r>
          </a:p>
          <a:p>
            <a:pPr algn="ctr" eaLnBrk="1" hangingPunct="1"/>
            <a:r>
              <a:rPr lang="en-US" sz="2000" i="1" dirty="0">
                <a:solidFill>
                  <a:srgbClr val="000000"/>
                </a:solidFill>
                <a:ea typeface="ＭＳ Ｐゴシック" pitchFamily="34" charset="-128"/>
              </a:rPr>
              <a:t>H</a:t>
            </a:r>
            <a:r>
              <a:rPr lang="en-US" sz="2000" baseline="-25000" dirty="0">
                <a:solidFill>
                  <a:srgbClr val="000000"/>
                </a:solidFill>
                <a:ea typeface="ＭＳ Ｐゴシック" pitchFamily="34" charset="-128"/>
              </a:rPr>
              <a:t>0</a:t>
            </a:r>
            <a:r>
              <a:rPr lang="en-US" sz="2000" dirty="0">
                <a:solidFill>
                  <a:srgbClr val="000000"/>
                </a:solidFill>
                <a:ea typeface="ＭＳ Ｐゴシック" pitchFamily="34" charset="-128"/>
              </a:rPr>
              <a:t>: </a:t>
            </a:r>
            <a:r>
              <a:rPr lang="en-US" sz="2000" i="1" dirty="0">
                <a:solidFill>
                  <a:srgbClr val="000000"/>
                </a:solidFill>
                <a:ea typeface="ＭＳ Ｐゴシック" pitchFamily="34" charset="-128"/>
              </a:rPr>
              <a:t>µ </a:t>
            </a:r>
            <a:r>
              <a:rPr lang="en-US" sz="2000" dirty="0">
                <a:solidFill>
                  <a:srgbClr val="000000"/>
                </a:solidFill>
                <a:ea typeface="ＭＳ Ｐゴシック" pitchFamily="34" charset="-128"/>
              </a:rPr>
              <a:t>= 0</a:t>
            </a:r>
          </a:p>
          <a:p>
            <a:pPr algn="ctr" eaLnBrk="1" hangingPunct="1">
              <a:spcAft>
                <a:spcPts val="600"/>
              </a:spcAft>
            </a:pPr>
            <a:r>
              <a:rPr lang="en-US" sz="2000" i="1" dirty="0">
                <a:solidFill>
                  <a:srgbClr val="000000"/>
                </a:solidFill>
                <a:ea typeface="ＭＳ Ｐゴシック" pitchFamily="34" charset="-128"/>
              </a:rPr>
              <a:t>H</a:t>
            </a:r>
            <a:r>
              <a:rPr lang="en-US" sz="2000" baseline="-25000" dirty="0">
                <a:solidFill>
                  <a:srgbClr val="000000"/>
                </a:solidFill>
                <a:ea typeface="ＭＳ Ｐゴシック" pitchFamily="34" charset="-128"/>
              </a:rPr>
              <a:t>a</a:t>
            </a:r>
            <a:r>
              <a:rPr lang="en-US" sz="2000" dirty="0">
                <a:solidFill>
                  <a:srgbClr val="000000"/>
                </a:solidFill>
                <a:ea typeface="ＭＳ Ｐゴシック" pitchFamily="34" charset="-128"/>
              </a:rPr>
              <a:t>: </a:t>
            </a:r>
            <a:r>
              <a:rPr lang="en-US" sz="2000" i="1" dirty="0">
                <a:solidFill>
                  <a:srgbClr val="000000"/>
                </a:solidFill>
                <a:ea typeface="ＭＳ Ｐゴシック" pitchFamily="34" charset="-128"/>
              </a:rPr>
              <a:t>µ </a:t>
            </a:r>
            <a:r>
              <a:rPr lang="en-US" sz="2000" dirty="0">
                <a:solidFill>
                  <a:srgbClr val="000000"/>
                </a:solidFill>
                <a:ea typeface="ＭＳ Ｐゴシック" pitchFamily="34" charset="-128"/>
              </a:rPr>
              <a:t>≠ 0</a:t>
            </a:r>
          </a:p>
          <a:p>
            <a:pPr eaLnBrk="1" hangingPunct="1">
              <a:spcAft>
                <a:spcPts val="600"/>
              </a:spcAft>
            </a:pPr>
            <a:r>
              <a:rPr lang="en-US" sz="2000" dirty="0">
                <a:solidFill>
                  <a:srgbClr val="000000"/>
                </a:solidFill>
                <a:ea typeface="ＭＳ Ｐゴシック" pitchFamily="34" charset="-128"/>
              </a:rPr>
              <a:t>where </a:t>
            </a:r>
            <a:r>
              <a:rPr lang="en-US" sz="2000" i="1" dirty="0">
                <a:solidFill>
                  <a:srgbClr val="000000"/>
                </a:solidFill>
                <a:ea typeface="ＭＳ Ｐゴシック" pitchFamily="34" charset="-128"/>
              </a:rPr>
              <a:t>µ</a:t>
            </a:r>
            <a:r>
              <a:rPr lang="en-US" sz="2000" dirty="0">
                <a:solidFill>
                  <a:srgbClr val="000000"/>
                </a:solidFill>
                <a:ea typeface="ＭＳ Ｐゴシック" pitchFamily="34" charset="-128"/>
              </a:rPr>
              <a:t> is the actual mean difference for the entire population of parts.</a:t>
            </a:r>
          </a:p>
        </p:txBody>
      </p:sp>
      <p:sp>
        <p:nvSpPr>
          <p:cNvPr id="46085" name="TextBox 1"/>
          <p:cNvSpPr txBox="1">
            <a:spLocks noChangeArrowheads="1"/>
          </p:cNvSpPr>
          <p:nvPr/>
        </p:nvSpPr>
        <p:spPr bwMode="auto">
          <a:xfrm>
            <a:off x="705643" y="5038625"/>
            <a:ext cx="3536950" cy="1200150"/>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1800" dirty="0"/>
              <a:t>The histogram of the differences is reasonably symmetric with no outliers, so we can comfortably use the </a:t>
            </a:r>
            <a:r>
              <a:rPr lang="en-US" sz="1800" i="1" dirty="0"/>
              <a:t>t</a:t>
            </a:r>
            <a:r>
              <a:rPr lang="en-US" sz="1800" dirty="0"/>
              <a:t> procedures.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6085"/>
                                        </p:tgtEl>
                                        <p:attrNameLst>
                                          <p:attrName>style.visibility</p:attrName>
                                        </p:attrNameLst>
                                      </p:cBhvr>
                                      <p:to>
                                        <p:strVal val="visible"/>
                                      </p:to>
                                    </p:set>
                                    <p:animEffect transition="in" filter="blinds(horizontal)">
                                      <p:cBhvr>
                                        <p:cTn id="12" dur="500"/>
                                        <p:tgtEl>
                                          <p:spTgt spid="46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6085"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Matched Pairs </a:t>
            </a:r>
            <a:r>
              <a:rPr lang="en-US" i="1" dirty="0">
                <a:ea typeface="ＭＳ Ｐゴシック" pitchFamily="34" charset="-128"/>
              </a:rPr>
              <a:t>t</a:t>
            </a:r>
            <a:r>
              <a:rPr lang="en-US" dirty="0">
                <a:ea typeface="ＭＳ Ｐゴシック" pitchFamily="34" charset="-128"/>
              </a:rPr>
              <a:t> Procedures</a:t>
            </a:r>
            <a:r>
              <a:rPr lang="en-US" sz="2000" dirty="0">
                <a:ea typeface="ＭＳ Ｐゴシック" pitchFamily="34" charset="-128"/>
              </a:rPr>
              <a:t> (3 of 3)</a:t>
            </a:r>
            <a:endParaRPr lang="en-US" sz="2000" dirty="0"/>
          </a:p>
        </p:txBody>
      </p:sp>
      <p:sp>
        <p:nvSpPr>
          <p:cNvPr id="4713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65DB734C-6538-4094-9E7D-BD9B2120C943}" type="slidenum">
              <a:rPr lang="en-US" sz="1200">
                <a:solidFill>
                  <a:schemeClr val="accent1"/>
                </a:solidFill>
              </a:rPr>
              <a:pPr>
                <a:lnSpc>
                  <a:spcPct val="80000"/>
                </a:lnSpc>
              </a:pPr>
              <a:t>18</a:t>
            </a:fld>
            <a:endParaRPr lang="en-US" sz="1200">
              <a:solidFill>
                <a:schemeClr val="accent1"/>
              </a:solidFill>
            </a:endParaRPr>
          </a:p>
        </p:txBody>
      </p:sp>
      <p:grpSp>
        <p:nvGrpSpPr>
          <p:cNvPr id="47132" name="Group 6" descr="already described"/>
          <p:cNvGrpSpPr>
            <a:grpSpLocks/>
          </p:cNvGrpSpPr>
          <p:nvPr/>
        </p:nvGrpSpPr>
        <p:grpSpPr bwMode="auto">
          <a:xfrm>
            <a:off x="174625" y="991553"/>
            <a:ext cx="7812088" cy="369888"/>
            <a:chOff x="454521" y="954088"/>
            <a:chExt cx="7812652" cy="368778"/>
          </a:xfrm>
        </p:grpSpPr>
        <p:sp>
          <p:nvSpPr>
            <p:cNvPr id="47137" name="Rectangle 8"/>
            <p:cNvSpPr>
              <a:spLocks noChangeArrowheads="1"/>
            </p:cNvSpPr>
            <p:nvPr/>
          </p:nvSpPr>
          <p:spPr bwMode="auto">
            <a:xfrm>
              <a:off x="454521" y="954088"/>
              <a:ext cx="7812652" cy="36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dirty="0"/>
                <a:t>The sample mean and standard deviation are                                      </a:t>
              </a:r>
            </a:p>
          </p:txBody>
        </p:sp>
        <p:graphicFrame>
          <p:nvGraphicFramePr>
            <p:cNvPr id="47138" name="Object 3"/>
            <p:cNvGraphicFramePr>
              <a:graphicFrameLocks noChangeAspect="1"/>
            </p:cNvGraphicFramePr>
            <p:nvPr/>
          </p:nvGraphicFramePr>
          <p:xfrm>
            <a:off x="5253880" y="1018981"/>
            <a:ext cx="2430637" cy="297554"/>
          </p:xfrm>
          <a:graphic>
            <a:graphicData uri="http://schemas.openxmlformats.org/presentationml/2006/ole">
              <mc:AlternateContent xmlns:mc="http://schemas.openxmlformats.org/markup-compatibility/2006">
                <mc:Choice xmlns:v="urn:schemas-microsoft-com:vml" Requires="v">
                  <p:oleObj spid="_x0000_s3083" name="Equation" r:id="rId3" imgW="1676400" imgH="215900" progId="Equation.3">
                    <p:embed/>
                  </p:oleObj>
                </mc:Choice>
                <mc:Fallback>
                  <p:oleObj name="Equation" r:id="rId3" imgW="1676400" imgH="2159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3880" y="1018981"/>
                          <a:ext cx="2430637" cy="297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mc:AlternateContent xmlns:mc="http://schemas.openxmlformats.org/markup-compatibility/2006">
        <mc:Choice xmlns:a14="http://schemas.microsoft.com/office/drawing/2010/main" Requires="a14">
          <p:sp>
            <p:nvSpPr>
              <p:cNvPr id="14" name="Rectangle 13"/>
              <p:cNvSpPr>
                <a:spLocks noChangeArrowheads="1"/>
              </p:cNvSpPr>
              <p:nvPr/>
            </p:nvSpPr>
            <p:spPr bwMode="auto">
              <a:xfrm>
                <a:off x="1376780" y="1723301"/>
                <a:ext cx="6027320" cy="155048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pPr eaLnBrk="1" hangingPunct="1"/>
                <a14:m>
                  <m:oMathPara xmlns:m="http://schemas.openxmlformats.org/officeDocument/2006/math">
                    <m:oMathParaPr>
                      <m:jc m:val="left"/>
                    </m:oMathParaPr>
                    <m:oMath xmlns:m="http://schemas.openxmlformats.org/officeDocument/2006/math">
                      <m:r>
                        <m:rPr>
                          <m:nor/>
                        </m:rPr>
                        <a:rPr lang="en-US" b="1" smtClean="0">
                          <a:solidFill>
                            <a:srgbClr val="000000"/>
                          </a:solidFill>
                          <a:latin typeface="+mn-lt"/>
                        </a:rPr>
                        <m:t>Test</m:t>
                      </m:r>
                      <m:r>
                        <m:rPr>
                          <m:nor/>
                        </m:rPr>
                        <a:rPr lang="en-US" b="1" smtClean="0">
                          <a:solidFill>
                            <a:srgbClr val="000000"/>
                          </a:solidFill>
                          <a:latin typeface="+mn-lt"/>
                        </a:rPr>
                        <m:t> </m:t>
                      </m:r>
                      <m:r>
                        <m:rPr>
                          <m:nor/>
                        </m:rPr>
                        <a:rPr lang="en-US" b="1" smtClean="0">
                          <a:solidFill>
                            <a:srgbClr val="000000"/>
                          </a:solidFill>
                          <a:latin typeface="+mn-lt"/>
                        </a:rPr>
                        <m:t>statistic</m:t>
                      </m:r>
                      <m:r>
                        <m:rPr>
                          <m:nor/>
                        </m:rPr>
                        <a:rPr lang="en-US" b="1" smtClean="0">
                          <a:solidFill>
                            <a:srgbClr val="000000"/>
                          </a:solidFill>
                          <a:latin typeface="+mn-lt"/>
                        </a:rPr>
                        <m:t> </m:t>
                      </m:r>
                      <m:r>
                        <a:rPr lang="en-US" i="1">
                          <a:solidFill>
                            <a:srgbClr val="000000"/>
                          </a:solidFill>
                          <a:latin typeface="Cambria Math" panose="02040503050406030204" pitchFamily="18" charset="0"/>
                        </a:rPr>
                        <m:t>𝑡</m:t>
                      </m: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bar>
                            <m:barPr>
                              <m:pos m:val="top"/>
                              <m:ctrlPr>
                                <a:rPr lang="en-US" i="1">
                                  <a:solidFill>
                                    <a:srgbClr val="000000"/>
                                  </a:solidFill>
                                  <a:latin typeface="Cambria Math" panose="02040503050406030204" pitchFamily="18" charset="0"/>
                                </a:rPr>
                              </m:ctrlPr>
                            </m:barPr>
                            <m:e>
                              <m:r>
                                <a:rPr lang="en-US" i="1">
                                  <a:solidFill>
                                    <a:srgbClr val="000000"/>
                                  </a:solidFill>
                                  <a:latin typeface="Cambria Math" panose="02040503050406030204" pitchFamily="18" charset="0"/>
                                </a:rPr>
                                <m:t>𝑥</m:t>
                              </m:r>
                            </m:e>
                          </m:ba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𝜇</m:t>
                              </m:r>
                            </m:e>
                            <m:sub>
                              <m:r>
                                <a:rPr lang="en-US" i="1">
                                  <a:solidFill>
                                    <a:srgbClr val="000000"/>
                                  </a:solidFill>
                                  <a:latin typeface="Cambria Math" panose="02040503050406030204" pitchFamily="18" charset="0"/>
                                </a:rPr>
                                <m:t>0</m:t>
                              </m:r>
                            </m:sub>
                          </m:sSub>
                        </m:num>
                        <m:den>
                          <m:r>
                            <a:rPr lang="en-US" i="1">
                              <a:solidFill>
                                <a:srgbClr val="000000"/>
                              </a:solidFill>
                              <a:latin typeface="Cambria Math" panose="02040503050406030204" pitchFamily="18" charset="0"/>
                            </a:rPr>
                            <m:t>𝑠</m:t>
                          </m:r>
                          <m: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r>
                                <a:rPr lang="en-US" i="1">
                                  <a:solidFill>
                                    <a:srgbClr val="000000"/>
                                  </a:solidFill>
                                  <a:latin typeface="Cambria Math" panose="02040503050406030204" pitchFamily="18" charset="0"/>
                                </a:rPr>
                                <m:t>𝑛</m:t>
                              </m:r>
                            </m:e>
                          </m:rad>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0.0504</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0</m:t>
                          </m:r>
                        </m:num>
                        <m:den>
                          <m:r>
                            <a:rPr lang="en-US" b="0" i="1" smtClean="0">
                              <a:solidFill>
                                <a:srgbClr val="000000"/>
                              </a:solidFill>
                              <a:latin typeface="Cambria Math" panose="02040503050406030204" pitchFamily="18" charset="0"/>
                            </a:rPr>
                            <m:t>0.6943</m:t>
                          </m:r>
                          <m: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r>
                                <a:rPr lang="en-US" b="0" i="1" smtClean="0">
                                  <a:solidFill>
                                    <a:srgbClr val="000000"/>
                                  </a:solidFill>
                                  <a:latin typeface="Cambria Math" panose="02040503050406030204" pitchFamily="18" charset="0"/>
                                </a:rPr>
                                <m:t>51</m:t>
                              </m:r>
                            </m:e>
                          </m:rad>
                        </m:den>
                      </m:f>
                      <m:r>
                        <a:rPr lang="en-US" i="1">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0.52</m:t>
                      </m:r>
                    </m:oMath>
                  </m:oMathPara>
                </a14:m>
                <a:endParaRPr lang="en-US" b="1" i="1" dirty="0" smtClean="0"/>
              </a:p>
              <a:p>
                <a:pPr eaLnBrk="1" hangingPunct="1"/>
                <a:endParaRPr lang="en-US" b="1" i="1" dirty="0" smtClean="0"/>
              </a:p>
              <a:p>
                <a:pPr eaLnBrk="1" hangingPunct="1"/>
                <a:r>
                  <a:rPr lang="en-US" b="1" i="1" dirty="0" smtClean="0"/>
                  <a:t>P</a:t>
                </a:r>
                <a:r>
                  <a:rPr lang="en-US" b="1" dirty="0" smtClean="0"/>
                  <a:t>-value</a:t>
                </a:r>
                <a:r>
                  <a:rPr lang="en-US" b="1" dirty="0"/>
                  <a:t>: </a:t>
                </a:r>
                <a:r>
                  <a:rPr lang="en-US" dirty="0"/>
                  <a:t>The </a:t>
                </a:r>
                <a:r>
                  <a:rPr lang="en-US" i="1" dirty="0"/>
                  <a:t>P</a:t>
                </a:r>
                <a:r>
                  <a:rPr lang="en-US" dirty="0"/>
                  <a:t>-value is </a:t>
                </a:r>
                <a:r>
                  <a:rPr lang="en-US" dirty="0" smtClean="0"/>
                  <a:t>twice </a:t>
                </a:r>
                <a:r>
                  <a:rPr lang="en-US" dirty="0"/>
                  <a:t>the area to the left of </a:t>
                </a:r>
                <a:r>
                  <a:rPr lang="en-US" i="1" dirty="0"/>
                  <a:t>t</a:t>
                </a:r>
                <a:r>
                  <a:rPr lang="en-US" dirty="0"/>
                  <a:t> = 0.52 under the </a:t>
                </a:r>
                <a:r>
                  <a:rPr lang="en-US" i="1" dirty="0"/>
                  <a:t>t</a:t>
                </a:r>
                <a:r>
                  <a:rPr lang="en-US" dirty="0"/>
                  <a:t> distribution curve with </a:t>
                </a:r>
                <a:r>
                  <a:rPr lang="en-US" dirty="0" err="1"/>
                  <a:t>df</a:t>
                </a:r>
                <a:r>
                  <a:rPr lang="en-US" dirty="0"/>
                  <a:t> = 51 – 1 = 50. </a:t>
                </a:r>
              </a:p>
            </p:txBody>
          </p:sp>
        </mc:Choice>
        <mc:Fallback>
          <p:sp>
            <p:nvSpPr>
              <p:cNvPr id="14" name="Rectangle 13"/>
              <p:cNvSpPr>
                <a:spLocks noRot="1" noChangeAspect="1" noMove="1" noResize="1" noEditPoints="1" noAdjustHandles="1" noChangeArrowheads="1" noChangeShapeType="1" noTextEdit="1"/>
              </p:cNvSpPr>
              <p:nvPr/>
            </p:nvSpPr>
            <p:spPr bwMode="auto">
              <a:xfrm>
                <a:off x="1376780" y="1723301"/>
                <a:ext cx="6027320" cy="1550489"/>
              </a:xfrm>
              <a:prstGeom prst="rect">
                <a:avLst/>
              </a:prstGeom>
              <a:blipFill rotWithShape="0">
                <a:blip r:embed="rId5"/>
                <a:stretch>
                  <a:fillRect l="-910" b="-55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7" name="Rectangle 16" descr="already described"/>
          <p:cNvSpPr>
            <a:spLocks noChangeArrowheads="1"/>
          </p:cNvSpPr>
          <p:nvPr/>
        </p:nvSpPr>
        <p:spPr bwMode="auto">
          <a:xfrm flipH="1">
            <a:off x="804863" y="4883150"/>
            <a:ext cx="1136650" cy="347663"/>
          </a:xfrm>
          <a:prstGeom prst="rect">
            <a:avLst/>
          </a:prstGeom>
          <a:solidFill>
            <a:srgbClr val="FFFF00"/>
          </a:solidFill>
          <a:ln>
            <a:noFill/>
          </a:ln>
          <a:effectLst>
            <a:outerShdw blurRad="38100" dist="30000" dir="5400000" rotWithShape="0">
              <a:srgbClr val="808080">
                <a:alpha val="45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defRPr/>
            </a:pPr>
            <a:endParaRPr lang="en-US" altLang="en-US">
              <a:solidFill>
                <a:srgbClr val="FFFFFF"/>
              </a:solidFill>
            </a:endParaRPr>
          </a:p>
        </p:txBody>
      </p:sp>
      <p:graphicFrame>
        <p:nvGraphicFramePr>
          <p:cNvPr id="20" name="Table 19" descr="already described"/>
          <p:cNvGraphicFramePr>
            <a:graphicFrameLocks noGrp="1"/>
          </p:cNvGraphicFramePr>
          <p:nvPr>
            <p:extLst>
              <p:ext uri="{D42A27DB-BD31-4B8C-83A1-F6EECF244321}">
                <p14:modId xmlns:p14="http://schemas.microsoft.com/office/powerpoint/2010/main" val="3773446494"/>
              </p:ext>
            </p:extLst>
          </p:nvPr>
        </p:nvGraphicFramePr>
        <p:xfrm>
          <a:off x="611188" y="3965575"/>
          <a:ext cx="2593975" cy="2133600"/>
        </p:xfrm>
        <a:graphic>
          <a:graphicData uri="http://schemas.openxmlformats.org/drawingml/2006/table">
            <a:tbl>
              <a:tblPr firstRow="1"/>
              <a:tblGrid>
                <a:gridCol w="647700">
                  <a:extLst>
                    <a:ext uri="{9D8B030D-6E8A-4147-A177-3AD203B41FA5}">
                      <a16:colId xmlns:a16="http://schemas.microsoft.com/office/drawing/2014/main" xmlns="" val="20000"/>
                    </a:ext>
                  </a:extLst>
                </a:gridCol>
                <a:gridCol w="650875">
                  <a:extLst>
                    <a:ext uri="{9D8B030D-6E8A-4147-A177-3AD203B41FA5}">
                      <a16:colId xmlns:a16="http://schemas.microsoft.com/office/drawing/2014/main" xmlns="" val="20001"/>
                    </a:ext>
                  </a:extLst>
                </a:gridCol>
                <a:gridCol w="647700">
                  <a:extLst>
                    <a:ext uri="{9D8B030D-6E8A-4147-A177-3AD203B41FA5}">
                      <a16:colId xmlns:a16="http://schemas.microsoft.com/office/drawing/2014/main" xmlns="" val="20002"/>
                    </a:ext>
                  </a:extLst>
                </a:gridCol>
                <a:gridCol w="647700">
                  <a:extLst>
                    <a:ext uri="{9D8B030D-6E8A-4147-A177-3AD203B41FA5}">
                      <a16:colId xmlns:a16="http://schemas.microsoft.com/office/drawing/2014/main" xmlns="" val="20003"/>
                    </a:ext>
                  </a:extLst>
                </a:gridCol>
              </a:tblGrid>
              <a:tr h="304800">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         Upper-tail probability </a:t>
                      </a:r>
                      <a:r>
                        <a:rPr kumimoji="0" lang="en-US" altLang="en-US" sz="1400" b="1" i="1" u="none" strike="noStrike" cap="none" normalizeH="0" baseline="0" dirty="0">
                          <a:ln>
                            <a:noFill/>
                          </a:ln>
                          <a:solidFill>
                            <a:schemeClr val="tx1"/>
                          </a:solidFill>
                          <a:effectLst/>
                          <a:latin typeface="Arial" pitchFamily="34" charset="0"/>
                          <a:ea typeface="ＭＳ Ｐゴシック" pitchFamily="34" charset="-128"/>
                        </a:rPr>
                        <a:t>p</a:t>
                      </a:r>
                    </a:p>
                  </a:txBody>
                  <a:tcPr marL="91496" marR="91496" horzOverflow="overflow">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df</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0.25</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0.20</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0.15</a:t>
                      </a:r>
                    </a:p>
                  </a:txBody>
                  <a:tcPr marL="91496" marR="9149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1"/>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Arial" pitchFamily="34" charset="0"/>
                          <a:ea typeface="ＭＳ Ｐゴシック" pitchFamily="34" charset="-128"/>
                        </a:rPr>
                        <a:t>40</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0.681</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0.851</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1.050</a:t>
                      </a:r>
                    </a:p>
                  </a:txBody>
                  <a:tcPr marL="91496" marR="9149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2"/>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50</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0.679</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0.849</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1.047</a:t>
                      </a:r>
                    </a:p>
                  </a:txBody>
                  <a:tcPr marL="91496" marR="9149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3"/>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Arial" pitchFamily="34" charset="0"/>
                          <a:ea typeface="ＭＳ Ｐゴシック" pitchFamily="34" charset="-128"/>
                        </a:rPr>
                        <a:t>60</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0.679</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0.848</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1.045</a:t>
                      </a:r>
                    </a:p>
                  </a:txBody>
                  <a:tcPr marL="91496" marR="9149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4"/>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400" b="1" i="1" u="none" strike="noStrike" cap="none" normalizeH="0" baseline="0" dirty="0">
                        <a:ln>
                          <a:noFill/>
                        </a:ln>
                        <a:solidFill>
                          <a:schemeClr val="tx1"/>
                        </a:solidFill>
                        <a:effectLst/>
                        <a:latin typeface="Arial" pitchFamily="34" charset="0"/>
                        <a:ea typeface="ＭＳ Ｐゴシック" pitchFamily="34" charset="-128"/>
                      </a:endParaRP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itchFamily="34" charset="0"/>
                          <a:ea typeface="ＭＳ Ｐゴシック" pitchFamily="34" charset="-128"/>
                        </a:rPr>
                        <a:t>50%</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itchFamily="34" charset="0"/>
                          <a:ea typeface="ＭＳ Ｐゴシック" pitchFamily="34" charset="-128"/>
                        </a:rPr>
                        <a:t>60%</a:t>
                      </a:r>
                    </a:p>
                  </a:txBody>
                  <a:tcPr marL="91496" marR="91496"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itchFamily="34" charset="0"/>
                          <a:ea typeface="ＭＳ Ｐゴシック" pitchFamily="34" charset="-128"/>
                        </a:rPr>
                        <a:t>70%</a:t>
                      </a:r>
                    </a:p>
                  </a:txBody>
                  <a:tcPr marL="91496" marR="9149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5"/>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400" b="1" i="1" u="none" strike="noStrike" cap="none" normalizeH="0" baseline="0" dirty="0">
                        <a:ln>
                          <a:noFill/>
                        </a:ln>
                        <a:solidFill>
                          <a:schemeClr val="tx1"/>
                        </a:solidFill>
                        <a:effectLst/>
                        <a:latin typeface="Arial" pitchFamily="34" charset="0"/>
                        <a:ea typeface="ＭＳ Ｐゴシック" pitchFamily="34" charset="-128"/>
                      </a:endParaRPr>
                    </a:p>
                  </a:txBody>
                  <a:tcPr marL="91496" marR="91496" horzOverflow="overflow">
                    <a:lnL>
                      <a:noFill/>
                    </a:lnL>
                    <a:lnR>
                      <a:noFill/>
                    </a:lnR>
                    <a:lnT>
                      <a:noFill/>
                    </a:lnT>
                    <a:lnB>
                      <a:noFill/>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Confidence level </a:t>
                      </a:r>
                      <a:r>
                        <a:rPr kumimoji="0" lang="en-US" altLang="en-US" sz="1400" b="1" i="1" u="none" strike="noStrike" cap="none" normalizeH="0" baseline="0" dirty="0">
                          <a:ln>
                            <a:noFill/>
                          </a:ln>
                          <a:solidFill>
                            <a:schemeClr val="tx1"/>
                          </a:solidFill>
                          <a:effectLst/>
                          <a:latin typeface="Arial" pitchFamily="34" charset="0"/>
                          <a:ea typeface="ＭＳ Ｐゴシック" pitchFamily="34" charset="-128"/>
                        </a:rPr>
                        <a:t>C</a:t>
                      </a:r>
                      <a:endParaRPr kumimoji="0" lang="en-US" altLang="en-US" sz="1400" b="1" i="0" u="none" strike="noStrike" cap="none" normalizeH="0" baseline="0" dirty="0">
                        <a:ln>
                          <a:noFill/>
                        </a:ln>
                        <a:solidFill>
                          <a:schemeClr val="tx1"/>
                        </a:solidFill>
                        <a:effectLst/>
                        <a:latin typeface="Arial" pitchFamily="34" charset="0"/>
                        <a:ea typeface="ＭＳ Ｐゴシック" pitchFamily="34" charset="-128"/>
                      </a:endParaRPr>
                    </a:p>
                  </a:txBody>
                  <a:tcPr marL="91496" marR="91496" horzOverflow="overflow">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6"/>
                  </a:ext>
                </a:extLst>
              </a:tr>
            </a:tbl>
          </a:graphicData>
        </a:graphic>
      </p:graphicFrame>
      <p:sp>
        <p:nvSpPr>
          <p:cNvPr id="9" name="Rectangle 8"/>
          <p:cNvSpPr>
            <a:spLocks noChangeArrowheads="1"/>
          </p:cNvSpPr>
          <p:nvPr/>
        </p:nvSpPr>
        <p:spPr bwMode="auto">
          <a:xfrm>
            <a:off x="3448843" y="3455578"/>
            <a:ext cx="5189538"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lang="en-US" dirty="0"/>
              <a:t>The </a:t>
            </a:r>
            <a:r>
              <a:rPr lang="en-US" i="1" dirty="0"/>
              <a:t>P</a:t>
            </a:r>
            <a:r>
              <a:rPr lang="en-US" dirty="0"/>
              <a:t>-value is greater than 2 x 0.25 = 0.50.  Because this is greater than our </a:t>
            </a:r>
            <a:r>
              <a:rPr lang="en-US" altLang="ja-JP" i="1" dirty="0">
                <a:solidFill>
                  <a:srgbClr val="000000"/>
                </a:solidFill>
                <a:latin typeface="Symbol" pitchFamily="18" charset="2"/>
                <a:sym typeface="Symbol" pitchFamily="18" charset="2"/>
              </a:rPr>
              <a:t></a:t>
            </a:r>
            <a:r>
              <a:rPr lang="en-US" dirty="0"/>
              <a:t> = 0.05 significance level, we fail to reject </a:t>
            </a:r>
            <a:r>
              <a:rPr lang="en-US" i="1" dirty="0"/>
              <a:t>H</a:t>
            </a:r>
            <a:r>
              <a:rPr lang="en-US" baseline="-25000" dirty="0"/>
              <a:t>0</a:t>
            </a:r>
            <a:r>
              <a:rPr lang="en-US" dirty="0"/>
              <a:t>. We do not</a:t>
            </a:r>
            <a:r>
              <a:rPr lang="en-US" altLang="ja-JP" dirty="0"/>
              <a:t> have enough evidence to conclude that unchecking the option has an impact on the measurement times.</a:t>
            </a:r>
            <a:endParaRPr lang="en-US" dirty="0"/>
          </a:p>
        </p:txBody>
      </p:sp>
      <p:sp>
        <p:nvSpPr>
          <p:cNvPr id="19" name="TextBox 18"/>
          <p:cNvSpPr txBox="1">
            <a:spLocks noChangeArrowheads="1"/>
          </p:cNvSpPr>
          <p:nvPr/>
        </p:nvSpPr>
        <p:spPr bwMode="auto">
          <a:xfrm>
            <a:off x="3492593" y="5260975"/>
            <a:ext cx="4633912" cy="1323975"/>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defRPr/>
            </a:pPr>
            <a:r>
              <a:rPr lang="en-US" sz="1600" dirty="0">
                <a:solidFill>
                  <a:srgbClr val="000000"/>
                </a:solidFill>
              </a:rPr>
              <a:t>However, a lack of statistical significance does not </a:t>
            </a:r>
            <a:r>
              <a:rPr lang="en-US" sz="1600" i="1" dirty="0">
                <a:solidFill>
                  <a:srgbClr val="000000"/>
                </a:solidFill>
              </a:rPr>
              <a:t>prove</a:t>
            </a:r>
            <a:r>
              <a:rPr lang="en-US" sz="1600" dirty="0">
                <a:solidFill>
                  <a:srgbClr val="000000"/>
                </a:solidFill>
              </a:rPr>
              <a:t> the null hypothesis is true</a:t>
            </a:r>
            <a:r>
              <a:rPr lang="en-US" altLang="ja-JP" sz="1600" dirty="0">
                <a:solidFill>
                  <a:srgbClr val="000000"/>
                </a:solidFill>
              </a:rPr>
              <a:t>. We may have made a Type II error. The company may want to consider a larger study to improve precision.</a:t>
            </a:r>
            <a:endParaRPr lang="en-US" sz="1600" dirty="0">
              <a:solidFill>
                <a:srgbClr val="000000"/>
              </a:solidFill>
            </a:endParaRPr>
          </a:p>
        </p:txBody>
      </p:sp>
    </p:spTree>
    <p:extLst>
      <p:ext uri="{BB962C8B-B14F-4D97-AF65-F5344CB8AC3E}">
        <p14:creationId xmlns:p14="http://schemas.microsoft.com/office/powerpoint/2010/main" val="204110280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200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000"/>
                                        <p:tgtEl>
                                          <p:spTgt spid="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4"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 from="(-#ppt_w/2)" to="(#ppt_x)" calcmode="lin" valueType="num">
                                      <p:cBhvr>
                                        <p:cTn id="20" dur="600" fill="hold">
                                          <p:stCondLst>
                                            <p:cond delay="0"/>
                                          </p:stCondLst>
                                        </p:cTn>
                                        <p:tgtEl>
                                          <p:spTgt spid="19"/>
                                        </p:tgtEl>
                                        <p:attrNameLst>
                                          <p:attrName>ppt_x</p:attrName>
                                        </p:attrNameLst>
                                      </p:cBhvr>
                                    </p:anim>
                                    <p:anim from="0" to="-1.0" calcmode="lin" valueType="num">
                                      <p:cBhvr>
                                        <p:cTn id="21" dur="200" decel="50000" autoRev="1" fill="hold">
                                          <p:stCondLst>
                                            <p:cond delay="600"/>
                                          </p:stCondLst>
                                        </p:cTn>
                                        <p:tgtEl>
                                          <p:spTgt spid="19"/>
                                        </p:tgtEl>
                                        <p:attrNameLst>
                                          <p:attrName>xshear</p:attrName>
                                        </p:attrNameLst>
                                      </p:cBhvr>
                                    </p:anim>
                                    <p:animScale>
                                      <p:cBhvr>
                                        <p:cTn id="22" dur="200" decel="100000" autoRev="1" fill="hold">
                                          <p:stCondLst>
                                            <p:cond delay="600"/>
                                          </p:stCondLst>
                                        </p:cTn>
                                        <p:tgtEl>
                                          <p:spTgt spid="19"/>
                                        </p:tgtEl>
                                      </p:cBhvr>
                                      <p:from x="100000" y="100000"/>
                                      <p:to x="80000" y="100000"/>
                                    </p:animScale>
                                    <p:anim by="(#ppt_h/3+#ppt_w*0.1)" calcmode="lin" valueType="num">
                                      <p:cBhvr additive="sum">
                                        <p:cTn id="23" dur="200" decel="100000" autoRev="1" fill="hold">
                                          <p:stCondLst>
                                            <p:cond delay="600"/>
                                          </p:stCondLst>
                                        </p:cTn>
                                        <p:tgtEl>
                                          <p:spTgt spid="19"/>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animBg="1"/>
      <p:bldP spid="9" grpId="0"/>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dirty="0">
                <a:ea typeface="ＭＳ Ｐゴシック" pitchFamily="34" charset="-128"/>
              </a:rPr>
              <a:t>Robustness of </a:t>
            </a:r>
            <a:r>
              <a:rPr lang="en-US" i="1" dirty="0">
                <a:ea typeface="ＭＳ Ｐゴシック" pitchFamily="34" charset="-128"/>
              </a:rPr>
              <a:t>t</a:t>
            </a:r>
            <a:r>
              <a:rPr lang="en-US" dirty="0">
                <a:ea typeface="ＭＳ Ｐゴシック" pitchFamily="34" charset="-128"/>
              </a:rPr>
              <a:t> Procedures</a:t>
            </a:r>
          </a:p>
        </p:txBody>
      </p:sp>
      <p:sp>
        <p:nvSpPr>
          <p:cNvPr id="4812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72BE9241-7AEF-45EA-B4EB-9AE54E2DB9CC}" type="slidenum">
              <a:rPr lang="en-US" sz="1200">
                <a:solidFill>
                  <a:schemeClr val="accent1"/>
                </a:solidFill>
              </a:rPr>
              <a:pPr>
                <a:lnSpc>
                  <a:spcPct val="80000"/>
                </a:lnSpc>
              </a:pPr>
              <a:t>19</a:t>
            </a:fld>
            <a:endParaRPr lang="en-US" sz="1200">
              <a:solidFill>
                <a:schemeClr val="accent1"/>
              </a:solidFill>
            </a:endParaRPr>
          </a:p>
        </p:txBody>
      </p:sp>
      <p:sp>
        <p:nvSpPr>
          <p:cNvPr id="48131" name="Rectangle 8"/>
          <p:cNvSpPr>
            <a:spLocks noChangeArrowheads="1"/>
          </p:cNvSpPr>
          <p:nvPr/>
        </p:nvSpPr>
        <p:spPr bwMode="auto">
          <a:xfrm>
            <a:off x="174625" y="1358048"/>
            <a:ext cx="8077200" cy="1016000"/>
          </a:xfrm>
          <a:prstGeom prst="rect">
            <a:avLst/>
          </a:prstGeom>
          <a:solidFill>
            <a:srgbClr val="FFD780"/>
          </a:solidFill>
          <a:ln>
            <a:noFill/>
          </a:ln>
        </p:spPr>
        <p:txBody>
          <a:bodyPr>
            <a:spAutoFit/>
          </a:bodyPr>
          <a:lstStyle/>
          <a:p>
            <a:pPr algn="just" eaLnBrk="1" hangingPunct="1"/>
            <a:r>
              <a:rPr lang="en-US" sz="2000" dirty="0"/>
              <a:t>A confidence interval or significance test is </a:t>
            </a:r>
            <a:r>
              <a:rPr lang="en-US" sz="2000" b="1" dirty="0"/>
              <a:t>robust </a:t>
            </a:r>
            <a:r>
              <a:rPr lang="en-US" sz="2000" dirty="0"/>
              <a:t>if the confidence level or </a:t>
            </a:r>
            <a:r>
              <a:rPr lang="en-US" sz="2000" i="1" dirty="0"/>
              <a:t>P</a:t>
            </a:r>
            <a:r>
              <a:rPr lang="en-US" sz="2000" dirty="0"/>
              <a:t>-value does not change very much when the conditions for use of the procedure are violated.</a:t>
            </a:r>
            <a:endParaRPr lang="en-US" sz="2000" i="1" dirty="0">
              <a:solidFill>
                <a:srgbClr val="000000"/>
              </a:solidFill>
              <a:latin typeface="Palatino" charset="0"/>
            </a:endParaRPr>
          </a:p>
        </p:txBody>
      </p:sp>
      <p:sp>
        <p:nvSpPr>
          <p:cNvPr id="11" name="TextBox 10"/>
          <p:cNvSpPr txBox="1">
            <a:spLocks noChangeArrowheads="1"/>
          </p:cNvSpPr>
          <p:nvPr/>
        </p:nvSpPr>
        <p:spPr bwMode="auto">
          <a:xfrm>
            <a:off x="174625" y="2800551"/>
            <a:ext cx="8288337" cy="3940175"/>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2000" b="1" dirty="0">
                <a:highlight>
                  <a:srgbClr val="FFFF00"/>
                </a:highlight>
              </a:rPr>
              <a:t>Using the </a:t>
            </a:r>
            <a:r>
              <a:rPr lang="en-US" sz="2000" b="1" i="1" dirty="0">
                <a:highlight>
                  <a:srgbClr val="FFFF00"/>
                </a:highlight>
              </a:rPr>
              <a:t>t</a:t>
            </a:r>
            <a:r>
              <a:rPr lang="en-US" sz="2000" b="1" dirty="0">
                <a:highlight>
                  <a:srgbClr val="FFFF00"/>
                </a:highlight>
              </a:rPr>
              <a:t> Procedures</a:t>
            </a:r>
            <a:endParaRPr lang="en-US" b="1" dirty="0">
              <a:highlight>
                <a:srgbClr val="FFFF00"/>
              </a:highlight>
            </a:endParaRPr>
          </a:p>
          <a:p>
            <a:pPr algn="just" eaLnBrk="1" hangingPunct="1"/>
            <a:r>
              <a:rPr lang="en-US" sz="2000" dirty="0">
                <a:solidFill>
                  <a:srgbClr val="000000"/>
                </a:solidFill>
              </a:rPr>
              <a:t>Except in the case of small samples, the condition that the data are an SRS from the population of interest is more important than the condition that the population distribution is Normal.</a:t>
            </a:r>
          </a:p>
          <a:p>
            <a:pPr algn="just" eaLnBrk="1" hangingPunct="1"/>
            <a:endParaRPr lang="en-US" sz="2000" dirty="0">
              <a:solidFill>
                <a:srgbClr val="000000"/>
              </a:solidFill>
            </a:endParaRPr>
          </a:p>
          <a:p>
            <a:pPr algn="just" eaLnBrk="1" hangingPunct="1">
              <a:spcAft>
                <a:spcPts val="600"/>
              </a:spcAft>
              <a:buClr>
                <a:schemeClr val="accent1"/>
              </a:buClr>
              <a:buFont typeface="Wingdings" pitchFamily="2" charset="2"/>
              <a:buChar char="§"/>
            </a:pPr>
            <a:r>
              <a:rPr lang="en-US" sz="2000" i="1" dirty="0">
                <a:solidFill>
                  <a:srgbClr val="000000"/>
                </a:solidFill>
              </a:rPr>
              <a:t>Sample size at least 15</a:t>
            </a:r>
            <a:r>
              <a:rPr lang="en-US" sz="2000" dirty="0">
                <a:solidFill>
                  <a:srgbClr val="000000"/>
                </a:solidFill>
              </a:rPr>
              <a:t>: The </a:t>
            </a:r>
            <a:r>
              <a:rPr lang="en-US" sz="2000" i="1" dirty="0">
                <a:solidFill>
                  <a:srgbClr val="000000"/>
                </a:solidFill>
              </a:rPr>
              <a:t>t</a:t>
            </a:r>
            <a:r>
              <a:rPr lang="en-US" sz="2000" dirty="0">
                <a:solidFill>
                  <a:srgbClr val="000000"/>
                </a:solidFill>
              </a:rPr>
              <a:t> procedures can be used except in the presence of outliers or strong </a:t>
            </a:r>
            <a:r>
              <a:rPr lang="en-US" sz="2000" dirty="0" err="1">
                <a:solidFill>
                  <a:srgbClr val="000000"/>
                </a:solidFill>
              </a:rPr>
              <a:t>skewness</a:t>
            </a:r>
            <a:r>
              <a:rPr lang="en-US" sz="2000" dirty="0">
                <a:solidFill>
                  <a:srgbClr val="000000"/>
                </a:solidFill>
              </a:rPr>
              <a:t>.</a:t>
            </a:r>
          </a:p>
          <a:p>
            <a:pPr algn="just" eaLnBrk="1" hangingPunct="1">
              <a:spcAft>
                <a:spcPts val="600"/>
              </a:spcAft>
              <a:buClr>
                <a:schemeClr val="accent1"/>
              </a:buClr>
              <a:buFont typeface="Wingdings" pitchFamily="2" charset="2"/>
              <a:buChar char="§"/>
            </a:pPr>
            <a:r>
              <a:rPr lang="en-US" sz="2000" i="1" dirty="0">
                <a:solidFill>
                  <a:srgbClr val="000000"/>
                </a:solidFill>
              </a:rPr>
              <a:t>Sample size less than 15</a:t>
            </a:r>
            <a:r>
              <a:rPr lang="en-US" sz="2000" dirty="0">
                <a:solidFill>
                  <a:srgbClr val="000000"/>
                </a:solidFill>
              </a:rPr>
              <a:t>: Use </a:t>
            </a:r>
            <a:r>
              <a:rPr lang="en-US" sz="2000" i="1" dirty="0">
                <a:solidFill>
                  <a:srgbClr val="000000"/>
                </a:solidFill>
              </a:rPr>
              <a:t>t</a:t>
            </a:r>
            <a:r>
              <a:rPr lang="en-US" sz="2000" dirty="0">
                <a:solidFill>
                  <a:srgbClr val="000000"/>
                </a:solidFill>
              </a:rPr>
              <a:t> procedures if the data appear close to Normal. If the data are clearly skewed or if outliers are present, do not use </a:t>
            </a:r>
            <a:r>
              <a:rPr lang="en-US" sz="2000" i="1" dirty="0">
                <a:solidFill>
                  <a:srgbClr val="000000"/>
                </a:solidFill>
              </a:rPr>
              <a:t>t</a:t>
            </a:r>
            <a:r>
              <a:rPr lang="en-US" sz="2000" dirty="0">
                <a:solidFill>
                  <a:srgbClr val="000000"/>
                </a:solidFill>
              </a:rPr>
              <a:t>.</a:t>
            </a:r>
          </a:p>
          <a:p>
            <a:pPr algn="just" eaLnBrk="1" hangingPunct="1">
              <a:spcAft>
                <a:spcPts val="600"/>
              </a:spcAft>
              <a:buClr>
                <a:schemeClr val="accent1"/>
              </a:buClr>
              <a:buFont typeface="Wingdings" pitchFamily="2" charset="2"/>
              <a:buChar char="§"/>
            </a:pPr>
            <a:r>
              <a:rPr lang="en-US" sz="2000" i="1" dirty="0">
                <a:solidFill>
                  <a:srgbClr val="000000"/>
                </a:solidFill>
              </a:rPr>
              <a:t>Large samples</a:t>
            </a:r>
            <a:r>
              <a:rPr lang="en-US" sz="2000" dirty="0">
                <a:solidFill>
                  <a:srgbClr val="000000"/>
                </a:solidFill>
              </a:rPr>
              <a:t>: The </a:t>
            </a:r>
            <a:r>
              <a:rPr lang="en-US" sz="2000" i="1" dirty="0">
                <a:solidFill>
                  <a:srgbClr val="000000"/>
                </a:solidFill>
              </a:rPr>
              <a:t>t</a:t>
            </a:r>
            <a:r>
              <a:rPr lang="en-US" sz="2000" dirty="0">
                <a:solidFill>
                  <a:srgbClr val="000000"/>
                </a:solidFill>
              </a:rPr>
              <a:t> procedures can be used even for clearly skewed distributions when the sample is large, roughly </a:t>
            </a:r>
            <a:r>
              <a:rPr lang="en-US" sz="2000" i="1" dirty="0">
                <a:solidFill>
                  <a:srgbClr val="000000"/>
                </a:solidFill>
              </a:rPr>
              <a:t>n ≥ </a:t>
            </a:r>
            <a:r>
              <a:rPr lang="en-US" sz="2000" dirty="0">
                <a:solidFill>
                  <a:srgbClr val="000000"/>
                </a:solidFill>
              </a:rPr>
              <a:t>40</a:t>
            </a:r>
            <a:r>
              <a:rPr lang="en-US" sz="2000" i="1" dirty="0">
                <a:solidFill>
                  <a:srgbClr val="000000"/>
                </a:solidFill>
              </a:rPr>
              <a:t>.</a:t>
            </a: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2"/>
          <p:cNvSpPr>
            <a:spLocks noGrp="1"/>
          </p:cNvSpPr>
          <p:nvPr>
            <p:ph type="title"/>
          </p:nvPr>
        </p:nvSpPr>
        <p:spPr>
          <a:xfrm>
            <a:off x="457200" y="497306"/>
            <a:ext cx="6508750" cy="834189"/>
          </a:xfrm>
        </p:spPr>
        <p:txBody>
          <a:bodyPr anchor="t"/>
          <a:lstStyle/>
          <a:p>
            <a:pPr eaLnBrk="1" hangingPunct="1"/>
            <a:r>
              <a:rPr lang="en-US" b="1">
                <a:ea typeface="ＭＳ Ｐゴシック" pitchFamily="34" charset="-128"/>
              </a:rPr>
              <a:t>7.2 Comparing Two Means</a:t>
            </a:r>
          </a:p>
        </p:txBody>
      </p:sp>
      <p:sp>
        <p:nvSpPr>
          <p:cNvPr id="49154" name="Text Placeholder 3"/>
          <p:cNvSpPr>
            <a:spLocks noGrp="1"/>
          </p:cNvSpPr>
          <p:nvPr>
            <p:ph idx="1"/>
          </p:nvPr>
        </p:nvSpPr>
        <p:spPr>
          <a:xfrm>
            <a:off x="457200" y="1648326"/>
            <a:ext cx="6508750" cy="4255169"/>
          </a:xfrm>
        </p:spPr>
        <p:txBody>
          <a:bodyPr/>
          <a:lstStyle/>
          <a:p>
            <a:pPr eaLnBrk="1" hangingPunct="1">
              <a:buSzPct val="110000"/>
              <a:buFont typeface="Wingdings" pitchFamily="2" charset="2"/>
              <a:buChar char="§"/>
            </a:pPr>
            <a:r>
              <a:rPr lang="en-US" sz="2400" dirty="0">
                <a:solidFill>
                  <a:schemeClr val="accent1"/>
                </a:solidFill>
                <a:ea typeface="ＭＳ Ｐゴシック" pitchFamily="34" charset="-128"/>
              </a:rPr>
              <a:t>The two-sample </a:t>
            </a:r>
            <a:r>
              <a:rPr lang="en-US" sz="2400" i="1" dirty="0">
                <a:solidFill>
                  <a:schemeClr val="accent1"/>
                </a:solidFill>
                <a:ea typeface="ＭＳ Ｐゴシック" pitchFamily="34" charset="-128"/>
              </a:rPr>
              <a:t>z</a:t>
            </a:r>
            <a:r>
              <a:rPr lang="en-US" sz="2400" dirty="0">
                <a:solidFill>
                  <a:schemeClr val="accent1"/>
                </a:solidFill>
                <a:ea typeface="ＭＳ Ｐゴシック" pitchFamily="34" charset="-128"/>
              </a:rPr>
              <a:t> statistic</a:t>
            </a:r>
          </a:p>
          <a:p>
            <a:pPr eaLnBrk="1" hangingPunct="1">
              <a:buSzPct val="110000"/>
              <a:buFont typeface="Wingdings" pitchFamily="2" charset="2"/>
              <a:buChar char="§"/>
            </a:pPr>
            <a:r>
              <a:rPr lang="en-US" sz="2400" dirty="0">
                <a:solidFill>
                  <a:schemeClr val="accent1"/>
                </a:solidFill>
                <a:ea typeface="ＭＳ Ｐゴシック" pitchFamily="34" charset="-128"/>
              </a:rPr>
              <a:t>The two-sample </a:t>
            </a:r>
            <a:r>
              <a:rPr lang="en-US" sz="2400" i="1" dirty="0">
                <a:solidFill>
                  <a:schemeClr val="accent1"/>
                </a:solidFill>
                <a:ea typeface="ＭＳ Ｐゴシック" pitchFamily="34" charset="-128"/>
              </a:rPr>
              <a:t>t</a:t>
            </a:r>
            <a:r>
              <a:rPr lang="en-US" sz="2400" dirty="0">
                <a:solidFill>
                  <a:schemeClr val="accent1"/>
                </a:solidFill>
                <a:ea typeface="ＭＳ Ｐゴシック" pitchFamily="34" charset="-128"/>
              </a:rPr>
              <a:t> procedures</a:t>
            </a:r>
          </a:p>
          <a:p>
            <a:pPr eaLnBrk="1" hangingPunct="1">
              <a:buSzPct val="110000"/>
              <a:buFont typeface="Wingdings" pitchFamily="2" charset="2"/>
              <a:buChar char="§"/>
            </a:pPr>
            <a:r>
              <a:rPr lang="en-US" sz="2400" dirty="0">
                <a:solidFill>
                  <a:schemeClr val="accent1"/>
                </a:solidFill>
                <a:ea typeface="ＭＳ Ｐゴシック" pitchFamily="34" charset="-128"/>
              </a:rPr>
              <a:t>The two-sample </a:t>
            </a:r>
            <a:r>
              <a:rPr lang="en-US" sz="2400" i="1" dirty="0">
                <a:solidFill>
                  <a:schemeClr val="accent1"/>
                </a:solidFill>
                <a:ea typeface="ＭＳ Ｐゴシック" pitchFamily="34" charset="-128"/>
              </a:rPr>
              <a:t>t</a:t>
            </a:r>
            <a:r>
              <a:rPr lang="en-US" sz="2400" dirty="0">
                <a:solidFill>
                  <a:schemeClr val="accent1"/>
                </a:solidFill>
                <a:ea typeface="ＭＳ Ｐゴシック" pitchFamily="34" charset="-128"/>
              </a:rPr>
              <a:t> confidence interval</a:t>
            </a:r>
          </a:p>
          <a:p>
            <a:pPr eaLnBrk="1" hangingPunct="1">
              <a:buSzPct val="110000"/>
              <a:buFont typeface="Wingdings" pitchFamily="2" charset="2"/>
              <a:buChar char="§"/>
            </a:pPr>
            <a:r>
              <a:rPr lang="en-US" sz="2400" dirty="0">
                <a:solidFill>
                  <a:schemeClr val="accent1"/>
                </a:solidFill>
                <a:ea typeface="ＭＳ Ｐゴシック" pitchFamily="34" charset="-128"/>
              </a:rPr>
              <a:t>The two-sample </a:t>
            </a:r>
            <a:r>
              <a:rPr lang="en-US" sz="2400" i="1" dirty="0">
                <a:solidFill>
                  <a:schemeClr val="accent1"/>
                </a:solidFill>
                <a:ea typeface="ＭＳ Ｐゴシック" pitchFamily="34" charset="-128"/>
              </a:rPr>
              <a:t>t</a:t>
            </a:r>
            <a:r>
              <a:rPr lang="en-US" sz="2400" dirty="0">
                <a:solidFill>
                  <a:schemeClr val="accent1"/>
                </a:solidFill>
                <a:ea typeface="ＭＳ Ｐゴシック" pitchFamily="34" charset="-128"/>
              </a:rPr>
              <a:t> significance test</a:t>
            </a:r>
          </a:p>
          <a:p>
            <a:pPr eaLnBrk="1" hangingPunct="1">
              <a:buSzPct val="110000"/>
              <a:buFont typeface="Wingdings" pitchFamily="2" charset="2"/>
              <a:buChar char="§"/>
            </a:pPr>
            <a:r>
              <a:rPr lang="en-US" sz="2400" dirty="0">
                <a:solidFill>
                  <a:schemeClr val="accent1"/>
                </a:solidFill>
                <a:ea typeface="ＭＳ Ｐゴシック" pitchFamily="34" charset="-128"/>
              </a:rPr>
              <a:t>Robustness of the two-sample procedures</a:t>
            </a:r>
          </a:p>
          <a:p>
            <a:pPr eaLnBrk="1" hangingPunct="1">
              <a:buSzPct val="110000"/>
              <a:buFont typeface="Wingdings" pitchFamily="2" charset="2"/>
              <a:buChar char="§"/>
            </a:pPr>
            <a:r>
              <a:rPr lang="en-US" sz="2400" dirty="0">
                <a:solidFill>
                  <a:schemeClr val="accent1"/>
                </a:solidFill>
                <a:ea typeface="ＭＳ Ｐゴシック" pitchFamily="34" charset="-128"/>
              </a:rPr>
              <a:t>Inference for small samples</a:t>
            </a:r>
          </a:p>
          <a:p>
            <a:pPr eaLnBrk="1" hangingPunct="1">
              <a:buSzPct val="110000"/>
              <a:buFont typeface="Wingdings" pitchFamily="2" charset="2"/>
              <a:buChar char="§"/>
            </a:pPr>
            <a:r>
              <a:rPr lang="en-US" sz="2400" dirty="0">
                <a:solidFill>
                  <a:schemeClr val="accent1"/>
                </a:solidFill>
                <a:ea typeface="ＭＳ Ｐゴシック" pitchFamily="34" charset="-128"/>
              </a:rPr>
              <a:t>Pooled two-sample </a:t>
            </a:r>
            <a:r>
              <a:rPr lang="en-US" sz="2400" i="1" dirty="0">
                <a:solidFill>
                  <a:schemeClr val="accent1"/>
                </a:solidFill>
                <a:ea typeface="ＭＳ Ｐゴシック" pitchFamily="34" charset="-128"/>
              </a:rPr>
              <a:t>t</a:t>
            </a:r>
            <a:r>
              <a:rPr lang="en-US" sz="2400" dirty="0">
                <a:solidFill>
                  <a:schemeClr val="accent1"/>
                </a:solidFill>
                <a:ea typeface="ＭＳ Ｐゴシック" pitchFamily="34" charset="-128"/>
              </a:rPr>
              <a:t> procedures</a:t>
            </a:r>
          </a:p>
        </p:txBody>
      </p:sp>
      <p:sp>
        <p:nvSpPr>
          <p:cNvPr id="49155"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91B33A9B-BB49-487F-AF13-17972669E922}" type="slidenum">
              <a:rPr lang="en-US" sz="1400">
                <a:solidFill>
                  <a:schemeClr val="accent1"/>
                </a:solidFill>
              </a:rPr>
              <a:pPr/>
              <a:t>20</a:t>
            </a:fld>
            <a:endParaRPr lang="en-US" sz="1400">
              <a:solidFill>
                <a:schemeClr val="accen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ea typeface="ＭＳ Ｐゴシック" pitchFamily="34" charset="-128"/>
              </a:rPr>
              <a:t>Two-Sample Problems</a:t>
            </a:r>
          </a:p>
        </p:txBody>
      </p:sp>
      <p:sp>
        <p:nvSpPr>
          <p:cNvPr id="5017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1A00101B-841A-42A6-A32B-6087DDB1F81E}" type="slidenum">
              <a:rPr lang="en-US" sz="1200">
                <a:solidFill>
                  <a:schemeClr val="accent1"/>
                </a:solidFill>
              </a:rPr>
              <a:pPr>
                <a:lnSpc>
                  <a:spcPct val="80000"/>
                </a:lnSpc>
              </a:pPr>
              <a:t>21</a:t>
            </a:fld>
            <a:endParaRPr lang="en-US" sz="1200">
              <a:solidFill>
                <a:schemeClr val="accent1"/>
              </a:solidFill>
            </a:endParaRPr>
          </a:p>
        </p:txBody>
      </p:sp>
      <p:sp>
        <p:nvSpPr>
          <p:cNvPr id="50179" name="Rectangle 1"/>
          <p:cNvSpPr>
            <a:spLocks noChangeArrowheads="1"/>
          </p:cNvSpPr>
          <p:nvPr/>
        </p:nvSpPr>
        <p:spPr bwMode="auto">
          <a:xfrm>
            <a:off x="342900" y="1075916"/>
            <a:ext cx="84201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buFont typeface="Wingdings" pitchFamily="2" charset="2"/>
              <a:buNone/>
            </a:pPr>
            <a:r>
              <a:rPr lang="en-US" sz="2000" dirty="0">
                <a:solidFill>
                  <a:srgbClr val="000000"/>
                </a:solidFill>
              </a:rPr>
              <a:t>What if we want to compare the means of some quantitative variable for two populations, Population 1 and Population 2?</a:t>
            </a:r>
          </a:p>
        </p:txBody>
      </p:sp>
      <p:sp>
        <p:nvSpPr>
          <p:cNvPr id="17" name="Rectangle 16"/>
          <p:cNvSpPr>
            <a:spLocks noChangeArrowheads="1"/>
          </p:cNvSpPr>
          <p:nvPr/>
        </p:nvSpPr>
        <p:spPr bwMode="auto">
          <a:xfrm>
            <a:off x="330200" y="1888264"/>
            <a:ext cx="8445500" cy="3118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spcAft>
                <a:spcPts val="2000"/>
              </a:spcAft>
            </a:pPr>
            <a:r>
              <a:rPr lang="en-US" sz="2000" dirty="0">
                <a:solidFill>
                  <a:srgbClr val="000000"/>
                </a:solidFill>
              </a:rPr>
              <a:t>Our parameters of interest are the population means </a:t>
            </a:r>
            <a:r>
              <a:rPr lang="en-US" sz="2000" i="1" dirty="0">
                <a:solidFill>
                  <a:srgbClr val="000000"/>
                </a:solidFill>
              </a:rPr>
              <a:t>µ</a:t>
            </a:r>
            <a:r>
              <a:rPr lang="en-US" sz="2000" baseline="-25000" dirty="0">
                <a:solidFill>
                  <a:srgbClr val="000000"/>
                </a:solidFill>
              </a:rPr>
              <a:t>1</a:t>
            </a:r>
            <a:r>
              <a:rPr lang="en-US" sz="2000" i="1" dirty="0">
                <a:solidFill>
                  <a:srgbClr val="000000"/>
                </a:solidFill>
              </a:rPr>
              <a:t> </a:t>
            </a:r>
            <a:r>
              <a:rPr lang="en-US" sz="2000" dirty="0">
                <a:solidFill>
                  <a:srgbClr val="000000"/>
                </a:solidFill>
              </a:rPr>
              <a:t>and </a:t>
            </a:r>
            <a:r>
              <a:rPr lang="en-US" sz="2000" i="1" dirty="0">
                <a:solidFill>
                  <a:srgbClr val="000000"/>
                </a:solidFill>
              </a:rPr>
              <a:t>µ</a:t>
            </a:r>
            <a:r>
              <a:rPr lang="en-US" sz="2000" baseline="-25000" dirty="0">
                <a:solidFill>
                  <a:srgbClr val="000000"/>
                </a:solidFill>
              </a:rPr>
              <a:t>2</a:t>
            </a:r>
            <a:r>
              <a:rPr lang="en-US" sz="2000" dirty="0">
                <a:solidFill>
                  <a:srgbClr val="000000"/>
                </a:solidFill>
              </a:rPr>
              <a:t>. The best approach is to take separate random samples from each population and to compare the sample means. </a:t>
            </a:r>
          </a:p>
          <a:p>
            <a:pPr algn="just" eaLnBrk="1" hangingPunct="1"/>
            <a:r>
              <a:rPr lang="en-US" sz="2000" dirty="0">
                <a:solidFill>
                  <a:srgbClr val="000000"/>
                </a:solidFill>
              </a:rPr>
              <a:t>Suppose we want to compare the average effectiveness of two treatments in a completely randomized experiment. In this case, the parameters </a:t>
            </a:r>
            <a:r>
              <a:rPr lang="en-US" sz="2000" i="1" dirty="0">
                <a:solidFill>
                  <a:srgbClr val="000000"/>
                </a:solidFill>
              </a:rPr>
              <a:t>µ</a:t>
            </a:r>
            <a:r>
              <a:rPr lang="en-US" sz="2000" baseline="-25000" dirty="0">
                <a:solidFill>
                  <a:srgbClr val="000000"/>
                </a:solidFill>
              </a:rPr>
              <a:t>1</a:t>
            </a:r>
            <a:r>
              <a:rPr lang="en-US" sz="2000" i="1" dirty="0">
                <a:solidFill>
                  <a:srgbClr val="000000"/>
                </a:solidFill>
              </a:rPr>
              <a:t> </a:t>
            </a:r>
            <a:r>
              <a:rPr lang="en-US" sz="2000" dirty="0">
                <a:solidFill>
                  <a:srgbClr val="000000"/>
                </a:solidFill>
              </a:rPr>
              <a:t>and </a:t>
            </a:r>
            <a:r>
              <a:rPr lang="en-US" sz="2000" i="1" dirty="0">
                <a:solidFill>
                  <a:srgbClr val="000000"/>
                </a:solidFill>
              </a:rPr>
              <a:t>µ</a:t>
            </a:r>
            <a:r>
              <a:rPr lang="en-US" sz="2000" baseline="-25000" dirty="0">
                <a:solidFill>
                  <a:srgbClr val="000000"/>
                </a:solidFill>
              </a:rPr>
              <a:t>2</a:t>
            </a:r>
            <a:r>
              <a:rPr lang="en-US" sz="2000" i="1" dirty="0">
                <a:solidFill>
                  <a:srgbClr val="000000"/>
                </a:solidFill>
              </a:rPr>
              <a:t> </a:t>
            </a:r>
            <a:r>
              <a:rPr lang="en-US" sz="2000" dirty="0">
                <a:solidFill>
                  <a:srgbClr val="000000"/>
                </a:solidFill>
              </a:rPr>
              <a:t>are the true mean responses for Treatment 1 and Treatment 2, respectively. We use the mean response from each of the two groups to make the comparison. Here</a:t>
            </a:r>
            <a:r>
              <a:rPr lang="en-US" altLang="en-US" sz="2000" dirty="0">
                <a:solidFill>
                  <a:srgbClr val="000000"/>
                </a:solidFill>
              </a:rPr>
              <a:t>’</a:t>
            </a:r>
            <a:r>
              <a:rPr lang="en-US" altLang="ja-JP" sz="2000" dirty="0">
                <a:solidFill>
                  <a:srgbClr val="000000"/>
                </a:solidFill>
              </a:rPr>
              <a:t>s a table that summarizes this situation:</a:t>
            </a:r>
            <a:endParaRPr lang="en-US" sz="2000" dirty="0">
              <a:solidFill>
                <a:srgbClr val="000000"/>
              </a:solidFill>
            </a:endParaRPr>
          </a:p>
        </p:txBody>
      </p:sp>
      <p:pic>
        <p:nvPicPr>
          <p:cNvPr id="16" name="Picture 15" descr="The table has 4 columns in which cloumn 1, 2, 3 and 4 are labeled 'Population or treatment,' 'Parameter,' 'Statistic' and 'Sample size.'&#10;The row 2 shows 'population or treatment 1,' and also mentions parameter value 'mew one,' statistic value 'x one bar' and sample size value 'n one.' Similarly, row 3 shows 'population or treatment 3,' and also mentions parameter value 'mew two,' statistic value 'x two bar' and sample size value 'n two.'"/>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9869" y="5151438"/>
            <a:ext cx="8666162" cy="14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4"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 from="(-#ppt_w/2)" to="(#ppt_x)" calcmode="lin" valueType="num">
                                      <p:cBhvr>
                                        <p:cTn id="12" dur="600" fill="hold">
                                          <p:stCondLst>
                                            <p:cond delay="0"/>
                                          </p:stCondLst>
                                        </p:cTn>
                                        <p:tgtEl>
                                          <p:spTgt spid="16"/>
                                        </p:tgtEl>
                                        <p:attrNameLst>
                                          <p:attrName>ppt_x</p:attrName>
                                        </p:attrNameLst>
                                      </p:cBhvr>
                                    </p:anim>
                                    <p:anim from="0" to="-1.0" calcmode="lin" valueType="num">
                                      <p:cBhvr>
                                        <p:cTn id="13" dur="200" decel="50000" autoRev="1" fill="hold">
                                          <p:stCondLst>
                                            <p:cond delay="600"/>
                                          </p:stCondLst>
                                        </p:cTn>
                                        <p:tgtEl>
                                          <p:spTgt spid="16"/>
                                        </p:tgtEl>
                                        <p:attrNameLst>
                                          <p:attrName>xshear</p:attrName>
                                        </p:attrNameLst>
                                      </p:cBhvr>
                                    </p:anim>
                                    <p:animScale>
                                      <p:cBhvr>
                                        <p:cTn id="14" dur="200" decel="100000" autoRev="1" fill="hold">
                                          <p:stCondLst>
                                            <p:cond delay="600"/>
                                          </p:stCondLst>
                                        </p:cTn>
                                        <p:tgtEl>
                                          <p:spTgt spid="16"/>
                                        </p:tgtEl>
                                      </p:cBhvr>
                                      <p:from x="100000" y="100000"/>
                                      <p:to x="80000" y="100000"/>
                                    </p:animScale>
                                    <p:anim by="(#ppt_h/3+#ppt_w*0.1)" calcmode="lin" valueType="num">
                                      <p:cBhvr additive="sum">
                                        <p:cTn id="15" dur="200" decel="100000" autoRev="1" fill="hold">
                                          <p:stCondLst>
                                            <p:cond delay="600"/>
                                          </p:stCondLst>
                                        </p:cTn>
                                        <p:tgtEl>
                                          <p:spTgt spid="16"/>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dirty="0">
                <a:ea typeface="ＭＳ Ｐゴシック" pitchFamily="34" charset="-128"/>
              </a:rPr>
              <a:t>The Two-Sample </a:t>
            </a:r>
            <a:r>
              <a:rPr lang="en-US" i="1" dirty="0">
                <a:ea typeface="ＭＳ Ｐゴシック" pitchFamily="34" charset="-128"/>
              </a:rPr>
              <a:t>t</a:t>
            </a:r>
            <a:r>
              <a:rPr lang="en-US" dirty="0">
                <a:ea typeface="ＭＳ Ｐゴシック" pitchFamily="34" charset="-128"/>
              </a:rPr>
              <a:t> Procedures</a:t>
            </a:r>
          </a:p>
        </p:txBody>
      </p:sp>
      <p:sp>
        <p:nvSpPr>
          <p:cNvPr id="5120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1F50DBDF-467B-46D7-8085-91B06A074ED5}" type="slidenum">
              <a:rPr lang="en-US" sz="1200">
                <a:solidFill>
                  <a:schemeClr val="accent1"/>
                </a:solidFill>
              </a:rPr>
              <a:pPr>
                <a:lnSpc>
                  <a:spcPct val="80000"/>
                </a:lnSpc>
              </a:pPr>
              <a:t>22</a:t>
            </a:fld>
            <a:endParaRPr lang="en-US" sz="1200">
              <a:solidFill>
                <a:schemeClr val="accent1"/>
              </a:solidFill>
            </a:endParaRPr>
          </a:p>
        </p:txBody>
      </p:sp>
      <mc:AlternateContent xmlns:mc="http://schemas.openxmlformats.org/markup-compatibility/2006" xmlns:a14="http://schemas.microsoft.com/office/drawing/2010/main">
        <mc:Choice Requires="a14">
          <p:sp>
            <p:nvSpPr>
              <p:cNvPr id="51203" name="Object 2" descr="When data come from two random samples or two groups in a radomized experiment, the statistic 'x one bar' minus 'x two bar' is our best guess for the value of 'mew subscript one' minus 'mew subscript 2.&quot;"/>
              <p:cNvSpPr txBox="1"/>
              <p:nvPr/>
            </p:nvSpPr>
            <p:spPr bwMode="auto">
              <a:xfrm>
                <a:off x="174625" y="1105694"/>
                <a:ext cx="8332788" cy="603671"/>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m:rPr>
                          <m:nor/>
                        </m:rPr>
                        <a:rPr lang="en-US" i="0">
                          <a:solidFill>
                            <a:srgbClr val="000000"/>
                          </a:solidFill>
                          <a:latin typeface="Cambria Math" panose="02040503050406030204" pitchFamily="18" charset="0"/>
                        </a:rPr>
                        <m:t>When</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data</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come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from</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two</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random</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samples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or</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two</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groups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in</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a</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randomized</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experiment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statistic</m:t>
                      </m:r>
                    </m:oMath>
                    <m:oMath xmlns:m="http://schemas.openxmlformats.org/officeDocument/2006/math">
                      <m: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𝑥</m:t>
                              </m:r>
                            </m:e>
                          </m:acc>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𝑥</m:t>
                              </m:r>
                            </m:e>
                          </m:acc>
                        </m:e>
                        <m:sub>
                          <m:r>
                            <a:rPr lang="en-US" i="1">
                              <a:solidFill>
                                <a:srgbClr val="000000"/>
                              </a:solidFill>
                              <a:latin typeface="Cambria Math" panose="02040503050406030204" pitchFamily="18" charset="0"/>
                            </a:rPr>
                            <m:t>2</m:t>
                          </m:r>
                        </m:sub>
                      </m:sSub>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our</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best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guess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for</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value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of</m:t>
                      </m:r>
                      <m:r>
                        <m:rPr>
                          <m:nor/>
                        </m:rP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𝜇</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𝜇</m:t>
                          </m:r>
                        </m:e>
                        <m:sub>
                          <m:r>
                            <a:rPr lang="en-US" i="0">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r>
                        <a:rPr lang="en-US" i="0">
                          <a:solidFill>
                            <a:srgbClr val="000000"/>
                          </a:solidFill>
                          <a:latin typeface="Cambria Math" panose="02040503050406030204" pitchFamily="18" charset="0"/>
                        </a:rPr>
                        <m:t> </m:t>
                      </m:r>
                    </m:oMath>
                  </m:oMathPara>
                </a14:m>
                <a:endParaRPr lang="en-US"/>
              </a:p>
            </p:txBody>
          </p:sp>
        </mc:Choice>
        <mc:Fallback xmlns="">
          <p:sp>
            <p:nvSpPr>
              <p:cNvPr id="51203" name="Object 2" descr="When data come from two random samples or two groups in a radomized experiment, the statistic 'x one bar' minus 'x two bar' is our best guess for the value of 'mew subscript one' minus 'mew subscript 2.&quot;"/>
              <p:cNvSpPr txBox="1">
                <a:spLocks noRot="1" noChangeAspect="1" noMove="1" noResize="1" noEditPoints="1" noAdjustHandles="1" noChangeArrowheads="1" noChangeShapeType="1" noTextEdit="1"/>
              </p:cNvSpPr>
              <p:nvPr/>
            </p:nvSpPr>
            <p:spPr bwMode="auto">
              <a:xfrm>
                <a:off x="174625" y="1105694"/>
                <a:ext cx="8332788" cy="603671"/>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3" descr="When the two samples are independent of each other, the standard deviation of the statistic 'x 1 bar' minus x 2 bar' is: sigma sub 'x one bar' minus 'x two bar' equals to whole square root of 'sigma one square' by 'n one' plus 'sigma two square' by 'n two.'"/>
              <p:cNvSpPr txBox="1"/>
              <p:nvPr/>
            </p:nvSpPr>
            <p:spPr bwMode="auto">
              <a:xfrm>
                <a:off x="165100" y="1879828"/>
                <a:ext cx="8091488" cy="1326694"/>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nor/>
                        </m:rPr>
                        <a:rPr lang="en-US" i="0">
                          <a:solidFill>
                            <a:srgbClr val="000000"/>
                          </a:solidFill>
                          <a:latin typeface="Cambria Math" panose="02040503050406030204" pitchFamily="18" charset="0"/>
                        </a:rPr>
                        <m:t>When</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two</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samples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are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independent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of</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each</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other</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standard</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deviation</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of</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statistic</m:t>
                      </m:r>
                    </m:oMath>
                    <m:oMath xmlns:m="http://schemas.openxmlformats.org/officeDocument/2006/math">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𝑥</m:t>
                              </m:r>
                            </m:e>
                          </m:acc>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𝑥</m:t>
                              </m:r>
                            </m:e>
                          </m:acc>
                        </m:e>
                        <m:sub>
                          <m:r>
                            <a:rPr lang="en-US" i="1">
                              <a:solidFill>
                                <a:srgbClr val="000000"/>
                              </a:solidFill>
                              <a:latin typeface="Cambria Math" panose="02040503050406030204" pitchFamily="18" charset="0"/>
                            </a:rPr>
                            <m:t>2</m:t>
                          </m:r>
                        </m:sub>
                      </m:sSub>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is</m:t>
                      </m:r>
                    </m:oMath>
                    <m:oMath xmlns:m="http://schemas.openxmlformats.org/officeDocument/2006/math">
                      <m:r>
                        <m:rPr>
                          <m:nor/>
                        </m:rP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𝑥</m:t>
                                  </m:r>
                                </m:e>
                              </m:acc>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𝑥</m:t>
                                  </m:r>
                                </m:e>
                              </m:acc>
                            </m:e>
                            <m:sub>
                              <m:r>
                                <a:rPr lang="en-US" i="1">
                                  <a:solidFill>
                                    <a:srgbClr val="000000"/>
                                  </a:solidFill>
                                  <a:latin typeface="Cambria Math" panose="02040503050406030204" pitchFamily="18" charset="0"/>
                                </a:rPr>
                                <m:t>2</m:t>
                              </m:r>
                            </m:sub>
                          </m:sSub>
                        </m:sub>
                      </m:sSub>
                      <m: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1</m:t>
                                      </m:r>
                                    </m:sub>
                                  </m:sSub>
                                </m:e>
                                <m:sup>
                                  <m:r>
                                    <a:rPr lang="en-US" i="1">
                                      <a:solidFill>
                                        <a:srgbClr val="000000"/>
                                      </a:solidFill>
                                      <a:latin typeface="Cambria Math" panose="02040503050406030204" pitchFamily="18" charset="0"/>
                                    </a:rPr>
                                    <m:t>2</m:t>
                                  </m:r>
                                </m:sup>
                              </m:sSup>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1</m:t>
                                  </m:r>
                                </m:sub>
                              </m:sSub>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2</m:t>
                                      </m:r>
                                    </m:sub>
                                  </m:sSub>
                                </m:e>
                                <m:sup>
                                  <m:r>
                                    <a:rPr lang="en-US" i="1">
                                      <a:solidFill>
                                        <a:srgbClr val="000000"/>
                                      </a:solidFill>
                                      <a:latin typeface="Cambria Math" panose="02040503050406030204" pitchFamily="18" charset="0"/>
                                    </a:rPr>
                                    <m:t>2</m:t>
                                  </m:r>
                                </m:sup>
                              </m:sSup>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2</m:t>
                                  </m:r>
                                </m:sub>
                              </m:sSub>
                            </m:den>
                          </m:f>
                        </m:e>
                      </m:rad>
                    </m:oMath>
                  </m:oMathPara>
                </a14:m>
                <a:endParaRPr lang="en-US"/>
              </a:p>
            </p:txBody>
          </p:sp>
        </mc:Choice>
        <mc:Fallback xmlns="">
          <p:sp>
            <p:nvSpPr>
              <p:cNvPr id="11" name="Object 3" descr="When the two samples are independent of each other, the standard deviation of the statistic 'x 1 bar' minus x 2 bar' is: sigma sub 'x one bar' minus 'x two bar' equals to whole square root of 'sigma one square' by 'n one' plus 'sigma two square' by 'n two.'"/>
              <p:cNvSpPr txBox="1">
                <a:spLocks noRot="1" noChangeAspect="1" noMove="1" noResize="1" noEditPoints="1" noAdjustHandles="1" noChangeArrowheads="1" noChangeShapeType="1" noTextEdit="1"/>
              </p:cNvSpPr>
              <p:nvPr/>
            </p:nvSpPr>
            <p:spPr bwMode="auto">
              <a:xfrm>
                <a:off x="165100" y="1879828"/>
                <a:ext cx="8091488" cy="1326694"/>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4" descr="The image shhows the statement &quot;Since we don't know the values of parameters 'sigma one' and 'sigma two,' we replace them in the standard deviation formula with the sample standard deviations. The result is the standard error of the statistic 'x one bar' minus 'x two bar': Square root of 's one square' by 'n one' plus 's two square' by 'n two.'"/>
              <p:cNvSpPr txBox="1"/>
              <p:nvPr/>
            </p:nvSpPr>
            <p:spPr bwMode="auto">
              <a:xfrm>
                <a:off x="268287" y="3236913"/>
                <a:ext cx="8607425" cy="1321629"/>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nor/>
                        </m:rPr>
                        <a:rPr lang="en-US" i="0">
                          <a:solidFill>
                            <a:srgbClr val="000000"/>
                          </a:solidFill>
                          <a:latin typeface="Cambria Math" panose="02040503050406030204" pitchFamily="18" charset="0"/>
                        </a:rPr>
                        <m:t>Since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we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don</m:t>
                      </m:r>
                      <m:r>
                        <m:rPr>
                          <m:nor/>
                        </m:rPr>
                        <a:rPr lang="en-US" i="0">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know</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values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of</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parameters</m:t>
                      </m:r>
                      <m:r>
                        <m:rPr>
                          <m:nor/>
                        </m:rP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1</m:t>
                          </m:r>
                        </m:sub>
                      </m:sSub>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and</m:t>
                      </m:r>
                      <m:r>
                        <m:rPr>
                          <m:nor/>
                        </m:rP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2</m:t>
                          </m:r>
                        </m:sub>
                      </m:sSub>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we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replace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in</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standard</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deviation</m:t>
                      </m:r>
                      <m:r>
                        <m:rPr>
                          <m:nor/>
                        </m:rPr>
                        <a:rPr lang="en-US" i="0">
                          <a:solidFill>
                            <a:srgbClr val="000000"/>
                          </a:solidFill>
                          <a:latin typeface="Cambria Math" panose="02040503050406030204" pitchFamily="18" charset="0"/>
                        </a:rPr>
                        <m:t> </m:t>
                      </m:r>
                    </m:oMath>
                    <m:oMath xmlns:m="http://schemas.openxmlformats.org/officeDocument/2006/math">
                      <m:r>
                        <m:rPr>
                          <m:nor/>
                        </m:rPr>
                        <a:rPr lang="en-US" i="0">
                          <a:solidFill>
                            <a:srgbClr val="000000"/>
                          </a:solidFill>
                          <a:latin typeface="Cambria Math" panose="02040503050406030204" pitchFamily="18" charset="0"/>
                        </a:rPr>
                        <m:t>formula</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with</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sample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standard</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deviations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result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sty m:val="p"/>
                        </m:rPr>
                        <a:rPr lang="en-US" i="1">
                          <a:solidFill>
                            <a:srgbClr val="000000"/>
                          </a:solidFill>
                          <a:latin typeface="Cambria Math" panose="02040503050406030204" pitchFamily="18" charset="0"/>
                        </a:rPr>
                        <m:t>standard</m:t>
                      </m:r>
                      <m:r>
                        <a:rPr lang="en-US" i="0">
                          <a:solidFill>
                            <a:srgbClr val="000000"/>
                          </a:solidFill>
                          <a:latin typeface="Cambria Math" panose="02040503050406030204" pitchFamily="18" charset="0"/>
                        </a:rPr>
                        <m:t> </m:t>
                      </m:r>
                      <m:r>
                        <m:rPr>
                          <m:sty m:val="p"/>
                        </m:rPr>
                        <a:rPr lang="en-US" i="1">
                          <a:solidFill>
                            <a:srgbClr val="000000"/>
                          </a:solidFill>
                          <a:latin typeface="Cambria Math" panose="02040503050406030204" pitchFamily="18" charset="0"/>
                        </a:rPr>
                        <m:t>error</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of</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the</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statistic</m:t>
                      </m:r>
                      <m:r>
                        <m:rPr>
                          <m:nor/>
                        </m:rP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𝑥</m:t>
                              </m:r>
                            </m:e>
                          </m:acc>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𝑥</m:t>
                              </m:r>
                            </m:e>
                          </m:acc>
                        </m:e>
                        <m:sub>
                          <m:r>
                            <a:rPr lang="en-US" i="1">
                              <a:solidFill>
                                <a:srgbClr val="000000"/>
                              </a:solidFill>
                              <a:latin typeface="Cambria Math" panose="02040503050406030204" pitchFamily="18" charset="0"/>
                            </a:rPr>
                            <m:t>2</m:t>
                          </m:r>
                        </m:sub>
                      </m:sSub>
                      <m:r>
                        <m:rPr>
                          <m:nor/>
                        </m:rPr>
                        <a:rPr lang="en-US" i="0">
                          <a:solidFill>
                            <a:srgbClr val="000000"/>
                          </a:solidFill>
                          <a:latin typeface="Cambria Math" panose="02040503050406030204" pitchFamily="18" charset="0"/>
                        </a:rPr>
                        <m:t>:   </m:t>
                      </m:r>
                    </m:oMath>
                    <m:oMath xmlns:m="http://schemas.openxmlformats.org/officeDocument/2006/math">
                      <m:r>
                        <m:rPr>
                          <m:nor/>
                        </m:rPr>
                        <a:rPr lang="en-US" i="0">
                          <a:solidFill>
                            <a:srgbClr val="000000"/>
                          </a:solidFill>
                          <a:latin typeface="Cambria Math" panose="02040503050406030204" pitchFamily="18" charset="0"/>
                        </a:rPr>
                        <m:t>  </m:t>
                      </m:r>
                      <m:r>
                        <a:rPr lang="en-US" i="0">
                          <a:solidFill>
                            <a:srgbClr val="000000"/>
                          </a:solidFill>
                          <a:latin typeface="Cambria Math" panose="02040503050406030204" pitchFamily="18" charset="0"/>
                        </a:rPr>
                        <m:t> </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𝑠</m:t>
                                      </m:r>
                                    </m:e>
                                    <m:sub>
                                      <m:r>
                                        <a:rPr lang="en-US" i="1">
                                          <a:solidFill>
                                            <a:srgbClr val="000000"/>
                                          </a:solidFill>
                                          <a:latin typeface="Cambria Math" panose="02040503050406030204" pitchFamily="18" charset="0"/>
                                        </a:rPr>
                                        <m:t>1</m:t>
                                      </m:r>
                                    </m:sub>
                                  </m:sSub>
                                </m:e>
                                <m:sup>
                                  <m:r>
                                    <a:rPr lang="en-US" i="1">
                                      <a:solidFill>
                                        <a:srgbClr val="000000"/>
                                      </a:solidFill>
                                      <a:latin typeface="Cambria Math" panose="02040503050406030204" pitchFamily="18" charset="0"/>
                                    </a:rPr>
                                    <m:t>2</m:t>
                                  </m:r>
                                </m:sup>
                              </m:sSup>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1</m:t>
                                  </m:r>
                                </m:sub>
                              </m:sSub>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𝑠</m:t>
                                      </m:r>
                                    </m:e>
                                    <m:sub>
                                      <m:r>
                                        <a:rPr lang="en-US" i="1">
                                          <a:solidFill>
                                            <a:srgbClr val="000000"/>
                                          </a:solidFill>
                                          <a:latin typeface="Cambria Math" panose="02040503050406030204" pitchFamily="18" charset="0"/>
                                        </a:rPr>
                                        <m:t>2</m:t>
                                      </m:r>
                                    </m:sub>
                                  </m:sSub>
                                </m:e>
                                <m:sup>
                                  <m:r>
                                    <a:rPr lang="en-US" i="1">
                                      <a:solidFill>
                                        <a:srgbClr val="000000"/>
                                      </a:solidFill>
                                      <a:latin typeface="Cambria Math" panose="02040503050406030204" pitchFamily="18" charset="0"/>
                                    </a:rPr>
                                    <m:t>2</m:t>
                                  </m:r>
                                </m:sup>
                              </m:sSup>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2</m:t>
                                  </m:r>
                                </m:sub>
                              </m:sSub>
                            </m:den>
                          </m:f>
                        </m:e>
                      </m:rad>
                    </m:oMath>
                  </m:oMathPara>
                </a14:m>
                <a:endParaRPr lang="en-US"/>
              </a:p>
            </p:txBody>
          </p:sp>
        </mc:Choice>
        <mc:Fallback xmlns="">
          <p:sp>
            <p:nvSpPr>
              <p:cNvPr id="12" name="Object 4" descr="The image shhows the statement &quot;Since we don't know the values of parameters 'sigma one' and 'sigma two,' we replace them in the standard deviation formula with the sample standard deviations. The result is the standard error of the statistic 'x one bar' minus 'x two bar': Square root of 's one square' by 'n one' plus 's two square' by 'n two.'"/>
              <p:cNvSpPr txBox="1">
                <a:spLocks noRot="1" noChangeAspect="1" noMove="1" noResize="1" noEditPoints="1" noAdjustHandles="1" noChangeArrowheads="1" noChangeShapeType="1" noTextEdit="1"/>
              </p:cNvSpPr>
              <p:nvPr/>
            </p:nvSpPr>
            <p:spPr bwMode="auto">
              <a:xfrm>
                <a:off x="268287" y="3236913"/>
                <a:ext cx="8607425" cy="1321629"/>
              </a:xfrm>
              <a:prstGeom prst="rect">
                <a:avLst/>
              </a:prstGeom>
              <a:blipFill>
                <a:blip r:embed="rId5"/>
                <a:stretch>
                  <a:fillRect/>
                </a:stretch>
              </a:blipFill>
              <a:ln>
                <a:noFill/>
              </a:ln>
              <a:effectLst/>
            </p:spPr>
            <p:txBody>
              <a:bodyPr/>
              <a:lstStyle/>
              <a:p>
                <a:r>
                  <a:rPr lang="en-US">
                    <a:noFill/>
                  </a:rPr>
                  <a:t> </a:t>
                </a:r>
              </a:p>
            </p:txBody>
          </p:sp>
        </mc:Fallback>
      </mc:AlternateContent>
      <p:sp>
        <p:nvSpPr>
          <p:cNvPr id="13" name="Rectangle 12"/>
          <p:cNvSpPr>
            <a:spLocks noChangeArrowheads="1"/>
          </p:cNvSpPr>
          <p:nvPr/>
        </p:nvSpPr>
        <p:spPr bwMode="auto">
          <a:xfrm>
            <a:off x="94388" y="4565650"/>
            <a:ext cx="874481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dirty="0"/>
              <a:t>We standardize the observed difference to obtain a </a:t>
            </a:r>
            <a:r>
              <a:rPr lang="en-US" i="1" dirty="0"/>
              <a:t>t </a:t>
            </a:r>
            <a:r>
              <a:rPr lang="en-US" dirty="0"/>
              <a:t>statistic that tells us how far the observed difference is from its mean in standard deviation units.</a:t>
            </a:r>
          </a:p>
        </p:txBody>
      </p:sp>
      <p:grpSp>
        <p:nvGrpSpPr>
          <p:cNvPr id="2" name="Group 16" descr="The image shows a mathematical expression given as: &quot;t&quot; equals to 'x one bar' minus 'x two bar' divided by whole square root of 's one square' by 'n one' plus 's two square' by 'n two.'"/>
          <p:cNvGrpSpPr>
            <a:grpSpLocks/>
          </p:cNvGrpSpPr>
          <p:nvPr/>
        </p:nvGrpSpPr>
        <p:grpSpPr bwMode="auto">
          <a:xfrm>
            <a:off x="581025" y="5483225"/>
            <a:ext cx="2776538" cy="1046162"/>
            <a:chOff x="1757680" y="5717441"/>
            <a:chExt cx="2776708" cy="1047532"/>
          </a:xfrm>
        </p:grpSpPr>
        <p:sp>
          <p:nvSpPr>
            <p:cNvPr id="15" name="Rectangle 14"/>
            <p:cNvSpPr>
              <a:spLocks noChangeArrowheads="1"/>
            </p:cNvSpPr>
            <p:nvPr/>
          </p:nvSpPr>
          <p:spPr bwMode="auto">
            <a:xfrm>
              <a:off x="1757680" y="5717441"/>
              <a:ext cx="2776708" cy="1047532"/>
            </a:xfrm>
            <a:prstGeom prst="rect">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endParaRPr lang="en-US" altLang="en-US">
                <a:solidFill>
                  <a:srgbClr val="FFFFFF"/>
                </a:solidFill>
              </a:endParaRPr>
            </a:p>
          </p:txBody>
        </p:sp>
        <p:graphicFrame>
          <p:nvGraphicFramePr>
            <p:cNvPr id="51210" name="Object 5"/>
            <p:cNvGraphicFramePr>
              <a:graphicFrameLocks noChangeAspect="1"/>
            </p:cNvGraphicFramePr>
            <p:nvPr/>
          </p:nvGraphicFramePr>
          <p:xfrm>
            <a:off x="2495912" y="5749233"/>
            <a:ext cx="1185936" cy="1003024"/>
          </p:xfrm>
          <a:graphic>
            <a:graphicData uri="http://schemas.openxmlformats.org/presentationml/2006/ole">
              <mc:AlternateContent xmlns:mc="http://schemas.openxmlformats.org/markup-compatibility/2006">
                <mc:Choice xmlns:v="urn:schemas-microsoft-com:vml" Requires="v">
                  <p:oleObj spid="_x0000_s4103" name="Equation" r:id="rId6" imgW="812800" imgH="685800" progId="Equation.3">
                    <p:embed/>
                  </p:oleObj>
                </mc:Choice>
                <mc:Fallback>
                  <p:oleObj name="Equation" r:id="rId6" imgW="812800" imgH="6858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5912" y="5749233"/>
                          <a:ext cx="1185936" cy="10030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17" name="Rectangle 16"/>
          <p:cNvSpPr>
            <a:spLocks noChangeArrowheads="1"/>
          </p:cNvSpPr>
          <p:nvPr/>
        </p:nvSpPr>
        <p:spPr bwMode="auto">
          <a:xfrm>
            <a:off x="3521076" y="5345112"/>
            <a:ext cx="4986337"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sz="1600" dirty="0"/>
              <a:t>The two-sample </a:t>
            </a:r>
            <a:r>
              <a:rPr lang="en-US" sz="1600" i="1" dirty="0"/>
              <a:t>t</a:t>
            </a:r>
            <a:r>
              <a:rPr lang="en-US" sz="1600" dirty="0"/>
              <a:t> statistic has approximately a </a:t>
            </a:r>
            <a:r>
              <a:rPr lang="en-US" sz="1600" i="1" dirty="0"/>
              <a:t>t</a:t>
            </a:r>
            <a:r>
              <a:rPr lang="en-US" sz="1600" dirty="0"/>
              <a:t> distribution. We use technology to determine degrees of freedom OR we can use a conservative approach, using the smaller of </a:t>
            </a:r>
            <a:r>
              <a:rPr lang="en-US" sz="1600" i="1" dirty="0"/>
              <a:t>n</a:t>
            </a:r>
            <a:r>
              <a:rPr lang="en-US" sz="1600" baseline="-25000" dirty="0"/>
              <a:t>1</a:t>
            </a:r>
            <a:r>
              <a:rPr lang="en-US" sz="1600" i="1" dirty="0"/>
              <a:t> </a:t>
            </a:r>
            <a:r>
              <a:rPr lang="en-US" sz="1600" dirty="0"/>
              <a:t>– 1 and</a:t>
            </a:r>
            <a:r>
              <a:rPr lang="en-US" sz="1600" i="1" dirty="0"/>
              <a:t> n</a:t>
            </a:r>
            <a:r>
              <a:rPr lang="en-US" sz="1600" baseline="-25000" dirty="0"/>
              <a:t>2</a:t>
            </a:r>
            <a:r>
              <a:rPr lang="en-US" sz="1600" i="1" dirty="0"/>
              <a:t> </a:t>
            </a:r>
            <a:r>
              <a:rPr lang="en-US" sz="1600" dirty="0"/>
              <a:t>– 1 for the degrees of freedom</a:t>
            </a:r>
            <a:r>
              <a:rPr lang="en-US" sz="1600" i="1" dirty="0"/>
              <a:t>.</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from="(-#ppt_w/2)" to="(#ppt_x)" calcmode="lin" valueType="num">
                                      <p:cBhvr>
                                        <p:cTn id="12" dur="600" fill="hold">
                                          <p:stCondLst>
                                            <p:cond delay="0"/>
                                          </p:stCondLst>
                                        </p:cTn>
                                        <p:tgtEl>
                                          <p:spTgt spid="2"/>
                                        </p:tgtEl>
                                        <p:attrNameLst>
                                          <p:attrName>ppt_x</p:attrName>
                                        </p:attrNameLst>
                                      </p:cBhvr>
                                    </p:anim>
                                    <p:anim from="0" to="-1.0" calcmode="lin" valueType="num">
                                      <p:cBhvr>
                                        <p:cTn id="13" dur="200" decel="50000" autoRev="1" fill="hold">
                                          <p:stCondLst>
                                            <p:cond delay="600"/>
                                          </p:stCondLst>
                                        </p:cTn>
                                        <p:tgtEl>
                                          <p:spTgt spid="2"/>
                                        </p:tgtEl>
                                        <p:attrNameLst>
                                          <p:attrName>xshear</p:attrName>
                                        </p:attrNameLst>
                                      </p:cBhvr>
                                    </p:anim>
                                    <p:animScale>
                                      <p:cBhvr>
                                        <p:cTn id="14" dur="200" decel="100000" autoRev="1" fill="hold">
                                          <p:stCondLst>
                                            <p:cond delay="600"/>
                                          </p:stCondLst>
                                        </p:cTn>
                                        <p:tgtEl>
                                          <p:spTgt spid="2"/>
                                        </p:tgtEl>
                                      </p:cBhvr>
                                      <p:from x="100000" y="100000"/>
                                      <p:to x="80000" y="100000"/>
                                    </p:animScale>
                                    <p:anim by="(#ppt_h/3+#ppt_w*0.1)" calcmode="lin" valueType="num">
                                      <p:cBhvr additive="sum">
                                        <p:cTn id="15" dur="200" decel="100000" autoRev="1" fill="hold">
                                          <p:stCondLst>
                                            <p:cond delay="600"/>
                                          </p:stCondLst>
                                        </p:cTn>
                                        <p:tgtEl>
                                          <p:spTgt spid="2"/>
                                        </p:tgtEl>
                                        <p:attrNameLst>
                                          <p:attrName>ppt_x</p:attrName>
                                        </p:attrNameLst>
                                      </p:cBhvr>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dirty="0">
                <a:ea typeface="ＭＳ Ｐゴシック" pitchFamily="34" charset="-128"/>
              </a:rPr>
              <a:t>Confidence Interval for </a:t>
            </a:r>
            <a:r>
              <a:rPr lang="en-US" i="1" dirty="0">
                <a:latin typeface="Gill Sans" charset="0"/>
                <a:ea typeface="ＭＳ Ｐゴシック" pitchFamily="34" charset="-128"/>
              </a:rPr>
              <a:t>µ</a:t>
            </a:r>
            <a:r>
              <a:rPr lang="en-US" baseline="-25000" dirty="0">
                <a:latin typeface="Gill Sans" charset="0"/>
                <a:ea typeface="ＭＳ Ｐゴシック" pitchFamily="34" charset="-128"/>
              </a:rPr>
              <a:t>1 </a:t>
            </a:r>
            <a:r>
              <a:rPr lang="en-US" dirty="0">
                <a:latin typeface="Gill Sans" charset="0"/>
                <a:ea typeface="ＭＳ Ｐゴシック" pitchFamily="34" charset="-128"/>
              </a:rPr>
              <a:t>– </a:t>
            </a:r>
            <a:r>
              <a:rPr lang="en-US" i="1" dirty="0">
                <a:latin typeface="Gill Sans" charset="0"/>
                <a:ea typeface="ＭＳ Ｐゴシック" pitchFamily="34" charset="-128"/>
              </a:rPr>
              <a:t>µ</a:t>
            </a:r>
            <a:r>
              <a:rPr lang="en-US" i="1" baseline="-25000" dirty="0">
                <a:latin typeface="Gill Sans" charset="0"/>
                <a:ea typeface="ＭＳ Ｐゴシック" pitchFamily="34" charset="-128"/>
              </a:rPr>
              <a:t>2</a:t>
            </a:r>
            <a:endParaRPr lang="en-US" baseline="-25000" dirty="0">
              <a:latin typeface="Gill Sans" charset="0"/>
              <a:ea typeface="ＭＳ Ｐゴシック" pitchFamily="34" charset="-128"/>
            </a:endParaRPr>
          </a:p>
        </p:txBody>
      </p:sp>
      <p:sp>
        <p:nvSpPr>
          <p:cNvPr id="5222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2623B64D-0FB1-4BCC-83FF-63C90084F03D}" type="slidenum">
              <a:rPr lang="en-US" sz="1200">
                <a:solidFill>
                  <a:schemeClr val="accent1"/>
                </a:solidFill>
              </a:rPr>
              <a:pPr>
                <a:lnSpc>
                  <a:spcPct val="80000"/>
                </a:lnSpc>
              </a:pPr>
              <a:t>23</a:t>
            </a:fld>
            <a:endParaRPr lang="en-US" sz="1200">
              <a:solidFill>
                <a:schemeClr val="accent1"/>
              </a:solidFill>
            </a:endParaRPr>
          </a:p>
        </p:txBody>
      </p:sp>
      <p:sp>
        <p:nvSpPr>
          <p:cNvPr id="12" name="TextBox 11"/>
          <p:cNvSpPr txBox="1">
            <a:spLocks noChangeArrowheads="1"/>
          </p:cNvSpPr>
          <p:nvPr/>
        </p:nvSpPr>
        <p:spPr bwMode="auto">
          <a:xfrm>
            <a:off x="1027113" y="1448531"/>
            <a:ext cx="6919912" cy="400110"/>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sz="2000" b="1" dirty="0">
                <a:highlight>
                  <a:srgbClr val="FFFF00"/>
                </a:highlight>
                <a:latin typeface="+mn-lt"/>
                <a:ea typeface="ＭＳ Ｐゴシック" pitchFamily="-111" charset="-128"/>
                <a:cs typeface="ＭＳ Ｐゴシック" pitchFamily="-111" charset="-128"/>
              </a:rPr>
              <a:t>Two-Sample </a:t>
            </a:r>
            <a:r>
              <a:rPr lang="en-US" sz="2000" b="1" i="1" dirty="0">
                <a:highlight>
                  <a:srgbClr val="FFFF00"/>
                </a:highlight>
                <a:latin typeface="+mn-lt"/>
                <a:ea typeface="ＭＳ Ｐゴシック" pitchFamily="-111" charset="-128"/>
                <a:cs typeface="ＭＳ Ｐゴシック" pitchFamily="-111" charset="-128"/>
              </a:rPr>
              <a:t>t </a:t>
            </a:r>
            <a:r>
              <a:rPr lang="en-US" sz="2000" b="1" dirty="0">
                <a:highlight>
                  <a:srgbClr val="FFFF00"/>
                </a:highlight>
                <a:latin typeface="+mn-lt"/>
                <a:ea typeface="ＭＳ Ｐゴシック" pitchFamily="-111" charset="-128"/>
                <a:cs typeface="ＭＳ Ｐゴシック" pitchFamily="-111" charset="-128"/>
              </a:rPr>
              <a:t>Interval for a Difference between Means</a:t>
            </a:r>
          </a:p>
        </p:txBody>
      </p:sp>
      <mc:AlternateContent xmlns:mc="http://schemas.openxmlformats.org/markup-compatibility/2006" xmlns:a14="http://schemas.microsoft.com/office/drawing/2010/main">
        <mc:Choice Requires="a14">
          <p:sp>
            <p:nvSpPr>
              <p:cNvPr id="11" name="TextBox 10"/>
              <p:cNvSpPr txBox="1">
                <a:spLocks noChangeArrowheads="1"/>
              </p:cNvSpPr>
              <p:nvPr/>
            </p:nvSpPr>
            <p:spPr bwMode="auto">
              <a:xfrm>
                <a:off x="467519" y="1788256"/>
                <a:ext cx="8039100" cy="3080523"/>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lIns="548640" tIns="274320" rIns="548640">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defRPr/>
                </a:pPr>
                <a:r>
                  <a:rPr lang="en-US" altLang="en-US" sz="1800" dirty="0">
                    <a:solidFill>
                      <a:srgbClr val="000000"/>
                    </a:solidFill>
                  </a:rPr>
                  <a:t>When the random, Normal, and independent conditions are met, a level </a:t>
                </a:r>
                <a:r>
                  <a:rPr lang="en-US" altLang="en-US" sz="1800" i="1" dirty="0">
                    <a:solidFill>
                      <a:srgbClr val="000000"/>
                    </a:solidFill>
                  </a:rPr>
                  <a:t>C</a:t>
                </a:r>
                <a:r>
                  <a:rPr lang="en-US" altLang="en-US" sz="1800" dirty="0">
                    <a:solidFill>
                      <a:srgbClr val="000000"/>
                    </a:solidFill>
                  </a:rPr>
                  <a:t> confidence interval for </a:t>
                </a:r>
                <a14:m>
                  <m:oMath xmlns:m="http://schemas.openxmlformats.org/officeDocument/2006/math">
                    <m:r>
                      <a:rPr lang="en-US" altLang="en-US" sz="1800" b="0" i="1" smtClean="0">
                        <a:solidFill>
                          <a:srgbClr val="000000"/>
                        </a:solidFill>
                        <a:latin typeface="Cambria Math"/>
                      </a:rPr>
                      <m:t>(</m:t>
                    </m:r>
                    <m:sSub>
                      <m:sSubPr>
                        <m:ctrlPr>
                          <a:rPr lang="en-US" altLang="en-US" sz="1800" b="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ea typeface="Cambria Math"/>
                          </a:rPr>
                          <m:t>𝜇</m:t>
                        </m:r>
                      </m:e>
                      <m:sub>
                        <m:r>
                          <a:rPr lang="en-US" altLang="en-US" sz="1800" b="0" i="1" smtClean="0">
                            <a:solidFill>
                              <a:srgbClr val="000000"/>
                            </a:solidFill>
                            <a:latin typeface="Cambria Math"/>
                          </a:rPr>
                          <m:t>1</m:t>
                        </m:r>
                      </m:sub>
                    </m:sSub>
                    <m:r>
                      <a:rPr lang="en-US" altLang="en-US" sz="1800" b="0" i="1" smtClean="0">
                        <a:solidFill>
                          <a:srgbClr val="000000"/>
                        </a:solidFill>
                        <a:latin typeface="Cambria Math"/>
                      </a:rPr>
                      <m:t>−</m:t>
                    </m:r>
                    <m:sSub>
                      <m:sSubPr>
                        <m:ctrlPr>
                          <a:rPr lang="en-US" altLang="en-US" sz="1800" b="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ea typeface="Cambria Math"/>
                          </a:rPr>
                          <m:t>𝜇</m:t>
                        </m:r>
                      </m:e>
                      <m:sub>
                        <m:r>
                          <a:rPr lang="en-US" altLang="en-US" sz="1800" b="0" i="1" smtClean="0">
                            <a:solidFill>
                              <a:srgbClr val="000000"/>
                            </a:solidFill>
                            <a:latin typeface="Cambria Math"/>
                          </a:rPr>
                          <m:t>2</m:t>
                        </m:r>
                      </m:sub>
                    </m:sSub>
                    <m:r>
                      <a:rPr lang="en-US" altLang="en-US" sz="1800" b="0" i="1" smtClean="0">
                        <a:solidFill>
                          <a:srgbClr val="000000"/>
                        </a:solidFill>
                        <a:latin typeface="Cambria Math"/>
                      </a:rPr>
                      <m:t>)</m:t>
                    </m:r>
                  </m:oMath>
                </a14:m>
                <a:r>
                  <a:rPr lang="en-US" altLang="en-US" sz="1800" dirty="0">
                    <a:solidFill>
                      <a:srgbClr val="000000"/>
                    </a:solidFill>
                  </a:rPr>
                  <a:t> is</a:t>
                </a:r>
              </a:p>
              <a:p>
                <a:pPr eaLnBrk="1" hangingPunct="1">
                  <a:defRPr/>
                </a:pPr>
                <a:endParaRPr lang="en-US" altLang="en-US" sz="1800" dirty="0">
                  <a:solidFill>
                    <a:srgbClr val="000000"/>
                  </a:solidFill>
                </a:endParaRPr>
              </a:p>
              <a:p>
                <a:pPr algn="ctr" eaLnBrk="1" hangingPunct="1">
                  <a:defRPr/>
                </a:pPr>
                <a14:m>
                  <m:oMathPara xmlns:m="http://schemas.openxmlformats.org/officeDocument/2006/math">
                    <m:oMathParaPr>
                      <m:jc m:val="centerGroup"/>
                    </m:oMathParaPr>
                    <m:oMath xmlns:m="http://schemas.openxmlformats.org/officeDocument/2006/math">
                      <m:d>
                        <m:dPr>
                          <m:ctrlPr>
                            <a:rPr lang="en-US" altLang="en-US" sz="1800" b="0" i="1" smtClean="0">
                              <a:solidFill>
                                <a:srgbClr val="000000"/>
                              </a:solidFill>
                              <a:latin typeface="Cambria Math" panose="02040503050406030204" pitchFamily="18" charset="0"/>
                            </a:rPr>
                          </m:ctrlPr>
                        </m:dPr>
                        <m:e>
                          <m:acc>
                            <m:accPr>
                              <m:chr m:val="̅"/>
                              <m:ctrlPr>
                                <a:rPr lang="en-US" altLang="en-US" sz="1800" b="0" i="1" smtClean="0">
                                  <a:solidFill>
                                    <a:srgbClr val="000000"/>
                                  </a:solidFill>
                                  <a:latin typeface="Cambria Math" panose="02040503050406030204" pitchFamily="18" charset="0"/>
                                </a:rPr>
                              </m:ctrlPr>
                            </m:accPr>
                            <m:e>
                              <m:sSub>
                                <m:sSubPr>
                                  <m:ctrlPr>
                                    <a:rPr lang="en-US" altLang="en-US" sz="1800" b="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rPr>
                                    <m:t>𝑥</m:t>
                                  </m:r>
                                </m:e>
                                <m:sub>
                                  <m:r>
                                    <a:rPr lang="en-US" altLang="en-US" sz="1800" b="0" i="1" smtClean="0">
                                      <a:solidFill>
                                        <a:srgbClr val="000000"/>
                                      </a:solidFill>
                                      <a:latin typeface="Cambria Math"/>
                                    </a:rPr>
                                    <m:t>1</m:t>
                                  </m:r>
                                </m:sub>
                              </m:sSub>
                            </m:e>
                          </m:acc>
                          <m:r>
                            <a:rPr lang="en-US" altLang="en-US" sz="1800" b="0" i="1" smtClean="0">
                              <a:solidFill>
                                <a:srgbClr val="000000"/>
                              </a:solidFill>
                              <a:latin typeface="Cambria Math"/>
                            </a:rPr>
                            <m:t>−</m:t>
                          </m:r>
                          <m:acc>
                            <m:accPr>
                              <m:chr m:val="̅"/>
                              <m:ctrlPr>
                                <a:rPr lang="en-US" altLang="en-US" sz="1800" b="0" i="1" smtClean="0">
                                  <a:solidFill>
                                    <a:srgbClr val="000000"/>
                                  </a:solidFill>
                                  <a:latin typeface="Cambria Math" panose="02040503050406030204" pitchFamily="18" charset="0"/>
                                </a:rPr>
                              </m:ctrlPr>
                            </m:accPr>
                            <m:e>
                              <m:sSub>
                                <m:sSubPr>
                                  <m:ctrlPr>
                                    <a:rPr lang="en-US" altLang="en-US" sz="1800" b="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rPr>
                                    <m:t>𝑥</m:t>
                                  </m:r>
                                </m:e>
                                <m:sub>
                                  <m:r>
                                    <a:rPr lang="en-US" altLang="en-US" sz="1800" b="0" i="1" smtClean="0">
                                      <a:solidFill>
                                        <a:srgbClr val="000000"/>
                                      </a:solidFill>
                                      <a:latin typeface="Cambria Math"/>
                                    </a:rPr>
                                    <m:t>2</m:t>
                                  </m:r>
                                </m:sub>
                              </m:sSub>
                            </m:e>
                          </m:acc>
                        </m:e>
                      </m:d>
                      <m:r>
                        <a:rPr lang="en-US" altLang="en-US" sz="1800" b="0" i="1" smtClean="0">
                          <a:solidFill>
                            <a:srgbClr val="000000"/>
                          </a:solidFill>
                          <a:latin typeface="Cambria Math"/>
                          <a:ea typeface="Cambria Math"/>
                        </a:rPr>
                        <m:t>±</m:t>
                      </m:r>
                      <m:sSup>
                        <m:sSupPr>
                          <m:ctrlPr>
                            <a:rPr lang="en-US" altLang="en-US" sz="1800" b="0" i="1" smtClean="0">
                              <a:solidFill>
                                <a:srgbClr val="000000"/>
                              </a:solidFill>
                              <a:latin typeface="Cambria Math" panose="02040503050406030204" pitchFamily="18" charset="0"/>
                              <a:ea typeface="Cambria Math"/>
                            </a:rPr>
                          </m:ctrlPr>
                        </m:sSupPr>
                        <m:e>
                          <m:r>
                            <a:rPr lang="en-US" altLang="en-US" sz="1800" b="0" i="1" smtClean="0">
                              <a:solidFill>
                                <a:srgbClr val="000000"/>
                              </a:solidFill>
                              <a:latin typeface="Cambria Math"/>
                              <a:ea typeface="Cambria Math"/>
                            </a:rPr>
                            <m:t>𝑡</m:t>
                          </m:r>
                        </m:e>
                        <m:sup>
                          <m:r>
                            <a:rPr lang="en-US" altLang="en-US" sz="1800" b="0" i="1" smtClean="0">
                              <a:solidFill>
                                <a:srgbClr val="000000"/>
                              </a:solidFill>
                              <a:latin typeface="Cambria Math"/>
                              <a:ea typeface="Cambria Math"/>
                            </a:rPr>
                            <m:t>∗</m:t>
                          </m:r>
                        </m:sup>
                      </m:sSup>
                      <m:rad>
                        <m:radPr>
                          <m:degHide m:val="on"/>
                          <m:ctrlPr>
                            <a:rPr lang="en-US" altLang="en-US" sz="1800" b="0" i="1" smtClean="0">
                              <a:solidFill>
                                <a:srgbClr val="000000"/>
                              </a:solidFill>
                              <a:latin typeface="Cambria Math" panose="02040503050406030204" pitchFamily="18" charset="0"/>
                              <a:ea typeface="Cambria Math"/>
                            </a:rPr>
                          </m:ctrlPr>
                        </m:radPr>
                        <m:deg/>
                        <m:e>
                          <m:f>
                            <m:fPr>
                              <m:ctrlPr>
                                <a:rPr lang="en-US" altLang="en-US" sz="1800" b="0" i="1" smtClean="0">
                                  <a:solidFill>
                                    <a:srgbClr val="000000"/>
                                  </a:solidFill>
                                  <a:latin typeface="Cambria Math" panose="02040503050406030204" pitchFamily="18" charset="0"/>
                                  <a:ea typeface="Cambria Math"/>
                                </a:rPr>
                              </m:ctrlPr>
                            </m:fPr>
                            <m:num>
                              <m:sSup>
                                <m:sSupPr>
                                  <m:ctrlPr>
                                    <a:rPr lang="en-US" altLang="en-US" sz="1800" b="0" i="1" smtClean="0">
                                      <a:solidFill>
                                        <a:srgbClr val="000000"/>
                                      </a:solidFill>
                                      <a:latin typeface="Cambria Math" panose="02040503050406030204" pitchFamily="18" charset="0"/>
                                      <a:ea typeface="Cambria Math"/>
                                    </a:rPr>
                                  </m:ctrlPr>
                                </m:sSupPr>
                                <m:e>
                                  <m:sSub>
                                    <m:sSubPr>
                                      <m:ctrlPr>
                                        <a:rPr lang="en-US" altLang="en-US" sz="1800" b="0" i="1" smtClean="0">
                                          <a:solidFill>
                                            <a:srgbClr val="000000"/>
                                          </a:solidFill>
                                          <a:latin typeface="Cambria Math" panose="02040503050406030204" pitchFamily="18" charset="0"/>
                                          <a:ea typeface="Cambria Math"/>
                                        </a:rPr>
                                      </m:ctrlPr>
                                    </m:sSubPr>
                                    <m:e>
                                      <m:r>
                                        <a:rPr lang="en-US" altLang="en-US" sz="1800" b="0" i="1" smtClean="0">
                                          <a:solidFill>
                                            <a:srgbClr val="000000"/>
                                          </a:solidFill>
                                          <a:latin typeface="Cambria Math"/>
                                          <a:ea typeface="Cambria Math"/>
                                        </a:rPr>
                                        <m:t>𝑠</m:t>
                                      </m:r>
                                    </m:e>
                                    <m:sub>
                                      <m:r>
                                        <a:rPr lang="en-US" altLang="en-US" sz="1800" b="0" i="1" smtClean="0">
                                          <a:solidFill>
                                            <a:srgbClr val="000000"/>
                                          </a:solidFill>
                                          <a:latin typeface="Cambria Math"/>
                                          <a:ea typeface="Cambria Math"/>
                                        </a:rPr>
                                        <m:t>1</m:t>
                                      </m:r>
                                    </m:sub>
                                  </m:sSub>
                                </m:e>
                                <m:sup>
                                  <m:r>
                                    <a:rPr lang="en-US" altLang="en-US" sz="1800" b="0" i="1" smtClean="0">
                                      <a:solidFill>
                                        <a:srgbClr val="000000"/>
                                      </a:solidFill>
                                      <a:latin typeface="Cambria Math"/>
                                      <a:ea typeface="Cambria Math"/>
                                    </a:rPr>
                                    <m:t>2</m:t>
                                  </m:r>
                                </m:sup>
                              </m:sSup>
                            </m:num>
                            <m:den>
                              <m:sSub>
                                <m:sSubPr>
                                  <m:ctrlPr>
                                    <a:rPr lang="en-US" altLang="en-US" sz="1800" b="0" i="1" smtClean="0">
                                      <a:solidFill>
                                        <a:srgbClr val="000000"/>
                                      </a:solidFill>
                                      <a:latin typeface="Cambria Math" panose="02040503050406030204" pitchFamily="18" charset="0"/>
                                      <a:ea typeface="Cambria Math"/>
                                    </a:rPr>
                                  </m:ctrlPr>
                                </m:sSubPr>
                                <m:e>
                                  <m:r>
                                    <a:rPr lang="en-US" altLang="en-US" sz="1800" b="0" i="1" smtClean="0">
                                      <a:solidFill>
                                        <a:srgbClr val="000000"/>
                                      </a:solidFill>
                                      <a:latin typeface="Cambria Math"/>
                                      <a:ea typeface="Cambria Math"/>
                                    </a:rPr>
                                    <m:t>𝑛</m:t>
                                  </m:r>
                                </m:e>
                                <m:sub>
                                  <m:r>
                                    <a:rPr lang="en-US" altLang="en-US" sz="1800" b="0" i="1" smtClean="0">
                                      <a:solidFill>
                                        <a:srgbClr val="000000"/>
                                      </a:solidFill>
                                      <a:latin typeface="Cambria Math"/>
                                      <a:ea typeface="Cambria Math"/>
                                    </a:rPr>
                                    <m:t>1</m:t>
                                  </m:r>
                                </m:sub>
                              </m:sSub>
                            </m:den>
                          </m:f>
                          <m:r>
                            <a:rPr lang="en-US" altLang="en-US" sz="1800" b="0" i="1" smtClean="0">
                              <a:solidFill>
                                <a:srgbClr val="000000"/>
                              </a:solidFill>
                              <a:latin typeface="Cambria Math"/>
                              <a:ea typeface="Cambria Math"/>
                            </a:rPr>
                            <m:t>+</m:t>
                          </m:r>
                          <m:f>
                            <m:fPr>
                              <m:ctrlPr>
                                <a:rPr lang="en-US" altLang="en-US" sz="1800" b="0" i="1" smtClean="0">
                                  <a:solidFill>
                                    <a:srgbClr val="000000"/>
                                  </a:solidFill>
                                  <a:latin typeface="Cambria Math" panose="02040503050406030204" pitchFamily="18" charset="0"/>
                                  <a:ea typeface="Cambria Math"/>
                                </a:rPr>
                              </m:ctrlPr>
                            </m:fPr>
                            <m:num>
                              <m:sSup>
                                <m:sSupPr>
                                  <m:ctrlPr>
                                    <a:rPr lang="en-US" altLang="en-US" sz="1800" b="0" i="1" smtClean="0">
                                      <a:solidFill>
                                        <a:srgbClr val="000000"/>
                                      </a:solidFill>
                                      <a:latin typeface="Cambria Math" panose="02040503050406030204" pitchFamily="18" charset="0"/>
                                      <a:ea typeface="Cambria Math"/>
                                    </a:rPr>
                                  </m:ctrlPr>
                                </m:sSupPr>
                                <m:e>
                                  <m:sSub>
                                    <m:sSubPr>
                                      <m:ctrlPr>
                                        <a:rPr lang="en-US" altLang="en-US" sz="1800" b="0" i="1" smtClean="0">
                                          <a:solidFill>
                                            <a:srgbClr val="000000"/>
                                          </a:solidFill>
                                          <a:latin typeface="Cambria Math" panose="02040503050406030204" pitchFamily="18" charset="0"/>
                                          <a:ea typeface="Cambria Math"/>
                                        </a:rPr>
                                      </m:ctrlPr>
                                    </m:sSubPr>
                                    <m:e>
                                      <m:r>
                                        <a:rPr lang="en-US" altLang="en-US" sz="1800" b="0" i="1" smtClean="0">
                                          <a:solidFill>
                                            <a:srgbClr val="000000"/>
                                          </a:solidFill>
                                          <a:latin typeface="Cambria Math"/>
                                          <a:ea typeface="Cambria Math"/>
                                        </a:rPr>
                                        <m:t>𝑠</m:t>
                                      </m:r>
                                    </m:e>
                                    <m:sub>
                                      <m:r>
                                        <a:rPr lang="en-US" altLang="en-US" sz="1800" b="0" i="1" smtClean="0">
                                          <a:solidFill>
                                            <a:srgbClr val="000000"/>
                                          </a:solidFill>
                                          <a:latin typeface="Cambria Math"/>
                                          <a:ea typeface="Cambria Math"/>
                                        </a:rPr>
                                        <m:t>2</m:t>
                                      </m:r>
                                    </m:sub>
                                  </m:sSub>
                                </m:e>
                                <m:sup>
                                  <m:r>
                                    <a:rPr lang="en-US" altLang="en-US" sz="1800" b="0" i="1" smtClean="0">
                                      <a:solidFill>
                                        <a:srgbClr val="000000"/>
                                      </a:solidFill>
                                      <a:latin typeface="Cambria Math"/>
                                      <a:ea typeface="Cambria Math"/>
                                    </a:rPr>
                                    <m:t>2</m:t>
                                  </m:r>
                                </m:sup>
                              </m:sSup>
                            </m:num>
                            <m:den>
                              <m:sSub>
                                <m:sSubPr>
                                  <m:ctrlPr>
                                    <a:rPr lang="en-US" altLang="en-US" sz="1800" b="0" i="1" smtClean="0">
                                      <a:solidFill>
                                        <a:srgbClr val="000000"/>
                                      </a:solidFill>
                                      <a:latin typeface="Cambria Math" panose="02040503050406030204" pitchFamily="18" charset="0"/>
                                      <a:ea typeface="Cambria Math"/>
                                    </a:rPr>
                                  </m:ctrlPr>
                                </m:sSubPr>
                                <m:e>
                                  <m:r>
                                    <a:rPr lang="en-US" altLang="en-US" sz="1800" b="0" i="1" smtClean="0">
                                      <a:solidFill>
                                        <a:srgbClr val="000000"/>
                                      </a:solidFill>
                                      <a:latin typeface="Cambria Math"/>
                                      <a:ea typeface="Cambria Math"/>
                                    </a:rPr>
                                    <m:t>𝑛</m:t>
                                  </m:r>
                                </m:e>
                                <m:sub>
                                  <m:r>
                                    <a:rPr lang="en-US" altLang="en-US" sz="1800" b="0" i="1" smtClean="0">
                                      <a:solidFill>
                                        <a:srgbClr val="000000"/>
                                      </a:solidFill>
                                      <a:latin typeface="Cambria Math"/>
                                      <a:ea typeface="Cambria Math"/>
                                    </a:rPr>
                                    <m:t>2</m:t>
                                  </m:r>
                                </m:sub>
                              </m:sSub>
                            </m:den>
                          </m:f>
                        </m:e>
                      </m:rad>
                    </m:oMath>
                  </m:oMathPara>
                </a14:m>
                <a:endParaRPr lang="en-US" altLang="en-US" sz="1800" dirty="0">
                  <a:solidFill>
                    <a:srgbClr val="000000"/>
                  </a:solidFill>
                </a:endParaRPr>
              </a:p>
              <a:p>
                <a:pPr algn="ctr" eaLnBrk="1" hangingPunct="1">
                  <a:defRPr/>
                </a:pPr>
                <a:endParaRPr lang="en-US" altLang="en-US" sz="1800" dirty="0">
                  <a:solidFill>
                    <a:srgbClr val="000000"/>
                  </a:solidFill>
                </a:endParaRPr>
              </a:p>
              <a:p>
                <a:pPr algn="just" eaLnBrk="1" hangingPunct="1">
                  <a:defRPr/>
                </a:pPr>
                <a:r>
                  <a:rPr lang="en-US" altLang="en-US" sz="1800" dirty="0">
                    <a:solidFill>
                      <a:srgbClr val="000000"/>
                    </a:solidFill>
                  </a:rPr>
                  <a:t>where </a:t>
                </a:r>
                <a14:m>
                  <m:oMath xmlns:m="http://schemas.openxmlformats.org/officeDocument/2006/math">
                    <m:sSup>
                      <m:sSupPr>
                        <m:ctrlPr>
                          <a:rPr lang="en-US" altLang="en-US" sz="1800" i="1" smtClean="0">
                            <a:solidFill>
                              <a:srgbClr val="000000"/>
                            </a:solidFill>
                            <a:latin typeface="Cambria Math" panose="02040503050406030204" pitchFamily="18" charset="0"/>
                          </a:rPr>
                        </m:ctrlPr>
                      </m:sSupPr>
                      <m:e>
                        <m:r>
                          <a:rPr lang="en-US" altLang="en-US" sz="1800" b="0" i="1" smtClean="0">
                            <a:solidFill>
                              <a:srgbClr val="000000"/>
                            </a:solidFill>
                            <a:latin typeface="Cambria Math"/>
                          </a:rPr>
                          <m:t>𝑡</m:t>
                        </m:r>
                      </m:e>
                      <m:sup>
                        <m:r>
                          <a:rPr lang="en-US" altLang="en-US" sz="1800" b="0" i="1" smtClean="0">
                            <a:solidFill>
                              <a:srgbClr val="000000"/>
                            </a:solidFill>
                            <a:latin typeface="Cambria Math"/>
                          </a:rPr>
                          <m:t>∗</m:t>
                        </m:r>
                      </m:sup>
                    </m:sSup>
                  </m:oMath>
                </a14:m>
                <a:r>
                  <a:rPr lang="en-US" altLang="en-US" sz="1800" dirty="0">
                    <a:solidFill>
                      <a:srgbClr val="000000"/>
                    </a:solidFill>
                  </a:rPr>
                  <a:t> is the critical value at the confidence level </a:t>
                </a:r>
                <a:r>
                  <a:rPr lang="en-US" altLang="en-US" sz="1800" i="1" dirty="0">
                    <a:solidFill>
                      <a:srgbClr val="000000"/>
                    </a:solidFill>
                  </a:rPr>
                  <a:t>C</a:t>
                </a:r>
                <a:r>
                  <a:rPr lang="en-US" altLang="en-US" sz="1800" dirty="0">
                    <a:solidFill>
                      <a:srgbClr val="000000"/>
                    </a:solidFill>
                  </a:rPr>
                  <a:t> for the </a:t>
                </a:r>
                <a:r>
                  <a:rPr lang="en-US" altLang="en-US" sz="1800" i="1" dirty="0">
                    <a:solidFill>
                      <a:srgbClr val="000000"/>
                    </a:solidFill>
                  </a:rPr>
                  <a:t>t</a:t>
                </a:r>
                <a:r>
                  <a:rPr lang="en-US" altLang="en-US" sz="1800" dirty="0">
                    <a:solidFill>
                      <a:srgbClr val="000000"/>
                    </a:solidFill>
                  </a:rPr>
                  <a:t> distribution with degrees of freedom either obtained from technology or equal to the smaller of  </a:t>
                </a:r>
                <a14:m>
                  <m:oMath xmlns:m="http://schemas.openxmlformats.org/officeDocument/2006/math">
                    <m:sSub>
                      <m:sSubPr>
                        <m:ctrlPr>
                          <a:rPr lang="en-US" altLang="en-US" sz="180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rPr>
                          <m:t>𝑛</m:t>
                        </m:r>
                      </m:e>
                      <m:sub>
                        <m:r>
                          <a:rPr lang="en-US" altLang="en-US" sz="1800" b="0" i="1" smtClean="0">
                            <a:solidFill>
                              <a:srgbClr val="000000"/>
                            </a:solidFill>
                            <a:latin typeface="Cambria Math"/>
                          </a:rPr>
                          <m:t>1</m:t>
                        </m:r>
                      </m:sub>
                    </m:sSub>
                    <m:r>
                      <a:rPr lang="en-US" altLang="en-US" sz="1800" b="0" i="1" smtClean="0">
                        <a:solidFill>
                          <a:srgbClr val="000000"/>
                        </a:solidFill>
                        <a:latin typeface="Cambria Math"/>
                      </a:rPr>
                      <m:t>−1</m:t>
                    </m:r>
                  </m:oMath>
                </a14:m>
                <a:r>
                  <a:rPr lang="en-US" altLang="en-US" sz="1800" dirty="0">
                    <a:solidFill>
                      <a:srgbClr val="000000"/>
                    </a:solidFill>
                  </a:rPr>
                  <a:t> and </a:t>
                </a:r>
                <a14:m>
                  <m:oMath xmlns:m="http://schemas.openxmlformats.org/officeDocument/2006/math">
                    <m:sSub>
                      <m:sSubPr>
                        <m:ctrlPr>
                          <a:rPr lang="en-US" altLang="en-US" sz="180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rPr>
                          <m:t>𝑛</m:t>
                        </m:r>
                      </m:e>
                      <m:sub>
                        <m:r>
                          <a:rPr lang="en-US" altLang="en-US" sz="1800" b="0" i="1" smtClean="0">
                            <a:solidFill>
                              <a:srgbClr val="000000"/>
                            </a:solidFill>
                            <a:latin typeface="Cambria Math"/>
                          </a:rPr>
                          <m:t>2</m:t>
                        </m:r>
                      </m:sub>
                    </m:sSub>
                    <m:r>
                      <a:rPr lang="en-US" altLang="en-US" sz="1800" b="0" i="1" smtClean="0">
                        <a:solidFill>
                          <a:srgbClr val="000000"/>
                        </a:solidFill>
                        <a:latin typeface="Cambria Math"/>
                      </a:rPr>
                      <m:t>−2</m:t>
                    </m:r>
                  </m:oMath>
                </a14:m>
                <a:r>
                  <a:rPr lang="en-US" altLang="en-US" sz="1800" dirty="0">
                    <a:solidFill>
                      <a:srgbClr val="000000"/>
                    </a:solidFill>
                  </a:rPr>
                  <a:t>.</a:t>
                </a:r>
              </a:p>
            </p:txBody>
          </p:sp>
        </mc:Choice>
        <mc:Fallback xmlns="">
          <p:sp>
            <p:nvSpPr>
              <p:cNvPr id="11" name="TextBox 10"/>
              <p:cNvSpPr txBox="1">
                <a:spLocks noRot="1" noChangeAspect="1" noMove="1" noResize="1" noEditPoints="1" noAdjustHandles="1" noChangeArrowheads="1" noChangeShapeType="1" noTextEdit="1"/>
              </p:cNvSpPr>
              <p:nvPr/>
            </p:nvSpPr>
            <p:spPr bwMode="auto">
              <a:xfrm>
                <a:off x="467519" y="1788256"/>
                <a:ext cx="8039100" cy="3080523"/>
              </a:xfrm>
              <a:prstGeom prst="rect">
                <a:avLst/>
              </a:prstGeom>
              <a:blipFill>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extLst>
      <p:ext uri="{BB962C8B-B14F-4D97-AF65-F5344CB8AC3E}">
        <p14:creationId xmlns:p14="http://schemas.microsoft.com/office/powerpoint/2010/main" val="1754827427"/>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74625" y="154305"/>
            <a:ext cx="7787120" cy="777240"/>
          </a:xfrm>
        </p:spPr>
        <p:txBody>
          <a:bodyPr/>
          <a:lstStyle/>
          <a:p>
            <a:pPr eaLnBrk="1" hangingPunct="1"/>
            <a:r>
              <a:rPr lang="en-US" dirty="0">
                <a:ea typeface="ＭＳ Ｐゴシック" pitchFamily="34" charset="-128"/>
              </a:rPr>
              <a:t>Two-Sample </a:t>
            </a:r>
            <a:r>
              <a:rPr lang="en-US" i="1" dirty="0">
                <a:ea typeface="ＭＳ Ｐゴシック" pitchFamily="34" charset="-128"/>
              </a:rPr>
              <a:t>t</a:t>
            </a:r>
            <a:r>
              <a:rPr lang="en-US" dirty="0">
                <a:ea typeface="ＭＳ Ｐゴシック" pitchFamily="34" charset="-128"/>
              </a:rPr>
              <a:t> Procedures</a:t>
            </a:r>
            <a:r>
              <a:rPr lang="en-US" sz="2000" dirty="0">
                <a:ea typeface="ＭＳ Ｐゴシック" pitchFamily="34" charset="-128"/>
              </a:rPr>
              <a:t> (1 of 4)</a:t>
            </a:r>
          </a:p>
        </p:txBody>
      </p:sp>
      <p:sp>
        <p:nvSpPr>
          <p:cNvPr id="5427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81712AE3-62F0-4323-8019-05BA2335BA6A}" type="slidenum">
              <a:rPr lang="en-US" sz="1200">
                <a:solidFill>
                  <a:schemeClr val="accent1"/>
                </a:solidFill>
              </a:rPr>
              <a:pPr>
                <a:lnSpc>
                  <a:spcPct val="80000"/>
                </a:lnSpc>
              </a:pPr>
              <a:t>24</a:t>
            </a:fld>
            <a:endParaRPr lang="en-US" sz="1200">
              <a:solidFill>
                <a:schemeClr val="accent1"/>
              </a:solidFill>
            </a:endParaRPr>
          </a:p>
        </p:txBody>
      </p:sp>
      <p:sp>
        <p:nvSpPr>
          <p:cNvPr id="54275" name="Vertical Text Placeholder 2"/>
          <p:cNvSpPr txBox="1">
            <a:spLocks/>
          </p:cNvSpPr>
          <p:nvPr/>
        </p:nvSpPr>
        <p:spPr bwMode="auto">
          <a:xfrm>
            <a:off x="235034" y="1189038"/>
            <a:ext cx="8455025" cy="2099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a:buFont typeface="Wingdings" pitchFamily="2" charset="2"/>
              <a:buNone/>
            </a:pPr>
            <a:r>
              <a:rPr lang="en-US" sz="1800" b="1" dirty="0">
                <a:solidFill>
                  <a:srgbClr val="000000"/>
                </a:solidFill>
              </a:rPr>
              <a:t>Example: </a:t>
            </a:r>
            <a:r>
              <a:rPr lang="en-US" sz="1800" dirty="0">
                <a:solidFill>
                  <a:srgbClr val="000000"/>
                </a:solidFill>
              </a:rPr>
              <a:t>An educator believes that new directed reading activities in the classroom will help elementary school pupils improve some aspects of their reading ability. The educator arranges for a third-grade class of 21 students to take part in these activities for an 8-week period. A control classroom of 23 third-graders follows the same curriculum without the activities. At the end of the 8 weeks, all students are given a DRP test, which measures the aspects of reading ability that the treatment is designed to improve. The data follow.</a:t>
            </a:r>
            <a:endParaRPr lang="en-US" sz="1800" b="1" dirty="0">
              <a:solidFill>
                <a:srgbClr val="000000"/>
              </a:solidFill>
            </a:endParaRPr>
          </a:p>
        </p:txBody>
      </p:sp>
      <p:graphicFrame>
        <p:nvGraphicFramePr>
          <p:cNvPr id="2" name="Table 1" descr="Treatment group"/>
          <p:cNvGraphicFramePr>
            <a:graphicFrameLocks noGrp="1"/>
          </p:cNvGraphicFramePr>
          <p:nvPr>
            <p:extLst>
              <p:ext uri="{D42A27DB-BD31-4B8C-83A1-F6EECF244321}">
                <p14:modId xmlns:p14="http://schemas.microsoft.com/office/powerpoint/2010/main" val="66106282"/>
              </p:ext>
            </p:extLst>
          </p:nvPr>
        </p:nvGraphicFramePr>
        <p:xfrm>
          <a:off x="1765301" y="3804652"/>
          <a:ext cx="2600324" cy="2590800"/>
        </p:xfrm>
        <a:graphic>
          <a:graphicData uri="http://schemas.openxmlformats.org/drawingml/2006/table">
            <a:tbl>
              <a:tblPr firstRow="1" bandRow="1">
                <a:tableStyleId>{5C22544A-7EE6-4342-B048-85BDC9FD1C3A}</a:tableStyleId>
              </a:tblPr>
              <a:tblGrid>
                <a:gridCol w="555625">
                  <a:extLst>
                    <a:ext uri="{9D8B030D-6E8A-4147-A177-3AD203B41FA5}">
                      <a16:colId xmlns:a16="http://schemas.microsoft.com/office/drawing/2014/main" xmlns="" val="20000"/>
                    </a:ext>
                  </a:extLst>
                </a:gridCol>
                <a:gridCol w="723900">
                  <a:extLst>
                    <a:ext uri="{9D8B030D-6E8A-4147-A177-3AD203B41FA5}">
                      <a16:colId xmlns:a16="http://schemas.microsoft.com/office/drawing/2014/main" xmlns="" val="20001"/>
                    </a:ext>
                  </a:extLst>
                </a:gridCol>
                <a:gridCol w="723900">
                  <a:extLst>
                    <a:ext uri="{9D8B030D-6E8A-4147-A177-3AD203B41FA5}">
                      <a16:colId xmlns:a16="http://schemas.microsoft.com/office/drawing/2014/main" xmlns="" val="20002"/>
                    </a:ext>
                  </a:extLst>
                </a:gridCol>
                <a:gridCol w="596899">
                  <a:extLst>
                    <a:ext uri="{9D8B030D-6E8A-4147-A177-3AD203B41FA5}">
                      <a16:colId xmlns:a16="http://schemas.microsoft.com/office/drawing/2014/main" xmlns="" val="20003"/>
                    </a:ext>
                  </a:extLst>
                </a:gridCol>
              </a:tblGrid>
              <a:tr h="0">
                <a:tc gridSpan="4">
                  <a:txBody>
                    <a:bodyPr/>
                    <a:lstStyle/>
                    <a:p>
                      <a:pPr algn="ctr"/>
                      <a:r>
                        <a:rPr lang="en-US" dirty="0"/>
                        <a:t>Treatment group</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xmlns="" val="10000"/>
                  </a:ext>
                </a:extLst>
              </a:tr>
              <a:tr h="370840">
                <a:tc>
                  <a:txBody>
                    <a:bodyPr/>
                    <a:lstStyle/>
                    <a:p>
                      <a:r>
                        <a:rPr lang="en-US" dirty="0"/>
                        <a:t>24</a:t>
                      </a:r>
                    </a:p>
                  </a:txBody>
                  <a:tcPr/>
                </a:tc>
                <a:tc>
                  <a:txBody>
                    <a:bodyPr/>
                    <a:lstStyle/>
                    <a:p>
                      <a:r>
                        <a:rPr lang="en-US" dirty="0"/>
                        <a:t>61</a:t>
                      </a:r>
                    </a:p>
                  </a:txBody>
                  <a:tcPr/>
                </a:tc>
                <a:tc>
                  <a:txBody>
                    <a:bodyPr/>
                    <a:lstStyle/>
                    <a:p>
                      <a:r>
                        <a:rPr lang="en-US" dirty="0"/>
                        <a:t>59</a:t>
                      </a:r>
                    </a:p>
                  </a:txBody>
                  <a:tcPr/>
                </a:tc>
                <a:tc>
                  <a:txBody>
                    <a:bodyPr/>
                    <a:lstStyle/>
                    <a:p>
                      <a:r>
                        <a:rPr lang="en-US" dirty="0"/>
                        <a:t>46</a:t>
                      </a:r>
                    </a:p>
                  </a:txBody>
                  <a:tcPr/>
                </a:tc>
                <a:extLst>
                  <a:ext uri="{0D108BD9-81ED-4DB2-BD59-A6C34878D82A}">
                    <a16:rowId xmlns:a16="http://schemas.microsoft.com/office/drawing/2014/main" xmlns="" val="10001"/>
                  </a:ext>
                </a:extLst>
              </a:tr>
              <a:tr h="370840">
                <a:tc>
                  <a:txBody>
                    <a:bodyPr/>
                    <a:lstStyle/>
                    <a:p>
                      <a:r>
                        <a:rPr lang="en-US" dirty="0"/>
                        <a:t>43</a:t>
                      </a:r>
                    </a:p>
                  </a:txBody>
                  <a:tcPr/>
                </a:tc>
                <a:tc>
                  <a:txBody>
                    <a:bodyPr/>
                    <a:lstStyle/>
                    <a:p>
                      <a:r>
                        <a:rPr lang="en-US" dirty="0"/>
                        <a:t>44</a:t>
                      </a:r>
                    </a:p>
                  </a:txBody>
                  <a:tcPr/>
                </a:tc>
                <a:tc>
                  <a:txBody>
                    <a:bodyPr/>
                    <a:lstStyle/>
                    <a:p>
                      <a:r>
                        <a:rPr lang="en-US" dirty="0"/>
                        <a:t>52</a:t>
                      </a:r>
                    </a:p>
                  </a:txBody>
                  <a:tcPr/>
                </a:tc>
                <a:tc>
                  <a:txBody>
                    <a:bodyPr/>
                    <a:lstStyle/>
                    <a:p>
                      <a:r>
                        <a:rPr lang="en-US" dirty="0"/>
                        <a:t>43</a:t>
                      </a:r>
                    </a:p>
                  </a:txBody>
                  <a:tcPr/>
                </a:tc>
                <a:extLst>
                  <a:ext uri="{0D108BD9-81ED-4DB2-BD59-A6C34878D82A}">
                    <a16:rowId xmlns:a16="http://schemas.microsoft.com/office/drawing/2014/main" xmlns="" val="10002"/>
                  </a:ext>
                </a:extLst>
              </a:tr>
              <a:tr h="370840">
                <a:tc>
                  <a:txBody>
                    <a:bodyPr/>
                    <a:lstStyle/>
                    <a:p>
                      <a:r>
                        <a:rPr lang="en-US" dirty="0"/>
                        <a:t>58</a:t>
                      </a:r>
                    </a:p>
                  </a:txBody>
                  <a:tcPr/>
                </a:tc>
                <a:tc>
                  <a:txBody>
                    <a:bodyPr/>
                    <a:lstStyle/>
                    <a:p>
                      <a:r>
                        <a:rPr lang="en-US" dirty="0"/>
                        <a:t>67</a:t>
                      </a:r>
                    </a:p>
                  </a:txBody>
                  <a:tcPr/>
                </a:tc>
                <a:tc>
                  <a:txBody>
                    <a:bodyPr/>
                    <a:lstStyle/>
                    <a:p>
                      <a:r>
                        <a:rPr lang="en-US" dirty="0"/>
                        <a:t>62</a:t>
                      </a:r>
                    </a:p>
                  </a:txBody>
                  <a:tcPr/>
                </a:tc>
                <a:tc>
                  <a:txBody>
                    <a:bodyPr/>
                    <a:lstStyle/>
                    <a:p>
                      <a:r>
                        <a:rPr lang="en-US" dirty="0"/>
                        <a:t>57</a:t>
                      </a:r>
                    </a:p>
                  </a:txBody>
                  <a:tcPr/>
                </a:tc>
                <a:extLst>
                  <a:ext uri="{0D108BD9-81ED-4DB2-BD59-A6C34878D82A}">
                    <a16:rowId xmlns:a16="http://schemas.microsoft.com/office/drawing/2014/main" xmlns="" val="10003"/>
                  </a:ext>
                </a:extLst>
              </a:tr>
              <a:tr h="370840">
                <a:tc>
                  <a:txBody>
                    <a:bodyPr/>
                    <a:lstStyle/>
                    <a:p>
                      <a:r>
                        <a:rPr lang="en-US" dirty="0"/>
                        <a:t>71</a:t>
                      </a:r>
                    </a:p>
                  </a:txBody>
                  <a:tcPr/>
                </a:tc>
                <a:tc>
                  <a:txBody>
                    <a:bodyPr/>
                    <a:lstStyle/>
                    <a:p>
                      <a:r>
                        <a:rPr lang="en-US" dirty="0"/>
                        <a:t>49</a:t>
                      </a:r>
                    </a:p>
                  </a:txBody>
                  <a:tcPr/>
                </a:tc>
                <a:tc>
                  <a:txBody>
                    <a:bodyPr/>
                    <a:lstStyle/>
                    <a:p>
                      <a:r>
                        <a:rPr lang="en-US" dirty="0"/>
                        <a:t>54</a:t>
                      </a:r>
                    </a:p>
                  </a:txBody>
                  <a:tcPr/>
                </a:tc>
                <a:tc>
                  <a:txBody>
                    <a:bodyPr/>
                    <a:lstStyle/>
                    <a:p>
                      <a:endParaRPr lang="en-US"/>
                    </a:p>
                  </a:txBody>
                  <a:tcPr/>
                </a:tc>
                <a:extLst>
                  <a:ext uri="{0D108BD9-81ED-4DB2-BD59-A6C34878D82A}">
                    <a16:rowId xmlns:a16="http://schemas.microsoft.com/office/drawing/2014/main" xmlns="" val="10004"/>
                  </a:ext>
                </a:extLst>
              </a:tr>
              <a:tr h="370840">
                <a:tc>
                  <a:txBody>
                    <a:bodyPr/>
                    <a:lstStyle/>
                    <a:p>
                      <a:r>
                        <a:rPr lang="en-US" dirty="0"/>
                        <a:t>43</a:t>
                      </a:r>
                    </a:p>
                  </a:txBody>
                  <a:tcPr/>
                </a:tc>
                <a:tc>
                  <a:txBody>
                    <a:bodyPr/>
                    <a:lstStyle/>
                    <a:p>
                      <a:r>
                        <a:rPr lang="en-US" dirty="0"/>
                        <a:t>53</a:t>
                      </a:r>
                    </a:p>
                  </a:txBody>
                  <a:tcPr/>
                </a:tc>
                <a:tc>
                  <a:txBody>
                    <a:bodyPr/>
                    <a:lstStyle/>
                    <a:p>
                      <a:r>
                        <a:rPr lang="en-US" dirty="0"/>
                        <a:t>57</a:t>
                      </a:r>
                    </a:p>
                  </a:txBody>
                  <a:tcPr/>
                </a:tc>
                <a:tc>
                  <a:txBody>
                    <a:bodyPr/>
                    <a:lstStyle/>
                    <a:p>
                      <a:endParaRPr lang="en-US"/>
                    </a:p>
                  </a:txBody>
                  <a:tcPr/>
                </a:tc>
                <a:extLst>
                  <a:ext uri="{0D108BD9-81ED-4DB2-BD59-A6C34878D82A}">
                    <a16:rowId xmlns:a16="http://schemas.microsoft.com/office/drawing/2014/main" xmlns="" val="10005"/>
                  </a:ext>
                </a:extLst>
              </a:tr>
              <a:tr h="370840">
                <a:tc>
                  <a:txBody>
                    <a:bodyPr/>
                    <a:lstStyle/>
                    <a:p>
                      <a:r>
                        <a:rPr lang="en-US" dirty="0"/>
                        <a:t>49</a:t>
                      </a:r>
                    </a:p>
                  </a:txBody>
                  <a:tcPr/>
                </a:tc>
                <a:tc>
                  <a:txBody>
                    <a:bodyPr/>
                    <a:lstStyle/>
                    <a:p>
                      <a:r>
                        <a:rPr lang="en-US" dirty="0"/>
                        <a:t>56</a:t>
                      </a:r>
                    </a:p>
                  </a:txBody>
                  <a:tcPr/>
                </a:tc>
                <a:tc>
                  <a:txBody>
                    <a:bodyPr/>
                    <a:lstStyle/>
                    <a:p>
                      <a:r>
                        <a:rPr lang="en-US" dirty="0"/>
                        <a:t>33</a:t>
                      </a:r>
                    </a:p>
                  </a:txBody>
                  <a:tcPr/>
                </a:tc>
                <a:tc>
                  <a:txBody>
                    <a:bodyPr/>
                    <a:lstStyle/>
                    <a:p>
                      <a:endParaRPr lang="en-US" dirty="0"/>
                    </a:p>
                  </a:txBody>
                  <a:tcPr/>
                </a:tc>
                <a:extLst>
                  <a:ext uri="{0D108BD9-81ED-4DB2-BD59-A6C34878D82A}">
                    <a16:rowId xmlns:a16="http://schemas.microsoft.com/office/drawing/2014/main" xmlns="" val="10006"/>
                  </a:ext>
                </a:extLst>
              </a:tr>
            </a:tbl>
          </a:graphicData>
        </a:graphic>
      </p:graphicFrame>
      <p:graphicFrame>
        <p:nvGraphicFramePr>
          <p:cNvPr id="7" name="Table 6" descr="Control group"/>
          <p:cNvGraphicFramePr>
            <a:graphicFrameLocks noGrp="1"/>
          </p:cNvGraphicFramePr>
          <p:nvPr>
            <p:extLst>
              <p:ext uri="{D42A27DB-BD31-4B8C-83A1-F6EECF244321}">
                <p14:modId xmlns:p14="http://schemas.microsoft.com/office/powerpoint/2010/main" val="2919001865"/>
              </p:ext>
            </p:extLst>
          </p:nvPr>
        </p:nvGraphicFramePr>
        <p:xfrm>
          <a:off x="4778375" y="3794110"/>
          <a:ext cx="2600324" cy="2590800"/>
        </p:xfrm>
        <a:graphic>
          <a:graphicData uri="http://schemas.openxmlformats.org/drawingml/2006/table">
            <a:tbl>
              <a:tblPr firstRow="1" bandRow="1">
                <a:tableStyleId>{5C22544A-7EE6-4342-B048-85BDC9FD1C3A}</a:tableStyleId>
              </a:tblPr>
              <a:tblGrid>
                <a:gridCol w="555625">
                  <a:extLst>
                    <a:ext uri="{9D8B030D-6E8A-4147-A177-3AD203B41FA5}">
                      <a16:colId xmlns:a16="http://schemas.microsoft.com/office/drawing/2014/main" xmlns="" val="20000"/>
                    </a:ext>
                  </a:extLst>
                </a:gridCol>
                <a:gridCol w="723900">
                  <a:extLst>
                    <a:ext uri="{9D8B030D-6E8A-4147-A177-3AD203B41FA5}">
                      <a16:colId xmlns:a16="http://schemas.microsoft.com/office/drawing/2014/main" xmlns="" val="20001"/>
                    </a:ext>
                  </a:extLst>
                </a:gridCol>
                <a:gridCol w="723900">
                  <a:extLst>
                    <a:ext uri="{9D8B030D-6E8A-4147-A177-3AD203B41FA5}">
                      <a16:colId xmlns:a16="http://schemas.microsoft.com/office/drawing/2014/main" xmlns="" val="20002"/>
                    </a:ext>
                  </a:extLst>
                </a:gridCol>
                <a:gridCol w="596899">
                  <a:extLst>
                    <a:ext uri="{9D8B030D-6E8A-4147-A177-3AD203B41FA5}">
                      <a16:colId xmlns:a16="http://schemas.microsoft.com/office/drawing/2014/main" xmlns="" val="20003"/>
                    </a:ext>
                  </a:extLst>
                </a:gridCol>
              </a:tblGrid>
              <a:tr h="358140">
                <a:tc gridSpan="4">
                  <a:txBody>
                    <a:bodyPr/>
                    <a:lstStyle/>
                    <a:p>
                      <a:pPr algn="ctr"/>
                      <a:r>
                        <a:rPr lang="en-US" dirty="0"/>
                        <a:t>Control</a:t>
                      </a:r>
                      <a:r>
                        <a:rPr lang="en-US" baseline="0" dirty="0"/>
                        <a:t> group</a:t>
                      </a:r>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xmlns="" val="10000"/>
                  </a:ext>
                </a:extLst>
              </a:tr>
              <a:tr h="370840">
                <a:tc>
                  <a:txBody>
                    <a:bodyPr/>
                    <a:lstStyle/>
                    <a:p>
                      <a:r>
                        <a:rPr lang="en-US" dirty="0"/>
                        <a:t>42</a:t>
                      </a:r>
                    </a:p>
                  </a:txBody>
                  <a:tcPr/>
                </a:tc>
                <a:tc>
                  <a:txBody>
                    <a:bodyPr/>
                    <a:lstStyle/>
                    <a:p>
                      <a:r>
                        <a:rPr lang="en-US" dirty="0"/>
                        <a:t>33</a:t>
                      </a:r>
                    </a:p>
                  </a:txBody>
                  <a:tcPr/>
                </a:tc>
                <a:tc>
                  <a:txBody>
                    <a:bodyPr/>
                    <a:lstStyle/>
                    <a:p>
                      <a:r>
                        <a:rPr lang="en-US" dirty="0"/>
                        <a:t>46</a:t>
                      </a:r>
                    </a:p>
                  </a:txBody>
                  <a:tcPr/>
                </a:tc>
                <a:tc>
                  <a:txBody>
                    <a:bodyPr/>
                    <a:lstStyle/>
                    <a:p>
                      <a:r>
                        <a:rPr lang="en-US" dirty="0"/>
                        <a:t>37</a:t>
                      </a:r>
                    </a:p>
                  </a:txBody>
                  <a:tcPr/>
                </a:tc>
                <a:extLst>
                  <a:ext uri="{0D108BD9-81ED-4DB2-BD59-A6C34878D82A}">
                    <a16:rowId xmlns:a16="http://schemas.microsoft.com/office/drawing/2014/main" xmlns="" val="10001"/>
                  </a:ext>
                </a:extLst>
              </a:tr>
              <a:tr h="370840">
                <a:tc>
                  <a:txBody>
                    <a:bodyPr/>
                    <a:lstStyle/>
                    <a:p>
                      <a:r>
                        <a:rPr lang="en-US" dirty="0"/>
                        <a:t>43</a:t>
                      </a:r>
                    </a:p>
                  </a:txBody>
                  <a:tcPr/>
                </a:tc>
                <a:tc>
                  <a:txBody>
                    <a:bodyPr/>
                    <a:lstStyle/>
                    <a:p>
                      <a:r>
                        <a:rPr lang="en-US" dirty="0"/>
                        <a:t>41</a:t>
                      </a:r>
                    </a:p>
                  </a:txBody>
                  <a:tcPr/>
                </a:tc>
                <a:tc>
                  <a:txBody>
                    <a:bodyPr/>
                    <a:lstStyle/>
                    <a:p>
                      <a:r>
                        <a:rPr lang="en-US" dirty="0"/>
                        <a:t>10</a:t>
                      </a:r>
                    </a:p>
                  </a:txBody>
                  <a:tcPr/>
                </a:tc>
                <a:tc>
                  <a:txBody>
                    <a:bodyPr/>
                    <a:lstStyle/>
                    <a:p>
                      <a:r>
                        <a:rPr lang="en-US" dirty="0"/>
                        <a:t>42</a:t>
                      </a:r>
                    </a:p>
                  </a:txBody>
                  <a:tcPr/>
                </a:tc>
                <a:extLst>
                  <a:ext uri="{0D108BD9-81ED-4DB2-BD59-A6C34878D82A}">
                    <a16:rowId xmlns:a16="http://schemas.microsoft.com/office/drawing/2014/main" xmlns="" val="10002"/>
                  </a:ext>
                </a:extLst>
              </a:tr>
              <a:tr h="370840">
                <a:tc>
                  <a:txBody>
                    <a:bodyPr/>
                    <a:lstStyle/>
                    <a:p>
                      <a:r>
                        <a:rPr lang="en-US" dirty="0"/>
                        <a:t>55</a:t>
                      </a:r>
                    </a:p>
                  </a:txBody>
                  <a:tcPr/>
                </a:tc>
                <a:tc>
                  <a:txBody>
                    <a:bodyPr/>
                    <a:lstStyle/>
                    <a:p>
                      <a:r>
                        <a:rPr lang="en-US" dirty="0"/>
                        <a:t>19</a:t>
                      </a:r>
                    </a:p>
                  </a:txBody>
                  <a:tcPr/>
                </a:tc>
                <a:tc>
                  <a:txBody>
                    <a:bodyPr/>
                    <a:lstStyle/>
                    <a:p>
                      <a:r>
                        <a:rPr lang="en-US" dirty="0"/>
                        <a:t>17</a:t>
                      </a:r>
                    </a:p>
                  </a:txBody>
                  <a:tcPr/>
                </a:tc>
                <a:tc>
                  <a:txBody>
                    <a:bodyPr/>
                    <a:lstStyle/>
                    <a:p>
                      <a:r>
                        <a:rPr lang="en-US" dirty="0"/>
                        <a:t>55</a:t>
                      </a:r>
                    </a:p>
                  </a:txBody>
                  <a:tcPr/>
                </a:tc>
                <a:extLst>
                  <a:ext uri="{0D108BD9-81ED-4DB2-BD59-A6C34878D82A}">
                    <a16:rowId xmlns:a16="http://schemas.microsoft.com/office/drawing/2014/main" xmlns="" val="10003"/>
                  </a:ext>
                </a:extLst>
              </a:tr>
              <a:tr h="370840">
                <a:tc>
                  <a:txBody>
                    <a:bodyPr/>
                    <a:lstStyle/>
                    <a:p>
                      <a:r>
                        <a:rPr lang="en-US" dirty="0"/>
                        <a:t>26</a:t>
                      </a:r>
                    </a:p>
                  </a:txBody>
                  <a:tcPr/>
                </a:tc>
                <a:tc>
                  <a:txBody>
                    <a:bodyPr/>
                    <a:lstStyle/>
                    <a:p>
                      <a:r>
                        <a:rPr lang="en-US" dirty="0"/>
                        <a:t>54</a:t>
                      </a:r>
                    </a:p>
                  </a:txBody>
                  <a:tcPr/>
                </a:tc>
                <a:tc>
                  <a:txBody>
                    <a:bodyPr/>
                    <a:lstStyle/>
                    <a:p>
                      <a:r>
                        <a:rPr lang="en-US" dirty="0"/>
                        <a:t>60</a:t>
                      </a:r>
                    </a:p>
                  </a:txBody>
                  <a:tcPr/>
                </a:tc>
                <a:tc>
                  <a:txBody>
                    <a:bodyPr/>
                    <a:lstStyle/>
                    <a:p>
                      <a:r>
                        <a:rPr lang="en-US" dirty="0"/>
                        <a:t>28</a:t>
                      </a:r>
                    </a:p>
                  </a:txBody>
                  <a:tcPr/>
                </a:tc>
                <a:extLst>
                  <a:ext uri="{0D108BD9-81ED-4DB2-BD59-A6C34878D82A}">
                    <a16:rowId xmlns:a16="http://schemas.microsoft.com/office/drawing/2014/main" xmlns="" val="10004"/>
                  </a:ext>
                </a:extLst>
              </a:tr>
              <a:tr h="370840">
                <a:tc>
                  <a:txBody>
                    <a:bodyPr/>
                    <a:lstStyle/>
                    <a:p>
                      <a:r>
                        <a:rPr lang="en-US" dirty="0"/>
                        <a:t>62</a:t>
                      </a:r>
                    </a:p>
                  </a:txBody>
                  <a:tcPr/>
                </a:tc>
                <a:tc>
                  <a:txBody>
                    <a:bodyPr/>
                    <a:lstStyle/>
                    <a:p>
                      <a:r>
                        <a:rPr lang="en-US" dirty="0"/>
                        <a:t>20</a:t>
                      </a:r>
                    </a:p>
                  </a:txBody>
                  <a:tcPr/>
                </a:tc>
                <a:tc>
                  <a:txBody>
                    <a:bodyPr/>
                    <a:lstStyle/>
                    <a:p>
                      <a:r>
                        <a:rPr lang="en-US" dirty="0"/>
                        <a:t>53</a:t>
                      </a:r>
                    </a:p>
                  </a:txBody>
                  <a:tcPr/>
                </a:tc>
                <a:tc>
                  <a:txBody>
                    <a:bodyPr/>
                    <a:lstStyle/>
                    <a:p>
                      <a:r>
                        <a:rPr lang="en-US" dirty="0"/>
                        <a:t>48</a:t>
                      </a:r>
                    </a:p>
                  </a:txBody>
                  <a:tcPr/>
                </a:tc>
                <a:extLst>
                  <a:ext uri="{0D108BD9-81ED-4DB2-BD59-A6C34878D82A}">
                    <a16:rowId xmlns:a16="http://schemas.microsoft.com/office/drawing/2014/main" xmlns="" val="10005"/>
                  </a:ext>
                </a:extLst>
              </a:tr>
              <a:tr h="370840">
                <a:tc>
                  <a:txBody>
                    <a:bodyPr/>
                    <a:lstStyle/>
                    <a:p>
                      <a:r>
                        <a:rPr lang="en-US" dirty="0"/>
                        <a:t>37</a:t>
                      </a:r>
                    </a:p>
                  </a:txBody>
                  <a:tcPr/>
                </a:tc>
                <a:tc>
                  <a:txBody>
                    <a:bodyPr/>
                    <a:lstStyle/>
                    <a:p>
                      <a:r>
                        <a:rPr lang="en-US" dirty="0"/>
                        <a:t>85</a:t>
                      </a:r>
                    </a:p>
                  </a:txBody>
                  <a:tcPr/>
                </a:tc>
                <a:tc>
                  <a:txBody>
                    <a:bodyPr/>
                    <a:lstStyle/>
                    <a:p>
                      <a:r>
                        <a:rPr lang="en-US" dirty="0"/>
                        <a:t>42</a:t>
                      </a:r>
                    </a:p>
                  </a:txBody>
                  <a:tcPr/>
                </a:tc>
                <a:tc>
                  <a:txBody>
                    <a:bodyPr/>
                    <a:lstStyle/>
                    <a:p>
                      <a:endParaRPr lang="en-US" dirty="0"/>
                    </a:p>
                  </a:txBody>
                  <a:tcPr/>
                </a:tc>
                <a:extLst>
                  <a:ext uri="{0D108BD9-81ED-4DB2-BD59-A6C34878D82A}">
                    <a16:rowId xmlns:a16="http://schemas.microsoft.com/office/drawing/2014/main" xmlns="" val="10006"/>
                  </a:ext>
                </a:extLst>
              </a:tr>
            </a:tbl>
          </a:graphicData>
        </a:graphic>
      </p:graphicFrame>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Two-Sample </a:t>
            </a:r>
            <a:r>
              <a:rPr lang="en-US" i="1" dirty="0">
                <a:ea typeface="ＭＳ Ｐゴシック" pitchFamily="34" charset="-128"/>
              </a:rPr>
              <a:t>t</a:t>
            </a:r>
            <a:r>
              <a:rPr lang="en-US" dirty="0">
                <a:ea typeface="ＭＳ Ｐゴシック" pitchFamily="34" charset="-128"/>
              </a:rPr>
              <a:t> Procedures</a:t>
            </a:r>
            <a:r>
              <a:rPr lang="en-US" sz="2000" dirty="0">
                <a:ea typeface="ＭＳ Ｐゴシック" pitchFamily="34" charset="-128"/>
              </a:rPr>
              <a:t> (2 of 4)</a:t>
            </a:r>
            <a:endParaRPr lang="en-US" sz="2000" dirty="0"/>
          </a:p>
        </p:txBody>
      </p:sp>
      <p:sp>
        <p:nvSpPr>
          <p:cNvPr id="5632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1819D6A8-7281-47D7-89DE-1BD36FC6DE48}" type="slidenum">
              <a:rPr lang="en-US" sz="1200">
                <a:solidFill>
                  <a:schemeClr val="accent1"/>
                </a:solidFill>
              </a:rPr>
              <a:pPr>
                <a:lnSpc>
                  <a:spcPct val="80000"/>
                </a:lnSpc>
              </a:pPr>
              <a:t>25</a:t>
            </a:fld>
            <a:endParaRPr lang="en-US" sz="1200">
              <a:solidFill>
                <a:schemeClr val="accent1"/>
              </a:solidFill>
            </a:endParaRPr>
          </a:p>
        </p:txBody>
      </p:sp>
      <p:sp>
        <p:nvSpPr>
          <p:cNvPr id="56323" name="Rectangle 6"/>
          <p:cNvSpPr>
            <a:spLocks noChangeArrowheads="1"/>
          </p:cNvSpPr>
          <p:nvPr/>
        </p:nvSpPr>
        <p:spPr bwMode="auto">
          <a:xfrm>
            <a:off x="174624" y="1141339"/>
            <a:ext cx="8081963"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sz="2000" dirty="0">
                <a:solidFill>
                  <a:srgbClr val="000000"/>
                </a:solidFill>
              </a:rPr>
              <a:t>O</a:t>
            </a:r>
            <a:r>
              <a:rPr lang="en-US" sz="2000" dirty="0"/>
              <a:t>ur parameters of interest are </a:t>
            </a:r>
          </a:p>
          <a:p>
            <a:pPr eaLnBrk="1" hangingPunct="1"/>
            <a:r>
              <a:rPr lang="en-US" sz="2000" i="1" dirty="0"/>
              <a:t>        µ</a:t>
            </a:r>
            <a:r>
              <a:rPr lang="en-US" sz="2000" baseline="-25000" dirty="0"/>
              <a:t>1</a:t>
            </a:r>
            <a:r>
              <a:rPr lang="en-US" sz="2000" dirty="0"/>
              <a:t> = the true mean DRP score using the reading activities, and </a:t>
            </a:r>
          </a:p>
          <a:p>
            <a:pPr eaLnBrk="1" hangingPunct="1"/>
            <a:r>
              <a:rPr lang="en-US" sz="2000" i="1" dirty="0"/>
              <a:t>        µ</a:t>
            </a:r>
            <a:r>
              <a:rPr lang="en-US" sz="2000" baseline="-25000" dirty="0"/>
              <a:t>2</a:t>
            </a:r>
            <a:r>
              <a:rPr lang="en-US" sz="2000" i="1" dirty="0"/>
              <a:t> </a:t>
            </a:r>
            <a:r>
              <a:rPr lang="en-US" sz="2000" dirty="0"/>
              <a:t>= the true mean DRP score without using the reading activities. </a:t>
            </a:r>
          </a:p>
          <a:p>
            <a:pPr eaLnBrk="1" hangingPunct="1"/>
            <a:endParaRPr lang="en-US" sz="2000" dirty="0"/>
          </a:p>
          <a:p>
            <a:pPr eaLnBrk="1" hangingPunct="1"/>
            <a:r>
              <a:rPr lang="en-US" sz="2000" dirty="0"/>
              <a:t>We want to estimate the difference </a:t>
            </a:r>
            <a:r>
              <a:rPr lang="en-US" sz="2000" i="1" dirty="0"/>
              <a:t>µ</a:t>
            </a:r>
            <a:r>
              <a:rPr lang="en-US" sz="2000" baseline="-25000" dirty="0"/>
              <a:t>1</a:t>
            </a:r>
            <a:r>
              <a:rPr lang="en-US" sz="2000" dirty="0"/>
              <a:t> – </a:t>
            </a:r>
            <a:r>
              <a:rPr lang="en-US" sz="2000" i="1" dirty="0"/>
              <a:t>µ</a:t>
            </a:r>
            <a:r>
              <a:rPr lang="en-US" sz="2000" baseline="-25000" dirty="0"/>
              <a:t>2</a:t>
            </a:r>
            <a:r>
              <a:rPr lang="en-US" sz="2000" dirty="0"/>
              <a:t>  at a 95% confidence level</a:t>
            </a:r>
            <a:r>
              <a:rPr lang="en-US" dirty="0"/>
              <a:t>.</a:t>
            </a:r>
          </a:p>
        </p:txBody>
      </p:sp>
      <p:sp>
        <p:nvSpPr>
          <p:cNvPr id="10" name="Rectangle 9"/>
          <p:cNvSpPr>
            <a:spLocks noChangeArrowheads="1"/>
          </p:cNvSpPr>
          <p:nvPr/>
        </p:nvSpPr>
        <p:spPr bwMode="auto">
          <a:xfrm>
            <a:off x="243679" y="3192381"/>
            <a:ext cx="8403015"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Aft>
                <a:spcPts val="600"/>
              </a:spcAft>
            </a:pPr>
            <a:r>
              <a:rPr lang="en-US" sz="2000" dirty="0"/>
              <a:t>We should use a two-sample </a:t>
            </a:r>
            <a:r>
              <a:rPr lang="en-US" sz="2000" i="1" dirty="0"/>
              <a:t>t</a:t>
            </a:r>
            <a:r>
              <a:rPr lang="en-US" sz="2000" dirty="0"/>
              <a:t> interval for </a:t>
            </a:r>
            <a:r>
              <a:rPr lang="en-US" sz="2000" i="1" dirty="0"/>
              <a:t>µ</a:t>
            </a:r>
            <a:r>
              <a:rPr lang="en-US" sz="2000" baseline="-25000" dirty="0"/>
              <a:t>1</a:t>
            </a:r>
            <a:r>
              <a:rPr lang="en-US" sz="2000" i="1" baseline="-25000" dirty="0"/>
              <a:t> </a:t>
            </a:r>
            <a:r>
              <a:rPr lang="en-US" sz="2000" i="1" dirty="0"/>
              <a:t>– µ</a:t>
            </a:r>
            <a:r>
              <a:rPr lang="en-US" sz="2000" baseline="-25000" dirty="0"/>
              <a:t>2</a:t>
            </a:r>
            <a:r>
              <a:rPr lang="en-US" sz="2000" i="1" dirty="0"/>
              <a:t> </a:t>
            </a:r>
            <a:r>
              <a:rPr lang="en-US" sz="2000" dirty="0"/>
              <a:t>if the conditions are satisfied.</a:t>
            </a:r>
          </a:p>
          <a:p>
            <a:pPr eaLnBrk="1" hangingPunct="1">
              <a:spcAft>
                <a:spcPts val="600"/>
              </a:spcAft>
            </a:pPr>
            <a:endParaRPr lang="en-US" sz="2000" dirty="0"/>
          </a:p>
          <a:p>
            <a:pPr algn="just" eaLnBrk="1" hangingPunct="1">
              <a:spcAft>
                <a:spcPts val="600"/>
              </a:spcAft>
              <a:buClr>
                <a:srgbClr val="E81F30"/>
              </a:buClr>
              <a:buFont typeface="Wingdings" pitchFamily="2" charset="2"/>
              <a:buChar char="ü"/>
            </a:pPr>
            <a:r>
              <a:rPr lang="en-US" sz="2000" b="1" dirty="0"/>
              <a:t>Random: </a:t>
            </a:r>
            <a:r>
              <a:rPr lang="en-US" sz="2000" dirty="0"/>
              <a:t>It was impractical to assign students to classes in a school environment, so existing third-grade classes were used. The effect of the reading programs is therefore confounded with any other differences between the two classes. Extensive pretesting showed that the two classes were, on average, quite similar in reading ability at the beginning of the experiment. Further, the same teacher was used in both classes.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10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bldLvl="5"/>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Two-Sample </a:t>
            </a:r>
            <a:r>
              <a:rPr lang="en-US" i="1" dirty="0">
                <a:ea typeface="ＭＳ Ｐゴシック" pitchFamily="34" charset="-128"/>
              </a:rPr>
              <a:t>t</a:t>
            </a:r>
            <a:r>
              <a:rPr lang="en-US" dirty="0">
                <a:ea typeface="ＭＳ Ｐゴシック" pitchFamily="34" charset="-128"/>
              </a:rPr>
              <a:t> Procedures</a:t>
            </a:r>
            <a:r>
              <a:rPr lang="en-US" sz="2000" dirty="0">
                <a:ea typeface="ＭＳ Ｐゴシック" pitchFamily="34" charset="-128"/>
              </a:rPr>
              <a:t> (3 of 4)</a:t>
            </a:r>
            <a:endParaRPr lang="en-US" sz="2000" dirty="0"/>
          </a:p>
        </p:txBody>
      </p:sp>
      <p:sp>
        <p:nvSpPr>
          <p:cNvPr id="5836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6E78C54C-CA23-4B89-8C69-A129B68C8205}" type="slidenum">
              <a:rPr lang="en-US" sz="1200">
                <a:solidFill>
                  <a:schemeClr val="accent1"/>
                </a:solidFill>
              </a:rPr>
              <a:pPr>
                <a:lnSpc>
                  <a:spcPct val="80000"/>
                </a:lnSpc>
              </a:pPr>
              <a:t>26</a:t>
            </a:fld>
            <a:endParaRPr lang="en-US" sz="1200">
              <a:solidFill>
                <a:schemeClr val="accent1"/>
              </a:solidFill>
            </a:endParaRPr>
          </a:p>
        </p:txBody>
      </p:sp>
      <p:sp>
        <p:nvSpPr>
          <p:cNvPr id="58373" name="Rectangle 1"/>
          <p:cNvSpPr>
            <a:spLocks noChangeArrowheads="1"/>
          </p:cNvSpPr>
          <p:nvPr/>
        </p:nvSpPr>
        <p:spPr bwMode="auto">
          <a:xfrm>
            <a:off x="174624" y="1212850"/>
            <a:ext cx="874478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spcAft>
                <a:spcPts val="600"/>
              </a:spcAft>
              <a:buClr>
                <a:srgbClr val="E81F30"/>
              </a:buClr>
              <a:buFont typeface="Wingdings" pitchFamily="2" charset="2"/>
              <a:buChar char="ü"/>
            </a:pPr>
            <a:r>
              <a:rPr lang="en-US" sz="2000" b="1" dirty="0"/>
              <a:t>Normal: </a:t>
            </a:r>
            <a:r>
              <a:rPr lang="en-US" sz="2000" dirty="0"/>
              <a:t>The back-to-back </a:t>
            </a:r>
            <a:r>
              <a:rPr lang="en-US" sz="2000" dirty="0" err="1"/>
              <a:t>stemplots</a:t>
            </a:r>
            <a:r>
              <a:rPr lang="en-US" sz="2000" dirty="0"/>
              <a:t> suggest that there is a mild outlier in the control group but no deviation from Normality serious enough to forbid use of the </a:t>
            </a:r>
            <a:r>
              <a:rPr lang="en-US" sz="2000" i="1" dirty="0"/>
              <a:t>t</a:t>
            </a:r>
            <a:r>
              <a:rPr lang="en-US" sz="2000" dirty="0"/>
              <a:t> procedures</a:t>
            </a:r>
            <a:r>
              <a:rPr lang="en-US" sz="2000" i="1" dirty="0"/>
              <a:t>.</a:t>
            </a:r>
            <a:endParaRPr lang="en-US" sz="2000" dirty="0"/>
          </a:p>
        </p:txBody>
      </p:sp>
      <p:pic>
        <p:nvPicPr>
          <p:cNvPr id="89090" name="Picture 2" descr="A back-to-back stemplot."/>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7002" y="2782210"/>
            <a:ext cx="2928112" cy="2141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9091" name="Picture 3" descr="Two quantile plots for control and treatment each plot D R P scores on the vertical axis, ranging from 0 to 90 in intervals of 10, versus normal score on the horizontal axis, ranging from negative 2 to 2 in intervals of 1. Each plot shows multiple points plotted in a tight, nearly linear pattern that rises diagonally from left to right, and a fit line rising through the center of the points. On the plot for control, the points rise from (negative 1.9, 10) to (2, 85) and the line rises from (negative 2, 9) through (2, 75). All points are near the line. On the plot for treatment, the points rise from (negative 1.9, 29) to (2, 75) and the line rises from (negative 2, 32) through (2, 80). All points are near the line. All values estimated."/>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099750" y="2715875"/>
            <a:ext cx="5974212" cy="22738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itchFamily="34" charset="-128"/>
              </a:rPr>
              <a:t>Two-Sample </a:t>
            </a:r>
            <a:r>
              <a:rPr lang="en-US" i="1" dirty="0">
                <a:ea typeface="ＭＳ Ｐゴシック" pitchFamily="34" charset="-128"/>
              </a:rPr>
              <a:t>t</a:t>
            </a:r>
            <a:r>
              <a:rPr lang="en-US" dirty="0">
                <a:ea typeface="ＭＳ Ｐゴシック" pitchFamily="34" charset="-128"/>
              </a:rPr>
              <a:t> Procedures</a:t>
            </a:r>
            <a:r>
              <a:rPr lang="en-US" sz="2000" dirty="0">
                <a:ea typeface="ＭＳ Ｐゴシック" pitchFamily="34" charset="-128"/>
              </a:rPr>
              <a:t> (4 of 4)</a:t>
            </a:r>
            <a:endParaRPr lang="en-US" sz="2000" dirty="0"/>
          </a:p>
        </p:txBody>
      </p:sp>
      <p:sp>
        <p:nvSpPr>
          <p:cNvPr id="6041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AE7C7CEF-E7A3-4CF8-A696-7E9DFA0F4658}" type="slidenum">
              <a:rPr lang="en-US" sz="1200">
                <a:solidFill>
                  <a:schemeClr val="accent1"/>
                </a:solidFill>
              </a:rPr>
              <a:pPr>
                <a:lnSpc>
                  <a:spcPct val="80000"/>
                </a:lnSpc>
              </a:pPr>
              <a:t>27</a:t>
            </a:fld>
            <a:endParaRPr lang="en-US" sz="1200">
              <a:solidFill>
                <a:schemeClr val="accent1"/>
              </a:solidFill>
            </a:endParaRPr>
          </a:p>
        </p:txBody>
      </p:sp>
      <p:sp>
        <p:nvSpPr>
          <p:cNvPr id="60418" name="Rectangle 12"/>
          <p:cNvSpPr>
            <a:spLocks noChangeArrowheads="1"/>
          </p:cNvSpPr>
          <p:nvPr/>
        </p:nvSpPr>
        <p:spPr bwMode="auto">
          <a:xfrm>
            <a:off x="207962" y="1228725"/>
            <a:ext cx="8711449"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sz="2000" dirty="0">
                <a:solidFill>
                  <a:srgbClr val="000000"/>
                </a:solidFill>
              </a:rPr>
              <a:t>Because the conditions are nearly satisfied, we can construct a two-sample </a:t>
            </a:r>
            <a:r>
              <a:rPr lang="en-US" sz="2000" i="1" dirty="0">
                <a:solidFill>
                  <a:srgbClr val="000000"/>
                </a:solidFill>
              </a:rPr>
              <a:t>t</a:t>
            </a:r>
            <a:r>
              <a:rPr lang="en-US" sz="2000" dirty="0">
                <a:solidFill>
                  <a:srgbClr val="000000"/>
                </a:solidFill>
              </a:rPr>
              <a:t> interval for the difference </a:t>
            </a:r>
            <a:r>
              <a:rPr lang="en-US" sz="2000" i="1" dirty="0">
                <a:solidFill>
                  <a:srgbClr val="000000"/>
                </a:solidFill>
              </a:rPr>
              <a:t>µ</a:t>
            </a:r>
            <a:r>
              <a:rPr lang="en-US" sz="2000" baseline="-25000" dirty="0">
                <a:solidFill>
                  <a:srgbClr val="000000"/>
                </a:solidFill>
              </a:rPr>
              <a:t>1</a:t>
            </a:r>
            <a:r>
              <a:rPr lang="en-US" sz="2000" i="1" dirty="0">
                <a:solidFill>
                  <a:srgbClr val="000000"/>
                </a:solidFill>
              </a:rPr>
              <a:t> – µ</a:t>
            </a:r>
            <a:r>
              <a:rPr lang="en-US" sz="2000" baseline="-25000" dirty="0">
                <a:solidFill>
                  <a:srgbClr val="000000"/>
                </a:solidFill>
              </a:rPr>
              <a:t>2</a:t>
            </a:r>
            <a:r>
              <a:rPr lang="en-US" sz="2000" dirty="0">
                <a:solidFill>
                  <a:srgbClr val="000000"/>
                </a:solidFill>
              </a:rPr>
              <a:t>. We will </a:t>
            </a:r>
            <a:r>
              <a:rPr lang="en-US" altLang="ja-JP" sz="2000" dirty="0">
                <a:solidFill>
                  <a:srgbClr val="000000"/>
                </a:solidFill>
              </a:rPr>
              <a:t>use the conservative df = 21 </a:t>
            </a:r>
            <a:r>
              <a:rPr lang="en-US" altLang="ja-JP" sz="2000" i="1" dirty="0">
                <a:solidFill>
                  <a:srgbClr val="000000"/>
                </a:solidFill>
              </a:rPr>
              <a:t>– </a:t>
            </a:r>
            <a:r>
              <a:rPr lang="en-US" altLang="ja-JP" sz="2000" dirty="0">
                <a:solidFill>
                  <a:srgbClr val="000000"/>
                </a:solidFill>
              </a:rPr>
              <a:t>1 = 20.</a:t>
            </a:r>
            <a:endParaRPr lang="en-US" sz="2000" dirty="0"/>
          </a:p>
        </p:txBody>
      </p:sp>
      <p:grpSp>
        <p:nvGrpSpPr>
          <p:cNvPr id="10" name="Group 19" descr="already described"/>
          <p:cNvGrpSpPr>
            <a:grpSpLocks/>
          </p:cNvGrpSpPr>
          <p:nvPr/>
        </p:nvGrpSpPr>
        <p:grpSpPr bwMode="auto">
          <a:xfrm>
            <a:off x="339634" y="2693988"/>
            <a:ext cx="2490879" cy="1535112"/>
            <a:chOff x="406621" y="3586480"/>
            <a:chExt cx="2491009" cy="1534160"/>
          </a:xfrm>
        </p:grpSpPr>
        <p:sp>
          <p:nvSpPr>
            <p:cNvPr id="14" name="Rectangle 13"/>
            <p:cNvSpPr>
              <a:spLocks noChangeArrowheads="1"/>
            </p:cNvSpPr>
            <p:nvPr/>
          </p:nvSpPr>
          <p:spPr bwMode="auto">
            <a:xfrm>
              <a:off x="1575173" y="3586480"/>
              <a:ext cx="711237" cy="1534160"/>
            </a:xfrm>
            <a:prstGeom prst="rect">
              <a:avLst/>
            </a:prstGeom>
            <a:solidFill>
              <a:srgbClr val="FFFF00"/>
            </a:solidFill>
            <a:ln>
              <a:noFill/>
            </a:ln>
            <a:effectLst>
              <a:outerShdw blurRad="38100" dist="30000" dir="5400000" rotWithShape="0">
                <a:srgbClr val="808080">
                  <a:alpha val="45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defRPr/>
              </a:pPr>
              <a:endParaRPr lang="en-US" altLang="en-US">
                <a:solidFill>
                  <a:srgbClr val="FFFFFF"/>
                </a:solidFill>
              </a:endParaRPr>
            </a:p>
          </p:txBody>
        </p:sp>
        <p:sp>
          <p:nvSpPr>
            <p:cNvPr id="15" name="Rectangle 14"/>
            <p:cNvSpPr>
              <a:spLocks noChangeArrowheads="1"/>
            </p:cNvSpPr>
            <p:nvPr/>
          </p:nvSpPr>
          <p:spPr bwMode="auto">
            <a:xfrm>
              <a:off x="406621" y="4156039"/>
              <a:ext cx="2491009" cy="344274"/>
            </a:xfrm>
            <a:prstGeom prst="rect">
              <a:avLst/>
            </a:prstGeom>
            <a:solidFill>
              <a:srgbClr val="FFFF00"/>
            </a:solidFill>
            <a:ln>
              <a:noFill/>
            </a:ln>
            <a:effectLst>
              <a:outerShdw blurRad="38100" dist="30000" dir="5400000" rotWithShape="0">
                <a:srgbClr val="808080">
                  <a:alpha val="45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defRPr/>
              </a:pPr>
              <a:endParaRPr lang="en-US" altLang="en-US">
                <a:solidFill>
                  <a:srgbClr val="FFFFFF"/>
                </a:solidFill>
              </a:endParaRPr>
            </a:p>
          </p:txBody>
        </p:sp>
      </p:grpSp>
      <p:graphicFrame>
        <p:nvGraphicFramePr>
          <p:cNvPr id="16" name="Table 15" descr="already described"/>
          <p:cNvGraphicFramePr>
            <a:graphicFrameLocks noGrp="1"/>
          </p:cNvGraphicFramePr>
          <p:nvPr>
            <p:extLst>
              <p:ext uri="{D42A27DB-BD31-4B8C-83A1-F6EECF244321}">
                <p14:modId xmlns:p14="http://schemas.microsoft.com/office/powerpoint/2010/main" val="2535381458"/>
              </p:ext>
            </p:extLst>
          </p:nvPr>
        </p:nvGraphicFramePr>
        <p:xfrm>
          <a:off x="136525" y="2344738"/>
          <a:ext cx="2792413" cy="2133600"/>
        </p:xfrm>
        <a:graphic>
          <a:graphicData uri="http://schemas.openxmlformats.org/drawingml/2006/table">
            <a:tbl>
              <a:tblPr firstRow="1"/>
              <a:tblGrid>
                <a:gridCol w="696913">
                  <a:extLst>
                    <a:ext uri="{9D8B030D-6E8A-4147-A177-3AD203B41FA5}">
                      <a16:colId xmlns:a16="http://schemas.microsoft.com/office/drawing/2014/main" xmlns="" val="20000"/>
                    </a:ext>
                  </a:extLst>
                </a:gridCol>
                <a:gridCol w="700087">
                  <a:extLst>
                    <a:ext uri="{9D8B030D-6E8A-4147-A177-3AD203B41FA5}">
                      <a16:colId xmlns:a16="http://schemas.microsoft.com/office/drawing/2014/main" xmlns="" val="20001"/>
                    </a:ext>
                  </a:extLst>
                </a:gridCol>
                <a:gridCol w="698500">
                  <a:extLst>
                    <a:ext uri="{9D8B030D-6E8A-4147-A177-3AD203B41FA5}">
                      <a16:colId xmlns:a16="http://schemas.microsoft.com/office/drawing/2014/main" xmlns="" val="20002"/>
                    </a:ext>
                  </a:extLst>
                </a:gridCol>
                <a:gridCol w="696913">
                  <a:extLst>
                    <a:ext uri="{9D8B030D-6E8A-4147-A177-3AD203B41FA5}">
                      <a16:colId xmlns:a16="http://schemas.microsoft.com/office/drawing/2014/main" xmlns="" val="20003"/>
                    </a:ext>
                  </a:extLst>
                </a:gridCol>
              </a:tblGrid>
              <a:tr h="304800">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   Upper-tail probability </a:t>
                      </a:r>
                      <a:r>
                        <a:rPr kumimoji="0" lang="en-US" altLang="en-US" sz="1400" b="1" i="1" u="none" strike="noStrike" cap="none" normalizeH="0" baseline="0" dirty="0">
                          <a:ln>
                            <a:noFill/>
                          </a:ln>
                          <a:solidFill>
                            <a:schemeClr val="tx1"/>
                          </a:solidFill>
                          <a:effectLst/>
                          <a:latin typeface="Arial" pitchFamily="34" charset="0"/>
                          <a:ea typeface="ＭＳ Ｐゴシック" pitchFamily="34" charset="-128"/>
                        </a:rPr>
                        <a:t>p</a:t>
                      </a:r>
                    </a:p>
                  </a:txBody>
                  <a:tcPr marL="91478" marR="91478" horzOverflow="overflow">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df</a:t>
                      </a:r>
                    </a:p>
                  </a:txBody>
                  <a:tcPr marL="91478" marR="9147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0.05</a:t>
                      </a:r>
                    </a:p>
                  </a:txBody>
                  <a:tcPr marL="91478" marR="9147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0.025</a:t>
                      </a:r>
                    </a:p>
                  </a:txBody>
                  <a:tcPr marL="91478" marR="9147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Arial" pitchFamily="34" charset="0"/>
                          <a:ea typeface="ＭＳ Ｐゴシック" pitchFamily="34" charset="-128"/>
                        </a:rPr>
                        <a:t>.02</a:t>
                      </a:r>
                    </a:p>
                  </a:txBody>
                  <a:tcPr marL="91478" marR="91478"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1"/>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Arial" pitchFamily="34" charset="0"/>
                          <a:ea typeface="ＭＳ Ｐゴシック" pitchFamily="34" charset="-128"/>
                        </a:rPr>
                        <a:t>19</a:t>
                      </a:r>
                    </a:p>
                  </a:txBody>
                  <a:tcPr marL="91478" marR="9147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1.729</a:t>
                      </a:r>
                    </a:p>
                  </a:txBody>
                  <a:tcPr marL="91478" marR="9147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2.093</a:t>
                      </a:r>
                    </a:p>
                  </a:txBody>
                  <a:tcPr marL="91478" marR="9147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2.205</a:t>
                      </a:r>
                    </a:p>
                  </a:txBody>
                  <a:tcPr marL="91478" marR="91478"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2"/>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Arial" pitchFamily="34" charset="0"/>
                          <a:ea typeface="ＭＳ Ｐゴシック" pitchFamily="34" charset="-128"/>
                        </a:rPr>
                        <a:t>20</a:t>
                      </a:r>
                    </a:p>
                  </a:txBody>
                  <a:tcPr marL="91478" marR="9147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1.725</a:t>
                      </a:r>
                    </a:p>
                  </a:txBody>
                  <a:tcPr marL="91478" marR="9147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2.086</a:t>
                      </a:r>
                    </a:p>
                  </a:txBody>
                  <a:tcPr marL="91478" marR="9147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2.197</a:t>
                      </a:r>
                    </a:p>
                  </a:txBody>
                  <a:tcPr marL="91478" marR="91478"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3"/>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Arial" pitchFamily="34" charset="0"/>
                          <a:ea typeface="ＭＳ Ｐゴシック" pitchFamily="34" charset="-128"/>
                        </a:rPr>
                        <a:t>21</a:t>
                      </a:r>
                    </a:p>
                  </a:txBody>
                  <a:tcPr marL="91478" marR="9147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1.721</a:t>
                      </a:r>
                    </a:p>
                  </a:txBody>
                  <a:tcPr marL="91478" marR="9147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2.080</a:t>
                      </a:r>
                    </a:p>
                  </a:txBody>
                  <a:tcPr marL="91478" marR="9147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2.189</a:t>
                      </a:r>
                    </a:p>
                  </a:txBody>
                  <a:tcPr marL="91478" marR="91478"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4"/>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400" b="1" i="1" u="none" strike="noStrike" cap="none" normalizeH="0" baseline="0">
                        <a:ln>
                          <a:noFill/>
                        </a:ln>
                        <a:solidFill>
                          <a:schemeClr val="tx1"/>
                        </a:solidFill>
                        <a:effectLst/>
                        <a:latin typeface="Arial" pitchFamily="34" charset="0"/>
                        <a:ea typeface="ＭＳ Ｐゴシック" pitchFamily="34" charset="-128"/>
                      </a:endParaRPr>
                    </a:p>
                  </a:txBody>
                  <a:tcPr marL="91478" marR="9147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90%</a:t>
                      </a:r>
                    </a:p>
                  </a:txBody>
                  <a:tcPr marL="91478" marR="9147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95%</a:t>
                      </a:r>
                    </a:p>
                  </a:txBody>
                  <a:tcPr marL="91478" marR="9147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96%</a:t>
                      </a:r>
                    </a:p>
                  </a:txBody>
                  <a:tcPr marL="91478" marR="91478"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5"/>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400" b="1" i="1" u="none" strike="noStrike" cap="none" normalizeH="0" baseline="0">
                        <a:ln>
                          <a:noFill/>
                        </a:ln>
                        <a:solidFill>
                          <a:schemeClr val="tx1"/>
                        </a:solidFill>
                        <a:effectLst/>
                        <a:latin typeface="Arial" pitchFamily="34" charset="0"/>
                        <a:ea typeface="ＭＳ Ｐゴシック" pitchFamily="34" charset="-128"/>
                      </a:endParaRPr>
                    </a:p>
                  </a:txBody>
                  <a:tcPr marL="91478" marR="91478" horzOverflow="overflow">
                    <a:lnL>
                      <a:noFill/>
                    </a:lnL>
                    <a:lnR>
                      <a:noFill/>
                    </a:lnR>
                    <a:lnT>
                      <a:noFill/>
                    </a:lnT>
                    <a:lnB>
                      <a:noFill/>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Confidence level </a:t>
                      </a:r>
                      <a:r>
                        <a:rPr kumimoji="0" lang="en-US" altLang="en-US" sz="1400" b="1" i="1" u="none" strike="noStrike" cap="none" normalizeH="0" baseline="0" dirty="0">
                          <a:ln>
                            <a:noFill/>
                          </a:ln>
                          <a:solidFill>
                            <a:schemeClr val="tx1"/>
                          </a:solidFill>
                          <a:effectLst/>
                          <a:latin typeface="Arial" pitchFamily="34" charset="0"/>
                          <a:ea typeface="ＭＳ Ｐゴシック" pitchFamily="34" charset="-128"/>
                        </a:rPr>
                        <a:t>C</a:t>
                      </a:r>
                      <a:endParaRPr kumimoji="0" lang="en-US" altLang="en-US" sz="1400" b="1" i="0" u="none" strike="noStrike" cap="none" normalizeH="0" baseline="0" dirty="0">
                        <a:ln>
                          <a:noFill/>
                        </a:ln>
                        <a:solidFill>
                          <a:schemeClr val="tx1"/>
                        </a:solidFill>
                        <a:effectLst/>
                        <a:latin typeface="Arial" pitchFamily="34" charset="0"/>
                        <a:ea typeface="ＭＳ Ｐゴシック" pitchFamily="34" charset="-128"/>
                      </a:endParaRPr>
                    </a:p>
                  </a:txBody>
                  <a:tcPr marL="91478" marR="91478" horzOverflow="overflow">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6"/>
                  </a:ext>
                </a:extLst>
              </a:tr>
            </a:tbl>
          </a:graphicData>
        </a:graphic>
      </p:graphicFrame>
      <p:sp>
        <p:nvSpPr>
          <p:cNvPr id="12" name="Curved Down Arrow 11" descr="already described"/>
          <p:cNvSpPr>
            <a:spLocks noChangeArrowheads="1"/>
          </p:cNvSpPr>
          <p:nvPr/>
        </p:nvSpPr>
        <p:spPr bwMode="auto">
          <a:xfrm>
            <a:off x="1893887" y="2563499"/>
            <a:ext cx="5018087" cy="731838"/>
          </a:xfrm>
          <a:prstGeom prst="curvedDownArrow">
            <a:avLst>
              <a:gd name="adj1" fmla="val 25015"/>
              <a:gd name="adj2" fmla="val 49966"/>
              <a:gd name="adj3" fmla="val 25000"/>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endParaRPr lang="en-US" altLang="en-US"/>
          </a:p>
        </p:txBody>
      </p:sp>
      <p:graphicFrame>
        <p:nvGraphicFramePr>
          <p:cNvPr id="9" name="Object 2" descr="already described"/>
          <p:cNvGraphicFramePr>
            <a:graphicFrameLocks noChangeAspect="1"/>
          </p:cNvGraphicFramePr>
          <p:nvPr>
            <p:extLst>
              <p:ext uri="{D42A27DB-BD31-4B8C-83A1-F6EECF244321}">
                <p14:modId xmlns:p14="http://schemas.microsoft.com/office/powerpoint/2010/main" val="2449042699"/>
              </p:ext>
            </p:extLst>
          </p:nvPr>
        </p:nvGraphicFramePr>
        <p:xfrm>
          <a:off x="2928938" y="3022600"/>
          <a:ext cx="5808662" cy="1033463"/>
        </p:xfrm>
        <a:graphic>
          <a:graphicData uri="http://schemas.openxmlformats.org/presentationml/2006/ole">
            <mc:AlternateContent xmlns:mc="http://schemas.openxmlformats.org/markup-compatibility/2006">
              <mc:Choice xmlns:v="urn:schemas-microsoft-com:vml" Requires="v">
                <p:oleObj spid="_x0000_s5127" name="Equation" r:id="rId4" imgW="3975100" imgH="711200" progId="Equation.3">
                  <p:embed/>
                </p:oleObj>
              </mc:Choice>
              <mc:Fallback>
                <p:oleObj name="Equation" r:id="rId4" imgW="3975100" imgH="71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938" y="3022600"/>
                        <a:ext cx="5808662" cy="1033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 name="Rectangle 12"/>
          <p:cNvSpPr>
            <a:spLocks noChangeArrowheads="1"/>
          </p:cNvSpPr>
          <p:nvPr/>
        </p:nvSpPr>
        <p:spPr bwMode="auto">
          <a:xfrm>
            <a:off x="207961" y="4748213"/>
            <a:ext cx="8711449" cy="646112"/>
          </a:xfrm>
          <a:prstGeom prst="rect">
            <a:avLst/>
          </a:prstGeom>
          <a:solidFill>
            <a:srgbClr val="8590B1"/>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p>
            <a:pPr eaLnBrk="1" hangingPunct="1">
              <a:defRPr/>
            </a:pPr>
            <a:r>
              <a:rPr lang="en-US" dirty="0">
                <a:solidFill>
                  <a:srgbClr val="000000"/>
                </a:solidFill>
                <a:latin typeface="Arial" charset="0"/>
                <a:ea typeface="ＭＳ Ｐゴシック" charset="0"/>
                <a:cs typeface="Arial" charset="0"/>
              </a:rPr>
              <a:t>We are 95% confident that the interval from 1.0 to 18.9 captures the true difference in the DRP means for the two groups.</a:t>
            </a:r>
          </a:p>
        </p:txBody>
      </p:sp>
    </p:spTree>
    <p:extLst>
      <p:ext uri="{BB962C8B-B14F-4D97-AF65-F5344CB8AC3E}">
        <p14:creationId xmlns:p14="http://schemas.microsoft.com/office/powerpoint/2010/main" val="357321525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childTnLst>
                                </p:cTn>
                              </p:par>
                              <p:par>
                                <p:cTn id="18" presetID="10" presetClass="entr" presetSubtype="0" fill="hold" nodeType="withEffect">
                                  <p:stCondLst>
                                    <p:cond delay="100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en-US" dirty="0">
                <a:ea typeface="ＭＳ Ｐゴシック" pitchFamily="34" charset="-128"/>
              </a:rPr>
              <a:t>Two-Sample </a:t>
            </a:r>
            <a:r>
              <a:rPr lang="en-US" i="1" dirty="0">
                <a:ea typeface="ＭＳ Ｐゴシック" pitchFamily="34" charset="-128"/>
              </a:rPr>
              <a:t>t</a:t>
            </a:r>
            <a:r>
              <a:rPr lang="en-US" dirty="0">
                <a:ea typeface="ＭＳ Ｐゴシック" pitchFamily="34" charset="-128"/>
              </a:rPr>
              <a:t> Test</a:t>
            </a:r>
            <a:r>
              <a:rPr lang="en-US" sz="2000" dirty="0">
                <a:ea typeface="ＭＳ Ｐゴシック" pitchFamily="34" charset="-128"/>
              </a:rPr>
              <a:t> (1 of 2)</a:t>
            </a:r>
          </a:p>
        </p:txBody>
      </p:sp>
      <p:sp>
        <p:nvSpPr>
          <p:cNvPr id="6246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28812745-1861-4B61-A8CC-A0F9B7C26962}" type="slidenum">
              <a:rPr lang="en-US" sz="1200">
                <a:solidFill>
                  <a:schemeClr val="accent1"/>
                </a:solidFill>
              </a:rPr>
              <a:pPr>
                <a:lnSpc>
                  <a:spcPct val="80000"/>
                </a:lnSpc>
              </a:pPr>
              <a:t>28</a:t>
            </a:fld>
            <a:endParaRPr lang="en-US" sz="1200">
              <a:solidFill>
                <a:schemeClr val="accent1"/>
              </a:solidFill>
            </a:endParaRPr>
          </a:p>
        </p:txBody>
      </p:sp>
      <p:grpSp>
        <p:nvGrpSpPr>
          <p:cNvPr id="62467" name="Group 9" descr="Two-Sample t Test for the Difference Between Two Means"/>
          <p:cNvGrpSpPr>
            <a:grpSpLocks/>
          </p:cNvGrpSpPr>
          <p:nvPr/>
        </p:nvGrpSpPr>
        <p:grpSpPr bwMode="auto">
          <a:xfrm>
            <a:off x="525462" y="1126766"/>
            <a:ext cx="7908925" cy="4404012"/>
            <a:chOff x="497526" y="3057027"/>
            <a:chExt cx="7843838" cy="2281031"/>
          </a:xfrm>
        </p:grpSpPr>
        <p:sp>
          <p:nvSpPr>
            <p:cNvPr id="13" name="TextBox 12"/>
            <p:cNvSpPr txBox="1">
              <a:spLocks noChangeArrowheads="1"/>
            </p:cNvSpPr>
            <p:nvPr/>
          </p:nvSpPr>
          <p:spPr bwMode="auto">
            <a:xfrm>
              <a:off x="887985" y="3057027"/>
              <a:ext cx="7062918" cy="191293"/>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b="1" dirty="0">
                  <a:highlight>
                    <a:srgbClr val="FFFF00"/>
                  </a:highlight>
                  <a:latin typeface="+mn-lt"/>
                  <a:ea typeface="ＭＳ Ｐゴシック" pitchFamily="-111" charset="-128"/>
                  <a:cs typeface="ＭＳ Ｐゴシック" pitchFamily="-111" charset="-128"/>
                </a:rPr>
                <a:t>Two-Sample </a:t>
              </a:r>
              <a:r>
                <a:rPr lang="en-US" b="1" i="1" dirty="0">
                  <a:highlight>
                    <a:srgbClr val="FFFF00"/>
                  </a:highlight>
                  <a:latin typeface="+mn-lt"/>
                  <a:ea typeface="ＭＳ Ｐゴシック" pitchFamily="-111" charset="-128"/>
                  <a:cs typeface="ＭＳ Ｐゴシック" pitchFamily="-111" charset="-128"/>
                </a:rPr>
                <a:t>t </a:t>
              </a:r>
              <a:r>
                <a:rPr lang="en-US" b="1" dirty="0">
                  <a:highlight>
                    <a:srgbClr val="FFFF00"/>
                  </a:highlight>
                  <a:latin typeface="+mn-lt"/>
                  <a:ea typeface="ＭＳ Ｐゴシック" pitchFamily="-111" charset="-128"/>
                  <a:cs typeface="ＭＳ Ｐゴシック" pitchFamily="-111" charset="-128"/>
                </a:rPr>
                <a:t>Test for the Difference between Two Means</a:t>
              </a:r>
            </a:p>
          </p:txBody>
        </p:sp>
        <mc:AlternateContent xmlns:mc="http://schemas.openxmlformats.org/markup-compatibility/2006" xmlns:a14="http://schemas.microsoft.com/office/drawing/2010/main">
          <mc:Choice Requires="a14">
            <p:sp>
              <p:nvSpPr>
                <p:cNvPr id="12" name="TextBox 11"/>
                <p:cNvSpPr txBox="1">
                  <a:spLocks noChangeArrowheads="1"/>
                </p:cNvSpPr>
                <p:nvPr/>
              </p:nvSpPr>
              <p:spPr bwMode="auto">
                <a:xfrm>
                  <a:off x="497526" y="3284247"/>
                  <a:ext cx="7843838" cy="2053811"/>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lIns="365760" tIns="274320" rIns="365760">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defRPr/>
                  </a:pPr>
                  <a:r>
                    <a:rPr lang="en-US" altLang="en-US" sz="1800" dirty="0">
                      <a:solidFill>
                        <a:srgbClr val="000000"/>
                      </a:solidFill>
                    </a:rPr>
                    <a:t>Suppose the random, Normal, and independent conditions are met. To test the hypothesis </a:t>
                  </a:r>
                  <a14:m>
                    <m:oMath xmlns:m="http://schemas.openxmlformats.org/officeDocument/2006/math">
                      <m:sSub>
                        <m:sSubPr>
                          <m:ctrlPr>
                            <a:rPr lang="en-US" altLang="en-US" sz="180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rPr>
                            <m:t>𝐻</m:t>
                          </m:r>
                        </m:e>
                        <m:sub>
                          <m:r>
                            <a:rPr lang="en-US" altLang="en-US" sz="1800" b="0" i="1" smtClean="0">
                              <a:solidFill>
                                <a:srgbClr val="000000"/>
                              </a:solidFill>
                              <a:latin typeface="Cambria Math"/>
                            </a:rPr>
                            <m:t>0</m:t>
                          </m:r>
                        </m:sub>
                      </m:sSub>
                      <m:r>
                        <a:rPr lang="en-US" altLang="en-US" sz="1800" b="0" i="1" smtClean="0">
                          <a:solidFill>
                            <a:srgbClr val="000000"/>
                          </a:solidFill>
                          <a:latin typeface="Cambria Math"/>
                        </a:rPr>
                        <m:t>: </m:t>
                      </m:r>
                      <m:sSub>
                        <m:sSubPr>
                          <m:ctrlPr>
                            <a:rPr lang="en-US" altLang="en-US" sz="1800" b="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ea typeface="Cambria Math"/>
                            </a:rPr>
                            <m:t>𝜇</m:t>
                          </m:r>
                        </m:e>
                        <m:sub>
                          <m:r>
                            <a:rPr lang="en-US" altLang="en-US" sz="1800" b="0" i="1" smtClean="0">
                              <a:solidFill>
                                <a:srgbClr val="000000"/>
                              </a:solidFill>
                              <a:latin typeface="Cambria Math"/>
                            </a:rPr>
                            <m:t>1</m:t>
                          </m:r>
                        </m:sub>
                      </m:sSub>
                      <m:r>
                        <a:rPr lang="en-US" altLang="en-US" sz="1800" b="0" i="1" smtClean="0">
                          <a:solidFill>
                            <a:srgbClr val="000000"/>
                          </a:solidFill>
                          <a:latin typeface="Cambria Math"/>
                        </a:rPr>
                        <m:t>−</m:t>
                      </m:r>
                      <m:sSub>
                        <m:sSubPr>
                          <m:ctrlPr>
                            <a:rPr lang="en-US" altLang="en-US" sz="1800" b="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ea typeface="Cambria Math"/>
                            </a:rPr>
                            <m:t>𝜇</m:t>
                          </m:r>
                        </m:e>
                        <m:sub>
                          <m:r>
                            <a:rPr lang="en-US" altLang="en-US" sz="1800" b="0" i="1" smtClean="0">
                              <a:solidFill>
                                <a:srgbClr val="000000"/>
                              </a:solidFill>
                              <a:latin typeface="Cambria Math"/>
                            </a:rPr>
                            <m:t>2</m:t>
                          </m:r>
                        </m:sub>
                      </m:sSub>
                      <m:r>
                        <a:rPr lang="en-US" altLang="en-US" sz="1800" b="0" i="1" smtClean="0">
                          <a:solidFill>
                            <a:srgbClr val="000000"/>
                          </a:solidFill>
                          <a:latin typeface="Cambria Math"/>
                        </a:rPr>
                        <m:t>=0</m:t>
                      </m:r>
                    </m:oMath>
                  </a14:m>
                  <a:r>
                    <a:rPr lang="en-US" altLang="en-US" sz="1800" dirty="0">
                      <a:solidFill>
                        <a:srgbClr val="000000"/>
                      </a:solidFill>
                    </a:rPr>
                    <a:t>, compute the </a:t>
                  </a:r>
                  <a:r>
                    <a:rPr lang="en-US" altLang="en-US" sz="1800" i="1" dirty="0">
                      <a:solidFill>
                        <a:srgbClr val="000000"/>
                      </a:solidFill>
                    </a:rPr>
                    <a:t>t</a:t>
                  </a:r>
                  <a:r>
                    <a:rPr lang="en-US" altLang="en-US" sz="1800" dirty="0">
                      <a:solidFill>
                        <a:srgbClr val="000000"/>
                      </a:solidFill>
                    </a:rPr>
                    <a:t> statistic</a:t>
                  </a:r>
                </a:p>
                <a:p>
                  <a:pPr algn="just" eaLnBrk="1" hangingPunct="1">
                    <a:defRPr/>
                  </a:pPr>
                  <a:endParaRPr lang="en-US" altLang="en-US" sz="1800" dirty="0">
                    <a:solidFill>
                      <a:srgbClr val="000000"/>
                    </a:solidFill>
                  </a:endParaRPr>
                </a:p>
                <a:p>
                  <a:pPr algn="just" eaLnBrk="1" hangingPunct="1">
                    <a:defRPr/>
                  </a:pPr>
                  <a14:m>
                    <m:oMathPara xmlns:m="http://schemas.openxmlformats.org/officeDocument/2006/math">
                      <m:oMathParaPr>
                        <m:jc m:val="centerGroup"/>
                      </m:oMathParaPr>
                      <m:oMath xmlns:m="http://schemas.openxmlformats.org/officeDocument/2006/math">
                        <m:r>
                          <a:rPr lang="en-US" altLang="en-US" sz="1800" b="0" i="1" smtClean="0">
                            <a:solidFill>
                              <a:srgbClr val="000000"/>
                            </a:solidFill>
                            <a:latin typeface="Cambria Math"/>
                          </a:rPr>
                          <m:t>𝑡</m:t>
                        </m:r>
                        <m:r>
                          <a:rPr lang="en-US" altLang="en-US" sz="1800" b="0" i="1" smtClean="0">
                            <a:solidFill>
                              <a:srgbClr val="000000"/>
                            </a:solidFill>
                            <a:latin typeface="Cambria Math"/>
                          </a:rPr>
                          <m:t>=</m:t>
                        </m:r>
                        <m:f>
                          <m:fPr>
                            <m:ctrlPr>
                              <a:rPr lang="en-US" altLang="en-US" sz="1800" b="0" i="1" smtClean="0">
                                <a:solidFill>
                                  <a:srgbClr val="000000"/>
                                </a:solidFill>
                                <a:latin typeface="Cambria Math" panose="02040503050406030204" pitchFamily="18" charset="0"/>
                              </a:rPr>
                            </m:ctrlPr>
                          </m:fPr>
                          <m:num>
                            <m:r>
                              <a:rPr lang="en-US" altLang="en-US" sz="1800" b="0" i="1" smtClean="0">
                                <a:solidFill>
                                  <a:srgbClr val="000000"/>
                                </a:solidFill>
                                <a:latin typeface="Cambria Math"/>
                              </a:rPr>
                              <m:t>(</m:t>
                            </m:r>
                            <m:acc>
                              <m:accPr>
                                <m:chr m:val="̅"/>
                                <m:ctrlPr>
                                  <a:rPr lang="en-US" altLang="en-US" sz="1800" b="0" i="1" smtClean="0">
                                    <a:solidFill>
                                      <a:srgbClr val="000000"/>
                                    </a:solidFill>
                                    <a:latin typeface="Cambria Math" panose="02040503050406030204" pitchFamily="18" charset="0"/>
                                  </a:rPr>
                                </m:ctrlPr>
                              </m:accPr>
                              <m:e>
                                <m:sSub>
                                  <m:sSubPr>
                                    <m:ctrlPr>
                                      <a:rPr lang="en-US" altLang="en-US" sz="1800" b="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rPr>
                                      <m:t>𝑥</m:t>
                                    </m:r>
                                  </m:e>
                                  <m:sub>
                                    <m:r>
                                      <a:rPr lang="en-US" altLang="en-US" sz="1800" b="0" i="1" smtClean="0">
                                        <a:solidFill>
                                          <a:srgbClr val="000000"/>
                                        </a:solidFill>
                                        <a:latin typeface="Cambria Math"/>
                                      </a:rPr>
                                      <m:t>1</m:t>
                                    </m:r>
                                  </m:sub>
                                </m:sSub>
                              </m:e>
                            </m:acc>
                            <m:r>
                              <a:rPr lang="en-US" altLang="en-US" sz="1800" b="0" i="1" smtClean="0">
                                <a:solidFill>
                                  <a:srgbClr val="000000"/>
                                </a:solidFill>
                                <a:latin typeface="Cambria Math"/>
                              </a:rPr>
                              <m:t>−</m:t>
                            </m:r>
                            <m:acc>
                              <m:accPr>
                                <m:chr m:val="̅"/>
                                <m:ctrlPr>
                                  <a:rPr lang="en-US" altLang="en-US" sz="1800" b="0" i="1" smtClean="0">
                                    <a:solidFill>
                                      <a:srgbClr val="000000"/>
                                    </a:solidFill>
                                    <a:latin typeface="Cambria Math" panose="02040503050406030204" pitchFamily="18" charset="0"/>
                                  </a:rPr>
                                </m:ctrlPr>
                              </m:accPr>
                              <m:e>
                                <m:sSub>
                                  <m:sSubPr>
                                    <m:ctrlPr>
                                      <a:rPr lang="en-US" altLang="en-US" sz="1800" b="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rPr>
                                      <m:t>𝑥</m:t>
                                    </m:r>
                                  </m:e>
                                  <m:sub>
                                    <m:r>
                                      <a:rPr lang="en-US" altLang="en-US" sz="1800" b="0" i="1" smtClean="0">
                                        <a:solidFill>
                                          <a:srgbClr val="000000"/>
                                        </a:solidFill>
                                        <a:latin typeface="Cambria Math"/>
                                      </a:rPr>
                                      <m:t>2</m:t>
                                    </m:r>
                                  </m:sub>
                                </m:sSub>
                              </m:e>
                            </m:acc>
                            <m:r>
                              <a:rPr lang="en-US" altLang="en-US" sz="1800" b="0" i="1" smtClean="0">
                                <a:solidFill>
                                  <a:srgbClr val="000000"/>
                                </a:solidFill>
                                <a:latin typeface="Cambria Math"/>
                              </a:rPr>
                              <m:t>)</m:t>
                            </m:r>
                          </m:num>
                          <m:den>
                            <m:rad>
                              <m:radPr>
                                <m:degHide m:val="on"/>
                                <m:ctrlPr>
                                  <a:rPr lang="en-US" altLang="en-US" sz="1800" b="0" i="1" smtClean="0">
                                    <a:solidFill>
                                      <a:srgbClr val="000000"/>
                                    </a:solidFill>
                                    <a:latin typeface="Cambria Math" panose="02040503050406030204" pitchFamily="18" charset="0"/>
                                  </a:rPr>
                                </m:ctrlPr>
                              </m:radPr>
                              <m:deg/>
                              <m:e>
                                <m:f>
                                  <m:fPr>
                                    <m:ctrlPr>
                                      <a:rPr lang="en-US" altLang="en-US" sz="1800" b="0" i="1" smtClean="0">
                                        <a:solidFill>
                                          <a:srgbClr val="000000"/>
                                        </a:solidFill>
                                        <a:latin typeface="Cambria Math" panose="02040503050406030204" pitchFamily="18" charset="0"/>
                                      </a:rPr>
                                    </m:ctrlPr>
                                  </m:fPr>
                                  <m:num>
                                    <m:sSup>
                                      <m:sSupPr>
                                        <m:ctrlPr>
                                          <a:rPr lang="en-US" altLang="en-US" sz="1800" b="0" i="1" smtClean="0">
                                            <a:solidFill>
                                              <a:srgbClr val="000000"/>
                                            </a:solidFill>
                                            <a:latin typeface="Cambria Math" panose="02040503050406030204" pitchFamily="18" charset="0"/>
                                          </a:rPr>
                                        </m:ctrlPr>
                                      </m:sSupPr>
                                      <m:e>
                                        <m:sSub>
                                          <m:sSubPr>
                                            <m:ctrlPr>
                                              <a:rPr lang="en-US" altLang="en-US" sz="1800" b="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rPr>
                                              <m:t>𝑠</m:t>
                                            </m:r>
                                          </m:e>
                                          <m:sub>
                                            <m:r>
                                              <a:rPr lang="en-US" altLang="en-US" sz="1800" b="0" i="1" smtClean="0">
                                                <a:solidFill>
                                                  <a:srgbClr val="000000"/>
                                                </a:solidFill>
                                                <a:latin typeface="Cambria Math"/>
                                              </a:rPr>
                                              <m:t>1</m:t>
                                            </m:r>
                                          </m:sub>
                                        </m:sSub>
                                      </m:e>
                                      <m:sup>
                                        <m:r>
                                          <a:rPr lang="en-US" altLang="en-US" sz="1800" b="0" i="1" smtClean="0">
                                            <a:solidFill>
                                              <a:srgbClr val="000000"/>
                                            </a:solidFill>
                                            <a:latin typeface="Cambria Math"/>
                                          </a:rPr>
                                          <m:t>2</m:t>
                                        </m:r>
                                      </m:sup>
                                    </m:sSup>
                                  </m:num>
                                  <m:den>
                                    <m:sSub>
                                      <m:sSubPr>
                                        <m:ctrlPr>
                                          <a:rPr lang="en-US" altLang="en-US" sz="1800" b="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rPr>
                                          <m:t>𝑛</m:t>
                                        </m:r>
                                      </m:e>
                                      <m:sub>
                                        <m:r>
                                          <a:rPr lang="en-US" altLang="en-US" sz="1800" b="0" i="1" smtClean="0">
                                            <a:solidFill>
                                              <a:srgbClr val="000000"/>
                                            </a:solidFill>
                                            <a:latin typeface="Cambria Math"/>
                                          </a:rPr>
                                          <m:t>1</m:t>
                                        </m:r>
                                      </m:sub>
                                    </m:sSub>
                                  </m:den>
                                </m:f>
                                <m:r>
                                  <a:rPr lang="en-US" altLang="en-US" sz="1800" b="0" i="1" smtClean="0">
                                    <a:solidFill>
                                      <a:srgbClr val="000000"/>
                                    </a:solidFill>
                                    <a:latin typeface="Cambria Math"/>
                                  </a:rPr>
                                  <m:t>+</m:t>
                                </m:r>
                                <m:f>
                                  <m:fPr>
                                    <m:ctrlPr>
                                      <a:rPr lang="en-US" altLang="en-US" sz="1800" b="0" i="1" smtClean="0">
                                        <a:solidFill>
                                          <a:srgbClr val="000000"/>
                                        </a:solidFill>
                                        <a:latin typeface="Cambria Math" panose="02040503050406030204" pitchFamily="18" charset="0"/>
                                      </a:rPr>
                                    </m:ctrlPr>
                                  </m:fPr>
                                  <m:num>
                                    <m:sSup>
                                      <m:sSupPr>
                                        <m:ctrlPr>
                                          <a:rPr lang="en-US" altLang="en-US" sz="1800" b="0" i="1" smtClean="0">
                                            <a:solidFill>
                                              <a:srgbClr val="000000"/>
                                            </a:solidFill>
                                            <a:latin typeface="Cambria Math" panose="02040503050406030204" pitchFamily="18" charset="0"/>
                                          </a:rPr>
                                        </m:ctrlPr>
                                      </m:sSupPr>
                                      <m:e>
                                        <m:sSub>
                                          <m:sSubPr>
                                            <m:ctrlPr>
                                              <a:rPr lang="en-US" altLang="en-US" sz="1800" b="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rPr>
                                              <m:t>𝑠</m:t>
                                            </m:r>
                                          </m:e>
                                          <m:sub>
                                            <m:r>
                                              <a:rPr lang="en-US" altLang="en-US" sz="1800" b="0" i="1" smtClean="0">
                                                <a:solidFill>
                                                  <a:srgbClr val="000000"/>
                                                </a:solidFill>
                                                <a:latin typeface="Cambria Math"/>
                                              </a:rPr>
                                              <m:t>2</m:t>
                                            </m:r>
                                          </m:sub>
                                        </m:sSub>
                                      </m:e>
                                      <m:sup>
                                        <m:r>
                                          <a:rPr lang="en-US" altLang="en-US" sz="1800" b="0" i="1" smtClean="0">
                                            <a:solidFill>
                                              <a:srgbClr val="000000"/>
                                            </a:solidFill>
                                            <a:latin typeface="Cambria Math"/>
                                          </a:rPr>
                                          <m:t>2</m:t>
                                        </m:r>
                                      </m:sup>
                                    </m:sSup>
                                  </m:num>
                                  <m:den>
                                    <m:sSub>
                                      <m:sSubPr>
                                        <m:ctrlPr>
                                          <a:rPr lang="en-US" altLang="en-US" sz="1800" b="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rPr>
                                          <m:t>𝑛</m:t>
                                        </m:r>
                                      </m:e>
                                      <m:sub>
                                        <m:r>
                                          <a:rPr lang="en-US" altLang="en-US" sz="1800" b="0" i="1" smtClean="0">
                                            <a:solidFill>
                                              <a:srgbClr val="000000"/>
                                            </a:solidFill>
                                            <a:latin typeface="Cambria Math"/>
                                          </a:rPr>
                                          <m:t>2</m:t>
                                        </m:r>
                                      </m:sub>
                                    </m:sSub>
                                  </m:den>
                                </m:f>
                              </m:e>
                            </m:rad>
                          </m:den>
                        </m:f>
                      </m:oMath>
                    </m:oMathPara>
                  </a14:m>
                  <a:endParaRPr lang="en-US" altLang="en-US" sz="1800" dirty="0">
                    <a:solidFill>
                      <a:srgbClr val="000000"/>
                    </a:solidFill>
                  </a:endParaRPr>
                </a:p>
                <a:p>
                  <a:pPr algn="just" eaLnBrk="1" hangingPunct="1">
                    <a:defRPr/>
                  </a:pPr>
                  <a:endParaRPr lang="en-US" altLang="en-US" sz="1800" dirty="0">
                    <a:solidFill>
                      <a:srgbClr val="000000"/>
                    </a:solidFill>
                  </a:endParaRPr>
                </a:p>
                <a:p>
                  <a:pPr algn="just" eaLnBrk="1" hangingPunct="1">
                    <a:defRPr/>
                  </a:pPr>
                  <a:r>
                    <a:rPr lang="en-US" altLang="en-US" sz="1800" dirty="0">
                      <a:solidFill>
                        <a:srgbClr val="000000"/>
                      </a:solidFill>
                    </a:rPr>
                    <a:t>Find the </a:t>
                  </a:r>
                  <a:r>
                    <a:rPr lang="en-US" altLang="en-US" sz="1800" i="1" dirty="0">
                      <a:solidFill>
                        <a:srgbClr val="000000"/>
                      </a:solidFill>
                    </a:rPr>
                    <a:t>P</a:t>
                  </a:r>
                  <a:r>
                    <a:rPr lang="en-US" altLang="en-US" sz="1800" dirty="0">
                      <a:solidFill>
                        <a:srgbClr val="000000"/>
                      </a:solidFill>
                    </a:rPr>
                    <a:t>-value by calculating the probability of getting a </a:t>
                  </a:r>
                  <a:r>
                    <a:rPr lang="en-US" altLang="en-US" sz="1800" i="1" dirty="0">
                      <a:solidFill>
                        <a:srgbClr val="000000"/>
                      </a:solidFill>
                    </a:rPr>
                    <a:t>t</a:t>
                  </a:r>
                  <a:r>
                    <a:rPr lang="en-US" altLang="en-US" sz="1800" dirty="0">
                      <a:solidFill>
                        <a:srgbClr val="000000"/>
                      </a:solidFill>
                    </a:rPr>
                    <a:t> statistic this large or larger in the direction specified by the alternative hypothesis </a:t>
                  </a:r>
                  <a14:m>
                    <m:oMath xmlns:m="http://schemas.openxmlformats.org/officeDocument/2006/math">
                      <m:sSub>
                        <m:sSubPr>
                          <m:ctrlPr>
                            <a:rPr lang="en-US" altLang="en-US" sz="180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rPr>
                            <m:t>𝐻</m:t>
                          </m:r>
                        </m:e>
                        <m:sub>
                          <m:r>
                            <a:rPr lang="en-US" altLang="en-US" sz="1800" b="0" i="1" smtClean="0">
                              <a:solidFill>
                                <a:srgbClr val="000000"/>
                              </a:solidFill>
                              <a:latin typeface="Cambria Math"/>
                            </a:rPr>
                            <m:t>𝑎</m:t>
                          </m:r>
                        </m:sub>
                      </m:sSub>
                    </m:oMath>
                  </a14:m>
                  <a:r>
                    <a:rPr lang="en-US" altLang="en-US" sz="1800" dirty="0">
                      <a:solidFill>
                        <a:srgbClr val="000000"/>
                      </a:solidFill>
                    </a:rPr>
                    <a:t>. Use the </a:t>
                  </a:r>
                  <a:r>
                    <a:rPr lang="en-US" altLang="en-US" sz="1800" i="1" dirty="0">
                      <a:solidFill>
                        <a:srgbClr val="000000"/>
                      </a:solidFill>
                    </a:rPr>
                    <a:t>t</a:t>
                  </a:r>
                  <a:r>
                    <a:rPr lang="en-US" altLang="en-US" sz="1800" dirty="0">
                      <a:solidFill>
                        <a:srgbClr val="000000"/>
                      </a:solidFill>
                    </a:rPr>
                    <a:t> distribution with degrees of freedom approximated by technology OR the smaller of </a:t>
                  </a:r>
                  <a14:m>
                    <m:oMath xmlns:m="http://schemas.openxmlformats.org/officeDocument/2006/math">
                      <m:sSub>
                        <m:sSubPr>
                          <m:ctrlPr>
                            <a:rPr lang="en-US" altLang="en-US" sz="180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rPr>
                            <m:t>𝑛</m:t>
                          </m:r>
                        </m:e>
                        <m:sub>
                          <m:r>
                            <a:rPr lang="en-US" altLang="en-US" sz="1800" b="0" i="1" smtClean="0">
                              <a:solidFill>
                                <a:srgbClr val="000000"/>
                              </a:solidFill>
                              <a:latin typeface="Cambria Math"/>
                            </a:rPr>
                            <m:t>1</m:t>
                          </m:r>
                        </m:sub>
                      </m:sSub>
                      <m:r>
                        <a:rPr lang="en-US" altLang="en-US" sz="1800" b="0" i="1" smtClean="0">
                          <a:solidFill>
                            <a:srgbClr val="000000"/>
                          </a:solidFill>
                          <a:latin typeface="Cambria Math"/>
                        </a:rPr>
                        <m:t>−1</m:t>
                      </m:r>
                    </m:oMath>
                  </a14:m>
                  <a:r>
                    <a:rPr lang="en-US" altLang="en-US" sz="1800" dirty="0">
                      <a:solidFill>
                        <a:srgbClr val="000000"/>
                      </a:solidFill>
                    </a:rPr>
                    <a:t> and </a:t>
                  </a:r>
                  <a14:m>
                    <m:oMath xmlns:m="http://schemas.openxmlformats.org/officeDocument/2006/math">
                      <m:sSub>
                        <m:sSubPr>
                          <m:ctrlPr>
                            <a:rPr lang="en-US" altLang="en-US" sz="1800" i="1" smtClean="0">
                              <a:solidFill>
                                <a:srgbClr val="000000"/>
                              </a:solidFill>
                              <a:latin typeface="Cambria Math" panose="02040503050406030204" pitchFamily="18" charset="0"/>
                            </a:rPr>
                          </m:ctrlPr>
                        </m:sSubPr>
                        <m:e>
                          <m:r>
                            <a:rPr lang="en-US" altLang="en-US" sz="1800" b="0" i="1" smtClean="0">
                              <a:solidFill>
                                <a:srgbClr val="000000"/>
                              </a:solidFill>
                              <a:latin typeface="Cambria Math"/>
                            </a:rPr>
                            <m:t>𝑛</m:t>
                          </m:r>
                        </m:e>
                        <m:sub>
                          <m:r>
                            <a:rPr lang="en-US" altLang="en-US" sz="1800" b="0" i="1" smtClean="0">
                              <a:solidFill>
                                <a:srgbClr val="000000"/>
                              </a:solidFill>
                              <a:latin typeface="Cambria Math"/>
                            </a:rPr>
                            <m:t>2</m:t>
                          </m:r>
                        </m:sub>
                      </m:sSub>
                      <m:r>
                        <a:rPr lang="en-US" altLang="en-US" sz="1800" b="0" i="1" smtClean="0">
                          <a:solidFill>
                            <a:srgbClr val="000000"/>
                          </a:solidFill>
                          <a:latin typeface="Cambria Math"/>
                        </a:rPr>
                        <m:t>−1</m:t>
                      </m:r>
                    </m:oMath>
                  </a14:m>
                  <a:r>
                    <a:rPr lang="en-US" altLang="en-US" sz="1800" dirty="0">
                      <a:solidFill>
                        <a:srgbClr val="000000"/>
                      </a:solidFill>
                    </a:rPr>
                    <a:t>.</a:t>
                  </a:r>
                </a:p>
                <a:p>
                  <a:pPr eaLnBrk="1" hangingPunct="1">
                    <a:defRPr/>
                  </a:pPr>
                  <a:endParaRPr lang="en-US" altLang="en-US" sz="1800" dirty="0">
                    <a:solidFill>
                      <a:srgbClr val="000000"/>
                    </a:solidFill>
                  </a:endParaRPr>
                </a:p>
                <a:p>
                  <a:pPr eaLnBrk="1" hangingPunct="1">
                    <a:defRPr/>
                  </a:pPr>
                  <a:endParaRPr lang="en-US" altLang="en-US" sz="1800" dirty="0">
                    <a:solidFill>
                      <a:srgbClr val="000000"/>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bwMode="auto">
                <a:xfrm>
                  <a:off x="497526" y="3284247"/>
                  <a:ext cx="7843838" cy="2053811"/>
                </a:xfrm>
                <a:prstGeom prst="rect">
                  <a:avLst/>
                </a:prstGeom>
                <a:blipFill>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grpSp>
      <p:pic>
        <p:nvPicPr>
          <p:cNvPr id="11" name="Picture 10" descr="The image shows graphs of Alternative hypothesis H subscript a at different conditions of mew.&#10;When 'mew one minus mew two' is greater than hypothesized value, the graph of Alternative hypothesis is a bell curve with right tail shaded. When 'mew one' minus 'mew two' is less than hypothesized value, the graph is bell curve with left tail shaded.&#10;When 'mew one' minus 'mew two' is not equal to the hypothesized value, the Alternative hypothesis graph is bell curve with both tail shaded."/>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6750" y="5068452"/>
            <a:ext cx="7589838"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393838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defTabSz="914400" eaLnBrk="1" hangingPunct="1"/>
            <a:r>
              <a:rPr lang="en-US" dirty="0">
                <a:ea typeface="ＭＳ Ｐゴシック" pitchFamily="34" charset="-128"/>
              </a:rPr>
              <a:t>Two-Sample </a:t>
            </a:r>
            <a:r>
              <a:rPr lang="en-US" i="1" dirty="0">
                <a:ea typeface="ＭＳ Ｐゴシック" pitchFamily="34" charset="-128"/>
              </a:rPr>
              <a:t>t</a:t>
            </a:r>
            <a:r>
              <a:rPr lang="en-US" dirty="0">
                <a:ea typeface="ＭＳ Ｐゴシック" pitchFamily="34" charset="-128"/>
              </a:rPr>
              <a:t> Test</a:t>
            </a:r>
            <a:r>
              <a:rPr lang="en-US" sz="2000" dirty="0">
                <a:ea typeface="ＭＳ Ｐゴシック" pitchFamily="34" charset="-128"/>
              </a:rPr>
              <a:t> (2 of 2)</a:t>
            </a:r>
            <a:endParaRPr lang="en-US" sz="2000" dirty="0"/>
          </a:p>
        </p:txBody>
      </p:sp>
      <p:sp>
        <p:nvSpPr>
          <p:cNvPr id="6451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FBF2F4E3-D6E4-48B3-9DD8-C811E5DE6ED9}" type="slidenum">
              <a:rPr lang="en-US" sz="1200">
                <a:solidFill>
                  <a:schemeClr val="accent1"/>
                </a:solidFill>
              </a:rPr>
              <a:pPr>
                <a:lnSpc>
                  <a:spcPct val="80000"/>
                </a:lnSpc>
              </a:pPr>
              <a:t>29</a:t>
            </a:fld>
            <a:endParaRPr lang="en-US" sz="1200">
              <a:solidFill>
                <a:schemeClr val="accent1"/>
              </a:solidFill>
            </a:endParaRPr>
          </a:p>
        </p:txBody>
      </p:sp>
      <p:sp>
        <p:nvSpPr>
          <p:cNvPr id="64518" name="Rectangle 7"/>
          <p:cNvSpPr>
            <a:spLocks noChangeArrowheads="1"/>
          </p:cNvSpPr>
          <p:nvPr/>
        </p:nvSpPr>
        <p:spPr bwMode="auto">
          <a:xfrm>
            <a:off x="174625" y="1179276"/>
            <a:ext cx="8358187"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Aft>
                <a:spcPts val="600"/>
              </a:spcAft>
            </a:pPr>
            <a:r>
              <a:rPr lang="en-US" sz="1400" dirty="0">
                <a:solidFill>
                  <a:srgbClr val="000000"/>
                </a:solidFill>
              </a:rPr>
              <a:t>Example:  Consider the “directed reading activities” example again. As before, the conditions are nearly met, so we will carry out a two-sample </a:t>
            </a:r>
            <a:r>
              <a:rPr lang="en-US" sz="1400" i="1" dirty="0">
                <a:solidFill>
                  <a:srgbClr val="000000"/>
                </a:solidFill>
              </a:rPr>
              <a:t>t </a:t>
            </a:r>
            <a:r>
              <a:rPr lang="en-US" sz="1400" dirty="0">
                <a:solidFill>
                  <a:srgbClr val="000000"/>
                </a:solidFill>
              </a:rPr>
              <a:t>test for </a:t>
            </a:r>
            <a:r>
              <a:rPr lang="en-US" sz="1400" i="1" dirty="0">
                <a:solidFill>
                  <a:srgbClr val="000000"/>
                </a:solidFill>
              </a:rPr>
              <a:t>µ</a:t>
            </a:r>
            <a:r>
              <a:rPr lang="en-US" sz="1400" baseline="-25000" dirty="0">
                <a:solidFill>
                  <a:srgbClr val="000000"/>
                </a:solidFill>
              </a:rPr>
              <a:t>1</a:t>
            </a:r>
            <a:r>
              <a:rPr lang="en-US" sz="1400" i="1" baseline="-25000" dirty="0">
                <a:solidFill>
                  <a:srgbClr val="000000"/>
                </a:solidFill>
              </a:rPr>
              <a:t> </a:t>
            </a:r>
            <a:r>
              <a:rPr lang="en-US" sz="1400" i="1" dirty="0">
                <a:solidFill>
                  <a:srgbClr val="000000"/>
                </a:solidFill>
              </a:rPr>
              <a:t>– µ</a:t>
            </a:r>
            <a:r>
              <a:rPr lang="en-US" sz="1400" baseline="-25000" dirty="0">
                <a:solidFill>
                  <a:srgbClr val="000000"/>
                </a:solidFill>
              </a:rPr>
              <a:t>2</a:t>
            </a:r>
            <a:r>
              <a:rPr lang="en-US" sz="1400" i="1" dirty="0">
                <a:solidFill>
                  <a:srgbClr val="000000"/>
                </a:solidFill>
              </a:rPr>
              <a:t>.</a:t>
            </a:r>
            <a:r>
              <a:rPr lang="en-US" sz="1400" dirty="0">
                <a:solidFill>
                  <a:srgbClr val="000000"/>
                </a:solidFill>
              </a:rPr>
              <a:t> We want to perform a test of </a:t>
            </a:r>
            <a:r>
              <a:rPr lang="en-US" sz="1400" i="1" dirty="0"/>
              <a:t>H</a:t>
            </a:r>
            <a:r>
              <a:rPr lang="en-US" sz="1400" baseline="-25000" dirty="0"/>
              <a:t>0</a:t>
            </a:r>
            <a:r>
              <a:rPr lang="en-US" sz="1400" dirty="0"/>
              <a:t>:</a:t>
            </a:r>
            <a:r>
              <a:rPr lang="en-US" sz="1400" i="1" dirty="0"/>
              <a:t> µ</a:t>
            </a:r>
            <a:r>
              <a:rPr lang="en-US" sz="1400" baseline="-25000" dirty="0"/>
              <a:t>1</a:t>
            </a:r>
            <a:r>
              <a:rPr lang="en-US" sz="1400" i="1" dirty="0"/>
              <a:t> – µ</a:t>
            </a:r>
            <a:r>
              <a:rPr lang="en-US" sz="1400" baseline="-25000" dirty="0"/>
              <a:t>2</a:t>
            </a:r>
            <a:r>
              <a:rPr lang="en-US" sz="1400" i="1" dirty="0"/>
              <a:t> = </a:t>
            </a:r>
            <a:r>
              <a:rPr lang="en-US" sz="1400" dirty="0"/>
              <a:t>0 versus </a:t>
            </a:r>
            <a:r>
              <a:rPr lang="en-US" sz="1400" i="1" dirty="0"/>
              <a:t>H</a:t>
            </a:r>
            <a:r>
              <a:rPr lang="en-US" sz="1400" baseline="-25000" dirty="0"/>
              <a:t>a</a:t>
            </a:r>
            <a:r>
              <a:rPr lang="en-US" sz="1400" dirty="0"/>
              <a:t>:</a:t>
            </a:r>
            <a:r>
              <a:rPr lang="en-US" sz="1400" i="1" dirty="0"/>
              <a:t> µ</a:t>
            </a:r>
            <a:r>
              <a:rPr lang="en-US" sz="1400" baseline="-25000" dirty="0"/>
              <a:t>1</a:t>
            </a:r>
            <a:r>
              <a:rPr lang="en-US" sz="1400" i="1" dirty="0"/>
              <a:t> – µ</a:t>
            </a:r>
            <a:r>
              <a:rPr lang="en-US" sz="1400" baseline="-25000" dirty="0"/>
              <a:t>2</a:t>
            </a:r>
            <a:r>
              <a:rPr lang="en-US" sz="1400" i="1" dirty="0"/>
              <a:t> &gt; </a:t>
            </a:r>
            <a:r>
              <a:rPr lang="en-US" sz="1400" dirty="0"/>
              <a:t>0, where </a:t>
            </a:r>
            <a:r>
              <a:rPr lang="en-US" sz="1400" i="1" dirty="0"/>
              <a:t>µ</a:t>
            </a:r>
            <a:r>
              <a:rPr lang="en-US" sz="1400" baseline="-25000" dirty="0"/>
              <a:t>1</a:t>
            </a:r>
            <a:r>
              <a:rPr lang="en-US" sz="1400" i="1" dirty="0"/>
              <a:t> </a:t>
            </a:r>
            <a:r>
              <a:rPr lang="en-US" sz="1400" dirty="0"/>
              <a:t>= the true mean DRP score using the directed reading activities, and </a:t>
            </a:r>
            <a:r>
              <a:rPr lang="en-US" sz="1400" i="1" dirty="0"/>
              <a:t>µ</a:t>
            </a:r>
            <a:r>
              <a:rPr lang="en-US" sz="1400" baseline="-25000" dirty="0"/>
              <a:t>2</a:t>
            </a:r>
            <a:r>
              <a:rPr lang="en-US" sz="1400" i="1" dirty="0"/>
              <a:t> </a:t>
            </a:r>
            <a:r>
              <a:rPr lang="en-US" sz="1400" dirty="0"/>
              <a:t>= the true DRP score mean without using the directed reading activities. We will use </a:t>
            </a:r>
            <a:r>
              <a:rPr lang="en-US" altLang="ja-JP" sz="1400" i="1" dirty="0">
                <a:solidFill>
                  <a:srgbClr val="000000"/>
                </a:solidFill>
                <a:latin typeface="Symbol" pitchFamily="18" charset="2"/>
                <a:sym typeface="Symbol" pitchFamily="18" charset="2"/>
              </a:rPr>
              <a:t></a:t>
            </a:r>
            <a:r>
              <a:rPr lang="en-US" sz="1400" dirty="0"/>
              <a:t> = 0.05.</a:t>
            </a:r>
            <a:endParaRPr lang="en-US" sz="1400" i="1" dirty="0"/>
          </a:p>
        </p:txBody>
      </p:sp>
      <p:graphicFrame>
        <p:nvGraphicFramePr>
          <p:cNvPr id="10" name="Object 2" descr="already described"/>
          <p:cNvGraphicFramePr>
            <a:graphicFrameLocks noChangeAspect="1"/>
          </p:cNvGraphicFramePr>
          <p:nvPr>
            <p:extLst>
              <p:ext uri="{D42A27DB-BD31-4B8C-83A1-F6EECF244321}">
                <p14:modId xmlns:p14="http://schemas.microsoft.com/office/powerpoint/2010/main" val="302263532"/>
              </p:ext>
            </p:extLst>
          </p:nvPr>
        </p:nvGraphicFramePr>
        <p:xfrm>
          <a:off x="817562" y="2501670"/>
          <a:ext cx="4183062" cy="1217612"/>
        </p:xfrm>
        <a:graphic>
          <a:graphicData uri="http://schemas.openxmlformats.org/presentationml/2006/ole">
            <mc:AlternateContent xmlns:mc="http://schemas.openxmlformats.org/markup-compatibility/2006">
              <mc:Choice xmlns:v="urn:schemas-microsoft-com:vml" Requires="v">
                <p:oleObj spid="_x0000_s6151" name="Equation" r:id="rId4" imgW="3086100" imgH="901700" progId="Equation.3">
                  <p:embed/>
                </p:oleObj>
              </mc:Choice>
              <mc:Fallback>
                <p:oleObj name="Equation" r:id="rId4" imgW="3086100" imgH="9017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7562" y="2501670"/>
                        <a:ext cx="4183062" cy="1217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13" name="Group 19" descr="already described"/>
          <p:cNvGrpSpPr>
            <a:grpSpLocks/>
          </p:cNvGrpSpPr>
          <p:nvPr/>
        </p:nvGrpSpPr>
        <p:grpSpPr bwMode="auto">
          <a:xfrm>
            <a:off x="5451474" y="2592089"/>
            <a:ext cx="2409825" cy="1535112"/>
            <a:chOff x="487679" y="3586480"/>
            <a:chExt cx="2409951" cy="1534160"/>
          </a:xfrm>
        </p:grpSpPr>
        <p:sp>
          <p:nvSpPr>
            <p:cNvPr id="14" name="Rectangle 13"/>
            <p:cNvSpPr>
              <a:spLocks noChangeArrowheads="1"/>
            </p:cNvSpPr>
            <p:nvPr/>
          </p:nvSpPr>
          <p:spPr bwMode="auto">
            <a:xfrm>
              <a:off x="1575174" y="3586480"/>
              <a:ext cx="711237" cy="1534160"/>
            </a:xfrm>
            <a:prstGeom prst="rect">
              <a:avLst/>
            </a:prstGeom>
            <a:solidFill>
              <a:srgbClr val="FFFF00"/>
            </a:solidFill>
            <a:ln>
              <a:noFill/>
            </a:ln>
            <a:effectLst>
              <a:outerShdw blurRad="38100" dist="30000" dir="5400000" rotWithShape="0">
                <a:srgbClr val="808080">
                  <a:alpha val="45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defRPr/>
              </a:pPr>
              <a:endParaRPr lang="en-US" altLang="en-US">
                <a:solidFill>
                  <a:srgbClr val="FFFFFF"/>
                </a:solidFill>
              </a:endParaRPr>
            </a:p>
          </p:txBody>
        </p:sp>
        <p:sp>
          <p:nvSpPr>
            <p:cNvPr id="18" name="Rectangle 17"/>
            <p:cNvSpPr>
              <a:spLocks noChangeArrowheads="1"/>
            </p:cNvSpPr>
            <p:nvPr/>
          </p:nvSpPr>
          <p:spPr bwMode="auto">
            <a:xfrm>
              <a:off x="487679" y="4156039"/>
              <a:ext cx="2409951" cy="344274"/>
            </a:xfrm>
            <a:prstGeom prst="rect">
              <a:avLst/>
            </a:prstGeom>
            <a:solidFill>
              <a:srgbClr val="FFFF00"/>
            </a:solidFill>
            <a:ln>
              <a:noFill/>
            </a:ln>
            <a:effectLst>
              <a:outerShdw blurRad="38100" dist="30000" dir="5400000" rotWithShape="0">
                <a:srgbClr val="808080">
                  <a:alpha val="45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defRPr/>
              </a:pPr>
              <a:endParaRPr lang="en-US" altLang="en-US">
                <a:solidFill>
                  <a:srgbClr val="FFFFFF"/>
                </a:solidFill>
              </a:endParaRPr>
            </a:p>
          </p:txBody>
        </p:sp>
      </p:grpSp>
      <p:graphicFrame>
        <p:nvGraphicFramePr>
          <p:cNvPr id="19" name="Table 18" descr="already described"/>
          <p:cNvGraphicFramePr>
            <a:graphicFrameLocks noGrp="1"/>
          </p:cNvGraphicFramePr>
          <p:nvPr>
            <p:extLst>
              <p:ext uri="{D42A27DB-BD31-4B8C-83A1-F6EECF244321}">
                <p14:modId xmlns:p14="http://schemas.microsoft.com/office/powerpoint/2010/main" val="3633186798"/>
              </p:ext>
            </p:extLst>
          </p:nvPr>
        </p:nvGraphicFramePr>
        <p:xfrm>
          <a:off x="5286374" y="2279351"/>
          <a:ext cx="2652713" cy="2133600"/>
        </p:xfrm>
        <a:graphic>
          <a:graphicData uri="http://schemas.openxmlformats.org/drawingml/2006/table">
            <a:tbl>
              <a:tblPr firstRow="1"/>
              <a:tblGrid>
                <a:gridCol w="558800">
                  <a:extLst>
                    <a:ext uri="{9D8B030D-6E8A-4147-A177-3AD203B41FA5}">
                      <a16:colId xmlns:a16="http://schemas.microsoft.com/office/drawing/2014/main" xmlns="" val="20000"/>
                    </a:ext>
                  </a:extLst>
                </a:gridCol>
                <a:gridCol w="698500">
                  <a:extLst>
                    <a:ext uri="{9D8B030D-6E8A-4147-A177-3AD203B41FA5}">
                      <a16:colId xmlns:a16="http://schemas.microsoft.com/office/drawing/2014/main" xmlns="" val="20001"/>
                    </a:ext>
                  </a:extLst>
                </a:gridCol>
                <a:gridCol w="698500">
                  <a:extLst>
                    <a:ext uri="{9D8B030D-6E8A-4147-A177-3AD203B41FA5}">
                      <a16:colId xmlns:a16="http://schemas.microsoft.com/office/drawing/2014/main" xmlns="" val="20002"/>
                    </a:ext>
                  </a:extLst>
                </a:gridCol>
                <a:gridCol w="696913">
                  <a:extLst>
                    <a:ext uri="{9D8B030D-6E8A-4147-A177-3AD203B41FA5}">
                      <a16:colId xmlns:a16="http://schemas.microsoft.com/office/drawing/2014/main" xmlns="" val="20003"/>
                    </a:ext>
                  </a:extLst>
                </a:gridCol>
              </a:tblGrid>
              <a:tr h="304800">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   Upper-tail probability </a:t>
                      </a:r>
                      <a:r>
                        <a:rPr kumimoji="0" lang="en-US" altLang="en-US" sz="1400" b="1" i="1" u="none" strike="noStrike" cap="none" normalizeH="0" baseline="0" dirty="0">
                          <a:ln>
                            <a:noFill/>
                          </a:ln>
                          <a:solidFill>
                            <a:schemeClr val="tx1"/>
                          </a:solidFill>
                          <a:effectLst/>
                          <a:latin typeface="Arial" pitchFamily="34" charset="0"/>
                          <a:ea typeface="ＭＳ Ｐゴシック" pitchFamily="34" charset="-128"/>
                        </a:rPr>
                        <a:t>p</a:t>
                      </a:r>
                    </a:p>
                  </a:txBody>
                  <a:tcPr marL="91437" marR="91437" horzOverflow="overflow">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df</a:t>
                      </a:r>
                    </a:p>
                  </a:txBody>
                  <a:tcPr marL="91437" marR="9143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0.025</a:t>
                      </a:r>
                    </a:p>
                  </a:txBody>
                  <a:tcPr marL="91437" marR="9143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0.02</a:t>
                      </a:r>
                    </a:p>
                  </a:txBody>
                  <a:tcPr marL="91437" marR="9143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0.01</a:t>
                      </a:r>
                    </a:p>
                  </a:txBody>
                  <a:tcPr marL="91437" marR="91437"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1"/>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Arial" pitchFamily="34" charset="0"/>
                          <a:ea typeface="ＭＳ Ｐゴシック" pitchFamily="34" charset="-128"/>
                        </a:rPr>
                        <a:t>19</a:t>
                      </a:r>
                    </a:p>
                  </a:txBody>
                  <a:tcPr marL="91437" marR="9143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2.093</a:t>
                      </a:r>
                    </a:p>
                  </a:txBody>
                  <a:tcPr marL="91437" marR="9143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2.205</a:t>
                      </a:r>
                    </a:p>
                  </a:txBody>
                  <a:tcPr marL="91437" marR="9143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2.539</a:t>
                      </a:r>
                    </a:p>
                  </a:txBody>
                  <a:tcPr marL="91437" marR="91437"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2"/>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Arial" pitchFamily="34" charset="0"/>
                          <a:ea typeface="ＭＳ Ｐゴシック" pitchFamily="34" charset="-128"/>
                        </a:rPr>
                        <a:t>20</a:t>
                      </a:r>
                    </a:p>
                  </a:txBody>
                  <a:tcPr marL="91437" marR="9143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2.086</a:t>
                      </a:r>
                    </a:p>
                  </a:txBody>
                  <a:tcPr marL="91437" marR="9143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2.197</a:t>
                      </a:r>
                    </a:p>
                  </a:txBody>
                  <a:tcPr marL="91437" marR="9143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2.528</a:t>
                      </a:r>
                    </a:p>
                  </a:txBody>
                  <a:tcPr marL="91437" marR="91437"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3"/>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Arial" pitchFamily="34" charset="0"/>
                          <a:ea typeface="ＭＳ Ｐゴシック" pitchFamily="34" charset="-128"/>
                        </a:rPr>
                        <a:t>21</a:t>
                      </a:r>
                    </a:p>
                  </a:txBody>
                  <a:tcPr marL="91437" marR="9143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itchFamily="34" charset="0"/>
                          <a:ea typeface="ＭＳ Ｐゴシック" pitchFamily="34" charset="-128"/>
                        </a:rPr>
                        <a:t>2.080</a:t>
                      </a:r>
                    </a:p>
                  </a:txBody>
                  <a:tcPr marL="91437" marR="9143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2.189</a:t>
                      </a:r>
                    </a:p>
                  </a:txBody>
                  <a:tcPr marL="91437" marR="9143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2.518</a:t>
                      </a:r>
                    </a:p>
                  </a:txBody>
                  <a:tcPr marL="91437" marR="91437"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4"/>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400" b="1" i="1" u="none" strike="noStrike" cap="none" normalizeH="0" baseline="0">
                        <a:ln>
                          <a:noFill/>
                        </a:ln>
                        <a:solidFill>
                          <a:schemeClr val="tx1"/>
                        </a:solidFill>
                        <a:effectLst/>
                        <a:latin typeface="Arial" pitchFamily="34" charset="0"/>
                        <a:ea typeface="ＭＳ Ｐゴシック" pitchFamily="34" charset="-128"/>
                      </a:endParaRPr>
                    </a:p>
                  </a:txBody>
                  <a:tcPr marL="91437" marR="9143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95%</a:t>
                      </a:r>
                    </a:p>
                  </a:txBody>
                  <a:tcPr marL="91437" marR="9143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96%</a:t>
                      </a:r>
                    </a:p>
                  </a:txBody>
                  <a:tcPr marL="91437" marR="9143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itchFamily="34" charset="0"/>
                          <a:ea typeface="ＭＳ Ｐゴシック" pitchFamily="34" charset="-128"/>
                        </a:rPr>
                        <a:t>98%</a:t>
                      </a:r>
                    </a:p>
                  </a:txBody>
                  <a:tcPr marL="91437" marR="91437"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5"/>
                  </a:ext>
                </a:extLst>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400" b="1" i="1" u="none" strike="noStrike" cap="none" normalizeH="0" baseline="0">
                        <a:ln>
                          <a:noFill/>
                        </a:ln>
                        <a:solidFill>
                          <a:schemeClr val="tx1"/>
                        </a:solidFill>
                        <a:effectLst/>
                        <a:latin typeface="Arial" pitchFamily="34" charset="0"/>
                        <a:ea typeface="ＭＳ Ｐゴシック" pitchFamily="34" charset="-128"/>
                      </a:endParaRPr>
                    </a:p>
                  </a:txBody>
                  <a:tcPr marL="91437" marR="91437" horzOverflow="overflow">
                    <a:lnL>
                      <a:noFill/>
                    </a:lnL>
                    <a:lnR>
                      <a:noFill/>
                    </a:lnR>
                    <a:lnT>
                      <a:noFill/>
                    </a:lnT>
                    <a:lnB>
                      <a:noFill/>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itchFamily="34" charset="0"/>
                          <a:ea typeface="ＭＳ Ｐゴシック" pitchFamily="34" charset="-128"/>
                        </a:rPr>
                        <a:t>Confidence level </a:t>
                      </a:r>
                      <a:r>
                        <a:rPr kumimoji="0" lang="en-US" altLang="en-US" sz="1400" b="1" i="1" u="none" strike="noStrike" cap="none" normalizeH="0" baseline="0" dirty="0">
                          <a:ln>
                            <a:noFill/>
                          </a:ln>
                          <a:solidFill>
                            <a:schemeClr val="tx1"/>
                          </a:solidFill>
                          <a:effectLst/>
                          <a:latin typeface="Arial" pitchFamily="34" charset="0"/>
                          <a:ea typeface="ＭＳ Ｐゴシック" pitchFamily="34" charset="-128"/>
                        </a:rPr>
                        <a:t>C</a:t>
                      </a:r>
                      <a:endParaRPr kumimoji="0" lang="en-US" altLang="en-US" sz="1400" b="1" i="0" u="none" strike="noStrike" cap="none" normalizeH="0" baseline="0" dirty="0">
                        <a:ln>
                          <a:noFill/>
                        </a:ln>
                        <a:solidFill>
                          <a:schemeClr val="tx1"/>
                        </a:solidFill>
                        <a:effectLst/>
                        <a:latin typeface="Arial" pitchFamily="34" charset="0"/>
                        <a:ea typeface="ＭＳ Ｐゴシック" pitchFamily="34" charset="-128"/>
                      </a:endParaRPr>
                    </a:p>
                  </a:txBody>
                  <a:tcPr marL="91437" marR="91437" horzOverflow="overflow">
                    <a:lnL>
                      <a:noFill/>
                    </a:lnL>
                    <a:lnR>
                      <a:noFill/>
                    </a:lnR>
                    <a:lnT>
                      <a:noFill/>
                    </a:lnT>
                    <a:lnB>
                      <a:noFill/>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6"/>
                  </a:ext>
                </a:extLst>
              </a:tr>
            </a:tbl>
          </a:graphicData>
        </a:graphic>
      </p:graphicFrame>
      <p:sp>
        <p:nvSpPr>
          <p:cNvPr id="20" name="Curved Down Arrow 19" descr="already described"/>
          <p:cNvSpPr>
            <a:spLocks noChangeArrowheads="1"/>
          </p:cNvSpPr>
          <p:nvPr/>
        </p:nvSpPr>
        <p:spPr bwMode="auto">
          <a:xfrm rot="736525">
            <a:off x="4706937" y="2369839"/>
            <a:ext cx="2808287" cy="606425"/>
          </a:xfrm>
          <a:prstGeom prst="curvedDownArrow">
            <a:avLst>
              <a:gd name="adj1" fmla="val 24998"/>
              <a:gd name="adj2" fmla="val 49996"/>
              <a:gd name="adj3" fmla="val 25000"/>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endParaRPr lang="en-US" altLang="en-US" sz="1600"/>
          </a:p>
        </p:txBody>
      </p:sp>
      <p:sp>
        <p:nvSpPr>
          <p:cNvPr id="15" name="Rectangle 14"/>
          <p:cNvSpPr>
            <a:spLocks noChangeArrowheads="1"/>
          </p:cNvSpPr>
          <p:nvPr/>
        </p:nvSpPr>
        <p:spPr bwMode="auto">
          <a:xfrm>
            <a:off x="817563" y="4087589"/>
            <a:ext cx="439499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sz="1600" b="1" i="1" dirty="0"/>
              <a:t>P</a:t>
            </a:r>
            <a:r>
              <a:rPr lang="en-US" sz="1600" b="1" dirty="0"/>
              <a:t>-value </a:t>
            </a:r>
            <a:r>
              <a:rPr lang="en-US" sz="1600" dirty="0"/>
              <a:t>Using the conservative </a:t>
            </a:r>
            <a:r>
              <a:rPr lang="en-US" sz="1600" dirty="0" err="1"/>
              <a:t>df</a:t>
            </a:r>
            <a:r>
              <a:rPr lang="en-US" sz="1600" i="1" dirty="0"/>
              <a:t> </a:t>
            </a:r>
            <a:r>
              <a:rPr lang="en-US" sz="1600" dirty="0"/>
              <a:t>= 21 – 1 = 20, we can use Table D to show that the </a:t>
            </a:r>
            <a:r>
              <a:rPr lang="en-US" sz="1600" i="1" dirty="0"/>
              <a:t>P-</a:t>
            </a:r>
            <a:r>
              <a:rPr lang="en-US" sz="1600" dirty="0"/>
              <a:t>value is between 0.01 and 0.02.</a:t>
            </a:r>
          </a:p>
        </p:txBody>
      </p:sp>
      <p:sp>
        <p:nvSpPr>
          <p:cNvPr id="16" name="Rectangle 15"/>
          <p:cNvSpPr>
            <a:spLocks noChangeArrowheads="1"/>
          </p:cNvSpPr>
          <p:nvPr/>
        </p:nvSpPr>
        <p:spPr bwMode="auto">
          <a:xfrm>
            <a:off x="817562" y="5332163"/>
            <a:ext cx="4633912"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sz="1600" dirty="0">
                <a:solidFill>
                  <a:srgbClr val="000000"/>
                </a:solidFill>
              </a:rPr>
              <a:t>B</a:t>
            </a:r>
            <a:r>
              <a:rPr lang="en-US" sz="1600" dirty="0"/>
              <a:t>ecause the </a:t>
            </a:r>
            <a:r>
              <a:rPr lang="en-US" sz="1600" i="1" dirty="0"/>
              <a:t>P</a:t>
            </a:r>
            <a:r>
              <a:rPr lang="en-US" sz="1600" dirty="0"/>
              <a:t>-value is smaller than </a:t>
            </a:r>
            <a:r>
              <a:rPr lang="en-US" altLang="ja-JP" sz="1600" i="1" dirty="0">
                <a:solidFill>
                  <a:srgbClr val="000000"/>
                </a:solidFill>
                <a:sym typeface="Symbol" pitchFamily="18" charset="2"/>
              </a:rPr>
              <a:t></a:t>
            </a:r>
            <a:r>
              <a:rPr lang="en-US" sz="1600" dirty="0"/>
              <a:t> = 0.05, we reject </a:t>
            </a:r>
            <a:r>
              <a:rPr lang="en-US" sz="1600" i="1" dirty="0"/>
              <a:t>H</a:t>
            </a:r>
            <a:r>
              <a:rPr lang="en-US" sz="1600" baseline="-25000" dirty="0"/>
              <a:t>0</a:t>
            </a:r>
            <a:r>
              <a:rPr lang="en-US" sz="1600" dirty="0"/>
              <a:t>. The experiment provides convincing evidence that directed reading activities improve the DRP score. </a:t>
            </a:r>
          </a:p>
        </p:txBody>
      </p:sp>
    </p:spTree>
    <p:extLst>
      <p:ext uri="{BB962C8B-B14F-4D97-AF65-F5344CB8AC3E}">
        <p14:creationId xmlns:p14="http://schemas.microsoft.com/office/powerpoint/2010/main" val="82718524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from="(-#ppt_w/2)" to="(#ppt_x)" calcmode="lin" valueType="num">
                                      <p:cBhvr>
                                        <p:cTn id="7" dur="600" fill="hold">
                                          <p:stCondLst>
                                            <p:cond delay="0"/>
                                          </p:stCondLst>
                                        </p:cTn>
                                        <p:tgtEl>
                                          <p:spTgt spid="10"/>
                                        </p:tgtEl>
                                        <p:attrNameLst>
                                          <p:attrName>ppt_x</p:attrName>
                                        </p:attrNameLst>
                                      </p:cBhvr>
                                    </p:anim>
                                    <p:anim from="0" to="-1.0" calcmode="lin" valueType="num">
                                      <p:cBhvr>
                                        <p:cTn id="8" dur="200" decel="50000" autoRev="1" fill="hold">
                                          <p:stCondLst>
                                            <p:cond delay="600"/>
                                          </p:stCondLst>
                                        </p:cTn>
                                        <p:tgtEl>
                                          <p:spTgt spid="10"/>
                                        </p:tgtEl>
                                        <p:attrNameLst>
                                          <p:attrName>xshear</p:attrName>
                                        </p:attrNameLst>
                                      </p:cBhvr>
                                    </p:anim>
                                    <p:animScale>
                                      <p:cBhvr>
                                        <p:cTn id="9" dur="200" decel="100000" autoRev="1" fill="hold">
                                          <p:stCondLst>
                                            <p:cond delay="600"/>
                                          </p:stCondLst>
                                        </p:cTn>
                                        <p:tgtEl>
                                          <p:spTgt spid="10"/>
                                        </p:tgtEl>
                                      </p:cBhvr>
                                      <p:from x="100000" y="100000"/>
                                      <p:to x="80000" y="100000"/>
                                    </p:animScale>
                                    <p:anim by="(#ppt_h/3+#ppt_w*0.1)" calcmode="lin" valueType="num">
                                      <p:cBhvr additive="sum">
                                        <p:cTn id="10" dur="200" decel="100000" autoRev="1" fill="hold">
                                          <p:stCondLst>
                                            <p:cond delay="600"/>
                                          </p:stCondLst>
                                        </p:cTn>
                                        <p:tgtEl>
                                          <p:spTgt spid="10"/>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childTnLst>
                                </p:cTn>
                              </p:par>
                            </p:childTnLst>
                          </p:cTn>
                        </p:par>
                        <p:par>
                          <p:cTn id="16" fill="hold" nodeType="afterGroup">
                            <p:stCondLst>
                              <p:cond delay="1000"/>
                            </p:stCondLst>
                            <p:childTnLst>
                              <p:par>
                                <p:cTn id="17" presetID="10" presetClass="entr" presetSubtype="0"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000"/>
                                        <p:tgtEl>
                                          <p:spTgt spid="1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5" grpId="0"/>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74625" y="154305"/>
            <a:ext cx="7772400" cy="1143000"/>
          </a:xfrm>
        </p:spPr>
        <p:txBody>
          <a:bodyPr/>
          <a:lstStyle/>
          <a:p>
            <a:pPr eaLnBrk="1" hangingPunct="1"/>
            <a:r>
              <a:rPr lang="en-US" dirty="0">
                <a:ea typeface="ＭＳ Ｐゴシック" pitchFamily="34" charset="-128"/>
              </a:rPr>
              <a:t>Robustness of the Two-Sample Procedures</a:t>
            </a:r>
          </a:p>
        </p:txBody>
      </p:sp>
      <p:sp>
        <p:nvSpPr>
          <p:cNvPr id="6656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C144F334-3FEB-4DBE-9638-3E77C23B5CBE}" type="slidenum">
              <a:rPr lang="en-US" sz="1200">
                <a:solidFill>
                  <a:schemeClr val="accent1"/>
                </a:solidFill>
              </a:rPr>
              <a:pPr>
                <a:lnSpc>
                  <a:spcPct val="80000"/>
                </a:lnSpc>
              </a:pPr>
              <a:t>30</a:t>
            </a:fld>
            <a:endParaRPr lang="en-US" sz="1200">
              <a:solidFill>
                <a:schemeClr val="accent1"/>
              </a:solidFill>
            </a:endParaRPr>
          </a:p>
        </p:txBody>
      </p:sp>
      <p:sp>
        <p:nvSpPr>
          <p:cNvPr id="66563" name="Rectangle 8"/>
          <p:cNvSpPr>
            <a:spLocks noChangeArrowheads="1"/>
          </p:cNvSpPr>
          <p:nvPr/>
        </p:nvSpPr>
        <p:spPr bwMode="auto">
          <a:xfrm>
            <a:off x="174625" y="1443990"/>
            <a:ext cx="80676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sz="2000" dirty="0"/>
              <a:t>The two-sample </a:t>
            </a:r>
            <a:r>
              <a:rPr lang="en-US" sz="2000" i="1" dirty="0"/>
              <a:t>t</a:t>
            </a:r>
            <a:r>
              <a:rPr lang="en-US" sz="2000" dirty="0"/>
              <a:t> procedures are more robust than the one-sample </a:t>
            </a:r>
            <a:r>
              <a:rPr lang="en-US" sz="2000" i="1" dirty="0"/>
              <a:t>t</a:t>
            </a:r>
            <a:r>
              <a:rPr lang="en-US" sz="2000" dirty="0"/>
              <a:t> methods, particularly when the distributions are not symmetric.</a:t>
            </a:r>
            <a:endParaRPr lang="en-US" sz="2000" i="1" dirty="0">
              <a:solidFill>
                <a:srgbClr val="000000"/>
              </a:solidFill>
              <a:latin typeface="Palatino" charset="0"/>
            </a:endParaRPr>
          </a:p>
        </p:txBody>
      </p:sp>
      <p:sp>
        <p:nvSpPr>
          <p:cNvPr id="11" name="TextBox 10"/>
          <p:cNvSpPr txBox="1">
            <a:spLocks noChangeArrowheads="1"/>
          </p:cNvSpPr>
          <p:nvPr/>
        </p:nvSpPr>
        <p:spPr bwMode="auto">
          <a:xfrm>
            <a:off x="185738" y="2298701"/>
            <a:ext cx="8070850" cy="424656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defRPr/>
            </a:pPr>
            <a:r>
              <a:rPr lang="en-US" altLang="en-US" b="1" dirty="0">
                <a:solidFill>
                  <a:schemeClr val="tx1"/>
                </a:solidFill>
                <a:highlight>
                  <a:srgbClr val="FFFF00"/>
                </a:highlight>
              </a:rPr>
              <a:t>Using the </a:t>
            </a:r>
            <a:r>
              <a:rPr lang="en-US" altLang="en-US" b="1" i="1" dirty="0">
                <a:solidFill>
                  <a:schemeClr val="tx1"/>
                </a:solidFill>
                <a:highlight>
                  <a:srgbClr val="FFFF00"/>
                </a:highlight>
              </a:rPr>
              <a:t>t</a:t>
            </a:r>
            <a:r>
              <a:rPr lang="en-US" altLang="en-US" b="1" dirty="0">
                <a:solidFill>
                  <a:schemeClr val="tx1"/>
                </a:solidFill>
                <a:highlight>
                  <a:srgbClr val="FFFF00"/>
                </a:highlight>
              </a:rPr>
              <a:t> Procedures</a:t>
            </a:r>
          </a:p>
          <a:p>
            <a:pPr eaLnBrk="1" hangingPunct="1">
              <a:defRPr/>
            </a:pPr>
            <a:endParaRPr lang="en-US" altLang="en-US" sz="1800" b="1" dirty="0">
              <a:solidFill>
                <a:schemeClr val="tx1"/>
              </a:solidFill>
            </a:endParaRPr>
          </a:p>
          <a:p>
            <a:pPr algn="just" eaLnBrk="1" hangingPunct="1">
              <a:buFont typeface="Arial" pitchFamily="34" charset="0"/>
              <a:buChar char="•"/>
              <a:defRPr/>
            </a:pPr>
            <a:r>
              <a:rPr lang="en-US" altLang="en-US" sz="1800" dirty="0">
                <a:solidFill>
                  <a:schemeClr val="tx1"/>
                </a:solidFill>
              </a:rPr>
              <a:t>Except in the case of small samples, the condition that the data are SRSs from the populations of interest is more important than the condition that the population distributions are Normal.</a:t>
            </a:r>
          </a:p>
          <a:p>
            <a:pPr algn="just" eaLnBrk="1" hangingPunct="1">
              <a:buFont typeface="Arial" pitchFamily="34" charset="0"/>
              <a:buChar char="•"/>
              <a:defRPr/>
            </a:pPr>
            <a:endParaRPr lang="en-US" altLang="en-US" sz="1800" dirty="0">
              <a:solidFill>
                <a:schemeClr val="tx1"/>
              </a:solidFill>
            </a:endParaRPr>
          </a:p>
          <a:p>
            <a:pPr algn="just" eaLnBrk="1" hangingPunct="1">
              <a:buFont typeface="Arial" pitchFamily="34" charset="0"/>
              <a:buChar char="•"/>
              <a:defRPr/>
            </a:pPr>
            <a:r>
              <a:rPr lang="en-US" altLang="en-US" sz="1800" b="1" i="1" dirty="0">
                <a:solidFill>
                  <a:schemeClr val="tx1"/>
                </a:solidFill>
              </a:rPr>
              <a:t>Sum of the sample sizes less than 15</a:t>
            </a:r>
            <a:r>
              <a:rPr lang="en-US" altLang="en-US" sz="1800" dirty="0">
                <a:solidFill>
                  <a:schemeClr val="tx1"/>
                </a:solidFill>
              </a:rPr>
              <a:t>: Use </a:t>
            </a:r>
            <a:r>
              <a:rPr lang="en-US" altLang="en-US" sz="1800" i="1" dirty="0">
                <a:solidFill>
                  <a:schemeClr val="tx1"/>
                </a:solidFill>
              </a:rPr>
              <a:t>t</a:t>
            </a:r>
            <a:r>
              <a:rPr lang="en-US" altLang="en-US" sz="1800" dirty="0">
                <a:solidFill>
                  <a:schemeClr val="tx1"/>
                </a:solidFill>
              </a:rPr>
              <a:t> procedures if the data appear close to Normal. If the data are clearly skewed or if outliers are present, do not use </a:t>
            </a:r>
            <a:r>
              <a:rPr lang="en-US" altLang="en-US" sz="1800" i="1" dirty="0">
                <a:solidFill>
                  <a:schemeClr val="tx1"/>
                </a:solidFill>
              </a:rPr>
              <a:t>t</a:t>
            </a:r>
            <a:r>
              <a:rPr lang="en-US" altLang="en-US" sz="1800" dirty="0">
                <a:solidFill>
                  <a:schemeClr val="tx1"/>
                </a:solidFill>
              </a:rPr>
              <a:t>.</a:t>
            </a:r>
          </a:p>
          <a:p>
            <a:pPr algn="just" eaLnBrk="1" hangingPunct="1">
              <a:buFont typeface="Arial" pitchFamily="34" charset="0"/>
              <a:buChar char="•"/>
              <a:defRPr/>
            </a:pPr>
            <a:endParaRPr lang="en-US" altLang="en-US" sz="1800" dirty="0">
              <a:solidFill>
                <a:schemeClr val="tx1"/>
              </a:solidFill>
            </a:endParaRPr>
          </a:p>
          <a:p>
            <a:pPr algn="just" eaLnBrk="1" hangingPunct="1">
              <a:buFont typeface="Arial" pitchFamily="34" charset="0"/>
              <a:buChar char="•"/>
              <a:defRPr/>
            </a:pPr>
            <a:r>
              <a:rPr lang="en-US" altLang="en-US" sz="1800" b="1" i="1" dirty="0">
                <a:solidFill>
                  <a:schemeClr val="tx1"/>
                </a:solidFill>
              </a:rPr>
              <a:t>Sum of the sample size at least 15</a:t>
            </a:r>
            <a:r>
              <a:rPr lang="en-US" altLang="en-US" sz="1800" dirty="0">
                <a:solidFill>
                  <a:schemeClr val="tx1"/>
                </a:solidFill>
              </a:rPr>
              <a:t>: The </a:t>
            </a:r>
            <a:r>
              <a:rPr lang="en-US" altLang="en-US" sz="1800" i="1" dirty="0">
                <a:solidFill>
                  <a:schemeClr val="tx1"/>
                </a:solidFill>
              </a:rPr>
              <a:t>t</a:t>
            </a:r>
            <a:r>
              <a:rPr lang="en-US" altLang="en-US" sz="1800" dirty="0">
                <a:solidFill>
                  <a:schemeClr val="tx1"/>
                </a:solidFill>
              </a:rPr>
              <a:t> procedures can be used except in the presence of outliers or strong skewness.</a:t>
            </a:r>
          </a:p>
          <a:p>
            <a:pPr algn="just" eaLnBrk="1" hangingPunct="1">
              <a:buFont typeface="Arial" pitchFamily="34" charset="0"/>
              <a:buChar char="•"/>
              <a:defRPr/>
            </a:pPr>
            <a:endParaRPr lang="en-US" altLang="en-US" sz="1800" dirty="0">
              <a:solidFill>
                <a:schemeClr val="tx1"/>
              </a:solidFill>
            </a:endParaRPr>
          </a:p>
          <a:p>
            <a:pPr algn="just" eaLnBrk="1" hangingPunct="1">
              <a:buFont typeface="Arial" pitchFamily="34" charset="0"/>
              <a:buChar char="•"/>
              <a:defRPr/>
            </a:pPr>
            <a:r>
              <a:rPr lang="en-US" altLang="en-US" sz="1800" b="1" i="1" dirty="0">
                <a:solidFill>
                  <a:schemeClr val="tx1"/>
                </a:solidFill>
              </a:rPr>
              <a:t>Large samples</a:t>
            </a:r>
            <a:r>
              <a:rPr lang="en-US" altLang="en-US" sz="1800" dirty="0">
                <a:solidFill>
                  <a:schemeClr val="tx1"/>
                </a:solidFill>
              </a:rPr>
              <a:t>: The </a:t>
            </a:r>
            <a:r>
              <a:rPr lang="en-US" altLang="en-US" sz="1800" i="1" dirty="0">
                <a:solidFill>
                  <a:srgbClr val="000000"/>
                </a:solidFill>
              </a:rPr>
              <a:t>t</a:t>
            </a:r>
            <a:r>
              <a:rPr lang="en-US" altLang="en-US" sz="1800" dirty="0">
                <a:solidFill>
                  <a:srgbClr val="000000"/>
                </a:solidFill>
              </a:rPr>
              <a:t> procedures can be used even for clearly skewed distributions when the sum of the sample sizes is large</a:t>
            </a:r>
            <a:r>
              <a:rPr lang="en-US" altLang="en-US" sz="1800" i="1" dirty="0">
                <a:solidFill>
                  <a:srgbClr val="000000"/>
                </a:solidFill>
              </a:rPr>
              <a:t>.</a:t>
            </a: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ea typeface="ＭＳ Ｐゴシック" pitchFamily="34" charset="-128"/>
              </a:rPr>
              <a:t>Inference for Small Samples</a:t>
            </a:r>
          </a:p>
        </p:txBody>
      </p:sp>
      <p:sp>
        <p:nvSpPr>
          <p:cNvPr id="6758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3549F42B-B344-4030-8366-E6761E3F5FD7}" type="slidenum">
              <a:rPr lang="en-US" sz="1200">
                <a:solidFill>
                  <a:schemeClr val="accent1"/>
                </a:solidFill>
              </a:rPr>
              <a:pPr>
                <a:lnSpc>
                  <a:spcPct val="80000"/>
                </a:lnSpc>
              </a:pPr>
              <a:t>31</a:t>
            </a:fld>
            <a:endParaRPr lang="en-US" sz="1200">
              <a:solidFill>
                <a:schemeClr val="accent1"/>
              </a:solidFill>
            </a:endParaRPr>
          </a:p>
        </p:txBody>
      </p:sp>
      <p:sp>
        <p:nvSpPr>
          <p:cNvPr id="67587" name="Rectangle 8"/>
          <p:cNvSpPr>
            <a:spLocks noChangeArrowheads="1"/>
          </p:cNvSpPr>
          <p:nvPr/>
        </p:nvSpPr>
        <p:spPr bwMode="auto">
          <a:xfrm>
            <a:off x="174625" y="1312779"/>
            <a:ext cx="7772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sz="2000" dirty="0"/>
              <a:t>When we do not have enough observations to examine distribution shapes, only extreme outliers will stand out. These small samples require special care.</a:t>
            </a:r>
            <a:endParaRPr lang="en-US" sz="2000" i="1" dirty="0">
              <a:solidFill>
                <a:srgbClr val="000000"/>
              </a:solidFill>
              <a:latin typeface="Palatino" charset="0"/>
            </a:endParaRPr>
          </a:p>
        </p:txBody>
      </p:sp>
      <p:sp>
        <p:nvSpPr>
          <p:cNvPr id="11" name="TextBox 10"/>
          <p:cNvSpPr txBox="1">
            <a:spLocks noChangeArrowheads="1"/>
          </p:cNvSpPr>
          <p:nvPr/>
        </p:nvSpPr>
        <p:spPr bwMode="auto">
          <a:xfrm>
            <a:off x="302293" y="2717283"/>
            <a:ext cx="7772400" cy="2062103"/>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defRPr/>
            </a:pPr>
            <a:r>
              <a:rPr lang="en-US" altLang="en-US" b="1" dirty="0">
                <a:solidFill>
                  <a:schemeClr val="tx1"/>
                </a:solidFill>
                <a:highlight>
                  <a:srgbClr val="FFFF00"/>
                </a:highlight>
              </a:rPr>
              <a:t>Features of small samples</a:t>
            </a:r>
          </a:p>
          <a:p>
            <a:pPr eaLnBrk="1" hangingPunct="1">
              <a:defRPr/>
            </a:pPr>
            <a:endParaRPr lang="en-US" altLang="en-US" sz="1800" b="1" dirty="0">
              <a:solidFill>
                <a:srgbClr val="800000"/>
              </a:solidFill>
            </a:endParaRPr>
          </a:p>
          <a:p>
            <a:pPr eaLnBrk="1" hangingPunct="1">
              <a:buFont typeface="Arial" pitchFamily="34" charset="0"/>
              <a:buChar char="•"/>
              <a:defRPr/>
            </a:pPr>
            <a:r>
              <a:rPr lang="en-US" altLang="en-US" sz="1800" dirty="0">
                <a:solidFill>
                  <a:srgbClr val="000000"/>
                </a:solidFill>
              </a:rPr>
              <a:t>The power of significance tests tends to be low.</a:t>
            </a:r>
          </a:p>
          <a:p>
            <a:pPr eaLnBrk="1" hangingPunct="1">
              <a:buFont typeface="Arial" pitchFamily="34" charset="0"/>
              <a:buChar char="•"/>
              <a:defRPr/>
            </a:pPr>
            <a:endParaRPr lang="en-US" altLang="en-US" sz="1800" dirty="0">
              <a:solidFill>
                <a:srgbClr val="000000"/>
              </a:solidFill>
            </a:endParaRPr>
          </a:p>
          <a:p>
            <a:pPr eaLnBrk="1" hangingPunct="1">
              <a:buFont typeface="Arial" pitchFamily="34" charset="0"/>
              <a:buChar char="•"/>
              <a:defRPr/>
            </a:pPr>
            <a:r>
              <a:rPr lang="en-US" altLang="en-US" sz="1800" dirty="0">
                <a:solidFill>
                  <a:srgbClr val="000000"/>
                </a:solidFill>
              </a:rPr>
              <a:t>Margins of error of confidence intervals tend to be large</a:t>
            </a:r>
            <a:r>
              <a:rPr lang="en-US" altLang="en-US" sz="1800" i="1" dirty="0">
                <a:solidFill>
                  <a:srgbClr val="000000"/>
                </a:solidFill>
              </a:rPr>
              <a:t>.</a:t>
            </a:r>
            <a:endParaRPr lang="en-US" altLang="en-US" sz="1800" dirty="0">
              <a:solidFill>
                <a:srgbClr val="000000"/>
              </a:solidFill>
            </a:endParaRPr>
          </a:p>
          <a:p>
            <a:pPr eaLnBrk="1" hangingPunct="1">
              <a:buFont typeface="Arial" pitchFamily="34" charset="0"/>
              <a:buChar char="•"/>
              <a:defRPr/>
            </a:pPr>
            <a:endParaRPr lang="en-US" altLang="en-US" sz="1800" dirty="0">
              <a:solidFill>
                <a:srgbClr val="000000"/>
              </a:solidFill>
            </a:endParaRPr>
          </a:p>
          <a:p>
            <a:pPr eaLnBrk="1" hangingPunct="1">
              <a:buFont typeface="Arial" pitchFamily="34" charset="0"/>
              <a:buChar char="•"/>
              <a:defRPr/>
            </a:pPr>
            <a:r>
              <a:rPr lang="en-US" altLang="en-US" sz="1800" dirty="0">
                <a:solidFill>
                  <a:srgbClr val="000000"/>
                </a:solidFill>
              </a:rPr>
              <a:t>If an effect is large, it should still be evident, even with small sample sizes.</a:t>
            </a:r>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174625" y="154305"/>
            <a:ext cx="7772400" cy="1143000"/>
          </a:xfrm>
        </p:spPr>
        <p:txBody>
          <a:bodyPr/>
          <a:lstStyle/>
          <a:p>
            <a:pPr eaLnBrk="1" hangingPunct="1"/>
            <a:r>
              <a:rPr lang="en-US">
                <a:ea typeface="ＭＳ Ｐゴシック" pitchFamily="34" charset="-128"/>
              </a:rPr>
              <a:t>Software Approximation for the Degrees of Freedom</a:t>
            </a:r>
          </a:p>
        </p:txBody>
      </p:sp>
      <p:sp>
        <p:nvSpPr>
          <p:cNvPr id="6860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4E7D2115-0FEF-4B91-9D46-8C3864ADABFD}" type="slidenum">
              <a:rPr lang="en-US" sz="1200">
                <a:solidFill>
                  <a:schemeClr val="accent1"/>
                </a:solidFill>
              </a:rPr>
              <a:pPr>
                <a:lnSpc>
                  <a:spcPct val="80000"/>
                </a:lnSpc>
              </a:pPr>
              <a:t>32</a:t>
            </a:fld>
            <a:endParaRPr lang="en-US" sz="1200">
              <a:solidFill>
                <a:schemeClr val="accent1"/>
              </a:solidFill>
            </a:endParaRPr>
          </a:p>
        </p:txBody>
      </p:sp>
      <p:sp>
        <p:nvSpPr>
          <p:cNvPr id="68611" name="Rectangle 8"/>
          <p:cNvSpPr>
            <a:spLocks noChangeArrowheads="1"/>
          </p:cNvSpPr>
          <p:nvPr/>
        </p:nvSpPr>
        <p:spPr bwMode="auto">
          <a:xfrm>
            <a:off x="172244" y="1454309"/>
            <a:ext cx="859075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sz="2000" dirty="0"/>
              <a:t>The exact distribution of the two-sample </a:t>
            </a:r>
            <a:r>
              <a:rPr lang="en-US" sz="2000" i="1" dirty="0"/>
              <a:t>t</a:t>
            </a:r>
            <a:r>
              <a:rPr lang="en-US" sz="2000" dirty="0"/>
              <a:t> statistic is not a </a:t>
            </a:r>
            <a:r>
              <a:rPr lang="en-US" sz="2000" i="1" dirty="0"/>
              <a:t>t</a:t>
            </a:r>
            <a:r>
              <a:rPr lang="en-US" sz="2000" dirty="0"/>
              <a:t> distribution. The distribution changes as the unknown population standard deviations change. However, an excellent approximation is available.</a:t>
            </a:r>
            <a:endParaRPr lang="en-US" sz="2000" i="1" dirty="0">
              <a:solidFill>
                <a:srgbClr val="000000"/>
              </a:solidFill>
              <a:latin typeface="Palatino" charset="0"/>
            </a:endParaRPr>
          </a:p>
        </p:txBody>
      </p:sp>
      <mc:AlternateContent xmlns:mc="http://schemas.openxmlformats.org/markup-compatibility/2006" xmlns:a14="http://schemas.microsoft.com/office/drawing/2010/main">
        <mc:Choice Requires="a14">
          <p:sp>
            <p:nvSpPr>
              <p:cNvPr id="11" name="TextBox 10"/>
              <p:cNvSpPr txBox="1">
                <a:spLocks noChangeArrowheads="1"/>
              </p:cNvSpPr>
              <p:nvPr/>
            </p:nvSpPr>
            <p:spPr bwMode="auto">
              <a:xfrm>
                <a:off x="432197" y="2627313"/>
                <a:ext cx="8330802" cy="3487878"/>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defRPr/>
                </a:pPr>
                <a:r>
                  <a:rPr lang="en-US" altLang="en-US" b="1" dirty="0">
                    <a:solidFill>
                      <a:schemeClr val="tx1"/>
                    </a:solidFill>
                    <a:highlight>
                      <a:srgbClr val="FFFF00"/>
                    </a:highlight>
                  </a:rPr>
                  <a:t>Approximate Distribution of the Two-Sample </a:t>
                </a:r>
                <a:r>
                  <a:rPr lang="en-US" altLang="en-US" b="1" i="1" dirty="0">
                    <a:solidFill>
                      <a:schemeClr val="tx1"/>
                    </a:solidFill>
                    <a:highlight>
                      <a:srgbClr val="FFFF00"/>
                    </a:highlight>
                  </a:rPr>
                  <a:t>t</a:t>
                </a:r>
                <a:r>
                  <a:rPr lang="en-US" altLang="en-US" b="1" dirty="0">
                    <a:solidFill>
                      <a:schemeClr val="tx1"/>
                    </a:solidFill>
                    <a:highlight>
                      <a:srgbClr val="FFFF00"/>
                    </a:highlight>
                  </a:rPr>
                  <a:t> Statistic</a:t>
                </a:r>
              </a:p>
              <a:p>
                <a:pPr algn="ctr" eaLnBrk="1" hangingPunct="1">
                  <a:defRPr/>
                </a:pPr>
                <a:endParaRPr lang="en-US" altLang="en-US" b="1" dirty="0">
                  <a:solidFill>
                    <a:srgbClr val="800000"/>
                  </a:solidFill>
                </a:endParaRPr>
              </a:p>
              <a:p>
                <a:pPr eaLnBrk="1" hangingPunct="1">
                  <a:spcAft>
                    <a:spcPts val="1200"/>
                  </a:spcAft>
                  <a:defRPr/>
                </a:pPr>
                <a:r>
                  <a:rPr lang="en-US" altLang="en-US" dirty="0">
                    <a:solidFill>
                      <a:srgbClr val="000000"/>
                    </a:solidFill>
                  </a:rPr>
                  <a:t>The distribution of the two-sample </a:t>
                </a:r>
                <a:r>
                  <a:rPr lang="en-US" altLang="en-US" i="1" dirty="0">
                    <a:solidFill>
                      <a:srgbClr val="000000"/>
                    </a:solidFill>
                  </a:rPr>
                  <a:t>t</a:t>
                </a:r>
                <a:r>
                  <a:rPr lang="en-US" altLang="en-US" dirty="0">
                    <a:solidFill>
                      <a:srgbClr val="000000"/>
                    </a:solidFill>
                  </a:rPr>
                  <a:t> statistic is close to the </a:t>
                </a:r>
                <a:r>
                  <a:rPr lang="en-US" altLang="en-US" i="1" dirty="0">
                    <a:solidFill>
                      <a:srgbClr val="000000"/>
                    </a:solidFill>
                  </a:rPr>
                  <a:t>t</a:t>
                </a:r>
                <a:r>
                  <a:rPr lang="en-US" altLang="en-US" dirty="0">
                    <a:solidFill>
                      <a:srgbClr val="000000"/>
                    </a:solidFill>
                  </a:rPr>
                  <a:t> distribution with degrees of freedom given by</a:t>
                </a:r>
              </a:p>
              <a:p>
                <a:pPr eaLnBrk="1" hangingPunct="1">
                  <a:spcBef>
                    <a:spcPts val="1200"/>
                  </a:spcBef>
                  <a:spcAft>
                    <a:spcPts val="1200"/>
                  </a:spcAft>
                  <a:defRPr/>
                </a:pPr>
                <a14:m>
                  <m:oMathPara xmlns:m="http://schemas.openxmlformats.org/officeDocument/2006/math">
                    <m:oMathParaPr>
                      <m:jc m:val="centerGroup"/>
                    </m:oMathParaPr>
                    <m:oMath xmlns:m="http://schemas.openxmlformats.org/officeDocument/2006/math">
                      <m:r>
                        <m:rPr>
                          <m:sty m:val="p"/>
                        </m:rPr>
                        <a:rPr lang="en-US" altLang="en-US" b="0" i="0" smtClean="0">
                          <a:solidFill>
                            <a:srgbClr val="000000"/>
                          </a:solidFill>
                          <a:latin typeface="Cambria Math" panose="02040503050406030204" pitchFamily="18" charset="0"/>
                        </a:rPr>
                        <m:t>df</m:t>
                      </m:r>
                      <m:r>
                        <a:rPr lang="en-US" altLang="en-US" b="0" i="1" smtClean="0">
                          <a:solidFill>
                            <a:srgbClr val="000000"/>
                          </a:solidFill>
                          <a:latin typeface="Cambria Math" panose="02040503050406030204" pitchFamily="18" charset="0"/>
                        </a:rPr>
                        <m:t>=</m:t>
                      </m:r>
                      <m:f>
                        <m:fPr>
                          <m:ctrlPr>
                            <a:rPr lang="en-US" altLang="en-US" b="0" i="1" smtClean="0">
                              <a:solidFill>
                                <a:srgbClr val="000000"/>
                              </a:solidFill>
                              <a:latin typeface="Cambria Math" panose="02040503050406030204" pitchFamily="18" charset="0"/>
                            </a:rPr>
                          </m:ctrlPr>
                        </m:fPr>
                        <m:num>
                          <m:sSup>
                            <m:sSupPr>
                              <m:ctrlPr>
                                <a:rPr lang="en-US" altLang="en-US" b="0" i="1" smtClean="0">
                                  <a:solidFill>
                                    <a:srgbClr val="000000"/>
                                  </a:solidFill>
                                  <a:latin typeface="Cambria Math" panose="02040503050406030204" pitchFamily="18" charset="0"/>
                                </a:rPr>
                              </m:ctrlPr>
                            </m:sSupPr>
                            <m:e>
                              <m:d>
                                <m:dPr>
                                  <m:ctrlPr>
                                    <a:rPr lang="en-US" altLang="en-US" b="0" i="1" smtClean="0">
                                      <a:solidFill>
                                        <a:srgbClr val="000000"/>
                                      </a:solidFill>
                                      <a:latin typeface="Cambria Math" panose="02040503050406030204" pitchFamily="18" charset="0"/>
                                    </a:rPr>
                                  </m:ctrlPr>
                                </m:dPr>
                                <m:e>
                                  <m:f>
                                    <m:fPr>
                                      <m:ctrlPr>
                                        <a:rPr lang="en-US" altLang="en-US" b="0" i="1" smtClean="0">
                                          <a:solidFill>
                                            <a:srgbClr val="000000"/>
                                          </a:solidFill>
                                          <a:latin typeface="Cambria Math" panose="02040503050406030204" pitchFamily="18" charset="0"/>
                                        </a:rPr>
                                      </m:ctrlPr>
                                    </m:fPr>
                                    <m:num>
                                      <m:sSubSup>
                                        <m:sSubSupPr>
                                          <m:ctrlPr>
                                            <a:rPr lang="en-US" altLang="en-US" b="0" i="1" smtClean="0">
                                              <a:solidFill>
                                                <a:srgbClr val="000000"/>
                                              </a:solidFill>
                                              <a:latin typeface="Cambria Math" panose="02040503050406030204" pitchFamily="18" charset="0"/>
                                            </a:rPr>
                                          </m:ctrlPr>
                                        </m:sSubSupPr>
                                        <m:e>
                                          <m:r>
                                            <a:rPr lang="en-US" altLang="en-US" b="0" i="1" smtClean="0">
                                              <a:solidFill>
                                                <a:srgbClr val="000000"/>
                                              </a:solidFill>
                                              <a:latin typeface="Cambria Math" panose="02040503050406030204" pitchFamily="18" charset="0"/>
                                            </a:rPr>
                                            <m:t>𝑠</m:t>
                                          </m:r>
                                        </m:e>
                                        <m:sub>
                                          <m:r>
                                            <a:rPr lang="en-US" altLang="en-US" b="0" i="1" smtClean="0">
                                              <a:solidFill>
                                                <a:srgbClr val="000000"/>
                                              </a:solidFill>
                                              <a:latin typeface="Cambria Math" panose="02040503050406030204" pitchFamily="18" charset="0"/>
                                            </a:rPr>
                                            <m:t>1</m:t>
                                          </m:r>
                                        </m:sub>
                                        <m:sup>
                                          <m:r>
                                            <a:rPr lang="en-US" altLang="en-US" b="0" i="1" smtClean="0">
                                              <a:solidFill>
                                                <a:srgbClr val="000000"/>
                                              </a:solidFill>
                                              <a:latin typeface="Cambria Math" panose="02040503050406030204" pitchFamily="18" charset="0"/>
                                            </a:rPr>
                                            <m:t>2</m:t>
                                          </m:r>
                                        </m:sup>
                                      </m:sSubSup>
                                    </m:num>
                                    <m:den>
                                      <m:sSub>
                                        <m:sSubPr>
                                          <m:ctrlPr>
                                            <a:rPr lang="en-US" altLang="en-US" b="0" i="1" smtClean="0">
                                              <a:solidFill>
                                                <a:srgbClr val="000000"/>
                                              </a:solidFill>
                                              <a:latin typeface="Cambria Math" panose="02040503050406030204" pitchFamily="18" charset="0"/>
                                            </a:rPr>
                                          </m:ctrlPr>
                                        </m:sSubPr>
                                        <m:e>
                                          <m:r>
                                            <a:rPr lang="en-US" altLang="en-US" b="0" i="1" smtClean="0">
                                              <a:solidFill>
                                                <a:srgbClr val="000000"/>
                                              </a:solidFill>
                                              <a:latin typeface="Cambria Math" panose="02040503050406030204" pitchFamily="18" charset="0"/>
                                            </a:rPr>
                                            <m:t>𝑛</m:t>
                                          </m:r>
                                        </m:e>
                                        <m:sub>
                                          <m:r>
                                            <a:rPr lang="en-US" altLang="en-US" b="0" i="1" smtClean="0">
                                              <a:solidFill>
                                                <a:srgbClr val="000000"/>
                                              </a:solidFill>
                                              <a:latin typeface="Cambria Math" panose="02040503050406030204" pitchFamily="18" charset="0"/>
                                            </a:rPr>
                                            <m:t>1</m:t>
                                          </m:r>
                                        </m:sub>
                                      </m:sSub>
                                    </m:den>
                                  </m:f>
                                  <m:r>
                                    <a:rPr lang="en-US" altLang="en-US" b="0" i="1" smtClean="0">
                                      <a:solidFill>
                                        <a:srgbClr val="000000"/>
                                      </a:solidFill>
                                      <a:latin typeface="Cambria Math" panose="02040503050406030204" pitchFamily="18" charset="0"/>
                                    </a:rPr>
                                    <m:t>+</m:t>
                                  </m:r>
                                  <m:f>
                                    <m:fPr>
                                      <m:ctrlPr>
                                        <a:rPr lang="en-US" altLang="en-US" b="0" i="1" smtClean="0">
                                          <a:solidFill>
                                            <a:srgbClr val="000000"/>
                                          </a:solidFill>
                                          <a:latin typeface="Cambria Math" panose="02040503050406030204" pitchFamily="18" charset="0"/>
                                        </a:rPr>
                                      </m:ctrlPr>
                                    </m:fPr>
                                    <m:num>
                                      <m:sSubSup>
                                        <m:sSubSupPr>
                                          <m:ctrlPr>
                                            <a:rPr lang="en-US" altLang="en-US" b="0" i="1" smtClean="0">
                                              <a:solidFill>
                                                <a:srgbClr val="000000"/>
                                              </a:solidFill>
                                              <a:latin typeface="Cambria Math" panose="02040503050406030204" pitchFamily="18" charset="0"/>
                                            </a:rPr>
                                          </m:ctrlPr>
                                        </m:sSubSupPr>
                                        <m:e>
                                          <m:r>
                                            <a:rPr lang="en-US" altLang="en-US" b="0" i="1" smtClean="0">
                                              <a:solidFill>
                                                <a:srgbClr val="000000"/>
                                              </a:solidFill>
                                              <a:latin typeface="Cambria Math" panose="02040503050406030204" pitchFamily="18" charset="0"/>
                                            </a:rPr>
                                            <m:t>𝑠</m:t>
                                          </m:r>
                                        </m:e>
                                        <m:sub>
                                          <m:r>
                                            <a:rPr lang="en-US" altLang="en-US" b="0" i="1" smtClean="0">
                                              <a:solidFill>
                                                <a:srgbClr val="000000"/>
                                              </a:solidFill>
                                              <a:latin typeface="Cambria Math" panose="02040503050406030204" pitchFamily="18" charset="0"/>
                                            </a:rPr>
                                            <m:t>2</m:t>
                                          </m:r>
                                        </m:sub>
                                        <m:sup>
                                          <m:r>
                                            <a:rPr lang="en-US" altLang="en-US" b="0" i="1" smtClean="0">
                                              <a:solidFill>
                                                <a:srgbClr val="000000"/>
                                              </a:solidFill>
                                              <a:latin typeface="Cambria Math" panose="02040503050406030204" pitchFamily="18" charset="0"/>
                                            </a:rPr>
                                            <m:t>2</m:t>
                                          </m:r>
                                        </m:sup>
                                      </m:sSubSup>
                                    </m:num>
                                    <m:den>
                                      <m:sSub>
                                        <m:sSubPr>
                                          <m:ctrlPr>
                                            <a:rPr lang="en-US" altLang="en-US" b="0" i="1" smtClean="0">
                                              <a:solidFill>
                                                <a:srgbClr val="000000"/>
                                              </a:solidFill>
                                              <a:latin typeface="Cambria Math" panose="02040503050406030204" pitchFamily="18" charset="0"/>
                                            </a:rPr>
                                          </m:ctrlPr>
                                        </m:sSubPr>
                                        <m:e>
                                          <m:r>
                                            <a:rPr lang="en-US" altLang="en-US" b="0" i="1" smtClean="0">
                                              <a:solidFill>
                                                <a:srgbClr val="000000"/>
                                              </a:solidFill>
                                              <a:latin typeface="Cambria Math" panose="02040503050406030204" pitchFamily="18" charset="0"/>
                                            </a:rPr>
                                            <m:t>𝑛</m:t>
                                          </m:r>
                                        </m:e>
                                        <m:sub>
                                          <m:r>
                                            <a:rPr lang="en-US" altLang="en-US" b="0" i="1" smtClean="0">
                                              <a:solidFill>
                                                <a:srgbClr val="000000"/>
                                              </a:solidFill>
                                              <a:latin typeface="Cambria Math" panose="02040503050406030204" pitchFamily="18" charset="0"/>
                                            </a:rPr>
                                            <m:t>2</m:t>
                                          </m:r>
                                        </m:sub>
                                      </m:sSub>
                                    </m:den>
                                  </m:f>
                                </m:e>
                              </m:d>
                            </m:e>
                            <m:sup>
                              <m:r>
                                <a:rPr lang="en-US" altLang="en-US" b="0" i="1" smtClean="0">
                                  <a:solidFill>
                                    <a:srgbClr val="000000"/>
                                  </a:solidFill>
                                  <a:latin typeface="Cambria Math" panose="02040503050406030204" pitchFamily="18" charset="0"/>
                                </a:rPr>
                                <m:t>2</m:t>
                              </m:r>
                            </m:sup>
                          </m:sSup>
                        </m:num>
                        <m:den>
                          <m:f>
                            <m:fPr>
                              <m:ctrlPr>
                                <a:rPr lang="en-US" altLang="en-US" b="0" i="1" smtClean="0">
                                  <a:solidFill>
                                    <a:srgbClr val="000000"/>
                                  </a:solidFill>
                                  <a:latin typeface="Cambria Math" panose="02040503050406030204" pitchFamily="18" charset="0"/>
                                </a:rPr>
                              </m:ctrlPr>
                            </m:fPr>
                            <m:num>
                              <m:r>
                                <a:rPr lang="en-US" altLang="en-US" b="0" i="1" smtClean="0">
                                  <a:solidFill>
                                    <a:srgbClr val="000000"/>
                                  </a:solidFill>
                                  <a:latin typeface="Cambria Math" panose="02040503050406030204" pitchFamily="18" charset="0"/>
                                </a:rPr>
                                <m:t>1</m:t>
                              </m:r>
                            </m:num>
                            <m:den>
                              <m:sSub>
                                <m:sSubPr>
                                  <m:ctrlPr>
                                    <a:rPr lang="en-US" altLang="en-US" b="0" i="1" smtClean="0">
                                      <a:solidFill>
                                        <a:srgbClr val="000000"/>
                                      </a:solidFill>
                                      <a:latin typeface="Cambria Math" panose="02040503050406030204" pitchFamily="18" charset="0"/>
                                    </a:rPr>
                                  </m:ctrlPr>
                                </m:sSubPr>
                                <m:e>
                                  <m:r>
                                    <a:rPr lang="en-US" altLang="en-US" b="0" i="1" smtClean="0">
                                      <a:solidFill>
                                        <a:srgbClr val="000000"/>
                                      </a:solidFill>
                                      <a:latin typeface="Cambria Math" panose="02040503050406030204" pitchFamily="18" charset="0"/>
                                    </a:rPr>
                                    <m:t>𝑛</m:t>
                                  </m:r>
                                </m:e>
                                <m:sub>
                                  <m:r>
                                    <a:rPr lang="en-US" altLang="en-US" b="0" i="1" smtClean="0">
                                      <a:solidFill>
                                        <a:srgbClr val="000000"/>
                                      </a:solidFill>
                                      <a:latin typeface="Cambria Math" panose="02040503050406030204" pitchFamily="18" charset="0"/>
                                    </a:rPr>
                                    <m:t>1</m:t>
                                  </m:r>
                                </m:sub>
                              </m:sSub>
                              <m:r>
                                <a:rPr lang="en-US" altLang="en-US" b="0" i="1" smtClean="0">
                                  <a:solidFill>
                                    <a:srgbClr val="000000"/>
                                  </a:solidFill>
                                  <a:latin typeface="Cambria Math" panose="02040503050406030204" pitchFamily="18" charset="0"/>
                                </a:rPr>
                                <m:t>−1</m:t>
                              </m:r>
                            </m:den>
                          </m:f>
                          <m:sSup>
                            <m:sSupPr>
                              <m:ctrlPr>
                                <a:rPr lang="en-US" altLang="en-US" b="0" i="1" smtClean="0">
                                  <a:solidFill>
                                    <a:srgbClr val="000000"/>
                                  </a:solidFill>
                                  <a:latin typeface="Cambria Math" panose="02040503050406030204" pitchFamily="18" charset="0"/>
                                </a:rPr>
                              </m:ctrlPr>
                            </m:sSupPr>
                            <m:e>
                              <m:d>
                                <m:dPr>
                                  <m:ctrlPr>
                                    <a:rPr lang="en-US" altLang="en-US" b="0" i="1" smtClean="0">
                                      <a:solidFill>
                                        <a:srgbClr val="000000"/>
                                      </a:solidFill>
                                      <a:latin typeface="Cambria Math" panose="02040503050406030204" pitchFamily="18" charset="0"/>
                                    </a:rPr>
                                  </m:ctrlPr>
                                </m:dPr>
                                <m:e>
                                  <m:f>
                                    <m:fPr>
                                      <m:ctrlPr>
                                        <a:rPr lang="en-US" altLang="en-US" b="0" i="1" smtClean="0">
                                          <a:solidFill>
                                            <a:srgbClr val="000000"/>
                                          </a:solidFill>
                                          <a:latin typeface="Cambria Math" panose="02040503050406030204" pitchFamily="18" charset="0"/>
                                        </a:rPr>
                                      </m:ctrlPr>
                                    </m:fPr>
                                    <m:num>
                                      <m:sSubSup>
                                        <m:sSubSupPr>
                                          <m:ctrlPr>
                                            <a:rPr lang="en-US" altLang="en-US" b="0" i="1" smtClean="0">
                                              <a:solidFill>
                                                <a:srgbClr val="000000"/>
                                              </a:solidFill>
                                              <a:latin typeface="Cambria Math" panose="02040503050406030204" pitchFamily="18" charset="0"/>
                                            </a:rPr>
                                          </m:ctrlPr>
                                        </m:sSubSupPr>
                                        <m:e>
                                          <m:r>
                                            <a:rPr lang="en-US" altLang="en-US" b="0" i="1" smtClean="0">
                                              <a:solidFill>
                                                <a:srgbClr val="000000"/>
                                              </a:solidFill>
                                              <a:latin typeface="Cambria Math" panose="02040503050406030204" pitchFamily="18" charset="0"/>
                                            </a:rPr>
                                            <m:t>𝑠</m:t>
                                          </m:r>
                                        </m:e>
                                        <m:sub>
                                          <m:r>
                                            <a:rPr lang="en-US" altLang="en-US" b="0" i="1" smtClean="0">
                                              <a:solidFill>
                                                <a:srgbClr val="000000"/>
                                              </a:solidFill>
                                              <a:latin typeface="Cambria Math" panose="02040503050406030204" pitchFamily="18" charset="0"/>
                                            </a:rPr>
                                            <m:t>1</m:t>
                                          </m:r>
                                        </m:sub>
                                        <m:sup>
                                          <m:r>
                                            <a:rPr lang="en-US" altLang="en-US" b="0" i="1" smtClean="0">
                                              <a:solidFill>
                                                <a:srgbClr val="000000"/>
                                              </a:solidFill>
                                              <a:latin typeface="Cambria Math" panose="02040503050406030204" pitchFamily="18" charset="0"/>
                                            </a:rPr>
                                            <m:t>2</m:t>
                                          </m:r>
                                        </m:sup>
                                      </m:sSubSup>
                                    </m:num>
                                    <m:den>
                                      <m:sSub>
                                        <m:sSubPr>
                                          <m:ctrlPr>
                                            <a:rPr lang="en-US" altLang="en-US" b="0" i="1" smtClean="0">
                                              <a:solidFill>
                                                <a:srgbClr val="000000"/>
                                              </a:solidFill>
                                              <a:latin typeface="Cambria Math" panose="02040503050406030204" pitchFamily="18" charset="0"/>
                                            </a:rPr>
                                          </m:ctrlPr>
                                        </m:sSubPr>
                                        <m:e>
                                          <m:r>
                                            <a:rPr lang="en-US" altLang="en-US" b="0" i="1" smtClean="0">
                                              <a:solidFill>
                                                <a:srgbClr val="000000"/>
                                              </a:solidFill>
                                              <a:latin typeface="Cambria Math" panose="02040503050406030204" pitchFamily="18" charset="0"/>
                                            </a:rPr>
                                            <m:t>𝑛</m:t>
                                          </m:r>
                                        </m:e>
                                        <m:sub>
                                          <m:r>
                                            <a:rPr lang="en-US" altLang="en-US" b="0" i="1" smtClean="0">
                                              <a:solidFill>
                                                <a:srgbClr val="000000"/>
                                              </a:solidFill>
                                              <a:latin typeface="Cambria Math" panose="02040503050406030204" pitchFamily="18" charset="0"/>
                                            </a:rPr>
                                            <m:t>1</m:t>
                                          </m:r>
                                        </m:sub>
                                      </m:sSub>
                                    </m:den>
                                  </m:f>
                                </m:e>
                              </m:d>
                            </m:e>
                            <m:sup>
                              <m:r>
                                <a:rPr lang="en-US" altLang="en-US" b="0" i="1" smtClean="0">
                                  <a:solidFill>
                                    <a:srgbClr val="000000"/>
                                  </a:solidFill>
                                  <a:latin typeface="Cambria Math" panose="02040503050406030204" pitchFamily="18" charset="0"/>
                                </a:rPr>
                                <m:t>2</m:t>
                              </m:r>
                            </m:sup>
                          </m:sSup>
                          <m:r>
                            <a:rPr lang="en-US" altLang="en-US" b="0" i="1" smtClean="0">
                              <a:solidFill>
                                <a:srgbClr val="000000"/>
                              </a:solidFill>
                              <a:latin typeface="Cambria Math" panose="02040503050406030204" pitchFamily="18" charset="0"/>
                            </a:rPr>
                            <m:t>+</m:t>
                          </m:r>
                          <m:f>
                            <m:fPr>
                              <m:ctrlPr>
                                <a:rPr lang="en-US" altLang="en-US" i="1">
                                  <a:solidFill>
                                    <a:srgbClr val="000000"/>
                                  </a:solidFill>
                                  <a:latin typeface="Cambria Math" panose="02040503050406030204" pitchFamily="18" charset="0"/>
                                </a:rPr>
                              </m:ctrlPr>
                            </m:fPr>
                            <m:num>
                              <m:r>
                                <a:rPr lang="en-US" altLang="en-US" i="1">
                                  <a:solidFill>
                                    <a:srgbClr val="000000"/>
                                  </a:solidFill>
                                  <a:latin typeface="Cambria Math" panose="02040503050406030204" pitchFamily="18" charset="0"/>
                                </a:rPr>
                                <m:t>1</m:t>
                              </m:r>
                            </m:num>
                            <m:den>
                              <m:sSub>
                                <m:sSubPr>
                                  <m:ctrlPr>
                                    <a:rPr lang="en-US" altLang="en-US" i="1">
                                      <a:solidFill>
                                        <a:srgbClr val="000000"/>
                                      </a:solidFill>
                                      <a:latin typeface="Cambria Math" panose="02040503050406030204" pitchFamily="18" charset="0"/>
                                    </a:rPr>
                                  </m:ctrlPr>
                                </m:sSubPr>
                                <m:e>
                                  <m:r>
                                    <a:rPr lang="en-US" altLang="en-US" i="1">
                                      <a:solidFill>
                                        <a:srgbClr val="000000"/>
                                      </a:solidFill>
                                      <a:latin typeface="Cambria Math" panose="02040503050406030204" pitchFamily="18" charset="0"/>
                                    </a:rPr>
                                    <m:t>𝑛</m:t>
                                  </m:r>
                                </m:e>
                                <m:sub>
                                  <m:r>
                                    <a:rPr lang="en-US" altLang="en-US" b="0" i="1" smtClean="0">
                                      <a:solidFill>
                                        <a:srgbClr val="000000"/>
                                      </a:solidFill>
                                      <a:latin typeface="Cambria Math" panose="02040503050406030204" pitchFamily="18" charset="0"/>
                                    </a:rPr>
                                    <m:t>2</m:t>
                                  </m:r>
                                </m:sub>
                              </m:sSub>
                              <m:r>
                                <a:rPr lang="en-US" altLang="en-US" i="1">
                                  <a:solidFill>
                                    <a:srgbClr val="000000"/>
                                  </a:solidFill>
                                  <a:latin typeface="Cambria Math" panose="02040503050406030204" pitchFamily="18" charset="0"/>
                                </a:rPr>
                                <m:t>−1</m:t>
                              </m:r>
                            </m:den>
                          </m:f>
                          <m:sSup>
                            <m:sSupPr>
                              <m:ctrlPr>
                                <a:rPr lang="en-US" altLang="en-US" i="1">
                                  <a:solidFill>
                                    <a:srgbClr val="000000"/>
                                  </a:solidFill>
                                  <a:latin typeface="Cambria Math" panose="02040503050406030204" pitchFamily="18" charset="0"/>
                                </a:rPr>
                              </m:ctrlPr>
                            </m:sSupPr>
                            <m:e>
                              <m:d>
                                <m:dPr>
                                  <m:ctrlPr>
                                    <a:rPr lang="en-US" altLang="en-US" i="1">
                                      <a:solidFill>
                                        <a:srgbClr val="000000"/>
                                      </a:solidFill>
                                      <a:latin typeface="Cambria Math" panose="02040503050406030204" pitchFamily="18" charset="0"/>
                                    </a:rPr>
                                  </m:ctrlPr>
                                </m:dPr>
                                <m:e>
                                  <m:f>
                                    <m:fPr>
                                      <m:ctrlPr>
                                        <a:rPr lang="en-US" altLang="en-US" i="1">
                                          <a:solidFill>
                                            <a:srgbClr val="000000"/>
                                          </a:solidFill>
                                          <a:latin typeface="Cambria Math" panose="02040503050406030204" pitchFamily="18" charset="0"/>
                                        </a:rPr>
                                      </m:ctrlPr>
                                    </m:fPr>
                                    <m:num>
                                      <m:sSubSup>
                                        <m:sSubSupPr>
                                          <m:ctrlPr>
                                            <a:rPr lang="en-US" altLang="en-US" i="1">
                                              <a:solidFill>
                                                <a:srgbClr val="000000"/>
                                              </a:solidFill>
                                              <a:latin typeface="Cambria Math" panose="02040503050406030204" pitchFamily="18" charset="0"/>
                                            </a:rPr>
                                          </m:ctrlPr>
                                        </m:sSubSupPr>
                                        <m:e>
                                          <m:r>
                                            <a:rPr lang="en-US" altLang="en-US" i="1">
                                              <a:solidFill>
                                                <a:srgbClr val="000000"/>
                                              </a:solidFill>
                                              <a:latin typeface="Cambria Math" panose="02040503050406030204" pitchFamily="18" charset="0"/>
                                            </a:rPr>
                                            <m:t>𝑠</m:t>
                                          </m:r>
                                        </m:e>
                                        <m:sub>
                                          <m:r>
                                            <a:rPr lang="en-US" altLang="en-US" b="0" i="1" smtClean="0">
                                              <a:solidFill>
                                                <a:srgbClr val="000000"/>
                                              </a:solidFill>
                                              <a:latin typeface="Cambria Math" panose="02040503050406030204" pitchFamily="18" charset="0"/>
                                            </a:rPr>
                                            <m:t>2</m:t>
                                          </m:r>
                                        </m:sub>
                                        <m:sup>
                                          <m:r>
                                            <a:rPr lang="en-US" altLang="en-US" i="1">
                                              <a:solidFill>
                                                <a:srgbClr val="000000"/>
                                              </a:solidFill>
                                              <a:latin typeface="Cambria Math" panose="02040503050406030204" pitchFamily="18" charset="0"/>
                                            </a:rPr>
                                            <m:t>2</m:t>
                                          </m:r>
                                        </m:sup>
                                      </m:sSubSup>
                                    </m:num>
                                    <m:den>
                                      <m:sSub>
                                        <m:sSubPr>
                                          <m:ctrlPr>
                                            <a:rPr lang="en-US" altLang="en-US" i="1">
                                              <a:solidFill>
                                                <a:srgbClr val="000000"/>
                                              </a:solidFill>
                                              <a:latin typeface="Cambria Math" panose="02040503050406030204" pitchFamily="18" charset="0"/>
                                            </a:rPr>
                                          </m:ctrlPr>
                                        </m:sSubPr>
                                        <m:e>
                                          <m:r>
                                            <a:rPr lang="en-US" altLang="en-US" i="1">
                                              <a:solidFill>
                                                <a:srgbClr val="000000"/>
                                              </a:solidFill>
                                              <a:latin typeface="Cambria Math" panose="02040503050406030204" pitchFamily="18" charset="0"/>
                                            </a:rPr>
                                            <m:t>𝑛</m:t>
                                          </m:r>
                                        </m:e>
                                        <m:sub>
                                          <m:r>
                                            <a:rPr lang="en-US" altLang="en-US" b="0" i="1" smtClean="0">
                                              <a:solidFill>
                                                <a:srgbClr val="000000"/>
                                              </a:solidFill>
                                              <a:latin typeface="Cambria Math" panose="02040503050406030204" pitchFamily="18" charset="0"/>
                                            </a:rPr>
                                            <m:t>2</m:t>
                                          </m:r>
                                        </m:sub>
                                      </m:sSub>
                                    </m:den>
                                  </m:f>
                                </m:e>
                              </m:d>
                            </m:e>
                            <m:sup>
                              <m:r>
                                <a:rPr lang="en-US" altLang="en-US" i="1">
                                  <a:solidFill>
                                    <a:srgbClr val="000000"/>
                                  </a:solidFill>
                                  <a:latin typeface="Cambria Math" panose="02040503050406030204" pitchFamily="18" charset="0"/>
                                </a:rPr>
                                <m:t>2</m:t>
                              </m:r>
                            </m:sup>
                          </m:sSup>
                        </m:den>
                      </m:f>
                    </m:oMath>
                  </m:oMathPara>
                </a14:m>
                <a:endParaRPr lang="en-US" altLang="en-US" i="1" dirty="0">
                  <a:solidFill>
                    <a:srgbClr val="000000"/>
                  </a:solidFill>
                </a:endParaRPr>
              </a:p>
              <a:p>
                <a:pPr eaLnBrk="1" hangingPunct="1">
                  <a:defRPr/>
                </a:pPr>
                <a:r>
                  <a:rPr lang="en-US" altLang="en-US" dirty="0">
                    <a:solidFill>
                      <a:srgbClr val="000000"/>
                    </a:solidFill>
                  </a:rPr>
                  <a:t>This approximation is accurate when both sample sizes are 5 or larger.</a:t>
                </a:r>
              </a:p>
            </p:txBody>
          </p:sp>
        </mc:Choice>
        <mc:Fallback xmlns="">
          <p:sp>
            <p:nvSpPr>
              <p:cNvPr id="11" name="TextBox 10"/>
              <p:cNvSpPr txBox="1">
                <a:spLocks noRot="1" noChangeAspect="1" noMove="1" noResize="1" noEditPoints="1" noAdjustHandles="1" noChangeArrowheads="1" noChangeShapeType="1" noTextEdit="1"/>
              </p:cNvSpPr>
              <p:nvPr/>
            </p:nvSpPr>
            <p:spPr bwMode="auto">
              <a:xfrm>
                <a:off x="432197" y="2627313"/>
                <a:ext cx="8330802" cy="3487878"/>
              </a:xfrm>
              <a:prstGeom prst="rect">
                <a:avLst/>
              </a:prstGeom>
              <a:blipFill rotWithShape="0">
                <a:blip r:embed="rId2"/>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p:txBody>
          <a:bodyPr/>
          <a:lstStyle/>
          <a:p>
            <a:pPr eaLnBrk="1" hangingPunct="1">
              <a:lnSpc>
                <a:spcPct val="110000"/>
              </a:lnSpc>
            </a:pPr>
            <a:r>
              <a:rPr lang="en-US" dirty="0">
                <a:solidFill>
                  <a:srgbClr val="073779"/>
                </a:solidFill>
                <a:latin typeface="Arial (Headings)" charset="0"/>
                <a:ea typeface="ＭＳ Ｐゴシック" pitchFamily="34" charset="-128"/>
              </a:rPr>
              <a:t>Pooled Two-Sample Procedures 1</a:t>
            </a:r>
          </a:p>
        </p:txBody>
      </p:sp>
      <p:sp>
        <p:nvSpPr>
          <p:cNvPr id="696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50AAA720-2077-4ED6-9F53-812E7F474CD3}" type="slidenum">
              <a:rPr lang="en-US" sz="1200">
                <a:solidFill>
                  <a:schemeClr val="accent1"/>
                </a:solidFill>
              </a:rPr>
              <a:pPr>
                <a:lnSpc>
                  <a:spcPct val="80000"/>
                </a:lnSpc>
              </a:pPr>
              <a:t>33</a:t>
            </a:fld>
            <a:endParaRPr lang="en-US" sz="1200">
              <a:solidFill>
                <a:schemeClr val="accent1"/>
              </a:solidFill>
            </a:endParaRPr>
          </a:p>
        </p:txBody>
      </p:sp>
      <p:sp>
        <p:nvSpPr>
          <p:cNvPr id="69634" name="Rectangle 3"/>
          <p:cNvSpPr>
            <a:spLocks noGrp="1" noChangeArrowheads="1"/>
          </p:cNvSpPr>
          <p:nvPr>
            <p:ph type="body" idx="4294967295"/>
          </p:nvPr>
        </p:nvSpPr>
        <p:spPr>
          <a:xfrm>
            <a:off x="174625" y="1158513"/>
            <a:ext cx="8264338" cy="1582738"/>
          </a:xfrm>
          <a:solidFill>
            <a:srgbClr val="FFD780"/>
          </a:solidFill>
        </p:spPr>
        <p:txBody>
          <a:bodyPr/>
          <a:lstStyle/>
          <a:p>
            <a:pPr marL="0" indent="0" algn="just" eaLnBrk="1" hangingPunct="1">
              <a:buFont typeface="Wingdings" pitchFamily="2" charset="2"/>
              <a:buNone/>
            </a:pPr>
            <a:r>
              <a:rPr lang="en-US" dirty="0">
                <a:solidFill>
                  <a:schemeClr val="tx1"/>
                </a:solidFill>
                <a:ea typeface="ＭＳ Ｐゴシック" pitchFamily="34" charset="-128"/>
              </a:rPr>
              <a:t>There are two versions of the two-sample </a:t>
            </a:r>
            <a:r>
              <a:rPr lang="en-US" i="1" dirty="0">
                <a:solidFill>
                  <a:schemeClr val="tx1"/>
                </a:solidFill>
                <a:ea typeface="ＭＳ Ｐゴシック" pitchFamily="34" charset="-128"/>
              </a:rPr>
              <a:t>t</a:t>
            </a:r>
            <a:r>
              <a:rPr lang="en-US" dirty="0">
                <a:solidFill>
                  <a:schemeClr val="tx1"/>
                </a:solidFill>
                <a:ea typeface="ＭＳ Ｐゴシック" pitchFamily="34" charset="-128"/>
              </a:rPr>
              <a:t>-test: one </a:t>
            </a:r>
            <a:r>
              <a:rPr lang="en-US" b="1" dirty="0">
                <a:solidFill>
                  <a:schemeClr val="tx1"/>
                </a:solidFill>
                <a:ea typeface="ＭＳ Ｐゴシック" pitchFamily="34" charset="-128"/>
              </a:rPr>
              <a:t>assuming equal variance (</a:t>
            </a:r>
            <a:r>
              <a:rPr lang="ja-JP" altLang="en-US" b="1" dirty="0">
                <a:solidFill>
                  <a:schemeClr val="tx1"/>
                </a:solidFill>
                <a:ea typeface="ＭＳ Ｐゴシック" pitchFamily="34" charset="-128"/>
              </a:rPr>
              <a:t>“</a:t>
            </a:r>
            <a:r>
              <a:rPr lang="en-US" altLang="ja-JP" b="1" dirty="0">
                <a:solidFill>
                  <a:schemeClr val="tx1"/>
                </a:solidFill>
                <a:ea typeface="ＭＳ Ｐゴシック" pitchFamily="34" charset="-128"/>
              </a:rPr>
              <a:t>pooled two-sample test</a:t>
            </a:r>
            <a:r>
              <a:rPr lang="ja-JP" altLang="en-US" b="1" dirty="0">
                <a:solidFill>
                  <a:schemeClr val="tx1"/>
                </a:solidFill>
                <a:ea typeface="ＭＳ Ｐゴシック" pitchFamily="34" charset="-128"/>
              </a:rPr>
              <a:t>”</a:t>
            </a:r>
            <a:r>
              <a:rPr lang="en-US" altLang="ja-JP" b="1" dirty="0">
                <a:solidFill>
                  <a:schemeClr val="tx1"/>
                </a:solidFill>
                <a:ea typeface="ＭＳ Ｐゴシック" pitchFamily="34" charset="-128"/>
              </a:rPr>
              <a:t>) </a:t>
            </a:r>
            <a:r>
              <a:rPr lang="en-US" altLang="ja-JP" dirty="0">
                <a:solidFill>
                  <a:schemeClr val="tx1"/>
                </a:solidFill>
                <a:ea typeface="ＭＳ Ｐゴシック" pitchFamily="34" charset="-128"/>
              </a:rPr>
              <a:t>and one </a:t>
            </a:r>
            <a:r>
              <a:rPr lang="en-US" altLang="ja-JP" b="1" dirty="0">
                <a:solidFill>
                  <a:schemeClr val="tx1"/>
                </a:solidFill>
                <a:ea typeface="ＭＳ Ｐゴシック" pitchFamily="34" charset="-128"/>
              </a:rPr>
              <a:t>not assuming equal variance </a:t>
            </a:r>
            <a:r>
              <a:rPr lang="en-US" altLang="ja-JP" dirty="0">
                <a:solidFill>
                  <a:schemeClr val="tx1"/>
                </a:solidFill>
                <a:ea typeface="ＭＳ Ｐゴシック" pitchFamily="34" charset="-128"/>
              </a:rPr>
              <a:t>(</a:t>
            </a:r>
            <a:r>
              <a:rPr lang="ja-JP" altLang="en-US" b="1" dirty="0">
                <a:solidFill>
                  <a:schemeClr val="tx1"/>
                </a:solidFill>
                <a:ea typeface="ＭＳ Ｐゴシック" pitchFamily="34" charset="-128"/>
              </a:rPr>
              <a:t>“</a:t>
            </a:r>
            <a:r>
              <a:rPr lang="en-US" altLang="ja-JP" b="1" dirty="0">
                <a:solidFill>
                  <a:schemeClr val="tx1"/>
                </a:solidFill>
                <a:ea typeface="ＭＳ Ｐゴシック" pitchFamily="34" charset="-128"/>
              </a:rPr>
              <a:t>unequal</a:t>
            </a:r>
            <a:r>
              <a:rPr lang="ja-JP" altLang="en-US" b="1" dirty="0">
                <a:solidFill>
                  <a:schemeClr val="tx1"/>
                </a:solidFill>
                <a:ea typeface="ＭＳ Ｐゴシック" pitchFamily="34" charset="-128"/>
              </a:rPr>
              <a:t>”</a:t>
            </a:r>
            <a:r>
              <a:rPr lang="en-US" altLang="ja-JP" b="1" dirty="0">
                <a:solidFill>
                  <a:schemeClr val="tx1"/>
                </a:solidFill>
                <a:ea typeface="ＭＳ Ｐゴシック" pitchFamily="34" charset="-128"/>
              </a:rPr>
              <a:t> variance</a:t>
            </a:r>
            <a:r>
              <a:rPr lang="en-US" altLang="ja-JP" dirty="0">
                <a:solidFill>
                  <a:schemeClr val="tx1"/>
                </a:solidFill>
                <a:ea typeface="ＭＳ Ｐゴシック" pitchFamily="34" charset="-128"/>
              </a:rPr>
              <a:t>, as we have studied)</a:t>
            </a:r>
            <a:r>
              <a:rPr lang="en-US" altLang="ja-JP" b="1" dirty="0">
                <a:solidFill>
                  <a:schemeClr val="tx1"/>
                </a:solidFill>
                <a:ea typeface="ＭＳ Ｐゴシック" pitchFamily="34" charset="-128"/>
              </a:rPr>
              <a:t> </a:t>
            </a:r>
            <a:r>
              <a:rPr lang="en-US" altLang="ja-JP" dirty="0">
                <a:solidFill>
                  <a:schemeClr val="tx1"/>
                </a:solidFill>
                <a:ea typeface="ＭＳ Ｐゴシック" pitchFamily="34" charset="-128"/>
              </a:rPr>
              <a:t>for the two populations. They have slightly different formulas and degrees of freedom.</a:t>
            </a:r>
            <a:endParaRPr lang="en-US" sz="1400" dirty="0">
              <a:solidFill>
                <a:schemeClr val="tx1"/>
              </a:solidFill>
              <a:ea typeface="ＭＳ Ｐゴシック" pitchFamily="34" charset="-128"/>
            </a:endParaRPr>
          </a:p>
        </p:txBody>
      </p:sp>
      <p:pic>
        <p:nvPicPr>
          <p:cNvPr id="69636" name="Picture 5" descr="The image shows a graph depicting two normally distributed populations with unequal variances. The graph with greater variance has flattened bell curve with more tail area whereas the graph of smaller variance is hightened with less tail area."/>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5013" y="3174276"/>
            <a:ext cx="4041587" cy="16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Rectangle 4"/>
          <p:cNvSpPr>
            <a:spLocks noChangeArrowheads="1"/>
          </p:cNvSpPr>
          <p:nvPr/>
        </p:nvSpPr>
        <p:spPr bwMode="auto">
          <a:xfrm>
            <a:off x="597339" y="5076473"/>
            <a:ext cx="355848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1" hangingPunct="1"/>
            <a:r>
              <a:rPr lang="en-US" sz="1600" dirty="0"/>
              <a:t>Two Normally distributed populations </a:t>
            </a:r>
          </a:p>
          <a:p>
            <a:pPr algn="ctr" eaLnBrk="1" hangingPunct="1"/>
            <a:r>
              <a:rPr lang="en-US" sz="1600" dirty="0"/>
              <a:t>with unequal variances</a:t>
            </a:r>
          </a:p>
        </p:txBody>
      </p:sp>
      <p:sp>
        <p:nvSpPr>
          <p:cNvPr id="1149958" name="Rectangle 6"/>
          <p:cNvSpPr>
            <a:spLocks noChangeArrowheads="1"/>
          </p:cNvSpPr>
          <p:nvPr/>
        </p:nvSpPr>
        <p:spPr bwMode="auto">
          <a:xfrm>
            <a:off x="4397376" y="2998242"/>
            <a:ext cx="4041587" cy="317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spcBef>
                <a:spcPct val="20000"/>
              </a:spcBef>
              <a:buClr>
                <a:srgbClr val="00CC99"/>
              </a:buClr>
              <a:buSzPct val="65000"/>
              <a:buFont typeface="Wingdings" pitchFamily="2" charset="2"/>
              <a:buNone/>
            </a:pPr>
            <a:r>
              <a:rPr lang="en-US" sz="2000" dirty="0"/>
              <a:t>The pooled (equal variance) two-sample </a:t>
            </a:r>
            <a:r>
              <a:rPr lang="en-US" sz="2000" i="1" dirty="0"/>
              <a:t>t </a:t>
            </a:r>
            <a:r>
              <a:rPr lang="en-US" sz="2000" dirty="0"/>
              <a:t>test was often used before computers, because it has exactly the </a:t>
            </a:r>
            <a:r>
              <a:rPr lang="en-US" sz="2000" i="1" dirty="0"/>
              <a:t>t</a:t>
            </a:r>
            <a:r>
              <a:rPr lang="en-US" sz="2000" dirty="0"/>
              <a:t> distribution for degrees of freedom </a:t>
            </a:r>
            <a:r>
              <a:rPr lang="en-US" sz="2000" i="1" dirty="0"/>
              <a:t>n</a:t>
            </a:r>
            <a:r>
              <a:rPr lang="en-US" sz="2000" baseline="-25000" dirty="0"/>
              <a:t>1</a:t>
            </a:r>
            <a:r>
              <a:rPr lang="en-US" sz="2000" dirty="0"/>
              <a:t> + </a:t>
            </a:r>
            <a:r>
              <a:rPr lang="en-US" sz="2000" i="1" dirty="0"/>
              <a:t>n</a:t>
            </a:r>
            <a:r>
              <a:rPr lang="en-US" sz="2000" baseline="-25000" dirty="0"/>
              <a:t>2</a:t>
            </a:r>
            <a:r>
              <a:rPr lang="en-US" sz="2000" dirty="0"/>
              <a:t> − 2. </a:t>
            </a:r>
          </a:p>
          <a:p>
            <a:pPr algn="just" eaLnBrk="1" hangingPunct="1">
              <a:spcBef>
                <a:spcPct val="60000"/>
              </a:spcBef>
              <a:buClr>
                <a:srgbClr val="00CC99"/>
              </a:buClr>
              <a:buSzPct val="65000"/>
              <a:buFont typeface="Wingdings" pitchFamily="2" charset="2"/>
              <a:buNone/>
            </a:pPr>
            <a:r>
              <a:rPr lang="en-US" sz="2000" dirty="0"/>
              <a:t>However, the assumption of equal variances is difficult to check; thus, the unequal variance test is safer.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99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995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73779"/>
                </a:solidFill>
                <a:latin typeface="Arial (Headings)" charset="0"/>
              </a:rPr>
              <a:t>Pooled Two-Sample Procedures 2</a:t>
            </a:r>
            <a:endParaRPr lang="en-US" dirty="0"/>
          </a:p>
        </p:txBody>
      </p:sp>
      <p:sp>
        <p:nvSpPr>
          <p:cNvPr id="71681"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BE836477-DF66-4410-9976-FD8B1096663D}" type="slidenum">
              <a:rPr lang="en-US" sz="1400">
                <a:solidFill>
                  <a:schemeClr val="accent1"/>
                </a:solidFill>
              </a:rPr>
              <a:pPr/>
              <a:t>34</a:t>
            </a:fld>
            <a:endParaRPr lang="en-US" sz="1400">
              <a:solidFill>
                <a:schemeClr val="accent1"/>
              </a:solidFill>
            </a:endParaRPr>
          </a:p>
        </p:txBody>
      </p:sp>
      <p:sp>
        <p:nvSpPr>
          <p:cNvPr id="71683" name="TextBox 5"/>
          <p:cNvSpPr txBox="1">
            <a:spLocks noChangeArrowheads="1"/>
          </p:cNvSpPr>
          <p:nvPr/>
        </p:nvSpPr>
        <p:spPr bwMode="auto">
          <a:xfrm>
            <a:off x="174625" y="1187451"/>
            <a:ext cx="8335169" cy="708025"/>
          </a:xfrm>
          <a:prstGeom prst="rect">
            <a:avLst/>
          </a:prstGeom>
          <a:solidFill>
            <a:srgbClr val="FFD780"/>
          </a:solidFill>
          <a:ln>
            <a:noFill/>
          </a:ln>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2000" dirty="0"/>
              <a:t>Suppose both populations are Normal and they have </a:t>
            </a:r>
            <a:r>
              <a:rPr lang="en-US" sz="2000" i="1" dirty="0"/>
              <a:t>the same standard deviations. </a:t>
            </a:r>
            <a:r>
              <a:rPr lang="en-US" sz="2000" dirty="0"/>
              <a:t>The </a:t>
            </a:r>
            <a:r>
              <a:rPr lang="en-US" sz="2000" b="1" dirty="0"/>
              <a:t>pooled estimator of </a:t>
            </a:r>
            <a:r>
              <a:rPr lang="en-US" sz="2000" b="1" i="1" dirty="0"/>
              <a:t>σ</a:t>
            </a:r>
            <a:r>
              <a:rPr lang="en-US" sz="2000" b="1" baseline="30000" dirty="0"/>
              <a:t>2</a:t>
            </a:r>
            <a:r>
              <a:rPr lang="en-US" sz="2000" b="1" dirty="0"/>
              <a:t> </a:t>
            </a:r>
            <a:r>
              <a:rPr lang="en-US" sz="2000" dirty="0">
                <a:solidFill>
                  <a:srgbClr val="000000"/>
                </a:solidFill>
              </a:rPr>
              <a:t>is</a:t>
            </a:r>
            <a:endParaRPr lang="en-US" sz="2000" i="1" dirty="0"/>
          </a:p>
        </p:txBody>
      </p:sp>
      <p:graphicFrame>
        <p:nvGraphicFramePr>
          <p:cNvPr id="71684" name="Object 4" descr="The image shows mathematical expression given as: &quot;s&quot; square subscript &quot;p&quot; equals to bracket open 'n one' minus 1 bracket close, multiply by square of &quot;s&quot; subscript 1,  plus bracket open 'n two' minus 1 bracket close, multiply by square of &quot;s&quot; subscript 2. The whole numerator is divided by 'n one' plus 'n two' minus 2."/>
          <p:cNvGraphicFramePr>
            <a:graphicFrameLocks noChangeAspect="1"/>
          </p:cNvGraphicFramePr>
          <p:nvPr>
            <p:extLst>
              <p:ext uri="{D42A27DB-BD31-4B8C-83A1-F6EECF244321}">
                <p14:modId xmlns:p14="http://schemas.microsoft.com/office/powerpoint/2010/main" val="1522887446"/>
              </p:ext>
            </p:extLst>
          </p:nvPr>
        </p:nvGraphicFramePr>
        <p:xfrm>
          <a:off x="3479446" y="2072943"/>
          <a:ext cx="2677864" cy="768142"/>
        </p:xfrm>
        <a:graphic>
          <a:graphicData uri="http://schemas.openxmlformats.org/presentationml/2006/ole">
            <mc:AlternateContent xmlns:mc="http://schemas.openxmlformats.org/markup-compatibility/2006">
              <mc:Choice xmlns:v="urn:schemas-microsoft-com:vml" Requires="v">
                <p:oleObj spid="_x0000_s7185" name="Equation" r:id="rId4" imgW="1549400" imgH="444500" progId="Equation.3">
                  <p:embed/>
                </p:oleObj>
              </mc:Choice>
              <mc:Fallback>
                <p:oleObj name="Equation" r:id="rId4" imgW="1549400" imgH="4445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9446" y="2072943"/>
                        <a:ext cx="2677864" cy="768142"/>
                      </a:xfrm>
                      <a:prstGeom prst="rect">
                        <a:avLst/>
                      </a:prstGeom>
                      <a:noFill/>
                      <a:ln>
                        <a:noFill/>
                      </a:ln>
                      <a:effectLst/>
                    </p:spPr>
                  </p:pic>
                </p:oleObj>
              </mc:Fallback>
            </mc:AlternateContent>
          </a:graphicData>
        </a:graphic>
      </p:graphicFrame>
      <p:sp>
        <p:nvSpPr>
          <p:cNvPr id="71685" name="TextBox 7"/>
          <p:cNvSpPr txBox="1">
            <a:spLocks noChangeArrowheads="1"/>
          </p:cNvSpPr>
          <p:nvPr/>
        </p:nvSpPr>
        <p:spPr bwMode="auto">
          <a:xfrm>
            <a:off x="174625" y="3479800"/>
            <a:ext cx="503158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buFont typeface="Wingdings" pitchFamily="2" charset="2"/>
              <a:buNone/>
            </a:pPr>
            <a:r>
              <a:rPr lang="en-US" sz="2000" dirty="0">
                <a:solidFill>
                  <a:srgbClr val="000000"/>
                </a:solidFill>
              </a:rPr>
              <a:t>A </a:t>
            </a:r>
            <a:r>
              <a:rPr lang="en-US" sz="2000" dirty="0"/>
              <a:t>level </a:t>
            </a:r>
            <a:r>
              <a:rPr lang="en-US" sz="2000" i="1" dirty="0"/>
              <a:t>C </a:t>
            </a:r>
            <a:r>
              <a:rPr lang="en-US" sz="2000" dirty="0"/>
              <a:t>confidence interval for </a:t>
            </a:r>
            <a:r>
              <a:rPr lang="en-US" sz="2000" i="1" dirty="0"/>
              <a:t>µ</a:t>
            </a:r>
            <a:r>
              <a:rPr lang="en-US" sz="2000" baseline="-25000" dirty="0"/>
              <a:t>1</a:t>
            </a:r>
            <a:r>
              <a:rPr lang="en-US" sz="2000" dirty="0"/>
              <a:t> − </a:t>
            </a:r>
            <a:r>
              <a:rPr lang="en-US" sz="2000" i="1" dirty="0"/>
              <a:t>µ</a:t>
            </a:r>
            <a:r>
              <a:rPr lang="en-US" sz="2000" baseline="-25000" dirty="0"/>
              <a:t>2</a:t>
            </a:r>
            <a:r>
              <a:rPr lang="en-US" sz="2000" dirty="0"/>
              <a:t>  </a:t>
            </a:r>
            <a:r>
              <a:rPr lang="en-US" sz="2000" dirty="0">
                <a:solidFill>
                  <a:srgbClr val="000000"/>
                </a:solidFill>
              </a:rPr>
              <a:t>is</a:t>
            </a:r>
          </a:p>
        </p:txBody>
      </p:sp>
      <p:graphicFrame>
        <p:nvGraphicFramePr>
          <p:cNvPr id="71686" name="Object 3" descr="The image shows mathematical expression as: bracket open 'x one bar' minus 'x two bar' bracket close, plus minus, t asterisk multiply by &quot;s&quot; subscript &quot;p&quot; multiply by the square root of '1' by 'n one' plus '1' by 'n two.'"/>
          <p:cNvGraphicFramePr>
            <a:graphicFrameLocks noChangeAspect="1"/>
          </p:cNvGraphicFramePr>
          <p:nvPr>
            <p:extLst>
              <p:ext uri="{D42A27DB-BD31-4B8C-83A1-F6EECF244321}">
                <p14:modId xmlns:p14="http://schemas.microsoft.com/office/powerpoint/2010/main" val="3486803987"/>
              </p:ext>
            </p:extLst>
          </p:nvPr>
        </p:nvGraphicFramePr>
        <p:xfrm>
          <a:off x="5123222" y="3265237"/>
          <a:ext cx="2898775" cy="908050"/>
        </p:xfrm>
        <a:graphic>
          <a:graphicData uri="http://schemas.openxmlformats.org/presentationml/2006/ole">
            <mc:AlternateContent xmlns:mc="http://schemas.openxmlformats.org/markup-compatibility/2006">
              <mc:Choice xmlns:v="urn:schemas-microsoft-com:vml" Requires="v">
                <p:oleObj spid="_x0000_s7186" name="Equation" r:id="rId6" imgW="1498600" imgH="469900" progId="Equation.3">
                  <p:embed/>
                </p:oleObj>
              </mc:Choice>
              <mc:Fallback>
                <p:oleObj name="Equation" r:id="rId6" imgW="1498600" imgH="4699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23222" y="3265237"/>
                        <a:ext cx="2898775" cy="9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1687" name="TextBox 10"/>
          <p:cNvSpPr txBox="1">
            <a:spLocks noChangeArrowheads="1"/>
          </p:cNvSpPr>
          <p:nvPr/>
        </p:nvSpPr>
        <p:spPr bwMode="auto">
          <a:xfrm>
            <a:off x="174625" y="4173287"/>
            <a:ext cx="7307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2000" dirty="0"/>
              <a:t>where</a:t>
            </a:r>
            <a:r>
              <a:rPr lang="en-US" sz="2000" i="1" dirty="0"/>
              <a:t> </a:t>
            </a:r>
            <a:r>
              <a:rPr lang="en-US" sz="2000" dirty="0"/>
              <a:t>the degrees of freedom for</a:t>
            </a:r>
            <a:r>
              <a:rPr lang="en-US" sz="2000" i="1" dirty="0"/>
              <a:t> t</a:t>
            </a:r>
            <a:r>
              <a:rPr lang="en-US" sz="2000" dirty="0"/>
              <a:t>* are </a:t>
            </a:r>
            <a:r>
              <a:rPr lang="en-US" sz="2000" b="1" i="1" dirty="0"/>
              <a:t>n</a:t>
            </a:r>
            <a:r>
              <a:rPr lang="en-US" sz="2000" b="1" baseline="-25000" dirty="0"/>
              <a:t>1</a:t>
            </a:r>
            <a:r>
              <a:rPr lang="en-US" sz="2000" b="1" dirty="0"/>
              <a:t> + </a:t>
            </a:r>
            <a:r>
              <a:rPr lang="en-US" sz="2000" b="1" i="1" dirty="0"/>
              <a:t>n</a:t>
            </a:r>
            <a:r>
              <a:rPr lang="en-US" sz="2000" b="1" baseline="-25000" dirty="0"/>
              <a:t>2</a:t>
            </a:r>
            <a:r>
              <a:rPr lang="en-US" sz="2000" b="1" dirty="0"/>
              <a:t> − 2</a:t>
            </a:r>
            <a:r>
              <a:rPr lang="en-US" sz="2000" dirty="0"/>
              <a:t>. </a:t>
            </a:r>
          </a:p>
        </p:txBody>
      </p:sp>
      <p:sp>
        <p:nvSpPr>
          <p:cNvPr id="71688" name="Rectangle 12"/>
          <p:cNvSpPr>
            <a:spLocks noChangeArrowheads="1"/>
          </p:cNvSpPr>
          <p:nvPr/>
        </p:nvSpPr>
        <p:spPr bwMode="auto">
          <a:xfrm>
            <a:off x="174624" y="4898858"/>
            <a:ext cx="537594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sz="2000" dirty="0">
                <a:solidFill>
                  <a:srgbClr val="000000"/>
                </a:solidFill>
              </a:rPr>
              <a:t>To test the hypothesis </a:t>
            </a:r>
            <a:r>
              <a:rPr lang="en-US" sz="2000" i="1" dirty="0">
                <a:solidFill>
                  <a:srgbClr val="000000"/>
                </a:solidFill>
              </a:rPr>
              <a:t>H</a:t>
            </a:r>
            <a:r>
              <a:rPr lang="en-US" sz="2000" baseline="-25000" dirty="0">
                <a:solidFill>
                  <a:srgbClr val="000000"/>
                </a:solidFill>
              </a:rPr>
              <a:t>0</a:t>
            </a:r>
            <a:r>
              <a:rPr lang="en-US" sz="2000" dirty="0">
                <a:solidFill>
                  <a:srgbClr val="000000"/>
                </a:solidFill>
              </a:rPr>
              <a:t>: </a:t>
            </a:r>
            <a:r>
              <a:rPr lang="en-US" sz="2000" i="1" dirty="0">
                <a:solidFill>
                  <a:srgbClr val="000000"/>
                </a:solidFill>
              </a:rPr>
              <a:t>µ</a:t>
            </a:r>
            <a:r>
              <a:rPr lang="en-US" sz="2000" baseline="-25000" dirty="0">
                <a:solidFill>
                  <a:srgbClr val="000000"/>
                </a:solidFill>
              </a:rPr>
              <a:t>1</a:t>
            </a:r>
            <a:r>
              <a:rPr lang="en-US" sz="2000" dirty="0">
                <a:solidFill>
                  <a:srgbClr val="000000"/>
                </a:solidFill>
              </a:rPr>
              <a:t> = </a:t>
            </a:r>
            <a:r>
              <a:rPr lang="en-US" sz="2000" i="1" dirty="0">
                <a:solidFill>
                  <a:srgbClr val="000000"/>
                </a:solidFill>
              </a:rPr>
              <a:t>µ</a:t>
            </a:r>
            <a:r>
              <a:rPr lang="en-US" sz="2000" baseline="-25000" dirty="0">
                <a:solidFill>
                  <a:srgbClr val="000000"/>
                </a:solidFill>
              </a:rPr>
              <a:t>2</a:t>
            </a:r>
            <a:r>
              <a:rPr lang="en-US" sz="2000" dirty="0">
                <a:solidFill>
                  <a:srgbClr val="000000"/>
                </a:solidFill>
              </a:rPr>
              <a:t> against a </a:t>
            </a:r>
            <a:br>
              <a:rPr lang="en-US" sz="2000" dirty="0">
                <a:solidFill>
                  <a:srgbClr val="000000"/>
                </a:solidFill>
              </a:rPr>
            </a:br>
            <a:r>
              <a:rPr lang="en-US" sz="2000" dirty="0">
                <a:solidFill>
                  <a:srgbClr val="000000"/>
                </a:solidFill>
              </a:rPr>
              <a:t>one-sided or a two-sided alternative, compute the pooled two-sample </a:t>
            </a:r>
            <a:r>
              <a:rPr lang="en-US" sz="2000" i="1" dirty="0">
                <a:solidFill>
                  <a:srgbClr val="000000"/>
                </a:solidFill>
              </a:rPr>
              <a:t>t </a:t>
            </a:r>
            <a:r>
              <a:rPr lang="en-US" sz="2000" dirty="0">
                <a:solidFill>
                  <a:srgbClr val="000000"/>
                </a:solidFill>
              </a:rPr>
              <a:t>statistic for the </a:t>
            </a:r>
            <a:r>
              <a:rPr lang="en-US" sz="2000" i="1" dirty="0">
                <a:solidFill>
                  <a:srgbClr val="000000"/>
                </a:solidFill>
              </a:rPr>
              <a:t>t</a:t>
            </a:r>
            <a:r>
              <a:rPr lang="en-US" sz="2000" dirty="0">
                <a:solidFill>
                  <a:srgbClr val="000000"/>
                </a:solidFill>
              </a:rPr>
              <a:t>(</a:t>
            </a:r>
            <a:r>
              <a:rPr lang="en-US" sz="2000" i="1" dirty="0">
                <a:solidFill>
                  <a:srgbClr val="000000"/>
                </a:solidFill>
              </a:rPr>
              <a:t>n</a:t>
            </a:r>
            <a:r>
              <a:rPr lang="en-US" sz="2000" baseline="-25000" dirty="0">
                <a:solidFill>
                  <a:srgbClr val="000000"/>
                </a:solidFill>
              </a:rPr>
              <a:t>1</a:t>
            </a:r>
            <a:r>
              <a:rPr lang="en-US" sz="2000" dirty="0">
                <a:solidFill>
                  <a:srgbClr val="000000"/>
                </a:solidFill>
              </a:rPr>
              <a:t> + </a:t>
            </a:r>
            <a:r>
              <a:rPr lang="en-US" sz="2000" i="1" dirty="0">
                <a:solidFill>
                  <a:srgbClr val="000000"/>
                </a:solidFill>
              </a:rPr>
              <a:t>n</a:t>
            </a:r>
            <a:r>
              <a:rPr lang="en-US" sz="2000" baseline="-25000" dirty="0">
                <a:solidFill>
                  <a:srgbClr val="000000"/>
                </a:solidFill>
              </a:rPr>
              <a:t>2</a:t>
            </a:r>
            <a:r>
              <a:rPr lang="en-US" sz="2000" dirty="0">
                <a:solidFill>
                  <a:srgbClr val="000000"/>
                </a:solidFill>
              </a:rPr>
              <a:t> − 2)</a:t>
            </a:r>
            <a:r>
              <a:rPr lang="en-US" sz="2000" i="1" dirty="0">
                <a:solidFill>
                  <a:srgbClr val="000000"/>
                </a:solidFill>
              </a:rPr>
              <a:t> </a:t>
            </a:r>
            <a:r>
              <a:rPr lang="en-US" sz="2000" dirty="0">
                <a:solidFill>
                  <a:srgbClr val="000000"/>
                </a:solidFill>
              </a:rPr>
              <a:t>distribution.</a:t>
            </a:r>
            <a:endParaRPr lang="en-US" sz="2000" dirty="0"/>
          </a:p>
        </p:txBody>
      </p:sp>
      <p:graphicFrame>
        <p:nvGraphicFramePr>
          <p:cNvPr id="14" name="Object 2" descr="The image shows mathematical expression as &quot;t&quot; equals to 'x one bar' minus 'x two bar' whole divide by 's subscript p' multiply by square root of 1 by 'n one' plus 1 by 'n two.'"/>
          <p:cNvGraphicFramePr>
            <a:graphicFrameLocks noChangeAspect="1"/>
          </p:cNvGraphicFramePr>
          <p:nvPr>
            <p:extLst>
              <p:ext uri="{D42A27DB-BD31-4B8C-83A1-F6EECF244321}">
                <p14:modId xmlns:p14="http://schemas.microsoft.com/office/powerpoint/2010/main" val="2819608104"/>
              </p:ext>
            </p:extLst>
          </p:nvPr>
        </p:nvGraphicFramePr>
        <p:xfrm>
          <a:off x="5949950" y="4880226"/>
          <a:ext cx="1713143" cy="1201737"/>
        </p:xfrm>
        <a:graphic>
          <a:graphicData uri="http://schemas.openxmlformats.org/presentationml/2006/ole">
            <mc:AlternateContent xmlns:mc="http://schemas.openxmlformats.org/markup-compatibility/2006">
              <mc:Choice xmlns:v="urn:schemas-microsoft-com:vml" Requires="v">
                <p:oleObj spid="_x0000_s7187" name="Equation" r:id="rId8" imgW="939800" imgH="660400" progId="Equation.3">
                  <p:embed/>
                </p:oleObj>
              </mc:Choice>
              <mc:Fallback>
                <p:oleObj name="Equation" r:id="rId8" imgW="939800" imgH="660400" progId="Equation.3">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49950" y="4880226"/>
                        <a:ext cx="1713143" cy="1201737"/>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dirty="0">
                <a:solidFill>
                  <a:srgbClr val="073779"/>
                </a:solidFill>
                <a:latin typeface="Arial (Headings)" charset="0"/>
              </a:rPr>
              <a:t>Pooled Two-Sample Procedures</a:t>
            </a:r>
            <a:endParaRPr lang="en-US" sz="3200" dirty="0"/>
          </a:p>
        </p:txBody>
      </p:sp>
      <p:sp>
        <p:nvSpPr>
          <p:cNvPr id="73729"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AF65C98-70A2-4819-B523-D4848F83D153}" type="slidenum">
              <a:rPr lang="en-US" sz="1400">
                <a:solidFill>
                  <a:schemeClr val="accent1"/>
                </a:solidFill>
              </a:rPr>
              <a:pPr/>
              <a:t>35</a:t>
            </a:fld>
            <a:endParaRPr lang="en-US" sz="1400">
              <a:solidFill>
                <a:schemeClr val="accent1"/>
              </a:solidFill>
            </a:endParaRPr>
          </a:p>
        </p:txBody>
      </p:sp>
      <p:sp>
        <p:nvSpPr>
          <p:cNvPr id="73731" name="TextBox 5"/>
          <p:cNvSpPr txBox="1">
            <a:spLocks noChangeArrowheads="1"/>
          </p:cNvSpPr>
          <p:nvPr/>
        </p:nvSpPr>
        <p:spPr bwMode="auto">
          <a:xfrm>
            <a:off x="174625" y="1034621"/>
            <a:ext cx="824748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r>
              <a:rPr lang="en-US" sz="2000" b="1" dirty="0"/>
              <a:t>Example:  </a:t>
            </a:r>
            <a:r>
              <a:rPr lang="en-US" sz="2000" dirty="0"/>
              <a:t>Does increasing the amount of calcium in our diet reduce blood pressure? A randomized comparative experiment gave one group of 10 men a calcium supplement for 12 weeks and a control group of 11  men a placebo that appeared identical. The summary statistics are given below for the decreases in blood pressure.</a:t>
            </a:r>
          </a:p>
        </p:txBody>
      </p:sp>
      <p:graphicFrame>
        <p:nvGraphicFramePr>
          <p:cNvPr id="3" name="Table 2" descr="The image shows a table with group &quot;Calcium&quot; and &quot;Placebo&quot; containing &quot;n&quot; value 10 and 11, respectively. Mean  value 5.000 and minus 0.273 correspond to the group &quot;Calcium&quot; and &quot;Placebo,&quot; respectively. Standard deviation &quot;s&quot; value 8.743 and 5.901 correspond to the group &quot;Calcium&quot; and &quot;Placebo,&quot; respectively."/>
          <p:cNvGraphicFramePr>
            <a:graphicFrameLocks noGrp="1"/>
          </p:cNvGraphicFramePr>
          <p:nvPr>
            <p:extLst>
              <p:ext uri="{D42A27DB-BD31-4B8C-83A1-F6EECF244321}">
                <p14:modId xmlns:p14="http://schemas.microsoft.com/office/powerpoint/2010/main" val="842861359"/>
              </p:ext>
            </p:extLst>
          </p:nvPr>
        </p:nvGraphicFramePr>
        <p:xfrm>
          <a:off x="624228" y="2806753"/>
          <a:ext cx="3449638" cy="1112838"/>
        </p:xfrm>
        <a:graphic>
          <a:graphicData uri="http://schemas.openxmlformats.org/drawingml/2006/table">
            <a:tbl>
              <a:tblPr firstRow="1" bandRow="1">
                <a:tableStyleId>{0E3FDE45-AF77-4B5C-9715-49D594BDF05E}</a:tableStyleId>
              </a:tblPr>
              <a:tblGrid>
                <a:gridCol w="1219009">
                  <a:extLst>
                    <a:ext uri="{9D8B030D-6E8A-4147-A177-3AD203B41FA5}">
                      <a16:colId xmlns:a16="http://schemas.microsoft.com/office/drawing/2014/main" xmlns="" val="20000"/>
                    </a:ext>
                  </a:extLst>
                </a:gridCol>
                <a:gridCol w="526657">
                  <a:extLst>
                    <a:ext uri="{9D8B030D-6E8A-4147-A177-3AD203B41FA5}">
                      <a16:colId xmlns:a16="http://schemas.microsoft.com/office/drawing/2014/main" xmlns="" val="20001"/>
                    </a:ext>
                  </a:extLst>
                </a:gridCol>
                <a:gridCol w="944239">
                  <a:extLst>
                    <a:ext uri="{9D8B030D-6E8A-4147-A177-3AD203B41FA5}">
                      <a16:colId xmlns:a16="http://schemas.microsoft.com/office/drawing/2014/main" xmlns="" val="20002"/>
                    </a:ext>
                  </a:extLst>
                </a:gridCol>
                <a:gridCol w="759733">
                  <a:extLst>
                    <a:ext uri="{9D8B030D-6E8A-4147-A177-3AD203B41FA5}">
                      <a16:colId xmlns:a16="http://schemas.microsoft.com/office/drawing/2014/main" xmlns="" val="20003"/>
                    </a:ext>
                  </a:extLst>
                </a:gridCol>
              </a:tblGrid>
              <a:tr h="370946">
                <a:tc>
                  <a:txBody>
                    <a:bodyPr/>
                    <a:lstStyle/>
                    <a:p>
                      <a:pPr algn="ctr"/>
                      <a:r>
                        <a:rPr lang="en-US" sz="1800" dirty="0"/>
                        <a:t>Group</a:t>
                      </a:r>
                    </a:p>
                  </a:txBody>
                  <a:tcPr marL="91426" marR="91426" marT="45733" marB="45733"/>
                </a:tc>
                <a:tc>
                  <a:txBody>
                    <a:bodyPr/>
                    <a:lstStyle/>
                    <a:p>
                      <a:pPr algn="ctr"/>
                      <a:r>
                        <a:rPr lang="en-US" sz="1800" i="1" dirty="0"/>
                        <a:t>n</a:t>
                      </a:r>
                    </a:p>
                  </a:txBody>
                  <a:tcPr marL="91426" marR="91426" marT="45733" marB="45733"/>
                </a:tc>
                <a:tc>
                  <a:txBody>
                    <a:bodyPr/>
                    <a:lstStyle/>
                    <a:p>
                      <a:pPr algn="ctr"/>
                      <a:r>
                        <a:rPr lang="en-US" sz="1800" dirty="0"/>
                        <a:t>Mean</a:t>
                      </a:r>
                    </a:p>
                  </a:txBody>
                  <a:tcPr marL="91426" marR="91426" marT="45733" marB="45733"/>
                </a:tc>
                <a:tc>
                  <a:txBody>
                    <a:bodyPr/>
                    <a:lstStyle/>
                    <a:p>
                      <a:pPr algn="ctr"/>
                      <a:r>
                        <a:rPr lang="en-US" sz="1800" i="1" dirty="0"/>
                        <a:t>s</a:t>
                      </a:r>
                    </a:p>
                  </a:txBody>
                  <a:tcPr marL="91426" marR="91426" marT="45733" marB="45733"/>
                </a:tc>
                <a:extLst>
                  <a:ext uri="{0D108BD9-81ED-4DB2-BD59-A6C34878D82A}">
                    <a16:rowId xmlns:a16="http://schemas.microsoft.com/office/drawing/2014/main" xmlns="" val="10000"/>
                  </a:ext>
                </a:extLst>
              </a:tr>
              <a:tr h="370946">
                <a:tc>
                  <a:txBody>
                    <a:bodyPr/>
                    <a:lstStyle/>
                    <a:p>
                      <a:r>
                        <a:rPr lang="en-US" sz="1800" dirty="0"/>
                        <a:t>Calcium</a:t>
                      </a:r>
                    </a:p>
                  </a:txBody>
                  <a:tcPr marL="91426" marR="91426" marT="45733" marB="45733"/>
                </a:tc>
                <a:tc>
                  <a:txBody>
                    <a:bodyPr/>
                    <a:lstStyle/>
                    <a:p>
                      <a:r>
                        <a:rPr lang="en-US" sz="1800" dirty="0"/>
                        <a:t>10</a:t>
                      </a:r>
                    </a:p>
                  </a:txBody>
                  <a:tcPr marL="91426" marR="91426" marT="45733" marB="45733"/>
                </a:tc>
                <a:tc>
                  <a:txBody>
                    <a:bodyPr/>
                    <a:lstStyle/>
                    <a:p>
                      <a:r>
                        <a:rPr lang="en-US" sz="1800" dirty="0"/>
                        <a:t>5.000</a:t>
                      </a:r>
                    </a:p>
                  </a:txBody>
                  <a:tcPr marL="91426" marR="91426" marT="45733" marB="45733"/>
                </a:tc>
                <a:tc>
                  <a:txBody>
                    <a:bodyPr/>
                    <a:lstStyle/>
                    <a:p>
                      <a:r>
                        <a:rPr lang="en-US" sz="1800" dirty="0"/>
                        <a:t>8.743</a:t>
                      </a:r>
                    </a:p>
                  </a:txBody>
                  <a:tcPr marL="91426" marR="91426" marT="45733" marB="45733"/>
                </a:tc>
                <a:extLst>
                  <a:ext uri="{0D108BD9-81ED-4DB2-BD59-A6C34878D82A}">
                    <a16:rowId xmlns:a16="http://schemas.microsoft.com/office/drawing/2014/main" xmlns="" val="10001"/>
                  </a:ext>
                </a:extLst>
              </a:tr>
              <a:tr h="370946">
                <a:tc>
                  <a:txBody>
                    <a:bodyPr/>
                    <a:lstStyle/>
                    <a:p>
                      <a:r>
                        <a:rPr lang="en-US" sz="1800" dirty="0"/>
                        <a:t>Placebo</a:t>
                      </a:r>
                    </a:p>
                  </a:txBody>
                  <a:tcPr marL="91426" marR="91426" marT="45733" marB="45733"/>
                </a:tc>
                <a:tc>
                  <a:txBody>
                    <a:bodyPr/>
                    <a:lstStyle/>
                    <a:p>
                      <a:r>
                        <a:rPr lang="en-US" sz="1800" dirty="0"/>
                        <a:t>11</a:t>
                      </a:r>
                    </a:p>
                  </a:txBody>
                  <a:tcPr marL="91426" marR="91426" marT="45733" marB="45733"/>
                </a:tc>
                <a:tc>
                  <a:txBody>
                    <a:bodyPr/>
                    <a:lstStyle/>
                    <a:p>
                      <a:r>
                        <a:rPr lang="en-US" sz="1800" dirty="0"/>
                        <a:t>–0.273</a:t>
                      </a:r>
                    </a:p>
                  </a:txBody>
                  <a:tcPr marL="91426" marR="91426" marT="45733" marB="45733"/>
                </a:tc>
                <a:tc>
                  <a:txBody>
                    <a:bodyPr/>
                    <a:lstStyle/>
                    <a:p>
                      <a:r>
                        <a:rPr lang="en-US" sz="1800" dirty="0"/>
                        <a:t>5.901</a:t>
                      </a:r>
                    </a:p>
                  </a:txBody>
                  <a:tcPr marL="91426" marR="91426" marT="45733" marB="45733"/>
                </a:tc>
                <a:extLst>
                  <a:ext uri="{0D108BD9-81ED-4DB2-BD59-A6C34878D82A}">
                    <a16:rowId xmlns:a16="http://schemas.microsoft.com/office/drawing/2014/main" xmlns="" val="10002"/>
                  </a:ext>
                </a:extLst>
              </a:tr>
            </a:tbl>
          </a:graphicData>
        </a:graphic>
      </p:graphicFrame>
      <p:graphicFrame>
        <p:nvGraphicFramePr>
          <p:cNvPr id="73732" name="Object 4" descr="The image shows mathematical expression as square of &quot;s&quot; subscript &quot;p&quot; equals to bracket open 10 minus 1 bracket close, multiply by square of 8.743, plus, bracket open 11 minus 1 bracket close, multiply by square of 5.901. The whole numerator is divided by 10 plus 11 minus 2, which is equal to 54.536."/>
          <p:cNvGraphicFramePr>
            <a:graphicFrameLocks noChangeAspect="1"/>
          </p:cNvGraphicFramePr>
          <p:nvPr>
            <p:extLst>
              <p:ext uri="{D42A27DB-BD31-4B8C-83A1-F6EECF244321}">
                <p14:modId xmlns:p14="http://schemas.microsoft.com/office/powerpoint/2010/main" val="3936245935"/>
              </p:ext>
            </p:extLst>
          </p:nvPr>
        </p:nvGraphicFramePr>
        <p:xfrm>
          <a:off x="4868519" y="2725754"/>
          <a:ext cx="3651253" cy="1105426"/>
        </p:xfrm>
        <a:graphic>
          <a:graphicData uri="http://schemas.openxmlformats.org/presentationml/2006/ole">
            <mc:AlternateContent xmlns:mc="http://schemas.openxmlformats.org/markup-compatibility/2006">
              <mc:Choice xmlns:v="urn:schemas-microsoft-com:vml" Requires="v">
                <p:oleObj spid="_x0000_s8204" name="Equation" r:id="rId4" imgW="2095500" imgH="635000" progId="Equation.3">
                  <p:embed/>
                </p:oleObj>
              </mc:Choice>
              <mc:Fallback>
                <p:oleObj name="Equation" r:id="rId4" imgW="2095500" imgH="635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8519" y="2725754"/>
                        <a:ext cx="3651253" cy="1105426"/>
                      </a:xfrm>
                      <a:prstGeom prst="rect">
                        <a:avLst/>
                      </a:prstGeom>
                      <a:solidFill>
                        <a:srgbClr val="6FA8F7"/>
                      </a:solidFill>
                      <a:ln>
                        <a:noFill/>
                      </a:ln>
                    </p:spPr>
                  </p:pic>
                </p:oleObj>
              </mc:Fallback>
            </mc:AlternateContent>
          </a:graphicData>
        </a:graphic>
      </p:graphicFrame>
      <p:graphicFrame>
        <p:nvGraphicFramePr>
          <p:cNvPr id="73735" name="Object 2" descr="The image shows mathematical expression given as: &quot;s&quot; subscript p equals to square root of 54.536, equals to 7.385."/>
          <p:cNvGraphicFramePr>
            <a:graphicFrameLocks noChangeAspect="1"/>
          </p:cNvGraphicFramePr>
          <p:nvPr>
            <p:extLst>
              <p:ext uri="{D42A27DB-BD31-4B8C-83A1-F6EECF244321}">
                <p14:modId xmlns:p14="http://schemas.microsoft.com/office/powerpoint/2010/main" val="3050901023"/>
              </p:ext>
            </p:extLst>
          </p:nvPr>
        </p:nvGraphicFramePr>
        <p:xfrm>
          <a:off x="5910565" y="3832101"/>
          <a:ext cx="2297897" cy="458065"/>
        </p:xfrm>
        <a:graphic>
          <a:graphicData uri="http://schemas.openxmlformats.org/presentationml/2006/ole">
            <mc:AlternateContent xmlns:mc="http://schemas.openxmlformats.org/markup-compatibility/2006">
              <mc:Choice xmlns:v="urn:schemas-microsoft-com:vml" Requires="v">
                <p:oleObj spid="_x0000_s8205" name="Equation" r:id="rId6" imgW="1333500" imgH="266700" progId="Equation.3">
                  <p:embed/>
                </p:oleObj>
              </mc:Choice>
              <mc:Fallback>
                <p:oleObj name="Equation" r:id="rId6" imgW="1333500" imgH="2667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10565" y="3832101"/>
                        <a:ext cx="2297897" cy="458065"/>
                      </a:xfrm>
                      <a:prstGeom prst="rect">
                        <a:avLst/>
                      </a:prstGeom>
                      <a:solidFill>
                        <a:srgbClr val="6FA8F7"/>
                      </a:solidFill>
                      <a:ln>
                        <a:noFill/>
                      </a:ln>
                    </p:spPr>
                  </p:pic>
                </p:oleObj>
              </mc:Fallback>
            </mc:AlternateContent>
          </a:graphicData>
        </a:graphic>
      </p:graphicFrame>
      <p:sp>
        <p:nvSpPr>
          <p:cNvPr id="73733" name="Rectangle 12"/>
          <p:cNvSpPr>
            <a:spLocks noChangeArrowheads="1"/>
          </p:cNvSpPr>
          <p:nvPr/>
        </p:nvSpPr>
        <p:spPr bwMode="auto">
          <a:xfrm>
            <a:off x="81245" y="4155753"/>
            <a:ext cx="505051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sz="2000" dirty="0">
                <a:solidFill>
                  <a:srgbClr val="000000"/>
                </a:solidFill>
              </a:rPr>
              <a:t>To test the hypothesis </a:t>
            </a:r>
            <a:r>
              <a:rPr lang="en-US" sz="2000" i="1" dirty="0">
                <a:solidFill>
                  <a:srgbClr val="000000"/>
                </a:solidFill>
              </a:rPr>
              <a:t>H</a:t>
            </a:r>
            <a:r>
              <a:rPr lang="en-US" sz="2000" baseline="-25000" dirty="0">
                <a:solidFill>
                  <a:srgbClr val="000000"/>
                </a:solidFill>
              </a:rPr>
              <a:t>0</a:t>
            </a:r>
            <a:r>
              <a:rPr lang="en-US" sz="2000" dirty="0">
                <a:solidFill>
                  <a:srgbClr val="000000"/>
                </a:solidFill>
              </a:rPr>
              <a:t>: </a:t>
            </a:r>
            <a:r>
              <a:rPr lang="en-US" sz="2000" i="1" dirty="0">
                <a:solidFill>
                  <a:srgbClr val="000000"/>
                </a:solidFill>
              </a:rPr>
              <a:t>µ</a:t>
            </a:r>
            <a:r>
              <a:rPr lang="en-US" sz="2000" baseline="-25000" dirty="0">
                <a:solidFill>
                  <a:srgbClr val="000000"/>
                </a:solidFill>
              </a:rPr>
              <a:t>1</a:t>
            </a:r>
            <a:r>
              <a:rPr lang="en-US" sz="2000" dirty="0">
                <a:solidFill>
                  <a:srgbClr val="000000"/>
                </a:solidFill>
              </a:rPr>
              <a:t> = </a:t>
            </a:r>
            <a:r>
              <a:rPr lang="en-US" sz="2000" i="1" dirty="0">
                <a:solidFill>
                  <a:srgbClr val="000000"/>
                </a:solidFill>
              </a:rPr>
              <a:t>µ</a:t>
            </a:r>
            <a:r>
              <a:rPr lang="en-US" sz="2000" baseline="-25000" dirty="0">
                <a:solidFill>
                  <a:srgbClr val="000000"/>
                </a:solidFill>
              </a:rPr>
              <a:t>2</a:t>
            </a:r>
            <a:r>
              <a:rPr lang="en-US" sz="2000" dirty="0">
                <a:solidFill>
                  <a:srgbClr val="000000"/>
                </a:solidFill>
              </a:rPr>
              <a:t> against a </a:t>
            </a:r>
            <a:br>
              <a:rPr lang="en-US" sz="2000" dirty="0">
                <a:solidFill>
                  <a:srgbClr val="000000"/>
                </a:solidFill>
              </a:rPr>
            </a:br>
            <a:r>
              <a:rPr lang="en-US" sz="2000" dirty="0">
                <a:solidFill>
                  <a:srgbClr val="000000"/>
                </a:solidFill>
              </a:rPr>
              <a:t>one-sided or a two-sided alternative, compute the pooled two-sample </a:t>
            </a:r>
            <a:r>
              <a:rPr lang="en-US" sz="2000" i="1" dirty="0">
                <a:solidFill>
                  <a:srgbClr val="000000"/>
                </a:solidFill>
              </a:rPr>
              <a:t>t </a:t>
            </a:r>
            <a:r>
              <a:rPr lang="en-US" sz="2000" dirty="0">
                <a:solidFill>
                  <a:srgbClr val="000000"/>
                </a:solidFill>
              </a:rPr>
              <a:t>statistic for the </a:t>
            </a:r>
            <a:r>
              <a:rPr lang="en-US" sz="2000" i="1" dirty="0">
                <a:solidFill>
                  <a:srgbClr val="000000"/>
                </a:solidFill>
              </a:rPr>
              <a:t>t</a:t>
            </a:r>
            <a:r>
              <a:rPr lang="en-US" sz="2000" dirty="0">
                <a:solidFill>
                  <a:srgbClr val="000000"/>
                </a:solidFill>
              </a:rPr>
              <a:t>(</a:t>
            </a:r>
            <a:r>
              <a:rPr lang="en-US" sz="2000" i="1" dirty="0">
                <a:solidFill>
                  <a:srgbClr val="000000"/>
                </a:solidFill>
              </a:rPr>
              <a:t>n</a:t>
            </a:r>
            <a:r>
              <a:rPr lang="en-US" sz="2000" baseline="-25000" dirty="0">
                <a:solidFill>
                  <a:srgbClr val="000000"/>
                </a:solidFill>
              </a:rPr>
              <a:t>1</a:t>
            </a:r>
            <a:r>
              <a:rPr lang="en-US" sz="2000" dirty="0">
                <a:solidFill>
                  <a:srgbClr val="000000"/>
                </a:solidFill>
              </a:rPr>
              <a:t> + </a:t>
            </a:r>
            <a:r>
              <a:rPr lang="en-US" sz="2000" i="1" dirty="0">
                <a:solidFill>
                  <a:srgbClr val="000000"/>
                </a:solidFill>
              </a:rPr>
              <a:t>n</a:t>
            </a:r>
            <a:r>
              <a:rPr lang="en-US" sz="2000" baseline="-25000" dirty="0">
                <a:solidFill>
                  <a:srgbClr val="000000"/>
                </a:solidFill>
              </a:rPr>
              <a:t>2</a:t>
            </a:r>
            <a:r>
              <a:rPr lang="en-US" sz="2000" dirty="0">
                <a:solidFill>
                  <a:srgbClr val="000000"/>
                </a:solidFill>
              </a:rPr>
              <a:t> − 2)</a:t>
            </a:r>
            <a:r>
              <a:rPr lang="en-US" sz="2000" i="1" dirty="0">
                <a:solidFill>
                  <a:srgbClr val="000000"/>
                </a:solidFill>
              </a:rPr>
              <a:t> </a:t>
            </a:r>
            <a:r>
              <a:rPr lang="en-US" sz="2000" dirty="0">
                <a:solidFill>
                  <a:srgbClr val="000000"/>
                </a:solidFill>
              </a:rPr>
              <a:t>distribution.</a:t>
            </a:r>
            <a:endParaRPr lang="en-US" sz="2000" dirty="0"/>
          </a:p>
        </p:txBody>
      </p:sp>
      <p:sp>
        <p:nvSpPr>
          <p:cNvPr id="2" name="TextBox 1"/>
          <p:cNvSpPr txBox="1"/>
          <p:nvPr/>
        </p:nvSpPr>
        <p:spPr>
          <a:xfrm>
            <a:off x="174625" y="5534519"/>
            <a:ext cx="4957138" cy="923330"/>
          </a:xfrm>
          <a:prstGeom prst="rect">
            <a:avLst/>
          </a:prstGeom>
          <a:solidFill>
            <a:schemeClr val="accent2"/>
          </a:solidFill>
        </p:spPr>
        <p:style>
          <a:lnRef idx="1">
            <a:schemeClr val="accent2"/>
          </a:lnRef>
          <a:fillRef idx="2">
            <a:schemeClr val="accent2"/>
          </a:fillRef>
          <a:effectRef idx="1">
            <a:schemeClr val="accent2"/>
          </a:effectRef>
          <a:fontRef idx="minor">
            <a:schemeClr val="dk1"/>
          </a:fontRef>
        </p:style>
        <p:txBody>
          <a:bodyPr wrap="square">
            <a:spAutoFit/>
          </a:bodyPr>
          <a:lstStyle/>
          <a:p>
            <a:pPr algn="just" eaLnBrk="1" hangingPunct="1">
              <a:defRPr/>
            </a:pPr>
            <a:r>
              <a:rPr lang="en-US" dirty="0"/>
              <a:t>The </a:t>
            </a:r>
            <a:r>
              <a:rPr lang="en-US" i="1" dirty="0"/>
              <a:t>P</a:t>
            </a:r>
            <a:r>
              <a:rPr lang="en-US" dirty="0"/>
              <a:t>-value from statistical software is </a:t>
            </a:r>
            <a:r>
              <a:rPr lang="en-US" i="1" dirty="0"/>
              <a:t>p</a:t>
            </a:r>
            <a:r>
              <a:rPr lang="en-US" dirty="0"/>
              <a:t> = 0.059, and we conclude that there is </a:t>
            </a:r>
            <a:r>
              <a:rPr lang="en-US" i="1" dirty="0"/>
              <a:t>some</a:t>
            </a:r>
            <a:r>
              <a:rPr lang="en-US" dirty="0"/>
              <a:t> evidence but not convincing evidence.</a:t>
            </a:r>
          </a:p>
        </p:txBody>
      </p:sp>
      <mc:AlternateContent xmlns:mc="http://schemas.openxmlformats.org/markup-compatibility/2006" xmlns:a14="http://schemas.microsoft.com/office/drawing/2010/main">
        <mc:Choice Requires="a14">
          <p:sp>
            <p:nvSpPr>
              <p:cNvPr id="5" name="Object 4"/>
              <p:cNvSpPr txBox="1"/>
              <p:nvPr/>
            </p:nvSpPr>
            <p:spPr>
              <a:xfrm>
                <a:off x="5229911" y="5101389"/>
                <a:ext cx="3820234" cy="135646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𝑡</m:t>
                      </m: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5.000−(−0.273)</m:t>
                          </m:r>
                        </m:num>
                        <m:den>
                          <m:r>
                            <a:rPr lang="en-US" i="1">
                              <a:solidFill>
                                <a:srgbClr val="000000"/>
                              </a:solidFill>
                              <a:latin typeface="Cambria Math" panose="02040503050406030204" pitchFamily="18" charset="0"/>
                            </a:rPr>
                            <m:t>7.385</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10</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11</m:t>
                                  </m:r>
                                </m:den>
                              </m:f>
                            </m:e>
                          </m:rad>
                        </m:den>
                      </m:f>
                      <m:r>
                        <a:rPr lang="en-US" i="1">
                          <a:solidFill>
                            <a:srgbClr val="000000"/>
                          </a:solidFill>
                          <a:latin typeface="Cambria Math" panose="02040503050406030204" pitchFamily="18" charset="0"/>
                        </a:rPr>
                        <m:t>=1.634</m:t>
                      </m:r>
                    </m:oMath>
                  </m:oMathPara>
                </a14:m>
                <a:endParaRPr lang="en-US"/>
              </a:p>
            </p:txBody>
          </p:sp>
        </mc:Choice>
        <mc:Fallback xmlns="">
          <p:sp>
            <p:nvSpPr>
              <p:cNvPr id="5" name="Object 4"/>
              <p:cNvSpPr txBox="1">
                <a:spLocks noRot="1" noChangeAspect="1" noMove="1" noResize="1" noEditPoints="1" noAdjustHandles="1" noChangeArrowheads="1" noChangeShapeType="1" noTextEdit="1"/>
              </p:cNvSpPr>
              <p:nvPr/>
            </p:nvSpPr>
            <p:spPr>
              <a:xfrm>
                <a:off x="5229911" y="5101389"/>
                <a:ext cx="3820234" cy="1356460"/>
              </a:xfrm>
              <a:prstGeom prst="rect">
                <a:avLst/>
              </a:prstGeom>
              <a:blipFill>
                <a:blip r:embed="rId8"/>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73732"/>
                                        </p:tgtEl>
                                        <p:attrNameLst>
                                          <p:attrName>style.visibility</p:attrName>
                                        </p:attrNameLst>
                                      </p:cBhvr>
                                      <p:to>
                                        <p:strVal val="visible"/>
                                      </p:to>
                                    </p:set>
                                    <p:animEffect transition="in" filter="blinds(horizontal)">
                                      <p:cBhvr>
                                        <p:cTn id="11" dur="500"/>
                                        <p:tgtEl>
                                          <p:spTgt spid="73732"/>
                                        </p:tgtEl>
                                      </p:cBhvr>
                                    </p:animEffect>
                                  </p:childTnLst>
                                </p:cTn>
                              </p:par>
                              <p:par>
                                <p:cTn id="12" presetID="3" presetClass="entr" presetSubtype="10" fill="hold" nodeType="withEffect">
                                  <p:stCondLst>
                                    <p:cond delay="0"/>
                                  </p:stCondLst>
                                  <p:childTnLst>
                                    <p:set>
                                      <p:cBhvr>
                                        <p:cTn id="13" dur="1" fill="hold">
                                          <p:stCondLst>
                                            <p:cond delay="0"/>
                                          </p:stCondLst>
                                        </p:cTn>
                                        <p:tgtEl>
                                          <p:spTgt spid="73735"/>
                                        </p:tgtEl>
                                        <p:attrNameLst>
                                          <p:attrName>style.visibility</p:attrName>
                                        </p:attrNameLst>
                                      </p:cBhvr>
                                      <p:to>
                                        <p:strVal val="visible"/>
                                      </p:to>
                                    </p:set>
                                    <p:animEffect transition="in" filter="blinds(horizontal)">
                                      <p:cBhvr>
                                        <p:cTn id="14" dur="500"/>
                                        <p:tgtEl>
                                          <p:spTgt spid="7373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73733"/>
                                        </p:tgtEl>
                                        <p:attrNameLst>
                                          <p:attrName>style.visibility</p:attrName>
                                        </p:attrNameLst>
                                      </p:cBhvr>
                                      <p:to>
                                        <p:strVal val="visible"/>
                                      </p:to>
                                    </p:set>
                                    <p:animEffect transition="in" filter="blinds(horizontal)">
                                      <p:cBhvr>
                                        <p:cTn id="19" dur="500"/>
                                        <p:tgtEl>
                                          <p:spTgt spid="7373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3" grpId="0"/>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2"/>
          <p:cNvSpPr>
            <a:spLocks noGrp="1"/>
          </p:cNvSpPr>
          <p:nvPr>
            <p:ph type="title"/>
          </p:nvPr>
        </p:nvSpPr>
        <p:spPr>
          <a:xfrm>
            <a:off x="457200" y="545431"/>
            <a:ext cx="6508750" cy="737937"/>
          </a:xfrm>
        </p:spPr>
        <p:txBody>
          <a:bodyPr anchor="t"/>
          <a:lstStyle/>
          <a:p>
            <a:pPr eaLnBrk="1" hangingPunct="1"/>
            <a:r>
              <a:rPr lang="en-US" b="1" dirty="0">
                <a:ea typeface="ＭＳ Ｐゴシック" pitchFamily="34" charset="-128"/>
              </a:rPr>
              <a:t>7.3 Sample Size Calculations</a:t>
            </a:r>
          </a:p>
        </p:txBody>
      </p:sp>
      <p:sp>
        <p:nvSpPr>
          <p:cNvPr id="75778" name="Text Placeholder 3"/>
          <p:cNvSpPr>
            <a:spLocks noGrp="1"/>
          </p:cNvSpPr>
          <p:nvPr>
            <p:ph idx="1"/>
          </p:nvPr>
        </p:nvSpPr>
        <p:spPr>
          <a:xfrm>
            <a:off x="457200" y="1576135"/>
            <a:ext cx="6508750" cy="2590801"/>
          </a:xfrm>
        </p:spPr>
        <p:txBody>
          <a:bodyPr/>
          <a:lstStyle/>
          <a:p>
            <a:pPr eaLnBrk="1" hangingPunct="1">
              <a:buSzPct val="110000"/>
              <a:buFont typeface="Wingdings" pitchFamily="2" charset="2"/>
              <a:buChar char="§"/>
            </a:pPr>
            <a:r>
              <a:rPr lang="en-US" sz="2400" dirty="0">
                <a:solidFill>
                  <a:schemeClr val="accent1"/>
                </a:solidFill>
                <a:ea typeface="ＭＳ Ｐゴシック" pitchFamily="34" charset="-128"/>
              </a:rPr>
              <a:t>Sample size for confidence intervals</a:t>
            </a:r>
          </a:p>
          <a:p>
            <a:pPr eaLnBrk="1" hangingPunct="1">
              <a:buSzPct val="110000"/>
              <a:buFont typeface="Wingdings" pitchFamily="2" charset="2"/>
              <a:buChar char="§"/>
            </a:pPr>
            <a:r>
              <a:rPr lang="en-US" sz="2400" dirty="0">
                <a:solidFill>
                  <a:schemeClr val="accent1"/>
                </a:solidFill>
                <a:ea typeface="ＭＳ Ｐゴシック" pitchFamily="34" charset="-128"/>
              </a:rPr>
              <a:t>Power of a significance test</a:t>
            </a:r>
          </a:p>
          <a:p>
            <a:pPr eaLnBrk="1" hangingPunct="1">
              <a:buSzPct val="110000"/>
              <a:buFont typeface="Wingdings" pitchFamily="2" charset="2"/>
              <a:buChar char="§"/>
            </a:pPr>
            <a:r>
              <a:rPr lang="en-US" sz="2400" dirty="0">
                <a:solidFill>
                  <a:schemeClr val="accent1"/>
                </a:solidFill>
                <a:ea typeface="ＭＳ Ｐゴシック" pitchFamily="34" charset="-128"/>
              </a:rPr>
              <a:t>Inference for non-Normal populations</a:t>
            </a:r>
          </a:p>
          <a:p>
            <a:pPr eaLnBrk="1" hangingPunct="1">
              <a:buSzPct val="110000"/>
              <a:buFont typeface="Wingdings" pitchFamily="2" charset="2"/>
              <a:buChar char="§"/>
            </a:pPr>
            <a:r>
              <a:rPr lang="en-US" sz="2400" dirty="0">
                <a:solidFill>
                  <a:schemeClr val="accent1"/>
                </a:solidFill>
                <a:ea typeface="ＭＳ Ｐゴシック" pitchFamily="34" charset="-128"/>
              </a:rPr>
              <a:t>Use of a distribution-free procedure</a:t>
            </a:r>
          </a:p>
        </p:txBody>
      </p:sp>
      <p:sp>
        <p:nvSpPr>
          <p:cNvPr id="75779"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2097A64A-29FC-4D54-941C-3C797A79F4B5}" type="slidenum">
              <a:rPr lang="en-US" sz="1400">
                <a:solidFill>
                  <a:schemeClr val="accent1"/>
                </a:solidFill>
              </a:rPr>
              <a:pPr/>
              <a:t>36</a:t>
            </a:fld>
            <a:endParaRPr lang="en-US" sz="1400">
              <a:solidFill>
                <a:schemeClr val="accent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dirty="0">
                <a:ea typeface="ＭＳ Ｐゴシック" pitchFamily="34" charset="-128"/>
              </a:rPr>
              <a:t>Choosing the Sample Size</a:t>
            </a:r>
          </a:p>
        </p:txBody>
      </p:sp>
      <p:sp>
        <p:nvSpPr>
          <p:cNvPr id="76805"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AA47E639-D706-4E93-BD0A-A3A999235B29}" type="slidenum">
              <a:rPr lang="en-US" sz="1400">
                <a:solidFill>
                  <a:schemeClr val="accent1"/>
                </a:solidFill>
              </a:rPr>
              <a:pPr/>
              <a:t>37</a:t>
            </a:fld>
            <a:endParaRPr lang="en-US" sz="1400">
              <a:solidFill>
                <a:schemeClr val="accent1"/>
              </a:solidFill>
            </a:endParaRPr>
          </a:p>
        </p:txBody>
      </p:sp>
      <p:sp>
        <p:nvSpPr>
          <p:cNvPr id="2" name="Rectangle 3"/>
          <p:cNvSpPr>
            <a:spLocks noGrp="1" noChangeArrowheads="1"/>
          </p:cNvSpPr>
          <p:nvPr>
            <p:ph type="body" idx="4294967295"/>
          </p:nvPr>
        </p:nvSpPr>
        <p:spPr>
          <a:xfrm>
            <a:off x="715962" y="1037026"/>
            <a:ext cx="7540626" cy="714694"/>
          </a:xfrm>
          <a:solidFill>
            <a:srgbClr val="FFFF00"/>
          </a:solidFill>
        </p:spPr>
        <p:style>
          <a:lnRef idx="1">
            <a:schemeClr val="accent4"/>
          </a:lnRef>
          <a:fillRef idx="2">
            <a:schemeClr val="accent4"/>
          </a:fillRef>
          <a:effectRef idx="1">
            <a:schemeClr val="accent4"/>
          </a:effectRef>
          <a:fontRef idx="minor">
            <a:schemeClr val="dk1"/>
          </a:fontRef>
        </p:style>
        <p:txBody>
          <a:bodyPr/>
          <a:lstStyle/>
          <a:p>
            <a:pPr marL="0" indent="0" eaLnBrk="1" hangingPunct="1">
              <a:buFont typeface="Wingdings" pitchFamily="2" charset="2"/>
              <a:buNone/>
              <a:defRPr/>
            </a:pPr>
            <a:r>
              <a:rPr lang="en-US" b="1" dirty="0">
                <a:solidFill>
                  <a:schemeClr val="tx1"/>
                </a:solidFill>
                <a:ea typeface="ＭＳ Ｐゴシック" pitchFamily="34" charset="-128"/>
              </a:rPr>
              <a:t>A wise user of statistics does not plan for inference without at the same time planning data collection.</a:t>
            </a:r>
            <a:endParaRPr lang="en-US" sz="1600" b="1" dirty="0">
              <a:solidFill>
                <a:schemeClr val="tx1"/>
              </a:solidFill>
              <a:ea typeface="ＭＳ Ｐゴシック" pitchFamily="34" charset="-128"/>
              <a:cs typeface="Arial" pitchFamily="34" charset="0"/>
            </a:endParaRPr>
          </a:p>
        </p:txBody>
      </p:sp>
      <p:sp>
        <p:nvSpPr>
          <p:cNvPr id="4" name="Rectangle 3"/>
          <p:cNvSpPr>
            <a:spLocks noChangeArrowheads="1"/>
          </p:cNvSpPr>
          <p:nvPr/>
        </p:nvSpPr>
        <p:spPr bwMode="auto">
          <a:xfrm>
            <a:off x="715962" y="1847576"/>
            <a:ext cx="7628731" cy="708025"/>
          </a:xfrm>
          <a:prstGeom prst="rect">
            <a:avLst/>
          </a:prstGeom>
          <a:solidFill>
            <a:srgbClr val="FFD780"/>
          </a:solidFill>
          <a:ln>
            <a:noFill/>
          </a:ln>
          <a:effectLst>
            <a:outerShdw blurRad="50800" dist="38100" dir="2700000" rotWithShape="0">
              <a:srgbClr val="808080">
                <a:alpha val="42998"/>
              </a:srgbClr>
            </a:outerShdw>
          </a:effectLst>
        </p:spPr>
        <p:txBody>
          <a:bodyPr wrap="square">
            <a:spAutoFit/>
          </a:bodyPr>
          <a:lstStyle/>
          <a:p>
            <a:pPr eaLnBrk="1" hangingPunct="1">
              <a:buFont typeface="Wingdings" charset="0"/>
              <a:buNone/>
              <a:defRPr/>
            </a:pPr>
            <a:r>
              <a:rPr lang="en-US" sz="2000" dirty="0">
                <a:solidFill>
                  <a:srgbClr val="000000"/>
                </a:solidFill>
                <a:latin typeface="Arial" charset="0"/>
                <a:ea typeface="ＭＳ Ｐゴシック" charset="0"/>
                <a:cs typeface="ＭＳ Ｐゴシック" charset="0"/>
              </a:rPr>
              <a:t>Our primary method of choosing sample sizes for studies involves specifying the desired margin of error.</a:t>
            </a:r>
          </a:p>
        </p:txBody>
      </p:sp>
      <mc:AlternateContent xmlns:mc="http://schemas.openxmlformats.org/markup-compatibility/2006" xmlns:a14="http://schemas.microsoft.com/office/drawing/2010/main">
        <mc:Choice Requires="a14">
          <p:sp>
            <p:nvSpPr>
              <p:cNvPr id="76801" name="TextBox 4"/>
              <p:cNvSpPr txBox="1">
                <a:spLocks noChangeArrowheads="1"/>
              </p:cNvSpPr>
              <p:nvPr/>
            </p:nvSpPr>
            <p:spPr bwMode="auto">
              <a:xfrm>
                <a:off x="408782" y="2612357"/>
                <a:ext cx="7935912" cy="163121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ts val="2363"/>
                  </a:lnSpc>
                </a:pPr>
                <a:r>
                  <a:rPr lang="en-US" sz="1800" dirty="0"/>
                  <a:t>The level </a:t>
                </a:r>
                <a:r>
                  <a:rPr lang="en-US" sz="1800" i="1" dirty="0"/>
                  <a:t>C</a:t>
                </a:r>
                <a:r>
                  <a:rPr lang="en-US" sz="1800" dirty="0"/>
                  <a:t> confidence interval for a mean </a:t>
                </a:r>
                <a:r>
                  <a:rPr lang="en-US" sz="1800" i="1" dirty="0"/>
                  <a:t>μ</a:t>
                </a:r>
                <a:r>
                  <a:rPr lang="en-US" sz="1800" dirty="0"/>
                  <a:t> will have an expected margin of error less than or equal to a specified value </a:t>
                </a:r>
                <a:r>
                  <a:rPr lang="en-US" sz="1800" i="1" dirty="0"/>
                  <a:t>m</a:t>
                </a:r>
                <a:r>
                  <a:rPr lang="en-US" sz="1800" dirty="0"/>
                  <a:t> when the same size satisfies </a:t>
                </a:r>
              </a:p>
              <a:p>
                <a:pPr algn="just" eaLnBrk="1" hangingPunct="1">
                  <a:lnSpc>
                    <a:spcPts val="2363"/>
                  </a:lnSpc>
                </a:pPr>
                <a14:m>
                  <m:oMath xmlns:m="http://schemas.openxmlformats.org/officeDocument/2006/math">
                    <m:f>
                      <m:fPr>
                        <m:type m:val="lin"/>
                        <m:ctrlPr>
                          <a:rPr lang="en-US" sz="1800" i="1" smtClean="0">
                            <a:latin typeface="Cambria Math" panose="02040503050406030204" pitchFamily="18" charset="0"/>
                          </a:rPr>
                        </m:ctrlPr>
                      </m:fPr>
                      <m:num>
                        <m:r>
                          <a:rPr lang="en-US" sz="1800" i="1">
                            <a:latin typeface="Cambria Math" panose="02040503050406030204" pitchFamily="18" charset="0"/>
                          </a:rPr>
                          <m:t>𝑚</m:t>
                        </m:r>
                        <m:r>
                          <a:rPr lang="en-US" sz="1800" i="1">
                            <a:latin typeface="Cambria Math" panose="02040503050406030204" pitchFamily="18" charset="0"/>
                            <a:ea typeface="Cambria Math" panose="02040503050406030204" pitchFamily="18" charset="0"/>
                          </a:rPr>
                          <m:t>≥</m:t>
                        </m:r>
                        <m:sSup>
                          <m:sSupPr>
                            <m:ctrlPr>
                              <a:rPr lang="en-US" sz="1800" i="1">
                                <a:latin typeface="Cambria Math" panose="02040503050406030204" pitchFamily="18" charset="0"/>
                                <a:ea typeface="Cambria Math" panose="02040503050406030204" pitchFamily="18" charset="0"/>
                              </a:rPr>
                            </m:ctrlPr>
                          </m:sSupPr>
                          <m:e>
                            <m:r>
                              <a:rPr lang="en-US" sz="1800" i="1">
                                <a:latin typeface="Cambria Math" panose="02040503050406030204" pitchFamily="18" charset="0"/>
                                <a:ea typeface="Cambria Math" panose="02040503050406030204" pitchFamily="18" charset="0"/>
                              </a:rPr>
                              <m:t>𝑡</m:t>
                            </m:r>
                          </m:e>
                          <m:sup>
                            <m:r>
                              <a:rPr lang="en-US" sz="1800" i="1">
                                <a:latin typeface="Cambria Math" panose="02040503050406030204" pitchFamily="18" charset="0"/>
                                <a:ea typeface="Cambria Math" panose="02040503050406030204" pitchFamily="18" charset="0"/>
                              </a:rPr>
                              <m:t>∗</m:t>
                            </m:r>
                          </m:sup>
                        </m:sSup>
                        <m:sSup>
                          <m:sSupPr>
                            <m:ctrlPr>
                              <a:rPr lang="en-US" sz="1800" i="1">
                                <a:latin typeface="Cambria Math" panose="02040503050406030204" pitchFamily="18" charset="0"/>
                                <a:ea typeface="Cambria Math" panose="02040503050406030204" pitchFamily="18" charset="0"/>
                              </a:rPr>
                            </m:ctrlPr>
                          </m:sSupPr>
                          <m:e>
                            <m:r>
                              <a:rPr lang="en-US" sz="1800" i="1">
                                <a:latin typeface="Cambria Math" panose="02040503050406030204" pitchFamily="18" charset="0"/>
                                <a:ea typeface="Cambria Math" panose="02040503050406030204" pitchFamily="18" charset="0"/>
                              </a:rPr>
                              <m:t>𝑠</m:t>
                            </m:r>
                          </m:e>
                          <m:sup>
                            <m:r>
                              <a:rPr lang="en-US" sz="1800" i="1">
                                <a:latin typeface="Cambria Math" panose="02040503050406030204" pitchFamily="18" charset="0"/>
                                <a:ea typeface="Cambria Math" panose="02040503050406030204" pitchFamily="18" charset="0"/>
                              </a:rPr>
                              <m:t>∗</m:t>
                            </m:r>
                          </m:sup>
                        </m:sSup>
                      </m:num>
                      <m:den>
                        <m:rad>
                          <m:radPr>
                            <m:degHide m:val="on"/>
                            <m:ctrlPr>
                              <a:rPr lang="en-US" sz="1800" i="1" smtClean="0">
                                <a:latin typeface="Cambria Math" panose="02040503050406030204" pitchFamily="18" charset="0"/>
                              </a:rPr>
                            </m:ctrlPr>
                          </m:radPr>
                          <m:deg/>
                          <m:e>
                            <m:r>
                              <a:rPr lang="en-US" sz="1800" b="0" i="1" smtClean="0">
                                <a:latin typeface="Cambria Math" panose="02040503050406030204" pitchFamily="18" charset="0"/>
                              </a:rPr>
                              <m:t>𝑛</m:t>
                            </m:r>
                          </m:e>
                        </m:rad>
                      </m:den>
                    </m:f>
                  </m:oMath>
                </a14:m>
                <a:r>
                  <a:rPr lang="en-US" sz="1800" dirty="0"/>
                  <a:t>. Here </a:t>
                </a:r>
                <a:r>
                  <a:rPr lang="en-US" sz="1800" i="1" dirty="0"/>
                  <a:t>t</a:t>
                </a:r>
                <a:r>
                  <a:rPr lang="en-US" sz="1800" i="1" baseline="30000" dirty="0"/>
                  <a:t>*</a:t>
                </a:r>
                <a:r>
                  <a:rPr lang="en-US" sz="1800" dirty="0"/>
                  <a:t> is the critical value for confidence level </a:t>
                </a:r>
                <a:r>
                  <a:rPr lang="en-US" sz="1800" i="1" dirty="0"/>
                  <a:t>C</a:t>
                </a:r>
                <a:r>
                  <a:rPr lang="en-US" sz="1800" dirty="0"/>
                  <a:t> with </a:t>
                </a:r>
                <a:r>
                  <a:rPr lang="en-US" sz="1800" i="1" dirty="0"/>
                  <a:t>n </a:t>
                </a:r>
                <a:r>
                  <a:rPr lang="en-US" sz="1800" dirty="0"/>
                  <a:t>– 1 degrees of freedom, and </a:t>
                </a:r>
                <a:r>
                  <a:rPr lang="en-US" sz="1800" i="1" dirty="0"/>
                  <a:t>s</a:t>
                </a:r>
                <a:r>
                  <a:rPr lang="en-US" sz="1800" i="1" baseline="30000" dirty="0"/>
                  <a:t>*</a:t>
                </a:r>
                <a:r>
                  <a:rPr lang="en-US" sz="1800" dirty="0"/>
                  <a:t> is the estimated value for the population standard deviation.</a:t>
                </a:r>
              </a:p>
            </p:txBody>
          </p:sp>
        </mc:Choice>
        <mc:Fallback xmlns="">
          <p:sp>
            <p:nvSpPr>
              <p:cNvPr id="76801" name="TextBox 4"/>
              <p:cNvSpPr txBox="1">
                <a:spLocks noRot="1" noChangeAspect="1" noMove="1" noResize="1" noEditPoints="1" noAdjustHandles="1" noChangeArrowheads="1" noChangeShapeType="1" noTextEdit="1"/>
              </p:cNvSpPr>
              <p:nvPr/>
            </p:nvSpPr>
            <p:spPr bwMode="auto">
              <a:xfrm>
                <a:off x="408782" y="2612357"/>
                <a:ext cx="7935912" cy="1631216"/>
              </a:xfrm>
              <a:prstGeom prst="rect">
                <a:avLst/>
              </a:prstGeom>
              <a:blipFill rotWithShape="0">
                <a:blip r:embed="rId3"/>
                <a:stretch>
                  <a:fillRect l="-614" t="-1498" r="-1229" b="-412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567532" y="4243573"/>
                <a:ext cx="7618412" cy="2516073"/>
              </a:xfrm>
              <a:prstGeom prst="rect">
                <a:avLst/>
              </a:prstGeom>
              <a:solidFill>
                <a:srgbClr val="FFD780"/>
              </a:solidFill>
            </p:spPr>
            <p:txBody>
              <a:bodyPr>
                <a:spAutoFit/>
              </a:bodyPr>
              <a:lstStyle/>
              <a:p>
                <a:pPr eaLnBrk="1" hangingPunct="1">
                  <a:lnSpc>
                    <a:spcPts val="2660"/>
                  </a:lnSpc>
                  <a:defRPr/>
                </a:pPr>
                <a:r>
                  <a:rPr lang="en-US" b="1" dirty="0">
                    <a:highlight>
                      <a:srgbClr val="FFFF00"/>
                    </a:highlight>
                    <a:latin typeface="Arial" charset="0"/>
                    <a:ea typeface="ＭＳ Ｐゴシック" charset="0"/>
                    <a:cs typeface="ＭＳ Ｐゴシック" charset="0"/>
                  </a:rPr>
                  <a:t>For the </a:t>
                </a:r>
                <a:r>
                  <a:rPr lang="en-US" b="1" i="1" dirty="0">
                    <a:highlight>
                      <a:srgbClr val="FFFF00"/>
                    </a:highlight>
                    <a:latin typeface="Arial" charset="0"/>
                    <a:ea typeface="ＭＳ Ｐゴシック" charset="0"/>
                    <a:cs typeface="ＭＳ Ｐゴシック" charset="0"/>
                  </a:rPr>
                  <a:t>t</a:t>
                </a:r>
                <a:r>
                  <a:rPr lang="en-US" b="1" dirty="0">
                    <a:highlight>
                      <a:srgbClr val="FFFF00"/>
                    </a:highlight>
                    <a:latin typeface="Arial" charset="0"/>
                    <a:ea typeface="ＭＳ Ｐゴシック" charset="0"/>
                    <a:cs typeface="ＭＳ Ｐゴシック" charset="0"/>
                  </a:rPr>
                  <a:t> procedures, we have the following strategy:</a:t>
                </a:r>
              </a:p>
              <a:p>
                <a:pPr marL="800100" lvl="1" indent="-342900" eaLnBrk="1" hangingPunct="1">
                  <a:lnSpc>
                    <a:spcPts val="2660"/>
                  </a:lnSpc>
                  <a:buFont typeface="+mj-lt"/>
                  <a:buAutoNum type="arabicPeriod"/>
                  <a:defRPr/>
                </a:pPr>
                <a:r>
                  <a:rPr lang="en-US" dirty="0">
                    <a:latin typeface="Arial" charset="0"/>
                    <a:ea typeface="ＭＳ Ｐゴシック" charset="0"/>
                    <a:cs typeface="ＭＳ Ｐゴシック" charset="0"/>
                  </a:rPr>
                  <a:t>Get an initial sample size by replacing </a:t>
                </a:r>
                <a:r>
                  <a:rPr lang="en-US" i="1" dirty="0">
                    <a:latin typeface="Arial" charset="0"/>
                    <a:ea typeface="ＭＳ Ｐゴシック" charset="0"/>
                    <a:cs typeface="ＭＳ Ｐゴシック" charset="0"/>
                  </a:rPr>
                  <a:t>t</a:t>
                </a:r>
                <a:r>
                  <a:rPr lang="en-US" i="1" baseline="30000" dirty="0">
                    <a:latin typeface="Arial" charset="0"/>
                    <a:ea typeface="ＭＳ Ｐゴシック" charset="0"/>
                    <a:cs typeface="ＭＳ Ｐゴシック" charset="0"/>
                  </a:rPr>
                  <a:t>*</a:t>
                </a:r>
                <a:r>
                  <a:rPr lang="en-US" dirty="0">
                    <a:latin typeface="Arial" charset="0"/>
                    <a:ea typeface="ＭＳ Ｐゴシック" charset="0"/>
                    <a:cs typeface="ＭＳ Ｐゴシック" charset="0"/>
                  </a:rPr>
                  <a:t> with </a:t>
                </a:r>
                <a:r>
                  <a:rPr lang="en-US" i="1" dirty="0">
                    <a:latin typeface="Arial" charset="0"/>
                    <a:ea typeface="ＭＳ Ｐゴシック" charset="0"/>
                    <a:cs typeface="ＭＳ Ｐゴシック" charset="0"/>
                  </a:rPr>
                  <a:t>z</a:t>
                </a:r>
                <a:r>
                  <a:rPr lang="en-US" i="1" baseline="30000" dirty="0">
                    <a:latin typeface="Arial" charset="0"/>
                    <a:ea typeface="ＭＳ Ｐゴシック" charset="0"/>
                    <a:cs typeface="ＭＳ Ｐゴシック" charset="0"/>
                  </a:rPr>
                  <a:t>*</a:t>
                </a:r>
                <a:r>
                  <a:rPr lang="en-US" dirty="0">
                    <a:latin typeface="Arial" charset="0"/>
                    <a:ea typeface="ＭＳ Ｐゴシック" charset="0"/>
                    <a:cs typeface="ＭＳ Ｐゴシック" charset="0"/>
                  </a:rPr>
                  <a:t>. Compute </a:t>
                </a:r>
                <a14:m>
                  <m:oMath xmlns:m="http://schemas.openxmlformats.org/officeDocument/2006/math">
                    <m:r>
                      <a:rPr lang="en-US" b="0" i="1" smtClean="0">
                        <a:latin typeface="Cambria Math" panose="02040503050406030204" pitchFamily="18" charset="0"/>
                        <a:ea typeface="ＭＳ Ｐゴシック" charset="0"/>
                        <a:cs typeface="ＭＳ Ｐゴシック" charset="0"/>
                      </a:rPr>
                      <m:t>𝑛</m:t>
                    </m:r>
                    <m:r>
                      <a:rPr lang="en-US" b="0" i="1" smtClean="0">
                        <a:latin typeface="Cambria Math" panose="02040503050406030204" pitchFamily="18" charset="0"/>
                        <a:ea typeface="ＭＳ Ｐゴシック" charset="0"/>
                        <a:cs typeface="ＭＳ Ｐゴシック"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type m:val="lin"/>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num>
                              <m:den>
                                <m:r>
                                  <a:rPr lang="en-US" b="0" i="1" smtClean="0">
                                    <a:latin typeface="Cambria Math" panose="02040503050406030204" pitchFamily="18" charset="0"/>
                                  </a:rPr>
                                  <m:t>𝑚</m:t>
                                </m:r>
                              </m:den>
                            </m:f>
                          </m:e>
                        </m:d>
                      </m:e>
                      <m:sup>
                        <m:r>
                          <a:rPr lang="en-US" b="0" i="1" smtClean="0">
                            <a:latin typeface="Cambria Math" panose="02040503050406030204" pitchFamily="18" charset="0"/>
                          </a:rPr>
                          <m:t>2</m:t>
                        </m:r>
                      </m:sup>
                    </m:sSup>
                  </m:oMath>
                </a14:m>
                <a:r>
                  <a:rPr lang="en-US" dirty="0">
                    <a:latin typeface="Arial" charset="0"/>
                    <a:ea typeface="ＭＳ Ｐゴシック" charset="0"/>
                    <a:cs typeface="ＭＳ Ｐゴシック" charset="0"/>
                  </a:rPr>
                  <a:t> and round up to the nearest integer.</a:t>
                </a:r>
              </a:p>
              <a:p>
                <a:pPr marL="800100" lvl="1" indent="-342900" eaLnBrk="1" hangingPunct="1">
                  <a:lnSpc>
                    <a:spcPts val="2660"/>
                  </a:lnSpc>
                  <a:buFont typeface="+mj-lt"/>
                  <a:buAutoNum type="arabicPeriod"/>
                  <a:defRPr/>
                </a:pPr>
                <a:r>
                  <a:rPr lang="en-US" dirty="0">
                    <a:latin typeface="Arial" charset="0"/>
                    <a:ea typeface="ＭＳ Ｐゴシック" charset="0"/>
                    <a:cs typeface="ＭＳ Ｐゴシック" charset="0"/>
                  </a:rPr>
                  <a:t>Use this sample size to obtain </a:t>
                </a:r>
                <a:r>
                  <a:rPr lang="en-US" i="1" dirty="0">
                    <a:latin typeface="Arial" charset="0"/>
                    <a:ea typeface="ＭＳ Ｐゴシック" charset="0"/>
                    <a:cs typeface="ＭＳ Ｐゴシック" charset="0"/>
                  </a:rPr>
                  <a:t>t</a:t>
                </a:r>
                <a:r>
                  <a:rPr lang="en-US" i="1" baseline="30000" dirty="0">
                    <a:latin typeface="Arial" charset="0"/>
                    <a:ea typeface="ＭＳ Ｐゴシック" charset="0"/>
                    <a:cs typeface="ＭＳ Ｐゴシック" charset="0"/>
                  </a:rPr>
                  <a:t>*</a:t>
                </a:r>
                <a:r>
                  <a:rPr lang="en-US" dirty="0">
                    <a:latin typeface="Arial" charset="0"/>
                    <a:ea typeface="ＭＳ Ｐゴシック" charset="0"/>
                    <a:cs typeface="ＭＳ Ｐゴシック" charset="0"/>
                  </a:rPr>
                  <a:t> and check whether </a:t>
                </a:r>
                <a14:m>
                  <m:oMath xmlns:m="http://schemas.openxmlformats.org/officeDocument/2006/math">
                    <m:r>
                      <a:rPr lang="en-US" b="0" i="1" smtClean="0">
                        <a:latin typeface="Cambria Math" panose="02040503050406030204" pitchFamily="18" charset="0"/>
                        <a:ea typeface="ＭＳ Ｐゴシック" charset="0"/>
                        <a:cs typeface="ＭＳ Ｐゴシック" charset="0"/>
                      </a:rPr>
                      <m:t>𝑚</m:t>
                    </m:r>
                    <m:r>
                      <a:rPr lang="en-US" b="0" i="1" smtClean="0">
                        <a:latin typeface="Cambria Math" panose="02040503050406030204" pitchFamily="18" charset="0"/>
                        <a:ea typeface="Cambria Math" panose="02040503050406030204" pitchFamily="18" charset="0"/>
                        <a:cs typeface="ＭＳ Ｐゴシック" charset="0"/>
                      </a:rPr>
                      <m:t>≥</m:t>
                    </m:r>
                    <m:f>
                      <m:fPr>
                        <m:type m:val="lin"/>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𝑡</m:t>
                            </m:r>
                          </m:e>
                          <m:sup>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num>
                      <m:den>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𝑛</m:t>
                            </m:r>
                          </m:e>
                        </m:rad>
                      </m:den>
                    </m:f>
                  </m:oMath>
                </a14:m>
                <a:r>
                  <a:rPr lang="en-US" dirty="0">
                    <a:latin typeface="Arial" charset="0"/>
                    <a:ea typeface="ＭＳ Ｐゴシック" charset="0"/>
                    <a:cs typeface="ＭＳ Ｐゴシック" charset="0"/>
                  </a:rPr>
                  <a:t>.</a:t>
                </a:r>
              </a:p>
              <a:p>
                <a:pPr marL="800100" lvl="1" indent="-342900" eaLnBrk="1" hangingPunct="1">
                  <a:lnSpc>
                    <a:spcPts val="2660"/>
                  </a:lnSpc>
                  <a:buFont typeface="+mj-lt"/>
                  <a:buAutoNum type="arabicPeriod"/>
                  <a:defRPr/>
                </a:pPr>
                <a:r>
                  <a:rPr lang="en-US" dirty="0">
                    <a:latin typeface="Arial" charset="0"/>
                    <a:ea typeface="ＭＳ Ｐゴシック" charset="0"/>
                    <a:cs typeface="ＭＳ Ｐゴシック" charset="0"/>
                  </a:rPr>
                  <a:t>If the requirement is not satisfied, increase </a:t>
                </a:r>
                <a:r>
                  <a:rPr lang="en-US" i="1" dirty="0">
                    <a:latin typeface="Arial" charset="0"/>
                    <a:ea typeface="ＭＳ Ｐゴシック" charset="0"/>
                    <a:cs typeface="ＭＳ Ｐゴシック" charset="0"/>
                  </a:rPr>
                  <a:t>n</a:t>
                </a:r>
                <a:r>
                  <a:rPr lang="en-US" dirty="0">
                    <a:latin typeface="Arial" charset="0"/>
                    <a:ea typeface="ＭＳ Ｐゴシック" charset="0"/>
                    <a:cs typeface="ＭＳ Ｐゴシック" charset="0"/>
                  </a:rPr>
                  <a:t> by 1 and repeat Step 2; otherwise, stop.</a:t>
                </a:r>
              </a:p>
            </p:txBody>
          </p:sp>
        </mc:Choice>
        <mc:Fallback xmlns="">
          <p:sp>
            <p:nvSpPr>
              <p:cNvPr id="3" name="TextBox 2"/>
              <p:cNvSpPr txBox="1">
                <a:spLocks noRot="1" noChangeAspect="1" noMove="1" noResize="1" noEditPoints="1" noAdjustHandles="1" noChangeArrowheads="1" noChangeShapeType="1" noTextEdit="1"/>
              </p:cNvSpPr>
              <p:nvPr/>
            </p:nvSpPr>
            <p:spPr>
              <a:xfrm>
                <a:off x="567532" y="4243573"/>
                <a:ext cx="7618412" cy="2516073"/>
              </a:xfrm>
              <a:prstGeom prst="rect">
                <a:avLst/>
              </a:prstGeom>
              <a:blipFill rotWithShape="0">
                <a:blip r:embed="rId4"/>
                <a:stretch>
                  <a:fillRect l="-640" b="-1695"/>
                </a:stretch>
              </a:blipFill>
            </p:spPr>
            <p:txBody>
              <a:bodyPr/>
              <a:lstStyle/>
              <a:p>
                <a:r>
                  <a:rPr lang="en-US">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p:txBody>
          <a:bodyPr/>
          <a:lstStyle/>
          <a:p>
            <a:pPr eaLnBrk="1" hangingPunct="1"/>
            <a:r>
              <a:rPr lang="en-US" dirty="0">
                <a:ea typeface="ＭＳ Ｐゴシック" pitchFamily="34" charset="-128"/>
              </a:rPr>
              <a:t>The Power of the One-Sample </a:t>
            </a:r>
            <a:r>
              <a:rPr lang="en-US" i="1" dirty="0">
                <a:ea typeface="ＭＳ Ｐゴシック" pitchFamily="34" charset="-128"/>
              </a:rPr>
              <a:t>t</a:t>
            </a:r>
            <a:r>
              <a:rPr lang="en-US" dirty="0">
                <a:ea typeface="ＭＳ Ｐゴシック" pitchFamily="34" charset="-128"/>
              </a:rPr>
              <a:t> test</a:t>
            </a:r>
          </a:p>
        </p:txBody>
      </p:sp>
      <p:sp>
        <p:nvSpPr>
          <p:cNvPr id="7885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67418F47-C5F6-46E5-AABF-569A214FB65C}" type="slidenum">
              <a:rPr lang="en-US" sz="1200">
                <a:solidFill>
                  <a:schemeClr val="accent1"/>
                </a:solidFill>
              </a:rPr>
              <a:pPr>
                <a:lnSpc>
                  <a:spcPct val="80000"/>
                </a:lnSpc>
              </a:pPr>
              <a:t>38</a:t>
            </a:fld>
            <a:endParaRPr lang="en-US" sz="1200">
              <a:solidFill>
                <a:schemeClr val="accent1"/>
              </a:solidFill>
            </a:endParaRPr>
          </a:p>
        </p:txBody>
      </p:sp>
      <p:sp>
        <p:nvSpPr>
          <p:cNvPr id="1122307" name="Rectangle 3"/>
          <p:cNvSpPr>
            <a:spLocks noGrp="1" noChangeArrowheads="1"/>
          </p:cNvSpPr>
          <p:nvPr>
            <p:ph type="body" idx="4294967295"/>
          </p:nvPr>
        </p:nvSpPr>
        <p:spPr>
          <a:xfrm>
            <a:off x="254001" y="1202509"/>
            <a:ext cx="8002587" cy="3947007"/>
          </a:xfrm>
        </p:spPr>
        <p:txBody>
          <a:bodyPr/>
          <a:lstStyle/>
          <a:p>
            <a:pPr marL="0" indent="0" algn="just" eaLnBrk="1" hangingPunct="1">
              <a:buFont typeface="Wingdings" pitchFamily="2" charset="2"/>
              <a:buNone/>
            </a:pPr>
            <a:r>
              <a:rPr lang="en-US" dirty="0">
                <a:solidFill>
                  <a:srgbClr val="000000"/>
                </a:solidFill>
                <a:ea typeface="ＭＳ Ｐゴシック" pitchFamily="34" charset="-128"/>
              </a:rPr>
              <a:t>The power of the one-sample </a:t>
            </a:r>
            <a:r>
              <a:rPr lang="en-US" i="1" dirty="0">
                <a:solidFill>
                  <a:srgbClr val="000000"/>
                </a:solidFill>
                <a:ea typeface="ＭＳ Ｐゴシック" pitchFamily="34" charset="-128"/>
              </a:rPr>
              <a:t>t </a:t>
            </a:r>
            <a:r>
              <a:rPr lang="en-US" dirty="0">
                <a:solidFill>
                  <a:srgbClr val="000000"/>
                </a:solidFill>
                <a:ea typeface="ＭＳ Ｐゴシック" pitchFamily="34" charset="-128"/>
              </a:rPr>
              <a:t>test for a specific alternative value of the population mean </a:t>
            </a:r>
            <a:r>
              <a:rPr lang="en-US" i="1" dirty="0">
                <a:solidFill>
                  <a:srgbClr val="000000"/>
                </a:solidFill>
                <a:ea typeface="ＭＳ Ｐゴシック" pitchFamily="34" charset="-128"/>
              </a:rPr>
              <a:t>µ, </a:t>
            </a:r>
            <a:r>
              <a:rPr lang="en-US" dirty="0">
                <a:solidFill>
                  <a:srgbClr val="000000"/>
                </a:solidFill>
                <a:ea typeface="ＭＳ Ｐゴシック" pitchFamily="34" charset="-128"/>
              </a:rPr>
              <a:t>assuming a fixed significance level </a:t>
            </a:r>
            <a:r>
              <a:rPr lang="en-US" altLang="ja-JP" i="1" dirty="0">
                <a:solidFill>
                  <a:srgbClr val="000000"/>
                </a:solidFill>
                <a:ea typeface="ＭＳ Ｐゴシック" pitchFamily="34" charset="-128"/>
                <a:sym typeface="Symbol" pitchFamily="18" charset="2"/>
              </a:rPr>
              <a:t></a:t>
            </a:r>
            <a:r>
              <a:rPr lang="en-US" i="1" dirty="0">
                <a:solidFill>
                  <a:srgbClr val="000000"/>
                </a:solidFill>
                <a:ea typeface="ＭＳ Ｐゴシック" pitchFamily="34" charset="-128"/>
              </a:rPr>
              <a:t>, </a:t>
            </a:r>
            <a:r>
              <a:rPr lang="en-US" dirty="0">
                <a:solidFill>
                  <a:srgbClr val="000000"/>
                </a:solidFill>
                <a:ea typeface="ＭＳ Ｐゴシック" pitchFamily="34" charset="-128"/>
              </a:rPr>
              <a:t>is the probability that the test will reject the null hypothesis when the alternative value of the mean is true.  </a:t>
            </a:r>
            <a:endParaRPr lang="en-US" sz="1600" dirty="0">
              <a:solidFill>
                <a:srgbClr val="000000"/>
              </a:solidFill>
              <a:ea typeface="ＭＳ Ｐゴシック" pitchFamily="34" charset="-128"/>
            </a:endParaRPr>
          </a:p>
          <a:p>
            <a:pPr marL="0" indent="0" algn="just" eaLnBrk="1" hangingPunct="1">
              <a:buFont typeface="Wingdings" pitchFamily="2" charset="2"/>
              <a:buNone/>
            </a:pPr>
            <a:r>
              <a:rPr lang="en-US" dirty="0">
                <a:solidFill>
                  <a:srgbClr val="000000"/>
                </a:solidFill>
                <a:ea typeface="ＭＳ Ｐゴシック" pitchFamily="34" charset="-128"/>
              </a:rPr>
              <a:t>Calculation of the exact power of the </a:t>
            </a:r>
            <a:r>
              <a:rPr lang="en-US" i="1" dirty="0">
                <a:solidFill>
                  <a:srgbClr val="000000"/>
                </a:solidFill>
                <a:ea typeface="ＭＳ Ｐゴシック" pitchFamily="34" charset="-128"/>
              </a:rPr>
              <a:t>t </a:t>
            </a:r>
            <a:r>
              <a:rPr lang="en-US" dirty="0">
                <a:solidFill>
                  <a:srgbClr val="000000"/>
                </a:solidFill>
                <a:ea typeface="ＭＳ Ｐゴシック" pitchFamily="34" charset="-128"/>
              </a:rPr>
              <a:t>test is a bit complex. But an approximate calculation that acts as if </a:t>
            </a:r>
            <a:r>
              <a:rPr lang="en-US" i="1" dirty="0">
                <a:solidFill>
                  <a:srgbClr val="000000"/>
                </a:solidFill>
                <a:ea typeface="ＭＳ Ｐゴシック" pitchFamily="34" charset="-128"/>
              </a:rPr>
              <a:t>σ </a:t>
            </a:r>
            <a:r>
              <a:rPr lang="en-US" dirty="0">
                <a:solidFill>
                  <a:srgbClr val="000000"/>
                </a:solidFill>
                <a:ea typeface="ＭＳ Ｐゴシック" pitchFamily="34" charset="-128"/>
              </a:rPr>
              <a:t>were known is almost always adequate for planning a study. This calculation is very much like that for the </a:t>
            </a:r>
            <a:r>
              <a:rPr lang="en-US" i="1" dirty="0">
                <a:solidFill>
                  <a:srgbClr val="000000"/>
                </a:solidFill>
                <a:ea typeface="ＭＳ Ｐゴシック" pitchFamily="34" charset="-128"/>
              </a:rPr>
              <a:t>z </a:t>
            </a:r>
            <a:r>
              <a:rPr lang="en-US" dirty="0">
                <a:solidFill>
                  <a:srgbClr val="000000"/>
                </a:solidFill>
                <a:ea typeface="ＭＳ Ｐゴシック" pitchFamily="34" charset="-128"/>
              </a:rPr>
              <a:t>test. </a:t>
            </a:r>
            <a:endParaRPr lang="en-US" sz="1600" dirty="0">
              <a:solidFill>
                <a:srgbClr val="000000"/>
              </a:solidFill>
              <a:ea typeface="ＭＳ Ｐゴシック" pitchFamily="34" charset="-128"/>
            </a:endParaRPr>
          </a:p>
          <a:p>
            <a:pPr marL="0" indent="0" algn="just" eaLnBrk="1" hangingPunct="1">
              <a:buFont typeface="Wingdings" pitchFamily="2" charset="2"/>
              <a:buNone/>
            </a:pPr>
            <a:r>
              <a:rPr lang="en-US" sz="2000" i="1" dirty="0">
                <a:solidFill>
                  <a:srgbClr val="000000"/>
                </a:solidFill>
                <a:ea typeface="ＭＳ Ｐゴシック" pitchFamily="34" charset="-128"/>
              </a:rPr>
              <a:t>When guessing </a:t>
            </a:r>
            <a:r>
              <a:rPr lang="en-US" sz="2000" dirty="0">
                <a:solidFill>
                  <a:srgbClr val="000000"/>
                </a:solidFill>
                <a:ea typeface="ＭＳ Ｐゴシック" pitchFamily="34" charset="-128"/>
              </a:rPr>
              <a:t>σ</a:t>
            </a:r>
            <a:r>
              <a:rPr lang="en-US" sz="2000" i="1" dirty="0">
                <a:solidFill>
                  <a:srgbClr val="000000"/>
                </a:solidFill>
                <a:ea typeface="ＭＳ Ｐゴシック" pitchFamily="34" charset="-128"/>
              </a:rPr>
              <a:t>, it is always better to err on the side of a standard deviation that is a little larger rather than smaller. We want to avoid failing to find an effect because we did not have enough data.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230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23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title"/>
          </p:nvPr>
        </p:nvSpPr>
        <p:spPr/>
        <p:txBody>
          <a:bodyPr/>
          <a:lstStyle/>
          <a:p>
            <a:pPr eaLnBrk="1" hangingPunct="1"/>
            <a:r>
              <a:rPr lang="en-US" sz="3200" dirty="0">
                <a:ea typeface="ＭＳ Ｐゴシック" pitchFamily="34" charset="-128"/>
              </a:rPr>
              <a:t>The Power of the Two-Sample </a:t>
            </a:r>
            <a:r>
              <a:rPr lang="en-US" sz="3200" i="1" dirty="0">
                <a:ea typeface="ＭＳ Ｐゴシック" pitchFamily="34" charset="-128"/>
              </a:rPr>
              <a:t>t</a:t>
            </a:r>
            <a:r>
              <a:rPr lang="en-US" sz="3200" dirty="0">
                <a:ea typeface="ＭＳ Ｐゴシック" pitchFamily="34" charset="-128"/>
              </a:rPr>
              <a:t> Test 1</a:t>
            </a:r>
          </a:p>
        </p:txBody>
      </p:sp>
      <p:sp>
        <p:nvSpPr>
          <p:cNvPr id="80899"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AEFF78F7-DDE9-4279-84F2-2FCF21A78143}" type="slidenum">
              <a:rPr lang="en-US" sz="1400">
                <a:solidFill>
                  <a:schemeClr val="accent1"/>
                </a:solidFill>
              </a:rPr>
              <a:pPr/>
              <a:t>39</a:t>
            </a:fld>
            <a:endParaRPr lang="en-US" sz="1400">
              <a:solidFill>
                <a:schemeClr val="accent1"/>
              </a:solidFill>
            </a:endParaRPr>
          </a:p>
        </p:txBody>
      </p:sp>
      <p:sp>
        <p:nvSpPr>
          <p:cNvPr id="1159171" name="Rectangle 3"/>
          <p:cNvSpPr>
            <a:spLocks noGrp="1" noChangeArrowheads="1"/>
          </p:cNvSpPr>
          <p:nvPr>
            <p:ph type="body" idx="4294967295"/>
          </p:nvPr>
        </p:nvSpPr>
        <p:spPr>
          <a:xfrm>
            <a:off x="174625" y="1320800"/>
            <a:ext cx="8188325" cy="3828716"/>
          </a:xfrm>
        </p:spPr>
        <p:txBody>
          <a:bodyPr/>
          <a:lstStyle/>
          <a:p>
            <a:pPr marL="0" indent="0" algn="just" eaLnBrk="1" hangingPunct="1">
              <a:buFont typeface="Wingdings" pitchFamily="2" charset="2"/>
              <a:buNone/>
            </a:pPr>
            <a:r>
              <a:rPr lang="en-US" dirty="0">
                <a:solidFill>
                  <a:srgbClr val="000000"/>
                </a:solidFill>
                <a:ea typeface="ＭＳ Ｐゴシック" pitchFamily="34" charset="-128"/>
              </a:rPr>
              <a:t>Assume that the significance level of a two-sample </a:t>
            </a:r>
            <a:r>
              <a:rPr lang="en-US" i="1" dirty="0">
                <a:solidFill>
                  <a:srgbClr val="000000"/>
                </a:solidFill>
                <a:ea typeface="ＭＳ Ｐゴシック" pitchFamily="34" charset="-128"/>
              </a:rPr>
              <a:t>t </a:t>
            </a:r>
            <a:r>
              <a:rPr lang="en-US" dirty="0">
                <a:solidFill>
                  <a:srgbClr val="000000"/>
                </a:solidFill>
                <a:ea typeface="ＭＳ Ｐゴシック" pitchFamily="34" charset="-128"/>
              </a:rPr>
              <a:t>test is fixed at </a:t>
            </a:r>
            <a:r>
              <a:rPr lang="en-US" i="1" dirty="0">
                <a:solidFill>
                  <a:srgbClr val="000000"/>
                </a:solidFill>
                <a:ea typeface="ＭＳ Ｐゴシック" pitchFamily="34" charset="-128"/>
              </a:rPr>
              <a:t>α. </a:t>
            </a:r>
            <a:r>
              <a:rPr lang="en-US" dirty="0">
                <a:solidFill>
                  <a:srgbClr val="000000"/>
                </a:solidFill>
                <a:ea typeface="ＭＳ Ｐゴシック" pitchFamily="34" charset="-128"/>
              </a:rPr>
              <a:t>Then the power of the test for a specific alternative value of the difference in population means (</a:t>
            </a:r>
            <a:r>
              <a:rPr lang="en-US" i="1" dirty="0">
                <a:solidFill>
                  <a:srgbClr val="000000"/>
                </a:solidFill>
                <a:ea typeface="ＭＳ Ｐゴシック" pitchFamily="34" charset="-128"/>
              </a:rPr>
              <a:t>µ</a:t>
            </a:r>
            <a:r>
              <a:rPr lang="en-US" baseline="-25000" dirty="0">
                <a:solidFill>
                  <a:srgbClr val="000000"/>
                </a:solidFill>
                <a:ea typeface="ＭＳ Ｐゴシック" pitchFamily="34" charset="-128"/>
              </a:rPr>
              <a:t>1</a:t>
            </a:r>
            <a:r>
              <a:rPr lang="en-US" i="1" baseline="-25000" dirty="0">
                <a:solidFill>
                  <a:srgbClr val="000000"/>
                </a:solidFill>
                <a:ea typeface="ＭＳ Ｐゴシック" pitchFamily="34" charset="-128"/>
              </a:rPr>
              <a:t> </a:t>
            </a:r>
            <a:r>
              <a:rPr lang="en-US" i="1" dirty="0">
                <a:solidFill>
                  <a:srgbClr val="000000"/>
                </a:solidFill>
                <a:ea typeface="ＭＳ Ｐゴシック" pitchFamily="34" charset="-128"/>
              </a:rPr>
              <a:t>− µ</a:t>
            </a:r>
            <a:r>
              <a:rPr lang="en-US" baseline="-25000" dirty="0">
                <a:solidFill>
                  <a:srgbClr val="000000"/>
                </a:solidFill>
                <a:ea typeface="ＭＳ Ｐゴシック" pitchFamily="34" charset="-128"/>
              </a:rPr>
              <a:t>2</a:t>
            </a:r>
            <a:r>
              <a:rPr lang="en-US" i="1" dirty="0">
                <a:solidFill>
                  <a:srgbClr val="000000"/>
                </a:solidFill>
                <a:ea typeface="ＭＳ Ｐゴシック" pitchFamily="34" charset="-128"/>
              </a:rPr>
              <a:t>) </a:t>
            </a:r>
            <a:r>
              <a:rPr lang="en-US" dirty="0">
                <a:solidFill>
                  <a:srgbClr val="000000"/>
                </a:solidFill>
                <a:ea typeface="ＭＳ Ｐゴシック" pitchFamily="34" charset="-128"/>
              </a:rPr>
              <a:t>is the probability that the test will lead to our rejecting the null hypothesis when the alternative is true. </a:t>
            </a:r>
          </a:p>
          <a:p>
            <a:pPr marL="0" indent="0" algn="just" eaLnBrk="1" hangingPunct="1">
              <a:buFont typeface="Wingdings" pitchFamily="2" charset="2"/>
              <a:buNone/>
            </a:pPr>
            <a:r>
              <a:rPr lang="en-US" dirty="0">
                <a:solidFill>
                  <a:srgbClr val="000000"/>
                </a:solidFill>
                <a:ea typeface="ＭＳ Ｐゴシック" pitchFamily="34" charset="-128"/>
              </a:rPr>
              <a:t>The basic concept is like that for the one-sample </a:t>
            </a:r>
            <a:r>
              <a:rPr lang="en-US" i="1" dirty="0">
                <a:solidFill>
                  <a:srgbClr val="000000"/>
                </a:solidFill>
                <a:ea typeface="ＭＳ Ｐゴシック" pitchFamily="34" charset="-128"/>
              </a:rPr>
              <a:t>t</a:t>
            </a:r>
            <a:r>
              <a:rPr lang="en-US" dirty="0">
                <a:solidFill>
                  <a:srgbClr val="000000"/>
                </a:solidFill>
                <a:ea typeface="ＭＳ Ｐゴシック" pitchFamily="34" charset="-128"/>
              </a:rPr>
              <a:t> test. The exact method involves the </a:t>
            </a:r>
            <a:r>
              <a:rPr lang="en-US" b="1" dirty="0" err="1">
                <a:solidFill>
                  <a:schemeClr val="tx1"/>
                </a:solidFill>
                <a:ea typeface="ＭＳ Ｐゴシック" pitchFamily="34" charset="-128"/>
              </a:rPr>
              <a:t>noncentral</a:t>
            </a:r>
            <a:r>
              <a:rPr lang="en-US" b="1" dirty="0">
                <a:solidFill>
                  <a:schemeClr val="tx1"/>
                </a:solidFill>
                <a:ea typeface="ＭＳ Ｐゴシック" pitchFamily="34" charset="-128"/>
              </a:rPr>
              <a:t> </a:t>
            </a:r>
            <a:r>
              <a:rPr lang="en-US" b="1" i="1" dirty="0">
                <a:solidFill>
                  <a:schemeClr val="tx1"/>
                </a:solidFill>
                <a:ea typeface="ＭＳ Ｐゴシック" pitchFamily="34" charset="-128"/>
              </a:rPr>
              <a:t>t </a:t>
            </a:r>
            <a:r>
              <a:rPr lang="en-US" b="1" dirty="0">
                <a:solidFill>
                  <a:schemeClr val="tx1"/>
                </a:solidFill>
                <a:ea typeface="ＭＳ Ｐゴシック" pitchFamily="34" charset="-128"/>
              </a:rPr>
              <a:t>distribution. </a:t>
            </a:r>
            <a:r>
              <a:rPr lang="en-US" dirty="0">
                <a:solidFill>
                  <a:srgbClr val="000000"/>
                </a:solidFill>
                <a:ea typeface="ＭＳ Ｐゴシック" pitchFamily="34" charset="-128"/>
              </a:rPr>
              <a:t>Calculations are carried out with software. </a:t>
            </a:r>
            <a:endParaRPr lang="en-US" sz="1400" dirty="0">
              <a:solidFill>
                <a:srgbClr val="000000"/>
              </a:solidFill>
              <a:ea typeface="ＭＳ Ｐゴシック" pitchFamily="34" charset="-128"/>
            </a:endParaRPr>
          </a:p>
          <a:p>
            <a:pPr marL="0" indent="0" algn="just" eaLnBrk="1" hangingPunct="1">
              <a:buFont typeface="Wingdings" pitchFamily="2" charset="2"/>
              <a:buNone/>
            </a:pPr>
            <a:r>
              <a:rPr lang="en-US" dirty="0">
                <a:solidFill>
                  <a:srgbClr val="000000"/>
                </a:solidFill>
                <a:ea typeface="ＭＳ Ｐゴシック" pitchFamily="34" charset="-128"/>
              </a:rPr>
              <a:t>One needs information from a pilot study or from previous research to calculate an expected power for a </a:t>
            </a:r>
            <a:r>
              <a:rPr lang="en-US" i="1" dirty="0">
                <a:solidFill>
                  <a:srgbClr val="000000"/>
                </a:solidFill>
                <a:ea typeface="ＭＳ Ｐゴシック" pitchFamily="34" charset="-128"/>
              </a:rPr>
              <a:t>t </a:t>
            </a:r>
            <a:r>
              <a:rPr lang="en-US" dirty="0">
                <a:solidFill>
                  <a:srgbClr val="000000"/>
                </a:solidFill>
                <a:ea typeface="ＭＳ Ｐゴシック" pitchFamily="34" charset="-128"/>
              </a:rPr>
              <a:t>test, which allows one to smartly plan a study.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5917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5917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The Power of the Two-Sample </a:t>
            </a:r>
            <a:r>
              <a:rPr lang="en-US" sz="3200" i="1" dirty="0"/>
              <a:t>t</a:t>
            </a:r>
            <a:r>
              <a:rPr lang="en-US" sz="3200" dirty="0"/>
              <a:t> Test 2</a:t>
            </a:r>
          </a:p>
        </p:txBody>
      </p:sp>
      <p:sp>
        <p:nvSpPr>
          <p:cNvPr id="82947"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B2BD2E38-F46E-4B0B-AE9B-3FAC871CA7C7}" type="slidenum">
              <a:rPr lang="en-US" sz="1400">
                <a:solidFill>
                  <a:schemeClr val="accent1"/>
                </a:solidFill>
              </a:rPr>
              <a:pPr/>
              <a:t>40</a:t>
            </a:fld>
            <a:endParaRPr lang="en-US" sz="1400">
              <a:solidFill>
                <a:schemeClr val="accent1"/>
              </a:solidFill>
            </a:endParaRPr>
          </a:p>
        </p:txBody>
      </p:sp>
      <mc:AlternateContent xmlns:mc="http://schemas.openxmlformats.org/markup-compatibility/2006" xmlns:a14="http://schemas.microsoft.com/office/drawing/2010/main">
        <mc:Choice Requires="a14">
          <p:sp>
            <p:nvSpPr>
              <p:cNvPr id="1160195" name="Rectangle 3"/>
              <p:cNvSpPr>
                <a:spLocks noGrp="1" noChangeArrowheads="1"/>
              </p:cNvSpPr>
              <p:nvPr>
                <p:ph type="body" sz="half" idx="4294967295"/>
              </p:nvPr>
            </p:nvSpPr>
            <p:spPr>
              <a:xfrm>
                <a:off x="174624" y="1214846"/>
                <a:ext cx="8588375" cy="5282791"/>
              </a:xfrm>
              <a:solidFill>
                <a:srgbClr val="FFD780"/>
              </a:solidFill>
            </p:spPr>
            <p:txBody>
              <a:bodyPr/>
              <a:lstStyle/>
              <a:p>
                <a:pPr marL="0" indent="0" algn="just" eaLnBrk="1" hangingPunct="1">
                  <a:buFont typeface="Wingdings" pitchFamily="2" charset="2"/>
                  <a:buNone/>
                </a:pPr>
                <a:r>
                  <a:rPr lang="en-US" dirty="0">
                    <a:solidFill>
                      <a:srgbClr val="000000"/>
                    </a:solidFill>
                    <a:ea typeface="ＭＳ Ｐゴシック" pitchFamily="34" charset="-128"/>
                  </a:rPr>
                  <a:t>For the pooled two-sample </a:t>
                </a:r>
                <a:r>
                  <a:rPr lang="en-US" i="1" dirty="0">
                    <a:solidFill>
                      <a:srgbClr val="000000"/>
                    </a:solidFill>
                    <a:ea typeface="ＭＳ Ｐゴシック" pitchFamily="34" charset="-128"/>
                  </a:rPr>
                  <a:t>t </a:t>
                </a:r>
                <a:r>
                  <a:rPr lang="en-US" dirty="0">
                    <a:solidFill>
                      <a:srgbClr val="000000"/>
                    </a:solidFill>
                    <a:ea typeface="ＭＳ Ｐゴシック" pitchFamily="34" charset="-128"/>
                  </a:rPr>
                  <a:t>test, with parameters </a:t>
                </a:r>
                <a:r>
                  <a:rPr lang="en-US" i="1" dirty="0">
                    <a:solidFill>
                      <a:srgbClr val="000000"/>
                    </a:solidFill>
                    <a:ea typeface="ＭＳ Ｐゴシック" pitchFamily="34" charset="-128"/>
                  </a:rPr>
                  <a:t>µ</a:t>
                </a:r>
                <a:r>
                  <a:rPr lang="en-US" sz="1800" baseline="-25000" dirty="0">
                    <a:solidFill>
                      <a:srgbClr val="000000"/>
                    </a:solidFill>
                    <a:ea typeface="ＭＳ Ｐゴシック" pitchFamily="34" charset="-128"/>
                  </a:rPr>
                  <a:t>1</a:t>
                </a:r>
                <a:r>
                  <a:rPr lang="en-US" dirty="0">
                    <a:solidFill>
                      <a:srgbClr val="000000"/>
                    </a:solidFill>
                    <a:ea typeface="ＭＳ Ｐゴシック" pitchFamily="34" charset="-128"/>
                  </a:rPr>
                  <a:t>, </a:t>
                </a:r>
                <a:r>
                  <a:rPr lang="en-US" i="1" dirty="0">
                    <a:solidFill>
                      <a:srgbClr val="000000"/>
                    </a:solidFill>
                    <a:ea typeface="ＭＳ Ｐゴシック" pitchFamily="34" charset="-128"/>
                  </a:rPr>
                  <a:t>µ</a:t>
                </a:r>
                <a:r>
                  <a:rPr lang="en-US" sz="1800" baseline="-25000" dirty="0">
                    <a:solidFill>
                      <a:srgbClr val="000000"/>
                    </a:solidFill>
                    <a:ea typeface="ＭＳ Ｐゴシック" pitchFamily="34" charset="-128"/>
                  </a:rPr>
                  <a:t>2</a:t>
                </a:r>
                <a:r>
                  <a:rPr lang="en-US" dirty="0">
                    <a:solidFill>
                      <a:srgbClr val="000000"/>
                    </a:solidFill>
                    <a:ea typeface="ＭＳ Ｐゴシック" pitchFamily="34" charset="-128"/>
                  </a:rPr>
                  <a:t>, and the common standard deviation </a:t>
                </a:r>
                <a:r>
                  <a:rPr lang="en-US" i="1" dirty="0">
                    <a:solidFill>
                      <a:srgbClr val="000000"/>
                    </a:solidFill>
                    <a:ea typeface="ＭＳ Ｐゴシック" pitchFamily="34" charset="-128"/>
                  </a:rPr>
                  <a:t>σ,</a:t>
                </a:r>
                <a:r>
                  <a:rPr lang="en-US" dirty="0">
                    <a:solidFill>
                      <a:srgbClr val="000000"/>
                    </a:solidFill>
                    <a:ea typeface="ＭＳ Ｐゴシック" pitchFamily="34" charset="-128"/>
                  </a:rPr>
                  <a:t> we need to specify</a:t>
                </a:r>
              </a:p>
              <a:p>
                <a:pPr marL="568325" lvl="1" eaLnBrk="1" hangingPunct="1">
                  <a:lnSpc>
                    <a:spcPct val="130000"/>
                  </a:lnSpc>
                </a:pPr>
                <a:r>
                  <a:rPr lang="en-US" dirty="0">
                    <a:solidFill>
                      <a:srgbClr val="000000"/>
                    </a:solidFill>
                    <a:ea typeface="ＭＳ Ｐゴシック" pitchFamily="34" charset="-128"/>
                  </a:rPr>
                  <a:t>an alternative that would be important to detect (i.e., a value for </a:t>
                </a:r>
                <a:r>
                  <a:rPr lang="en-US" i="1" dirty="0">
                    <a:solidFill>
                      <a:srgbClr val="000000"/>
                    </a:solidFill>
                    <a:ea typeface="ＭＳ Ｐゴシック" pitchFamily="34" charset="-128"/>
                  </a:rPr>
                  <a:t>µ</a:t>
                </a:r>
                <a:r>
                  <a:rPr lang="en-US" baseline="-25000" dirty="0">
                    <a:solidFill>
                      <a:srgbClr val="000000"/>
                    </a:solidFill>
                    <a:ea typeface="ＭＳ Ｐゴシック" pitchFamily="34" charset="-128"/>
                  </a:rPr>
                  <a:t>1</a:t>
                </a:r>
                <a:r>
                  <a:rPr lang="en-US" dirty="0">
                    <a:solidFill>
                      <a:srgbClr val="000000"/>
                    </a:solidFill>
                    <a:ea typeface="ＭＳ Ｐゴシック" pitchFamily="34" charset="-128"/>
                  </a:rPr>
                  <a:t> – </a:t>
                </a:r>
                <a:r>
                  <a:rPr lang="en-US" i="1" dirty="0">
                    <a:solidFill>
                      <a:srgbClr val="000000"/>
                    </a:solidFill>
                    <a:ea typeface="ＭＳ Ｐゴシック" pitchFamily="34" charset="-128"/>
                  </a:rPr>
                  <a:t>µ</a:t>
                </a:r>
                <a:r>
                  <a:rPr lang="en-US" baseline="-25000" dirty="0">
                    <a:solidFill>
                      <a:srgbClr val="000000"/>
                    </a:solidFill>
                    <a:ea typeface="ＭＳ Ｐゴシック" pitchFamily="34" charset="-128"/>
                  </a:rPr>
                  <a:t>2</a:t>
                </a:r>
                <a:r>
                  <a:rPr lang="en-US" dirty="0">
                    <a:solidFill>
                      <a:srgbClr val="000000"/>
                    </a:solidFill>
                    <a:ea typeface="ＭＳ Ｐゴシック" pitchFamily="34" charset="-128"/>
                  </a:rPr>
                  <a:t>).</a:t>
                </a:r>
              </a:p>
              <a:p>
                <a:pPr marL="568325" lvl="1" eaLnBrk="1" hangingPunct="1">
                  <a:lnSpc>
                    <a:spcPct val="130000"/>
                  </a:lnSpc>
                </a:pPr>
                <a:r>
                  <a:rPr lang="en-US" dirty="0">
                    <a:solidFill>
                      <a:srgbClr val="000000"/>
                    </a:solidFill>
                    <a:ea typeface="ＭＳ Ｐゴシック" pitchFamily="34" charset="-128"/>
                  </a:rPr>
                  <a:t>the sample sizes, </a:t>
                </a:r>
                <a:r>
                  <a:rPr lang="en-US" i="1" dirty="0">
                    <a:solidFill>
                      <a:srgbClr val="000000"/>
                    </a:solidFill>
                    <a:ea typeface="ＭＳ Ｐゴシック" pitchFamily="34" charset="-128"/>
                  </a:rPr>
                  <a:t>n</a:t>
                </a:r>
                <a:r>
                  <a:rPr lang="en-US" baseline="-25000" dirty="0">
                    <a:solidFill>
                      <a:srgbClr val="000000"/>
                    </a:solidFill>
                    <a:ea typeface="ＭＳ Ｐゴシック" pitchFamily="34" charset="-128"/>
                  </a:rPr>
                  <a:t>1</a:t>
                </a:r>
                <a:r>
                  <a:rPr lang="en-US" dirty="0">
                    <a:solidFill>
                      <a:srgbClr val="000000"/>
                    </a:solidFill>
                    <a:ea typeface="ＭＳ Ｐゴシック" pitchFamily="34" charset="-128"/>
                  </a:rPr>
                  <a:t> and </a:t>
                </a:r>
                <a:r>
                  <a:rPr lang="en-US" i="1" dirty="0">
                    <a:solidFill>
                      <a:srgbClr val="000000"/>
                    </a:solidFill>
                    <a:ea typeface="ＭＳ Ｐゴシック" pitchFamily="34" charset="-128"/>
                  </a:rPr>
                  <a:t>n</a:t>
                </a:r>
                <a:r>
                  <a:rPr lang="en-US" baseline="-25000" dirty="0">
                    <a:solidFill>
                      <a:srgbClr val="000000"/>
                    </a:solidFill>
                    <a:ea typeface="ＭＳ Ｐゴシック" pitchFamily="34" charset="-128"/>
                  </a:rPr>
                  <a:t>2</a:t>
                </a:r>
                <a:r>
                  <a:rPr lang="en-US" dirty="0">
                    <a:solidFill>
                      <a:srgbClr val="000000"/>
                    </a:solidFill>
                    <a:ea typeface="ＭＳ Ｐゴシック" pitchFamily="34" charset="-128"/>
                  </a:rPr>
                  <a:t>.</a:t>
                </a:r>
                <a:endParaRPr lang="en-US" baseline="-25000" dirty="0">
                  <a:solidFill>
                    <a:srgbClr val="000000"/>
                  </a:solidFill>
                  <a:ea typeface="ＭＳ Ｐゴシック" pitchFamily="34" charset="-128"/>
                </a:endParaRPr>
              </a:p>
              <a:p>
                <a:pPr marL="568325" lvl="1" eaLnBrk="1" hangingPunct="1">
                  <a:lnSpc>
                    <a:spcPct val="130000"/>
                  </a:lnSpc>
                </a:pPr>
                <a:r>
                  <a:rPr lang="en-US" dirty="0">
                    <a:solidFill>
                      <a:srgbClr val="000000"/>
                    </a:solidFill>
                    <a:ea typeface="ＭＳ Ｐゴシック" pitchFamily="34" charset="-128"/>
                  </a:rPr>
                  <a:t>the Type I error for a fixed significance level, </a:t>
                </a:r>
                <a:r>
                  <a:rPr lang="en-US" i="1" dirty="0">
                    <a:solidFill>
                      <a:srgbClr val="000000"/>
                    </a:solidFill>
                    <a:ea typeface="ＭＳ Ｐゴシック" pitchFamily="34" charset="-128"/>
                  </a:rPr>
                  <a:t>α</a:t>
                </a:r>
                <a:r>
                  <a:rPr lang="en-US" dirty="0">
                    <a:solidFill>
                      <a:srgbClr val="000000"/>
                    </a:solidFill>
                    <a:ea typeface="ＭＳ Ｐゴシック" pitchFamily="34" charset="-128"/>
                  </a:rPr>
                  <a:t>.</a:t>
                </a:r>
              </a:p>
              <a:p>
                <a:pPr marL="568325" lvl="1" eaLnBrk="1" hangingPunct="1">
                  <a:lnSpc>
                    <a:spcPct val="130000"/>
                  </a:lnSpc>
                </a:pPr>
                <a:r>
                  <a:rPr lang="en-US" dirty="0">
                    <a:solidFill>
                      <a:srgbClr val="000000"/>
                    </a:solidFill>
                    <a:ea typeface="ＭＳ Ｐゴシック" pitchFamily="34" charset="-128"/>
                  </a:rPr>
                  <a:t>a guess for the standard deviation </a:t>
                </a:r>
                <a:r>
                  <a:rPr lang="en-US" i="1" dirty="0">
                    <a:solidFill>
                      <a:srgbClr val="000000"/>
                    </a:solidFill>
                    <a:ea typeface="ＭＳ Ｐゴシック" pitchFamily="34" charset="-128"/>
                  </a:rPr>
                  <a:t>σ.</a:t>
                </a:r>
                <a:endParaRPr lang="en-US" dirty="0">
                  <a:solidFill>
                    <a:srgbClr val="000000"/>
                  </a:solidFill>
                  <a:ea typeface="ＭＳ Ｐゴシック" pitchFamily="34" charset="-128"/>
                </a:endParaRPr>
              </a:p>
              <a:p>
                <a:pPr marL="0" indent="0" eaLnBrk="1" hangingPunct="1">
                  <a:buFont typeface="Wingdings" pitchFamily="2" charset="2"/>
                  <a:buNone/>
                </a:pPr>
                <a:endParaRPr lang="en-US" dirty="0">
                  <a:solidFill>
                    <a:srgbClr val="000000"/>
                  </a:solidFill>
                  <a:ea typeface="ＭＳ Ｐゴシック" pitchFamily="34" charset="-128"/>
                </a:endParaRPr>
              </a:p>
              <a:p>
                <a:pPr marL="0" indent="0" eaLnBrk="1" hangingPunct="1">
                  <a:buFont typeface="Wingdings" pitchFamily="2" charset="2"/>
                  <a:buNone/>
                </a:pPr>
                <a:r>
                  <a:rPr lang="en-US" dirty="0">
                    <a:solidFill>
                      <a:srgbClr val="000000"/>
                    </a:solidFill>
                    <a:ea typeface="ＭＳ Ｐゴシック" pitchFamily="34" charset="-128"/>
                  </a:rPr>
                  <a:t>We find the degrees of freedom df = </a:t>
                </a:r>
                <a:r>
                  <a:rPr lang="en-US" i="1" dirty="0">
                    <a:solidFill>
                      <a:srgbClr val="000000"/>
                    </a:solidFill>
                    <a:ea typeface="ＭＳ Ｐゴシック" pitchFamily="34" charset="-128"/>
                  </a:rPr>
                  <a:t>n</a:t>
                </a:r>
                <a:r>
                  <a:rPr lang="en-US" sz="1800" baseline="-25000" dirty="0">
                    <a:solidFill>
                      <a:srgbClr val="000000"/>
                    </a:solidFill>
                    <a:ea typeface="ＭＳ Ｐゴシック" pitchFamily="34" charset="-128"/>
                  </a:rPr>
                  <a:t>1</a:t>
                </a:r>
                <a:r>
                  <a:rPr lang="en-US" dirty="0">
                    <a:solidFill>
                      <a:srgbClr val="000000"/>
                    </a:solidFill>
                    <a:ea typeface="ＭＳ Ｐゴシック" pitchFamily="34" charset="-128"/>
                  </a:rPr>
                  <a:t> + </a:t>
                </a:r>
                <a:r>
                  <a:rPr lang="en-US" i="1" dirty="0">
                    <a:solidFill>
                      <a:srgbClr val="000000"/>
                    </a:solidFill>
                    <a:ea typeface="ＭＳ Ｐゴシック" pitchFamily="34" charset="-128"/>
                  </a:rPr>
                  <a:t>n</a:t>
                </a:r>
                <a:r>
                  <a:rPr lang="en-US" sz="1800" baseline="-25000" dirty="0">
                    <a:solidFill>
                      <a:srgbClr val="000000"/>
                    </a:solidFill>
                    <a:ea typeface="ＭＳ Ｐゴシック" pitchFamily="34" charset="-128"/>
                  </a:rPr>
                  <a:t>2</a:t>
                </a:r>
                <a:r>
                  <a:rPr lang="en-US" dirty="0">
                    <a:solidFill>
                      <a:srgbClr val="000000"/>
                    </a:solidFill>
                    <a:ea typeface="ＭＳ Ｐゴシック" pitchFamily="34" charset="-128"/>
                  </a:rPr>
                  <a:t> − 2 and the value of </a:t>
                </a:r>
                <a:r>
                  <a:rPr lang="en-US" i="1" dirty="0">
                    <a:solidFill>
                      <a:srgbClr val="000000"/>
                    </a:solidFill>
                    <a:ea typeface="ＭＳ Ｐゴシック" pitchFamily="34" charset="-128"/>
                  </a:rPr>
                  <a:t>t</a:t>
                </a:r>
                <a:r>
                  <a:rPr lang="en-US" dirty="0">
                    <a:solidFill>
                      <a:srgbClr val="000000"/>
                    </a:solidFill>
                    <a:ea typeface="ＭＳ Ｐゴシック" pitchFamily="34" charset="-128"/>
                  </a:rPr>
                  <a:t>* that will lead to rejection of </a:t>
                </a:r>
                <a:r>
                  <a:rPr lang="en-US" i="1" dirty="0">
                    <a:solidFill>
                      <a:srgbClr val="000000"/>
                    </a:solidFill>
                    <a:ea typeface="ＭＳ Ｐゴシック" pitchFamily="34" charset="-128"/>
                  </a:rPr>
                  <a:t>H</a:t>
                </a:r>
                <a:r>
                  <a:rPr lang="en-US" sz="1800" baseline="-25000" dirty="0">
                    <a:solidFill>
                      <a:srgbClr val="000000"/>
                    </a:solidFill>
                    <a:ea typeface="ＭＳ Ｐゴシック" pitchFamily="34" charset="-128"/>
                  </a:rPr>
                  <a:t>0</a:t>
                </a:r>
                <a:r>
                  <a:rPr lang="en-US" dirty="0">
                    <a:solidFill>
                      <a:srgbClr val="000000"/>
                    </a:solidFill>
                    <a:ea typeface="ＭＳ Ｐゴシック" pitchFamily="34" charset="-128"/>
                  </a:rPr>
                  <a:t>: </a:t>
                </a:r>
                <a:r>
                  <a:rPr lang="en-US" i="1" dirty="0">
                    <a:solidFill>
                      <a:srgbClr val="000000"/>
                    </a:solidFill>
                    <a:ea typeface="ＭＳ Ｐゴシック" pitchFamily="34" charset="-128"/>
                  </a:rPr>
                  <a:t>µ</a:t>
                </a:r>
                <a:r>
                  <a:rPr lang="en-US" baseline="-25000" dirty="0">
                    <a:solidFill>
                      <a:srgbClr val="000000"/>
                    </a:solidFill>
                    <a:ea typeface="ＭＳ Ｐゴシック" pitchFamily="34" charset="-128"/>
                  </a:rPr>
                  <a:t>1</a:t>
                </a:r>
                <a:r>
                  <a:rPr lang="en-US" dirty="0">
                    <a:solidFill>
                      <a:srgbClr val="000000"/>
                    </a:solidFill>
                    <a:ea typeface="ＭＳ Ｐゴシック" pitchFamily="34" charset="-128"/>
                  </a:rPr>
                  <a:t> − </a:t>
                </a:r>
                <a:r>
                  <a:rPr lang="en-US" i="1" dirty="0">
                    <a:solidFill>
                      <a:srgbClr val="000000"/>
                    </a:solidFill>
                    <a:ea typeface="ＭＳ Ｐゴシック" pitchFamily="34" charset="-128"/>
                  </a:rPr>
                  <a:t>µ</a:t>
                </a:r>
                <a:r>
                  <a:rPr lang="en-US" baseline="-25000" dirty="0">
                    <a:solidFill>
                      <a:srgbClr val="000000"/>
                    </a:solidFill>
                    <a:ea typeface="ＭＳ Ｐゴシック" pitchFamily="34" charset="-128"/>
                  </a:rPr>
                  <a:t>2 </a:t>
                </a:r>
                <a:r>
                  <a:rPr lang="en-US" dirty="0">
                    <a:solidFill>
                      <a:srgbClr val="000000"/>
                    </a:solidFill>
                    <a:ea typeface="ＭＳ Ｐゴシック" pitchFamily="34" charset="-128"/>
                  </a:rPr>
                  <a:t>= 0.</a:t>
                </a:r>
              </a:p>
              <a:p>
                <a:pPr marL="0" indent="0" eaLnBrk="1" hangingPunct="1">
                  <a:lnSpc>
                    <a:spcPct val="150000"/>
                  </a:lnSpc>
                  <a:spcBef>
                    <a:spcPts val="0"/>
                  </a:spcBef>
                  <a:buFont typeface="Wingdings" pitchFamily="2" charset="2"/>
                  <a:buNone/>
                </a:pPr>
                <a:r>
                  <a:rPr lang="en-US" dirty="0">
                    <a:solidFill>
                      <a:srgbClr val="000000"/>
                    </a:solidFill>
                    <a:ea typeface="ＭＳ Ｐゴシック" pitchFamily="34" charset="-128"/>
                  </a:rPr>
                  <a:t>Then we calculate the </a:t>
                </a:r>
                <a:r>
                  <a:rPr lang="en-US" b="1" dirty="0">
                    <a:solidFill>
                      <a:schemeClr val="tx1"/>
                    </a:solidFill>
                    <a:ea typeface="ＭＳ Ｐゴシック" pitchFamily="34" charset="-128"/>
                  </a:rPr>
                  <a:t>noncentrality parameter </a:t>
                </a:r>
                <a:r>
                  <a:rPr lang="el-GR" b="1" i="1" dirty="0">
                    <a:solidFill>
                      <a:schemeClr val="tx1"/>
                    </a:solidFill>
                    <a:ea typeface="ＭＳ Ｐゴシック" pitchFamily="34" charset="-128"/>
                  </a:rPr>
                  <a:t>δ</a:t>
                </a:r>
                <a:r>
                  <a:rPr lang="en-US" b="1" dirty="0">
                    <a:solidFill>
                      <a:schemeClr val="tx1"/>
                    </a:solidFill>
                    <a:ea typeface="ＭＳ Ｐゴシック" pitchFamily="34" charset="-128"/>
                  </a:rPr>
                  <a:t>:  </a:t>
                </a:r>
                <a14:m>
                  <m:oMath xmlns:m="http://schemas.openxmlformats.org/officeDocument/2006/math">
                    <m:r>
                      <a:rPr lang="en-US" b="1" i="0" smtClean="0">
                        <a:solidFill>
                          <a:schemeClr val="tx1"/>
                        </a:solidFill>
                        <a:latin typeface="Cambria Math" panose="02040503050406030204" pitchFamily="18" charset="0"/>
                        <a:ea typeface="Cambria Math" panose="02040503050406030204" pitchFamily="18" charset="0"/>
                      </a:rPr>
                      <m:t>  </m:t>
                    </m:r>
                    <m:r>
                      <m:rPr>
                        <m:sty m:val="p"/>
                      </m:rPr>
                      <a:rPr lang="el-GR" i="1" smtClean="0">
                        <a:solidFill>
                          <a:srgbClr val="000000"/>
                        </a:solidFill>
                        <a:latin typeface="Cambria Math" panose="02040503050406030204" pitchFamily="18" charset="0"/>
                        <a:ea typeface="Cambria Math" panose="02040503050406030204" pitchFamily="18" charset="0"/>
                      </a:rPr>
                      <m:t>δ</m:t>
                    </m:r>
                    <m:r>
                      <a:rPr lang="en-US" b="0" i="1" smtClean="0">
                        <a:solidFill>
                          <a:srgbClr val="000000"/>
                        </a:solidFill>
                        <a:latin typeface="Cambria Math" panose="02040503050406030204" pitchFamily="18" charset="0"/>
                        <a:ea typeface="Cambria Math" panose="02040503050406030204" pitchFamily="18" charset="0"/>
                      </a:rPr>
                      <m:t>=</m:t>
                    </m:r>
                    <m:f>
                      <m:fPr>
                        <m:ctrlPr>
                          <a:rPr lang="en-US" b="0" i="1" smtClean="0">
                            <a:solidFill>
                              <a:srgbClr val="000000"/>
                            </a:solidFill>
                            <a:latin typeface="Cambria Math" panose="02040503050406030204" pitchFamily="18" charset="0"/>
                            <a:ea typeface="Cambria Math" panose="02040503050406030204" pitchFamily="18" charset="0"/>
                          </a:rPr>
                        </m:ctrlPr>
                      </m:fPr>
                      <m:num>
                        <m:d>
                          <m:dPr>
                            <m:begChr m:val="|"/>
                            <m:endChr m:val="|"/>
                            <m:ctrlPr>
                              <a:rPr lang="en-US" b="0" i="1" smtClean="0">
                                <a:solidFill>
                                  <a:srgbClr val="000000"/>
                                </a:solidFill>
                                <a:latin typeface="Cambria Math" panose="02040503050406030204" pitchFamily="18" charset="0"/>
                                <a:ea typeface="Cambria Math" panose="02040503050406030204" pitchFamily="18" charset="0"/>
                              </a:rPr>
                            </m:ctrlPr>
                          </m:dPr>
                          <m:e>
                            <m:sSub>
                              <m:sSubPr>
                                <m:ctrlPr>
                                  <a:rPr lang="en-US" b="0" i="1" smtClean="0">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𝜇</m:t>
                                </m:r>
                              </m:e>
                              <m:sub>
                                <m:r>
                                  <a:rPr lang="en-US" b="0" i="1" smtClean="0">
                                    <a:solidFill>
                                      <a:srgbClr val="000000"/>
                                    </a:solidFill>
                                    <a:latin typeface="Cambria Math" panose="02040503050406030204" pitchFamily="18" charset="0"/>
                                    <a:ea typeface="Cambria Math" panose="02040503050406030204" pitchFamily="18" charset="0"/>
                                  </a:rPr>
                                  <m:t>1</m:t>
                                </m:r>
                              </m:sub>
                            </m:sSub>
                            <m:r>
                              <a:rPr lang="en-US" b="0" i="1" smtClean="0">
                                <a:solidFill>
                                  <a:srgbClr val="000000"/>
                                </a:solidFill>
                                <a:latin typeface="Cambria Math" panose="02040503050406030204" pitchFamily="18" charset="0"/>
                                <a:ea typeface="Cambria Math" panose="02040503050406030204" pitchFamily="18" charset="0"/>
                              </a:rPr>
                              <m:t>−</m:t>
                            </m:r>
                            <m:sSub>
                              <m:sSubPr>
                                <m:ctrlPr>
                                  <a:rPr lang="en-US" b="0" i="1" smtClean="0">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𝜇</m:t>
                                </m:r>
                              </m:e>
                              <m:sub>
                                <m:r>
                                  <a:rPr lang="en-US" b="0" i="1" smtClean="0">
                                    <a:solidFill>
                                      <a:srgbClr val="000000"/>
                                    </a:solidFill>
                                    <a:latin typeface="Cambria Math" panose="02040503050406030204" pitchFamily="18" charset="0"/>
                                    <a:ea typeface="Cambria Math" panose="02040503050406030204" pitchFamily="18" charset="0"/>
                                  </a:rPr>
                                  <m:t>2</m:t>
                                </m:r>
                              </m:sub>
                            </m:sSub>
                          </m:e>
                        </m:d>
                      </m:num>
                      <m:den>
                        <m:r>
                          <a:rPr lang="en-US" b="0" i="1" smtClean="0">
                            <a:solidFill>
                              <a:srgbClr val="000000"/>
                            </a:solidFill>
                            <a:latin typeface="Cambria Math" panose="02040503050406030204" pitchFamily="18" charset="0"/>
                            <a:ea typeface="Cambria Math" panose="02040503050406030204" pitchFamily="18" charset="0"/>
                          </a:rPr>
                          <m:t>𝜎</m:t>
                        </m:r>
                        <m:rad>
                          <m:radPr>
                            <m:degHide m:val="on"/>
                            <m:ctrlPr>
                              <a:rPr lang="en-US" b="0" i="1" smtClean="0">
                                <a:solidFill>
                                  <a:srgbClr val="000000"/>
                                </a:solidFill>
                                <a:latin typeface="Cambria Math" panose="02040503050406030204" pitchFamily="18" charset="0"/>
                                <a:ea typeface="Cambria Math" panose="02040503050406030204" pitchFamily="18" charset="0"/>
                              </a:rPr>
                            </m:ctrlPr>
                          </m:radPr>
                          <m:deg/>
                          <m:e>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1</m:t>
                                </m:r>
                              </m:num>
                              <m:den>
                                <m:sSub>
                                  <m:sSubPr>
                                    <m:ctrlPr>
                                      <a:rPr lang="en-US" b="0" i="1" smtClean="0">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𝑛</m:t>
                                    </m:r>
                                  </m:e>
                                  <m:sub>
                                    <m:r>
                                      <a:rPr lang="en-US" b="0" i="1" smtClean="0">
                                        <a:solidFill>
                                          <a:srgbClr val="000000"/>
                                        </a:solidFill>
                                        <a:latin typeface="Cambria Math" panose="02040503050406030204" pitchFamily="18" charset="0"/>
                                        <a:ea typeface="Cambria Math" panose="02040503050406030204" pitchFamily="18" charset="0"/>
                                      </a:rPr>
                                      <m:t>1</m:t>
                                    </m:r>
                                  </m:sub>
                                </m:sSub>
                              </m:den>
                            </m:f>
                            <m:r>
                              <a:rPr lang="en-US" b="0" i="1" smtClean="0">
                                <a:solidFill>
                                  <a:srgbClr val="000000"/>
                                </a:solidFill>
                                <a:latin typeface="Cambria Math" panose="02040503050406030204" pitchFamily="18" charset="0"/>
                                <a:ea typeface="Cambria Math" panose="02040503050406030204" pitchFamily="18" charset="0"/>
                              </a:rPr>
                              <m:t>+</m:t>
                            </m:r>
                            <m:f>
                              <m:fPr>
                                <m:ctrlPr>
                                  <a:rPr lang="en-US" b="0" i="1" smtClean="0">
                                    <a:solidFill>
                                      <a:srgbClr val="000000"/>
                                    </a:solidFill>
                                    <a:latin typeface="Cambria Math" panose="02040503050406030204" pitchFamily="18" charset="0"/>
                                    <a:ea typeface="Cambria Math" panose="02040503050406030204" pitchFamily="18" charset="0"/>
                                  </a:rPr>
                                </m:ctrlPr>
                              </m:fPr>
                              <m:num>
                                <m:r>
                                  <a:rPr lang="en-US" b="0" i="1" smtClean="0">
                                    <a:solidFill>
                                      <a:srgbClr val="000000"/>
                                    </a:solidFill>
                                    <a:latin typeface="Cambria Math" panose="02040503050406030204" pitchFamily="18" charset="0"/>
                                    <a:ea typeface="Cambria Math" panose="02040503050406030204" pitchFamily="18" charset="0"/>
                                  </a:rPr>
                                  <m:t>1</m:t>
                                </m:r>
                              </m:num>
                              <m:den>
                                <m:sSub>
                                  <m:sSubPr>
                                    <m:ctrlPr>
                                      <a:rPr lang="en-US" b="0" i="1" smtClean="0">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𝑛</m:t>
                                    </m:r>
                                  </m:e>
                                  <m:sub>
                                    <m:r>
                                      <a:rPr lang="en-US" b="0" i="1" smtClean="0">
                                        <a:solidFill>
                                          <a:srgbClr val="000000"/>
                                        </a:solidFill>
                                        <a:latin typeface="Cambria Math" panose="02040503050406030204" pitchFamily="18" charset="0"/>
                                        <a:ea typeface="Cambria Math" panose="02040503050406030204" pitchFamily="18" charset="0"/>
                                      </a:rPr>
                                      <m:t>2</m:t>
                                    </m:r>
                                  </m:sub>
                                </m:sSub>
                              </m:den>
                            </m:f>
                          </m:e>
                        </m:rad>
                      </m:den>
                    </m:f>
                  </m:oMath>
                </a14:m>
                <a:endParaRPr lang="el-GR" dirty="0">
                  <a:solidFill>
                    <a:srgbClr val="000000"/>
                  </a:solidFill>
                  <a:ea typeface="ＭＳ Ｐゴシック" pitchFamily="34" charset="-128"/>
                </a:endParaRPr>
              </a:p>
            </p:txBody>
          </p:sp>
        </mc:Choice>
        <mc:Fallback xmlns="">
          <p:sp>
            <p:nvSpPr>
              <p:cNvPr id="1160195" name="Rectangle 3"/>
              <p:cNvSpPr>
                <a:spLocks noGrp="1" noRot="1" noChangeAspect="1" noMove="1" noResize="1" noEditPoints="1" noAdjustHandles="1" noChangeArrowheads="1" noChangeShapeType="1" noTextEdit="1"/>
              </p:cNvSpPr>
              <p:nvPr>
                <p:ph type="body" sz="half" idx="4294967295"/>
              </p:nvPr>
            </p:nvSpPr>
            <p:spPr>
              <a:xfrm>
                <a:off x="174624" y="1214846"/>
                <a:ext cx="8588375" cy="5282791"/>
              </a:xfrm>
              <a:blipFill rotWithShape="0">
                <a:blip r:embed="rId3"/>
                <a:stretch>
                  <a:fillRect l="-781" t="-461" r="-781"/>
                </a:stretch>
              </a:blipFill>
            </p:spPr>
            <p:txBody>
              <a:bodyPr/>
              <a:lstStyle/>
              <a:p>
                <a:r>
                  <a:rPr 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noChangeArrowheads="1"/>
          </p:cNvSpPr>
          <p:nvPr>
            <p:ph type="title"/>
          </p:nvPr>
        </p:nvSpPr>
        <p:spPr>
          <a:xfrm>
            <a:off x="174625" y="154305"/>
            <a:ext cx="7772400" cy="1143000"/>
          </a:xfrm>
        </p:spPr>
        <p:txBody>
          <a:bodyPr/>
          <a:lstStyle/>
          <a:p>
            <a:pPr eaLnBrk="1" hangingPunct="1"/>
            <a:r>
              <a:rPr lang="en-US" dirty="0">
                <a:ea typeface="ＭＳ Ｐゴシック" pitchFamily="34" charset="-128"/>
              </a:rPr>
              <a:t>Inference for Non-Normal Distributions</a:t>
            </a:r>
          </a:p>
        </p:txBody>
      </p:sp>
      <p:sp>
        <p:nvSpPr>
          <p:cNvPr id="8499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505036B5-88E3-4CE0-9779-41FE2E7CE070}" type="slidenum">
              <a:rPr lang="en-US" sz="1200">
                <a:solidFill>
                  <a:schemeClr val="accent1"/>
                </a:solidFill>
              </a:rPr>
              <a:pPr>
                <a:lnSpc>
                  <a:spcPct val="80000"/>
                </a:lnSpc>
              </a:pPr>
              <a:t>41</a:t>
            </a:fld>
            <a:endParaRPr lang="en-US" sz="1200">
              <a:solidFill>
                <a:schemeClr val="accent1"/>
              </a:solidFill>
            </a:endParaRPr>
          </a:p>
        </p:txBody>
      </p:sp>
      <p:sp>
        <p:nvSpPr>
          <p:cNvPr id="1113091" name="Rectangle 3"/>
          <p:cNvSpPr>
            <a:spLocks noGrp="1" noChangeArrowheads="1"/>
          </p:cNvSpPr>
          <p:nvPr>
            <p:ph type="body" idx="4294967295"/>
          </p:nvPr>
        </p:nvSpPr>
        <p:spPr>
          <a:xfrm>
            <a:off x="189706" y="1397000"/>
            <a:ext cx="8320088" cy="5205413"/>
          </a:xfrm>
          <a:solidFill>
            <a:srgbClr val="FFD780"/>
          </a:solidFill>
        </p:spPr>
        <p:txBody>
          <a:bodyPr/>
          <a:lstStyle/>
          <a:p>
            <a:pPr algn="just" eaLnBrk="1" hangingPunct="1">
              <a:lnSpc>
                <a:spcPct val="120000"/>
              </a:lnSpc>
              <a:spcAft>
                <a:spcPct val="55000"/>
              </a:spcAft>
              <a:buFont typeface="Wingdings" pitchFamily="2" charset="2"/>
              <a:buNone/>
            </a:pPr>
            <a:r>
              <a:rPr lang="en-US" dirty="0">
                <a:solidFill>
                  <a:srgbClr val="000000"/>
                </a:solidFill>
                <a:ea typeface="ＭＳ Ｐゴシック" pitchFamily="34" charset="-128"/>
              </a:rPr>
              <a:t>What if the</a:t>
            </a:r>
            <a:r>
              <a:rPr lang="en-US" dirty="0">
                <a:solidFill>
                  <a:schemeClr val="tx1"/>
                </a:solidFill>
                <a:ea typeface="ＭＳ Ｐゴシック" pitchFamily="34" charset="-128"/>
              </a:rPr>
              <a:t> population is clearly non-Normal and the sample is small? </a:t>
            </a:r>
          </a:p>
          <a:p>
            <a:pPr algn="just" eaLnBrk="1" hangingPunct="1">
              <a:spcAft>
                <a:spcPct val="55000"/>
              </a:spcAft>
            </a:pPr>
            <a:r>
              <a:rPr lang="en-US" dirty="0">
                <a:solidFill>
                  <a:schemeClr val="tx1"/>
                </a:solidFill>
                <a:ea typeface="ＭＳ Ｐゴシック" pitchFamily="34" charset="-128"/>
              </a:rPr>
              <a:t>If the data are skewed, one can attempt to </a:t>
            </a:r>
            <a:r>
              <a:rPr lang="en-US" b="1" dirty="0">
                <a:solidFill>
                  <a:schemeClr val="tx1"/>
                </a:solidFill>
                <a:ea typeface="ＭＳ Ｐゴシック" pitchFamily="34" charset="-128"/>
              </a:rPr>
              <a:t>transform</a:t>
            </a:r>
            <a:r>
              <a:rPr lang="en-US" dirty="0">
                <a:solidFill>
                  <a:schemeClr val="tx1"/>
                </a:solidFill>
                <a:ea typeface="ＭＳ Ｐゴシック" pitchFamily="34" charset="-128"/>
              </a:rPr>
              <a:t> the variable to bring it closer to Normality (e.g., logarithm transformation). The </a:t>
            </a:r>
            <a:r>
              <a:rPr lang="en-US" i="1" dirty="0">
                <a:solidFill>
                  <a:schemeClr val="tx1"/>
                </a:solidFill>
                <a:ea typeface="ＭＳ Ｐゴシック" pitchFamily="34" charset="-128"/>
              </a:rPr>
              <a:t>t  </a:t>
            </a:r>
            <a:r>
              <a:rPr lang="en-US" dirty="0">
                <a:solidFill>
                  <a:schemeClr val="tx1"/>
                </a:solidFill>
                <a:ea typeface="ＭＳ Ｐゴシック" pitchFamily="34" charset="-128"/>
              </a:rPr>
              <a:t>procedures applied to transformed data are often quite accurate for even moderate sample sizes.</a:t>
            </a:r>
          </a:p>
          <a:p>
            <a:pPr algn="just" eaLnBrk="1" hangingPunct="1">
              <a:spcAft>
                <a:spcPct val="55000"/>
              </a:spcAft>
            </a:pPr>
            <a:r>
              <a:rPr lang="en-US" dirty="0">
                <a:solidFill>
                  <a:schemeClr val="tx1"/>
                </a:solidFill>
                <a:ea typeface="ＭＳ Ｐゴシック" pitchFamily="34" charset="-128"/>
              </a:rPr>
              <a:t>A distribution other than a Normal distribution might describe the data well. Many non-Normal models have been developed to provide inference procedures, too. </a:t>
            </a:r>
          </a:p>
          <a:p>
            <a:pPr algn="just" eaLnBrk="1" hangingPunct="1">
              <a:spcAft>
                <a:spcPct val="55000"/>
              </a:spcAft>
            </a:pPr>
            <a:r>
              <a:rPr lang="en-US" dirty="0">
                <a:solidFill>
                  <a:schemeClr val="tx1"/>
                </a:solidFill>
                <a:ea typeface="ＭＳ Ｐゴシック" pitchFamily="34" charset="-128"/>
              </a:rPr>
              <a:t>One can always use a </a:t>
            </a:r>
            <a:r>
              <a:rPr lang="en-US" b="1" dirty="0">
                <a:solidFill>
                  <a:schemeClr val="tx1"/>
                </a:solidFill>
                <a:ea typeface="ＭＳ Ｐゴシック" pitchFamily="34" charset="-128"/>
              </a:rPr>
              <a:t>distribution-free (</a:t>
            </a:r>
            <a:r>
              <a:rPr lang="ja-JP" altLang="en-US" b="1" dirty="0">
                <a:solidFill>
                  <a:schemeClr val="tx1"/>
                </a:solidFill>
                <a:ea typeface="ＭＳ Ｐゴシック" pitchFamily="34" charset="-128"/>
              </a:rPr>
              <a:t>“</a:t>
            </a:r>
            <a:r>
              <a:rPr lang="en-US" altLang="ja-JP" b="1" dirty="0">
                <a:solidFill>
                  <a:schemeClr val="tx1"/>
                </a:solidFill>
                <a:ea typeface="ＭＳ Ｐゴシック" pitchFamily="34" charset="-128"/>
              </a:rPr>
              <a:t>nonparametric</a:t>
            </a:r>
            <a:r>
              <a:rPr lang="ja-JP" altLang="en-US" b="1" dirty="0">
                <a:solidFill>
                  <a:schemeClr val="tx1"/>
                </a:solidFill>
                <a:ea typeface="ＭＳ Ｐゴシック" pitchFamily="34" charset="-128"/>
              </a:rPr>
              <a:t>”</a:t>
            </a:r>
            <a:r>
              <a:rPr lang="en-US" altLang="ja-JP" b="1" dirty="0">
                <a:solidFill>
                  <a:schemeClr val="tx1"/>
                </a:solidFill>
                <a:ea typeface="ＭＳ Ｐゴシック" pitchFamily="34" charset="-128"/>
              </a:rPr>
              <a:t>) </a:t>
            </a:r>
            <a:r>
              <a:rPr lang="en-US" altLang="ja-JP" dirty="0">
                <a:solidFill>
                  <a:schemeClr val="tx1"/>
                </a:solidFill>
                <a:ea typeface="ＭＳ Ｐゴシック" pitchFamily="34" charset="-128"/>
              </a:rPr>
              <a:t>inference procedure (see Chapter 15) that does not assume any specific distribution for the population. However, such a procedure is usually less powerful than distribution-driven tests </a:t>
            </a:r>
            <a:r>
              <a:rPr lang="en-US" altLang="ja-JP" dirty="0">
                <a:solidFill>
                  <a:srgbClr val="000000"/>
                </a:solidFill>
                <a:ea typeface="ＭＳ Ｐゴシック" pitchFamily="34" charset="-128"/>
              </a:rPr>
              <a:t>(e.g., the </a:t>
            </a:r>
            <a:r>
              <a:rPr lang="en-US" altLang="ja-JP" i="1" dirty="0">
                <a:solidFill>
                  <a:srgbClr val="000000"/>
                </a:solidFill>
                <a:ea typeface="ＭＳ Ｐゴシック" pitchFamily="34" charset="-128"/>
              </a:rPr>
              <a:t>t </a:t>
            </a:r>
            <a:r>
              <a:rPr lang="en-US" altLang="ja-JP" dirty="0">
                <a:solidFill>
                  <a:srgbClr val="000000"/>
                </a:solidFill>
                <a:ea typeface="ＭＳ Ｐゴシック" pitchFamily="34" charset="-128"/>
              </a:rPr>
              <a:t>test).</a:t>
            </a:r>
            <a:endParaRPr lang="en-US" dirty="0">
              <a:solidFill>
                <a:srgbClr val="000000"/>
              </a:solidFill>
              <a:ea typeface="ＭＳ Ｐゴシック"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13091">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130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The Power of the Two-Sample </a:t>
            </a:r>
            <a:r>
              <a:rPr lang="en-US" sz="3200" i="1" dirty="0"/>
              <a:t>t</a:t>
            </a:r>
            <a:r>
              <a:rPr lang="en-US" sz="3200" dirty="0"/>
              <a:t> Test 3</a:t>
            </a:r>
          </a:p>
        </p:txBody>
      </p:sp>
      <p:sp>
        <p:nvSpPr>
          <p:cNvPr id="87042"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A9C6E60D-EB8B-49FD-94FA-D0A9CE1D3720}" type="slidenum">
              <a:rPr lang="en-US" sz="1400">
                <a:solidFill>
                  <a:schemeClr val="accent1"/>
                </a:solidFill>
              </a:rPr>
              <a:pPr/>
              <a:t>42</a:t>
            </a:fld>
            <a:endParaRPr lang="en-US" sz="1400">
              <a:solidFill>
                <a:schemeClr val="accent1"/>
              </a:solidFill>
            </a:endParaRPr>
          </a:p>
        </p:txBody>
      </p:sp>
      <p:sp>
        <p:nvSpPr>
          <p:cNvPr id="1161218" name="Rectangle 2"/>
          <p:cNvSpPr>
            <a:spLocks noGrp="1" noChangeArrowheads="1"/>
          </p:cNvSpPr>
          <p:nvPr>
            <p:ph type="body" sz="half" idx="4294967295"/>
          </p:nvPr>
        </p:nvSpPr>
        <p:spPr>
          <a:xfrm>
            <a:off x="174625" y="1251131"/>
            <a:ext cx="8305800" cy="5078413"/>
          </a:xfrm>
          <a:solidFill>
            <a:srgbClr val="FFD780"/>
          </a:solidFill>
        </p:spPr>
        <p:txBody>
          <a:bodyPr/>
          <a:lstStyle/>
          <a:p>
            <a:pPr marL="0" indent="0" algn="just" eaLnBrk="1" hangingPunct="1">
              <a:buFont typeface="Wingdings" pitchFamily="2" charset="2"/>
              <a:buNone/>
            </a:pPr>
            <a:r>
              <a:rPr lang="en-US" dirty="0">
                <a:solidFill>
                  <a:srgbClr val="000000"/>
                </a:solidFill>
                <a:ea typeface="ＭＳ Ｐゴシック" pitchFamily="34" charset="-128"/>
              </a:rPr>
              <a:t>Last, we find the power as the probability that a </a:t>
            </a:r>
            <a:r>
              <a:rPr lang="en-US" dirty="0" err="1">
                <a:solidFill>
                  <a:srgbClr val="000000"/>
                </a:solidFill>
                <a:ea typeface="ＭＳ Ｐゴシック" pitchFamily="34" charset="-128"/>
              </a:rPr>
              <a:t>noncentral</a:t>
            </a:r>
            <a:r>
              <a:rPr lang="en-US" dirty="0">
                <a:solidFill>
                  <a:srgbClr val="000000"/>
                </a:solidFill>
                <a:ea typeface="ＭＳ Ｐゴシック" pitchFamily="34" charset="-128"/>
              </a:rPr>
              <a:t> </a:t>
            </a:r>
            <a:r>
              <a:rPr lang="en-US" i="1" dirty="0">
                <a:solidFill>
                  <a:srgbClr val="000000"/>
                </a:solidFill>
                <a:ea typeface="ＭＳ Ｐゴシック" pitchFamily="34" charset="-128"/>
              </a:rPr>
              <a:t>t </a:t>
            </a:r>
            <a:r>
              <a:rPr lang="en-US" dirty="0">
                <a:solidFill>
                  <a:srgbClr val="000000"/>
                </a:solidFill>
                <a:ea typeface="ＭＳ Ｐゴシック" pitchFamily="34" charset="-128"/>
              </a:rPr>
              <a:t>random variable with degrees of freedom </a:t>
            </a:r>
            <a:r>
              <a:rPr lang="en-US" dirty="0" err="1">
                <a:solidFill>
                  <a:srgbClr val="000000"/>
                </a:solidFill>
                <a:ea typeface="ＭＳ Ｐゴシック" pitchFamily="34" charset="-128"/>
              </a:rPr>
              <a:t>df</a:t>
            </a:r>
            <a:r>
              <a:rPr lang="en-US" i="1" dirty="0">
                <a:solidFill>
                  <a:srgbClr val="000000"/>
                </a:solidFill>
                <a:ea typeface="ＭＳ Ｐゴシック" pitchFamily="34" charset="-128"/>
              </a:rPr>
              <a:t> </a:t>
            </a:r>
            <a:r>
              <a:rPr lang="en-US" dirty="0">
                <a:solidFill>
                  <a:srgbClr val="000000"/>
                </a:solidFill>
                <a:ea typeface="ＭＳ Ｐゴシック" pitchFamily="34" charset="-128"/>
              </a:rPr>
              <a:t>and </a:t>
            </a:r>
            <a:r>
              <a:rPr lang="en-US" dirty="0" err="1">
                <a:solidFill>
                  <a:srgbClr val="000000"/>
                </a:solidFill>
                <a:ea typeface="ＭＳ Ｐゴシック" pitchFamily="34" charset="-128"/>
              </a:rPr>
              <a:t>noncentrality</a:t>
            </a:r>
            <a:r>
              <a:rPr lang="en-US" dirty="0">
                <a:solidFill>
                  <a:srgbClr val="000000"/>
                </a:solidFill>
                <a:ea typeface="ＭＳ Ｐゴシック" pitchFamily="34" charset="-128"/>
              </a:rPr>
              <a:t> parameter </a:t>
            </a:r>
            <a:r>
              <a:rPr lang="en-US" i="1" dirty="0">
                <a:solidFill>
                  <a:srgbClr val="000000"/>
                </a:solidFill>
                <a:ea typeface="ＭＳ Ｐゴシック" pitchFamily="34" charset="-128"/>
              </a:rPr>
              <a:t>δ </a:t>
            </a:r>
            <a:r>
              <a:rPr lang="en-US" dirty="0">
                <a:solidFill>
                  <a:srgbClr val="000000"/>
                </a:solidFill>
                <a:ea typeface="ＭＳ Ｐゴシック" pitchFamily="34" charset="-128"/>
              </a:rPr>
              <a:t>will be greater than </a:t>
            </a:r>
            <a:r>
              <a:rPr lang="en-US" i="1" dirty="0">
                <a:solidFill>
                  <a:srgbClr val="000000"/>
                </a:solidFill>
                <a:ea typeface="ＭＳ Ｐゴシック" pitchFamily="34" charset="-128"/>
              </a:rPr>
              <a:t>t</a:t>
            </a:r>
            <a:r>
              <a:rPr lang="en-US" dirty="0">
                <a:solidFill>
                  <a:srgbClr val="000000"/>
                </a:solidFill>
                <a:ea typeface="ＭＳ Ｐゴシック" pitchFamily="34" charset="-128"/>
              </a:rPr>
              <a:t>*: </a:t>
            </a:r>
          </a:p>
          <a:p>
            <a:pPr marL="722313" lvl="1" algn="just" eaLnBrk="1" hangingPunct="1"/>
            <a:r>
              <a:rPr lang="en-US" dirty="0">
                <a:solidFill>
                  <a:srgbClr val="000000"/>
                </a:solidFill>
                <a:ea typeface="ＭＳ Ｐゴシック" pitchFamily="34" charset="-128"/>
              </a:rPr>
              <a:t>In SAS this is 1-PROBT(</a:t>
            </a:r>
            <a:r>
              <a:rPr lang="en-US" dirty="0" err="1">
                <a:solidFill>
                  <a:srgbClr val="000000"/>
                </a:solidFill>
                <a:ea typeface="ＭＳ Ｐゴシック" pitchFamily="34" charset="-128"/>
              </a:rPr>
              <a:t>tstar</a:t>
            </a:r>
            <a:r>
              <a:rPr lang="en-US" i="1" dirty="0">
                <a:solidFill>
                  <a:srgbClr val="000000"/>
                </a:solidFill>
                <a:ea typeface="ＭＳ Ｐゴシック" pitchFamily="34" charset="-128"/>
              </a:rPr>
              <a:t>, </a:t>
            </a:r>
            <a:r>
              <a:rPr lang="en-US" dirty="0" err="1">
                <a:solidFill>
                  <a:srgbClr val="000000"/>
                </a:solidFill>
                <a:ea typeface="ＭＳ Ｐゴシック" pitchFamily="34" charset="-128"/>
              </a:rPr>
              <a:t>df</a:t>
            </a:r>
            <a:r>
              <a:rPr lang="en-US" i="1" dirty="0">
                <a:solidFill>
                  <a:srgbClr val="000000"/>
                </a:solidFill>
                <a:ea typeface="ＭＳ Ｐゴシック" pitchFamily="34" charset="-128"/>
              </a:rPr>
              <a:t>, </a:t>
            </a:r>
            <a:r>
              <a:rPr lang="en-US" dirty="0">
                <a:solidFill>
                  <a:srgbClr val="000000"/>
                </a:solidFill>
                <a:ea typeface="ＭＳ Ｐゴシック" pitchFamily="34" charset="-128"/>
              </a:rPr>
              <a:t>delta). There are also several free online tools that calculate power. </a:t>
            </a:r>
          </a:p>
          <a:p>
            <a:pPr marL="722313" lvl="1" algn="just" eaLnBrk="1" hangingPunct="1"/>
            <a:r>
              <a:rPr lang="en-US" dirty="0">
                <a:solidFill>
                  <a:srgbClr val="000000"/>
                </a:solidFill>
                <a:ea typeface="ＭＳ Ｐゴシック" pitchFamily="34" charset="-128"/>
              </a:rPr>
              <a:t>Without access to software, we can approximate the power to be          </a:t>
            </a:r>
            <a:r>
              <a:rPr lang="en-US" sz="2000" i="1" dirty="0">
                <a:solidFill>
                  <a:srgbClr val="000000"/>
                </a:solidFill>
                <a:ea typeface="ＭＳ Ｐゴシック" pitchFamily="34" charset="-128"/>
              </a:rPr>
              <a:t>P</a:t>
            </a:r>
            <a:r>
              <a:rPr lang="en-US" sz="2000" dirty="0">
                <a:solidFill>
                  <a:srgbClr val="000000"/>
                </a:solidFill>
                <a:ea typeface="ＭＳ Ｐゴシック" pitchFamily="34" charset="-128"/>
              </a:rPr>
              <a:t>(</a:t>
            </a:r>
            <a:r>
              <a:rPr lang="en-US" sz="2000" i="1" dirty="0">
                <a:solidFill>
                  <a:srgbClr val="000000"/>
                </a:solidFill>
                <a:ea typeface="ＭＳ Ｐゴシック" pitchFamily="34" charset="-128"/>
              </a:rPr>
              <a:t>z &gt; t</a:t>
            </a:r>
            <a:r>
              <a:rPr lang="en-US" sz="2000" dirty="0">
                <a:solidFill>
                  <a:srgbClr val="000000"/>
                </a:solidFill>
                <a:ea typeface="ＭＳ Ｐゴシック" pitchFamily="34" charset="-128"/>
              </a:rPr>
              <a:t>* − </a:t>
            </a:r>
            <a:r>
              <a:rPr lang="en-US" sz="2000" i="1" dirty="0">
                <a:solidFill>
                  <a:srgbClr val="000000"/>
                </a:solidFill>
                <a:ea typeface="ＭＳ Ｐゴシック" pitchFamily="34" charset="-128"/>
              </a:rPr>
              <a:t>δ</a:t>
            </a:r>
            <a:r>
              <a:rPr lang="en-US" sz="2000" dirty="0">
                <a:solidFill>
                  <a:srgbClr val="000000"/>
                </a:solidFill>
                <a:ea typeface="ＭＳ Ｐゴシック" pitchFamily="34" charset="-128"/>
              </a:rPr>
              <a:t>), </a:t>
            </a:r>
            <a:r>
              <a:rPr lang="en-US" dirty="0">
                <a:solidFill>
                  <a:srgbClr val="000000"/>
                </a:solidFill>
                <a:ea typeface="ＭＳ Ｐゴシック" pitchFamily="34" charset="-128"/>
              </a:rPr>
              <a:t>which is the probability that a standard Normal random variable is greater than </a:t>
            </a:r>
            <a:r>
              <a:rPr lang="en-US" i="1" dirty="0">
                <a:solidFill>
                  <a:srgbClr val="000000"/>
                </a:solidFill>
                <a:ea typeface="ＭＳ Ｐゴシック" pitchFamily="34" charset="-128"/>
              </a:rPr>
              <a:t>t</a:t>
            </a:r>
            <a:r>
              <a:rPr lang="en-US" dirty="0">
                <a:solidFill>
                  <a:srgbClr val="000000"/>
                </a:solidFill>
                <a:ea typeface="ＭＳ Ｐゴシック" pitchFamily="34" charset="-128"/>
              </a:rPr>
              <a:t>* − </a:t>
            </a:r>
            <a:r>
              <a:rPr lang="en-US" i="1" dirty="0">
                <a:solidFill>
                  <a:srgbClr val="000000"/>
                </a:solidFill>
                <a:ea typeface="ＭＳ Ｐゴシック" pitchFamily="34" charset="-128"/>
              </a:rPr>
              <a:t>δ</a:t>
            </a:r>
            <a:r>
              <a:rPr lang="en-US" dirty="0">
                <a:solidFill>
                  <a:srgbClr val="000000"/>
                </a:solidFill>
                <a:ea typeface="ＭＳ Ｐゴシック" pitchFamily="34" charset="-128"/>
              </a:rPr>
              <a:t>.  Table A may be used to find </a:t>
            </a:r>
            <a:r>
              <a:rPr lang="en-US" sz="2000" i="1" dirty="0">
                <a:solidFill>
                  <a:srgbClr val="000000"/>
                </a:solidFill>
                <a:ea typeface="ＭＳ Ｐゴシック" pitchFamily="34" charset="-128"/>
              </a:rPr>
              <a:t>P</a:t>
            </a:r>
            <a:r>
              <a:rPr lang="en-US" sz="2000" dirty="0">
                <a:solidFill>
                  <a:srgbClr val="000000"/>
                </a:solidFill>
                <a:ea typeface="ＭＳ Ｐゴシック" pitchFamily="34" charset="-128"/>
              </a:rPr>
              <a:t>(</a:t>
            </a:r>
            <a:r>
              <a:rPr lang="en-US" sz="2000" i="1" dirty="0">
                <a:solidFill>
                  <a:srgbClr val="000000"/>
                </a:solidFill>
                <a:ea typeface="ＭＳ Ｐゴシック" pitchFamily="34" charset="-128"/>
              </a:rPr>
              <a:t>z &gt; t</a:t>
            </a:r>
            <a:r>
              <a:rPr lang="en-US" sz="2000" dirty="0">
                <a:solidFill>
                  <a:srgbClr val="000000"/>
                </a:solidFill>
                <a:ea typeface="ＭＳ Ｐゴシック" pitchFamily="34" charset="-128"/>
              </a:rPr>
              <a:t>* − </a:t>
            </a:r>
            <a:r>
              <a:rPr lang="en-US" sz="2000" i="1" dirty="0">
                <a:solidFill>
                  <a:srgbClr val="000000"/>
                </a:solidFill>
                <a:ea typeface="ＭＳ Ｐゴシック" pitchFamily="34" charset="-128"/>
              </a:rPr>
              <a:t>δ</a:t>
            </a:r>
            <a:r>
              <a:rPr lang="en-US" sz="2000" dirty="0">
                <a:solidFill>
                  <a:srgbClr val="000000"/>
                </a:solidFill>
                <a:ea typeface="ＭＳ Ｐゴシック" pitchFamily="34" charset="-128"/>
              </a:rPr>
              <a:t>). </a:t>
            </a:r>
            <a:endParaRPr lang="en-US" dirty="0">
              <a:solidFill>
                <a:srgbClr val="000000"/>
              </a:solidFill>
              <a:ea typeface="ＭＳ Ｐゴシック" pitchFamily="34" charset="-128"/>
            </a:endParaRPr>
          </a:p>
          <a:p>
            <a:pPr marL="0" indent="0" eaLnBrk="1" hangingPunct="1">
              <a:buFont typeface="Wingdings" pitchFamily="2" charset="2"/>
              <a:buNone/>
            </a:pPr>
            <a:r>
              <a:rPr lang="en-US" dirty="0">
                <a:solidFill>
                  <a:schemeClr val="tx1"/>
                </a:solidFill>
                <a:ea typeface="ＭＳ Ｐゴシック" pitchFamily="34" charset="-128"/>
              </a:rPr>
              <a:t>For a </a:t>
            </a:r>
            <a:r>
              <a:rPr lang="en-US" b="1" dirty="0">
                <a:solidFill>
                  <a:schemeClr val="tx1"/>
                </a:solidFill>
                <a:ea typeface="ＭＳ Ｐゴシック" pitchFamily="34" charset="-128"/>
              </a:rPr>
              <a:t>test with unequal variances</a:t>
            </a:r>
            <a:r>
              <a:rPr lang="en-US" dirty="0">
                <a:solidFill>
                  <a:schemeClr val="tx1"/>
                </a:solidFill>
                <a:ea typeface="ＭＳ Ｐゴシック" pitchFamily="34" charset="-128"/>
              </a:rPr>
              <a:t>, we can simply use the conservative degrees of freedom, but we need to guess </a:t>
            </a:r>
            <a:r>
              <a:rPr lang="en-US" dirty="0">
                <a:solidFill>
                  <a:srgbClr val="000000"/>
                </a:solidFill>
                <a:ea typeface="ＭＳ Ｐゴシック" pitchFamily="34" charset="-128"/>
              </a:rPr>
              <a:t>both standard deviations and combine them for the guessed standard error:</a:t>
            </a:r>
          </a:p>
          <a:p>
            <a:pPr marL="0" indent="0" eaLnBrk="1" hangingPunct="1">
              <a:lnSpc>
                <a:spcPct val="150000"/>
              </a:lnSpc>
            </a:pPr>
            <a:endParaRPr lang="en-US" dirty="0">
              <a:solidFill>
                <a:srgbClr val="000000"/>
              </a:solidFill>
              <a:ea typeface="ＭＳ Ｐゴシック" pitchFamily="34" charset="-128"/>
            </a:endParaRPr>
          </a:p>
        </p:txBody>
      </p:sp>
      <mc:AlternateContent xmlns:mc="http://schemas.openxmlformats.org/markup-compatibility/2006" xmlns:a14="http://schemas.microsoft.com/office/drawing/2010/main">
        <mc:Choice Requires="a14">
          <p:sp>
            <p:nvSpPr>
              <p:cNvPr id="3" name="Object 2" descr="The image shows a mathematical expression, given as: square root of sigma one square divide by n one, plus sigma two square upon n two."/>
              <p:cNvSpPr txBox="1"/>
              <p:nvPr/>
            </p:nvSpPr>
            <p:spPr bwMode="auto">
              <a:xfrm>
                <a:off x="3962400" y="5070141"/>
                <a:ext cx="1219200" cy="787400"/>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1</m:t>
                                      </m:r>
                                    </m:sub>
                                  </m:sSub>
                                </m:e>
                                <m:sup>
                                  <m:r>
                                    <a:rPr lang="en-US" i="1">
                                      <a:solidFill>
                                        <a:srgbClr val="000000"/>
                                      </a:solidFill>
                                      <a:latin typeface="Cambria Math" panose="02040503050406030204" pitchFamily="18" charset="0"/>
                                    </a:rPr>
                                    <m:t>2</m:t>
                                  </m:r>
                                </m:sup>
                              </m:sSup>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1</m:t>
                                  </m:r>
                                </m:sub>
                              </m:sSub>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𝜎</m:t>
                                      </m:r>
                                    </m:e>
                                    <m:sub>
                                      <m:r>
                                        <a:rPr lang="en-US" i="1">
                                          <a:solidFill>
                                            <a:srgbClr val="000000"/>
                                          </a:solidFill>
                                          <a:latin typeface="Cambria Math" panose="02040503050406030204" pitchFamily="18" charset="0"/>
                                        </a:rPr>
                                        <m:t>2</m:t>
                                      </m:r>
                                    </m:sub>
                                  </m:sSub>
                                </m:e>
                                <m:sup>
                                  <m:r>
                                    <a:rPr lang="en-US" i="1">
                                      <a:solidFill>
                                        <a:srgbClr val="000000"/>
                                      </a:solidFill>
                                      <a:latin typeface="Cambria Math" panose="02040503050406030204" pitchFamily="18" charset="0"/>
                                    </a:rPr>
                                    <m:t>2</m:t>
                                  </m:r>
                                </m:sup>
                              </m:sSup>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2</m:t>
                                  </m:r>
                                </m:sub>
                              </m:sSub>
                            </m:den>
                          </m:f>
                        </m:e>
                      </m:rad>
                    </m:oMath>
                  </m:oMathPara>
                </a14:m>
                <a:endParaRPr lang="en-US"/>
              </a:p>
            </p:txBody>
          </p:sp>
        </mc:Choice>
        <mc:Fallback xmlns="">
          <p:sp>
            <p:nvSpPr>
              <p:cNvPr id="3" name="Object 2" descr="The image shows a mathematical expression, given as: square root of sigma one square divide by n one, plus sigma two square upon n two."/>
              <p:cNvSpPr txBox="1">
                <a:spLocks noRot="1" noChangeAspect="1" noMove="1" noResize="1" noEditPoints="1" noAdjustHandles="1" noChangeArrowheads="1" noChangeShapeType="1" noTextEdit="1"/>
              </p:cNvSpPr>
              <p:nvPr/>
            </p:nvSpPr>
            <p:spPr bwMode="auto">
              <a:xfrm>
                <a:off x="3962400" y="5070141"/>
                <a:ext cx="1219200" cy="787400"/>
              </a:xfrm>
              <a:prstGeom prst="rect">
                <a:avLst/>
              </a:prstGeom>
              <a:blipFill>
                <a:blip r:embed="rId3"/>
                <a:stretch>
                  <a:fillRect/>
                </a:stretch>
              </a:blipFill>
              <a:ln>
                <a:noFill/>
              </a:ln>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6121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Sign Test </a:t>
            </a:r>
          </a:p>
        </p:txBody>
      </p:sp>
      <p:sp>
        <p:nvSpPr>
          <p:cNvPr id="89089"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F96B94A-B1DF-4024-B0A3-339C232ED03D}" type="slidenum">
              <a:rPr lang="en-US" sz="1400">
                <a:solidFill>
                  <a:schemeClr val="accent1"/>
                </a:solidFill>
              </a:rPr>
              <a:pPr/>
              <a:t>43</a:t>
            </a:fld>
            <a:endParaRPr lang="en-US" sz="1400">
              <a:solidFill>
                <a:schemeClr val="accent1"/>
              </a:solidFill>
            </a:endParaRPr>
          </a:p>
        </p:txBody>
      </p:sp>
      <p:sp>
        <p:nvSpPr>
          <p:cNvPr id="3" name="Rectangle 2"/>
          <p:cNvSpPr/>
          <p:nvPr/>
        </p:nvSpPr>
        <p:spPr>
          <a:xfrm>
            <a:off x="174625" y="1214205"/>
            <a:ext cx="7270750" cy="2252662"/>
          </a:xfrm>
          <a:prstGeom prst="rect">
            <a:avLst/>
          </a:prstGeom>
          <a:solidFill>
            <a:srgbClr val="FFD780"/>
          </a:solidFill>
        </p:spPr>
        <p:txBody>
          <a:bodyPr>
            <a:spAutoFit/>
          </a:bodyPr>
          <a:lstStyle/>
          <a:p>
            <a:pPr marL="285750" indent="-285750" defTabSz="463550" eaLnBrk="1" hangingPunct="1">
              <a:lnSpc>
                <a:spcPct val="130000"/>
              </a:lnSpc>
              <a:spcAft>
                <a:spcPct val="45000"/>
              </a:spcAft>
              <a:buFont typeface="Wingdings" charset="2"/>
              <a:buChar char="ü"/>
              <a:defRPr/>
            </a:pPr>
            <a:r>
              <a:rPr lang="en-US" dirty="0">
                <a:solidFill>
                  <a:srgbClr val="000000"/>
                </a:solidFill>
                <a:latin typeface="Arial" charset="0"/>
                <a:ea typeface="ＭＳ Ｐゴシック" charset="0"/>
                <a:cs typeface="ＭＳ Ｐゴシック" charset="0"/>
              </a:rPr>
              <a:t>Calculate the matched difference for each individual in the sample.</a:t>
            </a:r>
          </a:p>
          <a:p>
            <a:pPr marL="285750" indent="-285750" defTabSz="463550" eaLnBrk="1" hangingPunct="1">
              <a:lnSpc>
                <a:spcPct val="130000"/>
              </a:lnSpc>
              <a:spcAft>
                <a:spcPct val="45000"/>
              </a:spcAft>
              <a:buFont typeface="Wingdings" charset="2"/>
              <a:buChar char="ü"/>
              <a:defRPr/>
            </a:pPr>
            <a:r>
              <a:rPr lang="en-US" dirty="0">
                <a:solidFill>
                  <a:srgbClr val="000000"/>
                </a:solidFill>
                <a:latin typeface="Arial" charset="0"/>
                <a:ea typeface="ＭＳ Ｐゴシック" charset="0"/>
                <a:cs typeface="ＭＳ Ｐゴシック" charset="0"/>
              </a:rPr>
              <a:t>Ignore pairs with difference 0. </a:t>
            </a:r>
          </a:p>
          <a:p>
            <a:pPr marL="285750" indent="-285750" defTabSz="463550" eaLnBrk="1" hangingPunct="1">
              <a:lnSpc>
                <a:spcPct val="130000"/>
              </a:lnSpc>
              <a:spcAft>
                <a:spcPct val="45000"/>
              </a:spcAft>
              <a:buFont typeface="Wingdings" charset="2"/>
              <a:buChar char="ü"/>
              <a:defRPr/>
            </a:pPr>
            <a:r>
              <a:rPr lang="en-US" dirty="0">
                <a:solidFill>
                  <a:srgbClr val="000000"/>
                </a:solidFill>
                <a:latin typeface="Arial" charset="0"/>
                <a:ea typeface="ＭＳ Ｐゴシック" charset="0"/>
                <a:cs typeface="ＭＳ Ｐゴシック" charset="0"/>
              </a:rPr>
              <a:t>The number of trials </a:t>
            </a:r>
            <a:r>
              <a:rPr lang="en-US" i="1" dirty="0">
                <a:solidFill>
                  <a:srgbClr val="000000"/>
                </a:solidFill>
                <a:latin typeface="Arial" charset="0"/>
                <a:ea typeface="ＭＳ Ｐゴシック" charset="0"/>
                <a:cs typeface="ＭＳ Ｐゴシック" charset="0"/>
              </a:rPr>
              <a:t>n </a:t>
            </a:r>
            <a:r>
              <a:rPr lang="en-US" dirty="0">
                <a:solidFill>
                  <a:srgbClr val="000000"/>
                </a:solidFill>
                <a:latin typeface="Arial" charset="0"/>
                <a:ea typeface="ＭＳ Ｐゴシック" charset="0"/>
                <a:cs typeface="ＭＳ Ｐゴシック" charset="0"/>
              </a:rPr>
              <a:t>is the count of the remaining pairs. </a:t>
            </a:r>
          </a:p>
          <a:p>
            <a:pPr marL="285750" indent="-285750" defTabSz="463550" eaLnBrk="1" hangingPunct="1">
              <a:lnSpc>
                <a:spcPct val="130000"/>
              </a:lnSpc>
              <a:spcAft>
                <a:spcPct val="45000"/>
              </a:spcAft>
              <a:buFont typeface="Wingdings" charset="2"/>
              <a:buChar char="ü"/>
              <a:defRPr/>
            </a:pPr>
            <a:r>
              <a:rPr lang="en-US" dirty="0">
                <a:solidFill>
                  <a:srgbClr val="000000"/>
                </a:solidFill>
                <a:latin typeface="Arial" charset="0"/>
                <a:ea typeface="ＭＳ Ｐゴシック" charset="0"/>
                <a:cs typeface="ＭＳ Ｐゴシック" charset="0"/>
              </a:rPr>
              <a:t>The test statistic is the count </a:t>
            </a:r>
            <a:r>
              <a:rPr lang="en-US" i="1" dirty="0">
                <a:solidFill>
                  <a:srgbClr val="000000"/>
                </a:solidFill>
                <a:latin typeface="Arial" charset="0"/>
                <a:ea typeface="ＭＳ Ｐゴシック" charset="0"/>
                <a:cs typeface="ＭＳ Ｐゴシック" charset="0"/>
              </a:rPr>
              <a:t>X </a:t>
            </a:r>
            <a:r>
              <a:rPr lang="en-US" dirty="0">
                <a:solidFill>
                  <a:srgbClr val="000000"/>
                </a:solidFill>
                <a:latin typeface="Arial" charset="0"/>
                <a:ea typeface="ＭＳ Ｐゴシック" charset="0"/>
                <a:cs typeface="ＭＳ Ｐゴシック" charset="0"/>
              </a:rPr>
              <a:t>of pairs with a positive difference. </a:t>
            </a:r>
            <a:br>
              <a:rPr lang="en-US" dirty="0">
                <a:solidFill>
                  <a:srgbClr val="000000"/>
                </a:solidFill>
                <a:latin typeface="Arial" charset="0"/>
                <a:ea typeface="ＭＳ Ｐゴシック" charset="0"/>
                <a:cs typeface="ＭＳ Ｐゴシック" charset="0"/>
              </a:rPr>
            </a:br>
            <a:r>
              <a:rPr lang="en-US" i="1" dirty="0">
                <a:solidFill>
                  <a:srgbClr val="000000"/>
                </a:solidFill>
                <a:latin typeface="Arial" charset="0"/>
                <a:ea typeface="ＭＳ Ｐゴシック" charset="0"/>
                <a:cs typeface="ＭＳ Ｐゴシック" charset="0"/>
              </a:rPr>
              <a:t>P</a:t>
            </a:r>
            <a:r>
              <a:rPr lang="en-US" dirty="0">
                <a:solidFill>
                  <a:srgbClr val="000000"/>
                </a:solidFill>
                <a:latin typeface="Arial" charset="0"/>
                <a:ea typeface="ＭＳ Ｐゴシック" charset="0"/>
                <a:cs typeface="ＭＳ Ｐゴシック" charset="0"/>
              </a:rPr>
              <a:t>-values for </a:t>
            </a:r>
            <a:r>
              <a:rPr lang="en-US" i="1" dirty="0">
                <a:solidFill>
                  <a:srgbClr val="000000"/>
                </a:solidFill>
                <a:latin typeface="Arial" charset="0"/>
                <a:ea typeface="ＭＳ Ｐゴシック" charset="0"/>
                <a:cs typeface="ＭＳ Ｐゴシック" charset="0"/>
              </a:rPr>
              <a:t>X </a:t>
            </a:r>
            <a:r>
              <a:rPr lang="en-US" dirty="0">
                <a:solidFill>
                  <a:srgbClr val="000000"/>
                </a:solidFill>
                <a:latin typeface="Arial" charset="0"/>
                <a:ea typeface="ＭＳ Ｐゴシック" charset="0"/>
                <a:cs typeface="ＭＳ Ｐゴシック" charset="0"/>
              </a:rPr>
              <a:t>are obtained from the binomial </a:t>
            </a:r>
            <a:r>
              <a:rPr lang="en-US" i="1" dirty="0">
                <a:solidFill>
                  <a:srgbClr val="000000"/>
                </a:solidFill>
                <a:latin typeface="Arial" charset="0"/>
                <a:ea typeface="ＭＳ Ｐゴシック" charset="0"/>
                <a:cs typeface="ＭＳ Ｐゴシック" charset="0"/>
              </a:rPr>
              <a:t>B</a:t>
            </a:r>
            <a:r>
              <a:rPr lang="en-US" dirty="0">
                <a:solidFill>
                  <a:srgbClr val="000000"/>
                </a:solidFill>
                <a:latin typeface="Arial" charset="0"/>
                <a:ea typeface="ＭＳ Ｐゴシック" charset="0"/>
                <a:cs typeface="ＭＳ Ｐゴシック" charset="0"/>
              </a:rPr>
              <a:t>(</a:t>
            </a:r>
            <a:r>
              <a:rPr lang="en-US" i="1" dirty="0">
                <a:solidFill>
                  <a:srgbClr val="000000"/>
                </a:solidFill>
                <a:latin typeface="Arial" charset="0"/>
                <a:ea typeface="ＭＳ Ｐゴシック" charset="0"/>
                <a:cs typeface="ＭＳ Ｐゴシック" charset="0"/>
              </a:rPr>
              <a:t>n, </a:t>
            </a:r>
            <a:r>
              <a:rPr lang="en-US" dirty="0">
                <a:solidFill>
                  <a:srgbClr val="000000"/>
                </a:solidFill>
                <a:latin typeface="Arial" charset="0"/>
                <a:ea typeface="ＭＳ Ｐゴシック" charset="0"/>
                <a:cs typeface="ＭＳ Ｐゴシック" charset="0"/>
              </a:rPr>
              <a:t>1</a:t>
            </a:r>
            <a:r>
              <a:rPr lang="en-US" i="1" dirty="0">
                <a:solidFill>
                  <a:srgbClr val="000000"/>
                </a:solidFill>
                <a:latin typeface="Arial" charset="0"/>
                <a:ea typeface="ＭＳ Ｐゴシック" charset="0"/>
                <a:cs typeface="ＭＳ Ｐゴシック" charset="0"/>
              </a:rPr>
              <a:t>/</a:t>
            </a:r>
            <a:r>
              <a:rPr lang="en-US" dirty="0">
                <a:solidFill>
                  <a:srgbClr val="000000"/>
                </a:solidFill>
                <a:latin typeface="Arial" charset="0"/>
                <a:ea typeface="ＭＳ Ｐゴシック" charset="0"/>
                <a:cs typeface="ＭＳ Ｐゴシック" charset="0"/>
              </a:rPr>
              <a:t>2)</a:t>
            </a:r>
            <a:r>
              <a:rPr lang="en-US" i="1" dirty="0">
                <a:solidFill>
                  <a:srgbClr val="000000"/>
                </a:solidFill>
                <a:latin typeface="Arial" charset="0"/>
                <a:ea typeface="ＭＳ Ｐゴシック" charset="0"/>
                <a:cs typeface="ＭＳ Ｐゴシック" charset="0"/>
              </a:rPr>
              <a:t> </a:t>
            </a:r>
            <a:r>
              <a:rPr lang="en-US" dirty="0">
                <a:solidFill>
                  <a:srgbClr val="000000"/>
                </a:solidFill>
                <a:latin typeface="Arial" charset="0"/>
                <a:ea typeface="ＭＳ Ｐゴシック" charset="0"/>
                <a:cs typeface="ＭＳ Ｐゴシック" charset="0"/>
              </a:rPr>
              <a:t>distribution.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8837"/>
            <a:ext cx="8051800" cy="1159042"/>
          </a:xfrm>
        </p:spPr>
        <p:txBody>
          <a:bodyPr/>
          <a:lstStyle/>
          <a:p>
            <a:r>
              <a:rPr lang="en-US" b="1" dirty="0"/>
              <a:t>Chapter 7</a:t>
            </a:r>
            <a:br>
              <a:rPr lang="en-US" b="1" dirty="0"/>
            </a:br>
            <a:r>
              <a:rPr lang="en-US" b="1" dirty="0"/>
              <a:t>Inference for </a:t>
            </a:r>
            <a:r>
              <a:rPr lang="en-US" b="1" dirty="0" smtClean="0"/>
              <a:t>Means </a:t>
            </a:r>
            <a:r>
              <a:rPr lang="en-US" b="1" dirty="0"/>
              <a:t>(Review)</a:t>
            </a:r>
          </a:p>
        </p:txBody>
      </p:sp>
      <p:sp>
        <p:nvSpPr>
          <p:cNvPr id="3" name="Content Placeholder 2"/>
          <p:cNvSpPr>
            <a:spLocks noGrp="1"/>
          </p:cNvSpPr>
          <p:nvPr>
            <p:ph idx="1"/>
          </p:nvPr>
        </p:nvSpPr>
        <p:spPr>
          <a:xfrm>
            <a:off x="457200" y="1954923"/>
            <a:ext cx="8414084" cy="1991436"/>
          </a:xfrm>
        </p:spPr>
        <p:txBody>
          <a:bodyPr/>
          <a:lstStyle/>
          <a:p>
            <a:pPr marL="0" lvl="0" indent="0" eaLnBrk="1" hangingPunct="1">
              <a:spcBef>
                <a:spcPct val="0"/>
              </a:spcBef>
              <a:spcAft>
                <a:spcPts val="1800"/>
              </a:spcAft>
              <a:buClrTx/>
              <a:buSzTx/>
              <a:buNone/>
            </a:pPr>
            <a:r>
              <a:rPr lang="en-US" sz="2800" b="1" dirty="0">
                <a:solidFill>
                  <a:srgbClr val="073779"/>
                </a:solidFill>
                <a:latin typeface="Arial" pitchFamily="34" charset="0"/>
                <a:ea typeface="ＭＳ Ｐゴシック" pitchFamily="34" charset="-128"/>
                <a:cs typeface="+mn-cs"/>
              </a:rPr>
              <a:t>7.1 Inference for the Mean of a Population</a:t>
            </a:r>
          </a:p>
          <a:p>
            <a:pPr marL="0" lvl="0" indent="0" eaLnBrk="1" hangingPunct="1">
              <a:spcBef>
                <a:spcPct val="0"/>
              </a:spcBef>
              <a:spcAft>
                <a:spcPts val="1800"/>
              </a:spcAft>
              <a:buClrTx/>
              <a:buSzTx/>
              <a:buNone/>
            </a:pPr>
            <a:r>
              <a:rPr lang="en-US" sz="2800" b="1" dirty="0">
                <a:solidFill>
                  <a:srgbClr val="073779"/>
                </a:solidFill>
                <a:latin typeface="Arial" pitchFamily="34" charset="0"/>
                <a:ea typeface="ＭＳ Ｐゴシック" pitchFamily="34" charset="-128"/>
                <a:cs typeface="+mn-cs"/>
              </a:rPr>
              <a:t>7.2 Comparing Two Means</a:t>
            </a:r>
          </a:p>
          <a:p>
            <a:pPr marL="0" lvl="0" indent="0" eaLnBrk="1" hangingPunct="1">
              <a:spcBef>
                <a:spcPct val="0"/>
              </a:spcBef>
              <a:spcAft>
                <a:spcPts val="1800"/>
              </a:spcAft>
              <a:buClrTx/>
              <a:buSzTx/>
              <a:buNone/>
            </a:pPr>
            <a:r>
              <a:rPr lang="en-US" sz="2800" b="1" dirty="0">
                <a:solidFill>
                  <a:srgbClr val="073779"/>
                </a:solidFill>
                <a:latin typeface="Arial" pitchFamily="34" charset="0"/>
                <a:ea typeface="ＭＳ Ｐゴシック" pitchFamily="34" charset="-128"/>
                <a:cs typeface="+mn-cs"/>
              </a:rPr>
              <a:t>7.3 Sample Size Calculations</a:t>
            </a:r>
          </a:p>
          <a:p>
            <a:pPr marL="0" indent="0">
              <a:buNone/>
            </a:pPr>
            <a:endParaRPr lang="en-US" dirty="0"/>
          </a:p>
        </p:txBody>
      </p:sp>
      <p:sp>
        <p:nvSpPr>
          <p:cNvPr id="90113"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118155F6-249C-4E52-9884-A98D685F1DCB}" type="slidenum">
              <a:rPr lang="en-US" sz="1400">
                <a:solidFill>
                  <a:schemeClr val="accent1"/>
                </a:solidFill>
              </a:rPr>
              <a:pPr/>
              <a:t>44</a:t>
            </a:fld>
            <a:endParaRPr lang="en-US" sz="1400">
              <a:solidFill>
                <a:schemeClr val="accent1"/>
              </a:solidFill>
            </a:endParaRPr>
          </a:p>
        </p:txBody>
      </p:sp>
    </p:spTree>
  </p:cSld>
  <p:clrMapOvr>
    <a:masterClrMapping/>
  </p:clrMapOvr>
</p:sld>
</file>

<file path=ppt/theme/theme1.xml><?xml version="1.0" encoding="utf-8"?>
<a:theme xmlns:a="http://schemas.openxmlformats.org/drawingml/2006/main" name="Plaza">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Plaza.thmx</Template>
  <TotalTime>0</TotalTime>
  <Words>4399</Words>
  <Application>Microsoft Office PowerPoint</Application>
  <PresentationFormat>On-screen Show (4:3)</PresentationFormat>
  <Paragraphs>520</Paragraphs>
  <Slides>44</Slides>
  <Notes>21</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8" baseType="lpstr">
      <vt:lpstr>ＭＳ Ｐゴシック</vt:lpstr>
      <vt:lpstr>Arial</vt:lpstr>
      <vt:lpstr>Arial (Headings)</vt:lpstr>
      <vt:lpstr>Calibri</vt:lpstr>
      <vt:lpstr>Cambria Math</vt:lpstr>
      <vt:lpstr>Garamond</vt:lpstr>
      <vt:lpstr>Gill Sans</vt:lpstr>
      <vt:lpstr>Palatino</vt:lpstr>
      <vt:lpstr>Symbol</vt:lpstr>
      <vt:lpstr>Wingdings</vt:lpstr>
      <vt:lpstr>Wingdings 2</vt:lpstr>
      <vt:lpstr>ヒラギノ角ゴ Pro W3</vt:lpstr>
      <vt:lpstr>Plaza</vt:lpstr>
      <vt:lpstr>Equation</vt:lpstr>
      <vt:lpstr>Chapter 7 Inference for Means  Lecture Slides</vt:lpstr>
      <vt:lpstr>Chapter 7 Inference for Means</vt:lpstr>
      <vt:lpstr>7.1 Inference for the Mean of a Population</vt:lpstr>
      <vt:lpstr>The t Distributions 1</vt:lpstr>
      <vt:lpstr>The t Distributions 2</vt:lpstr>
      <vt:lpstr>The t Distributions 3</vt:lpstr>
      <vt:lpstr>The t Distributions 4</vt:lpstr>
      <vt:lpstr>One-Sample t Confidence Interval</vt:lpstr>
      <vt:lpstr>Using Table D</vt:lpstr>
      <vt:lpstr>One-Sample t Confidence Interval (1 of 3)</vt:lpstr>
      <vt:lpstr>One-Sample t Confidence Interval (2 of 3) </vt:lpstr>
      <vt:lpstr>One-Sample t Confidence Interval (3 of 3) </vt:lpstr>
      <vt:lpstr>One-Sample t Test (1 of 2) </vt:lpstr>
      <vt:lpstr>The One-Sample t Test</vt:lpstr>
      <vt:lpstr>One-Sample t Test (2 of 2)</vt:lpstr>
      <vt:lpstr>Matched Pairs t Procedures (1 of 3)</vt:lpstr>
      <vt:lpstr>Matched Pairs t Procedures (2 of 3)</vt:lpstr>
      <vt:lpstr>Matched Pairs t Procedures (3 of 3)</vt:lpstr>
      <vt:lpstr>Robustness of t Procedures</vt:lpstr>
      <vt:lpstr>7.2 Comparing Two Means</vt:lpstr>
      <vt:lpstr>Two-Sample Problems</vt:lpstr>
      <vt:lpstr>The Two-Sample t Procedures</vt:lpstr>
      <vt:lpstr>Confidence Interval for µ1 – µ2</vt:lpstr>
      <vt:lpstr>Two-Sample t Procedures (1 of 4)</vt:lpstr>
      <vt:lpstr>Two-Sample t Procedures (2 of 4)</vt:lpstr>
      <vt:lpstr>Two-Sample t Procedures (3 of 4)</vt:lpstr>
      <vt:lpstr>Two-Sample t Procedures (4 of 4)</vt:lpstr>
      <vt:lpstr>Two-Sample t Test (1 of 2)</vt:lpstr>
      <vt:lpstr>Two-Sample t Test (2 of 2)</vt:lpstr>
      <vt:lpstr>Robustness of the Two-Sample Procedures</vt:lpstr>
      <vt:lpstr>Inference for Small Samples</vt:lpstr>
      <vt:lpstr>Software Approximation for the Degrees of Freedom</vt:lpstr>
      <vt:lpstr>Pooled Two-Sample Procedures 1</vt:lpstr>
      <vt:lpstr>Pooled Two-Sample Procedures 2</vt:lpstr>
      <vt:lpstr>Pooled Two-Sample Procedures</vt:lpstr>
      <vt:lpstr>7.3 Sample Size Calculations</vt:lpstr>
      <vt:lpstr>Choosing the Sample Size</vt:lpstr>
      <vt:lpstr>The Power of the One-Sample t test</vt:lpstr>
      <vt:lpstr>The Power of the Two-Sample t Test 1</vt:lpstr>
      <vt:lpstr>The Power of the Two-Sample t Test 2</vt:lpstr>
      <vt:lpstr>Inference for Non-Normal Distributions</vt:lpstr>
      <vt:lpstr>The Power of the Two-Sample t Test 3</vt:lpstr>
      <vt:lpstr>The Sign Test </vt:lpstr>
      <vt:lpstr>Chapter 7 Inference for Means (Review)</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2022-11-08T23:50:17Z</dcterms:created>
  <dcterms:modified xsi:type="dcterms:W3CDTF">2022-11-08T23:58:24Z</dcterms:modified>
</cp:coreProperties>
</file>