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handoutMasterIdLst>
    <p:handoutMasterId r:id="rId35"/>
  </p:handoutMasterIdLst>
  <p:sldIdLst>
    <p:sldId id="375" r:id="rId2"/>
    <p:sldId id="314" r:id="rId3"/>
    <p:sldId id="258" r:id="rId4"/>
    <p:sldId id="316" r:id="rId5"/>
    <p:sldId id="317" r:id="rId6"/>
    <p:sldId id="318" r:id="rId7"/>
    <p:sldId id="319" r:id="rId8"/>
    <p:sldId id="320" r:id="rId9"/>
    <p:sldId id="333" r:id="rId10"/>
    <p:sldId id="334" r:id="rId11"/>
    <p:sldId id="335" r:id="rId12"/>
    <p:sldId id="354" r:id="rId13"/>
    <p:sldId id="332" r:id="rId14"/>
    <p:sldId id="328" r:id="rId15"/>
    <p:sldId id="323" r:id="rId16"/>
    <p:sldId id="336" r:id="rId17"/>
    <p:sldId id="324" r:id="rId18"/>
    <p:sldId id="325" r:id="rId19"/>
    <p:sldId id="355" r:id="rId20"/>
    <p:sldId id="337" r:id="rId21"/>
    <p:sldId id="338" r:id="rId22"/>
    <p:sldId id="339" r:id="rId23"/>
    <p:sldId id="340" r:id="rId24"/>
    <p:sldId id="341" r:id="rId25"/>
    <p:sldId id="342" r:id="rId26"/>
    <p:sldId id="343" r:id="rId27"/>
    <p:sldId id="347" r:id="rId28"/>
    <p:sldId id="348" r:id="rId29"/>
    <p:sldId id="351" r:id="rId30"/>
    <p:sldId id="352" r:id="rId31"/>
    <p:sldId id="353" r:id="rId32"/>
    <p:sldId id="315" r:id="rId3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55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uren Hill" initials="LH" lastIdx="3" clrIdx="0"/>
  <p:cmAuthor id="1" name="McKibben, Mark" initials="MM" lastIdx="6" clrIdx="1">
    <p:extLst>
      <p:ext uri="{19B8F6BF-5375-455C-9EA6-DF929625EA0E}">
        <p15:presenceInfo xmlns:p15="http://schemas.microsoft.com/office/powerpoint/2012/main" userId="S::MMCKIBBEN@wcupa.edu::7757feae-4db0-4e12-a310-74b038de7b89" providerId="AD"/>
      </p:ext>
    </p:extLst>
  </p:cmAuthor>
  <p:cmAuthor id="2" name="Newton, Andy" initials="NA" lastIdx="1" clrIdx="2">
    <p:extLst>
      <p:ext uri="{19B8F6BF-5375-455C-9EA6-DF929625EA0E}">
        <p15:presenceInfo xmlns:p15="http://schemas.microsoft.com/office/powerpoint/2012/main" userId="S-1-5-21-4250845945-3731851581-3800177176-49714" providerId="AD"/>
      </p:ext>
    </p:extLst>
  </p:cmAuthor>
  <p:cmAuthor id="3" name="Connie" initials="C" lastIdx="8" clrIdx="3">
    <p:extLst>
      <p:ext uri="{19B8F6BF-5375-455C-9EA6-DF929625EA0E}">
        <p15:presenceInfo xmlns:p15="http://schemas.microsoft.com/office/powerpoint/2012/main" userId="9ff5298ed15b64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80"/>
    <a:srgbClr val="89B8F8"/>
    <a:srgbClr val="800000"/>
    <a:srgbClr val="8590B1"/>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3"/>
    <p:restoredTop sz="94683"/>
  </p:normalViewPr>
  <p:slideViewPr>
    <p:cSldViewPr snapToGrid="0" snapToObjects="1">
      <p:cViewPr varScale="1">
        <p:scale>
          <a:sx n="63" d="100"/>
          <a:sy n="63" d="100"/>
        </p:scale>
        <p:origin x="1380" y="64"/>
      </p:cViewPr>
      <p:guideLst>
        <p:guide orient="horz" pos="2160"/>
        <p:guide pos="5568"/>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88" d="100"/>
          <a:sy n="88" d="100"/>
        </p:scale>
        <p:origin x="382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smtClean="0">
                <a:latin typeface="Calibri" pitchFamily="34" charset="0"/>
              </a:defRPr>
            </a:lvl1pPr>
          </a:lstStyle>
          <a:p>
            <a:pPr>
              <a:defRPr/>
            </a:pPr>
            <a:endParaRPr lang="en-US"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pitchFamily="34" charset="0"/>
              </a:defRPr>
            </a:lvl1pPr>
          </a:lstStyle>
          <a:p>
            <a:pPr>
              <a:defRPr/>
            </a:pPr>
            <a:fld id="{3B23F9C3-8298-4E23-A73E-5A40F397BABF}" type="datetime1">
              <a:rPr lang="en-US" altLang="en-US"/>
              <a:pPr>
                <a:defRPr/>
              </a:pPr>
              <a:t>2/10/2021</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smtClean="0">
                <a:latin typeface="Calibri" pitchFamily="34" charset="0"/>
              </a:defRPr>
            </a:lvl1pPr>
          </a:lstStyle>
          <a:p>
            <a:pPr>
              <a:defRPr/>
            </a:pPr>
            <a:endParaRPr lang="en-US"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0EEFBFF7-3839-4117-943C-E3E3E76369B8}" type="slidenum">
              <a:rPr lang="en-US" altLang="en-US"/>
              <a:pPr>
                <a:defRPr/>
              </a:pPr>
              <a:t>‹#›</a:t>
            </a:fld>
            <a:endParaRPr lang="en-US" altLang="en-US"/>
          </a:p>
        </p:txBody>
      </p:sp>
    </p:spTree>
    <p:extLst>
      <p:ext uri="{BB962C8B-B14F-4D97-AF65-F5344CB8AC3E}">
        <p14:creationId xmlns:p14="http://schemas.microsoft.com/office/powerpoint/2010/main" val="186839535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smtClean="0">
                <a:latin typeface="Calibri" pitchFamily="34" charset="0"/>
              </a:defRPr>
            </a:lvl1pPr>
          </a:lstStyle>
          <a:p>
            <a:pPr>
              <a:defRPr/>
            </a:pPr>
            <a:endParaRPr lang="en-US" alt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pitchFamily="34" charset="0"/>
              </a:defRPr>
            </a:lvl1pPr>
          </a:lstStyle>
          <a:p>
            <a:pPr>
              <a:defRPr/>
            </a:pPr>
            <a:fld id="{80B6AB5B-CF73-43E5-BBBC-328D942D1F70}" type="datetime1">
              <a:rPr lang="en-US" altLang="en-US"/>
              <a:pPr>
                <a:defRPr/>
              </a:pPr>
              <a:t>2/10/2021</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smtClean="0">
                <a:latin typeface="Calibri" pitchFamily="34" charset="0"/>
              </a:defRPr>
            </a:lvl1pPr>
          </a:lstStyle>
          <a:p>
            <a:pPr>
              <a:defRPr/>
            </a:pPr>
            <a:endParaRPr lang="en-US"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E386774B-DBFC-4075-9B93-DDA7D836634E}" type="slidenum">
              <a:rPr lang="en-US" altLang="en-US"/>
              <a:pPr>
                <a:defRPr/>
              </a:pPr>
              <a:t>‹#›</a:t>
            </a:fld>
            <a:endParaRPr lang="en-US" altLang="en-US"/>
          </a:p>
        </p:txBody>
      </p:sp>
    </p:spTree>
    <p:extLst>
      <p:ext uri="{BB962C8B-B14F-4D97-AF65-F5344CB8AC3E}">
        <p14:creationId xmlns:p14="http://schemas.microsoft.com/office/powerpoint/2010/main" val="2192207574"/>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D45D5F43-BDEE-4E97-82E6-CF3425C12674}" type="slidenum">
              <a:rPr lang="en-US" altLang="en-US"/>
              <a:pPr/>
              <a:t>7</a:t>
            </a:fld>
            <a:endParaRPr lang="en-US" altLang="en-US"/>
          </a:p>
        </p:txBody>
      </p:sp>
    </p:spTree>
    <p:extLst>
      <p:ext uri="{BB962C8B-B14F-4D97-AF65-F5344CB8AC3E}">
        <p14:creationId xmlns:p14="http://schemas.microsoft.com/office/powerpoint/2010/main" val="3844129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467425C8-9E95-42A0-BA96-17412153951C}" type="slidenum">
              <a:rPr lang="en-US" altLang="en-US"/>
              <a:pPr/>
              <a:t>8</a:t>
            </a:fld>
            <a:endParaRPr lang="en-US" altLang="en-US"/>
          </a:p>
        </p:txBody>
      </p:sp>
    </p:spTree>
    <p:extLst>
      <p:ext uri="{BB962C8B-B14F-4D97-AF65-F5344CB8AC3E}">
        <p14:creationId xmlns:p14="http://schemas.microsoft.com/office/powerpoint/2010/main" val="307081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3611251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416617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1316178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2982492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50DEB57F-3078-4D9A-8BED-D0525CBA6EB9}" type="slidenum">
              <a:rPr lang="en-US" altLang="en-US"/>
              <a:pPr/>
              <a:t>14</a:t>
            </a:fld>
            <a:endParaRPr lang="en-US" altLang="en-US"/>
          </a:p>
        </p:txBody>
      </p:sp>
    </p:spTree>
    <p:extLst>
      <p:ext uri="{BB962C8B-B14F-4D97-AF65-F5344CB8AC3E}">
        <p14:creationId xmlns:p14="http://schemas.microsoft.com/office/powerpoint/2010/main" val="326814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2BD90B71-2960-4E7C-A81D-B06985F4038B}" type="slidenum">
              <a:rPr lang="en-US" altLang="en-US"/>
              <a:pPr/>
              <a:t>15</a:t>
            </a:fld>
            <a:endParaRPr lang="en-US" altLang="en-US"/>
          </a:p>
        </p:txBody>
      </p:sp>
    </p:spTree>
    <p:extLst>
      <p:ext uri="{BB962C8B-B14F-4D97-AF65-F5344CB8AC3E}">
        <p14:creationId xmlns:p14="http://schemas.microsoft.com/office/powerpoint/2010/main" val="36519035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11962103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pitchFamily="34" charset="-128"/>
              </a:rPr>
              <a:t>The graph is too fuzzy.</a:t>
            </a:r>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B46D887B-8306-41AE-A0C4-ED4D9A47E2B2}" type="slidenum">
              <a:rPr lang="en-US" altLang="en-US"/>
              <a:pPr/>
              <a:t>17</a:t>
            </a:fld>
            <a:endParaRPr lang="en-US" altLang="en-US"/>
          </a:p>
        </p:txBody>
      </p:sp>
    </p:spTree>
    <p:extLst>
      <p:ext uri="{BB962C8B-B14F-4D97-AF65-F5344CB8AC3E}">
        <p14:creationId xmlns:p14="http://schemas.microsoft.com/office/powerpoint/2010/main" val="885556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C5A0E1B7-52EE-4F7A-942B-CF22C48B2EB2}" type="slidenum">
              <a:rPr lang="en-US" altLang="en-US"/>
              <a:pPr/>
              <a:t>18</a:t>
            </a:fld>
            <a:endParaRPr lang="en-US" altLang="en-US"/>
          </a:p>
        </p:txBody>
      </p:sp>
    </p:spTree>
    <p:extLst>
      <p:ext uri="{BB962C8B-B14F-4D97-AF65-F5344CB8AC3E}">
        <p14:creationId xmlns:p14="http://schemas.microsoft.com/office/powerpoint/2010/main" val="830344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Calibri" pitchFamily="34" charset="0"/>
                <a:ea typeface="ＭＳ Ｐゴシック" pitchFamily="34" charset="-128"/>
              </a:defRPr>
            </a:lvl1pPr>
            <a:lvl2pPr marL="742950" indent="-285750">
              <a:defRPr sz="1200">
                <a:solidFill>
                  <a:schemeClr val="tx1"/>
                </a:solidFill>
                <a:latin typeface="Calibri" pitchFamily="34" charset="0"/>
                <a:ea typeface="ＭＳ Ｐゴシック" pitchFamily="34" charset="-128"/>
              </a:defRPr>
            </a:lvl2pPr>
            <a:lvl3pPr marL="1143000" indent="-228600">
              <a:defRPr sz="1200">
                <a:solidFill>
                  <a:schemeClr val="tx1"/>
                </a:solidFill>
                <a:latin typeface="Calibri" pitchFamily="34" charset="0"/>
                <a:ea typeface="ＭＳ Ｐゴシック" pitchFamily="34" charset="-128"/>
              </a:defRPr>
            </a:lvl3pPr>
            <a:lvl4pPr marL="1600200" indent="-228600">
              <a:defRPr sz="1200">
                <a:solidFill>
                  <a:schemeClr val="tx1"/>
                </a:solidFill>
                <a:latin typeface="Calibri" pitchFamily="34" charset="0"/>
                <a:ea typeface="ＭＳ Ｐゴシック" pitchFamily="34" charset="-128"/>
              </a:defRPr>
            </a:lvl4pPr>
            <a:lvl5pPr marL="2057400" indent="-228600">
              <a:defRPr sz="1200">
                <a:solidFill>
                  <a:schemeClr val="tx1"/>
                </a:solidFill>
                <a:latin typeface="Calibri" pitchFamily="34" charset="0"/>
                <a:ea typeface="ＭＳ Ｐゴシック" pitchFamily="34" charset="-128"/>
              </a:defRPr>
            </a:lvl5pPr>
            <a:lvl6pPr marL="25146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6pPr>
            <a:lvl7pPr marL="29718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7pPr>
            <a:lvl8pPr marL="34290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8pPr>
            <a:lvl9pPr marL="3886200" indent="-228600" eaLnBrk="0" fontAlgn="base" hangingPunct="0">
              <a:spcBef>
                <a:spcPct val="30000"/>
              </a:spcBef>
              <a:spcAft>
                <a:spcPct val="0"/>
              </a:spcAft>
              <a:defRPr sz="1200">
                <a:solidFill>
                  <a:schemeClr val="tx1"/>
                </a:solidFill>
                <a:latin typeface="Calibri" pitchFamily="34" charset="0"/>
                <a:ea typeface="ＭＳ Ｐゴシック" pitchFamily="34" charset="-128"/>
              </a:defRPr>
            </a:lvl9pPr>
          </a:lstStyle>
          <a:p>
            <a:fld id="{B8DE2625-DB01-4A2B-A5AC-BE279E25DFE7}" type="slidenum">
              <a:rPr lang="en-US" altLang="en-US"/>
              <a:pPr/>
              <a:t>19</a:t>
            </a:fld>
            <a:endParaRPr lang="en-US" altLang="en-US"/>
          </a:p>
        </p:txBody>
      </p:sp>
    </p:spTree>
    <p:extLst>
      <p:ext uri="{BB962C8B-B14F-4D97-AF65-F5344CB8AC3E}">
        <p14:creationId xmlns:p14="http://schemas.microsoft.com/office/powerpoint/2010/main" val="4260764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3209029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415542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3693894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257002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3406794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16252127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1860814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itchFamily="34" charset="-128"/>
            </a:endParaRPr>
          </a:p>
        </p:txBody>
      </p:sp>
    </p:spTree>
    <p:extLst>
      <p:ext uri="{BB962C8B-B14F-4D97-AF65-F5344CB8AC3E}">
        <p14:creationId xmlns:p14="http://schemas.microsoft.com/office/powerpoint/2010/main" val="1627675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32039929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Tree>
    <p:extLst>
      <p:ext uri="{BB962C8B-B14F-4D97-AF65-F5344CB8AC3E}">
        <p14:creationId xmlns:p14="http://schemas.microsoft.com/office/powerpoint/2010/main" val="2690631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3084099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Slide Number Placeholder 5"/>
          <p:cNvSpPr>
            <a:spLocks noGrp="1"/>
          </p:cNvSpPr>
          <p:nvPr>
            <p:ph type="sldNum" sz="quarter" idx="10"/>
          </p:nvPr>
        </p:nvSpPr>
        <p:spPr>
          <a:xfrm>
            <a:off x="8509000" y="6356350"/>
            <a:ext cx="508000" cy="365125"/>
          </a:xfrm>
        </p:spPr>
        <p:txBody>
          <a:bodyPr/>
          <a:lstStyle>
            <a:lvl1pPr>
              <a:defRPr sz="1200" smtClean="0">
                <a:solidFill>
                  <a:schemeClr val="accent1"/>
                </a:solidFill>
              </a:defRPr>
            </a:lvl1pPr>
          </a:lstStyle>
          <a:p>
            <a:pPr>
              <a:defRPr/>
            </a:pPr>
            <a:fld id="{8F021B25-5967-416E-9C57-A2EB7C539FEF}" type="slidenum">
              <a:rPr lang="en-US" altLang="en-US" smtClean="0"/>
              <a:pPr>
                <a:defRPr/>
              </a:pPr>
              <a:t>‹#›</a:t>
            </a:fld>
            <a:endParaRPr lang="en-US" altLang="en-US" dirty="0"/>
          </a:p>
        </p:txBody>
      </p:sp>
    </p:spTree>
    <p:extLst>
      <p:ext uri="{BB962C8B-B14F-4D97-AF65-F5344CB8AC3E}">
        <p14:creationId xmlns:p14="http://schemas.microsoft.com/office/powerpoint/2010/main" val="2408457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smtClean="0">
                <a:solidFill>
                  <a:schemeClr val="accent1"/>
                </a:solidFill>
              </a:defRPr>
            </a:lvl1pPr>
          </a:lstStyle>
          <a:p>
            <a:pPr>
              <a:defRPr/>
            </a:pPr>
            <a:fld id="{F4F8188E-89F6-4DB7-BDE1-2801FA01D2D4}" type="slidenum">
              <a:rPr lang="en-US" altLang="en-US"/>
              <a:pPr>
                <a:defRPr/>
              </a:pPr>
              <a:t>‹#›</a:t>
            </a:fld>
            <a:endParaRPr lang="en-US" altLang="en-US"/>
          </a:p>
        </p:txBody>
      </p:sp>
    </p:spTree>
    <p:extLst>
      <p:ext uri="{BB962C8B-B14F-4D97-AF65-F5344CB8AC3E}">
        <p14:creationId xmlns:p14="http://schemas.microsoft.com/office/powerpoint/2010/main" val="2653016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8509000" y="6356350"/>
            <a:ext cx="508000" cy="365125"/>
          </a:xfrm>
        </p:spPr>
        <p:txBody>
          <a:bodyPr/>
          <a:lstStyle>
            <a:lvl1pPr>
              <a:defRPr sz="1400" smtClean="0">
                <a:solidFill>
                  <a:schemeClr val="accent1"/>
                </a:solidFill>
              </a:defRPr>
            </a:lvl1pPr>
          </a:lstStyle>
          <a:p>
            <a:pPr>
              <a:defRPr/>
            </a:pPr>
            <a:fld id="{F432145C-4EEC-4202-9590-DCCF49B03737}" type="slidenum">
              <a:rPr lang="en-US" altLang="en-US"/>
              <a:pPr>
                <a:defRPr/>
              </a:pPr>
              <a:t>‹#›</a:t>
            </a:fld>
            <a:endParaRPr lang="en-US" altLang="en-US"/>
          </a:p>
        </p:txBody>
      </p:sp>
    </p:spTree>
    <p:extLst>
      <p:ext uri="{BB962C8B-B14F-4D97-AF65-F5344CB8AC3E}">
        <p14:creationId xmlns:p14="http://schemas.microsoft.com/office/powerpoint/2010/main" val="3208369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sz="1400" smtClean="0"/>
            </a:lvl1pPr>
          </a:lstStyle>
          <a:p>
            <a:pPr>
              <a:defRPr/>
            </a:pPr>
            <a:fld id="{C819B03C-E1F7-4A77-BBBA-7B74E4F4B346}" type="slidenum">
              <a:rPr lang="en-US" altLang="en-US"/>
              <a:pPr>
                <a:defRPr/>
              </a:pPr>
              <a:t>‹#›</a:t>
            </a:fld>
            <a:endParaRPr lang="en-US" altLang="en-US"/>
          </a:p>
        </p:txBody>
      </p:sp>
    </p:spTree>
    <p:extLst>
      <p:ext uri="{BB962C8B-B14F-4D97-AF65-F5344CB8AC3E}">
        <p14:creationId xmlns:p14="http://schemas.microsoft.com/office/powerpoint/2010/main" val="642154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a:t>Click icon to add picture</a:t>
            </a:r>
            <a:endParaRPr noProof="0"/>
          </a:p>
        </p:txBody>
      </p:sp>
      <p:sp>
        <p:nvSpPr>
          <p:cNvPr id="6" name="Slide Number Placeholder 5"/>
          <p:cNvSpPr>
            <a:spLocks noGrp="1"/>
          </p:cNvSpPr>
          <p:nvPr>
            <p:ph type="sldNum" sz="quarter" idx="14"/>
          </p:nvPr>
        </p:nvSpPr>
        <p:spPr>
          <a:xfrm>
            <a:off x="350838" y="6105525"/>
            <a:ext cx="506412" cy="365125"/>
          </a:xfrm>
        </p:spPr>
        <p:txBody>
          <a:bodyPr/>
          <a:lstStyle>
            <a:lvl1pPr>
              <a:defRPr smtClean="0"/>
            </a:lvl1pPr>
          </a:lstStyle>
          <a:p>
            <a:pPr>
              <a:defRPr/>
            </a:pPr>
            <a:fld id="{B830873B-441E-4D05-89C6-E625BD249E92}" type="slidenum">
              <a:rPr lang="en-US" altLang="en-US"/>
              <a:pPr>
                <a:defRPr/>
              </a:pPr>
              <a:t>‹#›</a:t>
            </a:fld>
            <a:endParaRPr lang="en-US" altLang="en-US"/>
          </a:p>
        </p:txBody>
      </p:sp>
    </p:spTree>
    <p:extLst>
      <p:ext uri="{BB962C8B-B14F-4D97-AF65-F5344CB8AC3E}">
        <p14:creationId xmlns:p14="http://schemas.microsoft.com/office/powerpoint/2010/main" val="4142177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smtClean="0"/>
            </a:lvl1pPr>
          </a:lstStyle>
          <a:p>
            <a:pPr>
              <a:defRPr/>
            </a:pPr>
            <a:endParaRPr lang="en-US" altLang="en-US"/>
          </a:p>
        </p:txBody>
      </p:sp>
      <p:sp>
        <p:nvSpPr>
          <p:cNvPr id="7" name="Footer Placeholder 5"/>
          <p:cNvSpPr>
            <a:spLocks noGrp="1"/>
          </p:cNvSpPr>
          <p:nvPr>
            <p:ph type="ftr" sz="quarter" idx="11"/>
          </p:nvPr>
        </p:nvSpPr>
        <p:spPr/>
        <p:txBody>
          <a:bodyPr/>
          <a:lstStyle>
            <a:lvl1pPr>
              <a:defRPr smtClean="0"/>
            </a:lvl1pPr>
          </a:lstStyle>
          <a:p>
            <a:pPr>
              <a:defRPr/>
            </a:pPr>
            <a:endParaRPr lang="en-US" altLang="en-US"/>
          </a:p>
        </p:txBody>
      </p:sp>
      <p:sp>
        <p:nvSpPr>
          <p:cNvPr id="8" name="Slide Number Placeholder 6"/>
          <p:cNvSpPr>
            <a:spLocks noGrp="1"/>
          </p:cNvSpPr>
          <p:nvPr>
            <p:ph type="sldNum" sz="quarter" idx="12"/>
          </p:nvPr>
        </p:nvSpPr>
        <p:spPr/>
        <p:txBody>
          <a:bodyPr/>
          <a:lstStyle>
            <a:lvl1pPr>
              <a:defRPr smtClean="0"/>
            </a:lvl1pPr>
          </a:lstStyle>
          <a:p>
            <a:pPr>
              <a:defRPr/>
            </a:pPr>
            <a:fld id="{08C08620-9835-40A6-8AD9-05E8483F47E7}" type="slidenum">
              <a:rPr lang="en-US" altLang="en-US"/>
              <a:pPr>
                <a:defRPr/>
              </a:pPr>
              <a:t>‹#›</a:t>
            </a:fld>
            <a:endParaRPr lang="en-US" altLang="en-US"/>
          </a:p>
        </p:txBody>
      </p:sp>
    </p:spTree>
    <p:extLst>
      <p:ext uri="{BB962C8B-B14F-4D97-AF65-F5344CB8AC3E}">
        <p14:creationId xmlns:p14="http://schemas.microsoft.com/office/powerpoint/2010/main" val="3271453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smtClean="0"/>
            </a:lvl1pPr>
          </a:lstStyle>
          <a:p>
            <a:pPr>
              <a:defRPr/>
            </a:pPr>
            <a:endParaRPr lang="en-US" altLang="en-US"/>
          </a:p>
        </p:txBody>
      </p:sp>
      <p:sp>
        <p:nvSpPr>
          <p:cNvPr id="9" name="Footer Placeholder 7"/>
          <p:cNvSpPr>
            <a:spLocks noGrp="1"/>
          </p:cNvSpPr>
          <p:nvPr>
            <p:ph type="ftr" sz="quarter" idx="11"/>
          </p:nvPr>
        </p:nvSpPr>
        <p:spPr/>
        <p:txBody>
          <a:bodyPr/>
          <a:lstStyle>
            <a:lvl1pPr>
              <a:defRPr smtClean="0"/>
            </a:lvl1pPr>
          </a:lstStyle>
          <a:p>
            <a:pPr>
              <a:defRPr/>
            </a:pPr>
            <a:endParaRPr lang="en-US" altLang="en-US"/>
          </a:p>
        </p:txBody>
      </p:sp>
      <p:sp>
        <p:nvSpPr>
          <p:cNvPr id="10" name="Slide Number Placeholder 8"/>
          <p:cNvSpPr>
            <a:spLocks noGrp="1"/>
          </p:cNvSpPr>
          <p:nvPr>
            <p:ph type="sldNum" sz="quarter" idx="12"/>
          </p:nvPr>
        </p:nvSpPr>
        <p:spPr/>
        <p:txBody>
          <a:bodyPr/>
          <a:lstStyle>
            <a:lvl1pPr>
              <a:defRPr smtClean="0"/>
            </a:lvl1pPr>
          </a:lstStyle>
          <a:p>
            <a:pPr>
              <a:defRPr/>
            </a:pPr>
            <a:fld id="{63221677-04FE-4802-95A6-1E7E365DAB40}" type="slidenum">
              <a:rPr lang="en-US" altLang="en-US"/>
              <a:pPr>
                <a:defRPr/>
              </a:pPr>
              <a:t>‹#›</a:t>
            </a:fld>
            <a:endParaRPr lang="en-US" altLang="en-US"/>
          </a:p>
        </p:txBody>
      </p:sp>
    </p:spTree>
    <p:extLst>
      <p:ext uri="{BB962C8B-B14F-4D97-AF65-F5344CB8AC3E}">
        <p14:creationId xmlns:p14="http://schemas.microsoft.com/office/powerpoint/2010/main" val="3920760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smtClean="0"/>
            </a:lvl1pPr>
          </a:lstStyle>
          <a:p>
            <a:pPr>
              <a:defRPr/>
            </a:pPr>
            <a:endParaRPr lang="en-US" altLang="en-US"/>
          </a:p>
        </p:txBody>
      </p:sp>
      <p:sp>
        <p:nvSpPr>
          <p:cNvPr id="7" name="Footer Placeholder 5"/>
          <p:cNvSpPr>
            <a:spLocks noGrp="1"/>
          </p:cNvSpPr>
          <p:nvPr>
            <p:ph type="ftr" sz="quarter" idx="15"/>
          </p:nvPr>
        </p:nvSpPr>
        <p:spPr/>
        <p:txBody>
          <a:bodyPr/>
          <a:lstStyle>
            <a:lvl1pPr>
              <a:defRPr smtClean="0"/>
            </a:lvl1pPr>
          </a:lstStyle>
          <a:p>
            <a:pPr>
              <a:defRPr/>
            </a:pPr>
            <a:endParaRPr lang="en-US" altLang="en-US"/>
          </a:p>
        </p:txBody>
      </p:sp>
      <p:sp>
        <p:nvSpPr>
          <p:cNvPr id="8" name="Slide Number Placeholder 6"/>
          <p:cNvSpPr>
            <a:spLocks noGrp="1"/>
          </p:cNvSpPr>
          <p:nvPr>
            <p:ph type="sldNum" sz="quarter" idx="16"/>
          </p:nvPr>
        </p:nvSpPr>
        <p:spPr/>
        <p:txBody>
          <a:bodyPr/>
          <a:lstStyle>
            <a:lvl1pPr>
              <a:defRPr smtClean="0"/>
            </a:lvl1pPr>
          </a:lstStyle>
          <a:p>
            <a:pPr>
              <a:defRPr/>
            </a:pPr>
            <a:fld id="{75F87D0C-F2AF-4839-AD92-AFB0BB22614C}" type="slidenum">
              <a:rPr lang="en-US" altLang="en-US"/>
              <a:pPr>
                <a:defRPr/>
              </a:pPr>
              <a:t>‹#›</a:t>
            </a:fld>
            <a:endParaRPr lang="en-US" altLang="en-US"/>
          </a:p>
        </p:txBody>
      </p:sp>
    </p:spTree>
    <p:extLst>
      <p:ext uri="{BB962C8B-B14F-4D97-AF65-F5344CB8AC3E}">
        <p14:creationId xmlns:p14="http://schemas.microsoft.com/office/powerpoint/2010/main" val="1181052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smtClean="0"/>
            </a:lvl1pPr>
          </a:lstStyle>
          <a:p>
            <a:pPr>
              <a:defRPr/>
            </a:pPr>
            <a:endParaRPr lang="en-US" altLang="en-US"/>
          </a:p>
        </p:txBody>
      </p:sp>
      <p:sp>
        <p:nvSpPr>
          <p:cNvPr id="8" name="Footer Placeholder 5"/>
          <p:cNvSpPr>
            <a:spLocks noGrp="1"/>
          </p:cNvSpPr>
          <p:nvPr>
            <p:ph type="ftr" sz="quarter" idx="16"/>
          </p:nvPr>
        </p:nvSpPr>
        <p:spPr/>
        <p:txBody>
          <a:bodyPr/>
          <a:lstStyle>
            <a:lvl1pPr>
              <a:defRPr smtClean="0"/>
            </a:lvl1pPr>
          </a:lstStyle>
          <a:p>
            <a:pPr>
              <a:defRPr/>
            </a:pPr>
            <a:endParaRPr lang="en-US" altLang="en-US"/>
          </a:p>
        </p:txBody>
      </p:sp>
      <p:sp>
        <p:nvSpPr>
          <p:cNvPr id="11" name="Slide Number Placeholder 6"/>
          <p:cNvSpPr>
            <a:spLocks noGrp="1"/>
          </p:cNvSpPr>
          <p:nvPr>
            <p:ph type="sldNum" sz="quarter" idx="17"/>
          </p:nvPr>
        </p:nvSpPr>
        <p:spPr/>
        <p:txBody>
          <a:bodyPr/>
          <a:lstStyle>
            <a:lvl1pPr>
              <a:defRPr smtClean="0"/>
            </a:lvl1pPr>
          </a:lstStyle>
          <a:p>
            <a:pPr>
              <a:defRPr/>
            </a:pPr>
            <a:fld id="{6461C45F-ADFE-47B6-93D1-6C093EA81B59}" type="slidenum">
              <a:rPr lang="en-US" altLang="en-US"/>
              <a:pPr>
                <a:defRPr/>
              </a:pPr>
              <a:t>‹#›</a:t>
            </a:fld>
            <a:endParaRPr lang="en-US" altLang="en-US"/>
          </a:p>
        </p:txBody>
      </p:sp>
    </p:spTree>
    <p:extLst>
      <p:ext uri="{BB962C8B-B14F-4D97-AF65-F5344CB8AC3E}">
        <p14:creationId xmlns:p14="http://schemas.microsoft.com/office/powerpoint/2010/main" val="695913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smtClean="0"/>
            </a:lvl1pPr>
          </a:lstStyle>
          <a:p>
            <a:pPr>
              <a:defRPr/>
            </a:pPr>
            <a:endParaRPr lang="en-US" altLang="en-US"/>
          </a:p>
        </p:txBody>
      </p:sp>
      <p:sp>
        <p:nvSpPr>
          <p:cNvPr id="10" name="Footer Placeholder 5"/>
          <p:cNvSpPr>
            <a:spLocks noGrp="1"/>
          </p:cNvSpPr>
          <p:nvPr>
            <p:ph type="ftr" sz="quarter" idx="17"/>
          </p:nvPr>
        </p:nvSpPr>
        <p:spPr/>
        <p:txBody>
          <a:bodyPr/>
          <a:lstStyle>
            <a:lvl1pPr>
              <a:defRPr smtClean="0"/>
            </a:lvl1pPr>
          </a:lstStyle>
          <a:p>
            <a:pPr>
              <a:defRPr/>
            </a:pPr>
            <a:endParaRPr lang="en-US" altLang="en-US"/>
          </a:p>
        </p:txBody>
      </p:sp>
      <p:sp>
        <p:nvSpPr>
          <p:cNvPr id="13" name="Slide Number Placeholder 6"/>
          <p:cNvSpPr>
            <a:spLocks noGrp="1"/>
          </p:cNvSpPr>
          <p:nvPr>
            <p:ph type="sldNum" sz="quarter" idx="18"/>
          </p:nvPr>
        </p:nvSpPr>
        <p:spPr/>
        <p:txBody>
          <a:bodyPr/>
          <a:lstStyle>
            <a:lvl1pPr>
              <a:defRPr smtClean="0"/>
            </a:lvl1pPr>
          </a:lstStyle>
          <a:p>
            <a:pPr>
              <a:defRPr/>
            </a:pPr>
            <a:fld id="{FF231555-9A2D-4EAE-A9DA-72C9865ECB6A}" type="slidenum">
              <a:rPr lang="en-US" altLang="en-US"/>
              <a:pPr>
                <a:defRPr/>
              </a:pPr>
              <a:t>‹#›</a:t>
            </a:fld>
            <a:endParaRPr lang="en-US" altLang="en-US"/>
          </a:p>
        </p:txBody>
      </p:sp>
    </p:spTree>
    <p:extLst>
      <p:ext uri="{BB962C8B-B14F-4D97-AF65-F5344CB8AC3E}">
        <p14:creationId xmlns:p14="http://schemas.microsoft.com/office/powerpoint/2010/main" val="2208529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777240"/>
          </a:xfrm>
        </p:spPr>
        <p:txBody>
          <a:bodyPr/>
          <a:lstStyle/>
          <a:p>
            <a:r>
              <a:rPr lang="en-US"/>
              <a:t>Click to edit Master title style</a:t>
            </a:r>
            <a:endParaRPr/>
          </a:p>
        </p:txBody>
      </p:sp>
      <p:sp>
        <p:nvSpPr>
          <p:cNvPr id="6" name="Slide Number Placeholder 4"/>
          <p:cNvSpPr>
            <a:spLocks noGrp="1"/>
          </p:cNvSpPr>
          <p:nvPr>
            <p:ph type="sldNum" sz="quarter" idx="12"/>
          </p:nvPr>
        </p:nvSpPr>
        <p:spPr/>
        <p:txBody>
          <a:bodyPr/>
          <a:lstStyle>
            <a:lvl1pPr>
              <a:defRPr sz="1200" smtClean="0">
                <a:solidFill>
                  <a:schemeClr val="accent1"/>
                </a:solidFill>
              </a:defRPr>
            </a:lvl1pPr>
          </a:lstStyle>
          <a:p>
            <a:pPr>
              <a:defRPr/>
            </a:pPr>
            <a:fld id="{133067DE-E1F7-42F4-B420-ECC1F8F2A4E9}" type="slidenum">
              <a:rPr lang="en-US" altLang="en-US" smtClean="0"/>
              <a:pPr>
                <a:defRPr/>
              </a:pPr>
              <a:t>‹#›</a:t>
            </a:fld>
            <a:endParaRPr lang="en-US" altLang="en-US" dirty="0"/>
          </a:p>
        </p:txBody>
      </p:sp>
    </p:spTree>
    <p:extLst>
      <p:ext uri="{BB962C8B-B14F-4D97-AF65-F5344CB8AC3E}">
        <p14:creationId xmlns:p14="http://schemas.microsoft.com/office/powerpoint/2010/main" val="25045079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smtClean="0">
                <a:solidFill>
                  <a:schemeClr val="accent1"/>
                </a:solidFill>
              </a:defRPr>
            </a:lvl1pPr>
          </a:lstStyle>
          <a:p>
            <a:pPr>
              <a:defRPr/>
            </a:pPr>
            <a:fld id="{02CF4067-9482-4166-9B5A-AE9F298A4BE5}" type="slidenum">
              <a:rPr lang="en-US" altLang="en-US"/>
              <a:pPr>
                <a:defRPr/>
              </a:pPr>
              <a:t>‹#›</a:t>
            </a:fld>
            <a:endParaRPr lang="en-US" altLang="en-US"/>
          </a:p>
        </p:txBody>
      </p:sp>
    </p:spTree>
    <p:extLst>
      <p:ext uri="{BB962C8B-B14F-4D97-AF65-F5344CB8AC3E}">
        <p14:creationId xmlns:p14="http://schemas.microsoft.com/office/powerpoint/2010/main" val="22956130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smtClean="0"/>
            </a:lvl1pPr>
          </a:lstStyle>
          <a:p>
            <a:pPr>
              <a:defRPr/>
            </a:pPr>
            <a:endParaRPr lang="en-US" altLang="en-US"/>
          </a:p>
        </p:txBody>
      </p:sp>
      <p:sp>
        <p:nvSpPr>
          <p:cNvPr id="7" name="Footer Placeholder 5"/>
          <p:cNvSpPr>
            <a:spLocks noGrp="1"/>
          </p:cNvSpPr>
          <p:nvPr>
            <p:ph type="ftr" sz="quarter" idx="11"/>
          </p:nvPr>
        </p:nvSpPr>
        <p:spPr/>
        <p:txBody>
          <a:bodyPr/>
          <a:lstStyle>
            <a:lvl1pPr>
              <a:defRPr smtClean="0"/>
            </a:lvl1pPr>
          </a:lstStyle>
          <a:p>
            <a:pPr>
              <a:defRPr/>
            </a:pPr>
            <a:endParaRPr lang="en-US" altLang="en-US"/>
          </a:p>
        </p:txBody>
      </p:sp>
      <p:sp>
        <p:nvSpPr>
          <p:cNvPr id="8" name="Slide Number Placeholder 6"/>
          <p:cNvSpPr>
            <a:spLocks noGrp="1"/>
          </p:cNvSpPr>
          <p:nvPr>
            <p:ph type="sldNum" sz="quarter" idx="12"/>
          </p:nvPr>
        </p:nvSpPr>
        <p:spPr/>
        <p:txBody>
          <a:bodyPr/>
          <a:lstStyle>
            <a:lvl1pPr>
              <a:defRPr smtClean="0"/>
            </a:lvl1pPr>
          </a:lstStyle>
          <a:p>
            <a:pPr>
              <a:defRPr/>
            </a:pPr>
            <a:fld id="{E8F8B4BF-6A73-408D-97C4-C33F164C0D08}" type="slidenum">
              <a:rPr lang="en-US" altLang="en-US"/>
              <a:pPr>
                <a:defRPr/>
              </a:pPr>
              <a:t>‹#›</a:t>
            </a:fld>
            <a:endParaRPr lang="en-US" altLang="en-US"/>
          </a:p>
        </p:txBody>
      </p:sp>
    </p:spTree>
    <p:extLst>
      <p:ext uri="{BB962C8B-B14F-4D97-AF65-F5344CB8AC3E}">
        <p14:creationId xmlns:p14="http://schemas.microsoft.com/office/powerpoint/2010/main" val="3920893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a:t>Click icon to add picture</a:t>
            </a:r>
            <a:endParaRPr noProof="0"/>
          </a:p>
        </p:txBody>
      </p:sp>
      <p:sp>
        <p:nvSpPr>
          <p:cNvPr id="6" name="Date Placeholder 4"/>
          <p:cNvSpPr>
            <a:spLocks noGrp="1"/>
          </p:cNvSpPr>
          <p:nvPr>
            <p:ph type="dt" sz="half" idx="14"/>
          </p:nvPr>
        </p:nvSpPr>
        <p:spPr>
          <a:xfrm>
            <a:off x="161925" y="6124575"/>
            <a:ext cx="1752600" cy="365125"/>
          </a:xfrm>
        </p:spPr>
        <p:txBody>
          <a:bodyPr/>
          <a:lstStyle>
            <a:lvl1pPr algn="l">
              <a:defRPr smtClean="0"/>
            </a:lvl1pPr>
          </a:lstStyle>
          <a:p>
            <a:pPr>
              <a:defRPr/>
            </a:pPr>
            <a:endParaRPr lang="en-US" altLang="en-US"/>
          </a:p>
        </p:txBody>
      </p:sp>
      <p:sp>
        <p:nvSpPr>
          <p:cNvPr id="7" name="Footer Placeholder 5"/>
          <p:cNvSpPr>
            <a:spLocks noGrp="1"/>
          </p:cNvSpPr>
          <p:nvPr>
            <p:ph type="ftr" sz="quarter" idx="15"/>
          </p:nvPr>
        </p:nvSpPr>
        <p:spPr>
          <a:xfrm>
            <a:off x="174625" y="6356350"/>
            <a:ext cx="3863975" cy="365125"/>
          </a:xfrm>
        </p:spPr>
        <p:txBody>
          <a:bodyPr/>
          <a:lstStyle>
            <a:lvl1pPr>
              <a:defRPr smtClean="0"/>
            </a:lvl1pPr>
          </a:lstStyle>
          <a:p>
            <a:pPr>
              <a:defRPr/>
            </a:pPr>
            <a:endParaRPr lang="en-US" altLang="en-US"/>
          </a:p>
        </p:txBody>
      </p:sp>
      <p:sp>
        <p:nvSpPr>
          <p:cNvPr id="8" name="Slide Number Placeholder 6"/>
          <p:cNvSpPr>
            <a:spLocks noGrp="1"/>
          </p:cNvSpPr>
          <p:nvPr>
            <p:ph type="sldNum" sz="quarter" idx="16"/>
          </p:nvPr>
        </p:nvSpPr>
        <p:spPr/>
        <p:txBody>
          <a:bodyPr/>
          <a:lstStyle>
            <a:lvl1pPr>
              <a:defRPr smtClean="0"/>
            </a:lvl1pPr>
          </a:lstStyle>
          <a:p>
            <a:pPr>
              <a:defRPr/>
            </a:pPr>
            <a:fld id="{FD760ADE-0F6B-465C-9766-C28D1B92E536}" type="slidenum">
              <a:rPr lang="en-US" altLang="en-US"/>
              <a:pPr>
                <a:defRPr/>
              </a:pPr>
              <a:t>‹#›</a:t>
            </a:fld>
            <a:endParaRPr lang="en-US" altLang="en-US"/>
          </a:p>
        </p:txBody>
      </p:sp>
    </p:spTree>
    <p:extLst>
      <p:ext uri="{BB962C8B-B14F-4D97-AF65-F5344CB8AC3E}">
        <p14:creationId xmlns:p14="http://schemas.microsoft.com/office/powerpoint/2010/main" val="3056395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smtClean="0"/>
            </a:lvl1pPr>
          </a:lstStyle>
          <a:p>
            <a:pPr>
              <a:defRPr/>
            </a:pPr>
            <a:endParaRPr lang="en-US" altLang="en-US"/>
          </a:p>
        </p:txBody>
      </p:sp>
      <p:sp>
        <p:nvSpPr>
          <p:cNvPr id="7" name="Footer Placeholder 5"/>
          <p:cNvSpPr>
            <a:spLocks noGrp="1"/>
          </p:cNvSpPr>
          <p:nvPr>
            <p:ph type="ftr" sz="quarter" idx="11"/>
          </p:nvPr>
        </p:nvSpPr>
        <p:spPr/>
        <p:txBody>
          <a:bodyPr/>
          <a:lstStyle>
            <a:lvl1pPr>
              <a:defRPr smtClean="0"/>
            </a:lvl1pPr>
          </a:lstStyle>
          <a:p>
            <a:pPr>
              <a:defRPr/>
            </a:pPr>
            <a:endParaRPr lang="en-US" altLang="en-US"/>
          </a:p>
        </p:txBody>
      </p:sp>
      <p:sp>
        <p:nvSpPr>
          <p:cNvPr id="8" name="Slide Number Placeholder 6"/>
          <p:cNvSpPr>
            <a:spLocks noGrp="1"/>
          </p:cNvSpPr>
          <p:nvPr>
            <p:ph type="sldNum" sz="quarter" idx="12"/>
          </p:nvPr>
        </p:nvSpPr>
        <p:spPr/>
        <p:txBody>
          <a:bodyPr/>
          <a:lstStyle>
            <a:lvl1pPr>
              <a:defRPr smtClean="0"/>
            </a:lvl1pPr>
          </a:lstStyle>
          <a:p>
            <a:pPr>
              <a:defRPr/>
            </a:pPr>
            <a:fld id="{7DE02B17-5699-45B8-B4D1-8EA16CE9302E}" type="slidenum">
              <a:rPr lang="en-US" altLang="en-US"/>
              <a:pPr>
                <a:defRPr/>
              </a:pPr>
              <a:t>‹#›</a:t>
            </a:fld>
            <a:endParaRPr lang="en-US" altLang="en-US"/>
          </a:p>
        </p:txBody>
      </p:sp>
    </p:spTree>
    <p:extLst>
      <p:ext uri="{BB962C8B-B14F-4D97-AF65-F5344CB8AC3E}">
        <p14:creationId xmlns:p14="http://schemas.microsoft.com/office/powerpoint/2010/main" val="1285348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a:p>
        </p:txBody>
      </p:sp>
      <p:sp>
        <p:nvSpPr>
          <p:cNvPr id="9" name="Date Placeholder 4"/>
          <p:cNvSpPr>
            <a:spLocks noGrp="1"/>
          </p:cNvSpPr>
          <p:nvPr>
            <p:ph type="dt" sz="half" idx="16"/>
          </p:nvPr>
        </p:nvSpPr>
        <p:spPr/>
        <p:txBody>
          <a:bodyPr/>
          <a:lstStyle>
            <a:lvl1pPr>
              <a:defRPr smtClean="0"/>
            </a:lvl1pPr>
          </a:lstStyle>
          <a:p>
            <a:pPr>
              <a:defRPr/>
            </a:pPr>
            <a:endParaRPr lang="en-US" altLang="en-US"/>
          </a:p>
        </p:txBody>
      </p:sp>
      <p:sp>
        <p:nvSpPr>
          <p:cNvPr id="13" name="Footer Placeholder 5"/>
          <p:cNvSpPr>
            <a:spLocks noGrp="1"/>
          </p:cNvSpPr>
          <p:nvPr>
            <p:ph type="ftr" sz="quarter" idx="17"/>
          </p:nvPr>
        </p:nvSpPr>
        <p:spPr/>
        <p:txBody>
          <a:bodyPr/>
          <a:lstStyle>
            <a:lvl1pPr>
              <a:defRPr smtClean="0"/>
            </a:lvl1pPr>
          </a:lstStyle>
          <a:p>
            <a:pPr>
              <a:defRPr/>
            </a:pPr>
            <a:endParaRPr lang="en-US" altLang="en-US"/>
          </a:p>
        </p:txBody>
      </p:sp>
      <p:sp>
        <p:nvSpPr>
          <p:cNvPr id="14" name="Slide Number Placeholder 6"/>
          <p:cNvSpPr>
            <a:spLocks noGrp="1"/>
          </p:cNvSpPr>
          <p:nvPr>
            <p:ph type="sldNum" sz="quarter" idx="18"/>
          </p:nvPr>
        </p:nvSpPr>
        <p:spPr/>
        <p:txBody>
          <a:bodyPr/>
          <a:lstStyle>
            <a:lvl1pPr>
              <a:defRPr smtClean="0"/>
            </a:lvl1pPr>
          </a:lstStyle>
          <a:p>
            <a:pPr>
              <a:defRPr/>
            </a:pPr>
            <a:fld id="{AEFBF743-1353-4BB8-B6AC-B05DC92FF3F2}" type="slidenum">
              <a:rPr lang="en-US" altLang="en-US"/>
              <a:pPr>
                <a:defRPr/>
              </a:pPr>
              <a:t>‹#›</a:t>
            </a:fld>
            <a:endParaRPr lang="en-US" altLang="en-US"/>
          </a:p>
        </p:txBody>
      </p:sp>
    </p:spTree>
    <p:extLst>
      <p:ext uri="{BB962C8B-B14F-4D97-AF65-F5344CB8AC3E}">
        <p14:creationId xmlns:p14="http://schemas.microsoft.com/office/powerpoint/2010/main" val="454823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smtClean="0"/>
            </a:lvl1pPr>
          </a:lstStyle>
          <a:p>
            <a:pPr>
              <a:defRPr/>
            </a:pPr>
            <a:endParaRPr lang="en-US" altLang="en-US"/>
          </a:p>
        </p:txBody>
      </p:sp>
      <p:sp>
        <p:nvSpPr>
          <p:cNvPr id="6" name="Footer Placeholder 4"/>
          <p:cNvSpPr>
            <a:spLocks noGrp="1"/>
          </p:cNvSpPr>
          <p:nvPr>
            <p:ph type="ftr" sz="quarter" idx="11"/>
          </p:nvPr>
        </p:nvSpPr>
        <p:spPr/>
        <p:txBody>
          <a:bodyPr/>
          <a:lstStyle>
            <a:lvl1pPr>
              <a:defRPr smtClean="0"/>
            </a:lvl1pPr>
          </a:lstStyle>
          <a:p>
            <a:pPr>
              <a:defRPr/>
            </a:pPr>
            <a:endParaRPr lang="en-US" altLang="en-US"/>
          </a:p>
        </p:txBody>
      </p:sp>
      <p:sp>
        <p:nvSpPr>
          <p:cNvPr id="7" name="Slide Number Placeholder 5"/>
          <p:cNvSpPr>
            <a:spLocks noGrp="1"/>
          </p:cNvSpPr>
          <p:nvPr>
            <p:ph type="sldNum" sz="quarter" idx="12"/>
          </p:nvPr>
        </p:nvSpPr>
        <p:spPr/>
        <p:txBody>
          <a:bodyPr/>
          <a:lstStyle>
            <a:lvl1pPr>
              <a:defRPr smtClean="0"/>
            </a:lvl1pPr>
          </a:lstStyle>
          <a:p>
            <a:pPr>
              <a:defRPr/>
            </a:pPr>
            <a:fld id="{95EFEC49-5D86-45CC-A0FE-32032AEB382A}" type="slidenum">
              <a:rPr lang="en-US" altLang="en-US"/>
              <a:pPr>
                <a:defRPr/>
              </a:pPr>
              <a:t>‹#›</a:t>
            </a:fld>
            <a:endParaRPr lang="en-US" altLang="en-US"/>
          </a:p>
        </p:txBody>
      </p:sp>
    </p:spTree>
    <p:extLst>
      <p:ext uri="{BB962C8B-B14F-4D97-AF65-F5344CB8AC3E}">
        <p14:creationId xmlns:p14="http://schemas.microsoft.com/office/powerpoint/2010/main" val="21340471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smtClean="0"/>
            </a:lvl1pPr>
          </a:lstStyle>
          <a:p>
            <a:pPr>
              <a:defRPr/>
            </a:pPr>
            <a:endParaRPr lang="en-US" altLang="en-US"/>
          </a:p>
        </p:txBody>
      </p:sp>
      <p:sp>
        <p:nvSpPr>
          <p:cNvPr id="6" name="Footer Placeholder 4"/>
          <p:cNvSpPr>
            <a:spLocks noGrp="1"/>
          </p:cNvSpPr>
          <p:nvPr>
            <p:ph type="ftr" sz="quarter" idx="11"/>
          </p:nvPr>
        </p:nvSpPr>
        <p:spPr/>
        <p:txBody>
          <a:bodyPr/>
          <a:lstStyle>
            <a:lvl1pPr>
              <a:defRPr smtClean="0"/>
            </a:lvl1pPr>
          </a:lstStyle>
          <a:p>
            <a:pPr>
              <a:defRPr/>
            </a:pPr>
            <a:endParaRPr lang="en-US" altLang="en-US"/>
          </a:p>
        </p:txBody>
      </p:sp>
      <p:sp>
        <p:nvSpPr>
          <p:cNvPr id="7" name="Slide Number Placeholder 5"/>
          <p:cNvSpPr>
            <a:spLocks noGrp="1"/>
          </p:cNvSpPr>
          <p:nvPr>
            <p:ph type="sldNum" sz="quarter" idx="12"/>
          </p:nvPr>
        </p:nvSpPr>
        <p:spPr/>
        <p:txBody>
          <a:bodyPr/>
          <a:lstStyle>
            <a:lvl1pPr>
              <a:defRPr smtClean="0"/>
            </a:lvl1pPr>
          </a:lstStyle>
          <a:p>
            <a:pPr>
              <a:defRPr/>
            </a:pPr>
            <a:fld id="{67B56032-7C98-4282-A987-C5F164C65630}" type="slidenum">
              <a:rPr lang="en-US" altLang="en-US"/>
              <a:pPr>
                <a:defRPr/>
              </a:pPr>
              <a:t>‹#›</a:t>
            </a:fld>
            <a:endParaRPr lang="en-US" altLang="en-US"/>
          </a:p>
        </p:txBody>
      </p:sp>
    </p:spTree>
    <p:extLst>
      <p:ext uri="{BB962C8B-B14F-4D97-AF65-F5344CB8AC3E}">
        <p14:creationId xmlns:p14="http://schemas.microsoft.com/office/powerpoint/2010/main" val="1018742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smtClean="0"/>
            </a:lvl1pPr>
          </a:lstStyle>
          <a:p>
            <a:pPr>
              <a:defRPr/>
            </a:pPr>
            <a:fld id="{EBC81B06-744C-4D32-A9C6-25743DCABC6F}" type="slidenum">
              <a:rPr lang="en-US" altLang="en-US"/>
              <a:pPr>
                <a:defRPr/>
              </a:pPr>
              <a:t>‹#›</a:t>
            </a:fld>
            <a:endParaRPr lang="en-US" altLang="en-US"/>
          </a:p>
        </p:txBody>
      </p:sp>
    </p:spTree>
    <p:extLst>
      <p:ext uri="{BB962C8B-B14F-4D97-AF65-F5344CB8AC3E}">
        <p14:creationId xmlns:p14="http://schemas.microsoft.com/office/powerpoint/2010/main" val="35977937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smtClean="0"/>
            </a:lvl1pPr>
          </a:lstStyle>
          <a:p>
            <a:pPr>
              <a:defRPr/>
            </a:pPr>
            <a:fld id="{054A5166-F641-423A-AA63-D55954610C19}" type="slidenum">
              <a:rPr lang="en-US" altLang="en-US"/>
              <a:pPr>
                <a:defRPr/>
              </a:pPr>
              <a:t>‹#›</a:t>
            </a:fld>
            <a:endParaRPr lang="en-US" altLang="en-US"/>
          </a:p>
        </p:txBody>
      </p:sp>
    </p:spTree>
    <p:extLst>
      <p:ext uri="{BB962C8B-B14F-4D97-AF65-F5344CB8AC3E}">
        <p14:creationId xmlns:p14="http://schemas.microsoft.com/office/powerpoint/2010/main" val="3552366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half" idx="1"/>
          </p:nvPr>
        </p:nvSpPr>
        <p:spPr>
          <a:xfrm>
            <a:off x="457200" y="1143000"/>
            <a:ext cx="40386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8292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28600"/>
            <a:ext cx="8229600" cy="762000"/>
          </a:xfrm>
        </p:spPr>
        <p:txBody>
          <a:bodyPr/>
          <a:lstStyle/>
          <a:p>
            <a:r>
              <a:rPr lang="en-US"/>
              <a:t>Click to edit Master title style</a:t>
            </a:r>
          </a:p>
        </p:txBody>
      </p:sp>
      <p:sp>
        <p:nvSpPr>
          <p:cNvPr id="3" name="Content Placeholder 2"/>
          <p:cNvSpPr>
            <a:spLocks noGrp="1"/>
          </p:cNvSpPr>
          <p:nvPr>
            <p:ph sz="quarter" idx="1"/>
          </p:nvPr>
        </p:nvSpPr>
        <p:spPr>
          <a:xfrm>
            <a:off x="457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1430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62400"/>
            <a:ext cx="40386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983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b="1" smtClean="0">
                <a:solidFill>
                  <a:srgbClr val="60B9EC"/>
                </a:solidFill>
              </a:defRPr>
            </a:lvl1pPr>
          </a:lstStyle>
          <a:p>
            <a:pPr>
              <a:defRPr/>
            </a:pPr>
            <a:endParaRPr lang="en-US" alt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100" b="1" smtClean="0">
                <a:solidFill>
                  <a:srgbClr val="60B9EC"/>
                </a:solidFill>
              </a:defRPr>
            </a:lvl1pPr>
          </a:lstStyle>
          <a:p>
            <a:pPr>
              <a:defRPr/>
            </a:pPr>
            <a:endParaRPr lang="en-US" alt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smtClean="0">
                <a:solidFill>
                  <a:schemeClr val="bg1"/>
                </a:solidFill>
              </a:defRPr>
            </a:lvl1pPr>
          </a:lstStyle>
          <a:p>
            <a:pPr>
              <a:defRPr/>
            </a:pPr>
            <a:fld id="{0832F903-B7E3-45E0-A78D-ACD827AD6D3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353" r:id="rId1"/>
    <p:sldLayoutId id="2147485354" r:id="rId2"/>
    <p:sldLayoutId id="2147485355" r:id="rId3"/>
    <p:sldLayoutId id="2147485356" r:id="rId4"/>
    <p:sldLayoutId id="2147485357" r:id="rId5"/>
    <p:sldLayoutId id="2147485358" r:id="rId6"/>
    <p:sldLayoutId id="2147485359" r:id="rId7"/>
    <p:sldLayoutId id="2147485360" r:id="rId8"/>
    <p:sldLayoutId id="2147485361" r:id="rId9"/>
    <p:sldLayoutId id="2147485362" r:id="rId10"/>
    <p:sldLayoutId id="2147485363" r:id="rId11"/>
    <p:sldLayoutId id="2147485364" r:id="rId12"/>
    <p:sldLayoutId id="2147485365" r:id="rId13"/>
    <p:sldLayoutId id="2147485366" r:id="rId14"/>
    <p:sldLayoutId id="2147485367" r:id="rId15"/>
    <p:sldLayoutId id="2147485368" r:id="rId16"/>
    <p:sldLayoutId id="2147485369" r:id="rId17"/>
    <p:sldLayoutId id="2147485370" r:id="rId18"/>
    <p:sldLayoutId id="2147485371" r:id="rId19"/>
    <p:sldLayoutId id="2147485372" r:id="rId20"/>
    <p:sldLayoutId id="2147485373" r:id="rId21"/>
    <p:sldLayoutId id="2147485374" r:id="rId22"/>
    <p:sldLayoutId id="2147485375" r:id="rId23"/>
  </p:sldLayoutIdLst>
  <p:hf hdr="0" ftr="0" dt="0"/>
  <p:txStyles>
    <p:titleStyle>
      <a:lvl1pPr algn="l" rtl="0" eaLnBrk="0" fontAlgn="base" hangingPunct="0">
        <a:spcBef>
          <a:spcPct val="0"/>
        </a:spcBef>
        <a:spcAft>
          <a:spcPct val="0"/>
        </a:spcAft>
        <a:defRPr sz="3600" kern="1200">
          <a:solidFill>
            <a:schemeClr val="accent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notesSlide" Target="../notesSlides/notesSlide6.xml"/><Relationship Id="rId7"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9.wmf"/><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8.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9.bin"/><Relationship Id="rId3" Type="http://schemas.openxmlformats.org/officeDocument/2006/relationships/notesSlide" Target="../notesSlides/notesSlide9.xml"/><Relationship Id="rId7" Type="http://schemas.openxmlformats.org/officeDocument/2006/relationships/oleObject" Target="../embeddings/oleObject7.bin"/><Relationship Id="rId12" Type="http://schemas.openxmlformats.org/officeDocument/2006/relationships/image" Target="../media/image16.png"/><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image" Target="../media/image14.png"/><Relationship Id="rId11" Type="http://schemas.openxmlformats.org/officeDocument/2006/relationships/image" Target="../media/image12.wmf"/><Relationship Id="rId5" Type="http://schemas.openxmlformats.org/officeDocument/2006/relationships/image" Target="../media/image10.wmf"/><Relationship Id="rId10" Type="http://schemas.openxmlformats.org/officeDocument/2006/relationships/oleObject" Target="../embeddings/oleObject8.bin"/><Relationship Id="rId4" Type="http://schemas.openxmlformats.org/officeDocument/2006/relationships/oleObject" Target="../embeddings/oleObject6.bin"/><Relationship Id="rId9" Type="http://schemas.openxmlformats.org/officeDocument/2006/relationships/image" Target="../media/image15.png"/><Relationship Id="rId1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17.wmf"/><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4.png"/><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23.wmf"/><Relationship Id="rId5" Type="http://schemas.openxmlformats.org/officeDocument/2006/relationships/oleObject" Target="../embeddings/oleObject11.bin"/><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image" Target="../media/image26.jpeg"/><Relationship Id="rId5" Type="http://schemas.openxmlformats.org/officeDocument/2006/relationships/image" Target="../media/image25.wmf"/><Relationship Id="rId4"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image" Target="../media/image28.jpeg"/><Relationship Id="rId5" Type="http://schemas.openxmlformats.org/officeDocument/2006/relationships/image" Target="../media/image27.wmf"/><Relationship Id="rId4" Type="http://schemas.openxmlformats.org/officeDocument/2006/relationships/oleObject" Target="../embeddings/oleObject13.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vmlDrawing" Target="../drawings/vmlDrawing9.vml"/><Relationship Id="rId6" Type="http://schemas.openxmlformats.org/officeDocument/2006/relationships/image" Target="../media/image30.wmf"/><Relationship Id="rId5" Type="http://schemas.openxmlformats.org/officeDocument/2006/relationships/oleObject" Target="../embeddings/oleObject14.bin"/><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vmlDrawing" Target="../drawings/vmlDrawing10.vml"/><Relationship Id="rId5" Type="http://schemas.openxmlformats.org/officeDocument/2006/relationships/image" Target="../media/image31.wmf"/><Relationship Id="rId4"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vmlDrawing" Target="../drawings/vmlDrawing11.vml"/><Relationship Id="rId5" Type="http://schemas.openxmlformats.org/officeDocument/2006/relationships/image" Target="../media/image32.wmf"/><Relationship Id="rId4" Type="http://schemas.openxmlformats.org/officeDocument/2006/relationships/oleObject" Target="../embeddings/oleObject16.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vmlDrawing" Target="../drawings/vmlDrawing12.vml"/><Relationship Id="rId5" Type="http://schemas.openxmlformats.org/officeDocument/2006/relationships/image" Target="../media/image33.wmf"/><Relationship Id="rId4" Type="http://schemas.openxmlformats.org/officeDocument/2006/relationships/oleObject" Target="../embeddings/oleObject17.bin"/></Relationships>
</file>

<file path=ppt/slides/_rels/slide30.xml.rels><?xml version="1.0" encoding="UTF-8" standalone="yes"?>
<Relationships xmlns="http://schemas.openxmlformats.org/package/2006/relationships"><Relationship Id="rId8" Type="http://schemas.openxmlformats.org/officeDocument/2006/relationships/image" Target="../media/image35.wmf"/><Relationship Id="rId13" Type="http://schemas.openxmlformats.org/officeDocument/2006/relationships/oleObject" Target="../embeddings/oleObject21.bin"/><Relationship Id="rId3" Type="http://schemas.openxmlformats.org/officeDocument/2006/relationships/notesSlide" Target="../notesSlides/notesSlide23.xml"/><Relationship Id="rId7" Type="http://schemas.openxmlformats.org/officeDocument/2006/relationships/oleObject" Target="../embeddings/oleObject19.bin"/><Relationship Id="rId12" Type="http://schemas.openxmlformats.org/officeDocument/2006/relationships/image" Target="../media/image40.png"/><Relationship Id="rId2" Type="http://schemas.openxmlformats.org/officeDocument/2006/relationships/slideLayout" Target="../slideLayouts/slideLayout12.xml"/><Relationship Id="rId1" Type="http://schemas.openxmlformats.org/officeDocument/2006/relationships/vmlDrawing" Target="../drawings/vmlDrawing13.vml"/><Relationship Id="rId6" Type="http://schemas.openxmlformats.org/officeDocument/2006/relationships/image" Target="../media/image38.png"/><Relationship Id="rId11" Type="http://schemas.openxmlformats.org/officeDocument/2006/relationships/image" Target="../media/image36.wmf"/><Relationship Id="rId5" Type="http://schemas.openxmlformats.org/officeDocument/2006/relationships/image" Target="../media/image34.wmf"/><Relationship Id="rId10" Type="http://schemas.openxmlformats.org/officeDocument/2006/relationships/oleObject" Target="../embeddings/oleObject20.bin"/><Relationship Id="rId4" Type="http://schemas.openxmlformats.org/officeDocument/2006/relationships/oleObject" Target="../embeddings/oleObject18.bin"/><Relationship Id="rId9" Type="http://schemas.openxmlformats.org/officeDocument/2006/relationships/image" Target="../media/image39.png"/><Relationship Id="rId14" Type="http://schemas.openxmlformats.org/officeDocument/2006/relationships/image" Target="../media/image37.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10</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solidFill>
                  <a:schemeClr val="tx1"/>
                </a:solidFill>
                <a:effectLst/>
                <a:latin typeface="Arial" pitchFamily="34" charset="0"/>
                <a:ea typeface="ヒラギノ角ゴ Pro W3" pitchFamily="-84" charset="-128"/>
                <a:cs typeface="Arial" pitchFamily="34" charset="0"/>
              </a:rPr>
              <a:t>Inference for Regression</a:t>
            </a:r>
            <a:br>
              <a:rPr lang="en-US" sz="3000" b="0" dirty="0">
                <a:solidFill>
                  <a:schemeClr val="tx1"/>
                </a:solidFill>
                <a:effectLst/>
                <a:latin typeface="Arial" pitchFamily="34" charset="0"/>
                <a:ea typeface="ヒラギノ角ゴ Pro W3" pitchFamily="-84" charset="-128"/>
                <a:cs typeface="Arial" pitchFamily="34" charset="0"/>
              </a:rPr>
            </a:br>
            <a:br>
              <a:rPr lang="en-US" sz="3000" b="0" dirty="0">
                <a:effectLst/>
                <a:ea typeface="ヒラギノ角ゴ Pro W3" pitchFamily="-84" charset="-128"/>
              </a:rPr>
            </a:br>
            <a:r>
              <a:rPr lang="en-US" sz="3000" b="0" dirty="0">
                <a:effectLst/>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br>
              <a:rPr lang="en-US" sz="4000" dirty="0">
                <a:latin typeface="Garamond"/>
                <a:ea typeface="Garamond"/>
                <a:cs typeface="Garamond"/>
                <a:sym typeface="Garamond"/>
              </a:rPr>
            </a:b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4577"/>
            <a:ext cx="6508750" cy="1143000"/>
          </a:xfrm>
        </p:spPr>
        <p:txBody>
          <a:bodyPr/>
          <a:lstStyle/>
          <a:p>
            <a:r>
              <a:rPr lang="en-US" altLang="en-US" b="1" dirty="0"/>
              <a:t>Chapter 10</a:t>
            </a:r>
            <a:br>
              <a:rPr lang="en-US" altLang="en-US" b="1" dirty="0"/>
            </a:br>
            <a:r>
              <a:rPr lang="en-US" altLang="en-US" b="1" dirty="0"/>
              <a:t>Inference for Regression</a:t>
            </a:r>
            <a:endParaRPr lang="en-US" b="1" dirty="0"/>
          </a:p>
        </p:txBody>
      </p:sp>
      <p:sp>
        <p:nvSpPr>
          <p:cNvPr id="4" name="Content Placeholder 3"/>
          <p:cNvSpPr>
            <a:spLocks noGrp="1"/>
          </p:cNvSpPr>
          <p:nvPr>
            <p:ph idx="1"/>
          </p:nvPr>
        </p:nvSpPr>
        <p:spPr>
          <a:xfrm>
            <a:off x="457200" y="2170165"/>
            <a:ext cx="8559800" cy="1697298"/>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10.1 Simple Linear Regression</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10.2 More Detail about Simple Linear Regression</a:t>
            </a:r>
          </a:p>
        </p:txBody>
      </p:sp>
      <p:sp>
        <p:nvSpPr>
          <p:cNvPr id="2662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A9A4B4B2-D3BA-4E0C-96FA-C7B79C282055}" type="slidenum">
              <a:rPr lang="en-US" altLang="en-US" sz="1400">
                <a:solidFill>
                  <a:schemeClr val="accent1"/>
                </a:solidFill>
              </a:rPr>
              <a:pPr/>
              <a:t>2</a:t>
            </a:fld>
            <a:endParaRPr lang="en-US" altLang="en-US" sz="140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p:cNvSpPr>
            <a:spLocks noGrp="1"/>
          </p:cNvSpPr>
          <p:nvPr>
            <p:ph type="title"/>
          </p:nvPr>
        </p:nvSpPr>
        <p:spPr/>
        <p:txBody>
          <a:bodyPr anchor="t"/>
          <a:lstStyle/>
          <a:p>
            <a:pPr eaLnBrk="1" hangingPunct="1"/>
            <a:r>
              <a:rPr lang="en-US" altLang="en-US" b="1">
                <a:ea typeface="ＭＳ Ｐゴシック" pitchFamily="34" charset="-128"/>
              </a:rPr>
              <a:t>10.1 Simple Linear Regression</a:t>
            </a:r>
          </a:p>
        </p:txBody>
      </p:sp>
      <p:sp>
        <p:nvSpPr>
          <p:cNvPr id="27651" name="Text Placeholder 3"/>
          <p:cNvSpPr>
            <a:spLocks noGrp="1"/>
          </p:cNvSpPr>
          <p:nvPr>
            <p:ph idx="1"/>
          </p:nvPr>
        </p:nvSpPr>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Statistical model for linear regression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Simple linear regression model</a:t>
            </a:r>
          </a:p>
          <a:p>
            <a:pPr eaLnBrk="1" hangingPunct="1">
              <a:buSzPct val="110000"/>
              <a:buFont typeface="Wingdings" pitchFamily="2" charset="2"/>
              <a:buChar char="§"/>
            </a:pPr>
            <a:r>
              <a:rPr lang="en-US" altLang="en-US" sz="2400" dirty="0">
                <a:solidFill>
                  <a:schemeClr val="accent1"/>
                </a:solidFill>
                <a:ea typeface="ＭＳ Ｐゴシック" pitchFamily="34" charset="-128"/>
              </a:rPr>
              <a:t>Estimating the regression parameters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Confidence intervals and significance tests</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Confidence interval for mean response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Prediction interval</a:t>
            </a:r>
          </a:p>
          <a:p>
            <a:pPr eaLnBrk="1" hangingPunct="1">
              <a:buSzPct val="110000"/>
              <a:buFont typeface="Wingdings" pitchFamily="2" charset="2"/>
              <a:buChar char="§"/>
            </a:pPr>
            <a:endParaRPr lang="en-US" altLang="en-US" sz="2400" dirty="0">
              <a:solidFill>
                <a:schemeClr val="accent1"/>
              </a:solidFill>
              <a:ea typeface="ＭＳ Ｐゴシック" pitchFamily="34" charset="-128"/>
            </a:endParaRPr>
          </a:p>
          <a:p>
            <a:pPr eaLnBrk="1" hangingPunct="1">
              <a:buSzPct val="110000"/>
              <a:buFont typeface="Wingdings" pitchFamily="2" charset="2"/>
              <a:buChar char="§"/>
            </a:pPr>
            <a:endParaRPr lang="en-US" altLang="en-US" sz="2400" dirty="0">
              <a:solidFill>
                <a:schemeClr val="accent1"/>
              </a:solidFill>
              <a:ea typeface="ＭＳ Ｐゴシック" pitchFamily="34" charset="-128"/>
            </a:endParaRPr>
          </a:p>
          <a:p>
            <a:pPr eaLnBrk="1" hangingPunct="1">
              <a:buSzPct val="110000"/>
              <a:buFont typeface="Wingdings" pitchFamily="2" charset="2"/>
              <a:buChar char="§"/>
            </a:pPr>
            <a:endParaRPr lang="en-US" altLang="en-US" sz="2400" dirty="0">
              <a:solidFill>
                <a:schemeClr val="accent1"/>
              </a:solidFill>
              <a:ea typeface="ＭＳ Ｐゴシック" pitchFamily="34" charset="-128"/>
            </a:endParaRPr>
          </a:p>
        </p:txBody>
      </p:sp>
      <p:sp>
        <p:nvSpPr>
          <p:cNvPr id="27652"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DDB7681A-3E90-4335-913F-1F395A4515E5}" type="slidenum">
              <a:rPr lang="en-US" altLang="en-US" sz="1400">
                <a:solidFill>
                  <a:schemeClr val="accent1"/>
                </a:solidFill>
              </a:rPr>
              <a:pPr/>
              <a:t>3</a:t>
            </a:fld>
            <a:endParaRPr lang="en-US" altLang="en-US" sz="1400">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itchFamily="34" charset="-128"/>
              </a:rPr>
              <a:t>Simple Linear Regression Introduction 1</a:t>
            </a:r>
          </a:p>
        </p:txBody>
      </p:sp>
      <p:sp>
        <p:nvSpPr>
          <p:cNvPr id="286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B04D1E6C-0E8A-4BDA-BB06-815117B3B487}" type="slidenum">
              <a:rPr lang="en-US" altLang="en-US" sz="1200">
                <a:solidFill>
                  <a:schemeClr val="accent1"/>
                </a:solidFill>
              </a:rPr>
              <a:pPr>
                <a:lnSpc>
                  <a:spcPct val="80000"/>
                </a:lnSpc>
              </a:pPr>
              <a:t>4</a:t>
            </a:fld>
            <a:endParaRPr lang="en-US" altLang="en-US" sz="1200">
              <a:solidFill>
                <a:schemeClr val="accent1"/>
              </a:solidFill>
            </a:endParaRPr>
          </a:p>
        </p:txBody>
      </p:sp>
      <p:sp>
        <p:nvSpPr>
          <p:cNvPr id="28676" name="Rectangle 1"/>
          <p:cNvSpPr>
            <a:spLocks noChangeArrowheads="1"/>
          </p:cNvSpPr>
          <p:nvPr/>
        </p:nvSpPr>
        <p:spPr bwMode="auto">
          <a:xfrm>
            <a:off x="206375" y="1447791"/>
            <a:ext cx="85566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buFont typeface="Wingdings" pitchFamily="2" charset="2"/>
              <a:buNone/>
            </a:pPr>
            <a:r>
              <a:rPr lang="en-US" altLang="en-US" sz="2000" dirty="0">
                <a:solidFill>
                  <a:srgbClr val="000000"/>
                </a:solidFill>
              </a:rPr>
              <a:t>When a scatterplot shows a linear relationship between a quantitative explanatory variable </a:t>
            </a:r>
            <a:r>
              <a:rPr lang="en-US" altLang="en-US" sz="2000" i="1" dirty="0">
                <a:solidFill>
                  <a:srgbClr val="000000"/>
                </a:solidFill>
              </a:rPr>
              <a:t>x </a:t>
            </a:r>
            <a:r>
              <a:rPr lang="en-US" altLang="en-US" sz="2000" dirty="0">
                <a:solidFill>
                  <a:srgbClr val="000000"/>
                </a:solidFill>
              </a:rPr>
              <a:t>and a quantitative response variable </a:t>
            </a:r>
            <a:r>
              <a:rPr lang="en-US" altLang="en-US" sz="2000" i="1" dirty="0">
                <a:solidFill>
                  <a:srgbClr val="000000"/>
                </a:solidFill>
              </a:rPr>
              <a:t>y</a:t>
            </a:r>
            <a:r>
              <a:rPr lang="en-US" altLang="en-US" sz="2000" dirty="0">
                <a:solidFill>
                  <a:srgbClr val="000000"/>
                </a:solidFill>
              </a:rPr>
              <a:t>, we can use the least-squares line fitted to the data to predict </a:t>
            </a:r>
            <a:r>
              <a:rPr lang="en-US" altLang="en-US" sz="2000" i="1" dirty="0">
                <a:solidFill>
                  <a:srgbClr val="000000"/>
                </a:solidFill>
              </a:rPr>
              <a:t>y </a:t>
            </a:r>
            <a:r>
              <a:rPr lang="en-US" altLang="en-US" sz="2000" dirty="0">
                <a:solidFill>
                  <a:srgbClr val="000000"/>
                </a:solidFill>
              </a:rPr>
              <a:t>for a given value of </a:t>
            </a:r>
            <a:r>
              <a:rPr lang="en-US" altLang="en-US" sz="2000" i="1" dirty="0">
                <a:solidFill>
                  <a:srgbClr val="000000"/>
                </a:solidFill>
              </a:rPr>
              <a:t>x</a:t>
            </a:r>
            <a:r>
              <a:rPr lang="en-US" altLang="en-US" sz="2000" dirty="0">
                <a:solidFill>
                  <a:srgbClr val="000000"/>
                </a:solidFill>
              </a:rPr>
              <a:t>. If the data are a random sample from a larger population, we need statistical inference to answer questions like these:</a:t>
            </a:r>
          </a:p>
        </p:txBody>
      </p:sp>
      <p:sp>
        <p:nvSpPr>
          <p:cNvPr id="6" name="Rectangle 5"/>
          <p:cNvSpPr>
            <a:spLocks noChangeArrowheads="1"/>
          </p:cNvSpPr>
          <p:nvPr/>
        </p:nvSpPr>
        <p:spPr bwMode="auto">
          <a:xfrm>
            <a:off x="206375" y="3205759"/>
            <a:ext cx="8556625"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eaLnBrk="1" hangingPunct="1">
              <a:buClr>
                <a:srgbClr val="DF584A"/>
              </a:buClr>
              <a:buFont typeface="Wingdings" pitchFamily="2" charset="2"/>
              <a:buChar char="ü"/>
            </a:pPr>
            <a:r>
              <a:rPr lang="en-US" altLang="en-US" sz="2000" dirty="0">
                <a:solidFill>
                  <a:srgbClr val="000000"/>
                </a:solidFill>
              </a:rPr>
              <a:t>Is there really a linear relationship between </a:t>
            </a:r>
            <a:r>
              <a:rPr lang="en-US" altLang="en-US" sz="2000" i="1" dirty="0">
                <a:solidFill>
                  <a:srgbClr val="000000"/>
                </a:solidFill>
              </a:rPr>
              <a:t>x </a:t>
            </a:r>
            <a:r>
              <a:rPr lang="en-US" altLang="en-US" sz="2000" dirty="0">
                <a:solidFill>
                  <a:srgbClr val="000000"/>
                </a:solidFill>
              </a:rPr>
              <a:t>and </a:t>
            </a:r>
            <a:r>
              <a:rPr lang="en-US" altLang="en-US" sz="2000" i="1" dirty="0">
                <a:solidFill>
                  <a:srgbClr val="000000"/>
                </a:solidFill>
              </a:rPr>
              <a:t>y </a:t>
            </a:r>
            <a:r>
              <a:rPr lang="en-US" altLang="en-US" sz="2000" dirty="0">
                <a:solidFill>
                  <a:srgbClr val="000000"/>
                </a:solidFill>
              </a:rPr>
              <a:t>in the population, or could the pattern we see in the scatterplot plausibly happen just by chance?</a:t>
            </a:r>
          </a:p>
          <a:p>
            <a:pPr marL="342900" indent="-342900" algn="just" eaLnBrk="1" hangingPunct="1">
              <a:buClr>
                <a:srgbClr val="DF584A"/>
              </a:buClr>
              <a:buFont typeface="Wingdings" pitchFamily="2" charset="2"/>
              <a:buChar char="ü"/>
            </a:pPr>
            <a:endParaRPr lang="en-US" altLang="en-US" sz="2000" dirty="0">
              <a:solidFill>
                <a:srgbClr val="000000"/>
              </a:solidFill>
            </a:endParaRPr>
          </a:p>
          <a:p>
            <a:pPr marL="342900" indent="-342900" algn="just" eaLnBrk="1" hangingPunct="1">
              <a:buClr>
                <a:srgbClr val="DF584A"/>
              </a:buClr>
              <a:buFont typeface="Wingdings" pitchFamily="2" charset="2"/>
              <a:buChar char="ü"/>
            </a:pPr>
            <a:r>
              <a:rPr lang="en-US" altLang="en-US" sz="2000" dirty="0">
                <a:solidFill>
                  <a:srgbClr val="000000"/>
                </a:solidFill>
              </a:rPr>
              <a:t>What is the slope (rate of change) that relates </a:t>
            </a:r>
            <a:r>
              <a:rPr lang="en-US" altLang="en-US" sz="2000" i="1" dirty="0">
                <a:solidFill>
                  <a:srgbClr val="000000"/>
                </a:solidFill>
              </a:rPr>
              <a:t>y</a:t>
            </a:r>
            <a:r>
              <a:rPr lang="en-US" altLang="en-US" sz="2000" dirty="0">
                <a:solidFill>
                  <a:srgbClr val="000000"/>
                </a:solidFill>
              </a:rPr>
              <a:t> to </a:t>
            </a:r>
            <a:r>
              <a:rPr lang="en-US" altLang="en-US" sz="2000" i="1" dirty="0">
                <a:solidFill>
                  <a:srgbClr val="000000"/>
                </a:solidFill>
              </a:rPr>
              <a:t>x</a:t>
            </a:r>
            <a:r>
              <a:rPr lang="en-US" altLang="en-US" sz="2000" dirty="0">
                <a:solidFill>
                  <a:srgbClr val="000000"/>
                </a:solidFill>
              </a:rPr>
              <a:t> in the population, including a margin of error for our estimate of the slope?</a:t>
            </a:r>
          </a:p>
          <a:p>
            <a:pPr marL="342900" indent="-342900" algn="just" eaLnBrk="1" hangingPunct="1">
              <a:buClr>
                <a:srgbClr val="DF584A"/>
              </a:buClr>
              <a:buFont typeface="Wingdings" pitchFamily="2" charset="2"/>
              <a:buChar char="ü"/>
            </a:pPr>
            <a:endParaRPr lang="en-US" altLang="en-US" sz="2000" dirty="0">
              <a:solidFill>
                <a:srgbClr val="000000"/>
              </a:solidFill>
            </a:endParaRPr>
          </a:p>
          <a:p>
            <a:pPr marL="342900" indent="-342900" algn="just" eaLnBrk="1" hangingPunct="1">
              <a:buClr>
                <a:srgbClr val="DF584A"/>
              </a:buClr>
              <a:buFont typeface="Wingdings" pitchFamily="2" charset="2"/>
              <a:buChar char="ü"/>
            </a:pPr>
            <a:r>
              <a:rPr lang="en-US" altLang="en-US" sz="2000" dirty="0">
                <a:solidFill>
                  <a:srgbClr val="000000"/>
                </a:solidFill>
              </a:rPr>
              <a:t>If we use the least-squares regression line to predict </a:t>
            </a:r>
            <a:r>
              <a:rPr lang="en-US" altLang="en-US" sz="2000" i="1" dirty="0">
                <a:solidFill>
                  <a:srgbClr val="000000"/>
                </a:solidFill>
              </a:rPr>
              <a:t>y</a:t>
            </a:r>
            <a:r>
              <a:rPr lang="en-US" altLang="en-US" sz="2000" dirty="0">
                <a:solidFill>
                  <a:srgbClr val="000000"/>
                </a:solidFill>
              </a:rPr>
              <a:t> for a given value of </a:t>
            </a:r>
            <a:r>
              <a:rPr lang="en-US" altLang="en-US" sz="2000" i="1" dirty="0">
                <a:solidFill>
                  <a:srgbClr val="000000"/>
                </a:solidFill>
              </a:rPr>
              <a:t>x</a:t>
            </a:r>
            <a:r>
              <a:rPr lang="en-US" altLang="en-US" sz="2000" dirty="0">
                <a:solidFill>
                  <a:srgbClr val="000000"/>
                </a:solidFill>
              </a:rPr>
              <a:t>, how accurate is our prediction (again, with a margin of error)?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1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174625" y="154305"/>
            <a:ext cx="7772400" cy="1143000"/>
          </a:xfrm>
        </p:spPr>
        <p:txBody>
          <a:bodyPr/>
          <a:lstStyle/>
          <a:p>
            <a:r>
              <a:rPr lang="en-US" altLang="en-US" dirty="0"/>
              <a:t>Simple Linear Regression Introduction 2</a:t>
            </a:r>
            <a:endParaRPr lang="en-US" dirty="0"/>
          </a:p>
        </p:txBody>
      </p:sp>
      <p:sp>
        <p:nvSpPr>
          <p:cNvPr id="296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63B02D6-A543-487A-8EC6-774F994325C5}" type="slidenum">
              <a:rPr lang="en-US" altLang="en-US" sz="1200">
                <a:solidFill>
                  <a:schemeClr val="accent1"/>
                </a:solidFill>
              </a:rPr>
              <a:pPr>
                <a:lnSpc>
                  <a:spcPct val="80000"/>
                </a:lnSpc>
              </a:pPr>
              <a:t>5</a:t>
            </a:fld>
            <a:endParaRPr lang="en-US" altLang="en-US" sz="1200">
              <a:solidFill>
                <a:schemeClr val="accent1"/>
              </a:solidFill>
            </a:endParaRPr>
          </a:p>
        </p:txBody>
      </p:sp>
      <p:sp>
        <p:nvSpPr>
          <p:cNvPr id="29699" name="Rectangle 1"/>
          <p:cNvSpPr>
            <a:spLocks noChangeArrowheads="1"/>
          </p:cNvSpPr>
          <p:nvPr/>
        </p:nvSpPr>
        <p:spPr bwMode="auto">
          <a:xfrm>
            <a:off x="363538" y="1297305"/>
            <a:ext cx="839946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buFont typeface="Wingdings" pitchFamily="2" charset="2"/>
              <a:buNone/>
            </a:pPr>
            <a:r>
              <a:rPr lang="en-US" altLang="en-US" b="1" dirty="0">
                <a:solidFill>
                  <a:srgbClr val="000000"/>
                </a:solidFill>
              </a:rPr>
              <a:t>Example: </a:t>
            </a:r>
            <a:r>
              <a:rPr lang="en-US" altLang="en-US" dirty="0">
                <a:solidFill>
                  <a:srgbClr val="000000"/>
                </a:solidFill>
              </a:rPr>
              <a:t>Researchers have collected data on eruptions of the Old Faithful geyser. Below is a scatterplot of the duration and interval of time until the next eruption for all 222 recorded eruptions in a single month. The least-squares regression line for this population of data has been added to the graph. It has slope 10.36 and </a:t>
            </a:r>
            <a:r>
              <a:rPr lang="en-US" altLang="en-US" i="1" dirty="0">
                <a:solidFill>
                  <a:srgbClr val="000000"/>
                </a:solidFill>
              </a:rPr>
              <a:t>y </a:t>
            </a:r>
            <a:r>
              <a:rPr lang="en-US" altLang="en-US" dirty="0">
                <a:solidFill>
                  <a:srgbClr val="000000"/>
                </a:solidFill>
              </a:rPr>
              <a:t>intercept 33.97. Regarding all 222 eruptions as the population, this line is the </a:t>
            </a:r>
            <a:r>
              <a:rPr lang="en-US" altLang="en-US" b="1" dirty="0"/>
              <a:t>population regression line </a:t>
            </a:r>
            <a:r>
              <a:rPr lang="en-US" altLang="en-US" dirty="0">
                <a:solidFill>
                  <a:srgbClr val="000000"/>
                </a:solidFill>
              </a:rPr>
              <a:t>(or true regression line) because it uses all the observations that month.</a:t>
            </a:r>
            <a:endParaRPr lang="en-US" altLang="en-US" i="1" dirty="0">
              <a:solidFill>
                <a:srgbClr val="000000"/>
              </a:solidFill>
              <a:latin typeface="Palatino" charset="0"/>
            </a:endParaRPr>
          </a:p>
        </p:txBody>
      </p:sp>
      <p:pic>
        <p:nvPicPr>
          <p:cNvPr id="29700" name="Picture 4" descr="&quot;The image on the slide displays a scatter plot. Duration in minutes is labeled on the X-axis and ranges from 1 to 5 in a successive interval of 1 each. Interval in minutes is labeled on the Y-axis ranging from 40 to 100 in a successive interval of 10 each. The scatter plot exhibits positive linear association between explanatory and response variables. At duration between 1 to 3, variables show strong positive correlation. At duration between 3 to 4, variables show weak positive correlation. At duration 4 to 5, variables show strong positive correlation.&#10;&#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3538" y="3380105"/>
            <a:ext cx="4537075"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Rectangle 1"/>
              <p:cNvSpPr/>
              <p:nvPr/>
            </p:nvSpPr>
            <p:spPr>
              <a:xfrm>
                <a:off x="4900613" y="3329305"/>
                <a:ext cx="3862387" cy="2862322"/>
              </a:xfrm>
              <a:prstGeom prst="rect">
                <a:avLst/>
              </a:prstGeom>
            </p:spPr>
            <p:txBody>
              <a:bodyPr wrap="square">
                <a:spAutoFit/>
              </a:bodyPr>
              <a:lstStyle/>
              <a:p>
                <a:pPr algn="just" eaLnBrk="1" hangingPunct="1"/>
                <a:r>
                  <a:rPr lang="en-US" altLang="en-US" dirty="0"/>
                  <a:t>Suppose we take an SRS of 20 eruptions from the population and then calculate the least-squares regression line </a:t>
                </a:r>
                <a14:m>
                  <m:oMath xmlns:m="http://schemas.openxmlformats.org/officeDocument/2006/math">
                    <m:acc>
                      <m:accPr>
                        <m:chr m:val="̂"/>
                        <m:ctrlPr>
                          <a:rPr lang="en-US" altLang="en-US" i="1" smtClean="0">
                            <a:latin typeface="Cambria Math" panose="02040503050406030204" pitchFamily="18" charset="0"/>
                          </a:rPr>
                        </m:ctrlPr>
                      </m:accPr>
                      <m:e>
                        <m:r>
                          <a:rPr lang="en-US" altLang="en-US" b="0" i="1" smtClean="0">
                            <a:latin typeface="Cambria Math"/>
                          </a:rPr>
                          <m:t>𝑦</m:t>
                        </m:r>
                      </m:e>
                    </m:acc>
                    <m:r>
                      <a:rPr lang="en-US" altLang="en-US" b="0" i="1" smtClean="0">
                        <a:latin typeface="Cambria Math"/>
                      </a:rPr>
                      <m:t>=</m:t>
                    </m:r>
                    <m:sSub>
                      <m:sSubPr>
                        <m:ctrlPr>
                          <a:rPr lang="en-US" altLang="en-US" b="0" i="1" smtClean="0">
                            <a:latin typeface="Cambria Math" panose="02040503050406030204" pitchFamily="18" charset="0"/>
                          </a:rPr>
                        </m:ctrlPr>
                      </m:sSubPr>
                      <m:e>
                        <m:r>
                          <a:rPr lang="en-US" altLang="en-US" b="0" i="1" smtClean="0">
                            <a:latin typeface="Cambria Math"/>
                          </a:rPr>
                          <m:t>𝑏</m:t>
                        </m:r>
                      </m:e>
                      <m:sub>
                        <m:r>
                          <a:rPr lang="en-US" altLang="en-US" b="0" i="1" smtClean="0">
                            <a:latin typeface="Cambria Math"/>
                          </a:rPr>
                          <m:t>0</m:t>
                        </m:r>
                      </m:sub>
                    </m:sSub>
                    <m:r>
                      <a:rPr lang="en-US" altLang="en-US" b="0" i="1" smtClean="0">
                        <a:latin typeface="Cambria Math"/>
                      </a:rPr>
                      <m:t>+</m:t>
                    </m:r>
                    <m:sSub>
                      <m:sSubPr>
                        <m:ctrlPr>
                          <a:rPr lang="en-US" altLang="en-US" b="0" i="1" smtClean="0">
                            <a:latin typeface="Cambria Math" panose="02040503050406030204" pitchFamily="18" charset="0"/>
                          </a:rPr>
                        </m:ctrlPr>
                      </m:sSubPr>
                      <m:e>
                        <m:r>
                          <a:rPr lang="en-US" altLang="en-US" b="0" i="1" smtClean="0">
                            <a:latin typeface="Cambria Math"/>
                          </a:rPr>
                          <m:t>𝑏</m:t>
                        </m:r>
                      </m:e>
                      <m:sub>
                        <m:r>
                          <a:rPr lang="en-US" altLang="en-US" b="0" i="1" smtClean="0">
                            <a:latin typeface="Cambria Math"/>
                          </a:rPr>
                          <m:t>1</m:t>
                        </m:r>
                      </m:sub>
                    </m:sSub>
                    <m:r>
                      <a:rPr lang="en-US" altLang="en-US" b="0" i="1" smtClean="0">
                        <a:latin typeface="Cambria Math"/>
                      </a:rPr>
                      <m:t>𝑥</m:t>
                    </m:r>
                    <m:r>
                      <a:rPr lang="en-US" altLang="en-US" b="0" i="1" smtClean="0">
                        <a:latin typeface="Cambria Math"/>
                      </a:rPr>
                      <m:t> </m:t>
                    </m:r>
                  </m:oMath>
                </a14:m>
                <a:r>
                  <a:rPr lang="en-US" altLang="en-US" dirty="0"/>
                  <a:t>for the sample data. How is the slope of the </a:t>
                </a:r>
                <a:r>
                  <a:rPr lang="en-US" altLang="en-US" b="1" dirty="0"/>
                  <a:t>sample regression line</a:t>
                </a:r>
                <a:r>
                  <a:rPr lang="en-US" altLang="en-US" dirty="0"/>
                  <a:t> (which is also called the estimated regression line and the LSRL) related to the slope of the population regression line?</a:t>
                </a:r>
              </a:p>
            </p:txBody>
          </p:sp>
        </mc:Choice>
        <mc:Fallback xmlns="">
          <p:sp>
            <p:nvSpPr>
              <p:cNvPr id="2" name="Rectangle 1"/>
              <p:cNvSpPr>
                <a:spLocks noRot="1" noChangeAspect="1" noMove="1" noResize="1" noEditPoints="1" noAdjustHandles="1" noChangeArrowheads="1" noChangeShapeType="1" noTextEdit="1"/>
              </p:cNvSpPr>
              <p:nvPr/>
            </p:nvSpPr>
            <p:spPr>
              <a:xfrm>
                <a:off x="4900613" y="3329305"/>
                <a:ext cx="3862387" cy="2862322"/>
              </a:xfrm>
              <a:prstGeom prst="rect">
                <a:avLst/>
              </a:prstGeom>
              <a:blipFill rotWithShape="0">
                <a:blip r:embed="rId3"/>
                <a:stretch>
                  <a:fillRect l="-1420" t="-1064" r="-1104" b="-2340"/>
                </a:stretch>
              </a:blipFill>
            </p:spPr>
            <p:txBody>
              <a:bodyPr/>
              <a:lstStyle/>
              <a:p>
                <a:r>
                  <a:rPr lang="en-US">
                    <a:noFill/>
                  </a:rPr>
                  <a:t> </a:t>
                </a:r>
              </a:p>
            </p:txBody>
          </p:sp>
        </mc:Fallback>
      </mc:AlternateContent>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altLang="en-US" dirty="0"/>
              <a:t>Simple Linear Regression Introduction 3</a:t>
            </a:r>
            <a:endParaRPr lang="en-US" dirty="0"/>
          </a:p>
        </p:txBody>
      </p:sp>
      <p:sp>
        <p:nvSpPr>
          <p:cNvPr id="307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ECA29D0-79EE-48CB-A7CD-618C67B21CD2}" type="slidenum">
              <a:rPr lang="en-US" altLang="en-US" sz="1200">
                <a:solidFill>
                  <a:schemeClr val="accent1"/>
                </a:solidFill>
              </a:rPr>
              <a:pPr>
                <a:lnSpc>
                  <a:spcPct val="80000"/>
                </a:lnSpc>
              </a:pPr>
              <a:t>6</a:t>
            </a:fld>
            <a:endParaRPr lang="en-US" altLang="en-US" sz="1200">
              <a:solidFill>
                <a:schemeClr val="accent1"/>
              </a:solidFill>
            </a:endParaRPr>
          </a:p>
        </p:txBody>
      </p:sp>
      <p:sp>
        <p:nvSpPr>
          <p:cNvPr id="30723" name="Rectangle 1"/>
          <p:cNvSpPr>
            <a:spLocks noChangeArrowheads="1"/>
          </p:cNvSpPr>
          <p:nvPr/>
        </p:nvSpPr>
        <p:spPr bwMode="auto">
          <a:xfrm>
            <a:off x="176802" y="1297523"/>
            <a:ext cx="86623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altLang="en-US" sz="1600" dirty="0"/>
              <a:t>The figures below show the results of taking three different SRSs of 20 Old Faithful eruptions in this month. The green points in each graph are the selected points, and the line is the LSRL for that sample of 20.</a:t>
            </a:r>
            <a:endParaRPr lang="en-US" altLang="en-US" sz="1600" b="1" dirty="0"/>
          </a:p>
        </p:txBody>
      </p:sp>
      <p:pic>
        <p:nvPicPr>
          <p:cNvPr id="30724" name="Picture 16" descr="&quot;&#10;The image on the slide displays 3 samples of scatter plots with different values of Y intercepts. Duration in minutes is labeled on the X-axis, ranging from 1 to 5 at successive intervals of 1 each. Interval in minutes is labeled on the Y-axis, ranging from 40 to 100 at successive intervals of 10 each. Sample one scatter plot has y intercept given as : Y-hat is equal to 32.8 plus 10.2 into x. Sample two scatter plot has y intercept given as : Y-hat is equal to 44.0 plus 7.7 into x and Sample three scatter plot has y intercept given as : Y-hat is equal to 36.0 plus 9.5 into x. All these samples show strong positive linear association between explanatory and response variables. At duration between 1 to 3, variables show strong positive correlation. At duration between 3 to 4, variables show weak positive correlation. At duration 4 to 5, variables show strong positive correlation.&#10;&quot;"/>
          <p:cNvPicPr>
            <a:picLocks noChangeAspect="1"/>
          </p:cNvPicPr>
          <p:nvPr/>
        </p:nvPicPr>
        <p:blipFill rotWithShape="1">
          <a:blip r:embed="rId2">
            <a:extLst>
              <a:ext uri="{28A0092B-C50C-407E-A947-70E740481C1C}">
                <a14:useLocalDpi xmlns:a14="http://schemas.microsoft.com/office/drawing/2010/main" val="0"/>
              </a:ext>
            </a:extLst>
          </a:blip>
          <a:srcRect t="-218" b="-218"/>
          <a:stretch/>
        </p:blipFill>
        <p:spPr bwMode="auto">
          <a:xfrm>
            <a:off x="174625" y="2146894"/>
            <a:ext cx="8586198" cy="2356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19" descr="The slide also includes another scatter plot.  Duration in minutes is labeled on the X-axis, ranging from 1 to 5 in a successive interval of 1 each and interval in minutes is labeled on the Y-axis ranging from 40 to 100 in a successive interval of 10 each. Scatter plot shows positive linear association between explanatory and response variables. At duration between 1 to 3, variables show moderate positive correlation. At duration between 3 to 4, variables show weak positive correlation. At duration 4 to 5, variables show moderate positive correlatio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6802" y="4503288"/>
            <a:ext cx="323215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Rectangle 8"/>
          <p:cNvSpPr>
            <a:spLocks noChangeArrowheads="1"/>
          </p:cNvSpPr>
          <p:nvPr/>
        </p:nvSpPr>
        <p:spPr bwMode="auto">
          <a:xfrm>
            <a:off x="3799461" y="4971215"/>
            <a:ext cx="5039739" cy="1400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spcAft>
                <a:spcPts val="600"/>
              </a:spcAft>
            </a:pPr>
            <a:r>
              <a:rPr lang="en-US" altLang="en-US" sz="1600" dirty="0"/>
              <a:t>Notice that the slopes of the sample regression lines―10.2, 7.7, and 9.5―vary quite a bit from the slope of the population regression line, 10.36.</a:t>
            </a:r>
          </a:p>
          <a:p>
            <a:pPr algn="just" eaLnBrk="1" hangingPunct="1">
              <a:spcAft>
                <a:spcPts val="600"/>
              </a:spcAft>
            </a:pPr>
            <a:r>
              <a:rPr lang="en-US" altLang="en-US" sz="1600" dirty="0"/>
              <a:t>The pattern of variation in the slope </a:t>
            </a:r>
            <a:r>
              <a:rPr lang="en-US" altLang="en-US" sz="1600" i="1" dirty="0"/>
              <a:t>b </a:t>
            </a:r>
            <a:r>
              <a:rPr lang="en-US" altLang="en-US" sz="1600" dirty="0"/>
              <a:t>is described by its sampling distribution.</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Conditions for Regression Inference 1</a:t>
            </a:r>
            <a:endParaRPr lang="en-US" sz="3200" dirty="0"/>
          </a:p>
        </p:txBody>
      </p:sp>
      <p:sp>
        <p:nvSpPr>
          <p:cNvPr id="317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28C069D9-D6AE-4E7E-A9A5-1FD5D03DB518}" type="slidenum">
              <a:rPr lang="en-US" altLang="en-US" sz="1200">
                <a:solidFill>
                  <a:schemeClr val="accent1"/>
                </a:solidFill>
              </a:rPr>
              <a:pPr>
                <a:lnSpc>
                  <a:spcPct val="80000"/>
                </a:lnSpc>
              </a:pPr>
              <a:t>7</a:t>
            </a:fld>
            <a:endParaRPr lang="en-US" altLang="en-US" sz="1200">
              <a:solidFill>
                <a:schemeClr val="accent1"/>
              </a:solidFill>
            </a:endParaRPr>
          </a:p>
        </p:txBody>
      </p:sp>
      <p:sp>
        <p:nvSpPr>
          <p:cNvPr id="31747" name="Rectangle 4"/>
          <p:cNvSpPr>
            <a:spLocks noChangeArrowheads="1"/>
          </p:cNvSpPr>
          <p:nvPr/>
        </p:nvSpPr>
        <p:spPr bwMode="auto">
          <a:xfrm>
            <a:off x="174624" y="1024992"/>
            <a:ext cx="854392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spcAft>
                <a:spcPts val="1200"/>
              </a:spcAft>
            </a:pPr>
            <a:r>
              <a:rPr lang="en-US" altLang="en-US" sz="2000" dirty="0"/>
              <a:t>The slope and intercept of the least-squares line are </a:t>
            </a:r>
            <a:r>
              <a:rPr lang="en-US" altLang="en-US" sz="2000" i="1" dirty="0"/>
              <a:t>statistics</a:t>
            </a:r>
            <a:r>
              <a:rPr lang="en-US" altLang="en-US" sz="2000" dirty="0"/>
              <a:t>. That is, we calculate them from the sample data. These statistics would take somewhat different values if we repeated the data production process. To do inference, think of </a:t>
            </a:r>
            <a:r>
              <a:rPr lang="en-US" altLang="en-US" sz="2000" i="1" dirty="0"/>
              <a:t>b</a:t>
            </a:r>
            <a:r>
              <a:rPr lang="en-US" altLang="en-US" sz="2000" baseline="-25000" dirty="0"/>
              <a:t>0</a:t>
            </a:r>
            <a:r>
              <a:rPr lang="en-US" altLang="en-US" sz="2000" i="1" dirty="0"/>
              <a:t> </a:t>
            </a:r>
            <a:r>
              <a:rPr lang="en-US" altLang="en-US" sz="2000" dirty="0"/>
              <a:t>and </a:t>
            </a:r>
            <a:r>
              <a:rPr lang="en-US" altLang="en-US" sz="2000" i="1" dirty="0"/>
              <a:t>b</a:t>
            </a:r>
            <a:r>
              <a:rPr lang="en-US" altLang="en-US" sz="2000" baseline="-25000" dirty="0"/>
              <a:t>1</a:t>
            </a:r>
            <a:r>
              <a:rPr lang="en-US" altLang="en-US" sz="2000" i="1" dirty="0"/>
              <a:t> </a:t>
            </a:r>
            <a:r>
              <a:rPr lang="en-US" altLang="en-US" sz="2000" dirty="0"/>
              <a:t>as estimates of unknown parameters </a:t>
            </a:r>
            <a:r>
              <a:rPr lang="en-US" altLang="en-US" sz="2000" i="1" dirty="0">
                <a:latin typeface="Symbol" pitchFamily="18" charset="2"/>
              </a:rPr>
              <a:t>b</a:t>
            </a:r>
            <a:r>
              <a:rPr lang="en-US" altLang="en-US" sz="2000" baseline="-25000" dirty="0">
                <a:latin typeface="Symbol" pitchFamily="18" charset="2"/>
              </a:rPr>
              <a:t>0</a:t>
            </a:r>
            <a:r>
              <a:rPr lang="en-US" altLang="en-US" sz="2000" dirty="0"/>
              <a:t> and </a:t>
            </a:r>
            <a:r>
              <a:rPr lang="en-US" altLang="en-US" sz="2000" i="1" dirty="0"/>
              <a:t>β</a:t>
            </a:r>
            <a:r>
              <a:rPr lang="en-US" altLang="en-US" sz="2000" baseline="-25000" dirty="0"/>
              <a:t>1</a:t>
            </a:r>
            <a:r>
              <a:rPr lang="en-US" altLang="en-US" sz="2000" i="1" dirty="0"/>
              <a:t> </a:t>
            </a:r>
            <a:r>
              <a:rPr lang="en-US" altLang="en-US" sz="2000" dirty="0"/>
              <a:t>that describe the population of interest.</a:t>
            </a:r>
            <a:endParaRPr lang="en-US" altLang="en-US" sz="2000" b="1" dirty="0"/>
          </a:p>
        </p:txBody>
      </p:sp>
      <p:sp>
        <p:nvSpPr>
          <p:cNvPr id="7" name="TextBox 6"/>
          <p:cNvSpPr txBox="1">
            <a:spLocks noChangeArrowheads="1"/>
          </p:cNvSpPr>
          <p:nvPr/>
        </p:nvSpPr>
        <p:spPr bwMode="auto">
          <a:xfrm>
            <a:off x="1666873" y="2744970"/>
            <a:ext cx="5916613" cy="338137"/>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600" b="1" dirty="0">
                <a:highlight>
                  <a:srgbClr val="FFFF00"/>
                </a:highlight>
                <a:latin typeface="+mn-lt"/>
                <a:ea typeface="ＭＳ Ｐゴシック" pitchFamily="-111" charset="-128"/>
                <a:cs typeface="ＭＳ Ｐゴシック" pitchFamily="-111" charset="-128"/>
              </a:rPr>
              <a:t>Conditions for Regression Inference</a:t>
            </a:r>
          </a:p>
        </p:txBody>
      </p:sp>
      <p:sp>
        <p:nvSpPr>
          <p:cNvPr id="6" name="TextBox 5"/>
          <p:cNvSpPr txBox="1">
            <a:spLocks noChangeArrowheads="1"/>
          </p:cNvSpPr>
          <p:nvPr/>
        </p:nvSpPr>
        <p:spPr bwMode="auto">
          <a:xfrm>
            <a:off x="531812" y="3083107"/>
            <a:ext cx="8186738" cy="368306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ct val="0"/>
              </a:spcBef>
              <a:spcAft>
                <a:spcPts val="1000"/>
              </a:spcAft>
              <a:buClrTx/>
              <a:buSzTx/>
              <a:buFontTx/>
              <a:buNone/>
              <a:defRPr/>
            </a:pPr>
            <a:r>
              <a:rPr lang="en-US" altLang="en-US" dirty="0">
                <a:solidFill>
                  <a:srgbClr val="000000"/>
                </a:solidFill>
              </a:rPr>
              <a:t>We have </a:t>
            </a:r>
            <a:r>
              <a:rPr lang="en-US" altLang="en-US" i="1" dirty="0">
                <a:solidFill>
                  <a:srgbClr val="000000"/>
                </a:solidFill>
              </a:rPr>
              <a:t>n </a:t>
            </a:r>
            <a:r>
              <a:rPr lang="en-US" altLang="en-US" dirty="0">
                <a:solidFill>
                  <a:srgbClr val="000000"/>
                </a:solidFill>
              </a:rPr>
              <a:t>observations on an explanatory variable </a:t>
            </a:r>
            <a:r>
              <a:rPr lang="en-US" altLang="en-US" i="1" dirty="0">
                <a:solidFill>
                  <a:srgbClr val="000000"/>
                </a:solidFill>
              </a:rPr>
              <a:t>x </a:t>
            </a:r>
            <a:r>
              <a:rPr lang="en-US" altLang="en-US" dirty="0">
                <a:solidFill>
                  <a:srgbClr val="000000"/>
                </a:solidFill>
              </a:rPr>
              <a:t>and a response variable </a:t>
            </a:r>
            <a:r>
              <a:rPr lang="en-US" altLang="en-US" i="1" dirty="0">
                <a:solidFill>
                  <a:srgbClr val="000000"/>
                </a:solidFill>
              </a:rPr>
              <a:t>y</a:t>
            </a:r>
            <a:r>
              <a:rPr lang="en-US" altLang="en-US" dirty="0">
                <a:solidFill>
                  <a:srgbClr val="000000"/>
                </a:solidFill>
              </a:rPr>
              <a:t>. Our goal is to study or predict the behavior of </a:t>
            </a:r>
            <a:r>
              <a:rPr lang="en-US" altLang="en-US" i="1" dirty="0">
                <a:solidFill>
                  <a:srgbClr val="000000"/>
                </a:solidFill>
              </a:rPr>
              <a:t>y </a:t>
            </a:r>
            <a:r>
              <a:rPr lang="en-US" altLang="en-US" dirty="0">
                <a:solidFill>
                  <a:srgbClr val="000000"/>
                </a:solidFill>
              </a:rPr>
              <a:t>for given values of </a:t>
            </a:r>
            <a:r>
              <a:rPr lang="en-US" altLang="en-US" i="1" dirty="0">
                <a:solidFill>
                  <a:srgbClr val="000000"/>
                </a:solidFill>
              </a:rPr>
              <a:t>x</a:t>
            </a:r>
            <a:r>
              <a:rPr lang="en-US" altLang="en-US" dirty="0">
                <a:solidFill>
                  <a:srgbClr val="000000"/>
                </a:solidFill>
              </a:rPr>
              <a:t>.</a:t>
            </a:r>
          </a:p>
          <a:p>
            <a:pPr eaLnBrk="1" hangingPunct="1">
              <a:spcBef>
                <a:spcPct val="0"/>
              </a:spcBef>
              <a:spcAft>
                <a:spcPts val="1000"/>
              </a:spcAft>
              <a:buSzTx/>
              <a:buFont typeface="Wingdings" pitchFamily="2" charset="2"/>
              <a:buChar char="§"/>
              <a:defRPr/>
            </a:pPr>
            <a:r>
              <a:rPr lang="en-US" altLang="en-US" dirty="0">
                <a:solidFill>
                  <a:srgbClr val="000000"/>
                </a:solidFill>
              </a:rPr>
              <a:t>For any fixed value of </a:t>
            </a:r>
            <a:r>
              <a:rPr lang="en-US" altLang="en-US" i="1" dirty="0">
                <a:solidFill>
                  <a:srgbClr val="000000"/>
                </a:solidFill>
              </a:rPr>
              <a:t>x</a:t>
            </a:r>
            <a:r>
              <a:rPr lang="en-US" altLang="en-US" dirty="0">
                <a:solidFill>
                  <a:srgbClr val="000000"/>
                </a:solidFill>
              </a:rPr>
              <a:t>, the response </a:t>
            </a:r>
            <a:r>
              <a:rPr lang="en-US" altLang="en-US" i="1" dirty="0">
                <a:solidFill>
                  <a:srgbClr val="000000"/>
                </a:solidFill>
              </a:rPr>
              <a:t>y </a:t>
            </a:r>
            <a:r>
              <a:rPr lang="en-US" altLang="en-US" dirty="0">
                <a:solidFill>
                  <a:srgbClr val="000000"/>
                </a:solidFill>
              </a:rPr>
              <a:t>varies according to a </a:t>
            </a:r>
            <a:r>
              <a:rPr lang="en-US" altLang="en-US" b="1" dirty="0">
                <a:solidFill>
                  <a:srgbClr val="000000"/>
                </a:solidFill>
              </a:rPr>
              <a:t>Normal</a:t>
            </a:r>
            <a:r>
              <a:rPr lang="en-US" altLang="en-US" dirty="0">
                <a:solidFill>
                  <a:srgbClr val="000000"/>
                </a:solidFill>
              </a:rPr>
              <a:t> </a:t>
            </a:r>
            <a:r>
              <a:rPr lang="en-US" altLang="en-US" b="1" dirty="0">
                <a:solidFill>
                  <a:srgbClr val="000000"/>
                </a:solidFill>
              </a:rPr>
              <a:t>distribution.</a:t>
            </a:r>
            <a:r>
              <a:rPr lang="en-US" altLang="en-US" dirty="0">
                <a:solidFill>
                  <a:srgbClr val="000000"/>
                </a:solidFill>
              </a:rPr>
              <a:t> Repeated responses </a:t>
            </a:r>
            <a:r>
              <a:rPr lang="en-US" altLang="en-US" i="1" dirty="0">
                <a:solidFill>
                  <a:srgbClr val="000000"/>
                </a:solidFill>
              </a:rPr>
              <a:t>y</a:t>
            </a:r>
            <a:r>
              <a:rPr lang="en-US" altLang="en-US" dirty="0">
                <a:solidFill>
                  <a:srgbClr val="000000"/>
                </a:solidFill>
              </a:rPr>
              <a:t> are </a:t>
            </a:r>
            <a:r>
              <a:rPr lang="en-US" altLang="en-US" b="1" dirty="0">
                <a:solidFill>
                  <a:srgbClr val="000000"/>
                </a:solidFill>
              </a:rPr>
              <a:t>independent</a:t>
            </a:r>
            <a:r>
              <a:rPr lang="en-US" altLang="en-US" dirty="0">
                <a:solidFill>
                  <a:srgbClr val="000000"/>
                </a:solidFill>
              </a:rPr>
              <a:t> of each other.</a:t>
            </a:r>
          </a:p>
          <a:p>
            <a:pPr eaLnBrk="1" hangingPunct="1">
              <a:spcBef>
                <a:spcPct val="0"/>
              </a:spcBef>
              <a:spcAft>
                <a:spcPts val="1000"/>
              </a:spcAft>
              <a:buSzTx/>
              <a:buFont typeface="Wingdings" pitchFamily="2" charset="2"/>
              <a:buChar char="§"/>
              <a:defRPr/>
            </a:pPr>
            <a:r>
              <a:rPr lang="en-US" altLang="en-US" dirty="0">
                <a:solidFill>
                  <a:srgbClr val="000000"/>
                </a:solidFill>
              </a:rPr>
              <a:t>The mean response </a:t>
            </a:r>
            <a:r>
              <a:rPr lang="en-US" altLang="en-US" i="1" dirty="0">
                <a:solidFill>
                  <a:srgbClr val="000000"/>
                </a:solidFill>
              </a:rPr>
              <a:t>µ</a:t>
            </a:r>
            <a:r>
              <a:rPr lang="en-US" altLang="en-US" i="1" baseline="-25000" dirty="0">
                <a:solidFill>
                  <a:srgbClr val="000000"/>
                </a:solidFill>
              </a:rPr>
              <a:t>y</a:t>
            </a:r>
            <a:r>
              <a:rPr lang="en-US" altLang="en-US" dirty="0">
                <a:solidFill>
                  <a:srgbClr val="000000"/>
                </a:solidFill>
              </a:rPr>
              <a:t> has a </a:t>
            </a:r>
            <a:r>
              <a:rPr lang="en-US" altLang="en-US" b="1" dirty="0">
                <a:solidFill>
                  <a:srgbClr val="000000"/>
                </a:solidFill>
              </a:rPr>
              <a:t>straight-line relationship</a:t>
            </a:r>
            <a:r>
              <a:rPr lang="en-US" altLang="en-US" dirty="0">
                <a:solidFill>
                  <a:srgbClr val="000000"/>
                </a:solidFill>
              </a:rPr>
              <a:t> with </a:t>
            </a:r>
            <a:r>
              <a:rPr lang="en-US" altLang="en-US" i="1" dirty="0">
                <a:solidFill>
                  <a:srgbClr val="000000"/>
                </a:solidFill>
              </a:rPr>
              <a:t>x</a:t>
            </a:r>
            <a:r>
              <a:rPr lang="en-US" altLang="en-US" dirty="0">
                <a:solidFill>
                  <a:srgbClr val="000000"/>
                </a:solidFill>
              </a:rPr>
              <a:t> given by a population regression line </a:t>
            </a:r>
            <a:r>
              <a:rPr lang="en-US" altLang="en-US" i="1" dirty="0">
                <a:solidFill>
                  <a:srgbClr val="000000"/>
                </a:solidFill>
              </a:rPr>
              <a:t>µ</a:t>
            </a:r>
            <a:r>
              <a:rPr lang="en-US" altLang="en-US" i="1" baseline="-25000" dirty="0">
                <a:solidFill>
                  <a:srgbClr val="000000"/>
                </a:solidFill>
              </a:rPr>
              <a:t>y</a:t>
            </a:r>
            <a:r>
              <a:rPr lang="en-US" altLang="en-US" dirty="0">
                <a:solidFill>
                  <a:srgbClr val="000000"/>
                </a:solidFill>
              </a:rPr>
              <a:t>= </a:t>
            </a:r>
            <a:r>
              <a:rPr lang="en-US" altLang="en-US" i="1" dirty="0">
                <a:solidFill>
                  <a:schemeClr val="tx1"/>
                </a:solidFill>
                <a:latin typeface="Symbol" pitchFamily="18" charset="2"/>
              </a:rPr>
              <a:t>b</a:t>
            </a:r>
            <a:r>
              <a:rPr lang="en-US" altLang="en-US" baseline="-25000" dirty="0">
                <a:solidFill>
                  <a:schemeClr val="tx1"/>
                </a:solidFill>
                <a:latin typeface="Symbol" pitchFamily="18" charset="2"/>
              </a:rPr>
              <a:t>0</a:t>
            </a:r>
            <a:r>
              <a:rPr lang="en-US" altLang="en-US" dirty="0">
                <a:solidFill>
                  <a:schemeClr val="tx1"/>
                </a:solidFill>
              </a:rPr>
              <a:t> </a:t>
            </a:r>
            <a:r>
              <a:rPr lang="en-US" altLang="en-US" dirty="0">
                <a:solidFill>
                  <a:srgbClr val="000000"/>
                </a:solidFill>
              </a:rPr>
              <a:t>+ </a:t>
            </a:r>
            <a:r>
              <a:rPr lang="en-US" altLang="en-US" i="1" dirty="0">
                <a:solidFill>
                  <a:srgbClr val="000000"/>
                </a:solidFill>
              </a:rPr>
              <a:t>β</a:t>
            </a:r>
            <a:r>
              <a:rPr lang="en-US" altLang="en-US" baseline="-25000" dirty="0">
                <a:solidFill>
                  <a:srgbClr val="000000"/>
                </a:solidFill>
              </a:rPr>
              <a:t>1</a:t>
            </a:r>
            <a:r>
              <a:rPr lang="en-US" altLang="en-US" i="1" dirty="0">
                <a:solidFill>
                  <a:srgbClr val="000000"/>
                </a:solidFill>
              </a:rPr>
              <a:t>x</a:t>
            </a:r>
            <a:r>
              <a:rPr lang="en-US" altLang="en-US" dirty="0">
                <a:solidFill>
                  <a:srgbClr val="000000"/>
                </a:solidFill>
              </a:rPr>
              <a:t>. </a:t>
            </a:r>
          </a:p>
          <a:p>
            <a:pPr eaLnBrk="1" hangingPunct="1">
              <a:spcBef>
                <a:spcPct val="0"/>
              </a:spcBef>
              <a:spcAft>
                <a:spcPts val="1000"/>
              </a:spcAft>
              <a:buSzTx/>
              <a:buFont typeface="Wingdings" pitchFamily="2" charset="2"/>
              <a:buChar char="§"/>
              <a:defRPr/>
            </a:pPr>
            <a:r>
              <a:rPr lang="en-US" altLang="en-US" dirty="0">
                <a:solidFill>
                  <a:srgbClr val="000000"/>
                </a:solidFill>
              </a:rPr>
              <a:t>The slope</a:t>
            </a:r>
            <a:r>
              <a:rPr lang="en-US" altLang="en-US" i="1" dirty="0">
                <a:solidFill>
                  <a:srgbClr val="000000"/>
                </a:solidFill>
              </a:rPr>
              <a:t> </a:t>
            </a:r>
            <a:r>
              <a:rPr lang="en-US" altLang="en-US" dirty="0">
                <a:solidFill>
                  <a:srgbClr val="000000"/>
                </a:solidFill>
              </a:rPr>
              <a:t>and intercept are unknown parameters.</a:t>
            </a:r>
          </a:p>
          <a:p>
            <a:pPr eaLnBrk="1" hangingPunct="1">
              <a:spcBef>
                <a:spcPct val="0"/>
              </a:spcBef>
              <a:spcAft>
                <a:spcPts val="1000"/>
              </a:spcAft>
              <a:buSzTx/>
              <a:buFont typeface="Wingdings" pitchFamily="2" charset="2"/>
              <a:buChar char="§"/>
              <a:defRPr/>
            </a:pPr>
            <a:r>
              <a:rPr lang="en-US" altLang="en-US" dirty="0">
                <a:solidFill>
                  <a:srgbClr val="000000"/>
                </a:solidFill>
              </a:rPr>
              <a:t>The standard deviation of </a:t>
            </a:r>
            <a:r>
              <a:rPr lang="en-US" altLang="en-US" i="1" dirty="0">
                <a:solidFill>
                  <a:srgbClr val="000000"/>
                </a:solidFill>
              </a:rPr>
              <a:t>y </a:t>
            </a:r>
            <a:r>
              <a:rPr lang="en-US" altLang="en-US" dirty="0">
                <a:solidFill>
                  <a:srgbClr val="000000"/>
                </a:solidFill>
              </a:rPr>
              <a:t>(call it </a:t>
            </a:r>
            <a:r>
              <a:rPr lang="en-US" altLang="en-US" i="1" dirty="0">
                <a:solidFill>
                  <a:srgbClr val="000000"/>
                </a:solidFill>
              </a:rPr>
              <a:t>σ</a:t>
            </a:r>
            <a:r>
              <a:rPr lang="en-US" altLang="en-US" dirty="0">
                <a:solidFill>
                  <a:srgbClr val="000000"/>
                </a:solidFill>
              </a:rPr>
              <a:t>) is the same for all values of </a:t>
            </a:r>
            <a:r>
              <a:rPr lang="en-US" altLang="en-US" i="1" dirty="0">
                <a:solidFill>
                  <a:srgbClr val="000000"/>
                </a:solidFill>
              </a:rPr>
              <a:t>x</a:t>
            </a:r>
            <a:r>
              <a:rPr lang="en-US" altLang="en-US" dirty="0">
                <a:solidFill>
                  <a:srgbClr val="000000"/>
                </a:solidFill>
              </a:rPr>
              <a:t>. The value of </a:t>
            </a:r>
            <a:r>
              <a:rPr lang="en-US" altLang="en-US" i="1" dirty="0">
                <a:solidFill>
                  <a:srgbClr val="000000"/>
                </a:solidFill>
              </a:rPr>
              <a:t>σ </a:t>
            </a:r>
            <a:r>
              <a:rPr lang="en-US" altLang="en-US" dirty="0">
                <a:solidFill>
                  <a:srgbClr val="000000"/>
                </a:solidFill>
              </a:rPr>
              <a:t>is unknown.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1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5"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en-US" altLang="en-US" sz="3200" dirty="0">
                <a:ea typeface="ＭＳ Ｐゴシック" pitchFamily="34" charset="-128"/>
              </a:rPr>
              <a:t>Conditions for Regression Inference 2</a:t>
            </a:r>
            <a:endParaRPr lang="en-US" altLang="en-US" sz="3200" i="1" baseline="-25000" dirty="0">
              <a:ea typeface="ＭＳ Ｐゴシック" pitchFamily="34" charset="-128"/>
            </a:endParaRPr>
          </a:p>
        </p:txBody>
      </p:sp>
      <p:sp>
        <p:nvSpPr>
          <p:cNvPr id="3277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7916A56-9C80-46D5-A050-04E6B71D89A5}" type="slidenum">
              <a:rPr lang="en-US" altLang="en-US" sz="1200">
                <a:solidFill>
                  <a:schemeClr val="accent1"/>
                </a:solidFill>
              </a:rPr>
              <a:pPr>
                <a:lnSpc>
                  <a:spcPct val="80000"/>
                </a:lnSpc>
              </a:pPr>
              <a:t>8</a:t>
            </a:fld>
            <a:endParaRPr lang="en-US" altLang="en-US" sz="1200">
              <a:solidFill>
                <a:schemeClr val="accent1"/>
              </a:solidFill>
            </a:endParaRPr>
          </a:p>
        </p:txBody>
      </p:sp>
      <p:sp>
        <p:nvSpPr>
          <p:cNvPr id="32773" name="Rectangle 4"/>
          <p:cNvSpPr>
            <a:spLocks noChangeArrowheads="1"/>
          </p:cNvSpPr>
          <p:nvPr/>
        </p:nvSpPr>
        <p:spPr bwMode="auto">
          <a:xfrm>
            <a:off x="322262" y="1185862"/>
            <a:ext cx="8440738" cy="706438"/>
          </a:xfrm>
          <a:prstGeom prst="rect">
            <a:avLst/>
          </a:prstGeom>
          <a:solidFill>
            <a:srgbClr val="FFD780"/>
          </a:solidFill>
          <a:ln>
            <a:noFill/>
          </a:ln>
        </p:spPr>
        <p:txBody>
          <a:bodyPr>
            <a:spAutoFit/>
          </a:bodyPr>
          <a:lstStyle/>
          <a:p>
            <a:pPr algn="just" eaLnBrk="1" hangingPunct="1">
              <a:spcAft>
                <a:spcPts val="1200"/>
              </a:spcAft>
            </a:pPr>
            <a:r>
              <a:rPr lang="en-US" altLang="en-US" sz="2000" dirty="0"/>
              <a:t>The figure below shows the regression model when the conditions are met. The line in the figure is the population regression line </a:t>
            </a:r>
            <a:r>
              <a:rPr lang="en-US" altLang="en-US" sz="2000" i="1" dirty="0"/>
              <a:t>µ</a:t>
            </a:r>
            <a:r>
              <a:rPr lang="en-US" altLang="en-US" sz="2000" i="1" baseline="-25000" dirty="0"/>
              <a:t>y</a:t>
            </a:r>
            <a:r>
              <a:rPr lang="en-US" altLang="en-US" sz="2000" dirty="0"/>
              <a:t>= </a:t>
            </a:r>
            <a:r>
              <a:rPr lang="en-US" altLang="en-US" sz="2000" i="1" dirty="0">
                <a:latin typeface="Symbol" pitchFamily="18" charset="2"/>
              </a:rPr>
              <a:t>b</a:t>
            </a:r>
            <a:r>
              <a:rPr lang="en-US" altLang="en-US" sz="2000" baseline="-25000" dirty="0">
                <a:latin typeface="Symbol" pitchFamily="18" charset="2"/>
              </a:rPr>
              <a:t>0</a:t>
            </a:r>
            <a:r>
              <a:rPr lang="en-US" altLang="en-US" sz="2000" i="1" dirty="0"/>
              <a:t> </a:t>
            </a:r>
            <a:r>
              <a:rPr lang="en-US" altLang="en-US" sz="2000" dirty="0"/>
              <a:t>+ </a:t>
            </a:r>
            <a:r>
              <a:rPr lang="en-US" altLang="en-US" sz="2000" i="1" dirty="0"/>
              <a:t>β</a:t>
            </a:r>
            <a:r>
              <a:rPr lang="en-US" altLang="en-US" sz="2000" baseline="-25000" dirty="0"/>
              <a:t>1</a:t>
            </a:r>
            <a:r>
              <a:rPr lang="en-US" altLang="en-US" sz="2000" i="1" dirty="0"/>
              <a:t>x</a:t>
            </a:r>
            <a:r>
              <a:rPr lang="en-US" altLang="en-US" sz="2000" dirty="0"/>
              <a:t>.</a:t>
            </a:r>
          </a:p>
        </p:txBody>
      </p:sp>
      <p:pic>
        <p:nvPicPr>
          <p:cNvPr id="32770" name="Picture 7" descr="The three-dimensional diagram shows a graph in the x y plane. It plots y = blood pressure decrease on the vertical axis versus x = calcium in milligrams on the vertical axis. Regression line mu sub y = Beta sub 0 + Beta sub 1 x rises diagonally to the right from a point on the vertical axis. Four standard normal curves sit along the regression line at irregular intervals, perpendicular to it, rising in the z direction. The mean of each curve intersects the regression line."/>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49238" y="3607966"/>
            <a:ext cx="5419580" cy="2715469"/>
          </a:xfrm>
          <a:prstGeom prst="rect">
            <a:avLst/>
          </a:prstGeom>
          <a:solidFill>
            <a:schemeClr val="accent1">
              <a:alpha val="0"/>
            </a:schemeClr>
          </a:solidFill>
          <a:ln>
            <a:noFill/>
          </a:ln>
        </p:spPr>
      </p:pic>
      <p:sp>
        <p:nvSpPr>
          <p:cNvPr id="11" name="Rectangle 10"/>
          <p:cNvSpPr>
            <a:spLocks noChangeArrowheads="1"/>
          </p:cNvSpPr>
          <p:nvPr/>
        </p:nvSpPr>
        <p:spPr bwMode="auto">
          <a:xfrm>
            <a:off x="249238" y="2168526"/>
            <a:ext cx="2673844" cy="1323439"/>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p>
            <a:pPr algn="just" eaLnBrk="1" hangingPunct="1">
              <a:spcAft>
                <a:spcPts val="1200"/>
              </a:spcAft>
              <a:defRPr/>
            </a:pPr>
            <a:r>
              <a:rPr lang="en-US" sz="1600" dirty="0">
                <a:solidFill>
                  <a:srgbClr val="000000"/>
                </a:solidFill>
              </a:rPr>
              <a:t>For each possible value of the explanatory variable </a:t>
            </a:r>
            <a:r>
              <a:rPr lang="en-US" sz="1600" i="1" dirty="0">
                <a:solidFill>
                  <a:srgbClr val="000000"/>
                </a:solidFill>
              </a:rPr>
              <a:t>x</a:t>
            </a:r>
            <a:r>
              <a:rPr lang="en-US" sz="1600" dirty="0">
                <a:solidFill>
                  <a:srgbClr val="000000"/>
                </a:solidFill>
              </a:rPr>
              <a:t>, the mean of the responses </a:t>
            </a:r>
            <a:r>
              <a:rPr lang="en-US" sz="1600" i="1" dirty="0">
                <a:solidFill>
                  <a:srgbClr val="000000"/>
                </a:solidFill>
              </a:rPr>
              <a:t>µ</a:t>
            </a:r>
            <a:r>
              <a:rPr lang="en-US" sz="1600" dirty="0">
                <a:solidFill>
                  <a:srgbClr val="000000"/>
                </a:solidFill>
              </a:rPr>
              <a:t>(</a:t>
            </a:r>
            <a:r>
              <a:rPr lang="en-US" sz="1600" i="1" dirty="0">
                <a:solidFill>
                  <a:srgbClr val="000000"/>
                </a:solidFill>
              </a:rPr>
              <a:t>y</a:t>
            </a:r>
            <a:r>
              <a:rPr lang="en-US" sz="1600" dirty="0">
                <a:solidFill>
                  <a:srgbClr val="000000"/>
                </a:solidFill>
              </a:rPr>
              <a:t> | </a:t>
            </a:r>
            <a:r>
              <a:rPr lang="en-US" sz="1600" i="1" dirty="0">
                <a:solidFill>
                  <a:srgbClr val="000000"/>
                </a:solidFill>
              </a:rPr>
              <a:t>x</a:t>
            </a:r>
            <a:r>
              <a:rPr lang="en-US" sz="1600" dirty="0">
                <a:solidFill>
                  <a:srgbClr val="000000"/>
                </a:solidFill>
              </a:rPr>
              <a:t>) moves along this line. </a:t>
            </a:r>
          </a:p>
        </p:txBody>
      </p:sp>
      <p:sp>
        <p:nvSpPr>
          <p:cNvPr id="9" name="Rectangle 8"/>
          <p:cNvSpPr>
            <a:spLocks noChangeArrowheads="1"/>
          </p:cNvSpPr>
          <p:nvPr/>
        </p:nvSpPr>
        <p:spPr bwMode="auto">
          <a:xfrm>
            <a:off x="5969000" y="2352675"/>
            <a:ext cx="2809875" cy="1816100"/>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just" eaLnBrk="1" hangingPunct="1">
              <a:defRPr/>
            </a:pPr>
            <a:r>
              <a:rPr lang="en-US" sz="1600" dirty="0">
                <a:solidFill>
                  <a:srgbClr val="000000"/>
                </a:solidFill>
              </a:rPr>
              <a:t>The Normal curves show how </a:t>
            </a:r>
            <a:r>
              <a:rPr lang="en-US" sz="1600" i="1" dirty="0">
                <a:solidFill>
                  <a:srgbClr val="000000"/>
                </a:solidFill>
              </a:rPr>
              <a:t>y </a:t>
            </a:r>
            <a:r>
              <a:rPr lang="en-US" sz="1600" dirty="0">
                <a:solidFill>
                  <a:srgbClr val="000000"/>
                </a:solidFill>
              </a:rPr>
              <a:t>will vary when </a:t>
            </a:r>
            <a:r>
              <a:rPr lang="en-US" sz="1600" i="1" dirty="0">
                <a:solidFill>
                  <a:srgbClr val="000000"/>
                </a:solidFill>
              </a:rPr>
              <a:t>x </a:t>
            </a:r>
            <a:r>
              <a:rPr lang="en-US" sz="1600" dirty="0">
                <a:solidFill>
                  <a:srgbClr val="000000"/>
                </a:solidFill>
              </a:rPr>
              <a:t>is held fixed at different values. All the curves have the same standard deviation </a:t>
            </a:r>
            <a:r>
              <a:rPr lang="en-US" sz="1600" i="1" dirty="0">
                <a:solidFill>
                  <a:srgbClr val="000000"/>
                </a:solidFill>
              </a:rPr>
              <a:t>σ</a:t>
            </a:r>
            <a:r>
              <a:rPr lang="en-US" sz="1600" dirty="0">
                <a:solidFill>
                  <a:srgbClr val="000000"/>
                </a:solidFill>
              </a:rPr>
              <a:t>, so the variability of </a:t>
            </a:r>
            <a:r>
              <a:rPr lang="en-US" sz="1600" i="1" dirty="0">
                <a:solidFill>
                  <a:srgbClr val="000000"/>
                </a:solidFill>
              </a:rPr>
              <a:t>y </a:t>
            </a:r>
            <a:r>
              <a:rPr lang="en-US" sz="1600" dirty="0">
                <a:solidFill>
                  <a:srgbClr val="000000"/>
                </a:solidFill>
              </a:rPr>
              <a:t>is the same for all values of </a:t>
            </a:r>
            <a:r>
              <a:rPr lang="en-US" sz="1600" i="1" dirty="0">
                <a:solidFill>
                  <a:srgbClr val="000000"/>
                </a:solidFill>
              </a:rPr>
              <a:t>x</a:t>
            </a:r>
            <a:r>
              <a:rPr lang="en-US" sz="1600" dirty="0">
                <a:solidFill>
                  <a:srgbClr val="000000"/>
                </a:solidFill>
              </a:rPr>
              <a:t>. </a:t>
            </a:r>
          </a:p>
        </p:txBody>
      </p:sp>
      <p:sp>
        <p:nvSpPr>
          <p:cNvPr id="10" name="Rectangle 9"/>
          <p:cNvSpPr>
            <a:spLocks noChangeArrowheads="1"/>
          </p:cNvSpPr>
          <p:nvPr/>
        </p:nvSpPr>
        <p:spPr bwMode="auto">
          <a:xfrm>
            <a:off x="5969000" y="4856163"/>
            <a:ext cx="2778125" cy="1323975"/>
          </a:xfrm>
          <a:prstGeom prst="rect">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Bef>
                <a:spcPct val="0"/>
              </a:spcBef>
              <a:spcAft>
                <a:spcPts val="1200"/>
              </a:spcAft>
              <a:buClrTx/>
              <a:buSzTx/>
              <a:buFontTx/>
              <a:buNone/>
              <a:defRPr/>
            </a:pPr>
            <a:r>
              <a:rPr lang="en-US" altLang="en-US" sz="1600" dirty="0">
                <a:solidFill>
                  <a:srgbClr val="000000"/>
                </a:solidFill>
              </a:rPr>
              <a:t>The value of </a:t>
            </a:r>
            <a:r>
              <a:rPr lang="en-US" altLang="en-US" sz="1600" i="1" dirty="0">
                <a:solidFill>
                  <a:srgbClr val="000000"/>
                </a:solidFill>
              </a:rPr>
              <a:t>σ </a:t>
            </a:r>
            <a:r>
              <a:rPr lang="en-US" altLang="en-US" sz="1600" dirty="0">
                <a:solidFill>
                  <a:srgbClr val="000000"/>
                </a:solidFill>
              </a:rPr>
              <a:t>determines whether the points fall close to the population regression line (small </a:t>
            </a:r>
            <a:r>
              <a:rPr lang="en-US" altLang="en-US" sz="1600" i="1" dirty="0">
                <a:solidFill>
                  <a:srgbClr val="000000"/>
                </a:solidFill>
              </a:rPr>
              <a:t>σ</a:t>
            </a:r>
            <a:r>
              <a:rPr lang="en-US" altLang="en-US" sz="1600" dirty="0">
                <a:solidFill>
                  <a:srgbClr val="000000"/>
                </a:solidFill>
              </a:rPr>
              <a:t>) or are widely scattered (large </a:t>
            </a:r>
            <a:r>
              <a:rPr lang="en-US" altLang="en-US" sz="1600" i="1" dirty="0">
                <a:solidFill>
                  <a:srgbClr val="000000"/>
                </a:solidFill>
              </a:rPr>
              <a:t>σ</a:t>
            </a:r>
            <a:r>
              <a:rPr lang="en-US" altLang="en-US" sz="1600" dirty="0">
                <a:solidFill>
                  <a:srgbClr val="000000"/>
                </a:solidFill>
              </a:rPr>
              <a:t>).</a:t>
            </a:r>
            <a:endParaRPr lang="en-US" altLang="en-US" sz="1600" b="1" dirty="0">
              <a:solidFill>
                <a:srgbClr val="000000"/>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1000" fill="hold"/>
                                        <p:tgtEl>
                                          <p:spTgt spid="9"/>
                                        </p:tgtEl>
                                        <p:attrNameLst>
                                          <p:attrName>ppt_w</p:attrName>
                                        </p:attrNameLst>
                                      </p:cBhvr>
                                      <p:tavLst>
                                        <p:tav tm="0">
                                          <p:val>
                                            <p:fltVal val="0"/>
                                          </p:val>
                                        </p:tav>
                                        <p:tav tm="100000">
                                          <p:val>
                                            <p:strVal val="#ppt_w"/>
                                          </p:val>
                                        </p:tav>
                                      </p:tavLst>
                                    </p:anim>
                                    <p:anim calcmode="lin" valueType="num">
                                      <p:cBhvr>
                                        <p:cTn id="16" dur="1000" fill="hold"/>
                                        <p:tgtEl>
                                          <p:spTgt spid="9"/>
                                        </p:tgtEl>
                                        <p:attrNameLst>
                                          <p:attrName>ppt_h</p:attrName>
                                        </p:attrNameLst>
                                      </p:cBhvr>
                                      <p:tavLst>
                                        <p:tav tm="0">
                                          <p:val>
                                            <p:fltVal val="0"/>
                                          </p:val>
                                        </p:tav>
                                        <p:tav tm="100000">
                                          <p:val>
                                            <p:strVal val="#ppt_h"/>
                                          </p:val>
                                        </p:tav>
                                      </p:tavLst>
                                    </p:anim>
                                    <p:anim calcmode="lin" valueType="num">
                                      <p:cBhvr>
                                        <p:cTn id="17"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5"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p:cTn id="23" dur="1000" fill="hold"/>
                                        <p:tgtEl>
                                          <p:spTgt spid="10"/>
                                        </p:tgtEl>
                                        <p:attrNameLst>
                                          <p:attrName>ppt_w</p:attrName>
                                        </p:attrNameLst>
                                      </p:cBhvr>
                                      <p:tavLst>
                                        <p:tav tm="0">
                                          <p:val>
                                            <p:fltVal val="0"/>
                                          </p:val>
                                        </p:tav>
                                        <p:tav tm="100000">
                                          <p:val>
                                            <p:strVal val="#ppt_w"/>
                                          </p:val>
                                        </p:tav>
                                      </p:tavLst>
                                    </p:anim>
                                    <p:anim calcmode="lin" valueType="num">
                                      <p:cBhvr>
                                        <p:cTn id="24" dur="1000" fill="hold"/>
                                        <p:tgtEl>
                                          <p:spTgt spid="10"/>
                                        </p:tgtEl>
                                        <p:attrNameLst>
                                          <p:attrName>ppt_h</p:attrName>
                                        </p:attrNameLst>
                                      </p:cBhvr>
                                      <p:tavLst>
                                        <p:tav tm="0">
                                          <p:val>
                                            <p:fltVal val="0"/>
                                          </p:val>
                                        </p:tav>
                                        <p:tav tm="100000">
                                          <p:val>
                                            <p:strVal val="#ppt_h"/>
                                          </p:val>
                                        </p:tav>
                                      </p:tavLst>
                                    </p:anim>
                                    <p:anim calcmode="lin" valueType="num">
                                      <p:cBhvr>
                                        <p:cTn id="25" dur="1000" fill="hold"/>
                                        <p:tgtEl>
                                          <p:spTgt spid="10"/>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1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7"/>
          <p:cNvSpPr>
            <a:spLocks noGrp="1" noChangeArrowheads="1"/>
          </p:cNvSpPr>
          <p:nvPr>
            <p:ph type="title"/>
          </p:nvPr>
        </p:nvSpPr>
        <p:spPr/>
        <p:txBody>
          <a:bodyPr/>
          <a:lstStyle/>
          <a:p>
            <a:pPr eaLnBrk="1" hangingPunct="1"/>
            <a:r>
              <a:rPr lang="en-US" altLang="en-US" dirty="0">
                <a:ea typeface="ＭＳ Ｐゴシック" pitchFamily="34" charset="-128"/>
              </a:rPr>
              <a:t>Simple Linear Regression Model</a:t>
            </a:r>
          </a:p>
        </p:txBody>
      </p:sp>
      <p:sp>
        <p:nvSpPr>
          <p:cNvPr id="337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369BBFF-95AA-4C71-8F26-389308A6E4E6}" type="slidenum">
              <a:rPr lang="en-US" altLang="en-US" sz="1200">
                <a:solidFill>
                  <a:schemeClr val="accent1"/>
                </a:solidFill>
              </a:rPr>
              <a:pPr>
                <a:lnSpc>
                  <a:spcPct val="80000"/>
                </a:lnSpc>
              </a:pPr>
              <a:t>9</a:t>
            </a:fld>
            <a:endParaRPr lang="en-US" altLang="en-US" sz="1200">
              <a:solidFill>
                <a:schemeClr val="accent1"/>
              </a:solidFill>
            </a:endParaRPr>
          </a:p>
        </p:txBody>
      </p:sp>
      <p:sp>
        <p:nvSpPr>
          <p:cNvPr id="1280008" name="Rectangle 8" descr="The slide reads as:&#10;In the population, the linear regression equation is, mew subscript y is equal to beta subscript zero plus beta subscript one into x.&#10;Sample data fits the simple linear regression model:&#10;Data is equal to Fit plus error, that is&#10;Y subscript I is equal to beta subscript zero plus beta subscript one into x subscript I plus E subscript I.&#10;Where, e subscript I is the error term and are independent and normally distributed as N (0, sigma).&#10;Linear regression assumes equal variance y (sigma is small for all values of x).&#10;"/>
          <p:cNvSpPr>
            <a:spLocks noGrp="1" noChangeArrowheads="1"/>
          </p:cNvSpPr>
          <p:nvPr>
            <p:ph type="body" idx="4294967295"/>
          </p:nvPr>
        </p:nvSpPr>
        <p:spPr>
          <a:xfrm>
            <a:off x="174625" y="1143000"/>
            <a:ext cx="8588374" cy="5334000"/>
          </a:xfrm>
          <a:solidFill>
            <a:srgbClr val="FFD780"/>
          </a:solidFill>
        </p:spPr>
        <p:txBody>
          <a:bodyPr/>
          <a:lstStyle/>
          <a:p>
            <a:pPr marL="0" indent="0" eaLnBrk="1" hangingPunct="1">
              <a:lnSpc>
                <a:spcPct val="110000"/>
              </a:lnSpc>
              <a:buFont typeface="Wingdings" pitchFamily="2" charset="2"/>
              <a:buNone/>
            </a:pPr>
            <a:r>
              <a:rPr lang="en-US" altLang="en-US" dirty="0">
                <a:solidFill>
                  <a:schemeClr val="tx1"/>
                </a:solidFill>
                <a:ea typeface="ＭＳ Ｐゴシック" pitchFamily="34" charset="-128"/>
              </a:rPr>
              <a:t>In the population, the linear regression equation is </a:t>
            </a:r>
            <a:r>
              <a:rPr lang="en-US" altLang="en-US" b="1" i="1" dirty="0">
                <a:solidFill>
                  <a:schemeClr val="tx1"/>
                </a:solidFill>
                <a:latin typeface="Symbol" pitchFamily="18" charset="2"/>
                <a:ea typeface="ＭＳ Ｐゴシック" pitchFamily="34" charset="-128"/>
              </a:rPr>
              <a:t>m</a:t>
            </a:r>
            <a:r>
              <a:rPr lang="en-US" altLang="en-US" b="1" baseline="-25000" dirty="0">
                <a:solidFill>
                  <a:schemeClr val="tx1"/>
                </a:solidFill>
                <a:ea typeface="ＭＳ Ｐゴシック" pitchFamily="34" charset="-128"/>
              </a:rPr>
              <a:t>y</a:t>
            </a:r>
            <a:r>
              <a:rPr lang="en-US" altLang="en-US" b="1" dirty="0">
                <a:solidFill>
                  <a:schemeClr val="tx1"/>
                </a:solidFill>
                <a:ea typeface="ＭＳ Ｐゴシック" pitchFamily="34" charset="-128"/>
              </a:rPr>
              <a:t> =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ea typeface="ＭＳ Ｐゴシック" pitchFamily="34" charset="-128"/>
              </a:rPr>
              <a:t>0</a:t>
            </a:r>
            <a:r>
              <a:rPr lang="en-US" altLang="en-US" b="1" dirty="0">
                <a:solidFill>
                  <a:schemeClr val="tx1"/>
                </a:solidFill>
                <a:ea typeface="ＭＳ Ｐゴシック" pitchFamily="34" charset="-128"/>
              </a:rPr>
              <a:t> +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ea typeface="ＭＳ Ｐゴシック" pitchFamily="34" charset="-128"/>
              </a:rPr>
              <a:t>1</a:t>
            </a:r>
            <a:r>
              <a:rPr lang="en-US" altLang="en-US" b="1" i="1" dirty="0">
                <a:solidFill>
                  <a:schemeClr val="tx1"/>
                </a:solidFill>
                <a:ea typeface="ＭＳ Ｐゴシック" pitchFamily="34" charset="-128"/>
              </a:rPr>
              <a:t>x</a:t>
            </a:r>
            <a:r>
              <a:rPr lang="en-US" altLang="en-US" b="1" dirty="0">
                <a:solidFill>
                  <a:schemeClr val="tx1"/>
                </a:solidFill>
                <a:ea typeface="ＭＳ Ｐゴシック" pitchFamily="34" charset="-128"/>
              </a:rPr>
              <a:t>.</a:t>
            </a:r>
            <a:endParaRPr lang="en-US" altLang="en-US" sz="1600" b="1" dirty="0">
              <a:solidFill>
                <a:schemeClr val="tx1"/>
              </a:solidFill>
              <a:ea typeface="ＭＳ Ｐゴシック" pitchFamily="34" charset="-128"/>
            </a:endParaRPr>
          </a:p>
          <a:p>
            <a:pPr marL="0" indent="0" eaLnBrk="1" hangingPunct="1">
              <a:lnSpc>
                <a:spcPct val="110000"/>
              </a:lnSpc>
              <a:buFont typeface="Wingdings" pitchFamily="2" charset="2"/>
              <a:buNone/>
            </a:pPr>
            <a:r>
              <a:rPr lang="en-US" altLang="en-US" dirty="0">
                <a:solidFill>
                  <a:schemeClr val="tx1"/>
                </a:solidFill>
                <a:ea typeface="ＭＳ Ｐゴシック" pitchFamily="34" charset="-128"/>
              </a:rPr>
              <a:t>Sample data fit the </a:t>
            </a:r>
            <a:r>
              <a:rPr lang="en-US" altLang="en-US" b="1" dirty="0">
                <a:solidFill>
                  <a:srgbClr val="C00000"/>
                </a:solidFill>
                <a:ea typeface="ＭＳ Ｐゴシック" pitchFamily="34" charset="-128"/>
              </a:rPr>
              <a:t>simple linear regression model</a:t>
            </a:r>
            <a:r>
              <a:rPr lang="en-US" altLang="en-US" b="1" dirty="0">
                <a:solidFill>
                  <a:srgbClr val="76330A"/>
                </a:solidFill>
                <a:ea typeface="ＭＳ Ｐゴシック" pitchFamily="34" charset="-128"/>
              </a:rPr>
              <a:t>:</a:t>
            </a:r>
          </a:p>
          <a:p>
            <a:pPr marL="0" indent="0" eaLnBrk="1" hangingPunct="1">
              <a:lnSpc>
                <a:spcPct val="50000"/>
              </a:lnSpc>
              <a:buFont typeface="Wingdings" pitchFamily="2" charset="2"/>
              <a:buNone/>
            </a:pPr>
            <a:endParaRPr lang="en-US" altLang="en-US" dirty="0">
              <a:solidFill>
                <a:schemeClr val="tx1"/>
              </a:solidFill>
              <a:ea typeface="ＭＳ Ｐゴシック" pitchFamily="34" charset="-128"/>
            </a:endParaRPr>
          </a:p>
          <a:p>
            <a:pPr marL="0" indent="0" eaLnBrk="1" hangingPunct="1">
              <a:buFont typeface="Wingdings" pitchFamily="2" charset="2"/>
              <a:buNone/>
            </a:pPr>
            <a:r>
              <a:rPr lang="en-US" altLang="en-US" dirty="0">
                <a:solidFill>
                  <a:schemeClr val="tx1"/>
                </a:solidFill>
                <a:ea typeface="ＭＳ Ｐゴシック" pitchFamily="34" charset="-128"/>
              </a:rPr>
              <a:t>     Data =         Fit       +     Error</a:t>
            </a:r>
          </a:p>
          <a:p>
            <a:pPr marL="0" indent="0" eaLnBrk="1" hangingPunct="1">
              <a:buFont typeface="Wingdings" pitchFamily="2" charset="2"/>
              <a:buNone/>
            </a:pPr>
            <a:r>
              <a:rPr lang="en-US" altLang="en-US" b="1" dirty="0">
                <a:solidFill>
                  <a:schemeClr val="tx1"/>
                </a:solidFill>
                <a:ea typeface="ＭＳ Ｐゴシック" pitchFamily="34" charset="-128"/>
              </a:rPr>
              <a:t>     </a:t>
            </a:r>
            <a:r>
              <a:rPr lang="en-US" altLang="en-US" b="1" i="1" dirty="0" err="1">
                <a:solidFill>
                  <a:schemeClr val="tx1"/>
                </a:solidFill>
                <a:ea typeface="ＭＳ Ｐゴシック" pitchFamily="34" charset="-128"/>
              </a:rPr>
              <a:t>y</a:t>
            </a:r>
            <a:r>
              <a:rPr lang="en-US" altLang="en-US" b="1" i="1" baseline="-25000" dirty="0" err="1">
                <a:solidFill>
                  <a:schemeClr val="tx1"/>
                </a:solidFill>
                <a:ea typeface="ＭＳ Ｐゴシック" pitchFamily="34" charset="-128"/>
              </a:rPr>
              <a:t>i</a:t>
            </a:r>
            <a:r>
              <a:rPr lang="en-US" altLang="en-US" b="1" dirty="0">
                <a:solidFill>
                  <a:schemeClr val="tx1"/>
                </a:solidFill>
                <a:ea typeface="ＭＳ Ｐゴシック" pitchFamily="34" charset="-128"/>
              </a:rPr>
              <a:t>   =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ea typeface="ＭＳ Ｐゴシック" pitchFamily="34" charset="-128"/>
              </a:rPr>
              <a:t>0</a:t>
            </a:r>
            <a:r>
              <a:rPr lang="en-US" altLang="en-US" b="1" dirty="0">
                <a:solidFill>
                  <a:schemeClr val="tx1"/>
                </a:solidFill>
                <a:ea typeface="ＭＳ Ｐゴシック" pitchFamily="34" charset="-128"/>
              </a:rPr>
              <a:t> +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ea typeface="ＭＳ Ｐゴシック" pitchFamily="34" charset="-128"/>
              </a:rPr>
              <a:t>1</a:t>
            </a:r>
            <a:r>
              <a:rPr lang="en-US" altLang="en-US" b="1" i="1" dirty="0">
                <a:solidFill>
                  <a:schemeClr val="tx1"/>
                </a:solidFill>
                <a:ea typeface="ＭＳ Ｐゴシック" pitchFamily="34" charset="-128"/>
              </a:rPr>
              <a:t>x</a:t>
            </a:r>
            <a:r>
              <a:rPr lang="en-US" altLang="en-US" b="1" i="1" baseline="-25000" dirty="0">
                <a:solidFill>
                  <a:schemeClr val="tx1"/>
                </a:solidFill>
                <a:ea typeface="ＭＳ Ｐゴシック" pitchFamily="34" charset="-128"/>
              </a:rPr>
              <a:t>i</a:t>
            </a:r>
            <a:r>
              <a:rPr lang="en-US" altLang="en-US" b="1" dirty="0">
                <a:solidFill>
                  <a:schemeClr val="tx1"/>
                </a:solidFill>
                <a:ea typeface="ＭＳ Ｐゴシック" pitchFamily="34" charset="-128"/>
              </a:rPr>
              <a:t>)  +      (</a:t>
            </a:r>
            <a:r>
              <a:rPr lang="en-US" altLang="en-US" b="1" i="1" dirty="0" err="1">
                <a:solidFill>
                  <a:schemeClr val="tx1"/>
                </a:solidFill>
                <a:latin typeface="Symbol" pitchFamily="18" charset="2"/>
                <a:ea typeface="ＭＳ Ｐゴシック" pitchFamily="34" charset="-128"/>
              </a:rPr>
              <a:t>e</a:t>
            </a:r>
            <a:r>
              <a:rPr lang="en-US" altLang="en-US" b="1" i="1" baseline="-25000" dirty="0" err="1">
                <a:solidFill>
                  <a:schemeClr val="tx1"/>
                </a:solidFill>
                <a:ea typeface="ＭＳ Ｐゴシック" pitchFamily="34" charset="-128"/>
              </a:rPr>
              <a:t>i</a:t>
            </a:r>
            <a:r>
              <a:rPr lang="en-US" altLang="en-US" b="1" dirty="0">
                <a:solidFill>
                  <a:schemeClr val="tx1"/>
                </a:solidFill>
                <a:ea typeface="ＭＳ Ｐゴシック" pitchFamily="34" charset="-128"/>
              </a:rPr>
              <a:t>)</a:t>
            </a:r>
          </a:p>
          <a:p>
            <a:pPr marL="0" indent="0" eaLnBrk="1" hangingPunct="1">
              <a:buFont typeface="Wingdings" pitchFamily="2" charset="2"/>
              <a:buNone/>
            </a:pPr>
            <a:endParaRPr lang="en-US" altLang="en-US" dirty="0">
              <a:solidFill>
                <a:schemeClr val="tx1"/>
              </a:solidFill>
              <a:ea typeface="ＭＳ Ｐゴシック" pitchFamily="34" charset="-128"/>
            </a:endParaRPr>
          </a:p>
          <a:p>
            <a:pPr marL="0" indent="0" eaLnBrk="1" hangingPunct="1">
              <a:buFont typeface="Wingdings" pitchFamily="2" charset="2"/>
              <a:buNone/>
            </a:pPr>
            <a:r>
              <a:rPr lang="en-US" altLang="en-US" dirty="0">
                <a:solidFill>
                  <a:schemeClr val="tx1"/>
                </a:solidFill>
                <a:ea typeface="ＭＳ Ｐゴシック" pitchFamily="34" charset="-128"/>
              </a:rPr>
              <a:t>where the </a:t>
            </a:r>
            <a:r>
              <a:rPr lang="en-US" altLang="en-US" b="1" i="1" dirty="0" err="1">
                <a:solidFill>
                  <a:schemeClr val="tx1"/>
                </a:solidFill>
                <a:latin typeface="Symbol" pitchFamily="18" charset="2"/>
                <a:ea typeface="ＭＳ Ｐゴシック" pitchFamily="34" charset="-128"/>
              </a:rPr>
              <a:t>e</a:t>
            </a:r>
            <a:r>
              <a:rPr lang="en-US" altLang="en-US" b="1" baseline="-25000" dirty="0" err="1">
                <a:solidFill>
                  <a:schemeClr val="tx1"/>
                </a:solidFill>
                <a:ea typeface="ＭＳ Ｐゴシック" pitchFamily="34" charset="-128"/>
              </a:rPr>
              <a:t>i</a:t>
            </a:r>
            <a:r>
              <a:rPr lang="en-US" altLang="en-US" b="1" i="1" baseline="-25000" dirty="0">
                <a:solidFill>
                  <a:schemeClr val="tx1"/>
                </a:solidFill>
                <a:ea typeface="ＭＳ Ｐゴシック" pitchFamily="34" charset="-128"/>
              </a:rPr>
              <a:t> </a:t>
            </a:r>
            <a:r>
              <a:rPr lang="en-US" altLang="en-US" dirty="0">
                <a:solidFill>
                  <a:schemeClr val="tx1"/>
                </a:solidFill>
                <a:ea typeface="ＭＳ Ｐゴシック" pitchFamily="34" charset="-128"/>
              </a:rPr>
              <a:t>are </a:t>
            </a:r>
            <a:r>
              <a:rPr lang="en-US" altLang="en-US" b="1" dirty="0">
                <a:solidFill>
                  <a:schemeClr val="tx1"/>
                </a:solidFill>
                <a:ea typeface="ＭＳ Ｐゴシック" pitchFamily="34" charset="-128"/>
              </a:rPr>
              <a:t>independent</a:t>
            </a:r>
            <a:r>
              <a:rPr lang="en-US" altLang="en-US" dirty="0">
                <a:solidFill>
                  <a:schemeClr val="tx1"/>
                </a:solidFill>
                <a:ea typeface="ＭＳ Ｐゴシック" pitchFamily="34" charset="-128"/>
              </a:rPr>
              <a:t> and </a:t>
            </a:r>
            <a:br>
              <a:rPr lang="en-US" altLang="en-US" dirty="0">
                <a:solidFill>
                  <a:schemeClr val="tx1"/>
                </a:solidFill>
                <a:ea typeface="ＭＳ Ｐゴシック" pitchFamily="34" charset="-128"/>
              </a:rPr>
            </a:br>
            <a:r>
              <a:rPr lang="en-US" altLang="en-US" b="1" dirty="0">
                <a:solidFill>
                  <a:schemeClr val="tx1"/>
                </a:solidFill>
                <a:ea typeface="ＭＳ Ｐゴシック" pitchFamily="34" charset="-128"/>
              </a:rPr>
              <a:t>Normally</a:t>
            </a:r>
            <a:r>
              <a:rPr lang="en-US" altLang="en-US" dirty="0">
                <a:solidFill>
                  <a:schemeClr val="tx1"/>
                </a:solidFill>
                <a:ea typeface="ＭＳ Ｐゴシック" pitchFamily="34" charset="-128"/>
              </a:rPr>
              <a:t> distributed </a:t>
            </a:r>
            <a:r>
              <a:rPr lang="en-US" altLang="en-US" i="1" dirty="0">
                <a:solidFill>
                  <a:schemeClr val="tx1"/>
                </a:solidFill>
                <a:ea typeface="ＭＳ Ｐゴシック" pitchFamily="34" charset="-128"/>
              </a:rPr>
              <a:t>N</a:t>
            </a:r>
            <a:r>
              <a:rPr lang="en-US" altLang="en-US" dirty="0">
                <a:solidFill>
                  <a:schemeClr val="tx1"/>
                </a:solidFill>
                <a:ea typeface="ＭＳ Ｐゴシック" pitchFamily="34" charset="-128"/>
              </a:rPr>
              <a:t>(0, </a:t>
            </a:r>
            <a:r>
              <a:rPr lang="en-US" altLang="en-US" i="1" dirty="0">
                <a:solidFill>
                  <a:schemeClr val="tx1"/>
                </a:solidFill>
                <a:latin typeface="Symbol" pitchFamily="18" charset="2"/>
                <a:ea typeface="ＭＳ Ｐゴシック" pitchFamily="34" charset="-128"/>
              </a:rPr>
              <a:t>s</a:t>
            </a:r>
            <a:r>
              <a:rPr lang="en-US" altLang="en-US" dirty="0">
                <a:solidFill>
                  <a:schemeClr val="tx1"/>
                </a:solidFill>
                <a:ea typeface="ＭＳ Ｐゴシック" pitchFamily="34" charset="-128"/>
              </a:rPr>
              <a:t>).</a:t>
            </a:r>
          </a:p>
          <a:p>
            <a:pPr marL="0" indent="0" eaLnBrk="1" hangingPunct="1">
              <a:spcBef>
                <a:spcPts val="3000"/>
              </a:spcBef>
              <a:buFont typeface="Wingdings" pitchFamily="2" charset="2"/>
              <a:buNone/>
            </a:pPr>
            <a:r>
              <a:rPr lang="en-US" altLang="en-US" b="1" dirty="0">
                <a:solidFill>
                  <a:schemeClr val="tx1"/>
                </a:solidFill>
                <a:highlight>
                  <a:srgbClr val="FFFF00"/>
                </a:highlight>
                <a:ea typeface="ＭＳ Ｐゴシック" pitchFamily="34" charset="-128"/>
              </a:rPr>
              <a:t>NOTE! </a:t>
            </a:r>
            <a:r>
              <a:rPr lang="en-US" altLang="en-US" dirty="0">
                <a:solidFill>
                  <a:schemeClr val="tx1"/>
                </a:solidFill>
                <a:highlight>
                  <a:srgbClr val="FFFF00"/>
                </a:highlight>
                <a:ea typeface="ＭＳ Ｐゴシック" pitchFamily="34" charset="-128"/>
              </a:rPr>
              <a:t>Linear regression assumes </a:t>
            </a:r>
            <a:r>
              <a:rPr lang="en-US" altLang="en-US" b="1" dirty="0">
                <a:solidFill>
                  <a:schemeClr val="tx1"/>
                </a:solidFill>
                <a:highlight>
                  <a:srgbClr val="FFFF00"/>
                </a:highlight>
                <a:ea typeface="ＭＳ Ｐゴシック" pitchFamily="34" charset="-128"/>
              </a:rPr>
              <a:t>equal variance of </a:t>
            </a:r>
            <a:r>
              <a:rPr lang="en-US" altLang="en-US" b="1" i="1" dirty="0">
                <a:solidFill>
                  <a:schemeClr val="tx1"/>
                </a:solidFill>
                <a:highlight>
                  <a:srgbClr val="FFFF00"/>
                </a:highlight>
                <a:ea typeface="ＭＳ Ｐゴシック" pitchFamily="34" charset="-128"/>
              </a:rPr>
              <a:t>y</a:t>
            </a:r>
            <a:r>
              <a:rPr lang="en-US" altLang="en-US" b="1" dirty="0">
                <a:solidFill>
                  <a:schemeClr val="tx1"/>
                </a:solidFill>
                <a:highlight>
                  <a:srgbClr val="FFFF00"/>
                </a:highlight>
                <a:ea typeface="ＭＳ Ｐゴシック" pitchFamily="34" charset="-128"/>
              </a:rPr>
              <a:t> </a:t>
            </a:r>
            <a:r>
              <a:rPr lang="en-US" altLang="en-US" dirty="0">
                <a:solidFill>
                  <a:schemeClr val="tx1"/>
                </a:solidFill>
                <a:highlight>
                  <a:srgbClr val="FFFF00"/>
                </a:highlight>
                <a:ea typeface="ＭＳ Ｐゴシック" pitchFamily="34" charset="-128"/>
              </a:rPr>
              <a:t>(</a:t>
            </a:r>
            <a:r>
              <a:rPr lang="en-US" altLang="en-US" i="1" dirty="0">
                <a:solidFill>
                  <a:schemeClr val="tx1"/>
                </a:solidFill>
                <a:highlight>
                  <a:srgbClr val="FFFF00"/>
                </a:highlight>
                <a:latin typeface="Symbol" pitchFamily="18" charset="2"/>
                <a:ea typeface="ＭＳ Ｐゴシック" pitchFamily="34" charset="-128"/>
              </a:rPr>
              <a:t>s</a:t>
            </a:r>
            <a:r>
              <a:rPr lang="en-US" altLang="en-US" dirty="0">
                <a:solidFill>
                  <a:schemeClr val="tx1"/>
                </a:solidFill>
                <a:highlight>
                  <a:srgbClr val="FFFF00"/>
                </a:highlight>
                <a:ea typeface="ＭＳ Ｐゴシック" pitchFamily="34" charset="-128"/>
              </a:rPr>
              <a:t> is the same for all values of </a:t>
            </a:r>
            <a:r>
              <a:rPr lang="en-US" altLang="en-US" i="1" dirty="0">
                <a:solidFill>
                  <a:schemeClr val="tx1"/>
                </a:solidFill>
                <a:highlight>
                  <a:srgbClr val="FFFF00"/>
                </a:highlight>
                <a:ea typeface="ＭＳ Ｐゴシック" pitchFamily="34" charset="-128"/>
              </a:rPr>
              <a:t>x</a:t>
            </a:r>
            <a:r>
              <a:rPr lang="en-US" altLang="en-US" dirty="0">
                <a:solidFill>
                  <a:schemeClr val="tx1"/>
                </a:solidFill>
                <a:highlight>
                  <a:srgbClr val="FFFF00"/>
                </a:highlight>
                <a:ea typeface="ＭＳ Ｐゴシック" pitchFamily="34" charset="-128"/>
              </a:rPr>
              <a:t>).</a:t>
            </a:r>
          </a:p>
        </p:txBody>
      </p:sp>
      <p:grpSp>
        <p:nvGrpSpPr>
          <p:cNvPr id="33797" name="Group 10" descr="already described"/>
          <p:cNvGrpSpPr>
            <a:grpSpLocks/>
          </p:cNvGrpSpPr>
          <p:nvPr/>
        </p:nvGrpSpPr>
        <p:grpSpPr bwMode="auto">
          <a:xfrm>
            <a:off x="1470025" y="2735263"/>
            <a:ext cx="2590800" cy="838200"/>
            <a:chOff x="1032" y="2256"/>
            <a:chExt cx="1408" cy="432"/>
          </a:xfrm>
        </p:grpSpPr>
        <p:sp>
          <p:nvSpPr>
            <p:cNvPr id="33799" name="Rectangle 11"/>
            <p:cNvSpPr>
              <a:spLocks noChangeArrowheads="1"/>
            </p:cNvSpPr>
            <p:nvPr/>
          </p:nvSpPr>
          <p:spPr bwMode="auto">
            <a:xfrm>
              <a:off x="1032" y="2256"/>
              <a:ext cx="632" cy="432"/>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en-US"/>
            </a:p>
          </p:txBody>
        </p:sp>
        <p:sp>
          <p:nvSpPr>
            <p:cNvPr id="33800" name="Rectangle 12"/>
            <p:cNvSpPr>
              <a:spLocks noChangeArrowheads="1"/>
            </p:cNvSpPr>
            <p:nvPr/>
          </p:nvSpPr>
          <p:spPr bwMode="auto">
            <a:xfrm>
              <a:off x="1848" y="2256"/>
              <a:ext cx="592" cy="432"/>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en-US"/>
            </a:p>
          </p:txBody>
        </p:sp>
      </p:grpSp>
      <p:pic>
        <p:nvPicPr>
          <p:cNvPr id="33794" name="Picture 13" descr="The three-dimensional diagram shows a graph in the x y plane. It plots y = blood pressure decrease on the vertical axis versus x = calcium in milligrams on the vertical axis. Regression line mu sub y = Beta sub 0 + Beta sub 1 x rises diagonally to the right from a point on the vertical axis. Four standard normal curves sit along the regression line at irregular intervals, perpendicular to it, rising in the z direction. The mean of each curve intersects the regression line."/>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143197" y="3015057"/>
            <a:ext cx="4619801" cy="1770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80008">
                                            <p:txEl>
                                              <p:pRg st="6" end="6"/>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8000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a:cs typeface="ＭＳ Ｐゴシック"/>
              </a:rPr>
              <a:t>Estimating the Parameters</a:t>
            </a:r>
            <a:endParaRPr lang="en-US" dirty="0"/>
          </a:p>
        </p:txBody>
      </p:sp>
      <p:sp>
        <p:nvSpPr>
          <p:cNvPr id="348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7432688-369B-4018-B033-EBFC73E1CE88}" type="slidenum">
              <a:rPr lang="en-US" altLang="en-US" sz="1200">
                <a:solidFill>
                  <a:schemeClr val="accent1"/>
                </a:solidFill>
              </a:rPr>
              <a:pPr>
                <a:lnSpc>
                  <a:spcPct val="80000"/>
                </a:lnSpc>
              </a:pPr>
              <a:t>10</a:t>
            </a:fld>
            <a:endParaRPr lang="en-US" altLang="en-US" sz="1200">
              <a:solidFill>
                <a:schemeClr val="accent1"/>
              </a:solidFill>
            </a:endParaRPr>
          </a:p>
        </p:txBody>
      </p:sp>
      <p:sp>
        <p:nvSpPr>
          <p:cNvPr id="1328130" name="Rectangle 2"/>
          <p:cNvSpPr>
            <a:spLocks noGrp="1" noChangeArrowheads="1"/>
          </p:cNvSpPr>
          <p:nvPr>
            <p:ph type="body" sz="half" idx="4294967295"/>
          </p:nvPr>
        </p:nvSpPr>
        <p:spPr>
          <a:xfrm>
            <a:off x="533400" y="1121878"/>
            <a:ext cx="8229600" cy="3976430"/>
          </a:xfrm>
          <a:solidFill>
            <a:srgbClr val="FFD780"/>
          </a:solidFill>
        </p:spPr>
        <p:txBody>
          <a:bodyPr/>
          <a:lstStyle/>
          <a:p>
            <a:pPr marL="0" indent="0" algn="ctr" eaLnBrk="1" hangingPunct="1">
              <a:lnSpc>
                <a:spcPct val="130000"/>
              </a:lnSpc>
              <a:buFont typeface="Wingdings" pitchFamily="2" charset="2"/>
              <a:buNone/>
            </a:pPr>
            <a:r>
              <a:rPr lang="en-US" altLang="en-US" b="1" i="1" dirty="0">
                <a:solidFill>
                  <a:schemeClr val="tx1"/>
                </a:solidFill>
                <a:latin typeface="Symbol" pitchFamily="18" charset="2"/>
                <a:ea typeface="ＭＳ Ｐゴシック" pitchFamily="34" charset="-128"/>
              </a:rPr>
              <a:t>m</a:t>
            </a:r>
            <a:r>
              <a:rPr lang="en-US" altLang="en-US" b="1" baseline="-25000" dirty="0">
                <a:solidFill>
                  <a:schemeClr val="tx1"/>
                </a:solidFill>
                <a:ea typeface="ＭＳ Ｐゴシック" pitchFamily="34" charset="-128"/>
              </a:rPr>
              <a:t>y</a:t>
            </a:r>
            <a:r>
              <a:rPr lang="en-US" altLang="en-US" b="1" dirty="0">
                <a:solidFill>
                  <a:schemeClr val="tx1"/>
                </a:solidFill>
                <a:ea typeface="ＭＳ Ｐゴシック" pitchFamily="34" charset="-128"/>
              </a:rPr>
              <a:t> =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latin typeface="Symbol" pitchFamily="18" charset="2"/>
                <a:ea typeface="ＭＳ Ｐゴシック" pitchFamily="34" charset="-128"/>
              </a:rPr>
              <a:t>0</a:t>
            </a:r>
            <a:r>
              <a:rPr lang="en-US" altLang="en-US" b="1" dirty="0">
                <a:solidFill>
                  <a:schemeClr val="tx1"/>
                </a:solidFill>
                <a:ea typeface="ＭＳ Ｐゴシック" pitchFamily="34" charset="-128"/>
              </a:rPr>
              <a:t> +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latin typeface="Symbol" pitchFamily="18" charset="2"/>
                <a:ea typeface="ＭＳ Ｐゴシック" pitchFamily="34" charset="-128"/>
              </a:rPr>
              <a:t>1</a:t>
            </a:r>
            <a:r>
              <a:rPr lang="en-US" altLang="en-US" b="1" i="1" dirty="0">
                <a:solidFill>
                  <a:schemeClr val="tx1"/>
                </a:solidFill>
                <a:ea typeface="ＭＳ Ｐゴシック" pitchFamily="34" charset="-128"/>
              </a:rPr>
              <a:t>x</a:t>
            </a:r>
            <a:endParaRPr lang="en-US" altLang="en-US" sz="600" dirty="0">
              <a:solidFill>
                <a:schemeClr val="tx1"/>
              </a:solidFill>
              <a:ea typeface="ＭＳ Ｐゴシック" pitchFamily="34" charset="-128"/>
            </a:endParaRPr>
          </a:p>
          <a:p>
            <a:pPr marL="0" indent="0" algn="just" eaLnBrk="1" hangingPunct="1">
              <a:buFont typeface="Wingdings" pitchFamily="2" charset="2"/>
              <a:buNone/>
            </a:pPr>
            <a:r>
              <a:rPr lang="en-US" altLang="en-US" dirty="0">
                <a:solidFill>
                  <a:schemeClr val="tx1"/>
                </a:solidFill>
                <a:ea typeface="ＭＳ Ｐゴシック" pitchFamily="34" charset="-128"/>
              </a:rPr>
              <a:t>The intercept </a:t>
            </a:r>
            <a:r>
              <a:rPr lang="en-US" altLang="en-US" i="1" dirty="0">
                <a:solidFill>
                  <a:schemeClr val="tx1"/>
                </a:solidFill>
                <a:latin typeface="Symbol" pitchFamily="18" charset="2"/>
                <a:ea typeface="ＭＳ Ｐゴシック" pitchFamily="34" charset="-128"/>
              </a:rPr>
              <a:t>b</a:t>
            </a:r>
            <a:r>
              <a:rPr lang="en-US" altLang="en-US" baseline="-25000" dirty="0">
                <a:solidFill>
                  <a:schemeClr val="tx1"/>
                </a:solidFill>
                <a:latin typeface="Symbol" pitchFamily="18" charset="2"/>
                <a:ea typeface="ＭＳ Ｐゴシック" pitchFamily="34" charset="-128"/>
              </a:rPr>
              <a:t>0</a:t>
            </a:r>
            <a:r>
              <a:rPr lang="en-US" altLang="en-US" dirty="0">
                <a:solidFill>
                  <a:schemeClr val="tx1"/>
                </a:solidFill>
                <a:ea typeface="ＭＳ Ｐゴシック" pitchFamily="34" charset="-128"/>
              </a:rPr>
              <a:t>,</a:t>
            </a:r>
            <a:r>
              <a:rPr lang="en-US" altLang="en-US" b="1" dirty="0">
                <a:solidFill>
                  <a:schemeClr val="tx1"/>
                </a:solidFill>
                <a:ea typeface="ＭＳ Ｐゴシック" pitchFamily="34" charset="-128"/>
              </a:rPr>
              <a:t> </a:t>
            </a:r>
            <a:r>
              <a:rPr lang="en-US" altLang="en-US" dirty="0">
                <a:solidFill>
                  <a:schemeClr val="tx1"/>
                </a:solidFill>
                <a:ea typeface="ＭＳ Ｐゴシック" pitchFamily="34" charset="-128"/>
              </a:rPr>
              <a:t>the slope </a:t>
            </a:r>
            <a:r>
              <a:rPr lang="en-US" altLang="en-US" i="1" dirty="0">
                <a:solidFill>
                  <a:schemeClr val="tx1"/>
                </a:solidFill>
                <a:latin typeface="Symbol" pitchFamily="18" charset="2"/>
                <a:ea typeface="ＭＳ Ｐゴシック" pitchFamily="34" charset="-128"/>
              </a:rPr>
              <a:t>b</a:t>
            </a:r>
            <a:r>
              <a:rPr lang="en-US" altLang="en-US" baseline="-25000" dirty="0">
                <a:solidFill>
                  <a:schemeClr val="tx1"/>
                </a:solidFill>
                <a:latin typeface="Symbol" pitchFamily="18" charset="2"/>
                <a:ea typeface="ＭＳ Ｐゴシック" pitchFamily="34" charset="-128"/>
              </a:rPr>
              <a:t>1</a:t>
            </a:r>
            <a:r>
              <a:rPr lang="en-US" altLang="en-US" dirty="0">
                <a:solidFill>
                  <a:schemeClr val="tx1"/>
                </a:solidFill>
                <a:ea typeface="ＭＳ Ｐゴシック" pitchFamily="34" charset="-128"/>
              </a:rPr>
              <a:t>, and the standard deviation </a:t>
            </a:r>
            <a:r>
              <a:rPr lang="en-US" altLang="en-US" i="1" dirty="0">
                <a:solidFill>
                  <a:schemeClr val="tx1"/>
                </a:solidFill>
                <a:latin typeface="Symbol" pitchFamily="18" charset="2"/>
                <a:ea typeface="ＭＳ Ｐゴシック" pitchFamily="34" charset="-128"/>
              </a:rPr>
              <a:t>s</a:t>
            </a:r>
            <a:r>
              <a:rPr lang="en-US" altLang="en-US" dirty="0">
                <a:solidFill>
                  <a:schemeClr val="tx1"/>
                </a:solidFill>
                <a:ea typeface="ＭＳ Ｐゴシック" pitchFamily="34" charset="-128"/>
              </a:rPr>
              <a:t> of </a:t>
            </a:r>
            <a:r>
              <a:rPr lang="en-US" altLang="en-US" i="1" dirty="0">
                <a:solidFill>
                  <a:schemeClr val="tx1"/>
                </a:solidFill>
                <a:ea typeface="ＭＳ Ｐゴシック" pitchFamily="34" charset="-128"/>
              </a:rPr>
              <a:t>y</a:t>
            </a:r>
            <a:r>
              <a:rPr lang="en-US" altLang="en-US" dirty="0">
                <a:solidFill>
                  <a:schemeClr val="tx1"/>
                </a:solidFill>
                <a:ea typeface="ＭＳ Ｐゴシック" pitchFamily="34" charset="-128"/>
              </a:rPr>
              <a:t> are the unknown parameters of the regression model</a:t>
            </a:r>
            <a:r>
              <a:rPr lang="en-US" altLang="en-US" dirty="0">
                <a:solidFill>
                  <a:schemeClr val="tx1"/>
                </a:solidFill>
                <a:latin typeface="Symbol" pitchFamily="18" charset="2"/>
                <a:ea typeface="ＭＳ Ｐゴシック" pitchFamily="34" charset="-128"/>
              </a:rPr>
              <a:t>.</a:t>
            </a:r>
            <a:r>
              <a:rPr lang="en-US" altLang="en-US" dirty="0">
                <a:solidFill>
                  <a:schemeClr val="tx1"/>
                </a:solidFill>
                <a:ea typeface="ＭＳ Ｐゴシック" pitchFamily="34" charset="-128"/>
              </a:rPr>
              <a:t> We rely on the random sample data to provide unbiased estimates of these parameters.</a:t>
            </a:r>
          </a:p>
          <a:p>
            <a:pPr marL="0" indent="0" eaLnBrk="1" hangingPunct="1">
              <a:lnSpc>
                <a:spcPct val="150000"/>
              </a:lnSpc>
              <a:buFont typeface="Wingdings" pitchFamily="2" charset="2"/>
              <a:buNone/>
            </a:pPr>
            <a:endParaRPr lang="en-US" altLang="en-US" sz="1000" dirty="0">
              <a:solidFill>
                <a:schemeClr val="tx1"/>
              </a:solidFill>
              <a:ea typeface="ＭＳ Ｐゴシック" pitchFamily="34" charset="-128"/>
            </a:endParaRPr>
          </a:p>
          <a:p>
            <a:pPr marL="393700" lvl="1" indent="-279400" algn="just">
              <a:spcBef>
                <a:spcPct val="0"/>
              </a:spcBef>
              <a:spcAft>
                <a:spcPct val="35000"/>
              </a:spcAft>
            </a:pPr>
            <a:r>
              <a:rPr lang="en-US" altLang="en-US" sz="2000" dirty="0">
                <a:solidFill>
                  <a:schemeClr val="tx1"/>
                </a:solidFill>
                <a:ea typeface="ＭＳ Ｐゴシック" pitchFamily="34" charset="-128"/>
              </a:rPr>
              <a:t>The value of </a:t>
            </a:r>
            <a:r>
              <a:rPr lang="en-US" altLang="en-US" sz="2000" i="1" dirty="0">
                <a:solidFill>
                  <a:schemeClr val="tx1"/>
                </a:solidFill>
                <a:ea typeface="ＭＳ Ｐゴシック" pitchFamily="34" charset="-128"/>
              </a:rPr>
              <a:t>ŷ</a:t>
            </a:r>
            <a:r>
              <a:rPr lang="en-US" altLang="en-US" sz="2000" dirty="0">
                <a:solidFill>
                  <a:schemeClr val="tx1"/>
                </a:solidFill>
                <a:ea typeface="ＭＳ Ｐゴシック" pitchFamily="34" charset="-128"/>
              </a:rPr>
              <a:t> from the least-squares regression line is really a prediction of the mean value of </a:t>
            </a:r>
            <a:r>
              <a:rPr lang="en-US" altLang="en-US" sz="2000" i="1" dirty="0">
                <a:solidFill>
                  <a:schemeClr val="tx1"/>
                </a:solidFill>
                <a:ea typeface="ＭＳ Ｐゴシック" pitchFamily="34" charset="-128"/>
              </a:rPr>
              <a:t>y</a:t>
            </a:r>
            <a:r>
              <a:rPr lang="en-US" altLang="en-US" sz="2000" dirty="0">
                <a:solidFill>
                  <a:schemeClr val="tx1"/>
                </a:solidFill>
                <a:ea typeface="ＭＳ Ｐゴシック" pitchFamily="34" charset="-128"/>
              </a:rPr>
              <a:t> (</a:t>
            </a:r>
            <a:r>
              <a:rPr lang="en-US" altLang="en-US" b="1" i="1" dirty="0">
                <a:solidFill>
                  <a:schemeClr val="tx1"/>
                </a:solidFill>
                <a:latin typeface="Symbol" pitchFamily="18" charset="2"/>
                <a:ea typeface="ＭＳ Ｐゴシック" pitchFamily="34" charset="-128"/>
              </a:rPr>
              <a:t>m</a:t>
            </a:r>
            <a:r>
              <a:rPr lang="en-US" altLang="en-US" b="1" i="1" baseline="-25000" dirty="0">
                <a:solidFill>
                  <a:schemeClr val="tx1"/>
                </a:solidFill>
                <a:ea typeface="ＭＳ Ｐゴシック" pitchFamily="34" charset="-128"/>
              </a:rPr>
              <a:t>y</a:t>
            </a:r>
            <a:r>
              <a:rPr lang="en-US" altLang="en-US" sz="2000" dirty="0">
                <a:solidFill>
                  <a:schemeClr val="tx1"/>
                </a:solidFill>
                <a:ea typeface="ＭＳ Ｐゴシック" pitchFamily="34" charset="-128"/>
              </a:rPr>
              <a:t>) for a given value of </a:t>
            </a:r>
            <a:r>
              <a:rPr lang="en-US" altLang="en-US" sz="2000" i="1" dirty="0">
                <a:solidFill>
                  <a:schemeClr val="tx1"/>
                </a:solidFill>
                <a:ea typeface="ＭＳ Ｐゴシック" pitchFamily="34" charset="-128"/>
              </a:rPr>
              <a:t>x</a:t>
            </a:r>
            <a:r>
              <a:rPr lang="en-US" altLang="en-US" sz="2000" dirty="0">
                <a:solidFill>
                  <a:schemeClr val="tx1"/>
                </a:solidFill>
                <a:ea typeface="ＭＳ Ｐゴシック" pitchFamily="34" charset="-128"/>
              </a:rPr>
              <a:t>.</a:t>
            </a:r>
          </a:p>
          <a:p>
            <a:pPr marL="393700" lvl="1" indent="-279400" algn="just">
              <a:spcAft>
                <a:spcPct val="20000"/>
              </a:spcAft>
            </a:pPr>
            <a:r>
              <a:rPr lang="en-US" altLang="en-US" sz="2000" dirty="0">
                <a:solidFill>
                  <a:schemeClr val="tx1"/>
                </a:solidFill>
                <a:ea typeface="ＭＳ Ｐゴシック" pitchFamily="34" charset="-128"/>
              </a:rPr>
              <a:t>The least-squares regression line </a:t>
            </a:r>
            <a:r>
              <a:rPr lang="en-US" altLang="en-US" sz="2000" i="1" dirty="0">
                <a:solidFill>
                  <a:schemeClr val="tx1"/>
                </a:solidFill>
                <a:ea typeface="ＭＳ Ｐゴシック" pitchFamily="34" charset="-128"/>
              </a:rPr>
              <a:t>(ŷ = b</a:t>
            </a:r>
            <a:r>
              <a:rPr lang="en-US" altLang="en-US" sz="2000" baseline="-25000" dirty="0">
                <a:solidFill>
                  <a:schemeClr val="tx1"/>
                </a:solidFill>
                <a:ea typeface="ＭＳ Ｐゴシック" pitchFamily="34" charset="-128"/>
              </a:rPr>
              <a:t>0</a:t>
            </a:r>
            <a:r>
              <a:rPr lang="en-US" altLang="en-US" sz="2000" i="1" dirty="0">
                <a:solidFill>
                  <a:schemeClr val="tx1"/>
                </a:solidFill>
                <a:ea typeface="ＭＳ Ｐゴシック" pitchFamily="34" charset="-128"/>
              </a:rPr>
              <a:t> + b</a:t>
            </a:r>
            <a:r>
              <a:rPr lang="en-US" altLang="en-US" sz="2000" baseline="-25000" dirty="0">
                <a:solidFill>
                  <a:schemeClr val="tx1"/>
                </a:solidFill>
                <a:ea typeface="ＭＳ Ｐゴシック" pitchFamily="34" charset="-128"/>
              </a:rPr>
              <a:t>1</a:t>
            </a:r>
            <a:r>
              <a:rPr lang="en-US" altLang="en-US" sz="2000" i="1" dirty="0">
                <a:solidFill>
                  <a:schemeClr val="tx1"/>
                </a:solidFill>
                <a:ea typeface="ＭＳ Ｐゴシック" pitchFamily="34" charset="-128"/>
              </a:rPr>
              <a:t>x) </a:t>
            </a:r>
            <a:r>
              <a:rPr lang="en-US" altLang="en-US" sz="2000" dirty="0">
                <a:solidFill>
                  <a:schemeClr val="tx1"/>
                </a:solidFill>
                <a:ea typeface="ＭＳ Ｐゴシック" pitchFamily="34" charset="-128"/>
              </a:rPr>
              <a:t>obtained from sample data is the best estimate of the true population regression line (</a:t>
            </a:r>
            <a:r>
              <a:rPr lang="en-US" altLang="en-US" sz="2000" i="1" dirty="0">
                <a:solidFill>
                  <a:schemeClr val="tx1"/>
                </a:solidFill>
                <a:latin typeface="Symbol" pitchFamily="18" charset="2"/>
                <a:ea typeface="ＭＳ Ｐゴシック" pitchFamily="34" charset="-128"/>
              </a:rPr>
              <a:t>m</a:t>
            </a:r>
            <a:r>
              <a:rPr lang="en-US" altLang="en-US" sz="2000" i="1" baseline="-25000" dirty="0">
                <a:solidFill>
                  <a:schemeClr val="tx1"/>
                </a:solidFill>
                <a:ea typeface="ＭＳ Ｐゴシック" pitchFamily="34" charset="-128"/>
              </a:rPr>
              <a:t>y</a:t>
            </a:r>
            <a:r>
              <a:rPr lang="en-US" altLang="en-US" sz="2000" dirty="0">
                <a:solidFill>
                  <a:schemeClr val="tx1"/>
                </a:solidFill>
                <a:ea typeface="ＭＳ Ｐゴシック" pitchFamily="34" charset="-128"/>
              </a:rPr>
              <a:t> = </a:t>
            </a:r>
            <a:r>
              <a:rPr lang="en-US" altLang="en-US" sz="2000" i="1" dirty="0">
                <a:solidFill>
                  <a:schemeClr val="tx1"/>
                </a:solidFill>
                <a:latin typeface="Symbol" pitchFamily="18" charset="2"/>
                <a:ea typeface="ＭＳ Ｐゴシック" pitchFamily="34" charset="-128"/>
              </a:rPr>
              <a:t>b</a:t>
            </a:r>
            <a:r>
              <a:rPr lang="en-US" altLang="en-US" sz="2000" baseline="-25000" dirty="0">
                <a:solidFill>
                  <a:schemeClr val="tx1"/>
                </a:solidFill>
                <a:latin typeface="Symbol" pitchFamily="18" charset="2"/>
                <a:ea typeface="ＭＳ Ｐゴシック" pitchFamily="34" charset="-128"/>
              </a:rPr>
              <a:t>0</a:t>
            </a:r>
            <a:r>
              <a:rPr lang="en-US" altLang="en-US" sz="2000" dirty="0">
                <a:solidFill>
                  <a:schemeClr val="tx1"/>
                </a:solidFill>
                <a:ea typeface="ＭＳ Ｐゴシック" pitchFamily="34" charset="-128"/>
              </a:rPr>
              <a:t> + </a:t>
            </a:r>
            <a:r>
              <a:rPr lang="en-US" altLang="en-US" sz="2000" i="1" dirty="0">
                <a:solidFill>
                  <a:schemeClr val="tx1"/>
                </a:solidFill>
                <a:latin typeface="Symbol" pitchFamily="18" charset="2"/>
                <a:ea typeface="ＭＳ Ｐゴシック" pitchFamily="34" charset="-128"/>
              </a:rPr>
              <a:t>b</a:t>
            </a:r>
            <a:r>
              <a:rPr lang="en-US" altLang="en-US" sz="2000" baseline="-25000" dirty="0">
                <a:solidFill>
                  <a:schemeClr val="tx1"/>
                </a:solidFill>
                <a:latin typeface="Symbol" pitchFamily="18" charset="2"/>
                <a:ea typeface="ＭＳ Ｐゴシック" pitchFamily="34" charset="-128"/>
              </a:rPr>
              <a:t>1</a:t>
            </a:r>
            <a:r>
              <a:rPr lang="en-US" altLang="en-US" sz="2000" i="1" dirty="0">
                <a:solidFill>
                  <a:schemeClr val="tx1"/>
                </a:solidFill>
                <a:ea typeface="ＭＳ Ｐゴシック" pitchFamily="34" charset="-128"/>
              </a:rPr>
              <a:t>x</a:t>
            </a:r>
            <a:r>
              <a:rPr lang="en-US" altLang="en-US" sz="2000" dirty="0">
                <a:solidFill>
                  <a:schemeClr val="tx1"/>
                </a:solidFill>
                <a:ea typeface="ＭＳ Ｐゴシック" pitchFamily="34" charset="-128"/>
              </a:rPr>
              <a:t>). </a:t>
            </a:r>
          </a:p>
        </p:txBody>
      </p:sp>
      <p:sp>
        <p:nvSpPr>
          <p:cNvPr id="1328131" name="Text Box 3"/>
          <p:cNvSpPr txBox="1">
            <a:spLocks noChangeArrowheads="1"/>
          </p:cNvSpPr>
          <p:nvPr/>
        </p:nvSpPr>
        <p:spPr bwMode="auto">
          <a:xfrm>
            <a:off x="533400" y="5288641"/>
            <a:ext cx="5750292" cy="1589025"/>
          </a:xfrm>
          <a:prstGeom prst="rect">
            <a:avLst/>
          </a:prstGeom>
          <a:solidFill>
            <a:srgbClr val="FFFF00"/>
          </a:solidFill>
          <a:ln>
            <a:noFill/>
          </a:ln>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lnSpc>
                <a:spcPct val="170000"/>
              </a:lnSpc>
            </a:pPr>
            <a:r>
              <a:rPr lang="en-US" altLang="en-US" b="1" i="1" dirty="0">
                <a:solidFill>
                  <a:schemeClr val="tx1"/>
                </a:solidFill>
              </a:rPr>
              <a:t>ŷ </a:t>
            </a:r>
            <a:r>
              <a:rPr lang="en-US" altLang="en-US" dirty="0">
                <a:solidFill>
                  <a:schemeClr val="tx1"/>
                </a:solidFill>
              </a:rPr>
              <a:t>is an unbiased estimate for mean response </a:t>
            </a:r>
            <a:r>
              <a:rPr lang="en-US" altLang="en-US" b="1" i="1" dirty="0">
                <a:solidFill>
                  <a:schemeClr val="tx1"/>
                </a:solidFill>
                <a:latin typeface="Symbol" pitchFamily="18" charset="2"/>
              </a:rPr>
              <a:t>m</a:t>
            </a:r>
            <a:r>
              <a:rPr lang="en-US" altLang="en-US" b="1" i="1" baseline="-25000" dirty="0">
                <a:solidFill>
                  <a:schemeClr val="tx1"/>
                </a:solidFill>
              </a:rPr>
              <a:t>y</a:t>
            </a:r>
            <a:r>
              <a:rPr lang="en-US" altLang="en-US" dirty="0">
                <a:solidFill>
                  <a:schemeClr val="tx1"/>
                </a:solidFill>
              </a:rPr>
              <a:t>.</a:t>
            </a:r>
            <a:endParaRPr lang="en-US" altLang="en-US" b="1" i="1" baseline="-25000" dirty="0">
              <a:solidFill>
                <a:schemeClr val="tx1"/>
              </a:solidFill>
            </a:endParaRPr>
          </a:p>
          <a:p>
            <a:pPr eaLnBrk="1" hangingPunct="1">
              <a:lnSpc>
                <a:spcPct val="170000"/>
              </a:lnSpc>
            </a:pPr>
            <a:r>
              <a:rPr lang="en-US" altLang="en-US" b="1" i="1" dirty="0">
                <a:solidFill>
                  <a:schemeClr val="tx1"/>
                </a:solidFill>
              </a:rPr>
              <a:t>b</a:t>
            </a:r>
            <a:r>
              <a:rPr lang="en-US" altLang="en-US" b="1" baseline="-25000" dirty="0">
                <a:solidFill>
                  <a:schemeClr val="tx1"/>
                </a:solidFill>
              </a:rPr>
              <a:t>0 </a:t>
            </a:r>
            <a:r>
              <a:rPr lang="en-US" altLang="en-US" dirty="0">
                <a:solidFill>
                  <a:schemeClr val="tx1"/>
                </a:solidFill>
              </a:rPr>
              <a:t>is an unbiased estimate for intercept </a:t>
            </a:r>
            <a:r>
              <a:rPr lang="en-US" altLang="en-US" b="1" i="1" dirty="0">
                <a:solidFill>
                  <a:schemeClr val="tx1"/>
                </a:solidFill>
                <a:latin typeface="Symbol" pitchFamily="18" charset="2"/>
              </a:rPr>
              <a:t>b</a:t>
            </a:r>
            <a:r>
              <a:rPr lang="en-US" altLang="en-US" b="1" baseline="-25000" dirty="0">
                <a:solidFill>
                  <a:schemeClr val="tx1"/>
                </a:solidFill>
              </a:rPr>
              <a:t>0</a:t>
            </a:r>
            <a:r>
              <a:rPr lang="en-US" altLang="en-US" dirty="0">
                <a:solidFill>
                  <a:schemeClr val="tx1"/>
                </a:solidFill>
              </a:rPr>
              <a:t>.</a:t>
            </a:r>
            <a:endParaRPr lang="en-US" altLang="en-US" b="1" baseline="-25000" dirty="0">
              <a:solidFill>
                <a:schemeClr val="tx1"/>
              </a:solidFill>
            </a:endParaRPr>
          </a:p>
          <a:p>
            <a:pPr eaLnBrk="1" hangingPunct="1">
              <a:lnSpc>
                <a:spcPct val="170000"/>
              </a:lnSpc>
              <a:spcAft>
                <a:spcPct val="20000"/>
              </a:spcAft>
            </a:pPr>
            <a:r>
              <a:rPr lang="en-US" altLang="en-US" b="1" i="1" dirty="0">
                <a:solidFill>
                  <a:schemeClr val="tx1"/>
                </a:solidFill>
              </a:rPr>
              <a:t>b</a:t>
            </a:r>
            <a:r>
              <a:rPr lang="en-US" altLang="en-US" b="1" baseline="-25000" dirty="0">
                <a:solidFill>
                  <a:schemeClr val="tx1"/>
                </a:solidFill>
              </a:rPr>
              <a:t>1 </a:t>
            </a:r>
            <a:r>
              <a:rPr lang="en-US" altLang="en-US" dirty="0">
                <a:solidFill>
                  <a:schemeClr val="tx1"/>
                </a:solidFill>
              </a:rPr>
              <a:t>is an unbiased estimate for slope </a:t>
            </a:r>
            <a:r>
              <a:rPr lang="en-US" altLang="en-US" b="1" i="1" dirty="0">
                <a:solidFill>
                  <a:schemeClr val="tx1"/>
                </a:solidFill>
                <a:latin typeface="Symbol" pitchFamily="18" charset="2"/>
              </a:rPr>
              <a:t>b</a:t>
            </a:r>
            <a:r>
              <a:rPr lang="en-US" altLang="en-US" b="1" baseline="-25000" dirty="0">
                <a:solidFill>
                  <a:schemeClr val="tx1"/>
                </a:solidFill>
                <a:latin typeface="Symbol" pitchFamily="18" charset="2"/>
              </a:rPr>
              <a:t>1</a:t>
            </a:r>
            <a:r>
              <a:rPr lang="en-US" altLang="en-US" dirty="0">
                <a:solidFill>
                  <a:schemeClr val="tx1"/>
                </a:solidFill>
              </a:rPr>
              <a:t>.</a:t>
            </a:r>
            <a:endParaRPr lang="en-US" altLang="en-US" b="1" baseline="-25000" dirty="0">
              <a:solidFill>
                <a:schemeClr val="tx1"/>
              </a:solidFill>
              <a:latin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2813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8130">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281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81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US" dirty="0"/>
              <a:t>Estimating the Parameters—</a:t>
            </a:r>
            <a:r>
              <a:rPr lang="en-US" altLang="en-US" i="1" dirty="0">
                <a:latin typeface="Symbol" pitchFamily="18" charset="2"/>
              </a:rPr>
              <a:t>b</a:t>
            </a:r>
            <a:r>
              <a:rPr lang="en-US" altLang="en-US" dirty="0"/>
              <a:t>s</a:t>
            </a:r>
            <a:endParaRPr lang="en-US" dirty="0"/>
          </a:p>
        </p:txBody>
      </p:sp>
      <p:sp>
        <p:nvSpPr>
          <p:cNvPr id="3584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D51644A3-5E39-4CDA-92E2-160078B26861}" type="slidenum">
              <a:rPr lang="en-US" altLang="en-US" sz="1200">
                <a:solidFill>
                  <a:schemeClr val="accent1"/>
                </a:solidFill>
              </a:rPr>
              <a:pPr>
                <a:lnSpc>
                  <a:spcPct val="80000"/>
                </a:lnSpc>
              </a:pPr>
              <a:t>11</a:t>
            </a:fld>
            <a:endParaRPr lang="en-US" altLang="en-US" sz="1200">
              <a:solidFill>
                <a:schemeClr val="accent1"/>
              </a:solidFill>
            </a:endParaRPr>
          </a:p>
        </p:txBody>
      </p:sp>
      <p:pic>
        <p:nvPicPr>
          <p:cNvPr id="35843" name="Picture 7" descr="The three-dimensional diagram shows a graph in the x y plane. It plots y = blood pressure decrease on the vertical axis versus x = calcium in milligrams on the vertical axis. Regression line mu sub y = Beta sub 0 + Beta sub 1 x rises diagonally to the right from a point on the vertical axis. Four standard normal curves sit along the regression line at irregular intervals, perpendicular to it, rising in the z direction. The mean of each curve intersects the regression line."/>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144" y="1586309"/>
            <a:ext cx="4181856" cy="1603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Rectangle 4"/>
          <p:cNvSpPr>
            <a:spLocks noGrp="1" noChangeArrowheads="1"/>
          </p:cNvSpPr>
          <p:nvPr>
            <p:ph type="body" idx="4294967295"/>
          </p:nvPr>
        </p:nvSpPr>
        <p:spPr>
          <a:xfrm>
            <a:off x="4191000" y="1032401"/>
            <a:ext cx="4572000" cy="2710924"/>
          </a:xfrm>
          <a:solidFill>
            <a:srgbClr val="FFD780"/>
          </a:solidFill>
        </p:spPr>
        <p:txBody>
          <a:bodyPr/>
          <a:lstStyle/>
          <a:p>
            <a:pPr marL="0" indent="0" algn="just" eaLnBrk="1" hangingPunct="1">
              <a:buFont typeface="Wingdings" pitchFamily="2" charset="2"/>
              <a:buNone/>
            </a:pPr>
            <a:r>
              <a:rPr lang="en-US" altLang="en-US" dirty="0">
                <a:solidFill>
                  <a:srgbClr val="000000"/>
                </a:solidFill>
                <a:ea typeface="ＭＳ Ｐゴシック" pitchFamily="34" charset="-128"/>
              </a:rPr>
              <a:t>The </a:t>
            </a:r>
            <a:r>
              <a:rPr lang="en-US" altLang="en-US" b="1" dirty="0">
                <a:solidFill>
                  <a:schemeClr val="tx1"/>
                </a:solidFill>
                <a:ea typeface="ＭＳ Ｐゴシック" pitchFamily="34" charset="-128"/>
              </a:rPr>
              <a:t>slope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latin typeface="Symbol" pitchFamily="18" charset="2"/>
                <a:ea typeface="ＭＳ Ｐゴシック" pitchFamily="34" charset="-128"/>
              </a:rPr>
              <a:t>1</a:t>
            </a:r>
            <a:r>
              <a:rPr lang="en-US" altLang="en-US" b="1" i="1" dirty="0">
                <a:solidFill>
                  <a:schemeClr val="tx1"/>
                </a:solidFill>
                <a:latin typeface="Symbol" pitchFamily="18" charset="2"/>
                <a:ea typeface="ＭＳ Ｐゴシック" pitchFamily="34" charset="-128"/>
              </a:rPr>
              <a:t> </a:t>
            </a:r>
            <a:r>
              <a:rPr lang="en-US" altLang="en-US" dirty="0">
                <a:solidFill>
                  <a:schemeClr val="tx1"/>
                </a:solidFill>
                <a:ea typeface="ＭＳ Ｐゴシック" pitchFamily="34" charset="-128"/>
              </a:rPr>
              <a:t>for the regression line represents the change in the response variable </a:t>
            </a:r>
            <a:r>
              <a:rPr lang="en-US" altLang="en-US" i="1" dirty="0">
                <a:solidFill>
                  <a:schemeClr val="tx1"/>
                </a:solidFill>
                <a:ea typeface="ＭＳ Ｐゴシック" pitchFamily="34" charset="-128"/>
              </a:rPr>
              <a:t>y</a:t>
            </a:r>
            <a:r>
              <a:rPr lang="en-US" altLang="en-US" dirty="0">
                <a:solidFill>
                  <a:schemeClr val="tx1"/>
                </a:solidFill>
                <a:ea typeface="ＭＳ Ｐゴシック" pitchFamily="34" charset="-128"/>
              </a:rPr>
              <a:t> for an increase of one unit in the explanatory variable </a:t>
            </a:r>
            <a:r>
              <a:rPr lang="en-US" altLang="en-US" i="1" dirty="0">
                <a:solidFill>
                  <a:schemeClr val="tx1"/>
                </a:solidFill>
                <a:ea typeface="ＭＳ Ｐゴシック" pitchFamily="34" charset="-128"/>
              </a:rPr>
              <a:t>x</a:t>
            </a:r>
            <a:r>
              <a:rPr lang="en-US" altLang="en-US" dirty="0">
                <a:solidFill>
                  <a:schemeClr val="tx1"/>
                </a:solidFill>
                <a:ea typeface="ＭＳ Ｐゴシック" pitchFamily="34" charset="-128"/>
              </a:rPr>
              <a:t>.</a:t>
            </a:r>
          </a:p>
          <a:p>
            <a:pPr marL="0" indent="0" eaLnBrk="1" hangingPunct="1">
              <a:buFont typeface="Wingdings" pitchFamily="2" charset="2"/>
              <a:buNone/>
            </a:pPr>
            <a:r>
              <a:rPr lang="en-US" altLang="en-US" dirty="0">
                <a:solidFill>
                  <a:schemeClr val="tx1"/>
                </a:solidFill>
                <a:ea typeface="ＭＳ Ｐゴシック" pitchFamily="34" charset="-128"/>
              </a:rPr>
              <a:t>The </a:t>
            </a:r>
            <a:r>
              <a:rPr lang="en-US" altLang="en-US" b="1" dirty="0">
                <a:solidFill>
                  <a:schemeClr val="tx1"/>
                </a:solidFill>
                <a:ea typeface="ＭＳ Ｐゴシック" pitchFamily="34" charset="-128"/>
              </a:rPr>
              <a:t>intercept </a:t>
            </a:r>
            <a:r>
              <a:rPr lang="en-US" altLang="en-US" b="1" i="1" dirty="0">
                <a:solidFill>
                  <a:schemeClr val="tx1"/>
                </a:solidFill>
                <a:latin typeface="Symbol" pitchFamily="18" charset="2"/>
                <a:ea typeface="ＭＳ Ｐゴシック" pitchFamily="34" charset="-128"/>
              </a:rPr>
              <a:t>b</a:t>
            </a:r>
            <a:r>
              <a:rPr lang="en-US" altLang="en-US" b="1" baseline="-25000" dirty="0">
                <a:solidFill>
                  <a:schemeClr val="tx1"/>
                </a:solidFill>
                <a:latin typeface="Symbol" pitchFamily="18" charset="2"/>
                <a:ea typeface="ＭＳ Ｐゴシック" pitchFamily="34" charset="-128"/>
              </a:rPr>
              <a:t>0</a:t>
            </a:r>
            <a:r>
              <a:rPr lang="en-US" altLang="en-US" b="1" i="1" dirty="0">
                <a:solidFill>
                  <a:schemeClr val="tx1"/>
                </a:solidFill>
                <a:latin typeface="Symbol" pitchFamily="18" charset="2"/>
                <a:ea typeface="ＭＳ Ｐゴシック" pitchFamily="34" charset="-128"/>
              </a:rPr>
              <a:t> </a:t>
            </a:r>
            <a:r>
              <a:rPr lang="en-US" altLang="en-US" dirty="0">
                <a:solidFill>
                  <a:schemeClr val="tx1"/>
                </a:solidFill>
                <a:ea typeface="ＭＳ Ｐゴシック" pitchFamily="34" charset="-128"/>
              </a:rPr>
              <a:t>for </a:t>
            </a:r>
            <a:r>
              <a:rPr lang="en-US" altLang="en-US" dirty="0">
                <a:solidFill>
                  <a:srgbClr val="000000"/>
                </a:solidFill>
                <a:ea typeface="ＭＳ Ｐゴシック" pitchFamily="34" charset="-128"/>
              </a:rPr>
              <a:t>the regression line represents the value of the response variable </a:t>
            </a:r>
            <a:r>
              <a:rPr lang="en-US" altLang="en-US" i="1" dirty="0">
                <a:solidFill>
                  <a:schemeClr val="tx1"/>
                </a:solidFill>
                <a:ea typeface="ＭＳ Ｐゴシック" pitchFamily="34" charset="-128"/>
              </a:rPr>
              <a:t>y</a:t>
            </a:r>
            <a:r>
              <a:rPr lang="en-US" altLang="en-US" dirty="0">
                <a:solidFill>
                  <a:srgbClr val="000000"/>
                </a:solidFill>
                <a:ea typeface="ＭＳ Ｐゴシック" pitchFamily="34" charset="-128"/>
              </a:rPr>
              <a:t> when the explanatory variable </a:t>
            </a:r>
            <a:r>
              <a:rPr lang="en-US" altLang="en-US" i="1" dirty="0">
                <a:solidFill>
                  <a:srgbClr val="000000"/>
                </a:solidFill>
                <a:ea typeface="ＭＳ Ｐゴシック" pitchFamily="34" charset="-128"/>
              </a:rPr>
              <a:t>x </a:t>
            </a:r>
            <a:r>
              <a:rPr lang="en-US" altLang="en-US" dirty="0">
                <a:solidFill>
                  <a:srgbClr val="000000"/>
                </a:solidFill>
                <a:ea typeface="ＭＳ Ｐゴシック" pitchFamily="34" charset="-128"/>
              </a:rPr>
              <a:t>is zero.</a:t>
            </a:r>
          </a:p>
        </p:txBody>
      </p:sp>
      <p:sp>
        <p:nvSpPr>
          <p:cNvPr id="2" name="TextBox 1"/>
          <p:cNvSpPr txBox="1">
            <a:spLocks noChangeArrowheads="1"/>
          </p:cNvSpPr>
          <p:nvPr/>
        </p:nvSpPr>
        <p:spPr bwMode="auto">
          <a:xfrm>
            <a:off x="836613" y="4024658"/>
            <a:ext cx="59795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r>
              <a:rPr lang="en-US" altLang="en-US" dirty="0">
                <a:solidFill>
                  <a:schemeClr val="tx1"/>
                </a:solidFill>
              </a:rPr>
              <a:t>Recall from Chapter 2 the least-squares estimates</a:t>
            </a:r>
            <a:r>
              <a:rPr lang="en-US" altLang="en-US" dirty="0">
                <a:solidFill>
                  <a:schemeClr val="tx1"/>
                </a:solidFill>
                <a:latin typeface="Times" charset="0"/>
              </a:rPr>
              <a:t>:</a:t>
            </a:r>
          </a:p>
        </p:txBody>
      </p:sp>
      <p:sp>
        <p:nvSpPr>
          <p:cNvPr id="3" name="TextBox 2"/>
          <p:cNvSpPr txBox="1"/>
          <p:nvPr/>
        </p:nvSpPr>
        <p:spPr>
          <a:xfrm>
            <a:off x="836613" y="4703117"/>
            <a:ext cx="4342856" cy="461665"/>
          </a:xfrm>
          <a:prstGeom prst="rect">
            <a:avLst/>
          </a:prstGeom>
          <a:noFill/>
        </p:spPr>
        <p:txBody>
          <a:bodyPr wrap="none" rtlCol="0">
            <a:spAutoFit/>
          </a:bodyPr>
          <a:lstStyle/>
          <a:p>
            <a:r>
              <a:rPr lang="en-US" sz="2400" dirty="0"/>
              <a:t>The least-squares estimate for</a:t>
            </a:r>
          </a:p>
        </p:txBody>
      </p:sp>
      <p:graphicFrame>
        <p:nvGraphicFramePr>
          <p:cNvPr id="4" name="Object 3" descr="Beta sub 1 is b sub 1 = r start fraction s sub y over s sub x."/>
          <p:cNvGraphicFramePr>
            <a:graphicFrameLocks noChangeAspect="1"/>
          </p:cNvGraphicFramePr>
          <p:nvPr>
            <p:extLst>
              <p:ext uri="{D42A27DB-BD31-4B8C-83A1-F6EECF244321}">
                <p14:modId xmlns:p14="http://schemas.microsoft.com/office/powerpoint/2010/main" val="3834057748"/>
              </p:ext>
            </p:extLst>
          </p:nvPr>
        </p:nvGraphicFramePr>
        <p:xfrm>
          <a:off x="5146675" y="4531369"/>
          <a:ext cx="1790700" cy="850900"/>
        </p:xfrm>
        <a:graphic>
          <a:graphicData uri="http://schemas.openxmlformats.org/presentationml/2006/ole">
            <mc:AlternateContent xmlns:mc="http://schemas.openxmlformats.org/markup-compatibility/2006">
              <mc:Choice xmlns:v="urn:schemas-microsoft-com:vml" Requires="v">
                <p:oleObj spid="_x0000_s36150" name="Equation" r:id="rId5" imgW="1790640" imgH="850680" progId="Equation.DSMT4">
                  <p:embed/>
                </p:oleObj>
              </mc:Choice>
              <mc:Fallback>
                <p:oleObj name="Equation" r:id="rId5" imgW="1790640" imgH="850680" progId="Equation.DSMT4">
                  <p:embed/>
                  <p:pic>
                    <p:nvPicPr>
                      <p:cNvPr id="0" name="Object 3"/>
                      <p:cNvPicPr>
                        <a:picLocks noChangeAspect="1" noChangeArrowheads="1"/>
                      </p:cNvPicPr>
                      <p:nvPr/>
                    </p:nvPicPr>
                    <p:blipFill>
                      <a:blip r:embed="rId6"/>
                      <a:srcRect/>
                      <a:stretch>
                        <a:fillRect/>
                      </a:stretch>
                    </p:blipFill>
                    <p:spPr bwMode="auto">
                      <a:xfrm>
                        <a:off x="5146675" y="4531369"/>
                        <a:ext cx="1790700"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Box 10"/>
          <p:cNvSpPr txBox="1"/>
          <p:nvPr/>
        </p:nvSpPr>
        <p:spPr>
          <a:xfrm>
            <a:off x="836613" y="5448598"/>
            <a:ext cx="4342856" cy="461665"/>
          </a:xfrm>
          <a:prstGeom prst="rect">
            <a:avLst/>
          </a:prstGeom>
          <a:noFill/>
        </p:spPr>
        <p:txBody>
          <a:bodyPr wrap="none" rtlCol="0">
            <a:spAutoFit/>
          </a:bodyPr>
          <a:lstStyle/>
          <a:p>
            <a:r>
              <a:rPr lang="en-US" sz="2400" dirty="0"/>
              <a:t>The least-squares estimate for</a:t>
            </a:r>
          </a:p>
        </p:txBody>
      </p:sp>
      <p:graphicFrame>
        <p:nvGraphicFramePr>
          <p:cNvPr id="10" name="Object 9" descr="Beta sub 0 is b sub 0 = y bar minus b sub 1 x bar."/>
          <p:cNvGraphicFramePr>
            <a:graphicFrameLocks noChangeAspect="1"/>
          </p:cNvGraphicFramePr>
          <p:nvPr>
            <p:extLst>
              <p:ext uri="{D42A27DB-BD31-4B8C-83A1-F6EECF244321}">
                <p14:modId xmlns:p14="http://schemas.microsoft.com/office/powerpoint/2010/main" val="565885677"/>
              </p:ext>
            </p:extLst>
          </p:nvPr>
        </p:nvGraphicFramePr>
        <p:xfrm>
          <a:off x="5146675" y="5512431"/>
          <a:ext cx="2184400" cy="381000"/>
        </p:xfrm>
        <a:graphic>
          <a:graphicData uri="http://schemas.openxmlformats.org/presentationml/2006/ole">
            <mc:AlternateContent xmlns:mc="http://schemas.openxmlformats.org/markup-compatibility/2006">
              <mc:Choice xmlns:v="urn:schemas-microsoft-com:vml" Requires="v">
                <p:oleObj spid="_x0000_s36151" name="Equation" r:id="rId7" imgW="2184120" imgH="380880" progId="Equation.DSMT4">
                  <p:embed/>
                </p:oleObj>
              </mc:Choice>
              <mc:Fallback>
                <p:oleObj name="Equation" r:id="rId7" imgW="2184120" imgH="380880" progId="Equation.DSMT4">
                  <p:embed/>
                  <p:pic>
                    <p:nvPicPr>
                      <p:cNvPr id="0" name="Object 9"/>
                      <p:cNvPicPr>
                        <a:picLocks noChangeAspect="1" noChangeArrowheads="1"/>
                      </p:cNvPicPr>
                      <p:nvPr/>
                    </p:nvPicPr>
                    <p:blipFill>
                      <a:blip r:embed="rId8"/>
                      <a:srcRect/>
                      <a:stretch>
                        <a:fillRect/>
                      </a:stretch>
                    </p:blipFill>
                    <p:spPr bwMode="auto">
                      <a:xfrm>
                        <a:off x="5146675" y="5512431"/>
                        <a:ext cx="2184400" cy="381000"/>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Estimating the Parameters—</a:t>
            </a:r>
            <a:r>
              <a:rPr lang="en-US" altLang="en-US" i="1" dirty="0">
                <a:latin typeface="Symbol" pitchFamily="18" charset="2"/>
              </a:rPr>
              <a:t>s</a:t>
            </a:r>
            <a:endParaRPr lang="en-US" dirty="0"/>
          </a:p>
        </p:txBody>
      </p:sp>
      <p:sp>
        <p:nvSpPr>
          <p:cNvPr id="368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85F1D22-CD44-4D3F-850A-338E8EE99856}" type="slidenum">
              <a:rPr lang="en-US" altLang="en-US" sz="1200">
                <a:solidFill>
                  <a:schemeClr val="accent1"/>
                </a:solidFill>
              </a:rPr>
              <a:pPr>
                <a:lnSpc>
                  <a:spcPct val="80000"/>
                </a:lnSpc>
              </a:pPr>
              <a:t>12</a:t>
            </a:fld>
            <a:endParaRPr lang="en-US" altLang="en-US" sz="1200">
              <a:solidFill>
                <a:schemeClr val="accent1"/>
              </a:solidFill>
            </a:endParaRPr>
          </a:p>
        </p:txBody>
      </p:sp>
      <p:pic>
        <p:nvPicPr>
          <p:cNvPr id="36868" name="Picture 7" descr="The three-dimensional diagram shows a graph in the x y plane. It plots y = blood pressure decrease on the vertical axis versus x = calcium in milligrams on the vertical axis. Regression line mu sub y = Beta sub 0 + Beta sub 1 x rises diagonally to the right from a point on the vertical axis. Four standard normal curves sit along the regression line at irregular intervals, perpendicular to it, rising in the z direction. The mean of each curve intersects the regression line."/>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74624" y="1269339"/>
            <a:ext cx="4007231" cy="1603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Rectangle 4" descr="The population standard deviation sigma for y at any given value of x represents the spread of the normal distribution of the E subscript i around the mean mew subscript y."/>
          <p:cNvSpPr>
            <a:spLocks noGrp="1" noChangeArrowheads="1"/>
          </p:cNvSpPr>
          <p:nvPr>
            <p:ph type="body" idx="4294967295"/>
          </p:nvPr>
        </p:nvSpPr>
        <p:spPr>
          <a:xfrm>
            <a:off x="4191000" y="1396229"/>
            <a:ext cx="4572000" cy="1349329"/>
          </a:xfrm>
          <a:solidFill>
            <a:srgbClr val="FFD780"/>
          </a:solidFill>
        </p:spPr>
        <p:txBody>
          <a:bodyPr/>
          <a:lstStyle/>
          <a:p>
            <a:pPr marL="0" indent="0" algn="just" eaLnBrk="1" hangingPunct="1">
              <a:buFont typeface="Wingdings" pitchFamily="2" charset="2"/>
              <a:buNone/>
            </a:pPr>
            <a:r>
              <a:rPr lang="en-US" altLang="en-US" dirty="0">
                <a:solidFill>
                  <a:srgbClr val="000000"/>
                </a:solidFill>
                <a:ea typeface="ＭＳ Ｐゴシック" pitchFamily="34" charset="-128"/>
              </a:rPr>
              <a:t>The </a:t>
            </a:r>
            <a:r>
              <a:rPr lang="en-US" altLang="en-US" b="1" dirty="0">
                <a:solidFill>
                  <a:schemeClr val="tx1"/>
                </a:solidFill>
                <a:ea typeface="ＭＳ Ｐゴシック" pitchFamily="34" charset="-128"/>
              </a:rPr>
              <a:t>population standard deviation </a:t>
            </a:r>
            <a:r>
              <a:rPr lang="en-US" altLang="en-US" b="1" i="1" dirty="0">
                <a:solidFill>
                  <a:srgbClr val="000000"/>
                </a:solidFill>
                <a:latin typeface="Symbol" pitchFamily="18" charset="2"/>
                <a:ea typeface="ＭＳ Ｐゴシック" pitchFamily="34" charset="-128"/>
              </a:rPr>
              <a:t>s </a:t>
            </a:r>
            <a:r>
              <a:rPr lang="en-US" altLang="en-US" dirty="0">
                <a:solidFill>
                  <a:srgbClr val="000000"/>
                </a:solidFill>
                <a:ea typeface="ＭＳ Ｐゴシック" pitchFamily="34" charset="-128"/>
              </a:rPr>
              <a:t>for </a:t>
            </a:r>
            <a:r>
              <a:rPr lang="en-US" altLang="en-US" i="1" dirty="0">
                <a:solidFill>
                  <a:srgbClr val="000000"/>
                </a:solidFill>
                <a:ea typeface="ＭＳ Ｐゴシック" pitchFamily="34" charset="-128"/>
              </a:rPr>
              <a:t>y</a:t>
            </a:r>
            <a:r>
              <a:rPr lang="en-US" altLang="en-US" dirty="0">
                <a:solidFill>
                  <a:srgbClr val="000000"/>
                </a:solidFill>
                <a:ea typeface="ＭＳ Ｐゴシック" pitchFamily="34" charset="-128"/>
              </a:rPr>
              <a:t> at any given value of </a:t>
            </a:r>
            <a:r>
              <a:rPr lang="en-US" altLang="en-US" i="1" dirty="0">
                <a:solidFill>
                  <a:srgbClr val="000000"/>
                </a:solidFill>
                <a:ea typeface="ＭＳ Ｐゴシック" pitchFamily="34" charset="-128"/>
              </a:rPr>
              <a:t>x</a:t>
            </a:r>
            <a:r>
              <a:rPr lang="en-US" altLang="en-US" dirty="0">
                <a:solidFill>
                  <a:srgbClr val="000000"/>
                </a:solidFill>
                <a:ea typeface="ＭＳ Ｐゴシック" pitchFamily="34" charset="-128"/>
              </a:rPr>
              <a:t> represents the spread of the normal distribution of the </a:t>
            </a:r>
            <a:r>
              <a:rPr lang="en-US" altLang="en-US" b="1" i="1" dirty="0" err="1">
                <a:solidFill>
                  <a:srgbClr val="000000"/>
                </a:solidFill>
                <a:latin typeface="Symbol" pitchFamily="18" charset="2"/>
                <a:ea typeface="ＭＳ Ｐゴシック" pitchFamily="34" charset="-128"/>
              </a:rPr>
              <a:t>e</a:t>
            </a:r>
            <a:r>
              <a:rPr lang="en-US" altLang="en-US" b="1" i="1" baseline="-25000" dirty="0" err="1">
                <a:solidFill>
                  <a:srgbClr val="000000"/>
                </a:solidFill>
                <a:ea typeface="ＭＳ Ｐゴシック" pitchFamily="34" charset="-128"/>
              </a:rPr>
              <a:t>i</a:t>
            </a:r>
            <a:r>
              <a:rPr lang="en-US" altLang="en-US" dirty="0">
                <a:solidFill>
                  <a:srgbClr val="000000"/>
                </a:solidFill>
                <a:ea typeface="ＭＳ Ｐゴシック" pitchFamily="34" charset="-128"/>
              </a:rPr>
              <a:t> around the mean </a:t>
            </a:r>
            <a:r>
              <a:rPr lang="en-US" altLang="en-US" b="1" i="1" dirty="0">
                <a:solidFill>
                  <a:srgbClr val="000000"/>
                </a:solidFill>
                <a:latin typeface="Symbol" pitchFamily="18" charset="2"/>
                <a:ea typeface="ＭＳ Ｐゴシック" pitchFamily="34" charset="-128"/>
              </a:rPr>
              <a:t>m</a:t>
            </a:r>
            <a:r>
              <a:rPr lang="en-US" altLang="en-US" b="1" i="1" baseline="-25000" dirty="0">
                <a:solidFill>
                  <a:srgbClr val="000000"/>
                </a:solidFill>
                <a:ea typeface="ＭＳ Ｐゴシック" pitchFamily="34" charset="-128"/>
              </a:rPr>
              <a:t>y</a:t>
            </a:r>
            <a:r>
              <a:rPr lang="en-US" altLang="en-US" dirty="0">
                <a:solidFill>
                  <a:srgbClr val="000000"/>
                </a:solidFill>
                <a:ea typeface="ＭＳ Ｐゴシック" pitchFamily="34" charset="-128"/>
              </a:rPr>
              <a:t>.</a:t>
            </a:r>
          </a:p>
        </p:txBody>
      </p:sp>
      <p:graphicFrame>
        <p:nvGraphicFramePr>
          <p:cNvPr id="3" name="Object 2"/>
          <p:cNvGraphicFramePr>
            <a:graphicFrameLocks noChangeAspect="1"/>
          </p:cNvGraphicFramePr>
          <p:nvPr>
            <p:extLst>
              <p:ext uri="{D42A27DB-BD31-4B8C-83A1-F6EECF244321}">
                <p14:modId xmlns:p14="http://schemas.microsoft.com/office/powerpoint/2010/main" val="3524008062"/>
              </p:ext>
            </p:extLst>
          </p:nvPr>
        </p:nvGraphicFramePr>
        <p:xfrm>
          <a:off x="174625" y="2964580"/>
          <a:ext cx="8852419" cy="3647975"/>
        </p:xfrm>
        <a:graphic>
          <a:graphicData uri="http://schemas.openxmlformats.org/presentationml/2006/ole">
            <mc:AlternateContent xmlns:mc="http://schemas.openxmlformats.org/markup-compatibility/2006">
              <mc:Choice xmlns:v="urn:schemas-microsoft-com:vml" Requires="v">
                <p:oleObj spid="_x0000_s57355" name="Equation" r:id="rId5" imgW="4622760" imgH="1904760" progId="Equation.DSMT4">
                  <p:embed/>
                </p:oleObj>
              </mc:Choice>
              <mc:Fallback>
                <p:oleObj name="Equation" r:id="rId5" imgW="4622760" imgH="1904760" progId="Equation.DSMT4">
                  <p:embed/>
                  <p:pic>
                    <p:nvPicPr>
                      <p:cNvPr id="0" name=""/>
                      <p:cNvPicPr/>
                      <p:nvPr/>
                    </p:nvPicPr>
                    <p:blipFill>
                      <a:blip r:embed="rId6"/>
                      <a:stretch>
                        <a:fillRect/>
                      </a:stretch>
                    </p:blipFill>
                    <p:spPr>
                      <a:xfrm>
                        <a:off x="174625" y="2964580"/>
                        <a:ext cx="8852419" cy="3647975"/>
                      </a:xfrm>
                      <a:prstGeom prst="rect">
                        <a:avLst/>
                      </a:prstGeom>
                      <a:solidFill>
                        <a:srgbClr val="FFD780"/>
                      </a:solidFill>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itchFamily="34" charset="-128"/>
              </a:rPr>
              <a:t>Checking the Conditions for Regression Inference</a:t>
            </a:r>
          </a:p>
        </p:txBody>
      </p:sp>
      <p:sp>
        <p:nvSpPr>
          <p:cNvPr id="378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5E7A1B9D-7B8A-4572-B65D-84DA7E0090A6}" type="slidenum">
              <a:rPr lang="en-US" altLang="en-US" sz="1200">
                <a:solidFill>
                  <a:schemeClr val="accent1"/>
                </a:solidFill>
              </a:rPr>
              <a:pPr>
                <a:lnSpc>
                  <a:spcPct val="80000"/>
                </a:lnSpc>
              </a:pPr>
              <a:t>13</a:t>
            </a:fld>
            <a:endParaRPr lang="en-US" altLang="en-US" sz="1200">
              <a:solidFill>
                <a:schemeClr val="accent1"/>
              </a:solidFill>
            </a:endParaRPr>
          </a:p>
        </p:txBody>
      </p:sp>
      <p:sp>
        <p:nvSpPr>
          <p:cNvPr id="37892" name="TextBox 1"/>
          <p:cNvSpPr txBox="1">
            <a:spLocks noChangeArrowheads="1"/>
          </p:cNvSpPr>
          <p:nvPr/>
        </p:nvSpPr>
        <p:spPr bwMode="auto">
          <a:xfrm>
            <a:off x="174625" y="1362075"/>
            <a:ext cx="8312150" cy="1938338"/>
          </a:xfrm>
          <a:prstGeom prst="rect">
            <a:avLst/>
          </a:prstGeom>
          <a:solidFill>
            <a:srgbClr val="FFD780"/>
          </a:solidFill>
          <a:ln>
            <a:noFill/>
          </a:ln>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r>
              <a:rPr lang="en-US" altLang="en-US" dirty="0">
                <a:solidFill>
                  <a:schemeClr val="tx1"/>
                </a:solidFill>
              </a:rPr>
              <a:t>You can fit a least-squares line to any set of explanatory-response data when both variables are quantitative. If the scatterplot does not show a roughly linear pattern, the fitted line may be almost useless.</a:t>
            </a:r>
          </a:p>
          <a:p>
            <a:pPr eaLnBrk="1" hangingPunct="1"/>
            <a:endParaRPr lang="en-US" altLang="en-US" dirty="0">
              <a:solidFill>
                <a:schemeClr val="tx1"/>
              </a:solidFill>
            </a:endParaRPr>
          </a:p>
          <a:p>
            <a:pPr algn="just" eaLnBrk="1" hangingPunct="1"/>
            <a:r>
              <a:rPr lang="en-US" altLang="en-US" dirty="0">
                <a:solidFill>
                  <a:schemeClr val="tx1"/>
                </a:solidFill>
              </a:rPr>
              <a:t>Before you can trust the results of inference, you must check the conditions for inference one by one.</a:t>
            </a:r>
          </a:p>
        </p:txBody>
      </p:sp>
      <p:sp>
        <p:nvSpPr>
          <p:cNvPr id="11" name="TextBox 10"/>
          <p:cNvSpPr txBox="1">
            <a:spLocks noChangeArrowheads="1"/>
          </p:cNvSpPr>
          <p:nvPr/>
        </p:nvSpPr>
        <p:spPr bwMode="auto">
          <a:xfrm>
            <a:off x="174625" y="3570288"/>
            <a:ext cx="8312150" cy="1938337"/>
          </a:xfrm>
          <a:prstGeom prst="rect">
            <a:avLst/>
          </a:prstGeom>
          <a:solidFill>
            <a:srgbClr val="FFFF00"/>
          </a:solidFill>
          <a:ln w="10000">
            <a:solidFill>
              <a:srgbClr val="B88472"/>
            </a:solidFill>
            <a:miter lim="800000"/>
            <a:headEnd/>
            <a:tailEnd/>
          </a:ln>
          <a:effectLst>
            <a:outerShdw blurRad="38100" dist="30000" dir="5400000" rotWithShape="0">
              <a:srgbClr val="808080">
                <a:alpha val="45000"/>
              </a:srgbClr>
            </a:outerShdw>
          </a:effectLst>
        </p:spPr>
        <p:txBody>
          <a:bodyPr>
            <a:spAutoFit/>
          </a:bodyPr>
          <a:lstStyle/>
          <a:p>
            <a:pPr marL="285750" indent="-285750" eaLnBrk="1" hangingPunct="1">
              <a:buClr>
                <a:srgbClr val="C00000"/>
              </a:buClr>
              <a:buFont typeface="Wingdings" charset="2"/>
              <a:buChar char="ü"/>
              <a:defRPr/>
            </a:pPr>
            <a:r>
              <a:rPr lang="en-US" sz="2000" b="1" dirty="0">
                <a:solidFill>
                  <a:schemeClr val="dk1"/>
                </a:solidFill>
                <a:latin typeface="Arial"/>
                <a:ea typeface="+mn-ea"/>
                <a:cs typeface="Arial"/>
              </a:rPr>
              <a:t>The relationship is linear in the population.</a:t>
            </a:r>
          </a:p>
          <a:p>
            <a:pPr marL="285750" indent="-285750" eaLnBrk="1" hangingPunct="1">
              <a:buClr>
                <a:srgbClr val="C00000"/>
              </a:buClr>
              <a:buFont typeface="Wingdings" charset="2"/>
              <a:buChar char="ü"/>
              <a:defRPr/>
            </a:pPr>
            <a:r>
              <a:rPr lang="en-US" sz="2000" b="1" dirty="0">
                <a:solidFill>
                  <a:schemeClr val="dk1"/>
                </a:solidFill>
                <a:latin typeface="Arial"/>
                <a:ea typeface="+mn-ea"/>
                <a:cs typeface="Arial"/>
              </a:rPr>
              <a:t>The response varies Normally about the population regression line.</a:t>
            </a:r>
          </a:p>
          <a:p>
            <a:pPr marL="285750" indent="-285750" eaLnBrk="1" hangingPunct="1">
              <a:buClr>
                <a:srgbClr val="C00000"/>
              </a:buClr>
              <a:buFont typeface="Wingdings" charset="2"/>
              <a:buChar char="ü"/>
              <a:defRPr/>
            </a:pPr>
            <a:r>
              <a:rPr lang="en-US" sz="2000" b="1" dirty="0">
                <a:solidFill>
                  <a:schemeClr val="dk1"/>
                </a:solidFill>
                <a:latin typeface="Arial"/>
                <a:ea typeface="+mn-ea"/>
                <a:cs typeface="Arial"/>
              </a:rPr>
              <a:t>Observations are independent.</a:t>
            </a:r>
          </a:p>
          <a:p>
            <a:pPr marL="285750" indent="-285750" eaLnBrk="1" hangingPunct="1">
              <a:buClr>
                <a:srgbClr val="C00000"/>
              </a:buClr>
              <a:buFont typeface="Wingdings" charset="2"/>
              <a:buChar char="ü"/>
              <a:defRPr/>
            </a:pPr>
            <a:r>
              <a:rPr lang="en-US" sz="2000" b="1" dirty="0">
                <a:solidFill>
                  <a:schemeClr val="dk1"/>
                </a:solidFill>
                <a:latin typeface="Arial"/>
                <a:ea typeface="+mn-ea"/>
                <a:cs typeface="Arial"/>
              </a:rPr>
              <a:t>The standard deviation of the responses is the same for all values of </a:t>
            </a:r>
            <a:r>
              <a:rPr lang="en-US" sz="2000" b="1" i="1" dirty="0">
                <a:solidFill>
                  <a:schemeClr val="dk1"/>
                </a:solidFill>
                <a:latin typeface="Arial"/>
                <a:ea typeface="+mn-ea"/>
                <a:cs typeface="Arial"/>
              </a:rPr>
              <a:t>x</a:t>
            </a:r>
            <a:r>
              <a:rPr lang="en-US" sz="2000" b="1" dirty="0">
                <a:solidFill>
                  <a:schemeClr val="dk1"/>
                </a:solidFill>
                <a:latin typeface="Arial"/>
                <a:ea typeface="+mn-ea"/>
                <a:cs typeface="Arial"/>
              </a:rPr>
              <a:t>.</a:t>
            </a:r>
          </a:p>
        </p:txBody>
      </p:sp>
      <p:sp>
        <p:nvSpPr>
          <p:cNvPr id="3" name="Rectangle 2"/>
          <p:cNvSpPr>
            <a:spLocks noChangeArrowheads="1"/>
          </p:cNvSpPr>
          <p:nvPr/>
        </p:nvSpPr>
        <p:spPr bwMode="auto">
          <a:xfrm>
            <a:off x="180182" y="5710238"/>
            <a:ext cx="8329612" cy="708025"/>
          </a:xfrm>
          <a:prstGeom prst="rect">
            <a:avLst/>
          </a:prstGeom>
          <a:solidFill>
            <a:srgbClr val="FFD780"/>
          </a:solidFill>
          <a:ln>
            <a:noFill/>
          </a:ln>
        </p:spPr>
        <p:txBody>
          <a:bodyPr wrap="square">
            <a:spAutoFit/>
          </a:bodyPr>
          <a:lstStyle/>
          <a:p>
            <a:pPr algn="just" eaLnBrk="1" hangingPunct="1"/>
            <a:r>
              <a:rPr lang="en-US" altLang="en-US" sz="2000" dirty="0"/>
              <a:t>You can check all the conditions for regression inference by looking at graphs of the residuals or </a:t>
            </a:r>
            <a:r>
              <a:rPr lang="en-US" altLang="en-US" sz="2000" b="1" dirty="0"/>
              <a:t>residual plots.</a:t>
            </a:r>
            <a:endParaRPr lang="en-US" alt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dissolve">
                                      <p:cBhvr>
                                        <p:cTn id="7" dur="500"/>
                                        <p:tgtEl>
                                          <p:spTgt spid="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dissolve">
                                      <p:cBhvr>
                                        <p:cTn id="12" dur="500"/>
                                        <p:tgtEl>
                                          <p:spTgt spid="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dissolve">
                                      <p:cBhvr>
                                        <p:cTn id="17" dur="500"/>
                                        <p:tgtEl>
                                          <p:spTgt spid="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dissolve">
                                      <p:cBhvr>
                                        <p:cTn id="22" dur="500"/>
                                        <p:tgtEl>
                                          <p:spTgt spid="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itchFamily="34" charset="-128"/>
              </a:rPr>
              <a:t>Confidence Interval for Regression Slope</a:t>
            </a:r>
          </a:p>
        </p:txBody>
      </p:sp>
      <p:sp>
        <p:nvSpPr>
          <p:cNvPr id="3891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E4FE62F-4374-4EC3-B747-4552FA9AEED6}" type="slidenum">
              <a:rPr lang="en-US" altLang="en-US" sz="1200">
                <a:solidFill>
                  <a:schemeClr val="accent1"/>
                </a:solidFill>
              </a:rPr>
              <a:pPr>
                <a:lnSpc>
                  <a:spcPct val="80000"/>
                </a:lnSpc>
              </a:pPr>
              <a:t>14</a:t>
            </a:fld>
            <a:endParaRPr lang="en-US" altLang="en-US" sz="1200">
              <a:solidFill>
                <a:schemeClr val="accent1"/>
              </a:solidFill>
            </a:endParaRPr>
          </a:p>
        </p:txBody>
      </p:sp>
      <p:sp>
        <p:nvSpPr>
          <p:cNvPr id="38916" name="Rectangle 9" descr="The slide displays heading given as “Confidence interval for regression slope”. &#10;The slide further reads:&#10;The slope Beta 1 of the population regression line mew subscript y = beta zero + beta one into x, is the rate of change of the mean response as the explanatory variable increases. We often want to estimate beta one. The slope beta one of the sample regression line is our point estimate for beta one. &#10;The confidence interval for beta one has the familiar form:&#10;Estimate, plus minus, t superscript star multiplied by (standard error of estimate)."/>
          <p:cNvSpPr>
            <a:spLocks noChangeArrowheads="1"/>
          </p:cNvSpPr>
          <p:nvPr/>
        </p:nvSpPr>
        <p:spPr bwMode="auto">
          <a:xfrm>
            <a:off x="174625" y="1422400"/>
            <a:ext cx="8443117" cy="2092325"/>
          </a:xfrm>
          <a:prstGeom prst="rect">
            <a:avLst/>
          </a:prstGeom>
          <a:solidFill>
            <a:srgbClr val="FFD780"/>
          </a:solidFill>
          <a:ln>
            <a:noFill/>
          </a:ln>
        </p:spPr>
        <p:txBody>
          <a:bodyPr wrap="square">
            <a:spAutoFit/>
          </a:bodyPr>
          <a:lstStyle/>
          <a:p>
            <a:pPr eaLnBrk="1" hangingPunct="1">
              <a:spcAft>
                <a:spcPts val="600"/>
              </a:spcAft>
            </a:pPr>
            <a:r>
              <a:rPr lang="en-US" altLang="en-US" sz="2000" dirty="0"/>
              <a:t>The slope </a:t>
            </a:r>
            <a:r>
              <a:rPr lang="en-US" altLang="en-US" sz="2000" i="1" dirty="0"/>
              <a:t>β</a:t>
            </a:r>
            <a:r>
              <a:rPr lang="en-US" altLang="en-US" sz="2000" baseline="-25000" dirty="0"/>
              <a:t>1</a:t>
            </a:r>
            <a:r>
              <a:rPr lang="en-US" altLang="en-US" sz="2000" i="1" dirty="0"/>
              <a:t> </a:t>
            </a:r>
            <a:r>
              <a:rPr lang="en-US" altLang="en-US" sz="2000" dirty="0"/>
              <a:t>of the population regression line </a:t>
            </a:r>
            <a:r>
              <a:rPr lang="en-US" altLang="en-US" sz="2000" i="1" dirty="0"/>
              <a:t>µ</a:t>
            </a:r>
            <a:r>
              <a:rPr lang="en-US" altLang="en-US" sz="2000" i="1" baseline="-25000" dirty="0"/>
              <a:t>y</a:t>
            </a:r>
            <a:r>
              <a:rPr lang="en-US" altLang="en-US" sz="2000" dirty="0"/>
              <a:t> = </a:t>
            </a:r>
            <a:r>
              <a:rPr lang="en-US" altLang="en-US" sz="2000" i="1" dirty="0"/>
              <a:t>β</a:t>
            </a:r>
            <a:r>
              <a:rPr lang="en-US" altLang="en-US" sz="2000" baseline="-25000" dirty="0"/>
              <a:t>0</a:t>
            </a:r>
            <a:r>
              <a:rPr lang="en-US" altLang="en-US" sz="2000" i="1" dirty="0"/>
              <a:t> </a:t>
            </a:r>
            <a:r>
              <a:rPr lang="en-US" altLang="en-US" sz="2000" dirty="0"/>
              <a:t>+ </a:t>
            </a:r>
            <a:r>
              <a:rPr lang="en-US" altLang="en-US" sz="2000" i="1" dirty="0"/>
              <a:t>β</a:t>
            </a:r>
            <a:r>
              <a:rPr lang="en-US" altLang="en-US" sz="2000" baseline="-25000" dirty="0"/>
              <a:t>1</a:t>
            </a:r>
            <a:r>
              <a:rPr lang="en-US" altLang="en-US" sz="2000" i="1" dirty="0"/>
              <a:t>x </a:t>
            </a:r>
            <a:r>
              <a:rPr lang="en-US" altLang="en-US" sz="2000" dirty="0"/>
              <a:t>is the rate of change of the mean response as the explanatory variable increases. We often want to estimate </a:t>
            </a:r>
            <a:r>
              <a:rPr lang="en-US" altLang="en-US" sz="2000" i="1" dirty="0"/>
              <a:t>β</a:t>
            </a:r>
            <a:r>
              <a:rPr lang="en-US" altLang="en-US" sz="2000" baseline="-25000" dirty="0"/>
              <a:t>1</a:t>
            </a:r>
            <a:r>
              <a:rPr lang="en-US" altLang="en-US" sz="2000" dirty="0"/>
              <a:t>. The slope </a:t>
            </a:r>
            <a:r>
              <a:rPr lang="en-US" altLang="en-US" sz="2000" i="1" dirty="0"/>
              <a:t>b</a:t>
            </a:r>
            <a:r>
              <a:rPr lang="en-US" altLang="en-US" sz="2000" baseline="-25000" dirty="0"/>
              <a:t>1</a:t>
            </a:r>
            <a:r>
              <a:rPr lang="en-US" altLang="en-US" sz="2000" i="1" dirty="0"/>
              <a:t> </a:t>
            </a:r>
            <a:r>
              <a:rPr lang="en-US" altLang="en-US" sz="2000" dirty="0"/>
              <a:t>of the sample regression line is our point estimate for </a:t>
            </a:r>
            <a:r>
              <a:rPr lang="en-US" altLang="en-US" sz="2000" i="1" dirty="0"/>
              <a:t>β</a:t>
            </a:r>
            <a:r>
              <a:rPr lang="en-US" altLang="en-US" sz="2000" baseline="-25000" dirty="0"/>
              <a:t>1</a:t>
            </a:r>
            <a:r>
              <a:rPr lang="en-US" altLang="en-US" sz="2000" dirty="0"/>
              <a:t>. </a:t>
            </a:r>
          </a:p>
          <a:p>
            <a:pPr eaLnBrk="1" hangingPunct="1">
              <a:spcAft>
                <a:spcPts val="600"/>
              </a:spcAft>
            </a:pPr>
            <a:r>
              <a:rPr lang="en-US" altLang="en-US" sz="2000" dirty="0"/>
              <a:t>The confidence interval for </a:t>
            </a:r>
            <a:r>
              <a:rPr lang="en-US" altLang="en-US" sz="2000" i="1" dirty="0"/>
              <a:t>β</a:t>
            </a:r>
            <a:r>
              <a:rPr lang="en-US" altLang="en-US" sz="2000" baseline="-25000" dirty="0"/>
              <a:t>1</a:t>
            </a:r>
            <a:r>
              <a:rPr lang="en-US" altLang="en-US" sz="2000" i="1" dirty="0"/>
              <a:t> </a:t>
            </a:r>
            <a:r>
              <a:rPr lang="en-US" altLang="en-US" sz="2000" dirty="0"/>
              <a:t>has the familiar form</a:t>
            </a:r>
          </a:p>
          <a:p>
            <a:pPr algn="ctr" eaLnBrk="1" hangingPunct="1">
              <a:spcAft>
                <a:spcPts val="600"/>
              </a:spcAft>
            </a:pPr>
            <a:r>
              <a:rPr lang="en-US" altLang="en-US" sz="2000" b="1" dirty="0">
                <a:highlight>
                  <a:srgbClr val="FFFF00"/>
                </a:highlight>
              </a:rPr>
              <a:t>estimate </a:t>
            </a:r>
            <a:r>
              <a:rPr lang="en-US" altLang="en-US" sz="2000" dirty="0">
                <a:highlight>
                  <a:srgbClr val="FFFF00"/>
                </a:highlight>
              </a:rPr>
              <a:t>±</a:t>
            </a:r>
            <a:r>
              <a:rPr lang="en-US" altLang="en-US" sz="2000" b="1" dirty="0">
                <a:highlight>
                  <a:srgbClr val="FFFF00"/>
                </a:highlight>
              </a:rPr>
              <a:t> </a:t>
            </a:r>
            <a:r>
              <a:rPr lang="en-US" altLang="en-US" sz="2000" b="1" i="1" dirty="0">
                <a:highlight>
                  <a:srgbClr val="FFFF00"/>
                </a:highlight>
              </a:rPr>
              <a:t>t*</a:t>
            </a:r>
            <a:r>
              <a:rPr lang="en-US" altLang="en-US" sz="2000" b="1" dirty="0">
                <a:highlight>
                  <a:srgbClr val="FFFF00"/>
                </a:highlight>
              </a:rPr>
              <a:t> · (standard error of estimate)</a:t>
            </a:r>
          </a:p>
        </p:txBody>
      </p:sp>
      <p:sp>
        <p:nvSpPr>
          <p:cNvPr id="11" name="Rectangle 10" descr="Because we use the statistic b one as our estimate, the confidence interval is:&#10;b one, plus minus, t superscript star multiplied by, standard error of b one.&#10;"/>
          <p:cNvSpPr>
            <a:spLocks noChangeArrowheads="1"/>
          </p:cNvSpPr>
          <p:nvPr/>
        </p:nvSpPr>
        <p:spPr bwMode="auto">
          <a:xfrm>
            <a:off x="384174" y="3514725"/>
            <a:ext cx="83788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spcAft>
                <a:spcPts val="600"/>
              </a:spcAft>
            </a:pPr>
            <a:r>
              <a:rPr lang="en-US" altLang="en-US" sz="2000" dirty="0"/>
              <a:t>Because we use the statistic </a:t>
            </a:r>
            <a:r>
              <a:rPr lang="en-US" altLang="en-US" sz="2000" i="1" dirty="0"/>
              <a:t>b</a:t>
            </a:r>
            <a:r>
              <a:rPr lang="en-US" altLang="en-US" sz="2000" baseline="-25000" dirty="0"/>
              <a:t>1</a:t>
            </a:r>
            <a:r>
              <a:rPr lang="en-US" altLang="en-US" sz="2000" i="1" dirty="0"/>
              <a:t> </a:t>
            </a:r>
            <a:r>
              <a:rPr lang="en-US" altLang="en-US" sz="2000" dirty="0"/>
              <a:t>as our estimate, the confidence interval is</a:t>
            </a:r>
          </a:p>
        </p:txBody>
      </p:sp>
      <p:graphicFrame>
        <p:nvGraphicFramePr>
          <p:cNvPr id="3" name="Object 2"/>
          <p:cNvGraphicFramePr>
            <a:graphicFrameLocks noChangeAspect="1"/>
          </p:cNvGraphicFramePr>
          <p:nvPr>
            <p:extLst>
              <p:ext uri="{D42A27DB-BD31-4B8C-83A1-F6EECF244321}">
                <p14:modId xmlns:p14="http://schemas.microsoft.com/office/powerpoint/2010/main" val="2186988140"/>
              </p:ext>
            </p:extLst>
          </p:nvPr>
        </p:nvGraphicFramePr>
        <p:xfrm>
          <a:off x="3773103" y="3936772"/>
          <a:ext cx="1686460" cy="582596"/>
        </p:xfrm>
        <a:graphic>
          <a:graphicData uri="http://schemas.openxmlformats.org/presentationml/2006/ole">
            <mc:AlternateContent xmlns:mc="http://schemas.openxmlformats.org/markup-compatibility/2006">
              <mc:Choice xmlns:v="urn:schemas-microsoft-com:vml" Requires="v">
                <p:oleObj spid="_x0000_s58386" name="Equation" r:id="rId4" imgW="698400" imgH="241200" progId="Equation.DSMT4">
                  <p:embed/>
                </p:oleObj>
              </mc:Choice>
              <mc:Fallback>
                <p:oleObj name="Equation" r:id="rId4" imgW="698400" imgH="241200" progId="Equation.DSMT4">
                  <p:embed/>
                  <p:pic>
                    <p:nvPicPr>
                      <p:cNvPr id="0" name=""/>
                      <p:cNvPicPr/>
                      <p:nvPr/>
                    </p:nvPicPr>
                    <p:blipFill>
                      <a:blip r:embed="rId5"/>
                      <a:stretch>
                        <a:fillRect/>
                      </a:stretch>
                    </p:blipFill>
                    <p:spPr>
                      <a:xfrm>
                        <a:off x="3773103" y="3936772"/>
                        <a:ext cx="1686460" cy="582596"/>
                      </a:xfrm>
                      <a:prstGeom prst="rect">
                        <a:avLst/>
                      </a:prstGeom>
                    </p:spPr>
                  </p:pic>
                </p:oleObj>
              </mc:Fallback>
            </mc:AlternateContent>
          </a:graphicData>
        </a:graphic>
      </p:graphicFrame>
      <p:sp>
        <p:nvSpPr>
          <p:cNvPr id="10" name="TextBox 9"/>
          <p:cNvSpPr txBox="1">
            <a:spLocks noChangeArrowheads="1"/>
          </p:cNvSpPr>
          <p:nvPr/>
        </p:nvSpPr>
        <p:spPr bwMode="auto">
          <a:xfrm>
            <a:off x="1472406" y="4574804"/>
            <a:ext cx="6199188" cy="338138"/>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600" b="1" dirty="0">
                <a:highlight>
                  <a:srgbClr val="FFFF00"/>
                </a:highlight>
              </a:rPr>
              <a:t>Confidence Interval for Regression Slope</a:t>
            </a:r>
          </a:p>
        </p:txBody>
      </p:sp>
      <p:graphicFrame>
        <p:nvGraphicFramePr>
          <p:cNvPr id="5" name="Object 4"/>
          <p:cNvGraphicFramePr>
            <a:graphicFrameLocks noChangeAspect="1"/>
          </p:cNvGraphicFramePr>
          <p:nvPr>
            <p:extLst>
              <p:ext uri="{D42A27DB-BD31-4B8C-83A1-F6EECF244321}">
                <p14:modId xmlns:p14="http://schemas.microsoft.com/office/powerpoint/2010/main" val="252231905"/>
              </p:ext>
            </p:extLst>
          </p:nvPr>
        </p:nvGraphicFramePr>
        <p:xfrm>
          <a:off x="1084637" y="5058036"/>
          <a:ext cx="7063392" cy="1645659"/>
        </p:xfrm>
        <a:graphic>
          <a:graphicData uri="http://schemas.openxmlformats.org/presentationml/2006/ole">
            <mc:AlternateContent xmlns:mc="http://schemas.openxmlformats.org/markup-compatibility/2006">
              <mc:Choice xmlns:v="urn:schemas-microsoft-com:vml" Requires="v">
                <p:oleObj spid="_x0000_s58387" name="Equation" r:id="rId6" imgW="4851360" imgH="1130040" progId="Equation.DSMT4">
                  <p:embed/>
                </p:oleObj>
              </mc:Choice>
              <mc:Fallback>
                <p:oleObj name="Equation" r:id="rId6" imgW="4851360" imgH="1130040" progId="Equation.DSMT4">
                  <p:embed/>
                  <p:pic>
                    <p:nvPicPr>
                      <p:cNvPr id="0" name=""/>
                      <p:cNvPicPr/>
                      <p:nvPr/>
                    </p:nvPicPr>
                    <p:blipFill>
                      <a:blip r:embed="rId7"/>
                      <a:stretch>
                        <a:fillRect/>
                      </a:stretch>
                    </p:blipFill>
                    <p:spPr>
                      <a:xfrm>
                        <a:off x="1084637" y="5058036"/>
                        <a:ext cx="7063392" cy="1645659"/>
                      </a:xfrm>
                      <a:prstGeom prst="rect">
                        <a:avLst/>
                      </a:prstGeom>
                      <a:solidFill>
                        <a:srgbClr val="FFD780"/>
                      </a:solidFill>
                    </p:spPr>
                  </p:pic>
                </p:oleObj>
              </mc:Fallback>
            </mc:AlternateContent>
          </a:graphicData>
        </a:graphic>
      </p:graphicFrame>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en-US" altLang="en-US" sz="3200" dirty="0">
                <a:ea typeface="ＭＳ Ｐゴシック" pitchFamily="34" charset="-128"/>
              </a:rPr>
              <a:t>Significance Test for Regression Slope</a:t>
            </a:r>
          </a:p>
        </p:txBody>
      </p:sp>
      <p:sp>
        <p:nvSpPr>
          <p:cNvPr id="3993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9FAAB188-F3BE-42D5-B26B-AD60CC35586C}" type="slidenum">
              <a:rPr lang="en-US" altLang="en-US" sz="1200">
                <a:solidFill>
                  <a:schemeClr val="accent1"/>
                </a:solidFill>
              </a:rPr>
              <a:pPr>
                <a:lnSpc>
                  <a:spcPct val="80000"/>
                </a:lnSpc>
              </a:pPr>
              <a:t>15</a:t>
            </a:fld>
            <a:endParaRPr lang="en-US" altLang="en-US" sz="1200">
              <a:solidFill>
                <a:schemeClr val="accent1"/>
              </a:solidFill>
            </a:endParaRPr>
          </a:p>
        </p:txBody>
      </p:sp>
      <p:sp>
        <p:nvSpPr>
          <p:cNvPr id="17" name="TextBox 16"/>
          <p:cNvSpPr txBox="1">
            <a:spLocks noChangeArrowheads="1"/>
          </p:cNvSpPr>
          <p:nvPr/>
        </p:nvSpPr>
        <p:spPr bwMode="auto">
          <a:xfrm>
            <a:off x="1479437" y="1218496"/>
            <a:ext cx="6197602" cy="338138"/>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defRPr/>
            </a:pPr>
            <a:r>
              <a:rPr lang="en-US" sz="1600" b="1" dirty="0">
                <a:solidFill>
                  <a:srgbClr val="FF0000"/>
                </a:solidFill>
                <a:highlight>
                  <a:srgbClr val="FFFF00"/>
                </a:highlight>
              </a:rPr>
              <a:t>Significance Test for Regression Slope</a:t>
            </a:r>
          </a:p>
        </p:txBody>
      </p:sp>
      <p:graphicFrame>
        <p:nvGraphicFramePr>
          <p:cNvPr id="8" name="Object 7"/>
          <p:cNvGraphicFramePr>
            <a:graphicFrameLocks noChangeAspect="1"/>
          </p:cNvGraphicFramePr>
          <p:nvPr>
            <p:extLst>
              <p:ext uri="{D42A27DB-BD31-4B8C-83A1-F6EECF244321}">
                <p14:modId xmlns:p14="http://schemas.microsoft.com/office/powerpoint/2010/main" val="3188561176"/>
              </p:ext>
            </p:extLst>
          </p:nvPr>
        </p:nvGraphicFramePr>
        <p:xfrm>
          <a:off x="454799" y="1601594"/>
          <a:ext cx="8236814" cy="2862938"/>
        </p:xfrm>
        <a:graphic>
          <a:graphicData uri="http://schemas.openxmlformats.org/presentationml/2006/ole">
            <mc:AlternateContent xmlns:mc="http://schemas.openxmlformats.org/markup-compatibility/2006">
              <mc:Choice xmlns:v="urn:schemas-microsoft-com:vml" Requires="v">
                <p:oleObj spid="_x0000_s59426" name="Equation" r:id="rId4" imgW="4457520" imgH="1549080" progId="Equation.DSMT4">
                  <p:embed/>
                </p:oleObj>
              </mc:Choice>
              <mc:Fallback>
                <p:oleObj name="Equation" r:id="rId4" imgW="4457520" imgH="1549080" progId="Equation.DSMT4">
                  <p:embed/>
                  <p:pic>
                    <p:nvPicPr>
                      <p:cNvPr id="0" name=""/>
                      <p:cNvPicPr/>
                      <p:nvPr/>
                    </p:nvPicPr>
                    <p:blipFill>
                      <a:blip r:embed="rId5"/>
                      <a:stretch>
                        <a:fillRect/>
                      </a:stretch>
                    </p:blipFill>
                    <p:spPr>
                      <a:xfrm>
                        <a:off x="454799" y="1601594"/>
                        <a:ext cx="8236814" cy="2862938"/>
                      </a:xfrm>
                      <a:prstGeom prst="rect">
                        <a:avLst/>
                      </a:prstGeom>
                      <a:solidFill>
                        <a:srgbClr val="FFD780"/>
                      </a:solidFill>
                    </p:spPr>
                  </p:pic>
                </p:oleObj>
              </mc:Fallback>
            </mc:AlternateContent>
          </a:graphicData>
        </a:graphic>
      </p:graphicFrame>
      <p:pic>
        <p:nvPicPr>
          <p:cNvPr id="3" name="Picture 2" descr="A normal distribution curve. The absolute value of t is marked under the right tail. The absolute value of negative t is marked under the left. The area beyond each is shaded."/>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4625" y="4682780"/>
            <a:ext cx="2895361" cy="1011852"/>
          </a:xfrm>
          <a:prstGeom prst="rect">
            <a:avLst/>
          </a:prstGeom>
        </p:spPr>
      </p:pic>
      <p:graphicFrame>
        <p:nvGraphicFramePr>
          <p:cNvPr id="6" name="Object 5" descr="H sub a, Beta sub 1 is not equal to Beta sub 1 asterisk is 2 P of upper T greater than or equal to absolute value of lower t"/>
          <p:cNvGraphicFramePr>
            <a:graphicFrameLocks noChangeAspect="1"/>
          </p:cNvGraphicFramePr>
          <p:nvPr>
            <p:extLst>
              <p:ext uri="{D42A27DB-BD31-4B8C-83A1-F6EECF244321}">
                <p14:modId xmlns:p14="http://schemas.microsoft.com/office/powerpoint/2010/main" val="1497091789"/>
              </p:ext>
            </p:extLst>
          </p:nvPr>
        </p:nvGraphicFramePr>
        <p:xfrm>
          <a:off x="174625" y="5584312"/>
          <a:ext cx="2680716" cy="458242"/>
        </p:xfrm>
        <a:graphic>
          <a:graphicData uri="http://schemas.openxmlformats.org/presentationml/2006/ole">
            <mc:AlternateContent xmlns:mc="http://schemas.openxmlformats.org/markup-compatibility/2006">
              <mc:Choice xmlns:v="urn:schemas-microsoft-com:vml" Requires="v">
                <p:oleObj spid="_x0000_s59427" name="Equation" r:id="rId7" imgW="1485720" imgH="253800" progId="Equation.DSMT4">
                  <p:embed/>
                </p:oleObj>
              </mc:Choice>
              <mc:Fallback>
                <p:oleObj name="Equation" r:id="rId7" imgW="1485720" imgH="253800" progId="Equation.DSMT4">
                  <p:embed/>
                  <p:pic>
                    <p:nvPicPr>
                      <p:cNvPr id="0" name=""/>
                      <p:cNvPicPr/>
                      <p:nvPr/>
                    </p:nvPicPr>
                    <p:blipFill>
                      <a:blip r:embed="rId8"/>
                      <a:stretch>
                        <a:fillRect/>
                      </a:stretch>
                    </p:blipFill>
                    <p:spPr>
                      <a:xfrm>
                        <a:off x="174625" y="5584312"/>
                        <a:ext cx="2680716" cy="458242"/>
                      </a:xfrm>
                      <a:prstGeom prst="rect">
                        <a:avLst/>
                      </a:prstGeom>
                    </p:spPr>
                  </p:pic>
                </p:oleObj>
              </mc:Fallback>
            </mc:AlternateContent>
          </a:graphicData>
        </a:graphic>
      </p:graphicFrame>
      <p:pic>
        <p:nvPicPr>
          <p:cNvPr id="4" name="Picture 3" descr="A normal distribution curve. The absolute value of t is marked under the right tail. The absolute value of negative t is marked under the left. The area beyond each is shade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69986" y="4688875"/>
            <a:ext cx="2895361" cy="1005757"/>
          </a:xfrm>
          <a:prstGeom prst="rect">
            <a:avLst/>
          </a:prstGeom>
        </p:spPr>
      </p:pic>
      <p:graphicFrame>
        <p:nvGraphicFramePr>
          <p:cNvPr id="13" name="Object 12" descr="H sub a, Beta sub 1 is not equal to Beta sub 1 asterisk is 2 P of upper T greater than or equal to absolute value of lower t"/>
          <p:cNvGraphicFramePr>
            <a:graphicFrameLocks noChangeAspect="1"/>
          </p:cNvGraphicFramePr>
          <p:nvPr>
            <p:extLst>
              <p:ext uri="{D42A27DB-BD31-4B8C-83A1-F6EECF244321}">
                <p14:modId xmlns:p14="http://schemas.microsoft.com/office/powerpoint/2010/main" val="2313699062"/>
              </p:ext>
            </p:extLst>
          </p:nvPr>
        </p:nvGraphicFramePr>
        <p:xfrm>
          <a:off x="3177308" y="5584312"/>
          <a:ext cx="2680716" cy="458242"/>
        </p:xfrm>
        <a:graphic>
          <a:graphicData uri="http://schemas.openxmlformats.org/presentationml/2006/ole">
            <mc:AlternateContent xmlns:mc="http://schemas.openxmlformats.org/markup-compatibility/2006">
              <mc:Choice xmlns:v="urn:schemas-microsoft-com:vml" Requires="v">
                <p:oleObj spid="_x0000_s59428" name="Equation" r:id="rId10" imgW="1485720" imgH="253800" progId="Equation.DSMT4">
                  <p:embed/>
                </p:oleObj>
              </mc:Choice>
              <mc:Fallback>
                <p:oleObj name="Equation" r:id="rId10" imgW="1485720" imgH="253800" progId="Equation.DSMT4">
                  <p:embed/>
                  <p:pic>
                    <p:nvPicPr>
                      <p:cNvPr id="0" name=""/>
                      <p:cNvPicPr/>
                      <p:nvPr/>
                    </p:nvPicPr>
                    <p:blipFill>
                      <a:blip r:embed="rId11"/>
                      <a:stretch>
                        <a:fillRect/>
                      </a:stretch>
                    </p:blipFill>
                    <p:spPr>
                      <a:xfrm>
                        <a:off x="3177308" y="5584312"/>
                        <a:ext cx="2680716" cy="458242"/>
                      </a:xfrm>
                      <a:prstGeom prst="rect">
                        <a:avLst/>
                      </a:prstGeom>
                    </p:spPr>
                  </p:pic>
                </p:oleObj>
              </mc:Fallback>
            </mc:AlternateContent>
          </a:graphicData>
        </a:graphic>
      </p:graphicFrame>
      <p:pic>
        <p:nvPicPr>
          <p:cNvPr id="5" name="Picture 4" descr="A normal distribution curve. The absolute value of t is marked under the right tail. The absolute value of negative t is marked under the left. The area beyond each is shaded."/>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65347" y="4670589"/>
            <a:ext cx="2895361" cy="1024043"/>
          </a:xfrm>
          <a:prstGeom prst="rect">
            <a:avLst/>
          </a:prstGeom>
        </p:spPr>
      </p:pic>
      <p:graphicFrame>
        <p:nvGraphicFramePr>
          <p:cNvPr id="14" name="Object 13" descr="H sub a, Beta sub 1 is not equal to Beta sub 1 asterisk is 2 P of upper T greater than or equal to absolute value of lower t"/>
          <p:cNvGraphicFramePr>
            <a:graphicFrameLocks noChangeAspect="1"/>
          </p:cNvGraphicFramePr>
          <p:nvPr>
            <p:extLst>
              <p:ext uri="{D42A27DB-BD31-4B8C-83A1-F6EECF244321}">
                <p14:modId xmlns:p14="http://schemas.microsoft.com/office/powerpoint/2010/main" val="1127202619"/>
              </p:ext>
            </p:extLst>
          </p:nvPr>
        </p:nvGraphicFramePr>
        <p:xfrm>
          <a:off x="6065838" y="5562600"/>
          <a:ext cx="2909887" cy="503238"/>
        </p:xfrm>
        <a:graphic>
          <a:graphicData uri="http://schemas.openxmlformats.org/presentationml/2006/ole">
            <mc:AlternateContent xmlns:mc="http://schemas.openxmlformats.org/markup-compatibility/2006">
              <mc:Choice xmlns:v="urn:schemas-microsoft-com:vml" Requires="v">
                <p:oleObj spid="_x0000_s59429" name="Equation" r:id="rId13" imgW="1612800" imgH="279360" progId="Equation.DSMT4">
                  <p:embed/>
                </p:oleObj>
              </mc:Choice>
              <mc:Fallback>
                <p:oleObj name="Equation" r:id="rId13" imgW="1612800" imgH="279360" progId="Equation.DSMT4">
                  <p:embed/>
                  <p:pic>
                    <p:nvPicPr>
                      <p:cNvPr id="0" name=""/>
                      <p:cNvPicPr/>
                      <p:nvPr/>
                    </p:nvPicPr>
                    <p:blipFill>
                      <a:blip r:embed="rId14"/>
                      <a:stretch>
                        <a:fillRect/>
                      </a:stretch>
                    </p:blipFill>
                    <p:spPr>
                      <a:xfrm>
                        <a:off x="6065838" y="5562600"/>
                        <a:ext cx="2909887" cy="503238"/>
                      </a:xfrm>
                      <a:prstGeom prst="rect">
                        <a:avLst/>
                      </a:prstGeom>
                    </p:spPr>
                  </p:pic>
                </p:oleObj>
              </mc:Fallback>
            </mc:AlternateContent>
          </a:graphicData>
        </a:graphic>
      </p:graphicFrame>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74625" y="154305"/>
            <a:ext cx="7772400" cy="1143000"/>
          </a:xfrm>
        </p:spPr>
        <p:txBody>
          <a:bodyPr/>
          <a:lstStyle/>
          <a:p>
            <a:r>
              <a:rPr lang="en-US" altLang="en-US" dirty="0"/>
              <a:t>Testing the Hypothesis of No Relationship</a:t>
            </a:r>
          </a:p>
        </p:txBody>
      </p:sp>
      <p:sp>
        <p:nvSpPr>
          <p:cNvPr id="40964" name="Slide Number Placeholder 5"/>
          <p:cNvSpPr>
            <a:spLocks noGrp="1"/>
          </p:cNvSpPr>
          <p:nvPr>
            <p:ph type="sldNum" sz="quarter" idx="12"/>
          </p:nvPr>
        </p:nvSpPr>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1A68287E-3940-45CB-9BE3-6F131C8A5680}" type="slidenum">
              <a:rPr lang="en-US" altLang="en-US" sz="1200" smtClean="0">
                <a:solidFill>
                  <a:schemeClr val="accent1"/>
                </a:solidFill>
              </a:rPr>
              <a:pPr/>
              <a:t>16</a:t>
            </a:fld>
            <a:endParaRPr lang="en-US" altLang="en-US" sz="1200" dirty="0">
              <a:solidFill>
                <a:schemeClr val="accent1"/>
              </a:solidFill>
            </a:endParaRPr>
          </a:p>
        </p:txBody>
      </p:sp>
      <p:sp>
        <p:nvSpPr>
          <p:cNvPr id="1341443" name="Rectangle 3"/>
          <p:cNvSpPr>
            <a:spLocks noGrp="1" noChangeArrowheads="1"/>
          </p:cNvSpPr>
          <p:nvPr>
            <p:ph type="body" sz="half" idx="4294967295"/>
          </p:nvPr>
        </p:nvSpPr>
        <p:spPr>
          <a:xfrm>
            <a:off x="174625" y="1468007"/>
            <a:ext cx="8354778" cy="5131661"/>
          </a:xfrm>
          <a:solidFill>
            <a:srgbClr val="FFD780"/>
          </a:solidFill>
        </p:spPr>
        <p:txBody>
          <a:bodyPr/>
          <a:lstStyle/>
          <a:p>
            <a:pPr marL="0" indent="0" algn="just" eaLnBrk="1" hangingPunct="1">
              <a:buFont typeface="Wingdings" pitchFamily="2" charset="2"/>
              <a:buNone/>
            </a:pPr>
            <a:r>
              <a:rPr lang="en-US" altLang="en-US" dirty="0">
                <a:solidFill>
                  <a:schemeClr val="tx1"/>
                </a:solidFill>
                <a:ea typeface="ＭＳ Ｐゴシック" pitchFamily="34" charset="-128"/>
              </a:rPr>
              <a:t>We may look for evidence of a </a:t>
            </a:r>
            <a:r>
              <a:rPr lang="en-US" altLang="en-US" b="1" dirty="0">
                <a:solidFill>
                  <a:schemeClr val="tx1"/>
                </a:solidFill>
                <a:ea typeface="ＭＳ Ｐゴシック" pitchFamily="34" charset="-128"/>
              </a:rPr>
              <a:t>significant relationship</a:t>
            </a:r>
            <a:r>
              <a:rPr lang="en-US" altLang="en-US" dirty="0">
                <a:solidFill>
                  <a:schemeClr val="tx1"/>
                </a:solidFill>
                <a:ea typeface="ＭＳ Ｐゴシック" pitchFamily="34" charset="-128"/>
              </a:rPr>
              <a:t> between variables </a:t>
            </a:r>
            <a:r>
              <a:rPr lang="en-US" altLang="en-US" i="1" dirty="0">
                <a:solidFill>
                  <a:schemeClr val="tx1"/>
                </a:solidFill>
                <a:ea typeface="ＭＳ Ｐゴシック" pitchFamily="34" charset="-128"/>
              </a:rPr>
              <a:t>x</a:t>
            </a:r>
            <a:r>
              <a:rPr lang="en-US" altLang="en-US" dirty="0">
                <a:solidFill>
                  <a:schemeClr val="tx1"/>
                </a:solidFill>
                <a:ea typeface="ＭＳ Ｐゴシック" pitchFamily="34" charset="-128"/>
              </a:rPr>
              <a:t> and </a:t>
            </a:r>
            <a:r>
              <a:rPr lang="en-US" altLang="en-US" i="1" dirty="0">
                <a:solidFill>
                  <a:schemeClr val="tx1"/>
                </a:solidFill>
                <a:ea typeface="ＭＳ Ｐゴシック" pitchFamily="34" charset="-128"/>
              </a:rPr>
              <a:t>y</a:t>
            </a:r>
            <a:r>
              <a:rPr lang="en-US" altLang="en-US" dirty="0">
                <a:solidFill>
                  <a:schemeClr val="tx1"/>
                </a:solidFill>
                <a:ea typeface="ＭＳ Ｐゴシック" pitchFamily="34" charset="-128"/>
              </a:rPr>
              <a:t> in the population from which our data were drawn.</a:t>
            </a:r>
          </a:p>
          <a:p>
            <a:pPr marL="0" indent="0" algn="just" eaLnBrk="1" hangingPunct="1">
              <a:buFont typeface="Wingdings" pitchFamily="2" charset="2"/>
              <a:buNone/>
            </a:pPr>
            <a:r>
              <a:rPr lang="en-US" altLang="en-US" dirty="0">
                <a:solidFill>
                  <a:schemeClr val="tx1"/>
                </a:solidFill>
                <a:ea typeface="ＭＳ Ｐゴシック" pitchFamily="34" charset="-128"/>
              </a:rPr>
              <a:t>For that, we can test the hypothesis that the regression slope parameter </a:t>
            </a:r>
            <a:r>
              <a:rPr lang="el-GR" altLang="en-US" i="1" dirty="0">
                <a:solidFill>
                  <a:schemeClr val="tx1"/>
                </a:solidFill>
                <a:ea typeface="ＭＳ Ｐゴシック" pitchFamily="34" charset="-128"/>
              </a:rPr>
              <a:t>β</a:t>
            </a:r>
            <a:r>
              <a:rPr lang="en-US" altLang="en-US" baseline="-25000" dirty="0">
                <a:solidFill>
                  <a:schemeClr val="tx1"/>
                </a:solidFill>
                <a:ea typeface="ＭＳ Ｐゴシック" pitchFamily="34" charset="-128"/>
              </a:rPr>
              <a:t>1</a:t>
            </a:r>
            <a:r>
              <a:rPr lang="en-US" altLang="en-US" i="1" dirty="0">
                <a:solidFill>
                  <a:schemeClr val="tx1"/>
                </a:solidFill>
                <a:ea typeface="ＭＳ Ｐゴシック" pitchFamily="34" charset="-128"/>
              </a:rPr>
              <a:t> </a:t>
            </a:r>
            <a:r>
              <a:rPr lang="en-US" altLang="en-US" dirty="0">
                <a:solidFill>
                  <a:schemeClr val="tx1"/>
                </a:solidFill>
                <a:ea typeface="ＭＳ Ｐゴシック" pitchFamily="34" charset="-128"/>
              </a:rPr>
              <a:t>is equal to zero.</a:t>
            </a:r>
          </a:p>
          <a:p>
            <a:pPr marL="0" indent="0" algn="ctr" eaLnBrk="1" hangingPunct="1">
              <a:buFont typeface="Wingdings" pitchFamily="2" charset="2"/>
              <a:buNone/>
            </a:pPr>
            <a:r>
              <a:rPr lang="en-US" altLang="en-US" b="1" i="1" dirty="0">
                <a:solidFill>
                  <a:schemeClr val="tx1"/>
                </a:solidFill>
                <a:ea typeface="ＭＳ Ｐゴシック" pitchFamily="34" charset="-128"/>
              </a:rPr>
              <a:t>       H</a:t>
            </a:r>
            <a:r>
              <a:rPr lang="en-US" altLang="en-US" b="1" baseline="-25000" dirty="0">
                <a:solidFill>
                  <a:schemeClr val="tx1"/>
                </a:solidFill>
                <a:ea typeface="ＭＳ Ｐゴシック" pitchFamily="34" charset="-128"/>
              </a:rPr>
              <a:t>0</a:t>
            </a:r>
            <a:r>
              <a:rPr lang="en-US" altLang="en-US" b="1" dirty="0">
                <a:solidFill>
                  <a:schemeClr val="tx1"/>
                </a:solidFill>
                <a:ea typeface="ＭＳ Ｐゴシック" pitchFamily="34" charset="-128"/>
              </a:rPr>
              <a:t>: </a:t>
            </a:r>
            <a:r>
              <a:rPr lang="el-GR" altLang="en-US" b="1" i="1" dirty="0">
                <a:solidFill>
                  <a:schemeClr val="tx1"/>
                </a:solidFill>
                <a:ea typeface="ＭＳ Ｐゴシック" pitchFamily="34" charset="-128"/>
              </a:rPr>
              <a:t>β</a:t>
            </a:r>
            <a:r>
              <a:rPr lang="en-US" altLang="en-US" b="1" baseline="-25000" dirty="0">
                <a:solidFill>
                  <a:schemeClr val="tx1"/>
                </a:solidFill>
                <a:ea typeface="ＭＳ Ｐゴシック" pitchFamily="34" charset="-128"/>
              </a:rPr>
              <a:t>1 </a:t>
            </a:r>
            <a:r>
              <a:rPr lang="en-US" altLang="en-US" b="1" dirty="0">
                <a:solidFill>
                  <a:schemeClr val="tx1"/>
                </a:solidFill>
                <a:ea typeface="ＭＳ Ｐゴシック" pitchFamily="34" charset="-128"/>
              </a:rPr>
              <a:t>= 0 versus </a:t>
            </a:r>
            <a:r>
              <a:rPr lang="en-US" altLang="en-US" b="1" i="1" dirty="0">
                <a:solidFill>
                  <a:schemeClr val="tx1"/>
                </a:solidFill>
                <a:ea typeface="ＭＳ Ｐゴシック" pitchFamily="34" charset="-128"/>
              </a:rPr>
              <a:t>H</a:t>
            </a:r>
            <a:r>
              <a:rPr lang="en-US" altLang="en-US" b="1" baseline="-25000" dirty="0">
                <a:solidFill>
                  <a:schemeClr val="tx1"/>
                </a:solidFill>
                <a:ea typeface="ＭＳ Ｐゴシック" pitchFamily="34" charset="-128"/>
              </a:rPr>
              <a:t>a</a:t>
            </a:r>
            <a:r>
              <a:rPr lang="en-US" altLang="en-US" b="1" dirty="0">
                <a:solidFill>
                  <a:schemeClr val="tx1"/>
                </a:solidFill>
                <a:ea typeface="ＭＳ Ｐゴシック" pitchFamily="34" charset="-128"/>
              </a:rPr>
              <a:t>: </a:t>
            </a:r>
            <a:r>
              <a:rPr lang="el-GR" altLang="en-US" b="1" i="1" dirty="0">
                <a:solidFill>
                  <a:schemeClr val="tx1"/>
                </a:solidFill>
                <a:ea typeface="ＭＳ Ｐゴシック" pitchFamily="34" charset="-128"/>
              </a:rPr>
              <a:t>β</a:t>
            </a:r>
            <a:r>
              <a:rPr lang="en-US" altLang="en-US" b="1" baseline="-25000" dirty="0">
                <a:solidFill>
                  <a:schemeClr val="tx1"/>
                </a:solidFill>
                <a:ea typeface="ＭＳ Ｐゴシック" pitchFamily="34" charset="-128"/>
              </a:rPr>
              <a:t>1 </a:t>
            </a:r>
            <a:r>
              <a:rPr lang="en-US" altLang="en-US" b="1" dirty="0">
                <a:solidFill>
                  <a:schemeClr val="tx1"/>
                </a:solidFill>
                <a:ea typeface="ＭＳ Ｐゴシック" pitchFamily="34" charset="-128"/>
              </a:rPr>
              <a:t>≠ 0</a:t>
            </a:r>
          </a:p>
          <a:p>
            <a:pPr marL="0" indent="0" algn="just" eaLnBrk="1" hangingPunct="1">
              <a:buFont typeface="Wingdings" pitchFamily="2" charset="2"/>
              <a:buNone/>
            </a:pPr>
            <a:r>
              <a:rPr lang="en-US" altLang="en-US" sz="2000" dirty="0">
                <a:solidFill>
                  <a:schemeClr val="tx1"/>
                </a:solidFill>
                <a:ea typeface="ＭＳ Ｐゴシック" pitchFamily="34" charset="-128"/>
              </a:rPr>
              <a:t>			Testing </a:t>
            </a:r>
            <a:r>
              <a:rPr lang="en-US" altLang="en-US" sz="2000" i="1" dirty="0">
                <a:solidFill>
                  <a:schemeClr val="tx1"/>
                </a:solidFill>
                <a:ea typeface="ＭＳ Ｐゴシック" pitchFamily="34" charset="-128"/>
              </a:rPr>
              <a:t>H</a:t>
            </a:r>
            <a:r>
              <a:rPr lang="en-US" altLang="en-US" sz="2000" baseline="-25000" dirty="0">
                <a:solidFill>
                  <a:schemeClr val="tx1"/>
                </a:solidFill>
                <a:ea typeface="ＭＳ Ｐゴシック" pitchFamily="34" charset="-128"/>
              </a:rPr>
              <a:t>0</a:t>
            </a:r>
            <a:r>
              <a:rPr lang="en-US" altLang="en-US" sz="2000" dirty="0">
                <a:solidFill>
                  <a:schemeClr val="tx1"/>
                </a:solidFill>
                <a:ea typeface="ＭＳ Ｐゴシック" pitchFamily="34" charset="-128"/>
              </a:rPr>
              <a:t>: </a:t>
            </a:r>
            <a:r>
              <a:rPr lang="el-GR" altLang="en-US" sz="2000" i="1" dirty="0">
                <a:solidFill>
                  <a:schemeClr val="tx1"/>
                </a:solidFill>
                <a:ea typeface="ＭＳ Ｐゴシック" pitchFamily="34" charset="-128"/>
              </a:rPr>
              <a:t>β</a:t>
            </a:r>
            <a:r>
              <a:rPr lang="en-US" altLang="en-US" sz="2000" baseline="-25000" dirty="0">
                <a:solidFill>
                  <a:schemeClr val="tx1"/>
                </a:solidFill>
                <a:ea typeface="ＭＳ Ｐゴシック" pitchFamily="34" charset="-128"/>
              </a:rPr>
              <a:t>1</a:t>
            </a:r>
            <a:r>
              <a:rPr lang="en-US" altLang="en-US" sz="2000" dirty="0">
                <a:solidFill>
                  <a:schemeClr val="tx1"/>
                </a:solidFill>
                <a:ea typeface="ＭＳ Ｐゴシック" pitchFamily="34" charset="-128"/>
              </a:rPr>
              <a:t> = 0 is equivalent to testing the 			</a:t>
            </a:r>
            <a:r>
              <a:rPr lang="en-US" altLang="en-US" sz="2000" b="1" dirty="0">
                <a:solidFill>
                  <a:schemeClr val="tx1"/>
                </a:solidFill>
                <a:ea typeface="ＭＳ Ｐゴシック" pitchFamily="34" charset="-128"/>
              </a:rPr>
              <a:t>hypothesis of no correlation</a:t>
            </a:r>
            <a:r>
              <a:rPr lang="en-US" altLang="en-US" sz="2000" dirty="0">
                <a:solidFill>
                  <a:schemeClr val="tx1"/>
                </a:solidFill>
                <a:ea typeface="ＭＳ Ｐゴシック" pitchFamily="34" charset="-128"/>
              </a:rPr>
              <a:t> between </a:t>
            </a:r>
            <a:r>
              <a:rPr lang="en-US" altLang="en-US" sz="2000" i="1" dirty="0">
                <a:solidFill>
                  <a:schemeClr val="tx1"/>
                </a:solidFill>
                <a:ea typeface="ＭＳ Ｐゴシック" pitchFamily="34" charset="-128"/>
              </a:rPr>
              <a:t>x</a:t>
            </a:r>
            <a:r>
              <a:rPr lang="en-US" altLang="en-US" sz="2000" dirty="0">
                <a:solidFill>
                  <a:schemeClr val="tx1"/>
                </a:solidFill>
                <a:ea typeface="ＭＳ Ｐゴシック" pitchFamily="34" charset="-128"/>
              </a:rPr>
              <a:t> and 			</a:t>
            </a:r>
            <a:r>
              <a:rPr lang="en-US" altLang="en-US" sz="2000" i="1" dirty="0">
                <a:solidFill>
                  <a:schemeClr val="tx1"/>
                </a:solidFill>
                <a:ea typeface="ＭＳ Ｐゴシック" pitchFamily="34" charset="-128"/>
              </a:rPr>
              <a:t>y</a:t>
            </a:r>
            <a:r>
              <a:rPr lang="en-US" altLang="en-US" sz="2000" dirty="0">
                <a:solidFill>
                  <a:schemeClr val="tx1"/>
                </a:solidFill>
                <a:ea typeface="ＭＳ Ｐゴシック" pitchFamily="34" charset="-128"/>
              </a:rPr>
              <a:t> in the population. </a:t>
            </a:r>
          </a:p>
          <a:p>
            <a:pPr marL="0" indent="0" algn="just" eaLnBrk="1" hangingPunct="1">
              <a:spcBef>
                <a:spcPts val="1200"/>
              </a:spcBef>
              <a:buFont typeface="Wingdings" pitchFamily="2" charset="2"/>
              <a:buNone/>
            </a:pPr>
            <a:r>
              <a:rPr lang="en-US" altLang="en-US" b="1" dirty="0">
                <a:solidFill>
                  <a:schemeClr val="tx1"/>
                </a:solidFill>
                <a:ea typeface="ＭＳ Ｐゴシック" pitchFamily="34" charset="-128"/>
              </a:rPr>
              <a:t>Note:</a:t>
            </a:r>
            <a:r>
              <a:rPr lang="en-US" altLang="en-US" i="1" dirty="0">
                <a:solidFill>
                  <a:schemeClr val="tx1"/>
                </a:solidFill>
                <a:ea typeface="ＭＳ Ｐゴシック" pitchFamily="34" charset="-128"/>
              </a:rPr>
              <a:t> A test of hypothesis for </a:t>
            </a:r>
            <a:r>
              <a:rPr lang="en-US" altLang="en-US" b="1" i="1" dirty="0">
                <a:solidFill>
                  <a:schemeClr val="tx1"/>
                </a:solidFill>
                <a:latin typeface="Symbol" pitchFamily="18" charset="2"/>
                <a:ea typeface="ＭＳ Ｐゴシック" pitchFamily="34" charset="-128"/>
              </a:rPr>
              <a:t>b</a:t>
            </a:r>
            <a:r>
              <a:rPr lang="en-US" altLang="en-US" baseline="-25000" dirty="0">
                <a:solidFill>
                  <a:schemeClr val="tx1"/>
                </a:solidFill>
                <a:ea typeface="ＭＳ Ｐゴシック" pitchFamily="34" charset="-128"/>
              </a:rPr>
              <a:t>0</a:t>
            </a:r>
            <a:r>
              <a:rPr lang="en-US" altLang="en-US" i="1" dirty="0">
                <a:solidFill>
                  <a:schemeClr val="tx1"/>
                </a:solidFill>
                <a:ea typeface="ＭＳ Ｐゴシック" pitchFamily="34" charset="-128"/>
              </a:rPr>
              <a:t> is seldom of interest, mainly because </a:t>
            </a:r>
            <a:r>
              <a:rPr lang="en-US" altLang="en-US" b="1" i="1" dirty="0">
                <a:solidFill>
                  <a:schemeClr val="tx1"/>
                </a:solidFill>
                <a:latin typeface="Symbol" pitchFamily="18" charset="2"/>
                <a:ea typeface="ＭＳ Ｐゴシック" pitchFamily="34" charset="-128"/>
              </a:rPr>
              <a:t>b</a:t>
            </a:r>
            <a:r>
              <a:rPr lang="en-US" altLang="en-US" baseline="-25000" dirty="0">
                <a:solidFill>
                  <a:schemeClr val="tx1"/>
                </a:solidFill>
                <a:ea typeface="ＭＳ Ｐゴシック" pitchFamily="34" charset="-128"/>
              </a:rPr>
              <a:t>0</a:t>
            </a:r>
            <a:r>
              <a:rPr lang="en-US" altLang="en-US" i="1" dirty="0">
                <a:solidFill>
                  <a:schemeClr val="tx1"/>
                </a:solidFill>
                <a:ea typeface="ＭＳ Ｐゴシック" pitchFamily="34" charset="-128"/>
              </a:rPr>
              <a:t> often has no practical interpretation. Remember that </a:t>
            </a:r>
            <a:r>
              <a:rPr lang="en-US" altLang="en-US" b="1" i="1" dirty="0">
                <a:solidFill>
                  <a:schemeClr val="tx1"/>
                </a:solidFill>
                <a:latin typeface="Symbol" pitchFamily="18" charset="2"/>
                <a:ea typeface="ＭＳ Ｐゴシック" pitchFamily="34" charset="-128"/>
              </a:rPr>
              <a:t>b</a:t>
            </a:r>
            <a:r>
              <a:rPr lang="en-US" altLang="en-US" baseline="-25000" dirty="0">
                <a:solidFill>
                  <a:schemeClr val="tx1"/>
                </a:solidFill>
                <a:ea typeface="ＭＳ Ｐゴシック" pitchFamily="34" charset="-128"/>
              </a:rPr>
              <a:t>0</a:t>
            </a:r>
            <a:r>
              <a:rPr lang="en-US" altLang="en-US" i="1" dirty="0">
                <a:solidFill>
                  <a:schemeClr val="tx1"/>
                </a:solidFill>
                <a:ea typeface="ＭＳ Ｐゴシック" pitchFamily="34" charset="-128"/>
              </a:rPr>
              <a:t> represents the value of the response variable when x = </a:t>
            </a:r>
            <a:r>
              <a:rPr lang="en-US" altLang="en-US" dirty="0">
                <a:solidFill>
                  <a:schemeClr val="tx1"/>
                </a:solidFill>
                <a:ea typeface="ＭＳ Ｐゴシック" pitchFamily="34" charset="-128"/>
              </a:rPr>
              <a:t>0</a:t>
            </a:r>
            <a:r>
              <a:rPr lang="en-US" altLang="en-US" i="1" dirty="0">
                <a:solidFill>
                  <a:schemeClr val="tx1"/>
                </a:solidFill>
                <a:ea typeface="ＭＳ Ｐゴシック" pitchFamily="34" charset="-128"/>
              </a:rPr>
              <a:t>, which is often outside the range of experimentation.</a:t>
            </a:r>
          </a:p>
        </p:txBody>
      </p:sp>
      <p:graphicFrame>
        <p:nvGraphicFramePr>
          <p:cNvPr id="2" name="Object 1"/>
          <p:cNvGraphicFramePr>
            <a:graphicFrameLocks noChangeAspect="1"/>
          </p:cNvGraphicFramePr>
          <p:nvPr>
            <p:extLst>
              <p:ext uri="{D42A27DB-BD31-4B8C-83A1-F6EECF244321}">
                <p14:modId xmlns:p14="http://schemas.microsoft.com/office/powerpoint/2010/main" val="1698124948"/>
              </p:ext>
            </p:extLst>
          </p:nvPr>
        </p:nvGraphicFramePr>
        <p:xfrm>
          <a:off x="333892" y="3303956"/>
          <a:ext cx="1946056" cy="959699"/>
        </p:xfrm>
        <a:graphic>
          <a:graphicData uri="http://schemas.openxmlformats.org/presentationml/2006/ole">
            <mc:AlternateContent xmlns:mc="http://schemas.openxmlformats.org/markup-compatibility/2006">
              <mc:Choice xmlns:v="urn:schemas-microsoft-com:vml" Requires="v">
                <p:oleObj spid="_x0000_s60427" name="Equation" r:id="rId4" imgW="927000" imgH="457200" progId="Equation.DSMT4">
                  <p:embed/>
                </p:oleObj>
              </mc:Choice>
              <mc:Fallback>
                <p:oleObj name="Equation" r:id="rId4" imgW="927000" imgH="457200" progId="Equation.DSMT4">
                  <p:embed/>
                  <p:pic>
                    <p:nvPicPr>
                      <p:cNvPr id="0" name=""/>
                      <p:cNvPicPr/>
                      <p:nvPr/>
                    </p:nvPicPr>
                    <p:blipFill>
                      <a:blip r:embed="rId5"/>
                      <a:stretch>
                        <a:fillRect/>
                      </a:stretch>
                    </p:blipFill>
                    <p:spPr>
                      <a:xfrm>
                        <a:off x="333892" y="3303956"/>
                        <a:ext cx="1946056" cy="959699"/>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Simple Linear Regression Example 1</a:t>
            </a:r>
            <a:endParaRPr lang="en-US" dirty="0"/>
          </a:p>
        </p:txBody>
      </p:sp>
      <p:sp>
        <p:nvSpPr>
          <p:cNvPr id="4198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75CAFBB3-EA37-409C-B8D8-805A6AC64C06}" type="slidenum">
              <a:rPr lang="en-US" altLang="en-US" sz="1200">
                <a:solidFill>
                  <a:schemeClr val="accent1"/>
                </a:solidFill>
              </a:rPr>
              <a:pPr>
                <a:lnSpc>
                  <a:spcPct val="80000"/>
                </a:lnSpc>
              </a:pPr>
              <a:t>17</a:t>
            </a:fld>
            <a:endParaRPr lang="en-US" altLang="en-US" sz="1200">
              <a:solidFill>
                <a:schemeClr val="accent1"/>
              </a:solidFill>
            </a:endParaRPr>
          </a:p>
        </p:txBody>
      </p:sp>
      <p:sp>
        <p:nvSpPr>
          <p:cNvPr id="41987" name="TextBox 2"/>
          <p:cNvSpPr txBox="1">
            <a:spLocks noChangeArrowheads="1"/>
          </p:cNvSpPr>
          <p:nvPr/>
        </p:nvSpPr>
        <p:spPr bwMode="auto">
          <a:xfrm>
            <a:off x="234156" y="995363"/>
            <a:ext cx="8719344"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a:r>
              <a:rPr lang="en-US" altLang="en-US" sz="1800" b="1" dirty="0">
                <a:solidFill>
                  <a:schemeClr val="tx1"/>
                </a:solidFill>
              </a:rPr>
              <a:t>Example:</a:t>
            </a:r>
            <a:r>
              <a:rPr lang="en-US" altLang="en-US" sz="1800" dirty="0">
                <a:solidFill>
                  <a:schemeClr val="tx1"/>
                </a:solidFill>
              </a:rPr>
              <a:t> Infants who cry easily may be more easily stimulated than others. This may be a sign of higher IQ. Child development researchers explored the relationship between the crying of infants 4 to 10 days old and their later IQ test scores. A snap of a rubber band on the sole of the foot caused the infants to cry. The researchers recorded the crying and measured its intensity by the number of peaks in the most active 20 seconds. They later measured the children’</a:t>
            </a:r>
            <a:r>
              <a:rPr lang="en-US" altLang="ja-JP" sz="1800" dirty="0">
                <a:solidFill>
                  <a:schemeClr val="tx1"/>
                </a:solidFill>
              </a:rPr>
              <a:t>s IQ at age 3 years, using the Stanford-Binet IQ test. A scatterplot and Minitab output for the data from a random sample of 38 infants are given below.</a:t>
            </a:r>
            <a:endParaRPr lang="en-US" altLang="en-US" sz="1800" dirty="0">
              <a:solidFill>
                <a:schemeClr val="tx1"/>
              </a:solidFill>
            </a:endParaRPr>
          </a:p>
        </p:txBody>
      </p:sp>
      <p:pic>
        <p:nvPicPr>
          <p:cNvPr id="41989" name="Picture 10" descr="The image on the slide displays a scatter plot. “Count of crying peaks” is labelled on  the X-axis and “IQ at age three years” is labelled on the Y-axis. The explanatory and response variables show positive association and have positive linear correlation."/>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3421063"/>
            <a:ext cx="4070350" cy="337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14" descr="&quot;&#10;The image on the slide displays a regression analysis table. Table has five columns named as, predictor, coefficient, standard error coefficient, T-value and P respectively.&#10;Row one consists of, constant, 91.268, 8.934, 10.22 and 0.000 respectively.&#10;Row two consists of, Cry count, 1.4929, 0.4870, 3.07 and 0.004 respectively.&#10;S is equal to 17.50, R-Square is equal to 20.7 percent, Adjacent R-Square is equal to 18.5 percent&#10;&quot;"/>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62438" y="3651250"/>
            <a:ext cx="469106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13"/>
          <p:cNvSpPr>
            <a:spLocks noChangeArrowheads="1"/>
          </p:cNvSpPr>
          <p:nvPr/>
        </p:nvSpPr>
        <p:spPr bwMode="auto">
          <a:xfrm>
            <a:off x="4300538" y="5353050"/>
            <a:ext cx="465296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altLang="en-US" sz="1600" b="1" dirty="0"/>
              <a:t>Do these data provide convincing evidence that there is a positive linear relationship between crying count and IQ in the population of infants?</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Simple Linear Regression Example 2</a:t>
            </a:r>
            <a:endParaRPr lang="en-US" dirty="0"/>
          </a:p>
        </p:txBody>
      </p:sp>
      <p:sp>
        <p:nvSpPr>
          <p:cNvPr id="4301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0B7E8EC4-A77C-430C-9974-A0EEDD49D68A}" type="slidenum">
              <a:rPr lang="en-US" altLang="en-US" sz="1200">
                <a:solidFill>
                  <a:schemeClr val="accent1"/>
                </a:solidFill>
              </a:rPr>
              <a:pPr>
                <a:lnSpc>
                  <a:spcPct val="80000"/>
                </a:lnSpc>
              </a:pPr>
              <a:t>18</a:t>
            </a:fld>
            <a:endParaRPr lang="en-US" altLang="en-US" sz="1200">
              <a:solidFill>
                <a:schemeClr val="accent1"/>
              </a:solidFill>
            </a:endParaRPr>
          </a:p>
        </p:txBody>
      </p:sp>
      <p:sp>
        <p:nvSpPr>
          <p:cNvPr id="43011" name="Rectangle 8"/>
          <p:cNvSpPr>
            <a:spLocks noChangeArrowheads="1"/>
          </p:cNvSpPr>
          <p:nvPr/>
        </p:nvSpPr>
        <p:spPr bwMode="auto">
          <a:xfrm>
            <a:off x="438150" y="992188"/>
            <a:ext cx="8196184"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en-US" dirty="0"/>
              <a:t>We want to perform a test of</a:t>
            </a:r>
          </a:p>
          <a:p>
            <a:pPr algn="ctr" eaLnBrk="1" hangingPunct="1"/>
            <a:r>
              <a:rPr lang="en-US" altLang="en-US" i="1" dirty="0"/>
              <a:t>H</a:t>
            </a:r>
            <a:r>
              <a:rPr lang="en-US" altLang="en-US" baseline="-25000" dirty="0"/>
              <a:t>0</a:t>
            </a:r>
            <a:r>
              <a:rPr lang="en-US" altLang="en-US" dirty="0"/>
              <a:t>: </a:t>
            </a:r>
            <a:r>
              <a:rPr lang="en-US" altLang="en-US" i="1" dirty="0"/>
              <a:t>β</a:t>
            </a:r>
            <a:r>
              <a:rPr lang="en-US" altLang="en-US" baseline="-25000" dirty="0"/>
              <a:t>1</a:t>
            </a:r>
            <a:r>
              <a:rPr lang="en-US" altLang="en-US" i="1" dirty="0"/>
              <a:t> </a:t>
            </a:r>
            <a:r>
              <a:rPr lang="en-US" altLang="en-US" dirty="0"/>
              <a:t>= 0 </a:t>
            </a:r>
          </a:p>
          <a:p>
            <a:pPr algn="ctr" eaLnBrk="1" hangingPunct="1"/>
            <a:r>
              <a:rPr lang="en-US" altLang="en-US" i="1" dirty="0"/>
              <a:t>H</a:t>
            </a:r>
            <a:r>
              <a:rPr lang="en-US" altLang="en-US" baseline="-25000" dirty="0"/>
              <a:t>a</a:t>
            </a:r>
            <a:r>
              <a:rPr lang="en-US" altLang="en-US" dirty="0"/>
              <a:t>: </a:t>
            </a:r>
            <a:r>
              <a:rPr lang="en-US" altLang="en-US" i="1" dirty="0"/>
              <a:t>β</a:t>
            </a:r>
            <a:r>
              <a:rPr lang="en-US" altLang="en-US" baseline="-25000" dirty="0"/>
              <a:t>1</a:t>
            </a:r>
            <a:r>
              <a:rPr lang="en-US" altLang="en-US" dirty="0"/>
              <a:t> &gt; 0</a:t>
            </a:r>
          </a:p>
          <a:p>
            <a:pPr algn="just" eaLnBrk="1" hangingPunct="1"/>
            <a:r>
              <a:rPr lang="en-US" altLang="en-US" dirty="0"/>
              <a:t>where </a:t>
            </a:r>
            <a:r>
              <a:rPr lang="en-US" altLang="en-US" i="1" dirty="0"/>
              <a:t>β</a:t>
            </a:r>
            <a:r>
              <a:rPr lang="en-US" altLang="en-US" baseline="-25000" dirty="0"/>
              <a:t>1</a:t>
            </a:r>
            <a:r>
              <a:rPr lang="en-US" altLang="en-US" dirty="0"/>
              <a:t> is the true slope of the population regression line relating crying count to IQ score. </a:t>
            </a:r>
            <a:endParaRPr lang="en-US" altLang="en-US" sz="2000" dirty="0"/>
          </a:p>
        </p:txBody>
      </p:sp>
      <p:sp>
        <p:nvSpPr>
          <p:cNvPr id="10" name="Rectangle 8"/>
          <p:cNvSpPr>
            <a:spLocks noChangeArrowheads="1"/>
          </p:cNvSpPr>
          <p:nvPr/>
        </p:nvSpPr>
        <p:spPr bwMode="auto">
          <a:xfrm>
            <a:off x="438150" y="2595155"/>
            <a:ext cx="83248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spcAft>
                <a:spcPts val="600"/>
              </a:spcAft>
              <a:tabLst>
                <a:tab pos="171450" algn="l"/>
              </a:tabLst>
            </a:pPr>
            <a:r>
              <a:rPr lang="en-US" altLang="en-US" sz="1400" dirty="0"/>
              <a:t>•  The scatterplot suggests a moderately positive linear relationship between crying peaks and IQ. The residual plot shows a random scatter of residuals about the line </a:t>
            </a:r>
            <a:r>
              <a:rPr lang="en-US" altLang="en-US" sz="1400" i="1" dirty="0"/>
              <a:t>y</a:t>
            </a:r>
            <a:r>
              <a:rPr lang="en-US" altLang="en-US" sz="1400" dirty="0"/>
              <a:t> = 0.</a:t>
            </a:r>
          </a:p>
        </p:txBody>
      </p:sp>
      <p:grpSp>
        <p:nvGrpSpPr>
          <p:cNvPr id="2" name="Group 16" descr="described separately"/>
          <p:cNvGrpSpPr>
            <a:grpSpLocks/>
          </p:cNvGrpSpPr>
          <p:nvPr/>
        </p:nvGrpSpPr>
        <p:grpSpPr bwMode="auto">
          <a:xfrm>
            <a:off x="241300" y="3217866"/>
            <a:ext cx="8623252" cy="1732013"/>
            <a:chOff x="620712" y="3105894"/>
            <a:chExt cx="7069930" cy="1323455"/>
          </a:xfrm>
        </p:grpSpPr>
        <p:pic>
          <p:nvPicPr>
            <p:cNvPr id="43015" name="Picture 9" descr="The graph plots IQ at age three years on the vertical axis, ranging from 70 to 180 in increments of 10, versus count of crying peaks on the horizontal axis, ranging from 0 to 40 in increments of 5. Dozens of points are plotted in a wide, loos cluster that rises slightly from left to right between 85 and 120 on the vertical axis at 10 on the horizontal axis, and between 135 and 160 at 35 on the horizontal axis. A regression line rises diagonally through the center of the cluster from (0, 90) through (40, 150). All values estimate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712" y="3105894"/>
              <a:ext cx="1699496" cy="131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6" name="Picture 13" descr="The graph plots residual on the vertical axis, ranging from negative 30 to 60 in increments of 10, versus cry on the horizontal axis, ranging from 5 to 35 in increments of 5. A residual line extends horizontally from 0 on the vertical axis. Dozens of points are plotted in a high and wide, loose cluster between 20 and 50 on the vertical axis and 9 and 33 on the horizontal axis. Points are nearly evenly distributed above and below the residual line."/>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56242" y="3108960"/>
              <a:ext cx="2077311" cy="1320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7" name="Picture 15" descr="The graph plots z score on the vertical axis, ranging from negative 2 to 2 in increments of 1, versus residuals on the horizontal axis, ranging from negative 30 to 60 in increments of 10. Dozens of points rise in a tight cluster that rises in a slight curve with decreasing steepness from (negative 30, negative 2) to (55, 2). All values estimated."/>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79441" y="3107314"/>
              <a:ext cx="2011201" cy="127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TextBox 3"/>
          <p:cNvSpPr txBox="1"/>
          <p:nvPr/>
        </p:nvSpPr>
        <p:spPr>
          <a:xfrm>
            <a:off x="438149" y="5142976"/>
            <a:ext cx="8426403" cy="1569660"/>
          </a:xfrm>
          <a:prstGeom prst="rect">
            <a:avLst/>
          </a:prstGeom>
          <a:noFill/>
        </p:spPr>
        <p:txBody>
          <a:bodyPr wrap="square" rtlCol="0">
            <a:spAutoFit/>
          </a:bodyPr>
          <a:lstStyle/>
          <a:p>
            <a:pPr lvl="0" eaLnBrk="1" hangingPunct="1">
              <a:spcAft>
                <a:spcPts val="600"/>
              </a:spcAft>
              <a:tabLst>
                <a:tab pos="171450" algn="l"/>
              </a:tabLst>
            </a:pPr>
            <a:r>
              <a:rPr lang="en-US" altLang="en-US" sz="1400" dirty="0">
                <a:solidFill>
                  <a:prstClr val="black"/>
                </a:solidFill>
              </a:rPr>
              <a:t>•  IQ scores of individual infants should be independent.</a:t>
            </a:r>
          </a:p>
          <a:p>
            <a:pPr lvl="0" algn="just" eaLnBrk="1" hangingPunct="1">
              <a:spcAft>
                <a:spcPts val="600"/>
              </a:spcAft>
              <a:tabLst>
                <a:tab pos="171450" algn="l"/>
              </a:tabLst>
            </a:pPr>
            <a:r>
              <a:rPr lang="en-US" altLang="en-US" sz="1400" dirty="0">
                <a:solidFill>
                  <a:prstClr val="black"/>
                </a:solidFill>
              </a:rPr>
              <a:t>• The Normal probability plot of the residuals shows a slight curvature, which suggests that the 	responses may not be Normally</a:t>
            </a:r>
            <a:r>
              <a:rPr lang="en-US" altLang="en-US" sz="1600" dirty="0">
                <a:solidFill>
                  <a:prstClr val="black"/>
                </a:solidFill>
              </a:rPr>
              <a:t> </a:t>
            </a:r>
            <a:r>
              <a:rPr lang="en-US" altLang="en-US" sz="1400" dirty="0">
                <a:solidFill>
                  <a:prstClr val="black"/>
                </a:solidFill>
              </a:rPr>
              <a:t>distributed about the line at each </a:t>
            </a:r>
            <a:r>
              <a:rPr lang="en-US" altLang="en-US" sz="1400" i="1" dirty="0">
                <a:solidFill>
                  <a:prstClr val="black"/>
                </a:solidFill>
              </a:rPr>
              <a:t>x</a:t>
            </a:r>
            <a:r>
              <a:rPr lang="en-US" altLang="en-US" sz="1400" dirty="0">
                <a:solidFill>
                  <a:prstClr val="black"/>
                </a:solidFill>
              </a:rPr>
              <a:t>-value. With such a large 	sample size (</a:t>
            </a:r>
            <a:r>
              <a:rPr lang="en-US" altLang="en-US" sz="1400" i="1" dirty="0">
                <a:solidFill>
                  <a:prstClr val="black"/>
                </a:solidFill>
              </a:rPr>
              <a:t>n </a:t>
            </a:r>
            <a:r>
              <a:rPr lang="en-US" altLang="en-US" sz="1400" dirty="0">
                <a:solidFill>
                  <a:prstClr val="black"/>
                </a:solidFill>
              </a:rPr>
              <a:t>= 38), however, the </a:t>
            </a:r>
            <a:r>
              <a:rPr lang="en-US" altLang="en-US" sz="1400" i="1" dirty="0">
                <a:solidFill>
                  <a:prstClr val="black"/>
                </a:solidFill>
              </a:rPr>
              <a:t>t </a:t>
            </a:r>
            <a:r>
              <a:rPr lang="en-US" altLang="en-US" sz="1400" dirty="0">
                <a:solidFill>
                  <a:prstClr val="black"/>
                </a:solidFill>
              </a:rPr>
              <a:t>procedures are robust against departures from Normality.</a:t>
            </a:r>
          </a:p>
          <a:p>
            <a:pPr lvl="0" algn="just" eaLnBrk="1" hangingPunct="1">
              <a:spcAft>
                <a:spcPts val="600"/>
              </a:spcAft>
              <a:tabLst>
                <a:tab pos="171450" algn="l"/>
              </a:tabLst>
            </a:pPr>
            <a:r>
              <a:rPr lang="en-US" altLang="en-US" sz="1400" dirty="0">
                <a:solidFill>
                  <a:prstClr val="black"/>
                </a:solidFill>
              </a:rPr>
              <a:t>• The residual plot shows fairly equal amounts of scatter around the horizontal line at 0 for all </a:t>
            </a:r>
            <a:r>
              <a:rPr lang="en-US" altLang="en-US" sz="1400" i="1" dirty="0">
                <a:solidFill>
                  <a:prstClr val="black"/>
                </a:solidFill>
              </a:rPr>
              <a:t>x</a:t>
            </a:r>
            <a:r>
              <a:rPr lang="en-US" altLang="en-US" sz="1400" dirty="0">
                <a:solidFill>
                  <a:prstClr val="black"/>
                </a:solidFill>
              </a:rPr>
              <a:t>-	values.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50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fade">
                                      <p:cBhvr>
                                        <p:cTn id="20" dur="5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fade">
                                      <p:cBhvr>
                                        <p:cTn id="2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5"/>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Simple Linear Regression Example 3</a:t>
            </a:r>
            <a:endParaRPr lang="en-US" dirty="0"/>
          </a:p>
        </p:txBody>
      </p:sp>
      <p:sp>
        <p:nvSpPr>
          <p:cNvPr id="4403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C05A4D08-530B-41C1-BCAD-E51BB148A42A}" type="slidenum">
              <a:rPr lang="en-US" altLang="en-US" sz="1200">
                <a:solidFill>
                  <a:schemeClr val="accent1"/>
                </a:solidFill>
              </a:rPr>
              <a:pPr>
                <a:lnSpc>
                  <a:spcPct val="80000"/>
                </a:lnSpc>
              </a:pPr>
              <a:t>19</a:t>
            </a:fld>
            <a:endParaRPr lang="en-US" altLang="en-US" sz="1200">
              <a:solidFill>
                <a:schemeClr val="accent1"/>
              </a:solidFill>
            </a:endParaRPr>
          </a:p>
        </p:txBody>
      </p:sp>
      <p:sp>
        <p:nvSpPr>
          <p:cNvPr id="44035" name="Rectangle 8"/>
          <p:cNvSpPr>
            <a:spLocks noChangeArrowheads="1"/>
          </p:cNvSpPr>
          <p:nvPr/>
        </p:nvSpPr>
        <p:spPr bwMode="auto">
          <a:xfrm>
            <a:off x="174625" y="1235341"/>
            <a:ext cx="8588375"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en-US" altLang="en-US" dirty="0"/>
              <a:t>With no obvious violations of the conditions, we proceed to inference. The test statistic and </a:t>
            </a:r>
            <a:r>
              <a:rPr lang="en-US" altLang="en-US" i="1" dirty="0"/>
              <a:t>P</a:t>
            </a:r>
            <a:r>
              <a:rPr lang="en-US" altLang="en-US" dirty="0"/>
              <a:t>-value can be found in the Minitab output.</a:t>
            </a:r>
            <a:endParaRPr lang="en-US" altLang="en-US" sz="2000" dirty="0"/>
          </a:p>
        </p:txBody>
      </p:sp>
      <p:pic>
        <p:nvPicPr>
          <p:cNvPr id="44037" name="Picture 8" descr="The table lists the following data. Predictor, constant. Coefficient, 91.268. S E Coefficient, 8.934. T, 10.22. P, 0.000. Predictor, cry count. Coefficient, 1.4929. S E Coefficient, 0.4870. T, 3.07. P, 0.004. S = 17.50. R squared = 20.7 percent. R squared adjusted = 18.5 percent."/>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9965" y="2090249"/>
            <a:ext cx="4710112"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Object 6" descr="t = start fraction b sub 1 over S E sub b sub 1 end fraction = start fraction 1.4949 over 0.4870 end fraction = 3.07"/>
          <p:cNvGraphicFramePr>
            <a:graphicFrameLocks noChangeAspect="1"/>
          </p:cNvGraphicFramePr>
          <p:nvPr>
            <p:extLst>
              <p:ext uri="{D42A27DB-BD31-4B8C-83A1-F6EECF244321}">
                <p14:modId xmlns:p14="http://schemas.microsoft.com/office/powerpoint/2010/main" val="4239115732"/>
              </p:ext>
            </p:extLst>
          </p:nvPr>
        </p:nvGraphicFramePr>
        <p:xfrm>
          <a:off x="6016576" y="2216246"/>
          <a:ext cx="2575873" cy="712141"/>
        </p:xfrm>
        <a:graphic>
          <a:graphicData uri="http://schemas.openxmlformats.org/presentationml/2006/ole">
            <mc:AlternateContent xmlns:mc="http://schemas.openxmlformats.org/markup-compatibility/2006">
              <mc:Choice xmlns:v="urn:schemas-microsoft-com:vml" Requires="v">
                <p:oleObj spid="_x0000_s56373" name="Equation" r:id="rId5" imgW="1549080" imgH="457200" progId="Equation.DSMT4">
                  <p:embed/>
                </p:oleObj>
              </mc:Choice>
              <mc:Fallback>
                <p:oleObj name="Equation" r:id="rId5" imgW="1549080" imgH="457200" progId="Equation.DSMT4">
                  <p:embed/>
                  <p:pic>
                    <p:nvPicPr>
                      <p:cNvPr id="0" name=""/>
                      <p:cNvPicPr/>
                      <p:nvPr/>
                    </p:nvPicPr>
                    <p:blipFill>
                      <a:blip r:embed="rId6"/>
                      <a:stretch>
                        <a:fillRect/>
                      </a:stretch>
                    </p:blipFill>
                    <p:spPr>
                      <a:xfrm>
                        <a:off x="6016576" y="2216246"/>
                        <a:ext cx="2575873" cy="712141"/>
                      </a:xfrm>
                      <a:prstGeom prst="rect">
                        <a:avLst/>
                      </a:prstGeom>
                    </p:spPr>
                  </p:pic>
                </p:oleObj>
              </mc:Fallback>
            </mc:AlternateContent>
          </a:graphicData>
        </a:graphic>
      </p:graphicFrame>
      <p:sp>
        <p:nvSpPr>
          <p:cNvPr id="20" name="Curved Down Arrow 19" descr="An arrow points from the values in the table to the following equation."/>
          <p:cNvSpPr>
            <a:spLocks noChangeArrowheads="1"/>
          </p:cNvSpPr>
          <p:nvPr/>
        </p:nvSpPr>
        <p:spPr bwMode="auto">
          <a:xfrm rot="20275862">
            <a:off x="3605213" y="2244729"/>
            <a:ext cx="2409510" cy="694617"/>
          </a:xfrm>
          <a:prstGeom prst="curvedDownArrow">
            <a:avLst>
              <a:gd name="adj1" fmla="val 24996"/>
              <a:gd name="adj2" fmla="val 49992"/>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600">
              <a:solidFill>
                <a:schemeClr val="tx1"/>
              </a:solidFill>
            </a:endParaRPr>
          </a:p>
        </p:txBody>
      </p:sp>
      <p:sp>
        <p:nvSpPr>
          <p:cNvPr id="24" name="Curved Down Arrow 23" descr="An arro points from the P values in the table to the following text."/>
          <p:cNvSpPr>
            <a:spLocks noChangeArrowheads="1"/>
          </p:cNvSpPr>
          <p:nvPr/>
        </p:nvSpPr>
        <p:spPr bwMode="auto">
          <a:xfrm rot="6131771">
            <a:off x="4280862" y="3607384"/>
            <a:ext cx="1558925" cy="549275"/>
          </a:xfrm>
          <a:prstGeom prst="curvedDownArrow">
            <a:avLst>
              <a:gd name="adj1" fmla="val 24999"/>
              <a:gd name="adj2" fmla="val 49998"/>
              <a:gd name="adj3" fmla="val 25000"/>
            </a:avLst>
          </a:prstGeom>
          <a:solidFill>
            <a:srgbClr val="D2DA7A"/>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600">
              <a:solidFill>
                <a:schemeClr val="tx1"/>
              </a:solidFill>
            </a:endParaRPr>
          </a:p>
        </p:txBody>
      </p:sp>
      <p:sp>
        <p:nvSpPr>
          <p:cNvPr id="44042" name="Rectangle 12"/>
          <p:cNvSpPr>
            <a:spLocks noChangeArrowheads="1"/>
          </p:cNvSpPr>
          <p:nvPr/>
        </p:nvSpPr>
        <p:spPr bwMode="auto">
          <a:xfrm>
            <a:off x="172897" y="4192232"/>
            <a:ext cx="4571307" cy="1199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altLang="en-US" dirty="0"/>
              <a:t>The Minitab output gives </a:t>
            </a:r>
            <a:r>
              <a:rPr lang="en-US" altLang="en-US" i="1" dirty="0"/>
              <a:t>P </a:t>
            </a:r>
            <a:r>
              <a:rPr lang="en-US" altLang="en-US" dirty="0"/>
              <a:t>= 0.004 as the </a:t>
            </a:r>
            <a:r>
              <a:rPr lang="en-US" altLang="en-US" i="1" dirty="0"/>
              <a:t>P</a:t>
            </a:r>
            <a:r>
              <a:rPr lang="en-US" altLang="en-US" dirty="0"/>
              <a:t>-value for a two-sided test. The </a:t>
            </a:r>
            <a:r>
              <a:rPr lang="en-US" altLang="en-US" i="1" dirty="0"/>
              <a:t>P</a:t>
            </a:r>
            <a:r>
              <a:rPr lang="en-US" altLang="en-US" dirty="0"/>
              <a:t>-value for the one-sided test is half of this, </a:t>
            </a:r>
          </a:p>
          <a:p>
            <a:pPr eaLnBrk="1" hangingPunct="1"/>
            <a:r>
              <a:rPr lang="en-US" altLang="en-US" i="1" dirty="0"/>
              <a:t>P </a:t>
            </a:r>
            <a:r>
              <a:rPr lang="en-US" altLang="en-US" dirty="0"/>
              <a:t>= 0.002.</a:t>
            </a:r>
          </a:p>
        </p:txBody>
      </p:sp>
      <p:pic>
        <p:nvPicPr>
          <p:cNvPr id="21" name="Picture 20" descr="A normal curve for a t distribution with 36 degrees of freedom. The horizontal axis represents values of t. t = 3.07 is marked under the right tail. The area under the curve to the right of it is shaded, representing P-value = 0.002. "/>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76443" y="3133725"/>
            <a:ext cx="3529013"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8"/>
          <p:cNvSpPr>
            <a:spLocks noChangeArrowheads="1"/>
          </p:cNvSpPr>
          <p:nvPr/>
        </p:nvSpPr>
        <p:spPr bwMode="auto">
          <a:xfrm>
            <a:off x="209964" y="5754649"/>
            <a:ext cx="855303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altLang="en-US" dirty="0"/>
              <a:t>The </a:t>
            </a:r>
            <a:r>
              <a:rPr lang="en-US" altLang="en-US" i="1" dirty="0"/>
              <a:t>P</a:t>
            </a:r>
            <a:r>
              <a:rPr lang="en-US" altLang="en-US" dirty="0"/>
              <a:t>-value, 0.002, is less than our </a:t>
            </a:r>
            <a:r>
              <a:rPr lang="en-US" altLang="en-US" i="1" dirty="0"/>
              <a:t>α </a:t>
            </a:r>
            <a:r>
              <a:rPr lang="en-US" altLang="en-US" dirty="0"/>
              <a:t>= 0.05 significance level, so we have enough evidence to reject </a:t>
            </a:r>
            <a:r>
              <a:rPr lang="en-US" altLang="en-US" i="1" dirty="0"/>
              <a:t>H</a:t>
            </a:r>
            <a:r>
              <a:rPr lang="en-US" altLang="en-US" baseline="-25000" dirty="0"/>
              <a:t>0</a:t>
            </a:r>
            <a:r>
              <a:rPr lang="en-US" altLang="en-US" i="1" dirty="0"/>
              <a:t> </a:t>
            </a:r>
            <a:r>
              <a:rPr lang="en-US" altLang="en-US" dirty="0"/>
              <a:t>and conclude that there is a positive linear relationship between intensity of crying and IQ score in the population of infants.</a:t>
            </a:r>
          </a:p>
        </p:txBody>
      </p:sp>
    </p:spTree>
    <p:extLst>
      <p:ext uri="{BB962C8B-B14F-4D97-AF65-F5344CB8AC3E}">
        <p14:creationId xmlns:p14="http://schemas.microsoft.com/office/powerpoint/2010/main" val="96372825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itchFamily="34" charset="-128"/>
              </a:rPr>
              <a:t>Confidence Interval for Mean Response</a:t>
            </a:r>
            <a:endParaRPr lang="en-US" altLang="en-US" baseline="-25000" dirty="0">
              <a:ea typeface="ＭＳ Ｐゴシック" pitchFamily="34" charset="-128"/>
            </a:endParaRPr>
          </a:p>
        </p:txBody>
      </p:sp>
      <p:sp>
        <p:nvSpPr>
          <p:cNvPr id="4506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nSpc>
                <a:spcPct val="80000"/>
              </a:lnSpc>
            </a:pPr>
            <a:fld id="{4F02FBC3-E49C-469A-BECA-F9D87B7531D4}" type="slidenum">
              <a:rPr lang="en-US" altLang="en-US" sz="1200">
                <a:solidFill>
                  <a:schemeClr val="accent1"/>
                </a:solidFill>
              </a:rPr>
              <a:pPr>
                <a:lnSpc>
                  <a:spcPct val="80000"/>
                </a:lnSpc>
              </a:pPr>
              <a:t>20</a:t>
            </a:fld>
            <a:endParaRPr lang="en-US" altLang="en-US" sz="1200">
              <a:solidFill>
                <a:schemeClr val="accent1"/>
              </a:solidFill>
            </a:endParaRPr>
          </a:p>
        </p:txBody>
      </p:sp>
      <p:sp>
        <p:nvSpPr>
          <p:cNvPr id="45059" name="Rectangle 3"/>
          <p:cNvSpPr>
            <a:spLocks noChangeArrowheads="1"/>
          </p:cNvSpPr>
          <p:nvPr/>
        </p:nvSpPr>
        <p:spPr bwMode="auto">
          <a:xfrm>
            <a:off x="174625" y="1428206"/>
            <a:ext cx="8327230" cy="661851"/>
          </a:xfrm>
          <a:prstGeom prst="rect">
            <a:avLst/>
          </a:prstGeom>
          <a:solidFill>
            <a:srgbClr val="FFD780"/>
          </a:solidFill>
          <a:ln>
            <a:noFill/>
          </a:ln>
        </p:spPr>
        <p:txBody>
          <a:bodyPr/>
          <a:lstStyle/>
          <a:p>
            <a:pPr algn="just">
              <a:buClr>
                <a:srgbClr val="00CC99"/>
              </a:buClr>
              <a:buSzPct val="65000"/>
              <a:buFont typeface="Wingdings" pitchFamily="2" charset="2"/>
              <a:buNone/>
            </a:pPr>
            <a:r>
              <a:rPr lang="en-US" altLang="en-US" dirty="0"/>
              <a:t>We can also calculate a confidence interval for the population mean </a:t>
            </a:r>
            <a:r>
              <a:rPr lang="en-US" altLang="en-US" i="1" dirty="0" err="1"/>
              <a:t>μ</a:t>
            </a:r>
            <a:r>
              <a:rPr lang="en-US" altLang="en-US" i="1" baseline="-30000" dirty="0" err="1"/>
              <a:t>y</a:t>
            </a:r>
            <a:r>
              <a:rPr lang="en-US" altLang="en-US" dirty="0"/>
              <a:t> of all responses </a:t>
            </a:r>
            <a:r>
              <a:rPr lang="en-US" altLang="en-US" i="1" dirty="0"/>
              <a:t>y</a:t>
            </a:r>
            <a:r>
              <a:rPr lang="en-US" altLang="en-US" dirty="0"/>
              <a:t> when </a:t>
            </a:r>
            <a:r>
              <a:rPr lang="en-US" altLang="en-US" i="1" dirty="0"/>
              <a:t>x</a:t>
            </a:r>
            <a:r>
              <a:rPr lang="en-US" altLang="en-US" dirty="0"/>
              <a:t> takes the value </a:t>
            </a:r>
            <a:r>
              <a:rPr lang="en-US" altLang="en-US" i="1" dirty="0"/>
              <a:t>x</a:t>
            </a:r>
            <a:r>
              <a:rPr lang="en-US" altLang="en-US" dirty="0"/>
              <a:t>* (within the range of the data tested).</a:t>
            </a:r>
          </a:p>
          <a:p>
            <a:pPr>
              <a:lnSpc>
                <a:spcPct val="170000"/>
              </a:lnSpc>
              <a:buClr>
                <a:srgbClr val="00CC99"/>
              </a:buClr>
              <a:buSzPct val="65000"/>
              <a:buFont typeface="Wingdings" pitchFamily="2" charset="2"/>
              <a:buNone/>
            </a:pPr>
            <a:endParaRPr lang="en-US" altLang="en-US" sz="1400" dirty="0"/>
          </a:p>
        </p:txBody>
      </p:sp>
      <p:graphicFrame>
        <p:nvGraphicFramePr>
          <p:cNvPr id="2" name="Object 1"/>
          <p:cNvGraphicFramePr>
            <a:graphicFrameLocks noChangeAspect="1"/>
          </p:cNvGraphicFramePr>
          <p:nvPr>
            <p:extLst>
              <p:ext uri="{D42A27DB-BD31-4B8C-83A1-F6EECF244321}">
                <p14:modId xmlns:p14="http://schemas.microsoft.com/office/powerpoint/2010/main" val="3221568980"/>
              </p:ext>
            </p:extLst>
          </p:nvPr>
        </p:nvGraphicFramePr>
        <p:xfrm>
          <a:off x="174625" y="2220958"/>
          <a:ext cx="7621838" cy="1905460"/>
        </p:xfrm>
        <a:graphic>
          <a:graphicData uri="http://schemas.openxmlformats.org/presentationml/2006/ole">
            <mc:AlternateContent xmlns:mc="http://schemas.openxmlformats.org/markup-compatibility/2006">
              <mc:Choice xmlns:v="urn:schemas-microsoft-com:vml" Requires="v">
                <p:oleObj spid="_x0000_s61450" name="Equation" r:id="rId4" imgW="4927320" imgH="1231560" progId="Equation.DSMT4">
                  <p:embed/>
                </p:oleObj>
              </mc:Choice>
              <mc:Fallback>
                <p:oleObj name="Equation" r:id="rId4" imgW="4927320" imgH="1231560" progId="Equation.DSMT4">
                  <p:embed/>
                  <p:pic>
                    <p:nvPicPr>
                      <p:cNvPr id="0" name=""/>
                      <p:cNvPicPr/>
                      <p:nvPr/>
                    </p:nvPicPr>
                    <p:blipFill>
                      <a:blip r:embed="rId5"/>
                      <a:stretch>
                        <a:fillRect/>
                      </a:stretch>
                    </p:blipFill>
                    <p:spPr>
                      <a:xfrm>
                        <a:off x="174625" y="2220958"/>
                        <a:ext cx="7621838" cy="1905460"/>
                      </a:xfrm>
                      <a:prstGeom prst="rect">
                        <a:avLst/>
                      </a:prstGeom>
                      <a:solidFill>
                        <a:srgbClr val="FFD780"/>
                      </a:solidFill>
                    </p:spPr>
                  </p:pic>
                </p:oleObj>
              </mc:Fallback>
            </mc:AlternateContent>
          </a:graphicData>
        </a:graphic>
      </p:graphicFrame>
      <p:sp>
        <p:nvSpPr>
          <p:cNvPr id="10" name="Text Box 5"/>
          <p:cNvSpPr txBox="1">
            <a:spLocks noChangeArrowheads="1"/>
          </p:cNvSpPr>
          <p:nvPr/>
        </p:nvSpPr>
        <p:spPr bwMode="auto">
          <a:xfrm>
            <a:off x="174625" y="4530666"/>
            <a:ext cx="4037611" cy="1892826"/>
          </a:xfrm>
          <a:prstGeom prst="rect">
            <a:avLst/>
          </a:prstGeom>
          <a:solidFill>
            <a:srgbClr val="FFD780"/>
          </a:solidFill>
          <a:ln>
            <a:noFill/>
          </a:ln>
        </p:spPr>
        <p:txBody>
          <a:bodyPr wrap="squar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Aft>
                <a:spcPct val="50000"/>
              </a:spcAft>
            </a:pPr>
            <a:r>
              <a:rPr lang="en-US" altLang="en-US" sz="1800" dirty="0">
                <a:solidFill>
                  <a:schemeClr val="tx1"/>
                </a:solidFill>
              </a:rPr>
              <a:t>A separate confidence interval could be calculated for </a:t>
            </a:r>
            <a:r>
              <a:rPr lang="en-US" altLang="en-US" sz="1800" i="1" dirty="0" err="1">
                <a:solidFill>
                  <a:schemeClr val="tx1"/>
                </a:solidFill>
              </a:rPr>
              <a:t>μ</a:t>
            </a:r>
            <a:r>
              <a:rPr lang="en-US" altLang="en-US" sz="1800" i="1" baseline="-30000" dirty="0" err="1">
                <a:solidFill>
                  <a:schemeClr val="tx1"/>
                </a:solidFill>
              </a:rPr>
              <a:t>y</a:t>
            </a:r>
            <a:r>
              <a:rPr lang="en-US" altLang="en-US" sz="1800" dirty="0">
                <a:solidFill>
                  <a:schemeClr val="tx1"/>
                </a:solidFill>
              </a:rPr>
              <a:t> along all the values that </a:t>
            </a:r>
            <a:r>
              <a:rPr lang="en-US" altLang="en-US" sz="1800" i="1" dirty="0">
                <a:solidFill>
                  <a:schemeClr val="tx1"/>
                </a:solidFill>
              </a:rPr>
              <a:t>x</a:t>
            </a:r>
            <a:r>
              <a:rPr lang="en-US" altLang="en-US" sz="1800" dirty="0">
                <a:solidFill>
                  <a:schemeClr val="tx1"/>
                </a:solidFill>
              </a:rPr>
              <a:t> takes. </a:t>
            </a:r>
          </a:p>
          <a:p>
            <a:pPr algn="just" eaLnBrk="1" hangingPunct="1"/>
            <a:r>
              <a:rPr lang="en-US" altLang="en-US" sz="1800" dirty="0">
                <a:solidFill>
                  <a:schemeClr val="tx1"/>
                </a:solidFill>
              </a:rPr>
              <a:t>Graphically, the series of confidence intervals is shown as a continuous curve on either side of </a:t>
            </a:r>
            <a:r>
              <a:rPr lang="en-US" altLang="en-US" sz="1800" i="1" dirty="0">
                <a:solidFill>
                  <a:schemeClr val="tx1"/>
                </a:solidFill>
              </a:rPr>
              <a:t>ŷ</a:t>
            </a:r>
            <a:r>
              <a:rPr lang="en-US" altLang="en-US" sz="1800" dirty="0">
                <a:solidFill>
                  <a:schemeClr val="tx1"/>
                </a:solidFill>
              </a:rPr>
              <a:t>.</a:t>
            </a:r>
          </a:p>
        </p:txBody>
      </p:sp>
      <p:pic>
        <p:nvPicPr>
          <p:cNvPr id="9" name="Picture 9" descr="&quot;The image on the slide displays a scatter plot. “LOGMPH” is labelled on the X-axis, ranging from 2.4 to 4.0 in a successive interval of 0.2 each and “MPG” is labelled on the Y-axis, ranging from 12 to 26 in a successive interval of 2.&#10;In the scatter plot, dots are plotted showing positive association between the explanatory variable and response variable. The scatter plot has strong positive linear correlation between the variables. In the scatter plot regression line is shown along with the confidence interval.        &#10;&quot;"/>
          <p:cNvPicPr>
            <a:picLocks noChangeAspect="1" noChangeArrowheads="1"/>
          </p:cNvPicPr>
          <p:nvPr/>
        </p:nvPicPr>
        <p:blipFill rotWithShape="1">
          <a:blip r:embed="rId6">
            <a:extLst>
              <a:ext uri="{28A0092B-C50C-407E-A947-70E740481C1C}">
                <a14:useLocalDpi xmlns:a14="http://schemas.microsoft.com/office/drawing/2010/main" val="0"/>
              </a:ext>
            </a:extLst>
          </a:blip>
          <a:srcRect l="2" t="-22" r="-72" b="8859"/>
          <a:stretch/>
        </p:blipFill>
        <p:spPr bwMode="auto">
          <a:xfrm>
            <a:off x="4468810" y="4231754"/>
            <a:ext cx="4545874" cy="24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en-US" altLang="en-US" dirty="0">
                <a:ea typeface="ＭＳ Ｐゴシック" pitchFamily="34" charset="-128"/>
              </a:rPr>
              <a:t>Prediction Intervals 1</a:t>
            </a:r>
          </a:p>
        </p:txBody>
      </p:sp>
      <p:sp>
        <p:nvSpPr>
          <p:cNvPr id="46085"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D1E2C1B8-96F7-42D5-A6C7-A5B7D58C22FD}" type="slidenum">
              <a:rPr lang="en-US" altLang="en-US" sz="1400">
                <a:solidFill>
                  <a:schemeClr val="accent1"/>
                </a:solidFill>
              </a:rPr>
              <a:pPr/>
              <a:t>21</a:t>
            </a:fld>
            <a:endParaRPr lang="en-US" altLang="en-US" sz="1400">
              <a:solidFill>
                <a:schemeClr val="accent1"/>
              </a:solidFill>
            </a:endParaRPr>
          </a:p>
        </p:txBody>
      </p:sp>
      <p:sp>
        <p:nvSpPr>
          <p:cNvPr id="1342468" name="Rectangle 4"/>
          <p:cNvSpPr>
            <a:spLocks noChangeArrowheads="1"/>
          </p:cNvSpPr>
          <p:nvPr/>
        </p:nvSpPr>
        <p:spPr bwMode="auto">
          <a:xfrm>
            <a:off x="174624" y="1381806"/>
            <a:ext cx="8588375" cy="4486275"/>
          </a:xfrm>
          <a:prstGeom prst="rect">
            <a:avLst/>
          </a:prstGeom>
          <a:solidFill>
            <a:srgbClr val="FFD780"/>
          </a:solidFill>
          <a:ln>
            <a:noFill/>
          </a:ln>
        </p:spPr>
        <p:txBody>
          <a:bodyPr/>
          <a:lstStyle/>
          <a:p>
            <a:pPr algn="just">
              <a:buClr>
                <a:srgbClr val="00CC99"/>
              </a:buClr>
              <a:buSzPct val="65000"/>
              <a:buFont typeface="Wingdings" pitchFamily="2" charset="2"/>
              <a:buNone/>
            </a:pPr>
            <a:r>
              <a:rPr lang="en-US" altLang="en-US" sz="2000" dirty="0"/>
              <a:t>One use of regression is for </a:t>
            </a:r>
            <a:r>
              <a:rPr lang="en-US" altLang="en-US" sz="2000" b="1" dirty="0"/>
              <a:t>predicting</a:t>
            </a:r>
            <a:r>
              <a:rPr lang="en-US" altLang="en-US" sz="2000" dirty="0"/>
              <a:t> the value of </a:t>
            </a:r>
            <a:r>
              <a:rPr lang="en-US" altLang="en-US" sz="2000" i="1" dirty="0"/>
              <a:t>y</a:t>
            </a:r>
            <a:r>
              <a:rPr lang="en-US" altLang="en-US" sz="2000" dirty="0"/>
              <a:t> at some value of </a:t>
            </a:r>
            <a:r>
              <a:rPr lang="en-US" altLang="en-US" sz="2000" i="1" dirty="0"/>
              <a:t>x</a:t>
            </a:r>
            <a:r>
              <a:rPr lang="en-US" altLang="en-US" sz="2000" dirty="0"/>
              <a:t> within the range of the data tested. Reliable predictions require statistical inference.</a:t>
            </a:r>
          </a:p>
          <a:p>
            <a:pPr algn="just">
              <a:buClr>
                <a:srgbClr val="00CC99"/>
              </a:buClr>
              <a:buSzPct val="65000"/>
              <a:buFont typeface="Wingdings" pitchFamily="2" charset="2"/>
              <a:buNone/>
            </a:pPr>
            <a:endParaRPr lang="en-US" altLang="en-US" sz="2000" dirty="0"/>
          </a:p>
          <a:p>
            <a:pPr algn="just">
              <a:buClr>
                <a:srgbClr val="00CC99"/>
              </a:buClr>
              <a:buSzPct val="65000"/>
              <a:buFont typeface="Wingdings" pitchFamily="2" charset="2"/>
              <a:buNone/>
            </a:pPr>
            <a:r>
              <a:rPr lang="en-US" altLang="en-US" sz="2000" dirty="0"/>
              <a:t>To estimate an </a:t>
            </a:r>
            <a:r>
              <a:rPr lang="en-US" altLang="en-US" sz="2000" i="1" dirty="0"/>
              <a:t>individual</a:t>
            </a:r>
            <a:r>
              <a:rPr lang="en-US" altLang="en-US" sz="2000" dirty="0"/>
              <a:t> response </a:t>
            </a:r>
            <a:r>
              <a:rPr lang="en-US" altLang="en-US" sz="2000" i="1" dirty="0"/>
              <a:t>y</a:t>
            </a:r>
            <a:r>
              <a:rPr lang="en-US" altLang="en-US" sz="2000" dirty="0"/>
              <a:t> for a given value of </a:t>
            </a:r>
            <a:r>
              <a:rPr lang="en-US" altLang="en-US" sz="2000" i="1" dirty="0"/>
              <a:t>x,</a:t>
            </a:r>
            <a:r>
              <a:rPr lang="en-US" altLang="en-US" sz="2000" dirty="0"/>
              <a:t> we use a </a:t>
            </a:r>
            <a:r>
              <a:rPr lang="en-US" altLang="en-US" sz="2000" b="1" dirty="0"/>
              <a:t>prediction interval</a:t>
            </a:r>
            <a:r>
              <a:rPr lang="en-US" altLang="en-US" sz="2000" dirty="0"/>
              <a:t>.</a:t>
            </a:r>
            <a:endParaRPr lang="en-US" altLang="en-US" sz="2000" b="1" dirty="0"/>
          </a:p>
          <a:p>
            <a:pPr>
              <a:buClr>
                <a:srgbClr val="00CC99"/>
              </a:buClr>
              <a:buSzPct val="65000"/>
              <a:buFont typeface="Wingdings" pitchFamily="2" charset="2"/>
              <a:buNone/>
            </a:pPr>
            <a:endParaRPr lang="en-US" altLang="en-US" sz="2000" b="1" dirty="0">
              <a:solidFill>
                <a:srgbClr val="333399"/>
              </a:solidFill>
            </a:endParaRPr>
          </a:p>
          <a:p>
            <a:pPr marL="0" lvl="1">
              <a:buClr>
                <a:srgbClr val="CC0000"/>
              </a:buClr>
              <a:buSzPct val="60000"/>
              <a:buFont typeface="Wingdings" pitchFamily="2" charset="2"/>
              <a:buNone/>
            </a:pPr>
            <a:r>
              <a:rPr lang="en-US" altLang="en-US" sz="2000" dirty="0"/>
              <a:t>If we randomly sampled many times, many different values of </a:t>
            </a:r>
            <a:r>
              <a:rPr lang="en-US" altLang="en-US" sz="2000" i="1" dirty="0"/>
              <a:t>y would be </a:t>
            </a:r>
            <a:r>
              <a:rPr lang="en-US" altLang="en-US" sz="2000" dirty="0"/>
              <a:t>obtained for a particular </a:t>
            </a:r>
            <a:r>
              <a:rPr lang="en-US" altLang="en-US" sz="2000" i="1" dirty="0"/>
              <a:t>x</a:t>
            </a:r>
            <a:r>
              <a:rPr lang="en-US" altLang="en-US" sz="2000" dirty="0"/>
              <a:t> following </a:t>
            </a:r>
            <a:r>
              <a:rPr lang="en-US" altLang="en-US" sz="2000" i="1" dirty="0"/>
              <a:t>N</a:t>
            </a:r>
            <a:r>
              <a:rPr lang="en-US" altLang="en-US" sz="2000" dirty="0"/>
              <a:t>(0, </a:t>
            </a:r>
            <a:r>
              <a:rPr lang="el-GR" altLang="en-US" sz="2000" i="1" dirty="0"/>
              <a:t>σ</a:t>
            </a:r>
            <a:r>
              <a:rPr lang="en-US" altLang="en-US" sz="2000" dirty="0"/>
              <a:t>) around the mean response </a:t>
            </a:r>
            <a:r>
              <a:rPr lang="en-US" altLang="en-US" sz="2000" i="1" dirty="0"/>
              <a:t>µ</a:t>
            </a:r>
            <a:r>
              <a:rPr lang="en-US" altLang="en-US" sz="2000" baseline="-25000" dirty="0"/>
              <a:t>y</a:t>
            </a:r>
            <a:r>
              <a:rPr lang="en-US" altLang="en-US" sz="2000" dirty="0"/>
              <a:t>.</a:t>
            </a:r>
          </a:p>
        </p:txBody>
      </p:sp>
      <p:pic>
        <p:nvPicPr>
          <p:cNvPr id="46082" name="Picture 5" descr="The three-dimensional diagram shows a graph in the x y plane. It plots y = blood pressure decrease on the vertical axis versus x = calcium in milligrams on the vertical axis. Regression line mu sub y = Beta sub 0 + Beta sub 1 x rises diagonally to the right from a point on the vertical axis. Four standard normal curves sit along the regression line at irregular intervals, perpendicular to it, rising in the z direction. The mean of each curve intersects the regression line."/>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225344" y="4238817"/>
            <a:ext cx="4184113" cy="1603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4246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4246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a:cs typeface="ＭＳ Ｐゴシック"/>
              </a:rPr>
              <a:t>Prediction Intervals 2</a:t>
            </a:r>
            <a:endParaRPr lang="en-US" dirty="0"/>
          </a:p>
        </p:txBody>
      </p:sp>
      <p:sp>
        <p:nvSpPr>
          <p:cNvPr id="47112"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D9665069-25EF-4A8A-A8E9-3B8CEFC72581}" type="slidenum">
              <a:rPr lang="en-US" altLang="en-US" sz="1400">
                <a:solidFill>
                  <a:schemeClr val="accent1"/>
                </a:solidFill>
              </a:rPr>
              <a:pPr/>
              <a:t>22</a:t>
            </a:fld>
            <a:endParaRPr lang="en-US" altLang="en-US" sz="1400">
              <a:solidFill>
                <a:schemeClr val="accent1"/>
              </a:solidFill>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844776968"/>
              </p:ext>
            </p:extLst>
          </p:nvPr>
        </p:nvGraphicFramePr>
        <p:xfrm>
          <a:off x="174625" y="1155806"/>
          <a:ext cx="7929847" cy="2081037"/>
        </p:xfrm>
        <a:graphic>
          <a:graphicData uri="http://schemas.openxmlformats.org/presentationml/2006/ole">
            <mc:AlternateContent xmlns:mc="http://schemas.openxmlformats.org/markup-compatibility/2006">
              <mc:Choice xmlns:v="urn:schemas-microsoft-com:vml" Requires="v">
                <p:oleObj spid="_x0000_s62474" name="Equation" r:id="rId4" imgW="4597200" imgH="1206360" progId="Equation.DSMT4">
                  <p:embed/>
                </p:oleObj>
              </mc:Choice>
              <mc:Fallback>
                <p:oleObj name="Equation" r:id="rId4" imgW="4597200" imgH="1206360" progId="Equation.DSMT4">
                  <p:embed/>
                  <p:pic>
                    <p:nvPicPr>
                      <p:cNvPr id="0" name=""/>
                      <p:cNvPicPr/>
                      <p:nvPr/>
                    </p:nvPicPr>
                    <p:blipFill>
                      <a:blip r:embed="rId5"/>
                      <a:stretch>
                        <a:fillRect/>
                      </a:stretch>
                    </p:blipFill>
                    <p:spPr>
                      <a:xfrm>
                        <a:off x="174625" y="1155806"/>
                        <a:ext cx="7929847" cy="2081037"/>
                      </a:xfrm>
                      <a:prstGeom prst="rect">
                        <a:avLst/>
                      </a:prstGeom>
                      <a:solidFill>
                        <a:srgbClr val="FFD780"/>
                      </a:solidFill>
                    </p:spPr>
                  </p:pic>
                </p:oleObj>
              </mc:Fallback>
            </mc:AlternateContent>
          </a:graphicData>
        </a:graphic>
      </p:graphicFrame>
      <p:sp>
        <p:nvSpPr>
          <p:cNvPr id="1343493" name="Text Box 5"/>
          <p:cNvSpPr txBox="1">
            <a:spLocks noChangeArrowheads="1"/>
          </p:cNvSpPr>
          <p:nvPr/>
        </p:nvSpPr>
        <p:spPr bwMode="auto">
          <a:xfrm>
            <a:off x="174625" y="3303588"/>
            <a:ext cx="3886200" cy="2939266"/>
          </a:xfrm>
          <a:prstGeom prst="rect">
            <a:avLst/>
          </a:prstGeom>
          <a:solidFill>
            <a:srgbClr val="FFD780"/>
          </a:solidFill>
          <a:ln>
            <a:noFill/>
          </a:ln>
        </p:spPr>
        <p:txBody>
          <a:bodyPr>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Aft>
                <a:spcPts val="600"/>
              </a:spcAft>
            </a:pPr>
            <a:r>
              <a:rPr lang="en-US" altLang="en-US" sz="1800" dirty="0">
                <a:solidFill>
                  <a:schemeClr val="tx1"/>
                </a:solidFill>
              </a:rPr>
              <a:t>The prediction interval accounts for error in estimating </a:t>
            </a:r>
            <a:r>
              <a:rPr lang="el-GR" altLang="en-US" sz="1800" i="1" dirty="0">
                <a:solidFill>
                  <a:schemeClr val="tx1"/>
                </a:solidFill>
              </a:rPr>
              <a:t>β</a:t>
            </a:r>
            <a:r>
              <a:rPr lang="en-US" altLang="en-US" sz="1800" baseline="-25000" dirty="0">
                <a:solidFill>
                  <a:schemeClr val="tx1"/>
                </a:solidFill>
              </a:rPr>
              <a:t>0 </a:t>
            </a:r>
            <a:r>
              <a:rPr lang="en-US" altLang="en-US" sz="1800" dirty="0">
                <a:solidFill>
                  <a:schemeClr val="tx1"/>
                </a:solidFill>
              </a:rPr>
              <a:t>and </a:t>
            </a:r>
            <a:r>
              <a:rPr lang="el-GR" altLang="en-US" sz="1800" i="1" dirty="0">
                <a:solidFill>
                  <a:schemeClr val="tx1"/>
                </a:solidFill>
              </a:rPr>
              <a:t>β</a:t>
            </a:r>
            <a:r>
              <a:rPr lang="en-US" altLang="en-US" sz="1800" baseline="-25000" dirty="0">
                <a:solidFill>
                  <a:schemeClr val="tx1"/>
                </a:solidFill>
              </a:rPr>
              <a:t>1</a:t>
            </a:r>
            <a:r>
              <a:rPr lang="en-US" altLang="en-US" sz="1800" dirty="0">
                <a:solidFill>
                  <a:schemeClr val="tx1"/>
                </a:solidFill>
              </a:rPr>
              <a:t> as well as uncertainty about the value of </a:t>
            </a:r>
            <a:r>
              <a:rPr lang="en-US" altLang="en-US" sz="1800" i="1" dirty="0">
                <a:solidFill>
                  <a:schemeClr val="tx1"/>
                </a:solidFill>
              </a:rPr>
              <a:t>y </a:t>
            </a:r>
            <a:r>
              <a:rPr lang="en-US" altLang="en-US" sz="1800" dirty="0">
                <a:solidFill>
                  <a:schemeClr val="tx1"/>
                </a:solidFill>
              </a:rPr>
              <a:t>being predicted.</a:t>
            </a:r>
          </a:p>
          <a:p>
            <a:pPr algn="just" eaLnBrk="1" hangingPunct="1"/>
            <a:r>
              <a:rPr lang="en-US" altLang="en-US" sz="1800" dirty="0">
                <a:solidFill>
                  <a:schemeClr val="tx1"/>
                </a:solidFill>
              </a:rPr>
              <a:t>Graphically, the series of prediction intervals is shown as a continuous curve on either side of </a:t>
            </a:r>
            <a:r>
              <a:rPr lang="en-US" altLang="en-US" sz="1800" i="1" dirty="0">
                <a:solidFill>
                  <a:schemeClr val="tx1"/>
                </a:solidFill>
              </a:rPr>
              <a:t>ŷ</a:t>
            </a:r>
            <a:r>
              <a:rPr lang="en-US" altLang="en-US" sz="1800" dirty="0">
                <a:solidFill>
                  <a:schemeClr val="tx1"/>
                </a:solidFill>
              </a:rPr>
              <a:t>. These prediction intervals are wider than the corresponding confidence intervals for </a:t>
            </a:r>
            <a:r>
              <a:rPr lang="el-GR" altLang="en-US" sz="1800" i="1" dirty="0">
                <a:solidFill>
                  <a:schemeClr val="tx1"/>
                </a:solidFill>
              </a:rPr>
              <a:t>μ</a:t>
            </a:r>
            <a:r>
              <a:rPr lang="en-US" altLang="en-US" sz="1800" i="1" baseline="-25000" dirty="0">
                <a:solidFill>
                  <a:schemeClr val="tx1"/>
                </a:solidFill>
              </a:rPr>
              <a:t>y </a:t>
            </a:r>
            <a:r>
              <a:rPr lang="en-US" altLang="en-US" sz="1800" i="1" dirty="0">
                <a:solidFill>
                  <a:schemeClr val="tx1"/>
                </a:solidFill>
              </a:rPr>
              <a:t>.</a:t>
            </a:r>
          </a:p>
        </p:txBody>
      </p:sp>
      <p:pic>
        <p:nvPicPr>
          <p:cNvPr id="1343498" name="Picture 10" descr="The image on the slide displays a scatter plot. “LOGMPH” is labelled on the X-axis, ranging from 2.4 to 4.0 in a successive interval of 0.2 each and “MPG” on the Y-axis, ranging from 12 to 26 in a successive interval of 2.&#10;In the scatter plot dots are plotted showing positive association between the explanatory variable and response variable. The scatter plot has strong positive linear correlation between the variables. In the scatter plot regression line is shown along with the confidence interval.        &#10;"/>
          <p:cNvPicPr>
            <a:picLocks noChangeAspect="1" noChangeArrowheads="1"/>
          </p:cNvPicPr>
          <p:nvPr/>
        </p:nvPicPr>
        <p:blipFill rotWithShape="1">
          <a:blip r:embed="rId6">
            <a:clrChange>
              <a:clrFrom>
                <a:srgbClr val="3357AB"/>
              </a:clrFrom>
              <a:clrTo>
                <a:srgbClr val="3357AB">
                  <a:alpha val="0"/>
                </a:srgbClr>
              </a:clrTo>
            </a:clrChange>
            <a:extLst>
              <a:ext uri="{28A0092B-C50C-407E-A947-70E740481C1C}">
                <a14:useLocalDpi xmlns:a14="http://schemas.microsoft.com/office/drawing/2010/main" val="0"/>
              </a:ext>
            </a:extLst>
          </a:blip>
          <a:srcRect t="29" b="8939"/>
          <a:stretch/>
        </p:blipFill>
        <p:spPr bwMode="auto">
          <a:xfrm>
            <a:off x="4267200" y="3595688"/>
            <a:ext cx="4495800" cy="2490652"/>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34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43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349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2"/>
          <p:cNvSpPr>
            <a:spLocks noGrp="1"/>
          </p:cNvSpPr>
          <p:nvPr>
            <p:ph type="title"/>
          </p:nvPr>
        </p:nvSpPr>
        <p:spPr/>
        <p:txBody>
          <a:bodyPr anchor="t"/>
          <a:lstStyle/>
          <a:p>
            <a:pPr eaLnBrk="1" hangingPunct="1"/>
            <a:r>
              <a:rPr lang="en-US" altLang="en-US" b="1">
                <a:ea typeface="ＭＳ Ｐゴシック" pitchFamily="34" charset="-128"/>
              </a:rPr>
              <a:t>10.2 More Detail about Simple Linear Regression</a:t>
            </a:r>
          </a:p>
        </p:txBody>
      </p:sp>
      <p:sp>
        <p:nvSpPr>
          <p:cNvPr id="48131" name="Text Placeholder 3"/>
          <p:cNvSpPr>
            <a:spLocks noGrp="1"/>
          </p:cNvSpPr>
          <p:nvPr>
            <p:ph idx="1"/>
          </p:nvPr>
        </p:nvSpPr>
        <p:spPr>
          <a:xfrm>
            <a:off x="457200" y="2539584"/>
            <a:ext cx="6508750" cy="2590801"/>
          </a:xfrm>
        </p:spPr>
        <p:txBody>
          <a:bodyPr/>
          <a:lstStyle/>
          <a:p>
            <a:pPr eaLnBrk="1" hangingPunct="1">
              <a:buSzPct val="110000"/>
              <a:buFont typeface="Wingdings" pitchFamily="2" charset="2"/>
              <a:buChar char="§"/>
            </a:pPr>
            <a:r>
              <a:rPr lang="en-US" altLang="en-US" sz="2400" dirty="0">
                <a:solidFill>
                  <a:schemeClr val="accent1"/>
                </a:solidFill>
                <a:ea typeface="ＭＳ Ｐゴシック" pitchFamily="34" charset="-128"/>
              </a:rPr>
              <a:t>Analysis of variance for regression</a:t>
            </a:r>
          </a:p>
          <a:p>
            <a:pPr eaLnBrk="1" hangingPunct="1">
              <a:buSzPct val="110000"/>
              <a:buFont typeface="Wingdings" pitchFamily="2" charset="2"/>
              <a:buChar char="§"/>
            </a:pPr>
            <a:r>
              <a:rPr lang="en-US" altLang="en-US" sz="2400" dirty="0">
                <a:solidFill>
                  <a:schemeClr val="accent1"/>
                </a:solidFill>
                <a:ea typeface="ＭＳ Ｐゴシック" pitchFamily="34" charset="-128"/>
              </a:rPr>
              <a:t>The ANOVA </a:t>
            </a:r>
            <a:r>
              <a:rPr lang="en-US" altLang="en-US" sz="2400" i="1" dirty="0">
                <a:solidFill>
                  <a:schemeClr val="accent1"/>
                </a:solidFill>
                <a:ea typeface="ＭＳ Ｐゴシック" pitchFamily="34" charset="-128"/>
              </a:rPr>
              <a:t>F</a:t>
            </a:r>
            <a:r>
              <a:rPr lang="en-US" altLang="en-US" sz="2400" dirty="0">
                <a:solidFill>
                  <a:schemeClr val="accent1"/>
                </a:solidFill>
                <a:ea typeface="ＭＳ Ｐゴシック" pitchFamily="34" charset="-128"/>
              </a:rPr>
              <a:t> test</a:t>
            </a:r>
          </a:p>
          <a:p>
            <a:pPr eaLnBrk="1" hangingPunct="1">
              <a:buSzPct val="110000"/>
              <a:buFont typeface="Wingdings" pitchFamily="2" charset="2"/>
              <a:buChar char="§"/>
            </a:pPr>
            <a:r>
              <a:rPr lang="en-US" altLang="en-US" sz="2400" dirty="0">
                <a:solidFill>
                  <a:schemeClr val="accent1"/>
                </a:solidFill>
                <a:ea typeface="ＭＳ Ｐゴシック" pitchFamily="34" charset="-128"/>
              </a:rPr>
              <a:t>Calculations for regression inference</a:t>
            </a:r>
          </a:p>
          <a:p>
            <a:pPr eaLnBrk="1" hangingPunct="1">
              <a:buSzPct val="110000"/>
              <a:buFont typeface="Wingdings" pitchFamily="2" charset="2"/>
              <a:buChar char="§"/>
            </a:pPr>
            <a:r>
              <a:rPr lang="en-US" altLang="en-US" sz="2400" dirty="0">
                <a:solidFill>
                  <a:schemeClr val="accent1"/>
                </a:solidFill>
                <a:ea typeface="ＭＳ Ｐゴシック" pitchFamily="34" charset="-128"/>
              </a:rPr>
              <a:t>Inference for correlation</a:t>
            </a:r>
          </a:p>
          <a:p>
            <a:pPr eaLnBrk="1" hangingPunct="1">
              <a:buSzPct val="110000"/>
              <a:buFont typeface="Wingdings" pitchFamily="2" charset="2"/>
              <a:buChar char="§"/>
            </a:pPr>
            <a:endParaRPr lang="en-US" altLang="en-US" sz="2400" dirty="0">
              <a:solidFill>
                <a:schemeClr val="accent1"/>
              </a:solidFill>
              <a:ea typeface="ＭＳ Ｐゴシック" pitchFamily="34" charset="-128"/>
            </a:endParaRPr>
          </a:p>
          <a:p>
            <a:pPr eaLnBrk="1" hangingPunct="1">
              <a:buSzPct val="110000"/>
              <a:buFont typeface="Wingdings" pitchFamily="2" charset="2"/>
              <a:buChar char="§"/>
            </a:pPr>
            <a:endParaRPr lang="en-US" altLang="en-US" sz="2400" dirty="0">
              <a:solidFill>
                <a:schemeClr val="accent1"/>
              </a:solidFill>
              <a:ea typeface="ＭＳ Ｐゴシック" pitchFamily="34" charset="-128"/>
            </a:endParaRPr>
          </a:p>
          <a:p>
            <a:pPr eaLnBrk="1" hangingPunct="1">
              <a:buSzPct val="110000"/>
              <a:buFont typeface="Wingdings" pitchFamily="2" charset="2"/>
              <a:buChar char="§"/>
            </a:pPr>
            <a:endParaRPr lang="en-US" altLang="en-US" sz="2400" dirty="0">
              <a:solidFill>
                <a:schemeClr val="accent1"/>
              </a:solidFill>
              <a:ea typeface="ＭＳ Ｐゴシック" pitchFamily="34" charset="-128"/>
            </a:endParaRPr>
          </a:p>
        </p:txBody>
      </p:sp>
      <p:sp>
        <p:nvSpPr>
          <p:cNvPr id="48132"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8CB64AEE-B32F-4EA3-A72C-6CD118BDEAB7}" type="slidenum">
              <a:rPr lang="en-US" altLang="en-US" sz="1400">
                <a:solidFill>
                  <a:schemeClr val="accent1"/>
                </a:solidFill>
              </a:rPr>
              <a:pPr/>
              <a:t>23</a:t>
            </a:fld>
            <a:endParaRPr lang="en-US" altLang="en-US" sz="1400">
              <a:solidFill>
                <a:schemeClr val="accen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4"/>
          <p:cNvSpPr>
            <a:spLocks noGrp="1" noChangeArrowheads="1"/>
          </p:cNvSpPr>
          <p:nvPr>
            <p:ph type="title"/>
          </p:nvPr>
        </p:nvSpPr>
        <p:spPr/>
        <p:txBody>
          <a:bodyPr/>
          <a:lstStyle/>
          <a:p>
            <a:pPr eaLnBrk="1" hangingPunct="1"/>
            <a:r>
              <a:rPr lang="en-US" altLang="en-US">
                <a:ea typeface="ＭＳ Ｐゴシック" pitchFamily="34" charset="-128"/>
              </a:rPr>
              <a:t>Analysis of Variance for Regression</a:t>
            </a:r>
          </a:p>
        </p:txBody>
      </p:sp>
      <p:sp>
        <p:nvSpPr>
          <p:cNvPr id="49160"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0FA37A9E-C25E-46D7-AF28-94F7335F3E2C}" type="slidenum">
              <a:rPr lang="en-US" altLang="en-US" sz="1400">
                <a:solidFill>
                  <a:schemeClr val="accent1"/>
                </a:solidFill>
              </a:rPr>
              <a:pPr/>
              <a:t>24</a:t>
            </a:fld>
            <a:endParaRPr lang="en-US" altLang="en-US" sz="1400">
              <a:solidFill>
                <a:schemeClr val="accent1"/>
              </a:solidFill>
            </a:endParaRPr>
          </a:p>
        </p:txBody>
      </p:sp>
      <p:sp>
        <p:nvSpPr>
          <p:cNvPr id="1406981" name="Rectangle 5"/>
          <p:cNvSpPr>
            <a:spLocks noGrp="1" noChangeArrowheads="1"/>
          </p:cNvSpPr>
          <p:nvPr>
            <p:ph type="body" idx="4294967295"/>
          </p:nvPr>
        </p:nvSpPr>
        <p:spPr>
          <a:xfrm>
            <a:off x="522287" y="1358447"/>
            <a:ext cx="8229600" cy="5334000"/>
          </a:xfrm>
          <a:solidFill>
            <a:srgbClr val="FFD780"/>
          </a:solidFill>
        </p:spPr>
        <p:txBody>
          <a:bodyPr/>
          <a:lstStyle/>
          <a:p>
            <a:pPr marL="0" indent="0" eaLnBrk="1" hangingPunct="1">
              <a:lnSpc>
                <a:spcPct val="120000"/>
              </a:lnSpc>
              <a:buFont typeface="Wingdings" pitchFamily="2" charset="2"/>
              <a:buNone/>
            </a:pPr>
            <a:r>
              <a:rPr lang="en-US" altLang="en-US" dirty="0">
                <a:solidFill>
                  <a:srgbClr val="000000"/>
                </a:solidFill>
                <a:ea typeface="ＭＳ Ｐゴシック" pitchFamily="34" charset="-128"/>
              </a:rPr>
              <a:t>The regression model is</a:t>
            </a:r>
          </a:p>
          <a:p>
            <a:pPr marL="0" indent="0" eaLnBrk="1" hangingPunct="1">
              <a:lnSpc>
                <a:spcPct val="120000"/>
              </a:lnSpc>
              <a:buFont typeface="Wingdings" pitchFamily="2" charset="2"/>
              <a:buNone/>
            </a:pPr>
            <a:endParaRPr lang="en-US" altLang="en-US" sz="1000" dirty="0">
              <a:solidFill>
                <a:srgbClr val="000000"/>
              </a:solidFill>
              <a:ea typeface="ＭＳ Ｐゴシック" pitchFamily="34" charset="-128"/>
            </a:endParaRPr>
          </a:p>
          <a:p>
            <a:pPr marL="0" indent="0" eaLnBrk="1" hangingPunct="1">
              <a:lnSpc>
                <a:spcPct val="120000"/>
              </a:lnSpc>
              <a:buFont typeface="Wingdings" pitchFamily="2" charset="2"/>
              <a:buNone/>
            </a:pPr>
            <a:r>
              <a:rPr lang="en-US" altLang="en-US" dirty="0">
                <a:solidFill>
                  <a:srgbClr val="000000"/>
                </a:solidFill>
                <a:ea typeface="ＭＳ Ｐゴシック" pitchFamily="34" charset="-128"/>
              </a:rPr>
              <a:t>     Data =         fit       +     error</a:t>
            </a:r>
          </a:p>
          <a:p>
            <a:pPr marL="0" indent="0" eaLnBrk="1" hangingPunct="1">
              <a:lnSpc>
                <a:spcPct val="120000"/>
              </a:lnSpc>
              <a:buFont typeface="Wingdings" pitchFamily="2" charset="2"/>
              <a:buNone/>
            </a:pPr>
            <a:r>
              <a:rPr lang="en-US" altLang="en-US" i="1" dirty="0">
                <a:solidFill>
                  <a:srgbClr val="000000"/>
                </a:solidFill>
                <a:ea typeface="ＭＳ Ｐゴシック" pitchFamily="34" charset="-128"/>
              </a:rPr>
              <a:t>        </a:t>
            </a:r>
            <a:r>
              <a:rPr lang="en-US" altLang="en-US" i="1" dirty="0" err="1">
                <a:solidFill>
                  <a:srgbClr val="000000"/>
                </a:solidFill>
                <a:ea typeface="ＭＳ Ｐゴシック" pitchFamily="34" charset="-128"/>
              </a:rPr>
              <a:t>y</a:t>
            </a:r>
            <a:r>
              <a:rPr lang="en-US" altLang="en-US" i="1" baseline="-25000" dirty="0" err="1">
                <a:solidFill>
                  <a:srgbClr val="000000"/>
                </a:solidFill>
                <a:ea typeface="ＭＳ Ｐゴシック" pitchFamily="34" charset="-128"/>
              </a:rPr>
              <a:t>i</a:t>
            </a:r>
            <a:r>
              <a:rPr lang="en-US" altLang="en-US" dirty="0">
                <a:solidFill>
                  <a:srgbClr val="000000"/>
                </a:solidFill>
                <a:ea typeface="ＭＳ Ｐゴシック" pitchFamily="34" charset="-128"/>
              </a:rPr>
              <a:t>   =  (</a:t>
            </a:r>
            <a:r>
              <a:rPr lang="en-US" altLang="en-US" i="1" dirty="0">
                <a:solidFill>
                  <a:srgbClr val="000000"/>
                </a:solidFill>
                <a:latin typeface="Symbol" pitchFamily="18" charset="2"/>
                <a:ea typeface="ＭＳ Ｐゴシック" pitchFamily="34" charset="-128"/>
              </a:rPr>
              <a:t>b</a:t>
            </a:r>
            <a:r>
              <a:rPr lang="en-US" altLang="en-US" baseline="-25000" dirty="0">
                <a:solidFill>
                  <a:srgbClr val="000000"/>
                </a:solidFill>
                <a:ea typeface="ＭＳ Ｐゴシック" pitchFamily="34" charset="-128"/>
              </a:rPr>
              <a:t>0</a:t>
            </a:r>
            <a:r>
              <a:rPr lang="en-US" altLang="en-US" dirty="0">
                <a:solidFill>
                  <a:srgbClr val="000000"/>
                </a:solidFill>
                <a:ea typeface="ＭＳ Ｐゴシック" pitchFamily="34" charset="-128"/>
              </a:rPr>
              <a:t> + </a:t>
            </a:r>
            <a:r>
              <a:rPr lang="en-US" altLang="en-US" i="1" dirty="0">
                <a:solidFill>
                  <a:srgbClr val="000000"/>
                </a:solidFill>
                <a:latin typeface="Symbol" pitchFamily="18" charset="2"/>
                <a:ea typeface="ＭＳ Ｐゴシック" pitchFamily="34" charset="-128"/>
              </a:rPr>
              <a:t>b</a:t>
            </a:r>
            <a:r>
              <a:rPr lang="en-US" altLang="en-US" baseline="-25000" dirty="0">
                <a:solidFill>
                  <a:srgbClr val="000000"/>
                </a:solidFill>
                <a:ea typeface="ＭＳ Ｐゴシック" pitchFamily="34" charset="-128"/>
              </a:rPr>
              <a:t>1</a:t>
            </a:r>
            <a:r>
              <a:rPr lang="en-US" altLang="en-US" i="1" dirty="0">
                <a:solidFill>
                  <a:srgbClr val="000000"/>
                </a:solidFill>
                <a:ea typeface="ＭＳ Ｐゴシック" pitchFamily="34" charset="-128"/>
              </a:rPr>
              <a:t>x</a:t>
            </a:r>
            <a:r>
              <a:rPr lang="en-US" altLang="en-US" i="1" baseline="-25000" dirty="0">
                <a:solidFill>
                  <a:srgbClr val="000000"/>
                </a:solidFill>
                <a:ea typeface="ＭＳ Ｐゴシック" pitchFamily="34" charset="-128"/>
              </a:rPr>
              <a:t>i</a:t>
            </a:r>
            <a:r>
              <a:rPr lang="en-US" altLang="en-US" dirty="0">
                <a:solidFill>
                  <a:srgbClr val="000000"/>
                </a:solidFill>
                <a:ea typeface="ＭＳ Ｐゴシック" pitchFamily="34" charset="-128"/>
              </a:rPr>
              <a:t>)  +      (</a:t>
            </a:r>
            <a:r>
              <a:rPr lang="en-US" altLang="en-US" i="1" dirty="0" err="1">
                <a:solidFill>
                  <a:srgbClr val="000000"/>
                </a:solidFill>
                <a:latin typeface="Symbol" pitchFamily="18" charset="2"/>
                <a:ea typeface="ＭＳ Ｐゴシック" pitchFamily="34" charset="-128"/>
              </a:rPr>
              <a:t>e</a:t>
            </a:r>
            <a:r>
              <a:rPr lang="en-US" altLang="en-US" i="1" baseline="-25000" dirty="0" err="1">
                <a:solidFill>
                  <a:srgbClr val="000000"/>
                </a:solidFill>
                <a:ea typeface="ＭＳ Ｐゴシック" pitchFamily="34" charset="-128"/>
              </a:rPr>
              <a:t>i</a:t>
            </a:r>
            <a:r>
              <a:rPr lang="en-US" altLang="en-US" dirty="0">
                <a:solidFill>
                  <a:srgbClr val="000000"/>
                </a:solidFill>
                <a:ea typeface="ＭＳ Ｐゴシック" pitchFamily="34" charset="-128"/>
              </a:rPr>
              <a:t>)</a:t>
            </a:r>
          </a:p>
          <a:p>
            <a:pPr marL="0" indent="0" eaLnBrk="1" hangingPunct="1">
              <a:buFont typeface="Wingdings" pitchFamily="2" charset="2"/>
              <a:buNone/>
            </a:pPr>
            <a:r>
              <a:rPr lang="en-US" altLang="en-US" dirty="0">
                <a:solidFill>
                  <a:srgbClr val="000000"/>
                </a:solidFill>
                <a:ea typeface="ＭＳ Ｐゴシック" pitchFamily="34" charset="-128"/>
              </a:rPr>
              <a:t>where the </a:t>
            </a:r>
            <a:r>
              <a:rPr lang="en-US" altLang="en-US" b="1" i="1" dirty="0" err="1">
                <a:solidFill>
                  <a:srgbClr val="000000"/>
                </a:solidFill>
                <a:latin typeface="Symbol" pitchFamily="18" charset="2"/>
                <a:ea typeface="ＭＳ Ｐゴシック" pitchFamily="34" charset="-128"/>
              </a:rPr>
              <a:t>e</a:t>
            </a:r>
            <a:r>
              <a:rPr lang="en-US" altLang="en-US" b="1" i="1" baseline="-25000" dirty="0" err="1">
                <a:solidFill>
                  <a:srgbClr val="000000"/>
                </a:solidFill>
                <a:ea typeface="ＭＳ Ｐゴシック" pitchFamily="34" charset="-128"/>
              </a:rPr>
              <a:t>i</a:t>
            </a:r>
            <a:r>
              <a:rPr lang="en-US" altLang="en-US" b="1" i="1" baseline="-25000" dirty="0">
                <a:solidFill>
                  <a:srgbClr val="000000"/>
                </a:solidFill>
                <a:ea typeface="ＭＳ Ｐゴシック" pitchFamily="34" charset="-128"/>
              </a:rPr>
              <a:t> </a:t>
            </a:r>
            <a:r>
              <a:rPr lang="en-US" altLang="en-US" dirty="0">
                <a:solidFill>
                  <a:srgbClr val="000000"/>
                </a:solidFill>
                <a:ea typeface="ＭＳ Ｐゴシック" pitchFamily="34" charset="-128"/>
              </a:rPr>
              <a:t>are </a:t>
            </a:r>
            <a:r>
              <a:rPr lang="en-US" altLang="en-US" b="1" dirty="0">
                <a:solidFill>
                  <a:srgbClr val="000000"/>
                </a:solidFill>
                <a:ea typeface="ＭＳ Ｐゴシック" pitchFamily="34" charset="-128"/>
              </a:rPr>
              <a:t>independent</a:t>
            </a:r>
            <a:r>
              <a:rPr lang="en-US" altLang="en-US" dirty="0">
                <a:solidFill>
                  <a:srgbClr val="000000"/>
                </a:solidFill>
                <a:ea typeface="ＭＳ Ｐゴシック" pitchFamily="34" charset="-128"/>
              </a:rPr>
              <a:t> and </a:t>
            </a:r>
            <a:br>
              <a:rPr lang="en-US" altLang="en-US" dirty="0">
                <a:solidFill>
                  <a:srgbClr val="000000"/>
                </a:solidFill>
                <a:ea typeface="ＭＳ Ｐゴシック" pitchFamily="34" charset="-128"/>
              </a:rPr>
            </a:br>
            <a:r>
              <a:rPr lang="en-US" altLang="en-US" b="1" dirty="0">
                <a:solidFill>
                  <a:srgbClr val="000000"/>
                </a:solidFill>
                <a:ea typeface="ＭＳ Ｐゴシック" pitchFamily="34" charset="-128"/>
              </a:rPr>
              <a:t>Normally</a:t>
            </a:r>
            <a:r>
              <a:rPr lang="en-US" altLang="en-US" dirty="0">
                <a:solidFill>
                  <a:srgbClr val="000000"/>
                </a:solidFill>
                <a:ea typeface="ＭＳ Ｐゴシック" pitchFamily="34" charset="-128"/>
              </a:rPr>
              <a:t> distributed </a:t>
            </a:r>
            <a:r>
              <a:rPr lang="en-US" altLang="en-US" i="1" dirty="0">
                <a:solidFill>
                  <a:srgbClr val="000000"/>
                </a:solidFill>
                <a:ea typeface="ＭＳ Ｐゴシック" pitchFamily="34" charset="-128"/>
              </a:rPr>
              <a:t>N</a:t>
            </a:r>
            <a:r>
              <a:rPr lang="en-US" altLang="en-US" dirty="0">
                <a:solidFill>
                  <a:srgbClr val="000000"/>
                </a:solidFill>
                <a:ea typeface="ＭＳ Ｐゴシック" pitchFamily="34" charset="-128"/>
              </a:rPr>
              <a:t>(0, </a:t>
            </a:r>
            <a:r>
              <a:rPr lang="en-US" altLang="en-US" i="1" dirty="0">
                <a:solidFill>
                  <a:srgbClr val="000000"/>
                </a:solidFill>
                <a:latin typeface="Symbol" pitchFamily="18" charset="2"/>
                <a:ea typeface="ＭＳ Ｐゴシック" pitchFamily="34" charset="-128"/>
              </a:rPr>
              <a:t>s</a:t>
            </a:r>
            <a:r>
              <a:rPr lang="en-US" altLang="en-US" dirty="0">
                <a:solidFill>
                  <a:srgbClr val="000000"/>
                </a:solidFill>
                <a:ea typeface="ＭＳ Ｐゴシック" pitchFamily="34" charset="-128"/>
              </a:rPr>
              <a:t>), and </a:t>
            </a:r>
            <a:br>
              <a:rPr lang="en-US" altLang="en-US" dirty="0">
                <a:solidFill>
                  <a:srgbClr val="000000"/>
                </a:solidFill>
                <a:ea typeface="ＭＳ Ｐゴシック" pitchFamily="34" charset="-128"/>
              </a:rPr>
            </a:br>
            <a:r>
              <a:rPr lang="en-US" altLang="en-US" i="1" dirty="0">
                <a:solidFill>
                  <a:srgbClr val="000000"/>
                </a:solidFill>
                <a:latin typeface="Symbol" pitchFamily="18" charset="2"/>
                <a:ea typeface="ＭＳ Ｐゴシック" pitchFamily="34" charset="-128"/>
              </a:rPr>
              <a:t>s</a:t>
            </a:r>
            <a:r>
              <a:rPr lang="en-US" altLang="en-US" dirty="0">
                <a:solidFill>
                  <a:srgbClr val="000000"/>
                </a:solidFill>
                <a:ea typeface="ＭＳ Ｐゴシック" pitchFamily="34" charset="-128"/>
              </a:rPr>
              <a:t> is the same for all values of </a:t>
            </a:r>
            <a:r>
              <a:rPr lang="en-US" altLang="en-US" i="1" dirty="0">
                <a:solidFill>
                  <a:srgbClr val="000000"/>
                </a:solidFill>
                <a:ea typeface="ＭＳ Ｐゴシック" pitchFamily="34" charset="-128"/>
              </a:rPr>
              <a:t>x</a:t>
            </a:r>
            <a:r>
              <a:rPr lang="en-US" altLang="en-US" dirty="0">
                <a:solidFill>
                  <a:srgbClr val="000000"/>
                </a:solidFill>
                <a:ea typeface="ＭＳ Ｐゴシック" pitchFamily="34" charset="-128"/>
              </a:rPr>
              <a:t>.</a:t>
            </a:r>
          </a:p>
          <a:p>
            <a:pPr marL="0" indent="0" eaLnBrk="1" hangingPunct="1">
              <a:lnSpc>
                <a:spcPct val="120000"/>
              </a:lnSpc>
              <a:buFont typeface="Wingdings" pitchFamily="2" charset="2"/>
              <a:buNone/>
            </a:pPr>
            <a:r>
              <a:rPr lang="en-US" altLang="en-US" dirty="0">
                <a:solidFill>
                  <a:srgbClr val="000000"/>
                </a:solidFill>
                <a:ea typeface="ＭＳ Ｐゴシック" pitchFamily="34" charset="-128"/>
              </a:rPr>
              <a:t>It resembles ANOVA, which also assumes equal variance, where</a:t>
            </a:r>
          </a:p>
          <a:p>
            <a:pPr marL="0" indent="0" eaLnBrk="1" hangingPunct="1">
              <a:buFont typeface="Wingdings" pitchFamily="2" charset="2"/>
              <a:buNone/>
            </a:pPr>
            <a:r>
              <a:rPr lang="en-US" altLang="en-US" dirty="0">
                <a:solidFill>
                  <a:srgbClr val="000000"/>
                </a:solidFill>
                <a:ea typeface="ＭＳ Ｐゴシック" pitchFamily="34" charset="-128"/>
              </a:rPr>
              <a:t>	SST =   SS model   +    SS error     and   </a:t>
            </a:r>
          </a:p>
          <a:p>
            <a:pPr marL="0" indent="0" eaLnBrk="1" hangingPunct="1">
              <a:buFont typeface="Wingdings" pitchFamily="2" charset="2"/>
              <a:buNone/>
            </a:pPr>
            <a:r>
              <a:rPr lang="en-US" altLang="en-US" dirty="0">
                <a:solidFill>
                  <a:srgbClr val="000000"/>
                </a:solidFill>
                <a:ea typeface="ＭＳ Ｐゴシック" pitchFamily="34" charset="-128"/>
              </a:rPr>
              <a:t>	DFT =   DF model   +    DF error</a:t>
            </a:r>
          </a:p>
        </p:txBody>
      </p:sp>
      <p:grpSp>
        <p:nvGrpSpPr>
          <p:cNvPr id="49157" name="Group 6" descr="already described"/>
          <p:cNvGrpSpPr>
            <a:grpSpLocks/>
          </p:cNvGrpSpPr>
          <p:nvPr/>
        </p:nvGrpSpPr>
        <p:grpSpPr bwMode="auto">
          <a:xfrm>
            <a:off x="1752600" y="2436813"/>
            <a:ext cx="2590800" cy="1009650"/>
            <a:chOff x="1032" y="2256"/>
            <a:chExt cx="1408" cy="432"/>
          </a:xfrm>
        </p:grpSpPr>
        <p:sp>
          <p:nvSpPr>
            <p:cNvPr id="49161" name="Rectangle 7"/>
            <p:cNvSpPr>
              <a:spLocks noChangeArrowheads="1"/>
            </p:cNvSpPr>
            <p:nvPr/>
          </p:nvSpPr>
          <p:spPr bwMode="auto">
            <a:xfrm>
              <a:off x="1032" y="2256"/>
              <a:ext cx="666" cy="432"/>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en-US"/>
            </a:p>
          </p:txBody>
        </p:sp>
        <p:sp>
          <p:nvSpPr>
            <p:cNvPr id="49162" name="Rectangle 8"/>
            <p:cNvSpPr>
              <a:spLocks noChangeArrowheads="1"/>
            </p:cNvSpPr>
            <p:nvPr/>
          </p:nvSpPr>
          <p:spPr bwMode="auto">
            <a:xfrm>
              <a:off x="1848" y="2256"/>
              <a:ext cx="592" cy="432"/>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en-US"/>
            </a:p>
          </p:txBody>
        </p:sp>
      </p:grpSp>
      <p:pic>
        <p:nvPicPr>
          <p:cNvPr id="49154" name="Picture 2" descr="The three-dimensional diagram shows a graph in the x y plane. It plots y = blood pressure decrease on the vertical axis versus x = calcium in milligrams on the vertical axis. Regression line mu sub y = Beta sub 0 + Beta sub 1 x rises diagonally to the right from a point on the vertical axis. Four standard normal curves sit along the regression line at irregular intervals, perpendicular to it, rising in the z direction. The mean of each curve intersects the regression line."/>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57713" y="2074650"/>
            <a:ext cx="4205287" cy="1733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6986" name="Rectangle 10" descr="already described"/>
          <p:cNvSpPr>
            <a:spLocks noChangeArrowheads="1"/>
          </p:cNvSpPr>
          <p:nvPr/>
        </p:nvSpPr>
        <p:spPr bwMode="auto">
          <a:xfrm>
            <a:off x="2303463" y="5262563"/>
            <a:ext cx="1277937" cy="9652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en-US"/>
          </a:p>
        </p:txBody>
      </p:sp>
      <p:sp>
        <p:nvSpPr>
          <p:cNvPr id="1406987" name="Rectangle 11" descr="already described"/>
          <p:cNvSpPr>
            <a:spLocks noChangeArrowheads="1"/>
          </p:cNvSpPr>
          <p:nvPr/>
        </p:nvSpPr>
        <p:spPr bwMode="auto">
          <a:xfrm>
            <a:off x="4016375" y="5265738"/>
            <a:ext cx="1241425" cy="965200"/>
          </a:xfrm>
          <a:prstGeom prst="rect">
            <a:avLst/>
          </a:prstGeom>
          <a:noFill/>
          <a:ln w="28575">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6981">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0698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0698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6981">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69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069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6986" grpId="0" animBg="1"/>
      <p:bldP spid="140698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ANOVA </a:t>
            </a:r>
            <a:r>
              <a:rPr lang="en-US" altLang="en-US" i="1" dirty="0"/>
              <a:t>F</a:t>
            </a:r>
            <a:r>
              <a:rPr lang="en-US" altLang="en-US" dirty="0"/>
              <a:t> Test</a:t>
            </a:r>
            <a:endParaRPr lang="en-US" dirty="0"/>
          </a:p>
        </p:txBody>
      </p:sp>
      <p:sp>
        <p:nvSpPr>
          <p:cNvPr id="50181" name="Slide Number Placeholder 11"/>
          <p:cNvSpPr>
            <a:spLocks noGrp="1"/>
          </p:cNvSpPr>
          <p:nvPr>
            <p:ph type="sldNum" sz="quarter" idx="12"/>
          </p:nvPr>
        </p:nvSpPr>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673213C5-B5CC-4019-AE0C-933F465A00B4}" type="slidenum">
              <a:rPr lang="en-US" altLang="en-US" smtClean="0"/>
              <a:pPr/>
              <a:t>25</a:t>
            </a:fld>
            <a:endParaRPr lang="en-US" altLang="en-US"/>
          </a:p>
        </p:txBody>
      </p:sp>
      <p:sp>
        <p:nvSpPr>
          <p:cNvPr id="1408002" name="Rectangle 2" descr="&quot;For a simple linear relationship, the ANOVA tests the hypotheses &#10;H Zero colon, beta one = 0 versus H a colon beta one, is not equal to 0&#10;by comparing model mean square to error mean square : F Statistic = model mean square divided by error mean square.&#10;The slide shows a Normal distribution right skewed curve. The bottom right area of the curve is shaded at F statistic.&#10;&#10;When H zero is true, F statistic follows &#10;the F (one, n minus 2) distribution. &#10;The P-value is P (F greater than f ). &#10;&#10;The ANOVA test and the two-sided t-test for H Zero colon beta one = zero yield the same P-value. &#10;Software output for regression may provide t, F, or both, along with the P-value.&#10;&quot;"/>
          <p:cNvSpPr>
            <a:spLocks noGrp="1" noChangeArrowheads="1"/>
          </p:cNvSpPr>
          <p:nvPr>
            <p:ph type="body" sz="half" idx="4294967295"/>
          </p:nvPr>
        </p:nvSpPr>
        <p:spPr>
          <a:xfrm>
            <a:off x="152400" y="1003663"/>
            <a:ext cx="8229600" cy="5791200"/>
          </a:xfrm>
          <a:solidFill>
            <a:srgbClr val="FFD780"/>
          </a:solidFill>
        </p:spPr>
        <p:txBody>
          <a:bodyPr/>
          <a:lstStyle/>
          <a:p>
            <a:pPr marL="0" indent="0" eaLnBrk="1" hangingPunct="1">
              <a:lnSpc>
                <a:spcPct val="140000"/>
              </a:lnSpc>
              <a:buFont typeface="Wingdings" pitchFamily="2" charset="2"/>
              <a:buNone/>
            </a:pPr>
            <a:r>
              <a:rPr lang="en-US" altLang="en-US" dirty="0">
                <a:solidFill>
                  <a:srgbClr val="000000"/>
                </a:solidFill>
                <a:ea typeface="ＭＳ Ｐゴシック" pitchFamily="34" charset="-128"/>
              </a:rPr>
              <a:t>For a simple linear relationship, the ANOVA tests the hypotheses </a:t>
            </a:r>
            <a:endParaRPr lang="en-US" altLang="en-US" sz="1000" dirty="0">
              <a:solidFill>
                <a:srgbClr val="000000"/>
              </a:solidFill>
              <a:ea typeface="ＭＳ Ｐゴシック" pitchFamily="34" charset="-128"/>
            </a:endParaRPr>
          </a:p>
          <a:p>
            <a:pPr marL="0" indent="0" algn="ctr" eaLnBrk="1" hangingPunct="1">
              <a:lnSpc>
                <a:spcPct val="140000"/>
              </a:lnSpc>
              <a:buFont typeface="Wingdings" pitchFamily="2" charset="2"/>
              <a:buNone/>
            </a:pPr>
            <a:r>
              <a:rPr lang="en-US" altLang="en-US" i="1" dirty="0">
                <a:solidFill>
                  <a:srgbClr val="000000"/>
                </a:solidFill>
                <a:ea typeface="ＭＳ Ｐゴシック" pitchFamily="34" charset="-128"/>
              </a:rPr>
              <a:t>H</a:t>
            </a:r>
            <a:r>
              <a:rPr lang="en-US" altLang="en-US" baseline="-25000" dirty="0">
                <a:solidFill>
                  <a:srgbClr val="000000"/>
                </a:solidFill>
                <a:ea typeface="ＭＳ Ｐゴシック" pitchFamily="34" charset="-128"/>
              </a:rPr>
              <a:t>0</a:t>
            </a:r>
            <a:r>
              <a:rPr lang="en-US" altLang="en-US" dirty="0">
                <a:solidFill>
                  <a:srgbClr val="000000"/>
                </a:solidFill>
                <a:ea typeface="ＭＳ Ｐゴシック" pitchFamily="34" charset="-128"/>
              </a:rPr>
              <a:t>: </a:t>
            </a:r>
            <a:r>
              <a:rPr lang="el-GR" altLang="en-US" i="1" dirty="0">
                <a:solidFill>
                  <a:srgbClr val="000000"/>
                </a:solidFill>
                <a:ea typeface="ＭＳ Ｐゴシック" pitchFamily="34" charset="-128"/>
              </a:rPr>
              <a:t>β</a:t>
            </a:r>
            <a:r>
              <a:rPr lang="en-US" altLang="en-US" baseline="-25000" dirty="0">
                <a:solidFill>
                  <a:srgbClr val="000000"/>
                </a:solidFill>
                <a:ea typeface="ＭＳ Ｐゴシック" pitchFamily="34" charset="-128"/>
              </a:rPr>
              <a:t>1 </a:t>
            </a:r>
            <a:r>
              <a:rPr lang="en-US" altLang="en-US" dirty="0">
                <a:solidFill>
                  <a:srgbClr val="000000"/>
                </a:solidFill>
                <a:ea typeface="ＭＳ Ｐゴシック" pitchFamily="34" charset="-128"/>
              </a:rPr>
              <a:t>= 0 versus </a:t>
            </a:r>
            <a:r>
              <a:rPr lang="en-US" altLang="en-US" i="1" dirty="0">
                <a:solidFill>
                  <a:srgbClr val="000000"/>
                </a:solidFill>
                <a:ea typeface="ＭＳ Ｐゴシック" pitchFamily="34" charset="-128"/>
              </a:rPr>
              <a:t>H</a:t>
            </a:r>
            <a:r>
              <a:rPr lang="en-US" altLang="en-US" baseline="-25000" dirty="0">
                <a:solidFill>
                  <a:srgbClr val="000000"/>
                </a:solidFill>
                <a:ea typeface="ＭＳ Ｐゴシック" pitchFamily="34" charset="-128"/>
              </a:rPr>
              <a:t>a</a:t>
            </a:r>
            <a:r>
              <a:rPr lang="en-US" altLang="en-US" dirty="0">
                <a:solidFill>
                  <a:srgbClr val="000000"/>
                </a:solidFill>
                <a:ea typeface="ＭＳ Ｐゴシック" pitchFamily="34" charset="-128"/>
              </a:rPr>
              <a:t>: </a:t>
            </a:r>
            <a:r>
              <a:rPr lang="el-GR" altLang="en-US" i="1" dirty="0">
                <a:solidFill>
                  <a:srgbClr val="000000"/>
                </a:solidFill>
                <a:ea typeface="ＭＳ Ｐゴシック" pitchFamily="34" charset="-128"/>
              </a:rPr>
              <a:t>β</a:t>
            </a:r>
            <a:r>
              <a:rPr lang="en-US" altLang="en-US" baseline="-25000" dirty="0">
                <a:solidFill>
                  <a:srgbClr val="000000"/>
                </a:solidFill>
                <a:ea typeface="ＭＳ Ｐゴシック" pitchFamily="34" charset="-128"/>
              </a:rPr>
              <a:t>1 </a:t>
            </a:r>
            <a:r>
              <a:rPr lang="en-US" altLang="en-US" dirty="0">
                <a:solidFill>
                  <a:srgbClr val="000000"/>
                </a:solidFill>
                <a:ea typeface="ＭＳ Ｐゴシック" pitchFamily="34" charset="-128"/>
              </a:rPr>
              <a:t>≠ 0</a:t>
            </a:r>
            <a:endParaRPr lang="en-US" altLang="en-US" sz="1000" dirty="0">
              <a:solidFill>
                <a:srgbClr val="000000"/>
              </a:solidFill>
              <a:ea typeface="ＭＳ Ｐゴシック" pitchFamily="34" charset="-128"/>
            </a:endParaRPr>
          </a:p>
          <a:p>
            <a:pPr marL="0" indent="0" eaLnBrk="1" hangingPunct="1">
              <a:lnSpc>
                <a:spcPct val="140000"/>
              </a:lnSpc>
              <a:buFont typeface="Wingdings" pitchFamily="2" charset="2"/>
              <a:buNone/>
            </a:pPr>
            <a:r>
              <a:rPr lang="en-US" altLang="en-US" dirty="0">
                <a:solidFill>
                  <a:srgbClr val="000000"/>
                </a:solidFill>
                <a:ea typeface="ＭＳ Ｐゴシック" pitchFamily="34" charset="-128"/>
              </a:rPr>
              <a:t>by comparing MSM (model) to MSE (error): </a:t>
            </a:r>
            <a:r>
              <a:rPr lang="en-US" altLang="en-US" i="1" dirty="0">
                <a:solidFill>
                  <a:srgbClr val="000000"/>
                </a:solidFill>
                <a:ea typeface="ＭＳ Ｐゴシック" pitchFamily="34" charset="-128"/>
              </a:rPr>
              <a:t>F</a:t>
            </a:r>
            <a:r>
              <a:rPr lang="en-US" altLang="en-US" dirty="0">
                <a:solidFill>
                  <a:srgbClr val="000000"/>
                </a:solidFill>
                <a:ea typeface="ＭＳ Ｐゴシック" pitchFamily="34" charset="-128"/>
              </a:rPr>
              <a:t> = MSM / MSE</a:t>
            </a:r>
          </a:p>
          <a:p>
            <a:pPr marL="0" indent="0" eaLnBrk="1" hangingPunct="1">
              <a:lnSpc>
                <a:spcPct val="140000"/>
              </a:lnSpc>
              <a:buFont typeface="Wingdings" pitchFamily="2" charset="2"/>
              <a:buNone/>
            </a:pPr>
            <a:endParaRPr lang="en-US" altLang="en-US" dirty="0">
              <a:solidFill>
                <a:srgbClr val="000000"/>
              </a:solidFill>
              <a:ea typeface="ＭＳ Ｐゴシック" pitchFamily="34" charset="-128"/>
            </a:endParaRPr>
          </a:p>
          <a:p>
            <a:pPr marL="0" indent="0" eaLnBrk="1" hangingPunct="1">
              <a:buFont typeface="Wingdings" pitchFamily="2" charset="2"/>
              <a:buNone/>
            </a:pPr>
            <a:r>
              <a:rPr lang="en-US" altLang="en-US" dirty="0">
                <a:solidFill>
                  <a:srgbClr val="000000"/>
                </a:solidFill>
                <a:ea typeface="ＭＳ Ｐゴシック" pitchFamily="34" charset="-128"/>
              </a:rPr>
              <a:t>When </a:t>
            </a:r>
            <a:r>
              <a:rPr lang="en-US" altLang="en-US" i="1" dirty="0">
                <a:solidFill>
                  <a:srgbClr val="000000"/>
                </a:solidFill>
                <a:ea typeface="ＭＳ Ｐゴシック" pitchFamily="34" charset="-128"/>
              </a:rPr>
              <a:t>H</a:t>
            </a:r>
            <a:r>
              <a:rPr lang="en-US" altLang="en-US" baseline="-25000" dirty="0">
                <a:solidFill>
                  <a:srgbClr val="000000"/>
                </a:solidFill>
                <a:ea typeface="ＭＳ Ｐゴシック" pitchFamily="34" charset="-128"/>
              </a:rPr>
              <a:t>0 </a:t>
            </a:r>
            <a:r>
              <a:rPr lang="en-US" altLang="en-US" dirty="0">
                <a:solidFill>
                  <a:srgbClr val="000000"/>
                </a:solidFill>
                <a:ea typeface="ＭＳ Ｐゴシック" pitchFamily="34" charset="-128"/>
              </a:rPr>
              <a:t>is true, </a:t>
            </a:r>
            <a:r>
              <a:rPr lang="en-US" altLang="en-US" i="1" dirty="0">
                <a:solidFill>
                  <a:srgbClr val="000000"/>
                </a:solidFill>
                <a:ea typeface="ＭＳ Ｐゴシック" pitchFamily="34" charset="-128"/>
              </a:rPr>
              <a:t>F</a:t>
            </a:r>
            <a:r>
              <a:rPr lang="en-US" altLang="en-US" dirty="0">
                <a:solidFill>
                  <a:srgbClr val="000000"/>
                </a:solidFill>
                <a:ea typeface="ＭＳ Ｐゴシック" pitchFamily="34" charset="-128"/>
              </a:rPr>
              <a:t> follows </a:t>
            </a:r>
            <a:br>
              <a:rPr lang="en-US" altLang="en-US" dirty="0">
                <a:solidFill>
                  <a:srgbClr val="000000"/>
                </a:solidFill>
                <a:ea typeface="ＭＳ Ｐゴシック" pitchFamily="34" charset="-128"/>
              </a:rPr>
            </a:br>
            <a:r>
              <a:rPr lang="en-US" altLang="en-US" dirty="0">
                <a:solidFill>
                  <a:srgbClr val="000000"/>
                </a:solidFill>
                <a:ea typeface="ＭＳ Ｐゴシック" pitchFamily="34" charset="-128"/>
              </a:rPr>
              <a:t>the </a:t>
            </a:r>
            <a:r>
              <a:rPr lang="en-US" altLang="en-US" i="1" dirty="0">
                <a:solidFill>
                  <a:srgbClr val="000000"/>
                </a:solidFill>
                <a:ea typeface="ＭＳ Ｐゴシック" pitchFamily="34" charset="-128"/>
              </a:rPr>
              <a:t>F</a:t>
            </a:r>
            <a:r>
              <a:rPr lang="en-US" altLang="en-US" dirty="0">
                <a:solidFill>
                  <a:srgbClr val="000000"/>
                </a:solidFill>
                <a:ea typeface="ＭＳ Ｐゴシック" pitchFamily="34" charset="-128"/>
              </a:rPr>
              <a:t>(1, </a:t>
            </a:r>
            <a:r>
              <a:rPr lang="en-US" altLang="en-US" i="1" dirty="0">
                <a:solidFill>
                  <a:srgbClr val="000000"/>
                </a:solidFill>
                <a:ea typeface="ＭＳ Ｐゴシック" pitchFamily="34" charset="-128"/>
              </a:rPr>
              <a:t>n </a:t>
            </a:r>
            <a:r>
              <a:rPr lang="en-US" altLang="en-US" dirty="0">
                <a:solidFill>
                  <a:srgbClr val="000000"/>
                </a:solidFill>
                <a:ea typeface="ＭＳ Ｐゴシック" pitchFamily="34" charset="-128"/>
              </a:rPr>
              <a:t>− 2) distribution. </a:t>
            </a:r>
            <a:br>
              <a:rPr lang="en-US" altLang="en-US" dirty="0">
                <a:solidFill>
                  <a:srgbClr val="000000"/>
                </a:solidFill>
                <a:ea typeface="ＭＳ Ｐゴシック" pitchFamily="34" charset="-128"/>
              </a:rPr>
            </a:br>
            <a:r>
              <a:rPr lang="en-US" altLang="en-US" dirty="0">
                <a:solidFill>
                  <a:srgbClr val="000000"/>
                </a:solidFill>
                <a:ea typeface="ＭＳ Ｐゴシック" pitchFamily="34" charset="-128"/>
              </a:rPr>
              <a:t>The </a:t>
            </a:r>
            <a:r>
              <a:rPr lang="en-US" altLang="en-US" i="1" dirty="0">
                <a:solidFill>
                  <a:srgbClr val="000000"/>
                </a:solidFill>
                <a:ea typeface="ＭＳ Ｐゴシック" pitchFamily="34" charset="-128"/>
              </a:rPr>
              <a:t>P</a:t>
            </a:r>
            <a:r>
              <a:rPr lang="en-US" altLang="en-US" dirty="0">
                <a:solidFill>
                  <a:srgbClr val="000000"/>
                </a:solidFill>
                <a:ea typeface="ＭＳ Ｐゴシック" pitchFamily="34" charset="-128"/>
              </a:rPr>
              <a:t>-value is </a:t>
            </a:r>
            <a:r>
              <a:rPr lang="en-US" altLang="en-US" i="1" dirty="0">
                <a:solidFill>
                  <a:srgbClr val="000000"/>
                </a:solidFill>
                <a:ea typeface="ＭＳ Ｐゴシック" pitchFamily="34" charset="-128"/>
              </a:rPr>
              <a:t>P</a:t>
            </a:r>
            <a:r>
              <a:rPr lang="en-US" altLang="en-US" dirty="0">
                <a:solidFill>
                  <a:srgbClr val="000000"/>
                </a:solidFill>
                <a:ea typeface="ＭＳ Ｐゴシック" pitchFamily="34" charset="-128"/>
              </a:rPr>
              <a:t>(</a:t>
            </a:r>
            <a:r>
              <a:rPr lang="en-US" altLang="en-US" i="1" dirty="0">
                <a:solidFill>
                  <a:srgbClr val="000000"/>
                </a:solidFill>
                <a:ea typeface="ＭＳ Ｐゴシック" pitchFamily="34" charset="-128"/>
              </a:rPr>
              <a:t>F</a:t>
            </a:r>
            <a:r>
              <a:rPr lang="en-US" altLang="en-US" dirty="0">
                <a:solidFill>
                  <a:srgbClr val="000000"/>
                </a:solidFill>
                <a:ea typeface="ＭＳ Ｐゴシック" pitchFamily="34" charset="-128"/>
              </a:rPr>
              <a:t> </a:t>
            </a:r>
            <a:r>
              <a:rPr lang="en-US" altLang="en-US" u="sng" dirty="0">
                <a:solidFill>
                  <a:srgbClr val="000000"/>
                </a:solidFill>
                <a:ea typeface="ＭＳ Ｐゴシック" pitchFamily="34" charset="-128"/>
              </a:rPr>
              <a:t>&gt;</a:t>
            </a:r>
            <a:r>
              <a:rPr lang="en-US" altLang="en-US" dirty="0">
                <a:solidFill>
                  <a:srgbClr val="000000"/>
                </a:solidFill>
                <a:ea typeface="ＭＳ Ｐゴシック" pitchFamily="34" charset="-128"/>
              </a:rPr>
              <a:t> </a:t>
            </a:r>
            <a:r>
              <a:rPr lang="en-US" altLang="en-US" i="1" dirty="0">
                <a:solidFill>
                  <a:srgbClr val="000000"/>
                </a:solidFill>
                <a:ea typeface="ＭＳ Ｐゴシック" pitchFamily="34" charset="-128"/>
              </a:rPr>
              <a:t>f </a:t>
            </a:r>
            <a:r>
              <a:rPr lang="en-US" altLang="en-US" dirty="0">
                <a:solidFill>
                  <a:srgbClr val="000000"/>
                </a:solidFill>
                <a:ea typeface="ＭＳ Ｐゴシック" pitchFamily="34" charset="-128"/>
              </a:rPr>
              <a:t>). </a:t>
            </a:r>
          </a:p>
          <a:p>
            <a:pPr marL="0" indent="0" eaLnBrk="1" hangingPunct="1">
              <a:lnSpc>
                <a:spcPct val="140000"/>
              </a:lnSpc>
              <a:buFont typeface="Wingdings" pitchFamily="2" charset="2"/>
              <a:buNone/>
            </a:pPr>
            <a:endParaRPr lang="en-US" altLang="en-US" dirty="0">
              <a:solidFill>
                <a:srgbClr val="000000"/>
              </a:solidFill>
              <a:ea typeface="ＭＳ Ｐゴシック" pitchFamily="34" charset="-128"/>
            </a:endParaRPr>
          </a:p>
          <a:p>
            <a:pPr marL="0" indent="0" eaLnBrk="1" hangingPunct="1">
              <a:lnSpc>
                <a:spcPct val="140000"/>
              </a:lnSpc>
              <a:buFont typeface="Wingdings" pitchFamily="2" charset="2"/>
              <a:buNone/>
            </a:pPr>
            <a:r>
              <a:rPr lang="en-US" altLang="en-US" sz="1800" i="1" dirty="0">
                <a:solidFill>
                  <a:srgbClr val="000000"/>
                </a:solidFill>
                <a:ea typeface="ＭＳ Ｐゴシック" pitchFamily="34" charset="-128"/>
              </a:rPr>
              <a:t>The ANOVA test and the two-sided t test for H</a:t>
            </a:r>
            <a:r>
              <a:rPr lang="en-US" altLang="en-US" sz="1800" baseline="-25000" dirty="0">
                <a:solidFill>
                  <a:srgbClr val="000000"/>
                </a:solidFill>
                <a:ea typeface="ＭＳ Ｐゴシック" pitchFamily="34" charset="-128"/>
              </a:rPr>
              <a:t>0</a:t>
            </a:r>
            <a:r>
              <a:rPr lang="en-US" altLang="en-US" sz="1800" i="1" dirty="0">
                <a:solidFill>
                  <a:srgbClr val="000000"/>
                </a:solidFill>
                <a:ea typeface="ＭＳ Ｐゴシック" pitchFamily="34" charset="-128"/>
              </a:rPr>
              <a:t>: </a:t>
            </a:r>
            <a:r>
              <a:rPr lang="el-GR" altLang="en-US" sz="1800" i="1" dirty="0">
                <a:solidFill>
                  <a:srgbClr val="000000"/>
                </a:solidFill>
                <a:ea typeface="ＭＳ Ｐゴシック" pitchFamily="34" charset="-128"/>
              </a:rPr>
              <a:t>β</a:t>
            </a:r>
            <a:r>
              <a:rPr lang="en-US" altLang="en-US" sz="1800" i="1" baseline="-25000" dirty="0">
                <a:solidFill>
                  <a:srgbClr val="000000"/>
                </a:solidFill>
                <a:ea typeface="ＭＳ Ｐゴシック" pitchFamily="34" charset="-128"/>
              </a:rPr>
              <a:t>1 </a:t>
            </a:r>
            <a:r>
              <a:rPr lang="en-US" altLang="en-US" sz="1800" i="1" dirty="0">
                <a:solidFill>
                  <a:srgbClr val="000000"/>
                </a:solidFill>
                <a:ea typeface="ＭＳ Ｐゴシック" pitchFamily="34" charset="-128"/>
              </a:rPr>
              <a:t>= </a:t>
            </a:r>
            <a:r>
              <a:rPr lang="en-US" altLang="en-US" sz="1800" dirty="0">
                <a:solidFill>
                  <a:srgbClr val="000000"/>
                </a:solidFill>
                <a:ea typeface="ＭＳ Ｐゴシック" pitchFamily="34" charset="-128"/>
              </a:rPr>
              <a:t>0</a:t>
            </a:r>
            <a:r>
              <a:rPr lang="en-US" altLang="en-US" sz="1800" i="1" dirty="0">
                <a:solidFill>
                  <a:srgbClr val="000000"/>
                </a:solidFill>
                <a:ea typeface="ＭＳ Ｐゴシック" pitchFamily="34" charset="-128"/>
              </a:rPr>
              <a:t> yield the same P-value. </a:t>
            </a:r>
          </a:p>
          <a:p>
            <a:pPr marL="0" indent="0" eaLnBrk="1" hangingPunct="1">
              <a:lnSpc>
                <a:spcPct val="140000"/>
              </a:lnSpc>
              <a:buFont typeface="Wingdings" pitchFamily="2" charset="2"/>
              <a:buNone/>
            </a:pPr>
            <a:r>
              <a:rPr lang="en-US" altLang="en-US" sz="1800" i="1" dirty="0">
                <a:solidFill>
                  <a:srgbClr val="000000"/>
                </a:solidFill>
                <a:ea typeface="ＭＳ Ｐゴシック" pitchFamily="34" charset="-128"/>
              </a:rPr>
              <a:t>Software output for regression may provide t</a:t>
            </a:r>
            <a:r>
              <a:rPr lang="en-US" altLang="en-US" sz="1800" dirty="0">
                <a:solidFill>
                  <a:srgbClr val="000000"/>
                </a:solidFill>
                <a:ea typeface="ＭＳ Ｐゴシック" pitchFamily="34" charset="-128"/>
              </a:rPr>
              <a:t>,</a:t>
            </a:r>
            <a:r>
              <a:rPr lang="en-US" altLang="en-US" sz="1800" i="1" dirty="0">
                <a:solidFill>
                  <a:srgbClr val="000000"/>
                </a:solidFill>
                <a:ea typeface="ＭＳ Ｐゴシック" pitchFamily="34" charset="-128"/>
              </a:rPr>
              <a:t> F</a:t>
            </a:r>
            <a:r>
              <a:rPr lang="en-US" altLang="en-US" sz="1800" dirty="0">
                <a:solidFill>
                  <a:srgbClr val="000000"/>
                </a:solidFill>
                <a:ea typeface="ＭＳ Ｐゴシック" pitchFamily="34" charset="-128"/>
              </a:rPr>
              <a:t>,</a:t>
            </a:r>
            <a:r>
              <a:rPr lang="en-US" altLang="en-US" sz="1800" i="1" dirty="0">
                <a:solidFill>
                  <a:srgbClr val="000000"/>
                </a:solidFill>
                <a:ea typeface="ＭＳ Ｐゴシック" pitchFamily="34" charset="-128"/>
              </a:rPr>
              <a:t> or both, along with the P-value.</a:t>
            </a:r>
          </a:p>
        </p:txBody>
      </p:sp>
      <p:pic>
        <p:nvPicPr>
          <p:cNvPr id="1408003" name="Picture 3" descr="A right skewed F curve has value F marked under the right tail. The area under the curve to the right of it is shaded, representing P."/>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451225" y="3239690"/>
            <a:ext cx="4495800" cy="1796335"/>
          </a:xfrm>
          <a:prstGeom prst="rect">
            <a:avLst/>
          </a:prstGeom>
          <a:solidFill>
            <a:srgbClr val="FFD780"/>
          </a:solid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0800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0800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40800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0800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The ANOVA Table</a:t>
            </a:r>
            <a:endParaRPr lang="en-US" dirty="0"/>
          </a:p>
        </p:txBody>
      </p:sp>
      <p:sp>
        <p:nvSpPr>
          <p:cNvPr id="51244" name="Slide Number Placeholder 11"/>
          <p:cNvSpPr>
            <a:spLocks noGrp="1"/>
          </p:cNvSpPr>
          <p:nvPr>
            <p:ph type="sldNum" sz="quarter" idx="12"/>
          </p:nvPr>
        </p:nvSpPr>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47E07B6E-A3FF-4FB3-927F-ED705DAEEFE4}" type="slidenum">
              <a:rPr lang="en-US" altLang="en-US" sz="1200" smtClean="0">
                <a:solidFill>
                  <a:schemeClr val="accent1"/>
                </a:solidFill>
              </a:rPr>
              <a:pPr/>
              <a:t>26</a:t>
            </a:fld>
            <a:endParaRPr lang="en-US" altLang="en-US" dirty="0">
              <a:solidFill>
                <a:schemeClr val="accent1"/>
              </a:solidFill>
            </a:endParaRPr>
          </a:p>
        </p:txBody>
      </p:sp>
      <mc:AlternateContent xmlns:mc="http://schemas.openxmlformats.org/markup-compatibility/2006" xmlns:a14="http://schemas.microsoft.com/office/drawing/2010/main">
        <mc:Choice Requires="a14">
          <p:graphicFrame>
            <p:nvGraphicFramePr>
              <p:cNvPr id="1409027" name="Group 3" descr="described separately"/>
              <p:cNvGraphicFramePr>
                <a:graphicFrameLocks noGrp="1"/>
              </p:cNvGraphicFramePr>
              <p:nvPr>
                <p:extLst>
                  <p:ext uri="{D42A27DB-BD31-4B8C-83A1-F6EECF244321}">
                    <p14:modId xmlns:p14="http://schemas.microsoft.com/office/powerpoint/2010/main" val="1051190500"/>
                  </p:ext>
                </p:extLst>
              </p:nvPr>
            </p:nvGraphicFramePr>
            <p:xfrm>
              <a:off x="480809" y="1087664"/>
              <a:ext cx="7438707" cy="2381631"/>
            </p:xfrm>
            <a:graphic>
              <a:graphicData uri="http://schemas.openxmlformats.org/drawingml/2006/table">
                <a:tbl>
                  <a:tblPr firstRow="1"/>
                  <a:tblGrid>
                    <a:gridCol w="794068">
                      <a:extLst>
                        <a:ext uri="{9D8B030D-6E8A-4147-A177-3AD203B41FA5}">
                          <a16:colId xmlns:a16="http://schemas.microsoft.com/office/drawing/2014/main" val="20000"/>
                        </a:ext>
                      </a:extLst>
                    </a:gridCol>
                    <a:gridCol w="1760855">
                      <a:extLst>
                        <a:ext uri="{9D8B030D-6E8A-4147-A177-3AD203B41FA5}">
                          <a16:colId xmlns:a16="http://schemas.microsoft.com/office/drawing/2014/main" val="20001"/>
                        </a:ext>
                      </a:extLst>
                    </a:gridCol>
                    <a:gridCol w="630555">
                      <a:extLst>
                        <a:ext uri="{9D8B030D-6E8A-4147-A177-3AD203B41FA5}">
                          <a16:colId xmlns:a16="http://schemas.microsoft.com/office/drawing/2014/main" val="20002"/>
                        </a:ext>
                      </a:extLst>
                    </a:gridCol>
                    <a:gridCol w="1581467">
                      <a:extLst>
                        <a:ext uri="{9D8B030D-6E8A-4147-A177-3AD203B41FA5}">
                          <a16:colId xmlns:a16="http://schemas.microsoft.com/office/drawing/2014/main" val="20003"/>
                        </a:ext>
                      </a:extLst>
                    </a:gridCol>
                    <a:gridCol w="1081405">
                      <a:extLst>
                        <a:ext uri="{9D8B030D-6E8A-4147-A177-3AD203B41FA5}">
                          <a16:colId xmlns:a16="http://schemas.microsoft.com/office/drawing/2014/main" val="20004"/>
                        </a:ext>
                      </a:extLst>
                    </a:gridCol>
                    <a:gridCol w="1590357">
                      <a:extLst>
                        <a:ext uri="{9D8B030D-6E8A-4147-A177-3AD203B41FA5}">
                          <a16:colId xmlns:a16="http://schemas.microsoft.com/office/drawing/2014/main" val="20005"/>
                        </a:ext>
                      </a:extLst>
                    </a:gridCol>
                  </a:tblGrid>
                  <a:tr h="609600">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Source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Sum of squares 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DF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Mean square 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P</a:t>
                          </a: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-value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95300">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Model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14:m>
                            <m:oMathPara xmlns:m="http://schemas.openxmlformats.org/officeDocument/2006/math">
                              <m:oMathParaPr>
                                <m:jc m:val="centerGroup"/>
                              </m:oMathParaPr>
                              <m:oMath xmlns:m="http://schemas.openxmlformats.org/officeDocument/2006/math">
                                <m:r>
                                  <m:rPr>
                                    <m:sty m:val="p"/>
                                  </m:rPr>
                                  <a:rPr kumimoji="0" lang="en-US" altLang="en-US" sz="1200" b="0" i="0" u="none" strike="noStrike" cap="none" normalizeH="0" baseline="0" smtClean="0">
                                    <a:ln>
                                      <a:noFill/>
                                    </a:ln>
                                    <a:solidFill>
                                      <a:schemeClr val="tx1"/>
                                    </a:solidFill>
                                    <a:effectLst/>
                                    <a:latin typeface="Cambria Math" panose="02040503050406030204" pitchFamily="18" charset="0"/>
                                    <a:ea typeface="ＭＳ Ｐゴシック" pitchFamily="34" charset="-128"/>
                                  </a:rPr>
                                  <m:t>SSM</m:t>
                                </m:r>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m:t>
                                </m:r>
                                <m:nary>
                                  <m:naryPr>
                                    <m:chr m:val="∑"/>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naryPr>
                                  <m:sub>
                                    <m:r>
                                      <m:rPr>
                                        <m:brk m:alnAt="23"/>
                                      </m:r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𝑖</m:t>
                                    </m:r>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=1</m:t>
                                    </m:r>
                                  </m:sub>
                                  <m:sup>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𝑛</m:t>
                                    </m:r>
                                  </m:sup>
                                  <m:e>
                                    <m:sSup>
                                      <m:sSup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sSupPr>
                                      <m:e>
                                        <m:d>
                                          <m:d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dPr>
                                          <m:e>
                                            <m:sSub>
                                              <m:sSub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sSubPr>
                                              <m:e>
                                                <m:acc>
                                                  <m:accPr>
                                                    <m:chr m:val="̂"/>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accPr>
                                                  <m:e>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𝑦</m:t>
                                                    </m:r>
                                                  </m:e>
                                                </m:acc>
                                              </m:e>
                                              <m:sub>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𝑖</m:t>
                                                </m:r>
                                              </m:sub>
                                            </m:sSub>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m:t>
                                            </m:r>
                                            <m:bar>
                                              <m:barPr>
                                                <m:pos m:val="top"/>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barPr>
                                              <m:e>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𝑦</m:t>
                                                </m:r>
                                              </m:e>
                                            </m:bar>
                                          </m:e>
                                        </m:d>
                                      </m:e>
                                      <m:sup>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2</m:t>
                                        </m:r>
                                      </m:sup>
                                    </m:sSup>
                                  </m:e>
                                </m:nary>
                              </m:oMath>
                            </m:oMathPara>
                          </a14:m>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MSM = SSM / DFM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MSM / MSE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Tail area above </a:t>
                          </a: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9750">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Error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14:m>
                            <m:oMathPara xmlns:m="http://schemas.openxmlformats.org/officeDocument/2006/math">
                              <m:oMathParaPr>
                                <m:jc m:val="centerGroup"/>
                              </m:oMathParaPr>
                              <m:oMath xmlns:m="http://schemas.openxmlformats.org/officeDocument/2006/math">
                                <m:r>
                                  <m:rPr>
                                    <m:sty m:val="p"/>
                                  </m:rPr>
                                  <a:rPr kumimoji="0" lang="en-US" altLang="en-US" sz="1200" b="0" i="0" u="none" strike="noStrike" cap="none" normalizeH="0" baseline="0" smtClean="0">
                                    <a:ln>
                                      <a:noFill/>
                                    </a:ln>
                                    <a:solidFill>
                                      <a:schemeClr val="tx1"/>
                                    </a:solidFill>
                                    <a:effectLst/>
                                    <a:latin typeface="Cambria Math" panose="02040503050406030204" pitchFamily="18" charset="0"/>
                                    <a:ea typeface="ＭＳ Ｐゴシック" pitchFamily="34" charset="-128"/>
                                  </a:rPr>
                                  <m:t>SSE</m:t>
                                </m:r>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m:t>
                                </m:r>
                                <m:nary>
                                  <m:naryPr>
                                    <m:chr m:val="∑"/>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naryPr>
                                  <m:sub>
                                    <m:r>
                                      <m:rPr>
                                        <m:brk m:alnAt="23"/>
                                      </m:r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𝑖</m:t>
                                    </m:r>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=1</m:t>
                                    </m:r>
                                  </m:sub>
                                  <m:sup>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𝑛</m:t>
                                    </m:r>
                                  </m:sup>
                                  <m:e>
                                    <m:sSup>
                                      <m:sSup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sSupPr>
                                      <m:e>
                                        <m:d>
                                          <m:d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dPr>
                                          <m:e>
                                            <m:sSub>
                                              <m:sSub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sSubPr>
                                              <m:e>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𝑦</m:t>
                                                </m:r>
                                              </m:e>
                                              <m:sub>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𝑖</m:t>
                                                </m:r>
                                              </m:sub>
                                            </m:sSub>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m:t>
                                            </m:r>
                                            <m:sSub>
                                              <m:sSub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sSubPr>
                                              <m:e>
                                                <m:acc>
                                                  <m:accPr>
                                                    <m:chr m:val="̂"/>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accPr>
                                                  <m:e>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𝑦</m:t>
                                                    </m:r>
                                                  </m:e>
                                                </m:acc>
                                              </m:e>
                                              <m:sub>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𝑖</m:t>
                                                </m:r>
                                              </m:sub>
                                            </m:sSub>
                                          </m:e>
                                        </m:d>
                                      </m:e>
                                      <m:sup>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2</m:t>
                                        </m:r>
                                      </m:sup>
                                    </m:sSup>
                                  </m:e>
                                </m:nary>
                              </m:oMath>
                            </m:oMathPara>
                          </a14:m>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n − 2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MSE = SSE / DFE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7050">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14:m>
                            <m:oMathPara xmlns:m="http://schemas.openxmlformats.org/officeDocument/2006/math">
                              <m:oMathParaPr>
                                <m:jc m:val="centerGroup"/>
                              </m:oMathParaPr>
                              <m:oMath xmlns:m="http://schemas.openxmlformats.org/officeDocument/2006/math">
                                <m:r>
                                  <m:rPr>
                                    <m:sty m:val="p"/>
                                  </m:rPr>
                                  <a:rPr kumimoji="0" lang="en-US" altLang="en-US" sz="1200" b="0" i="0" u="none" strike="noStrike" cap="none" normalizeH="0" baseline="0" smtClean="0">
                                    <a:ln>
                                      <a:noFill/>
                                    </a:ln>
                                    <a:solidFill>
                                      <a:schemeClr val="tx1"/>
                                    </a:solidFill>
                                    <a:effectLst/>
                                    <a:latin typeface="Cambria Math" panose="02040503050406030204" pitchFamily="18" charset="0"/>
                                    <a:ea typeface="ＭＳ Ｐゴシック" pitchFamily="34" charset="-128"/>
                                  </a:rPr>
                                  <m:t>SST</m:t>
                                </m:r>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m:t>
                                </m:r>
                                <m:nary>
                                  <m:naryPr>
                                    <m:chr m:val="∑"/>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naryPr>
                                  <m:sub>
                                    <m:r>
                                      <m:rPr>
                                        <m:brk m:alnAt="23"/>
                                      </m:r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𝑖</m:t>
                                    </m:r>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=1</m:t>
                                    </m:r>
                                  </m:sub>
                                  <m:sup>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𝑛</m:t>
                                    </m:r>
                                  </m:sup>
                                  <m:e>
                                    <m:sSup>
                                      <m:sSup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sSupPr>
                                      <m:e>
                                        <m:d>
                                          <m:d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dPr>
                                          <m:e>
                                            <m:sSub>
                                              <m:sSubPr>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sSubPr>
                                              <m:e>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𝑦</m:t>
                                                </m:r>
                                              </m:e>
                                              <m:sub>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𝑖</m:t>
                                                </m:r>
                                              </m:sub>
                                            </m:sSub>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m:t>
                                            </m:r>
                                            <m:bar>
                                              <m:barPr>
                                                <m:pos m:val="top"/>
                                                <m:ctrlP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ctrlPr>
                                              </m:barPr>
                                              <m:e>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𝑦</m:t>
                                                </m:r>
                                              </m:e>
                                            </m:bar>
                                          </m:e>
                                        </m:d>
                                      </m:e>
                                      <m:sup>
                                        <m:r>
                                          <a:rPr kumimoji="0" lang="en-US" altLang="en-US" sz="1200" b="0" i="1" u="none" strike="noStrike" cap="none" normalizeH="0" baseline="0" smtClean="0">
                                            <a:ln>
                                              <a:noFill/>
                                            </a:ln>
                                            <a:solidFill>
                                              <a:schemeClr val="tx1"/>
                                            </a:solidFill>
                                            <a:effectLst/>
                                            <a:latin typeface="Cambria Math" panose="02040503050406030204" pitchFamily="18" charset="0"/>
                                            <a:ea typeface="ＭＳ Ｐゴシック" pitchFamily="34" charset="-128"/>
                                          </a:rPr>
                                          <m:t>2</m:t>
                                        </m:r>
                                      </m:sup>
                                    </m:sSup>
                                  </m:e>
                                </m:nary>
                              </m:oMath>
                            </m:oMathPara>
                          </a14:m>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n </a:t>
                          </a: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Choice>
        <mc:Fallback xmlns="">
          <p:graphicFrame>
            <p:nvGraphicFramePr>
              <p:cNvPr id="1409027" name="Group 3" descr="described separately"/>
              <p:cNvGraphicFramePr>
                <a:graphicFrameLocks noGrp="1"/>
              </p:cNvGraphicFramePr>
              <p:nvPr>
                <p:extLst>
                  <p:ext uri="{D42A27DB-BD31-4B8C-83A1-F6EECF244321}">
                    <p14:modId xmlns:p14="http://schemas.microsoft.com/office/powerpoint/2010/main" val="1051190500"/>
                  </p:ext>
                </p:extLst>
              </p:nvPr>
            </p:nvGraphicFramePr>
            <p:xfrm>
              <a:off x="480809" y="1087664"/>
              <a:ext cx="7438707" cy="2381631"/>
            </p:xfrm>
            <a:graphic>
              <a:graphicData uri="http://schemas.openxmlformats.org/drawingml/2006/table">
                <a:tbl>
                  <a:tblPr firstRow="1"/>
                  <a:tblGrid>
                    <a:gridCol w="794068">
                      <a:extLst>
                        <a:ext uri="{9D8B030D-6E8A-4147-A177-3AD203B41FA5}">
                          <a16:colId xmlns:a16="http://schemas.microsoft.com/office/drawing/2014/main" val="20000"/>
                        </a:ext>
                      </a:extLst>
                    </a:gridCol>
                    <a:gridCol w="1760855">
                      <a:extLst>
                        <a:ext uri="{9D8B030D-6E8A-4147-A177-3AD203B41FA5}">
                          <a16:colId xmlns:a16="http://schemas.microsoft.com/office/drawing/2014/main" val="20001"/>
                        </a:ext>
                      </a:extLst>
                    </a:gridCol>
                    <a:gridCol w="630555">
                      <a:extLst>
                        <a:ext uri="{9D8B030D-6E8A-4147-A177-3AD203B41FA5}">
                          <a16:colId xmlns:a16="http://schemas.microsoft.com/office/drawing/2014/main" val="20002"/>
                        </a:ext>
                      </a:extLst>
                    </a:gridCol>
                    <a:gridCol w="1581467">
                      <a:extLst>
                        <a:ext uri="{9D8B030D-6E8A-4147-A177-3AD203B41FA5}">
                          <a16:colId xmlns:a16="http://schemas.microsoft.com/office/drawing/2014/main" val="20003"/>
                        </a:ext>
                      </a:extLst>
                    </a:gridCol>
                    <a:gridCol w="1081405">
                      <a:extLst>
                        <a:ext uri="{9D8B030D-6E8A-4147-A177-3AD203B41FA5}">
                          <a16:colId xmlns:a16="http://schemas.microsoft.com/office/drawing/2014/main" val="20004"/>
                        </a:ext>
                      </a:extLst>
                    </a:gridCol>
                    <a:gridCol w="1590357">
                      <a:extLst>
                        <a:ext uri="{9D8B030D-6E8A-4147-A177-3AD203B41FA5}">
                          <a16:colId xmlns:a16="http://schemas.microsoft.com/office/drawing/2014/main" val="20005"/>
                        </a:ext>
                      </a:extLst>
                    </a:gridCol>
                  </a:tblGrid>
                  <a:tr h="609600">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Source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Sum of squares 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DF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Mean square MS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P</a:t>
                          </a: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-value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0677">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Model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45517" t="-104082" r="-277931" b="-345918"/>
                          </a:stretch>
                        </a:blip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MSM = SSM / DFM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MSM / MSE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Tail area above </a:t>
                          </a: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0677">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Error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4"/>
                          <a:stretch>
                            <a:fillRect l="-45517" t="-206186" r="-277931" b="-249485"/>
                          </a:stretch>
                        </a:blip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n − 2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MSE = SSE / DFE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0677">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l"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blipFill>
                          <a:blip r:embed="rId4"/>
                          <a:stretch>
                            <a:fillRect l="-45517" t="-306186" r="-277931" b="-149485"/>
                          </a:stretch>
                        </a:blip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altLang="en-US" sz="1200" b="0" i="1" u="none" strike="noStrike" cap="none" normalizeH="0" baseline="0" dirty="0">
                              <a:ln>
                                <a:noFill/>
                              </a:ln>
                              <a:solidFill>
                                <a:schemeClr val="tx1"/>
                              </a:solidFill>
                              <a:effectLst/>
                              <a:latin typeface="Arial" pitchFamily="34" charset="0"/>
                              <a:ea typeface="ＭＳ Ｐゴシック" pitchFamily="34" charset="-128"/>
                            </a:rPr>
                            <a:t>n </a:t>
                          </a:r>
                          <a:r>
                            <a:rPr kumimoji="0" lang="en-US" altLang="en-US" sz="1200" b="0" i="0" u="none" strike="noStrike" cap="none" normalizeH="0" baseline="0" dirty="0">
                              <a:ln>
                                <a:noFill/>
                              </a:ln>
                              <a:solidFill>
                                <a:schemeClr val="tx1"/>
                              </a:solidFill>
                              <a:effectLst/>
                              <a:latin typeface="Arial" pitchFamily="34" charset="0"/>
                              <a:ea typeface="ＭＳ Ｐゴシック" pitchFamily="34" charset="-128"/>
                            </a:rPr>
                            <a:t>− 1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800"/>
                            </a:spcBef>
                            <a:buClr>
                              <a:schemeClr val="accent1"/>
                            </a:buClr>
                            <a:buSzPct val="100000"/>
                            <a:buFont typeface="Wingdings 2" pitchFamily="18" charset="2"/>
                            <a:defRPr>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defRPr sz="1600">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defRPr sz="1600">
                              <a:solidFill>
                                <a:schemeClr val="tx2"/>
                              </a:solidFill>
                              <a:latin typeface="Arial" pitchFamily="34" charset="0"/>
                              <a:ea typeface="ＭＳ Ｐゴシック" pitchFamily="34" charset="-128"/>
                            </a:defRPr>
                          </a:lvl5pPr>
                          <a:lvl6pPr marL="25146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6pPr>
                          <a:lvl7pPr marL="29718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7pPr>
                          <a:lvl8pPr marL="34290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8pPr>
                          <a:lvl9pPr marL="3886200" indent="-228600" eaLnBrk="0" fontAlgn="base" hangingPunct="0">
                            <a:spcBef>
                              <a:spcPts val="600"/>
                            </a:spcBef>
                            <a:spcAft>
                              <a:spcPct val="0"/>
                            </a:spcAft>
                            <a:buClr>
                              <a:schemeClr val="accent1"/>
                            </a:buClr>
                            <a:buSzPct val="100000"/>
                            <a:buFont typeface="Wingdings 2" pitchFamily="18" charset="2"/>
                            <a:defRPr sz="1600">
                              <a:solidFill>
                                <a:schemeClr val="tx2"/>
                              </a:solidFill>
                              <a:latin typeface="Arial" pitchFamily="34" charset="0"/>
                              <a:ea typeface="ＭＳ Ｐゴシック" pitchFamily="34" charset="-128"/>
                            </a:defRPr>
                          </a:lvl9p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endParaRPr kumimoji="0" lang="en-US" altLang="en-US" sz="1200" b="0" i="0" u="none" strike="noStrike" cap="none" normalizeH="0" baseline="0" dirty="0">
                            <a:ln>
                              <a:noFill/>
                            </a:ln>
                            <a:solidFill>
                              <a:schemeClr val="tx1"/>
                            </a:solidFill>
                            <a:effectLst/>
                            <a:latin typeface="Arial" pitchFamily="34" charset="0"/>
                            <a:ea typeface="ＭＳ Ｐゴシック" pitchFamily="3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mc:Fallback>
      </mc:AlternateContent>
      <p:sp>
        <p:nvSpPr>
          <p:cNvPr id="51242" name="Text Box 43"/>
          <p:cNvSpPr txBox="1">
            <a:spLocks noChangeArrowheads="1"/>
          </p:cNvSpPr>
          <p:nvPr/>
        </p:nvSpPr>
        <p:spPr bwMode="auto">
          <a:xfrm>
            <a:off x="704055" y="3741199"/>
            <a:ext cx="2117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20000"/>
              </a:spcBef>
              <a:buClr>
                <a:srgbClr val="00CC99"/>
              </a:buClr>
              <a:buSzPct val="65000"/>
              <a:buFont typeface="Wingdings" pitchFamily="2" charset="2"/>
              <a:buNone/>
            </a:pPr>
            <a:r>
              <a:rPr lang="en-US" altLang="en-US" sz="1800" dirty="0">
                <a:solidFill>
                  <a:schemeClr val="tx1"/>
                </a:solidFill>
              </a:rPr>
              <a:t>SST = SSM + SSE</a:t>
            </a:r>
          </a:p>
        </p:txBody>
      </p:sp>
      <p:sp>
        <p:nvSpPr>
          <p:cNvPr id="51243" name="Text Box 44"/>
          <p:cNvSpPr txBox="1">
            <a:spLocks noChangeArrowheads="1"/>
          </p:cNvSpPr>
          <p:nvPr/>
        </p:nvSpPr>
        <p:spPr bwMode="auto">
          <a:xfrm>
            <a:off x="3144837" y="3724548"/>
            <a:ext cx="2117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20000"/>
              </a:spcBef>
              <a:buClr>
                <a:srgbClr val="00CC99"/>
              </a:buClr>
              <a:buSzPct val="65000"/>
              <a:buFont typeface="Wingdings" pitchFamily="2" charset="2"/>
              <a:buNone/>
            </a:pPr>
            <a:r>
              <a:rPr lang="en-US" altLang="en-US" sz="1800" dirty="0">
                <a:solidFill>
                  <a:schemeClr val="tx1"/>
                </a:solidFill>
              </a:rPr>
              <a:t>DFT = DFM + DFE</a:t>
            </a:r>
          </a:p>
        </p:txBody>
      </p:sp>
      <p:sp>
        <p:nvSpPr>
          <p:cNvPr id="51248" name="TextBox 2"/>
          <p:cNvSpPr txBox="1">
            <a:spLocks noChangeArrowheads="1"/>
          </p:cNvSpPr>
          <p:nvPr/>
        </p:nvSpPr>
        <p:spPr bwMode="auto">
          <a:xfrm>
            <a:off x="5262562" y="3724548"/>
            <a:ext cx="2438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2"/>
                </a:solidFill>
                <a:latin typeface="Arial" pitchFamily="34" charset="0"/>
                <a:ea typeface="ＭＳ Ｐゴシック" pitchFamily="34" charset="-128"/>
              </a:defRPr>
            </a:lvl1pPr>
            <a:lvl2pPr marL="742950" indent="-285750">
              <a:defRPr>
                <a:solidFill>
                  <a:schemeClr val="tx2"/>
                </a:solidFill>
                <a:latin typeface="Arial" pitchFamily="34" charset="0"/>
                <a:ea typeface="ＭＳ Ｐゴシック" pitchFamily="34" charset="-128"/>
              </a:defRPr>
            </a:lvl2pPr>
            <a:lvl3pPr marL="1143000">
              <a:defRPr>
                <a:solidFill>
                  <a:schemeClr val="tx2"/>
                </a:solidFill>
                <a:latin typeface="Arial" pitchFamily="34" charset="0"/>
                <a:ea typeface="ＭＳ Ｐゴシック" pitchFamily="34" charset="-128"/>
              </a:defRPr>
            </a:lvl3pPr>
            <a:lvl4pPr marL="1600200">
              <a:defRPr>
                <a:solidFill>
                  <a:schemeClr val="tx2"/>
                </a:solidFill>
                <a:latin typeface="Arial" pitchFamily="34" charset="0"/>
                <a:ea typeface="ＭＳ Ｐゴシック" pitchFamily="34" charset="-128"/>
              </a:defRPr>
            </a:lvl4pPr>
            <a:lvl5pPr marL="2057400">
              <a:defRPr>
                <a:solidFill>
                  <a:schemeClr val="tx2"/>
                </a:solidFill>
                <a:latin typeface="Arial" pitchFamily="34" charset="0"/>
                <a:ea typeface="ＭＳ Ｐゴシック" pitchFamily="34" charset="-128"/>
              </a:defRPr>
            </a:lvl5pPr>
            <a:lvl6pPr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defTabSz="914400" eaLnBrk="1" hangingPunct="1">
              <a:spcBef>
                <a:spcPct val="20000"/>
              </a:spcBef>
              <a:buClr>
                <a:srgbClr val="00CC99"/>
              </a:buClr>
              <a:buSzPct val="65000"/>
            </a:pPr>
            <a:r>
              <a:rPr lang="en-US" altLang="en-US" sz="1800" dirty="0">
                <a:solidFill>
                  <a:srgbClr val="000000"/>
                </a:solidFill>
              </a:rPr>
              <a:t>F = MSM / MSE</a:t>
            </a:r>
          </a:p>
        </p:txBody>
      </p:sp>
      <p:graphicFrame>
        <p:nvGraphicFramePr>
          <p:cNvPr id="3" name="Object 2"/>
          <p:cNvGraphicFramePr>
            <a:graphicFrameLocks noChangeAspect="1"/>
          </p:cNvGraphicFramePr>
          <p:nvPr>
            <p:extLst>
              <p:ext uri="{D42A27DB-BD31-4B8C-83A1-F6EECF244321}">
                <p14:modId xmlns:p14="http://schemas.microsoft.com/office/powerpoint/2010/main" val="914914206"/>
              </p:ext>
            </p:extLst>
          </p:nvPr>
        </p:nvGraphicFramePr>
        <p:xfrm>
          <a:off x="480809" y="4349688"/>
          <a:ext cx="8460702" cy="1993359"/>
        </p:xfrm>
        <a:graphic>
          <a:graphicData uri="http://schemas.openxmlformats.org/presentationml/2006/ole">
            <mc:AlternateContent xmlns:mc="http://schemas.openxmlformats.org/markup-compatibility/2006">
              <mc:Choice xmlns:v="urn:schemas-microsoft-com:vml" Requires="v">
                <p:oleObj spid="_x0000_s63497" name="Equation" r:id="rId5" imgW="4851360" imgH="1143000" progId="Equation.DSMT4">
                  <p:embed/>
                </p:oleObj>
              </mc:Choice>
              <mc:Fallback>
                <p:oleObj name="Equation" r:id="rId5" imgW="4851360" imgH="1143000" progId="Equation.DSMT4">
                  <p:embed/>
                  <p:pic>
                    <p:nvPicPr>
                      <p:cNvPr id="0" name=""/>
                      <p:cNvPicPr/>
                      <p:nvPr/>
                    </p:nvPicPr>
                    <p:blipFill>
                      <a:blip r:embed="rId6"/>
                      <a:stretch>
                        <a:fillRect/>
                      </a:stretch>
                    </p:blipFill>
                    <p:spPr>
                      <a:xfrm>
                        <a:off x="480809" y="4349688"/>
                        <a:ext cx="8460702" cy="1993359"/>
                      </a:xfrm>
                      <a:prstGeom prst="rect">
                        <a:avLst/>
                      </a:prstGeom>
                      <a:solidFill>
                        <a:srgbClr val="FFD780"/>
                      </a:solidFill>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74625" y="154305"/>
            <a:ext cx="7772400" cy="1143000"/>
          </a:xfrm>
        </p:spPr>
        <p:txBody>
          <a:bodyPr/>
          <a:lstStyle/>
          <a:p>
            <a:pPr eaLnBrk="1" hangingPunct="1"/>
            <a:r>
              <a:rPr lang="en-US" altLang="en-US" dirty="0">
                <a:ea typeface="ＭＳ Ｐゴシック" pitchFamily="34" charset="-128"/>
              </a:rPr>
              <a:t>Calculations for Regression Inference 1</a:t>
            </a:r>
          </a:p>
        </p:txBody>
      </p:sp>
      <p:sp>
        <p:nvSpPr>
          <p:cNvPr id="52230"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2A0AD027-22D3-475D-8F3A-A1DB7270D561}" type="slidenum">
              <a:rPr lang="en-US" altLang="en-US" sz="1200">
                <a:solidFill>
                  <a:schemeClr val="accent1"/>
                </a:solidFill>
              </a:rPr>
              <a:pPr/>
              <a:t>27</a:t>
            </a:fld>
            <a:endParaRPr lang="en-US" altLang="en-US" sz="1400" dirty="0">
              <a:solidFill>
                <a:schemeClr val="accent1"/>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199265839"/>
              </p:ext>
            </p:extLst>
          </p:nvPr>
        </p:nvGraphicFramePr>
        <p:xfrm>
          <a:off x="174625" y="1417872"/>
          <a:ext cx="8796120" cy="5327618"/>
        </p:xfrm>
        <a:graphic>
          <a:graphicData uri="http://schemas.openxmlformats.org/presentationml/2006/ole">
            <mc:AlternateContent xmlns:mc="http://schemas.openxmlformats.org/markup-compatibility/2006">
              <mc:Choice xmlns:v="urn:schemas-microsoft-com:vml" Requires="v">
                <p:oleObj spid="_x0000_s64520" name="Equation" r:id="rId4" imgW="4025880" imgH="2438280" progId="Equation.DSMT4">
                  <p:embed/>
                </p:oleObj>
              </mc:Choice>
              <mc:Fallback>
                <p:oleObj name="Equation" r:id="rId4" imgW="4025880" imgH="2438280" progId="Equation.DSMT4">
                  <p:embed/>
                  <p:pic>
                    <p:nvPicPr>
                      <p:cNvPr id="0" name=""/>
                      <p:cNvPicPr/>
                      <p:nvPr/>
                    </p:nvPicPr>
                    <p:blipFill>
                      <a:blip r:embed="rId5"/>
                      <a:stretch>
                        <a:fillRect/>
                      </a:stretch>
                    </p:blipFill>
                    <p:spPr>
                      <a:xfrm>
                        <a:off x="174625" y="1417872"/>
                        <a:ext cx="8796120" cy="5327618"/>
                      </a:xfrm>
                      <a:prstGeom prst="rect">
                        <a:avLst/>
                      </a:prstGeom>
                      <a:solidFill>
                        <a:srgbClr val="FFD780"/>
                      </a:solidFill>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5" y="154305"/>
            <a:ext cx="7772400" cy="1143000"/>
          </a:xfrm>
        </p:spPr>
        <p:txBody>
          <a:bodyPr/>
          <a:lstStyle/>
          <a:p>
            <a:r>
              <a:rPr lang="en-US" dirty="0">
                <a:ea typeface="ＭＳ Ｐゴシック"/>
                <a:cs typeface="ＭＳ Ｐゴシック"/>
              </a:rPr>
              <a:t>Calculations for Regression Inference 2</a:t>
            </a:r>
            <a:endParaRPr lang="en-US" dirty="0"/>
          </a:p>
        </p:txBody>
      </p:sp>
      <p:sp>
        <p:nvSpPr>
          <p:cNvPr id="53254"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9384868B-372B-4087-8AB5-AC78F508C1B9}" type="slidenum">
              <a:rPr lang="en-US" altLang="en-US" sz="1400">
                <a:solidFill>
                  <a:schemeClr val="accent1"/>
                </a:solidFill>
              </a:rPr>
              <a:pPr/>
              <a:t>28</a:t>
            </a:fld>
            <a:endParaRPr lang="en-US" altLang="en-US" sz="1400">
              <a:solidFill>
                <a:schemeClr val="accent1"/>
              </a:solidFill>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4280820812"/>
              </p:ext>
            </p:extLst>
          </p:nvPr>
        </p:nvGraphicFramePr>
        <p:xfrm>
          <a:off x="174625" y="1415999"/>
          <a:ext cx="7304204" cy="5231389"/>
        </p:xfrm>
        <a:graphic>
          <a:graphicData uri="http://schemas.openxmlformats.org/presentationml/2006/ole">
            <mc:AlternateContent xmlns:mc="http://schemas.openxmlformats.org/markup-compatibility/2006">
              <mc:Choice xmlns:v="urn:schemas-microsoft-com:vml" Requires="v">
                <p:oleObj spid="_x0000_s65544" name="Equation" r:id="rId4" imgW="3759120" imgH="2692080" progId="Equation.DSMT4">
                  <p:embed/>
                </p:oleObj>
              </mc:Choice>
              <mc:Fallback>
                <p:oleObj name="Equation" r:id="rId4" imgW="3759120" imgH="2692080" progId="Equation.DSMT4">
                  <p:embed/>
                  <p:pic>
                    <p:nvPicPr>
                      <p:cNvPr id="0" name=""/>
                      <p:cNvPicPr/>
                      <p:nvPr/>
                    </p:nvPicPr>
                    <p:blipFill>
                      <a:blip r:embed="rId5"/>
                      <a:stretch>
                        <a:fillRect/>
                      </a:stretch>
                    </p:blipFill>
                    <p:spPr>
                      <a:xfrm>
                        <a:off x="174625" y="1415999"/>
                        <a:ext cx="7304204" cy="5231389"/>
                      </a:xfrm>
                      <a:prstGeom prst="rect">
                        <a:avLst/>
                      </a:prstGeom>
                      <a:solidFill>
                        <a:srgbClr val="FFD780"/>
                      </a:solidFill>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en-US" dirty="0">
                <a:ea typeface="ＭＳ Ｐゴシック" pitchFamily="34" charset="-128"/>
              </a:rPr>
              <a:t>Inference for Correlation 1</a:t>
            </a:r>
          </a:p>
        </p:txBody>
      </p:sp>
      <p:sp>
        <p:nvSpPr>
          <p:cNvPr id="54277"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45BACFDF-9FDA-4D1A-92F6-8E4727793BCA}" type="slidenum">
              <a:rPr lang="en-US" altLang="en-US" sz="1400">
                <a:solidFill>
                  <a:schemeClr val="accent1"/>
                </a:solidFill>
              </a:rPr>
              <a:pPr/>
              <a:t>29</a:t>
            </a:fld>
            <a:endParaRPr lang="en-US" altLang="en-US" sz="1400">
              <a:solidFill>
                <a:schemeClr val="accent1"/>
              </a:solidFill>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357597707"/>
              </p:ext>
            </p:extLst>
          </p:nvPr>
        </p:nvGraphicFramePr>
        <p:xfrm>
          <a:off x="174624" y="1328170"/>
          <a:ext cx="8780975" cy="4995628"/>
        </p:xfrm>
        <a:graphic>
          <a:graphicData uri="http://schemas.openxmlformats.org/presentationml/2006/ole">
            <mc:AlternateContent xmlns:mc="http://schemas.openxmlformats.org/markup-compatibility/2006">
              <mc:Choice xmlns:v="urn:schemas-microsoft-com:vml" Requires="v">
                <p:oleObj spid="_x0000_s66568" name="Equation" r:id="rId4" imgW="4330440" imgH="2463480" progId="Equation.DSMT4">
                  <p:embed/>
                </p:oleObj>
              </mc:Choice>
              <mc:Fallback>
                <p:oleObj name="Equation" r:id="rId4" imgW="4330440" imgH="2463480" progId="Equation.DSMT4">
                  <p:embed/>
                  <p:pic>
                    <p:nvPicPr>
                      <p:cNvPr id="0" name=""/>
                      <p:cNvPicPr/>
                      <p:nvPr/>
                    </p:nvPicPr>
                    <p:blipFill>
                      <a:blip r:embed="rId5"/>
                      <a:stretch>
                        <a:fillRect/>
                      </a:stretch>
                    </p:blipFill>
                    <p:spPr>
                      <a:xfrm>
                        <a:off x="174624" y="1328170"/>
                        <a:ext cx="8780975" cy="4995628"/>
                      </a:xfrm>
                      <a:prstGeom prst="rect">
                        <a:avLst/>
                      </a:prstGeom>
                      <a:solidFill>
                        <a:srgbClr val="FFD780"/>
                      </a:solidFill>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ＭＳ Ｐゴシック"/>
                <a:cs typeface="ＭＳ Ｐゴシック"/>
              </a:rPr>
              <a:t>Inference for Correlation 2</a:t>
            </a:r>
            <a:endParaRPr lang="en-US" dirty="0"/>
          </a:p>
        </p:txBody>
      </p:sp>
      <p:sp>
        <p:nvSpPr>
          <p:cNvPr id="7" name="Slide Number Placeholder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45BACFDF-9FDA-4D1A-92F6-8E4727793BCA}" type="slidenum">
              <a:rPr lang="en-US" altLang="en-US" sz="1400">
                <a:solidFill>
                  <a:schemeClr val="accent1"/>
                </a:solidFill>
              </a:rPr>
              <a:pPr/>
              <a:t>30</a:t>
            </a:fld>
            <a:endParaRPr lang="en-US" altLang="en-US" sz="1400">
              <a:solidFill>
                <a:schemeClr val="accent1"/>
              </a:solidFill>
            </a:endParaRPr>
          </a:p>
        </p:txBody>
      </p:sp>
      <p:sp>
        <p:nvSpPr>
          <p:cNvPr id="1419267" name="Rectangle 3"/>
          <p:cNvSpPr>
            <a:spLocks noGrp="1" noChangeArrowheads="1"/>
          </p:cNvSpPr>
          <p:nvPr>
            <p:ph type="body" sz="half" idx="4294967295"/>
          </p:nvPr>
        </p:nvSpPr>
        <p:spPr>
          <a:xfrm>
            <a:off x="174625" y="1083019"/>
            <a:ext cx="8081963" cy="5616394"/>
          </a:xfrm>
          <a:solidFill>
            <a:srgbClr val="FFD780"/>
          </a:solidFill>
        </p:spPr>
        <p:txBody>
          <a:bodyPr/>
          <a:lstStyle/>
          <a:p>
            <a:pPr marL="0" indent="0" eaLnBrk="1" hangingPunct="1">
              <a:lnSpc>
                <a:spcPct val="120000"/>
              </a:lnSpc>
              <a:buFont typeface="Wingdings" pitchFamily="2" charset="2"/>
              <a:buNone/>
            </a:pPr>
            <a:r>
              <a:rPr lang="en-US" altLang="en-US" dirty="0">
                <a:solidFill>
                  <a:srgbClr val="000000"/>
                </a:solidFill>
                <a:ea typeface="ＭＳ Ｐゴシック" pitchFamily="34" charset="-128"/>
              </a:rPr>
              <a:t>The test of significance for </a:t>
            </a:r>
            <a:r>
              <a:rPr lang="el-GR" altLang="en-US" i="1" dirty="0">
                <a:solidFill>
                  <a:srgbClr val="000000"/>
                </a:solidFill>
                <a:ea typeface="ＭＳ Ｐゴシック" pitchFamily="34" charset="-128"/>
              </a:rPr>
              <a:t>ρ</a:t>
            </a:r>
            <a:r>
              <a:rPr lang="en-US" altLang="en-US" dirty="0">
                <a:solidFill>
                  <a:srgbClr val="000000"/>
                </a:solidFill>
                <a:ea typeface="ＭＳ Ｐゴシック" pitchFamily="34" charset="-128"/>
              </a:rPr>
              <a:t> uses the one-sample </a:t>
            </a:r>
            <a:r>
              <a:rPr lang="en-US" altLang="en-US" i="1" dirty="0">
                <a:solidFill>
                  <a:srgbClr val="000000"/>
                </a:solidFill>
                <a:ea typeface="ＭＳ Ｐゴシック" pitchFamily="34" charset="-128"/>
              </a:rPr>
              <a:t>t </a:t>
            </a:r>
            <a:r>
              <a:rPr lang="en-US" altLang="en-US" dirty="0">
                <a:solidFill>
                  <a:srgbClr val="000000"/>
                </a:solidFill>
                <a:ea typeface="ＭＳ Ｐゴシック" pitchFamily="34" charset="-128"/>
              </a:rPr>
              <a:t>test for </a:t>
            </a:r>
            <a:r>
              <a:rPr lang="en-US" altLang="en-US" i="1" dirty="0">
                <a:solidFill>
                  <a:srgbClr val="000000"/>
                </a:solidFill>
                <a:ea typeface="ＭＳ Ｐゴシック" pitchFamily="34" charset="-128"/>
              </a:rPr>
              <a:t>H</a:t>
            </a:r>
            <a:r>
              <a:rPr lang="en-US" altLang="en-US" baseline="-25000" dirty="0">
                <a:solidFill>
                  <a:srgbClr val="000000"/>
                </a:solidFill>
                <a:ea typeface="ＭＳ Ｐゴシック" pitchFamily="34" charset="-128"/>
              </a:rPr>
              <a:t>0</a:t>
            </a:r>
            <a:r>
              <a:rPr lang="en-US" altLang="en-US" dirty="0">
                <a:solidFill>
                  <a:srgbClr val="000000"/>
                </a:solidFill>
                <a:ea typeface="ＭＳ Ｐゴシック" pitchFamily="34" charset="-128"/>
              </a:rPr>
              <a:t>: </a:t>
            </a:r>
            <a:r>
              <a:rPr lang="el-GR" altLang="en-US" i="1" dirty="0">
                <a:solidFill>
                  <a:srgbClr val="000000"/>
                </a:solidFill>
                <a:ea typeface="ＭＳ Ｐゴシック" pitchFamily="34" charset="-128"/>
              </a:rPr>
              <a:t>ρ</a:t>
            </a:r>
            <a:r>
              <a:rPr lang="en-US" altLang="en-US" i="1" dirty="0">
                <a:solidFill>
                  <a:srgbClr val="000000"/>
                </a:solidFill>
                <a:ea typeface="ＭＳ Ｐゴシック" pitchFamily="34" charset="-128"/>
              </a:rPr>
              <a:t> </a:t>
            </a:r>
            <a:r>
              <a:rPr lang="en-US" altLang="en-US" dirty="0">
                <a:solidFill>
                  <a:srgbClr val="000000"/>
                </a:solidFill>
                <a:ea typeface="ＭＳ Ｐゴシック" pitchFamily="34" charset="-128"/>
              </a:rPr>
              <a:t>= 0.</a:t>
            </a:r>
            <a:endParaRPr lang="en-US" altLang="en-US" sz="1200" dirty="0">
              <a:solidFill>
                <a:srgbClr val="000000"/>
              </a:solidFill>
              <a:ea typeface="ＭＳ Ｐゴシック" pitchFamily="34" charset="-128"/>
            </a:endParaRPr>
          </a:p>
          <a:p>
            <a:pPr marL="0" indent="0" eaLnBrk="1" hangingPunct="1">
              <a:buFont typeface="Wingdings" pitchFamily="2" charset="2"/>
              <a:buNone/>
            </a:pPr>
            <a:r>
              <a:rPr lang="en-US" altLang="en-US" dirty="0">
                <a:solidFill>
                  <a:srgbClr val="000000"/>
                </a:solidFill>
                <a:ea typeface="ＭＳ Ｐゴシック" pitchFamily="34" charset="-128"/>
              </a:rPr>
              <a:t>We compute the </a:t>
            </a:r>
            <a:r>
              <a:rPr lang="en-US" altLang="en-US" i="1" dirty="0">
                <a:solidFill>
                  <a:srgbClr val="000000"/>
                </a:solidFill>
                <a:ea typeface="ＭＳ Ｐゴシック" pitchFamily="34" charset="-128"/>
              </a:rPr>
              <a:t>t</a:t>
            </a:r>
            <a:r>
              <a:rPr lang="en-US" altLang="en-US" dirty="0">
                <a:solidFill>
                  <a:srgbClr val="000000"/>
                </a:solidFill>
                <a:ea typeface="ＭＳ Ｐゴシック" pitchFamily="34" charset="-128"/>
              </a:rPr>
              <a:t> statistic</a:t>
            </a:r>
            <a:br>
              <a:rPr lang="en-US" altLang="en-US" dirty="0">
                <a:solidFill>
                  <a:srgbClr val="000000"/>
                </a:solidFill>
                <a:ea typeface="ＭＳ Ｐゴシック" pitchFamily="34" charset="-128"/>
              </a:rPr>
            </a:br>
            <a:r>
              <a:rPr lang="en-US" altLang="en-US" dirty="0">
                <a:solidFill>
                  <a:srgbClr val="000000"/>
                </a:solidFill>
                <a:ea typeface="ＭＳ Ｐゴシック" pitchFamily="34" charset="-128"/>
              </a:rPr>
              <a:t>for sample size </a:t>
            </a:r>
            <a:r>
              <a:rPr lang="en-US" altLang="en-US" i="1" dirty="0">
                <a:solidFill>
                  <a:srgbClr val="000000"/>
                </a:solidFill>
                <a:ea typeface="ＭＳ Ｐゴシック" pitchFamily="34" charset="-128"/>
              </a:rPr>
              <a:t>n</a:t>
            </a:r>
            <a:r>
              <a:rPr lang="en-US" altLang="en-US" dirty="0">
                <a:solidFill>
                  <a:srgbClr val="000000"/>
                </a:solidFill>
                <a:ea typeface="ＭＳ Ｐゴシック" pitchFamily="34" charset="-128"/>
              </a:rPr>
              <a:t> and</a:t>
            </a:r>
            <a:br>
              <a:rPr lang="en-US" altLang="en-US" dirty="0">
                <a:solidFill>
                  <a:srgbClr val="000000"/>
                </a:solidFill>
                <a:ea typeface="ＭＳ Ｐゴシック" pitchFamily="34" charset="-128"/>
              </a:rPr>
            </a:br>
            <a:r>
              <a:rPr lang="en-US" altLang="en-US" dirty="0">
                <a:solidFill>
                  <a:srgbClr val="000000"/>
                </a:solidFill>
                <a:ea typeface="ＭＳ Ｐゴシック" pitchFamily="34" charset="-128"/>
              </a:rPr>
              <a:t>correlation coefficient </a:t>
            </a:r>
            <a:r>
              <a:rPr lang="en-US" altLang="en-US" i="1" dirty="0">
                <a:solidFill>
                  <a:srgbClr val="000000"/>
                </a:solidFill>
                <a:ea typeface="ＭＳ Ｐゴシック" pitchFamily="34" charset="-128"/>
              </a:rPr>
              <a:t>r</a:t>
            </a:r>
            <a:r>
              <a:rPr lang="en-US" altLang="en-US" dirty="0">
                <a:solidFill>
                  <a:srgbClr val="000000"/>
                </a:solidFill>
                <a:ea typeface="ＭＳ Ｐゴシック" pitchFamily="34" charset="-128"/>
              </a:rPr>
              <a:t>.</a:t>
            </a:r>
            <a:br>
              <a:rPr lang="en-US" altLang="en-US" dirty="0">
                <a:solidFill>
                  <a:srgbClr val="000000"/>
                </a:solidFill>
                <a:ea typeface="ＭＳ Ｐゴシック" pitchFamily="34" charset="-128"/>
              </a:rPr>
            </a:br>
            <a:endParaRPr lang="en-US" altLang="en-US" dirty="0">
              <a:solidFill>
                <a:srgbClr val="000000"/>
              </a:solidFill>
              <a:ea typeface="ＭＳ Ｐゴシック" pitchFamily="34" charset="-128"/>
            </a:endParaRPr>
          </a:p>
          <a:p>
            <a:pPr marL="0" indent="0" eaLnBrk="1" hangingPunct="1">
              <a:buFont typeface="Wingdings" pitchFamily="2" charset="2"/>
              <a:buNone/>
            </a:pPr>
            <a:endParaRPr lang="en-US" altLang="en-US" dirty="0">
              <a:solidFill>
                <a:srgbClr val="000000"/>
              </a:solidFill>
              <a:ea typeface="ＭＳ Ｐゴシック" pitchFamily="34" charset="-128"/>
            </a:endParaRPr>
          </a:p>
          <a:p>
            <a:pPr marL="0" indent="0" eaLnBrk="1" hangingPunct="1">
              <a:spcBef>
                <a:spcPts val="0"/>
              </a:spcBef>
              <a:buFont typeface="Wingdings" pitchFamily="2" charset="2"/>
              <a:buNone/>
            </a:pPr>
            <a:r>
              <a:rPr lang="en-US" altLang="en-US" dirty="0">
                <a:solidFill>
                  <a:srgbClr val="000000"/>
                </a:solidFill>
                <a:ea typeface="ＭＳ Ｐゴシック" pitchFamily="34" charset="-128"/>
              </a:rPr>
              <a:t>The </a:t>
            </a:r>
            <a:r>
              <a:rPr lang="en-US" altLang="en-US" i="1" dirty="0">
                <a:solidFill>
                  <a:srgbClr val="000000"/>
                </a:solidFill>
                <a:ea typeface="ＭＳ Ｐゴシック" pitchFamily="34" charset="-128"/>
              </a:rPr>
              <a:t>P</a:t>
            </a:r>
            <a:r>
              <a:rPr lang="en-US" altLang="en-US" dirty="0">
                <a:solidFill>
                  <a:srgbClr val="000000"/>
                </a:solidFill>
                <a:ea typeface="ＭＳ Ｐゴシック" pitchFamily="34" charset="-128"/>
              </a:rPr>
              <a:t>-value is the area </a:t>
            </a:r>
            <a:br>
              <a:rPr lang="en-US" altLang="en-US" dirty="0">
                <a:solidFill>
                  <a:srgbClr val="000000"/>
                </a:solidFill>
                <a:ea typeface="ＭＳ Ｐゴシック" pitchFamily="34" charset="-128"/>
              </a:rPr>
            </a:br>
            <a:r>
              <a:rPr lang="en-US" altLang="en-US" dirty="0">
                <a:solidFill>
                  <a:srgbClr val="000000"/>
                </a:solidFill>
                <a:ea typeface="ＭＳ Ｐゴシック" pitchFamily="34" charset="-128"/>
              </a:rPr>
              <a:t>under </a:t>
            </a:r>
            <a:r>
              <a:rPr lang="en-US" altLang="en-US" i="1" dirty="0">
                <a:solidFill>
                  <a:srgbClr val="000000"/>
                </a:solidFill>
                <a:ea typeface="ＭＳ Ｐゴシック" pitchFamily="34" charset="-128"/>
              </a:rPr>
              <a:t>t</a:t>
            </a:r>
            <a:r>
              <a:rPr lang="en-US" altLang="en-US" dirty="0">
                <a:solidFill>
                  <a:srgbClr val="000000"/>
                </a:solidFill>
                <a:ea typeface="ＭＳ Ｐゴシック" pitchFamily="34" charset="-128"/>
              </a:rPr>
              <a:t>(</a:t>
            </a:r>
            <a:r>
              <a:rPr lang="en-US" altLang="en-US" i="1" dirty="0">
                <a:solidFill>
                  <a:srgbClr val="000000"/>
                </a:solidFill>
                <a:ea typeface="ＭＳ Ｐゴシック" pitchFamily="34" charset="-128"/>
              </a:rPr>
              <a:t>n</a:t>
            </a:r>
            <a:r>
              <a:rPr lang="en-US" altLang="en-US" dirty="0">
                <a:solidFill>
                  <a:srgbClr val="000000"/>
                </a:solidFill>
                <a:ea typeface="ＭＳ Ｐゴシック" pitchFamily="34" charset="-128"/>
              </a:rPr>
              <a:t> – 2) for values of </a:t>
            </a:r>
            <a:br>
              <a:rPr lang="en-US" altLang="en-US" dirty="0">
                <a:solidFill>
                  <a:srgbClr val="000000"/>
                </a:solidFill>
                <a:ea typeface="ＭＳ Ｐゴシック" pitchFamily="34" charset="-128"/>
              </a:rPr>
            </a:br>
            <a:r>
              <a:rPr lang="en-US" altLang="en-US" i="1" dirty="0">
                <a:solidFill>
                  <a:srgbClr val="000000"/>
                </a:solidFill>
                <a:ea typeface="ＭＳ Ｐゴシック" pitchFamily="34" charset="-128"/>
              </a:rPr>
              <a:t>T</a:t>
            </a:r>
            <a:r>
              <a:rPr lang="en-US" altLang="en-US" dirty="0">
                <a:solidFill>
                  <a:srgbClr val="000000"/>
                </a:solidFill>
                <a:ea typeface="ＭＳ Ｐゴシック" pitchFamily="34" charset="-128"/>
              </a:rPr>
              <a:t> as extreme as or more</a:t>
            </a:r>
          </a:p>
          <a:p>
            <a:pPr marL="0" indent="0" eaLnBrk="1" hangingPunct="1">
              <a:spcBef>
                <a:spcPts val="0"/>
              </a:spcBef>
              <a:buFont typeface="Wingdings" pitchFamily="2" charset="2"/>
              <a:buNone/>
            </a:pPr>
            <a:r>
              <a:rPr lang="en-US" altLang="en-US" dirty="0">
                <a:solidFill>
                  <a:srgbClr val="000000"/>
                </a:solidFill>
                <a:ea typeface="ＭＳ Ｐゴシック" pitchFamily="34" charset="-128"/>
              </a:rPr>
              <a:t>extreme than </a:t>
            </a:r>
            <a:r>
              <a:rPr lang="en-US" altLang="en-US" i="1" dirty="0">
                <a:solidFill>
                  <a:srgbClr val="000000"/>
                </a:solidFill>
                <a:ea typeface="ＭＳ Ｐゴシック" pitchFamily="34" charset="-128"/>
              </a:rPr>
              <a:t>t</a:t>
            </a:r>
            <a:r>
              <a:rPr lang="en-US" altLang="en-US" dirty="0">
                <a:solidFill>
                  <a:srgbClr val="000000"/>
                </a:solidFill>
                <a:ea typeface="ＭＳ Ｐゴシック" pitchFamily="34" charset="-128"/>
              </a:rPr>
              <a:t> in the direction</a:t>
            </a:r>
          </a:p>
          <a:p>
            <a:pPr marL="0" indent="0" eaLnBrk="1" hangingPunct="1">
              <a:spcBef>
                <a:spcPts val="0"/>
              </a:spcBef>
              <a:buFont typeface="Wingdings" pitchFamily="2" charset="2"/>
              <a:buNone/>
            </a:pPr>
            <a:r>
              <a:rPr lang="en-US" altLang="en-US" dirty="0">
                <a:solidFill>
                  <a:srgbClr val="000000"/>
                </a:solidFill>
                <a:ea typeface="ＭＳ Ｐゴシック" pitchFamily="34" charset="-128"/>
              </a:rPr>
              <a:t>of </a:t>
            </a:r>
            <a:r>
              <a:rPr lang="en-US" altLang="en-US" i="1" dirty="0">
                <a:solidFill>
                  <a:srgbClr val="000000"/>
                </a:solidFill>
                <a:ea typeface="ＭＳ Ｐゴシック" pitchFamily="34" charset="-128"/>
              </a:rPr>
              <a:t>H</a:t>
            </a:r>
            <a:r>
              <a:rPr lang="en-US" altLang="en-US" baseline="-25000" dirty="0">
                <a:solidFill>
                  <a:srgbClr val="000000"/>
                </a:solidFill>
                <a:ea typeface="ＭＳ Ｐゴシック" pitchFamily="34" charset="-128"/>
              </a:rPr>
              <a:t>a</a:t>
            </a:r>
            <a:r>
              <a:rPr lang="en-US" altLang="en-US" dirty="0">
                <a:solidFill>
                  <a:srgbClr val="000000"/>
                </a:solidFill>
                <a:ea typeface="ＭＳ Ｐゴシック" pitchFamily="34" charset="-128"/>
              </a:rPr>
              <a:t>.</a:t>
            </a:r>
          </a:p>
        </p:txBody>
      </p:sp>
      <p:graphicFrame>
        <p:nvGraphicFramePr>
          <p:cNvPr id="4" name="Object 3" descr="t = start fraction r square root of start expression n minus 2 end expression over square root of start expression 1 minus r squared end expression end fraction"/>
          <p:cNvGraphicFramePr>
            <a:graphicFrameLocks noChangeAspect="1"/>
          </p:cNvGraphicFramePr>
          <p:nvPr>
            <p:extLst>
              <p:ext uri="{D42A27DB-BD31-4B8C-83A1-F6EECF244321}">
                <p14:modId xmlns:p14="http://schemas.microsoft.com/office/powerpoint/2010/main" val="2221004351"/>
              </p:ext>
            </p:extLst>
          </p:nvPr>
        </p:nvGraphicFramePr>
        <p:xfrm>
          <a:off x="3466306" y="2294733"/>
          <a:ext cx="1344514" cy="843170"/>
        </p:xfrm>
        <a:graphic>
          <a:graphicData uri="http://schemas.openxmlformats.org/presentationml/2006/ole">
            <mc:AlternateContent xmlns:mc="http://schemas.openxmlformats.org/markup-compatibility/2006">
              <mc:Choice xmlns:v="urn:schemas-microsoft-com:vml" Requires="v">
                <p:oleObj spid="_x0000_s67606" name="Equation" r:id="rId4" imgW="749160" imgH="469800" progId="Equation.DSMT4">
                  <p:embed/>
                </p:oleObj>
              </mc:Choice>
              <mc:Fallback>
                <p:oleObj name="Equation" r:id="rId4" imgW="749160" imgH="469800" progId="Equation.DSMT4">
                  <p:embed/>
                  <p:pic>
                    <p:nvPicPr>
                      <p:cNvPr id="0" name=""/>
                      <p:cNvPicPr/>
                      <p:nvPr/>
                    </p:nvPicPr>
                    <p:blipFill>
                      <a:blip r:embed="rId5"/>
                      <a:stretch>
                        <a:fillRect/>
                      </a:stretch>
                    </p:blipFill>
                    <p:spPr>
                      <a:xfrm>
                        <a:off x="3466306" y="2294733"/>
                        <a:ext cx="1344514" cy="843170"/>
                      </a:xfrm>
                      <a:prstGeom prst="rect">
                        <a:avLst/>
                      </a:prstGeom>
                    </p:spPr>
                  </p:pic>
                </p:oleObj>
              </mc:Fallback>
            </mc:AlternateContent>
          </a:graphicData>
        </a:graphic>
      </p:graphicFrame>
      <p:pic>
        <p:nvPicPr>
          <p:cNvPr id="5" name="Picture 4" descr="A normal distribution curve. t is marked under the right tail, with the area beyond it shaded. "/>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61225" y="1720221"/>
            <a:ext cx="2895361" cy="1011852"/>
          </a:xfrm>
          <a:prstGeom prst="rect">
            <a:avLst/>
          </a:prstGeom>
        </p:spPr>
      </p:pic>
      <p:graphicFrame>
        <p:nvGraphicFramePr>
          <p:cNvPr id="3" name="Object 2" descr="H sub a, rho greater than 0 is P of upper T greater than or equal to lower t"/>
          <p:cNvGraphicFramePr>
            <a:graphicFrameLocks noChangeAspect="1"/>
          </p:cNvGraphicFramePr>
          <p:nvPr>
            <p:extLst>
              <p:ext uri="{D42A27DB-BD31-4B8C-83A1-F6EECF244321}">
                <p14:modId xmlns:p14="http://schemas.microsoft.com/office/powerpoint/2010/main" val="1050926287"/>
              </p:ext>
            </p:extLst>
          </p:nvPr>
        </p:nvGraphicFramePr>
        <p:xfrm>
          <a:off x="5671868" y="2751072"/>
          <a:ext cx="2275157" cy="425263"/>
        </p:xfrm>
        <a:graphic>
          <a:graphicData uri="http://schemas.openxmlformats.org/presentationml/2006/ole">
            <mc:AlternateContent xmlns:mc="http://schemas.openxmlformats.org/markup-compatibility/2006">
              <mc:Choice xmlns:v="urn:schemas-microsoft-com:vml" Requires="v">
                <p:oleObj spid="_x0000_s67607" name="Equation" r:id="rId7" imgW="1358640" imgH="253800" progId="Equation.DSMT4">
                  <p:embed/>
                </p:oleObj>
              </mc:Choice>
              <mc:Fallback>
                <p:oleObj name="Equation" r:id="rId7" imgW="1358640" imgH="253800" progId="Equation.DSMT4">
                  <p:embed/>
                  <p:pic>
                    <p:nvPicPr>
                      <p:cNvPr id="0" name=""/>
                      <p:cNvPicPr/>
                      <p:nvPr/>
                    </p:nvPicPr>
                    <p:blipFill>
                      <a:blip r:embed="rId8"/>
                      <a:stretch>
                        <a:fillRect/>
                      </a:stretch>
                    </p:blipFill>
                    <p:spPr>
                      <a:xfrm>
                        <a:off x="5671868" y="2751072"/>
                        <a:ext cx="2275157" cy="425263"/>
                      </a:xfrm>
                      <a:prstGeom prst="rect">
                        <a:avLst/>
                      </a:prstGeom>
                    </p:spPr>
                  </p:pic>
                </p:oleObj>
              </mc:Fallback>
            </mc:AlternateContent>
          </a:graphicData>
        </a:graphic>
      </p:graphicFrame>
      <p:pic>
        <p:nvPicPr>
          <p:cNvPr id="6" name="Picture 5" descr="A normal distribution curve. t is marked under the left tail, with the area beyond it shaded."/>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361227" y="3295938"/>
            <a:ext cx="2895361" cy="1005757"/>
          </a:xfrm>
          <a:prstGeom prst="rect">
            <a:avLst/>
          </a:prstGeom>
        </p:spPr>
      </p:pic>
      <p:graphicFrame>
        <p:nvGraphicFramePr>
          <p:cNvPr id="8" name="Object 7" descr="H sub a, rho less than 0 is P of upper T less than or equal to lower t"/>
          <p:cNvGraphicFramePr>
            <a:graphicFrameLocks noChangeAspect="1"/>
          </p:cNvGraphicFramePr>
          <p:nvPr>
            <p:extLst>
              <p:ext uri="{D42A27DB-BD31-4B8C-83A1-F6EECF244321}">
                <p14:modId xmlns:p14="http://schemas.microsoft.com/office/powerpoint/2010/main" val="2786929325"/>
              </p:ext>
            </p:extLst>
          </p:nvPr>
        </p:nvGraphicFramePr>
        <p:xfrm>
          <a:off x="5671868" y="4332555"/>
          <a:ext cx="2207934" cy="412698"/>
        </p:xfrm>
        <a:graphic>
          <a:graphicData uri="http://schemas.openxmlformats.org/presentationml/2006/ole">
            <mc:AlternateContent xmlns:mc="http://schemas.openxmlformats.org/markup-compatibility/2006">
              <mc:Choice xmlns:v="urn:schemas-microsoft-com:vml" Requires="v">
                <p:oleObj spid="_x0000_s67608" name="Equation" r:id="rId10" imgW="1358640" imgH="253800" progId="Equation.DSMT4">
                  <p:embed/>
                </p:oleObj>
              </mc:Choice>
              <mc:Fallback>
                <p:oleObj name="Equation" r:id="rId10" imgW="1358640" imgH="253800" progId="Equation.DSMT4">
                  <p:embed/>
                  <p:pic>
                    <p:nvPicPr>
                      <p:cNvPr id="0" name=""/>
                      <p:cNvPicPr/>
                      <p:nvPr/>
                    </p:nvPicPr>
                    <p:blipFill>
                      <a:blip r:embed="rId11"/>
                      <a:stretch>
                        <a:fillRect/>
                      </a:stretch>
                    </p:blipFill>
                    <p:spPr>
                      <a:xfrm>
                        <a:off x="5671868" y="4332555"/>
                        <a:ext cx="2207934" cy="412698"/>
                      </a:xfrm>
                      <a:prstGeom prst="rect">
                        <a:avLst/>
                      </a:prstGeom>
                    </p:spPr>
                  </p:pic>
                </p:oleObj>
              </mc:Fallback>
            </mc:AlternateContent>
          </a:graphicData>
        </a:graphic>
      </p:graphicFrame>
      <p:pic>
        <p:nvPicPr>
          <p:cNvPr id="10" name="Picture 9" descr="A normal distribution curve. The absolute value of t is marked under the right tail. The absolute value of negative t is marked under the left. The area beyond each is shaded."/>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328154" y="4892554"/>
            <a:ext cx="2895361" cy="1024043"/>
          </a:xfrm>
          <a:prstGeom prst="rect">
            <a:avLst/>
          </a:prstGeom>
        </p:spPr>
      </p:pic>
      <p:graphicFrame>
        <p:nvGraphicFramePr>
          <p:cNvPr id="9" name="Object 8" descr="H sub a, rho is not equal to 0 is P of upper T greater than or equal to absolute value of lower t"/>
          <p:cNvGraphicFramePr>
            <a:graphicFrameLocks noChangeAspect="1"/>
          </p:cNvGraphicFramePr>
          <p:nvPr>
            <p:extLst>
              <p:ext uri="{D42A27DB-BD31-4B8C-83A1-F6EECF244321}">
                <p14:modId xmlns:p14="http://schemas.microsoft.com/office/powerpoint/2010/main" val="16472327"/>
              </p:ext>
            </p:extLst>
          </p:nvPr>
        </p:nvGraphicFramePr>
        <p:xfrm>
          <a:off x="5517864" y="5927739"/>
          <a:ext cx="2289678" cy="453810"/>
        </p:xfrm>
        <a:graphic>
          <a:graphicData uri="http://schemas.openxmlformats.org/presentationml/2006/ole">
            <mc:AlternateContent xmlns:mc="http://schemas.openxmlformats.org/markup-compatibility/2006">
              <mc:Choice xmlns:v="urn:schemas-microsoft-com:vml" Requires="v">
                <p:oleObj spid="_x0000_s67609" name="Equation" r:id="rId13" imgW="1409400" imgH="279360" progId="Equation.DSMT4">
                  <p:embed/>
                </p:oleObj>
              </mc:Choice>
              <mc:Fallback>
                <p:oleObj name="Equation" r:id="rId13" imgW="1409400" imgH="279360" progId="Equation.DSMT4">
                  <p:embed/>
                  <p:pic>
                    <p:nvPicPr>
                      <p:cNvPr id="0" name=""/>
                      <p:cNvPicPr/>
                      <p:nvPr/>
                    </p:nvPicPr>
                    <p:blipFill>
                      <a:blip r:embed="rId14"/>
                      <a:stretch>
                        <a:fillRect/>
                      </a:stretch>
                    </p:blipFill>
                    <p:spPr>
                      <a:xfrm>
                        <a:off x="5517864" y="5927739"/>
                        <a:ext cx="2289678" cy="45381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1926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1926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19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73779"/>
                </a:solidFill>
              </a:rPr>
              <a:t>Inference for Correlation 3</a:t>
            </a:r>
            <a:endParaRPr lang="en-US" dirty="0"/>
          </a:p>
        </p:txBody>
      </p:sp>
      <p:sp>
        <p:nvSpPr>
          <p:cNvPr id="56322" name="Slide Number Placeholder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8C25E7EB-45A2-4A92-A371-6E3435409EA2}" type="slidenum">
              <a:rPr lang="en-US" altLang="en-US" sz="1400">
                <a:solidFill>
                  <a:schemeClr val="accent1"/>
                </a:solidFill>
              </a:rPr>
              <a:pPr/>
              <a:t>31</a:t>
            </a:fld>
            <a:endParaRPr lang="en-US" altLang="en-US" sz="1400">
              <a:solidFill>
                <a:schemeClr val="accent1"/>
              </a:solidFill>
            </a:endParaRPr>
          </a:p>
        </p:txBody>
      </p:sp>
      <p:sp>
        <p:nvSpPr>
          <p:cNvPr id="4" name="TextBox 3"/>
          <p:cNvSpPr txBox="1"/>
          <p:nvPr/>
        </p:nvSpPr>
        <p:spPr>
          <a:xfrm>
            <a:off x="174624" y="1291908"/>
            <a:ext cx="8414739" cy="646113"/>
          </a:xfrm>
          <a:prstGeom prst="rect">
            <a:avLst/>
          </a:prstGeom>
          <a:solidFill>
            <a:srgbClr val="FFFF00"/>
          </a:solidFill>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en-US" sz="1800" dirty="0"/>
              <a:t>When the hypothesis </a:t>
            </a:r>
            <a:r>
              <a:rPr lang="en-US" sz="1800" i="1" dirty="0"/>
              <a:t>H</a:t>
            </a:r>
            <a:r>
              <a:rPr lang="en-US" sz="1800" baseline="-25000" dirty="0"/>
              <a:t>0</a:t>
            </a:r>
            <a:r>
              <a:rPr lang="en-US" sz="1800" dirty="0"/>
              <a:t>: </a:t>
            </a:r>
            <a:r>
              <a:rPr lang="el-GR" sz="1800" i="1" dirty="0"/>
              <a:t>ρ</a:t>
            </a:r>
            <a:r>
              <a:rPr lang="en-US" sz="1800" dirty="0"/>
              <a:t> = 0 is rejected, it is safe to assume that there is some sort of relationship between the variables </a:t>
            </a:r>
            <a:r>
              <a:rPr lang="en-US" sz="1800" i="1" dirty="0"/>
              <a:t>x</a:t>
            </a:r>
            <a:r>
              <a:rPr lang="en-US" sz="1800" dirty="0"/>
              <a:t> and </a:t>
            </a:r>
            <a:r>
              <a:rPr lang="en-US" sz="1800" i="1" dirty="0"/>
              <a:t>y</a:t>
            </a:r>
            <a:r>
              <a:rPr lang="en-US" sz="1800" dirty="0"/>
              <a:t>.  </a:t>
            </a:r>
          </a:p>
        </p:txBody>
      </p:sp>
      <p:sp>
        <p:nvSpPr>
          <p:cNvPr id="5" name="TextBox 4"/>
          <p:cNvSpPr txBox="1"/>
          <p:nvPr/>
        </p:nvSpPr>
        <p:spPr>
          <a:xfrm>
            <a:off x="174624" y="2170112"/>
            <a:ext cx="8414739" cy="646331"/>
          </a:xfrm>
          <a:prstGeom prst="rect">
            <a:avLst/>
          </a:prstGeom>
          <a:solidFill>
            <a:srgbClr val="FFD780"/>
          </a:solidFill>
        </p:spPr>
        <p:txBody>
          <a:bodyPr wrap="square">
            <a:spAutoFit/>
          </a:bodyPr>
          <a:lstStyle/>
          <a:p>
            <a:pPr eaLnBrk="1" hangingPunct="1">
              <a:defRPr/>
            </a:pPr>
            <a:r>
              <a:rPr lang="en-US" dirty="0">
                <a:solidFill>
                  <a:prstClr val="black"/>
                </a:solidFill>
                <a:cs typeface="Arial" pitchFamily="34" charset="0"/>
              </a:rPr>
              <a:t>However, recall from Chapter 2 that correlation measures </a:t>
            </a:r>
            <a:r>
              <a:rPr lang="en-US" b="1" i="1" dirty="0">
                <a:cs typeface="Arial" pitchFamily="34" charset="0"/>
              </a:rPr>
              <a:t>linear</a:t>
            </a:r>
            <a:r>
              <a:rPr lang="en-US" i="1" dirty="0">
                <a:cs typeface="Arial" pitchFamily="34" charset="0"/>
              </a:rPr>
              <a:t> </a:t>
            </a:r>
            <a:r>
              <a:rPr lang="en-US" dirty="0">
                <a:solidFill>
                  <a:prstClr val="black"/>
                </a:solidFill>
                <a:cs typeface="Arial" pitchFamily="34" charset="0"/>
              </a:rPr>
              <a:t>relationships. Thus it is not always a reliable indicator of </a:t>
            </a:r>
            <a:r>
              <a:rPr lang="en-US" b="1" i="1" dirty="0">
                <a:cs typeface="Arial" pitchFamily="34" charset="0"/>
              </a:rPr>
              <a:t>nonlinear</a:t>
            </a:r>
            <a:r>
              <a:rPr lang="en-US" i="1" dirty="0">
                <a:solidFill>
                  <a:schemeClr val="accent6">
                    <a:lumMod val="60000"/>
                    <a:lumOff val="40000"/>
                  </a:schemeClr>
                </a:solidFill>
                <a:cs typeface="Arial" pitchFamily="34" charset="0"/>
              </a:rPr>
              <a:t> </a:t>
            </a:r>
            <a:r>
              <a:rPr lang="en-US" dirty="0">
                <a:solidFill>
                  <a:prstClr val="black"/>
                </a:solidFill>
                <a:cs typeface="Arial" pitchFamily="34" charset="0"/>
              </a:rPr>
              <a:t>relationships</a:t>
            </a:r>
            <a:r>
              <a:rPr lang="en-US" i="1" dirty="0">
                <a:solidFill>
                  <a:prstClr val="black"/>
                </a:solidFill>
                <a:cs typeface="Arial" pitchFamily="34" charset="0"/>
              </a:rPr>
              <a:t>.</a:t>
            </a:r>
          </a:p>
        </p:txBody>
      </p:sp>
      <p:sp>
        <p:nvSpPr>
          <p:cNvPr id="7" name="TextBox 6"/>
          <p:cNvSpPr txBox="1"/>
          <p:nvPr/>
        </p:nvSpPr>
        <p:spPr>
          <a:xfrm>
            <a:off x="174624" y="3257867"/>
            <a:ext cx="8414739" cy="2031325"/>
          </a:xfrm>
          <a:prstGeom prst="rect">
            <a:avLst/>
          </a:prstGeom>
          <a:solidFill>
            <a:srgbClr val="FFD780"/>
          </a:solidFill>
        </p:spPr>
        <p:txBody>
          <a:bodyPr wrap="square">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Bef>
                <a:spcPct val="0"/>
              </a:spcBef>
              <a:buClrTx/>
              <a:buSzTx/>
              <a:buFontTx/>
              <a:buNone/>
              <a:defRPr/>
            </a:pPr>
            <a:r>
              <a:rPr lang="en-US" altLang="en-US" sz="1800" dirty="0">
                <a:solidFill>
                  <a:srgbClr val="000000"/>
                </a:solidFill>
              </a:rPr>
              <a:t>When the hypothesis </a:t>
            </a:r>
            <a:r>
              <a:rPr lang="en-US" altLang="en-US" sz="1800" i="1" dirty="0">
                <a:solidFill>
                  <a:srgbClr val="000000"/>
                </a:solidFill>
              </a:rPr>
              <a:t>H</a:t>
            </a:r>
            <a:r>
              <a:rPr lang="en-US" altLang="en-US" sz="1800" baseline="-25000" dirty="0">
                <a:solidFill>
                  <a:srgbClr val="000000"/>
                </a:solidFill>
              </a:rPr>
              <a:t>0</a:t>
            </a:r>
            <a:r>
              <a:rPr lang="en-US" altLang="en-US" sz="1800" dirty="0">
                <a:solidFill>
                  <a:srgbClr val="000000"/>
                </a:solidFill>
              </a:rPr>
              <a:t>: </a:t>
            </a:r>
            <a:r>
              <a:rPr lang="el-GR" altLang="en-US" sz="1800" i="1" dirty="0">
                <a:solidFill>
                  <a:srgbClr val="000000"/>
                </a:solidFill>
              </a:rPr>
              <a:t>ρ</a:t>
            </a:r>
            <a:r>
              <a:rPr lang="en-US" altLang="en-US" sz="1800" dirty="0">
                <a:solidFill>
                  <a:srgbClr val="000000"/>
                </a:solidFill>
              </a:rPr>
              <a:t> = 0 is </a:t>
            </a:r>
            <a:r>
              <a:rPr lang="en-US" altLang="en-US" sz="1800" i="1" dirty="0">
                <a:solidFill>
                  <a:srgbClr val="000000"/>
                </a:solidFill>
              </a:rPr>
              <a:t>not</a:t>
            </a:r>
            <a:r>
              <a:rPr lang="en-US" altLang="en-US" sz="1800" dirty="0">
                <a:solidFill>
                  <a:srgbClr val="000000"/>
                </a:solidFill>
              </a:rPr>
              <a:t> rejected, do not assume that the variables are unrelated.</a:t>
            </a:r>
          </a:p>
          <a:p>
            <a:pPr algn="just" eaLnBrk="1" hangingPunct="1">
              <a:spcBef>
                <a:spcPct val="0"/>
              </a:spcBef>
              <a:buClrTx/>
              <a:buSzTx/>
              <a:buFontTx/>
              <a:buNone/>
              <a:defRPr/>
            </a:pPr>
            <a:endParaRPr lang="en-US" altLang="en-US" sz="800" dirty="0">
              <a:solidFill>
                <a:srgbClr val="000000"/>
              </a:solidFill>
            </a:endParaRPr>
          </a:p>
          <a:p>
            <a:pPr algn="just" eaLnBrk="1" hangingPunct="1">
              <a:spcBef>
                <a:spcPct val="0"/>
              </a:spcBef>
              <a:spcAft>
                <a:spcPts val="600"/>
              </a:spcAft>
              <a:buClr>
                <a:schemeClr val="tx1"/>
              </a:buClr>
              <a:buSzTx/>
              <a:buFont typeface="Wingdings" pitchFamily="2" charset="2"/>
              <a:buChar char="ü"/>
              <a:defRPr/>
            </a:pPr>
            <a:r>
              <a:rPr lang="en-US" altLang="en-US" sz="1800" dirty="0">
                <a:solidFill>
                  <a:srgbClr val="000000"/>
                </a:solidFill>
              </a:rPr>
              <a:t>First, it is possible that a Type II error has occurred!</a:t>
            </a:r>
          </a:p>
          <a:p>
            <a:pPr algn="just" eaLnBrk="1" hangingPunct="1">
              <a:spcBef>
                <a:spcPct val="0"/>
              </a:spcBef>
              <a:spcAft>
                <a:spcPts val="600"/>
              </a:spcAft>
              <a:buClr>
                <a:schemeClr val="tx1"/>
              </a:buClr>
              <a:buSzTx/>
              <a:buFont typeface="Wingdings" pitchFamily="2" charset="2"/>
              <a:buChar char="ü"/>
              <a:defRPr/>
            </a:pPr>
            <a:r>
              <a:rPr lang="en-US" altLang="en-US" sz="1800" dirty="0">
                <a:solidFill>
                  <a:srgbClr val="000000"/>
                </a:solidFill>
              </a:rPr>
              <a:t>Second, it is possible that </a:t>
            </a:r>
            <a:r>
              <a:rPr lang="en-US" altLang="en-US" sz="1800" i="1" dirty="0">
                <a:solidFill>
                  <a:srgbClr val="000000"/>
                </a:solidFill>
              </a:rPr>
              <a:t>x</a:t>
            </a:r>
            <a:r>
              <a:rPr lang="en-US" altLang="en-US" sz="1800" dirty="0">
                <a:solidFill>
                  <a:srgbClr val="000000"/>
                </a:solidFill>
              </a:rPr>
              <a:t> and </a:t>
            </a:r>
            <a:r>
              <a:rPr lang="en-US" altLang="en-US" sz="1800" i="1" dirty="0">
                <a:solidFill>
                  <a:srgbClr val="000000"/>
                </a:solidFill>
              </a:rPr>
              <a:t>y</a:t>
            </a:r>
            <a:r>
              <a:rPr lang="en-US" altLang="en-US" sz="1800" dirty="0">
                <a:solidFill>
                  <a:srgbClr val="000000"/>
                </a:solidFill>
              </a:rPr>
              <a:t> are related in a nonlinear way that the correlation coefficient </a:t>
            </a:r>
            <a:r>
              <a:rPr lang="en-US" altLang="en-US" sz="1800" i="1" dirty="0">
                <a:solidFill>
                  <a:srgbClr val="000000"/>
                </a:solidFill>
              </a:rPr>
              <a:t>r</a:t>
            </a:r>
            <a:r>
              <a:rPr lang="en-US" altLang="en-US" sz="1800" dirty="0">
                <a:solidFill>
                  <a:srgbClr val="000000"/>
                </a:solidFill>
              </a:rPr>
              <a:t> has no chance of detecting.  </a:t>
            </a:r>
          </a:p>
          <a:p>
            <a:pPr algn="just" eaLnBrk="1" hangingPunct="1">
              <a:spcBef>
                <a:spcPct val="0"/>
              </a:spcBef>
              <a:spcAft>
                <a:spcPts val="600"/>
              </a:spcAft>
              <a:buClr>
                <a:schemeClr val="tx1"/>
              </a:buClr>
              <a:buSzTx/>
              <a:buFont typeface="Wingdings" pitchFamily="2" charset="2"/>
              <a:buChar char="ü"/>
              <a:defRPr/>
            </a:pPr>
            <a:r>
              <a:rPr lang="en-US" altLang="en-US" sz="1800" dirty="0">
                <a:solidFill>
                  <a:srgbClr val="000000"/>
                </a:solidFill>
              </a:rPr>
              <a:t>A good way to investigate the second possibility is to examine a residual plot.</a:t>
            </a:r>
            <a:endParaRPr lang="en-US" altLang="en-US" sz="18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65760"/>
            <a:ext cx="8431967" cy="1691640"/>
          </a:xfrm>
        </p:spPr>
        <p:txBody>
          <a:bodyPr/>
          <a:lstStyle/>
          <a:p>
            <a:r>
              <a:rPr lang="en-US" altLang="en-US" b="1" dirty="0"/>
              <a:t>Chapter 10</a:t>
            </a:r>
            <a:br>
              <a:rPr lang="en-US" altLang="en-US" b="1" dirty="0"/>
            </a:br>
            <a:r>
              <a:rPr lang="en-US" altLang="en-US" b="1" dirty="0"/>
              <a:t>Inference for Regression (Review)</a:t>
            </a:r>
            <a:endParaRPr lang="en-US" b="1" dirty="0"/>
          </a:p>
        </p:txBody>
      </p:sp>
      <p:sp>
        <p:nvSpPr>
          <p:cNvPr id="3" name="Content Placeholder 2"/>
          <p:cNvSpPr>
            <a:spLocks noGrp="1"/>
          </p:cNvSpPr>
          <p:nvPr>
            <p:ph idx="1"/>
          </p:nvPr>
        </p:nvSpPr>
        <p:spPr>
          <a:xfrm>
            <a:off x="457200" y="2597113"/>
            <a:ext cx="6508750" cy="2019857"/>
          </a:xfrm>
        </p:spPr>
        <p:txBody>
          <a:bodyPr/>
          <a:lstStyle/>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10.1 Simple Linear Regression</a:t>
            </a:r>
          </a:p>
          <a:p>
            <a:pPr marL="0" lvl="0" indent="0" eaLnBrk="1" hangingPunct="1">
              <a:spcBef>
                <a:spcPct val="0"/>
              </a:spcBef>
              <a:spcAft>
                <a:spcPts val="1800"/>
              </a:spcAft>
              <a:buClrTx/>
              <a:buSzTx/>
              <a:buNone/>
            </a:pPr>
            <a:r>
              <a:rPr lang="en-US" altLang="en-US" sz="2800" b="1" dirty="0">
                <a:solidFill>
                  <a:srgbClr val="073779"/>
                </a:solidFill>
                <a:latin typeface="Arial" pitchFamily="34" charset="0"/>
                <a:ea typeface="ＭＳ Ｐゴシック" pitchFamily="34" charset="-128"/>
                <a:cs typeface="+mn-cs"/>
              </a:rPr>
              <a:t>10.2 More Detail about Simple Linear Regression</a:t>
            </a:r>
          </a:p>
        </p:txBody>
      </p:sp>
      <p:sp>
        <p:nvSpPr>
          <p:cNvPr id="5734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defRPr sz="2000">
                <a:solidFill>
                  <a:schemeClr val="tx2"/>
                </a:solidFill>
                <a:latin typeface="Arial" pitchFamily="34" charset="0"/>
                <a:ea typeface="ＭＳ Ｐゴシック" pitchFamily="34" charset="-128"/>
              </a:defRPr>
            </a:lvl1pPr>
            <a:lvl2pPr marL="742950" indent="-285750" defTabSz="457200">
              <a:defRPr>
                <a:solidFill>
                  <a:schemeClr val="tx2"/>
                </a:solidFill>
                <a:latin typeface="Arial" pitchFamily="34" charset="0"/>
                <a:ea typeface="ＭＳ Ｐゴシック" pitchFamily="34" charset="-128"/>
              </a:defRPr>
            </a:lvl2pPr>
            <a:lvl3pPr marL="1143000" defTabSz="457200">
              <a:defRPr>
                <a:solidFill>
                  <a:schemeClr val="tx2"/>
                </a:solidFill>
                <a:latin typeface="Arial" pitchFamily="34" charset="0"/>
                <a:ea typeface="ＭＳ Ｐゴシック" pitchFamily="34" charset="-128"/>
              </a:defRPr>
            </a:lvl3pPr>
            <a:lvl4pPr marL="1600200" defTabSz="457200">
              <a:defRPr>
                <a:solidFill>
                  <a:schemeClr val="tx2"/>
                </a:solidFill>
                <a:latin typeface="Arial" pitchFamily="34" charset="0"/>
                <a:ea typeface="ＭＳ Ｐゴシック" pitchFamily="34" charset="-128"/>
              </a:defRPr>
            </a:lvl4pPr>
            <a:lvl5pPr marL="2057400" defTabSz="457200">
              <a:defRPr>
                <a:solidFill>
                  <a:schemeClr val="tx2"/>
                </a:solidFill>
                <a:latin typeface="Arial" pitchFamily="34" charset="0"/>
                <a:ea typeface="ＭＳ Ｐゴシック" pitchFamily="34" charset="-128"/>
              </a:defRPr>
            </a:lvl5pPr>
            <a:lvl6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fld id="{D7349BA9-447E-46D7-9263-640FCDD0971D}" type="slidenum">
              <a:rPr lang="en-US" altLang="en-US" sz="1400">
                <a:solidFill>
                  <a:schemeClr val="accent1"/>
                </a:solidFill>
              </a:rPr>
              <a:pPr/>
              <a:t>32</a:t>
            </a:fld>
            <a:endParaRPr lang="en-US" altLang="en-US" sz="1400">
              <a:solidFill>
                <a:schemeClr val="accent1"/>
              </a:solidFill>
            </a:endParaRPr>
          </a:p>
        </p:txBody>
      </p:sp>
    </p:spTree>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3015</TotalTime>
  <Words>2697</Words>
  <Application>Microsoft Office PowerPoint</Application>
  <PresentationFormat>On-screen Show (4:3)</PresentationFormat>
  <Paragraphs>227</Paragraphs>
  <Slides>32</Slides>
  <Notes>23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5" baseType="lpstr">
      <vt:lpstr>ＭＳ Ｐゴシック</vt:lpstr>
      <vt:lpstr>Arial</vt:lpstr>
      <vt:lpstr>Calibri</vt:lpstr>
      <vt:lpstr>Cambria Math</vt:lpstr>
      <vt:lpstr>Garamond</vt:lpstr>
      <vt:lpstr>Palatino</vt:lpstr>
      <vt:lpstr>Symbol</vt:lpstr>
      <vt:lpstr>Times</vt:lpstr>
      <vt:lpstr>Wingdings</vt:lpstr>
      <vt:lpstr>Wingdings 2</vt:lpstr>
      <vt:lpstr>ヒラギノ角ゴ Pro W3</vt:lpstr>
      <vt:lpstr>Plaza</vt:lpstr>
      <vt:lpstr>Equation</vt:lpstr>
      <vt:lpstr>Chapter 10 Inference for Regression  Lecture Slides</vt:lpstr>
      <vt:lpstr>Chapter 10 Inference for Regression</vt:lpstr>
      <vt:lpstr>10.1 Simple Linear Regression</vt:lpstr>
      <vt:lpstr>Simple Linear Regression Introduction 1</vt:lpstr>
      <vt:lpstr>Simple Linear Regression Introduction 2</vt:lpstr>
      <vt:lpstr>Simple Linear Regression Introduction 3</vt:lpstr>
      <vt:lpstr>Conditions for Regression Inference 1</vt:lpstr>
      <vt:lpstr>Conditions for Regression Inference 2</vt:lpstr>
      <vt:lpstr>Simple Linear Regression Model</vt:lpstr>
      <vt:lpstr>Estimating the Parameters</vt:lpstr>
      <vt:lpstr>Estimating the Parameters—bs</vt:lpstr>
      <vt:lpstr>Estimating the Parameters—s</vt:lpstr>
      <vt:lpstr>Checking the Conditions for Regression Inference</vt:lpstr>
      <vt:lpstr>Confidence Interval for Regression Slope</vt:lpstr>
      <vt:lpstr>Significance Test for Regression Slope</vt:lpstr>
      <vt:lpstr>Testing the Hypothesis of No Relationship</vt:lpstr>
      <vt:lpstr>Simple Linear Regression Example 1</vt:lpstr>
      <vt:lpstr>Simple Linear Regression Example 2</vt:lpstr>
      <vt:lpstr>Simple Linear Regression Example 3</vt:lpstr>
      <vt:lpstr>Confidence Interval for Mean Response</vt:lpstr>
      <vt:lpstr>Prediction Intervals 1</vt:lpstr>
      <vt:lpstr>Prediction Intervals 2</vt:lpstr>
      <vt:lpstr>10.2 More Detail about Simple Linear Regression</vt:lpstr>
      <vt:lpstr>Analysis of Variance for Regression</vt:lpstr>
      <vt:lpstr>The ANOVA F Test</vt:lpstr>
      <vt:lpstr>The ANOVA Table</vt:lpstr>
      <vt:lpstr>Calculations for Regression Inference 1</vt:lpstr>
      <vt:lpstr>Calculations for Regression Inference 2</vt:lpstr>
      <vt:lpstr>Inference for Correlation 1</vt:lpstr>
      <vt:lpstr>Inference for Correlation 2</vt:lpstr>
      <vt:lpstr>Inference for Correlation 3</vt:lpstr>
      <vt:lpstr>Chapter 10 Inference for Regression (Review)</vt:lpstr>
    </vt:vector>
  </TitlesOfParts>
  <Company>ISD 194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Inference for Regression</dc:title>
  <dc:creator>Jason Molesky</dc:creator>
  <cp:lastModifiedBy>Newton, Andy</cp:lastModifiedBy>
  <cp:revision>401</cp:revision>
  <dcterms:created xsi:type="dcterms:W3CDTF">2012-01-28T15:39:09Z</dcterms:created>
  <dcterms:modified xsi:type="dcterms:W3CDTF">2021-02-10T20:53:32Z</dcterms:modified>
</cp:coreProperties>
</file>