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4"/>
  </p:notesMasterIdLst>
  <p:handoutMasterIdLst>
    <p:handoutMasterId r:id="rId35"/>
  </p:handoutMasterIdLst>
  <p:sldIdLst>
    <p:sldId id="333" r:id="rId2"/>
    <p:sldId id="314" r:id="rId3"/>
    <p:sldId id="341" r:id="rId4"/>
    <p:sldId id="342" r:id="rId5"/>
    <p:sldId id="354" r:id="rId6"/>
    <p:sldId id="355" r:id="rId7"/>
    <p:sldId id="345" r:id="rId8"/>
    <p:sldId id="346" r:id="rId9"/>
    <p:sldId id="347" r:id="rId10"/>
    <p:sldId id="348" r:id="rId11"/>
    <p:sldId id="258" r:id="rId12"/>
    <p:sldId id="326" r:id="rId13"/>
    <p:sldId id="349" r:id="rId14"/>
    <p:sldId id="356" r:id="rId15"/>
    <p:sldId id="323" r:id="rId16"/>
    <p:sldId id="325" r:id="rId17"/>
    <p:sldId id="327" r:id="rId18"/>
    <p:sldId id="328" r:id="rId19"/>
    <p:sldId id="329" r:id="rId20"/>
    <p:sldId id="330" r:id="rId21"/>
    <p:sldId id="352" r:id="rId22"/>
    <p:sldId id="357" r:id="rId23"/>
    <p:sldId id="335" r:id="rId24"/>
    <p:sldId id="336" r:id="rId25"/>
    <p:sldId id="358" r:id="rId26"/>
    <p:sldId id="359" r:id="rId27"/>
    <p:sldId id="332" r:id="rId28"/>
    <p:sldId id="360" r:id="rId29"/>
    <p:sldId id="334" r:id="rId30"/>
    <p:sldId id="351" r:id="rId31"/>
    <p:sldId id="350" r:id="rId32"/>
    <p:sldId id="316" r:id="rId33"/>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D" initials="JD" lastIdx="2" clrIdx="0"/>
  <p:cmAuthor id="1" name="Newton, Andy" initials="NA" lastIdx="4" clrIdx="1">
    <p:extLst>
      <p:ext uri="{19B8F6BF-5375-455C-9EA6-DF929625EA0E}">
        <p15:presenceInfo xmlns:p15="http://schemas.microsoft.com/office/powerpoint/2012/main" userId="S-1-5-21-4250845945-3731851581-3800177176-49714" providerId="AD"/>
      </p:ext>
    </p:extLst>
  </p:cmAuthor>
  <p:cmAuthor id="2" name="Connie" initials="C" lastIdx="6" clrIdx="2">
    <p:extLst>
      <p:ext uri="{19B8F6BF-5375-455C-9EA6-DF929625EA0E}">
        <p15:presenceInfo xmlns:p15="http://schemas.microsoft.com/office/powerpoint/2012/main" userId="9ff5298ed15b6415" providerId="Windows Live"/>
      </p:ext>
    </p:extLst>
  </p:cmAuthor>
  <p:cmAuthor id="3" name="McKibben, Mark" initials="MM" lastIdx="3" clrIdx="3">
    <p:extLst>
      <p:ext uri="{19B8F6BF-5375-455C-9EA6-DF929625EA0E}">
        <p15:presenceInfo xmlns:p15="http://schemas.microsoft.com/office/powerpoint/2012/main" userId="S::MMCKIBBEN@wcupa.edu::7757feae-4db0-4e12-a310-74b038de7b8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780"/>
    <a:srgbClr val="8590B1"/>
    <a:srgbClr val="EEEFD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1"/>
    <p:restoredTop sz="94629" autoAdjust="0"/>
  </p:normalViewPr>
  <p:slideViewPr>
    <p:cSldViewPr snapToGrid="0" snapToObjects="1">
      <p:cViewPr varScale="1">
        <p:scale>
          <a:sx n="66" d="100"/>
          <a:sy n="66" d="100"/>
        </p:scale>
        <p:origin x="1280"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4"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 Id="rId4" Type="http://schemas.openxmlformats.org/officeDocument/2006/relationships/image" Target="../media/image26.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46E0F4E5-4978-479E-84D1-ECCA9DDDC613}" type="datetime1">
              <a:rPr lang="en-US" altLang="en-US"/>
              <a:pPr>
                <a:defRPr/>
              </a:pPr>
              <a:t>12/8/2020</a:t>
            </a:fld>
            <a:endParaRPr lang="en-US"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defRPr>
            </a:lvl1pPr>
          </a:lstStyle>
          <a:p>
            <a:fld id="{E9A0D05A-5D59-425F-8D40-D3AA8F5E0A82}" type="slidenum">
              <a:rPr lang="en-US" altLang="en-US"/>
              <a:pPr/>
              <a:t>‹#›</a:t>
            </a:fld>
            <a:endParaRPr lang="en-US" altLang="en-US"/>
          </a:p>
        </p:txBody>
      </p:sp>
    </p:spTree>
    <p:extLst>
      <p:ext uri="{BB962C8B-B14F-4D97-AF65-F5344CB8AC3E}">
        <p14:creationId xmlns:p14="http://schemas.microsoft.com/office/powerpoint/2010/main" val="423774362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FC10D092-A99F-4781-A72F-5B8991639290}" type="datetime1">
              <a:rPr lang="en-US" altLang="en-US"/>
              <a:pPr>
                <a:defRPr/>
              </a:pPr>
              <a:t>12/8/2020</a:t>
            </a:fld>
            <a:endParaRPr lang="en-US"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defRPr>
            </a:lvl1pPr>
          </a:lstStyle>
          <a:p>
            <a:fld id="{EF47AEF1-8253-4223-8ECC-BACABB55BFEE}" type="slidenum">
              <a:rPr lang="en-US" altLang="en-US"/>
              <a:pPr/>
              <a:t>‹#›</a:t>
            </a:fld>
            <a:endParaRPr lang="en-US" altLang="en-US"/>
          </a:p>
        </p:txBody>
      </p:sp>
    </p:spTree>
    <p:extLst>
      <p:ext uri="{BB962C8B-B14F-4D97-AF65-F5344CB8AC3E}">
        <p14:creationId xmlns:p14="http://schemas.microsoft.com/office/powerpoint/2010/main" val="2873935315"/>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ＭＳ Ｐゴシック" pitchFamily="-1"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ヒラギノ角ゴ Pro W3" pitchFamily="-105" charset="-128"/>
            </a:endParaRPr>
          </a:p>
        </p:txBody>
      </p:sp>
    </p:spTree>
    <p:extLst>
      <p:ext uri="{BB962C8B-B14F-4D97-AF65-F5344CB8AC3E}">
        <p14:creationId xmlns:p14="http://schemas.microsoft.com/office/powerpoint/2010/main" val="3707563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itchFamily="34" charset="0"/>
              <a:ea typeface="ＭＳ Ｐゴシック" pitchFamily="34" charset="-128"/>
            </a:endParaRPr>
          </a:p>
        </p:txBody>
      </p:sp>
    </p:spTree>
    <p:extLst>
      <p:ext uri="{BB962C8B-B14F-4D97-AF65-F5344CB8AC3E}">
        <p14:creationId xmlns:p14="http://schemas.microsoft.com/office/powerpoint/2010/main" val="11188207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itchFamily="34" charset="0"/>
              <a:ea typeface="ＭＳ Ｐゴシック" pitchFamily="34" charset="-128"/>
            </a:endParaRPr>
          </a:p>
        </p:txBody>
      </p:sp>
    </p:spTree>
    <p:extLst>
      <p:ext uri="{BB962C8B-B14F-4D97-AF65-F5344CB8AC3E}">
        <p14:creationId xmlns:p14="http://schemas.microsoft.com/office/powerpoint/2010/main" val="3851537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itchFamily="34" charset="0"/>
              <a:ea typeface="ＭＳ Ｐゴシック" pitchFamily="34" charset="-128"/>
            </a:endParaRPr>
          </a:p>
        </p:txBody>
      </p:sp>
    </p:spTree>
    <p:extLst>
      <p:ext uri="{BB962C8B-B14F-4D97-AF65-F5344CB8AC3E}">
        <p14:creationId xmlns:p14="http://schemas.microsoft.com/office/powerpoint/2010/main" val="100650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
        <p:nvSpPr>
          <p:cNvPr id="512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ＭＳ Ｐゴシック" pitchFamily="34" charset="-128"/>
              </a:defRPr>
            </a:lvl1pPr>
            <a:lvl2pPr marL="742950" indent="-285750">
              <a:defRPr sz="1200">
                <a:solidFill>
                  <a:schemeClr val="tx1"/>
                </a:solidFill>
                <a:latin typeface="Calibri" pitchFamily="34" charset="0"/>
                <a:ea typeface="ＭＳ Ｐゴシック" pitchFamily="34" charset="-128"/>
              </a:defRPr>
            </a:lvl2pPr>
            <a:lvl3pPr marL="1143000" indent="-228600">
              <a:defRPr sz="1200">
                <a:solidFill>
                  <a:schemeClr val="tx1"/>
                </a:solidFill>
                <a:latin typeface="Calibri" pitchFamily="34" charset="0"/>
                <a:ea typeface="ＭＳ Ｐゴシック" pitchFamily="34" charset="-128"/>
              </a:defRPr>
            </a:lvl3pPr>
            <a:lvl4pPr marL="1600200" indent="-228600">
              <a:defRPr sz="1200">
                <a:solidFill>
                  <a:schemeClr val="tx1"/>
                </a:solidFill>
                <a:latin typeface="Calibri" pitchFamily="34" charset="0"/>
                <a:ea typeface="ＭＳ Ｐゴシック" pitchFamily="34" charset="-128"/>
              </a:defRPr>
            </a:lvl4pPr>
            <a:lvl5pPr marL="2057400" indent="-228600">
              <a:defRPr sz="12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9pPr>
          </a:lstStyle>
          <a:p>
            <a:fld id="{CD68FA47-82AE-4B9A-930A-A852F53126AE}" type="slidenum">
              <a:rPr lang="en-US" altLang="en-US"/>
              <a:pPr/>
              <a:t>21</a:t>
            </a:fld>
            <a:endParaRPr lang="en-US" altLang="en-US"/>
          </a:p>
        </p:txBody>
      </p:sp>
    </p:spTree>
    <p:extLst>
      <p:ext uri="{BB962C8B-B14F-4D97-AF65-F5344CB8AC3E}">
        <p14:creationId xmlns:p14="http://schemas.microsoft.com/office/powerpoint/2010/main" val="493180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
        <p:nvSpPr>
          <p:cNvPr id="532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ＭＳ Ｐゴシック" pitchFamily="34" charset="-128"/>
              </a:defRPr>
            </a:lvl1pPr>
            <a:lvl2pPr marL="742950" indent="-285750">
              <a:defRPr sz="1200">
                <a:solidFill>
                  <a:schemeClr val="tx1"/>
                </a:solidFill>
                <a:latin typeface="Calibri" pitchFamily="34" charset="0"/>
                <a:ea typeface="ＭＳ Ｐゴシック" pitchFamily="34" charset="-128"/>
              </a:defRPr>
            </a:lvl2pPr>
            <a:lvl3pPr marL="1143000" indent="-228600">
              <a:defRPr sz="1200">
                <a:solidFill>
                  <a:schemeClr val="tx1"/>
                </a:solidFill>
                <a:latin typeface="Calibri" pitchFamily="34" charset="0"/>
                <a:ea typeface="ＭＳ Ｐゴシック" pitchFamily="34" charset="-128"/>
              </a:defRPr>
            </a:lvl3pPr>
            <a:lvl4pPr marL="1600200" indent="-228600">
              <a:defRPr sz="1200">
                <a:solidFill>
                  <a:schemeClr val="tx1"/>
                </a:solidFill>
                <a:latin typeface="Calibri" pitchFamily="34" charset="0"/>
                <a:ea typeface="ＭＳ Ｐゴシック" pitchFamily="34" charset="-128"/>
              </a:defRPr>
            </a:lvl4pPr>
            <a:lvl5pPr marL="2057400" indent="-228600">
              <a:defRPr sz="12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9pPr>
          </a:lstStyle>
          <a:p>
            <a:fld id="{10A94776-C6E5-45A9-A358-EEA998690C31}" type="slidenum">
              <a:rPr lang="en-US" altLang="en-US"/>
              <a:pPr/>
              <a:t>22</a:t>
            </a:fld>
            <a:endParaRPr lang="en-US" altLang="en-US"/>
          </a:p>
        </p:txBody>
      </p:sp>
    </p:spTree>
    <p:extLst>
      <p:ext uri="{BB962C8B-B14F-4D97-AF65-F5344CB8AC3E}">
        <p14:creationId xmlns:p14="http://schemas.microsoft.com/office/powerpoint/2010/main" val="13546605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
        <p:nvSpPr>
          <p:cNvPr id="593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ＭＳ Ｐゴシック" pitchFamily="34" charset="-128"/>
              </a:defRPr>
            </a:lvl1pPr>
            <a:lvl2pPr marL="742950" indent="-285750">
              <a:defRPr sz="1200">
                <a:solidFill>
                  <a:schemeClr val="tx1"/>
                </a:solidFill>
                <a:latin typeface="Calibri" pitchFamily="34" charset="0"/>
                <a:ea typeface="ＭＳ Ｐゴシック" pitchFamily="34" charset="-128"/>
              </a:defRPr>
            </a:lvl2pPr>
            <a:lvl3pPr marL="1143000" indent="-228600">
              <a:defRPr sz="1200">
                <a:solidFill>
                  <a:schemeClr val="tx1"/>
                </a:solidFill>
                <a:latin typeface="Calibri" pitchFamily="34" charset="0"/>
                <a:ea typeface="ＭＳ Ｐゴシック" pitchFamily="34" charset="-128"/>
              </a:defRPr>
            </a:lvl3pPr>
            <a:lvl4pPr marL="1600200" indent="-228600">
              <a:defRPr sz="1200">
                <a:solidFill>
                  <a:schemeClr val="tx1"/>
                </a:solidFill>
                <a:latin typeface="Calibri" pitchFamily="34" charset="0"/>
                <a:ea typeface="ＭＳ Ｐゴシック" pitchFamily="34" charset="-128"/>
              </a:defRPr>
            </a:lvl4pPr>
            <a:lvl5pPr marL="2057400" indent="-228600">
              <a:defRPr sz="12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9pPr>
          </a:lstStyle>
          <a:p>
            <a:fld id="{5D29F531-0E51-42D8-91C8-F21D83D69A9E}" type="slidenum">
              <a:rPr lang="en-US" altLang="en-US"/>
              <a:pPr/>
              <a:t>27</a:t>
            </a:fld>
            <a:endParaRPr lang="en-US" altLang="en-US"/>
          </a:p>
        </p:txBody>
      </p:sp>
    </p:spTree>
    <p:extLst>
      <p:ext uri="{BB962C8B-B14F-4D97-AF65-F5344CB8AC3E}">
        <p14:creationId xmlns:p14="http://schemas.microsoft.com/office/powerpoint/2010/main" val="3840435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457200" y="4114800"/>
            <a:ext cx="6508750" cy="1143000"/>
          </a:xfrm>
          <a:noFill/>
        </p:spPr>
        <p:txBody>
          <a:bodyPr/>
          <a:lstStyle/>
          <a:p>
            <a:r>
              <a:rPr lang="en-US"/>
              <a:t>Click to edit Master title style</a:t>
            </a:r>
          </a:p>
        </p:txBody>
      </p:sp>
    </p:spTree>
    <p:extLst>
      <p:ext uri="{BB962C8B-B14F-4D97-AF65-F5344CB8AC3E}">
        <p14:creationId xmlns:p14="http://schemas.microsoft.com/office/powerpoint/2010/main" val="680353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3E80EEF4-02DE-49A0-8B3A-2534C08D3F7C}" type="slidenum">
              <a:rPr lang="en-US" altLang="en-US"/>
              <a:pPr/>
              <a:t>‹#›</a:t>
            </a:fld>
            <a:endParaRPr lang="en-US" altLang="en-US"/>
          </a:p>
        </p:txBody>
      </p:sp>
    </p:spTree>
    <p:extLst>
      <p:ext uri="{BB962C8B-B14F-4D97-AF65-F5344CB8AC3E}">
        <p14:creationId xmlns:p14="http://schemas.microsoft.com/office/powerpoint/2010/main" val="856318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4"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1125948F-E023-489E-BCA9-75B1BD55CF40}" type="slidenum">
              <a:rPr lang="en-US" altLang="en-US"/>
              <a:pPr/>
              <a:t>‹#›</a:t>
            </a:fld>
            <a:endParaRPr lang="en-US" altLang="en-US"/>
          </a:p>
        </p:txBody>
      </p:sp>
    </p:spTree>
    <p:extLst>
      <p:ext uri="{BB962C8B-B14F-4D97-AF65-F5344CB8AC3E}">
        <p14:creationId xmlns:p14="http://schemas.microsoft.com/office/powerpoint/2010/main" val="4116181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2178423" y="914400"/>
            <a:ext cx="6508377" cy="1143000"/>
          </a:xfrm>
        </p:spPr>
        <p:txBody>
          <a:bodyPr/>
          <a:lstStyle/>
          <a:p>
            <a:r>
              <a:rPr lang="en-US"/>
              <a:t>Click to edit Master title style</a:t>
            </a:r>
            <a:endParaRPr/>
          </a:p>
        </p:txBody>
      </p:sp>
      <p:sp>
        <p:nvSpPr>
          <p:cNvPr id="3" name="Content Placeholder 2"/>
          <p:cNvSpPr>
            <a:spLocks noGrp="1"/>
          </p:cNvSpPr>
          <p:nvPr>
            <p:ph idx="1"/>
          </p:nvPr>
        </p:nvSpPr>
        <p:spPr>
          <a:xfrm>
            <a:off x="2178423" y="2209800"/>
            <a:ext cx="6508377" cy="391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Picture Placeholder 8"/>
          <p:cNvSpPr>
            <a:spLocks noGrp="1"/>
          </p:cNvSpPr>
          <p:nvPr>
            <p:ph type="pic" sz="quarter" idx="13"/>
          </p:nvPr>
        </p:nvSpPr>
        <p:spPr>
          <a:xfrm>
            <a:off x="269875" y="1976718"/>
            <a:ext cx="1645920" cy="4625788"/>
          </a:xfrm>
        </p:spPr>
        <p:txBody>
          <a:bodyPr rtlCol="0">
            <a:normAutofit/>
          </a:bodyPr>
          <a:lstStyle>
            <a:lvl1pPr>
              <a:buNone/>
              <a:defRPr/>
            </a:lvl1pPr>
          </a:lstStyle>
          <a:p>
            <a:pPr lvl="0"/>
            <a:r>
              <a:rPr lang="en-US" noProof="0"/>
              <a:t>Click icon to add picture</a:t>
            </a:r>
            <a:endParaRPr noProof="0"/>
          </a:p>
        </p:txBody>
      </p:sp>
      <p:sp>
        <p:nvSpPr>
          <p:cNvPr id="7" name="Slide Number Placeholder 5"/>
          <p:cNvSpPr>
            <a:spLocks noGrp="1"/>
          </p:cNvSpPr>
          <p:nvPr>
            <p:ph type="sldNum" sz="quarter" idx="14"/>
          </p:nvPr>
        </p:nvSpPr>
        <p:spPr>
          <a:xfrm>
            <a:off x="8509000" y="6356350"/>
            <a:ext cx="508000" cy="365125"/>
          </a:xfrm>
        </p:spPr>
        <p:txBody>
          <a:bodyPr/>
          <a:lstStyle>
            <a:lvl1pPr>
              <a:defRPr sz="1400">
                <a:solidFill>
                  <a:schemeClr val="accent1"/>
                </a:solidFill>
              </a:defRPr>
            </a:lvl1pPr>
          </a:lstStyle>
          <a:p>
            <a:fld id="{EC840DFC-1DDA-42E1-8630-AE6ED712E09E}" type="slidenum">
              <a:rPr lang="en-US" altLang="en-US"/>
              <a:pPr/>
              <a:t>‹#›</a:t>
            </a:fld>
            <a:endParaRPr lang="en-US" altLang="en-US"/>
          </a:p>
        </p:txBody>
      </p:sp>
    </p:spTree>
    <p:extLst>
      <p:ext uri="{BB962C8B-B14F-4D97-AF65-F5344CB8AC3E}">
        <p14:creationId xmlns:p14="http://schemas.microsoft.com/office/powerpoint/2010/main" val="1379041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09801" y="3429000"/>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2209801"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0"/>
          </p:nvPr>
        </p:nvSpPr>
        <p:spPr/>
        <p:txBody>
          <a:bodyPr/>
          <a:lstStyle>
            <a:lvl1pPr>
              <a:defRPr sz="1400"/>
            </a:lvl1pPr>
          </a:lstStyle>
          <a:p>
            <a:fld id="{1A4AA850-2F1B-464F-B31B-1D4098E20E25}" type="slidenum">
              <a:rPr lang="en-US" altLang="en-US"/>
              <a:pPr/>
              <a:t>‹#›</a:t>
            </a:fld>
            <a:endParaRPr lang="en-US" altLang="en-US"/>
          </a:p>
        </p:txBody>
      </p:sp>
    </p:spTree>
    <p:extLst>
      <p:ext uri="{BB962C8B-B14F-4D97-AF65-F5344CB8AC3E}">
        <p14:creationId xmlns:p14="http://schemas.microsoft.com/office/powerpoint/2010/main" val="1629164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2" name="Title 1"/>
          <p:cNvSpPr>
            <a:spLocks noGrp="1"/>
          </p:cNvSpPr>
          <p:nvPr>
            <p:ph type="title"/>
          </p:nvPr>
        </p:nvSpPr>
        <p:spPr>
          <a:xfrm>
            <a:off x="3720354" y="3429001"/>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3720354"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Picture Placeholder 8"/>
          <p:cNvSpPr>
            <a:spLocks noGrp="1"/>
          </p:cNvSpPr>
          <p:nvPr>
            <p:ph type="pic" sz="quarter" idx="13"/>
          </p:nvPr>
        </p:nvSpPr>
        <p:spPr>
          <a:xfrm>
            <a:off x="269874" y="268288"/>
            <a:ext cx="2971800" cy="4438650"/>
          </a:xfrm>
        </p:spPr>
        <p:txBody>
          <a:bodyPr rtlCol="0">
            <a:normAutofit/>
          </a:bodyPr>
          <a:lstStyle>
            <a:lvl1pPr>
              <a:buNone/>
              <a:defRPr/>
            </a:lvl1pPr>
          </a:lstStyle>
          <a:p>
            <a:pPr lvl="0"/>
            <a:r>
              <a:rPr lang="en-US" noProof="0"/>
              <a:t>Click icon to add picture</a:t>
            </a:r>
            <a:endParaRPr noProof="0"/>
          </a:p>
        </p:txBody>
      </p:sp>
      <p:sp>
        <p:nvSpPr>
          <p:cNvPr id="6" name="Slide Number Placeholder 5"/>
          <p:cNvSpPr>
            <a:spLocks noGrp="1"/>
          </p:cNvSpPr>
          <p:nvPr>
            <p:ph type="sldNum" sz="quarter" idx="14"/>
          </p:nvPr>
        </p:nvSpPr>
        <p:spPr>
          <a:xfrm>
            <a:off x="350838" y="6105525"/>
            <a:ext cx="506412" cy="365125"/>
          </a:xfrm>
        </p:spPr>
        <p:txBody>
          <a:bodyPr/>
          <a:lstStyle>
            <a:lvl1pPr>
              <a:defRPr/>
            </a:lvl1pPr>
          </a:lstStyle>
          <a:p>
            <a:fld id="{D0D49BFA-5636-4FEC-A2EA-7C6C9063CDD0}" type="slidenum">
              <a:rPr lang="en-US" altLang="en-US"/>
              <a:pPr/>
              <a:t>‹#›</a:t>
            </a:fld>
            <a:endParaRPr lang="en-US" altLang="en-US"/>
          </a:p>
        </p:txBody>
      </p:sp>
    </p:spTree>
    <p:extLst>
      <p:ext uri="{BB962C8B-B14F-4D97-AF65-F5344CB8AC3E}">
        <p14:creationId xmlns:p14="http://schemas.microsoft.com/office/powerpoint/2010/main" val="2960589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28244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7A59AE87-D550-42E6-A03B-5F0721CF3CCB}" type="slidenum">
              <a:rPr lang="en-US" altLang="en-US"/>
              <a:pPr/>
              <a:t>‹#›</a:t>
            </a:fld>
            <a:endParaRPr lang="en-US" altLang="en-US"/>
          </a:p>
        </p:txBody>
      </p:sp>
    </p:spTree>
    <p:extLst>
      <p:ext uri="{BB962C8B-B14F-4D97-AF65-F5344CB8AC3E}">
        <p14:creationId xmlns:p14="http://schemas.microsoft.com/office/powerpoint/2010/main" val="1869711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88352"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57200"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279391"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79391"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6"/>
          <p:cNvSpPr>
            <a:spLocks noGrp="1"/>
          </p:cNvSpPr>
          <p:nvPr>
            <p:ph type="dt" sz="half" idx="10"/>
          </p:nvPr>
        </p:nvSpPr>
        <p:spPr/>
        <p:txBody>
          <a:bodyPr/>
          <a:lstStyle>
            <a:lvl1pPr>
              <a:defRPr/>
            </a:lvl1pPr>
          </a:lstStyle>
          <a:p>
            <a:pPr>
              <a:defRPr/>
            </a:pPr>
            <a:endParaRPr lang="en-US"/>
          </a:p>
        </p:txBody>
      </p:sp>
      <p:sp>
        <p:nvSpPr>
          <p:cNvPr id="9" name="Footer Placeholder 7"/>
          <p:cNvSpPr>
            <a:spLocks noGrp="1"/>
          </p:cNvSpPr>
          <p:nvPr>
            <p:ph type="ftr" sz="quarter" idx="11"/>
          </p:nvPr>
        </p:nvSpPr>
        <p:spPr/>
        <p:txBody>
          <a:bodyPr/>
          <a:lstStyle>
            <a:lvl1pPr>
              <a:defRPr/>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fld id="{5C9C5D6B-99A9-47D7-9FF6-6E61F460A20E}" type="slidenum">
              <a:rPr lang="en-US" altLang="en-US"/>
              <a:pPr/>
              <a:t>‹#›</a:t>
            </a:fld>
            <a:endParaRPr lang="en-US" altLang="en-US"/>
          </a:p>
        </p:txBody>
      </p:sp>
    </p:spTree>
    <p:extLst>
      <p:ext uri="{BB962C8B-B14F-4D97-AF65-F5344CB8AC3E}">
        <p14:creationId xmlns:p14="http://schemas.microsoft.com/office/powerpoint/2010/main" val="282707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199" y="2214562"/>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57199" y="4224973"/>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4"/>
          </p:nvPr>
        </p:nvSpPr>
        <p:spPr/>
        <p:txBody>
          <a:bodyPr/>
          <a:lstStyle>
            <a:lvl1pPr>
              <a:defRPr/>
            </a:lvl1pPr>
          </a:lstStyle>
          <a:p>
            <a:pPr>
              <a:defRPr/>
            </a:pPr>
            <a:endParaRPr lang="en-US"/>
          </a:p>
        </p:txBody>
      </p:sp>
      <p:sp>
        <p:nvSpPr>
          <p:cNvPr id="7" name="Footer Placeholder 5"/>
          <p:cNvSpPr>
            <a:spLocks noGrp="1"/>
          </p:cNvSpPr>
          <p:nvPr>
            <p:ph type="ftr" sz="quarter" idx="15"/>
          </p:nvPr>
        </p:nvSpPr>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80704157-BAF9-45C8-B081-268553E084F9}" type="slidenum">
              <a:rPr lang="en-US" altLang="en-US"/>
              <a:pPr/>
              <a:t>‹#›</a:t>
            </a:fld>
            <a:endParaRPr lang="en-US" altLang="en-US"/>
          </a:p>
        </p:txBody>
      </p:sp>
    </p:spTree>
    <p:extLst>
      <p:ext uri="{BB962C8B-B14F-4D97-AF65-F5344CB8AC3E}">
        <p14:creationId xmlns:p14="http://schemas.microsoft.com/office/powerpoint/2010/main" val="1799564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4"/>
          <p:cNvSpPr>
            <a:spLocks noGrp="1"/>
          </p:cNvSpPr>
          <p:nvPr>
            <p:ph type="dt" sz="half" idx="15"/>
          </p:nvPr>
        </p:nvSpPr>
        <p:spPr/>
        <p:txBody>
          <a:bodyPr/>
          <a:lstStyle>
            <a:lvl1pPr>
              <a:defRPr/>
            </a:lvl1pPr>
          </a:lstStyle>
          <a:p>
            <a:pPr>
              <a:defRPr/>
            </a:pPr>
            <a:endParaRPr lang="en-US"/>
          </a:p>
        </p:txBody>
      </p:sp>
      <p:sp>
        <p:nvSpPr>
          <p:cNvPr id="8" name="Footer Placeholder 5"/>
          <p:cNvSpPr>
            <a:spLocks noGrp="1"/>
          </p:cNvSpPr>
          <p:nvPr>
            <p:ph type="ftr" sz="quarter" idx="16"/>
          </p:nvPr>
        </p:nvSpPr>
        <p:spPr/>
        <p:txBody>
          <a:bodyPr/>
          <a:lstStyle>
            <a:lvl1pPr>
              <a:defRPr/>
            </a:lvl1pPr>
          </a:lstStyle>
          <a:p>
            <a:pPr>
              <a:defRPr/>
            </a:pPr>
            <a:endParaRPr lang="en-US"/>
          </a:p>
        </p:txBody>
      </p:sp>
      <p:sp>
        <p:nvSpPr>
          <p:cNvPr id="11" name="Slide Number Placeholder 6"/>
          <p:cNvSpPr>
            <a:spLocks noGrp="1"/>
          </p:cNvSpPr>
          <p:nvPr>
            <p:ph type="sldNum" sz="quarter" idx="17"/>
          </p:nvPr>
        </p:nvSpPr>
        <p:spPr/>
        <p:txBody>
          <a:bodyPr/>
          <a:lstStyle>
            <a:lvl1pPr>
              <a:defRPr/>
            </a:lvl1pPr>
          </a:lstStyle>
          <a:p>
            <a:fld id="{80A70EC3-505F-46BB-9362-10AF36A97582}" type="slidenum">
              <a:rPr lang="en-US" altLang="en-US"/>
              <a:pPr/>
              <a:t>‹#›</a:t>
            </a:fld>
            <a:endParaRPr lang="en-US" altLang="en-US"/>
          </a:p>
        </p:txBody>
      </p:sp>
    </p:spTree>
    <p:extLst>
      <p:ext uri="{BB962C8B-B14F-4D97-AF65-F5344CB8AC3E}">
        <p14:creationId xmlns:p14="http://schemas.microsoft.com/office/powerpoint/2010/main" val="1379504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4"/>
          </p:nvPr>
        </p:nvSpPr>
        <p:spPr>
          <a:xfrm>
            <a:off x="45720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 name="Content Placeholder 2"/>
          <p:cNvSpPr>
            <a:spLocks noGrp="1"/>
          </p:cNvSpPr>
          <p:nvPr>
            <p:ph sz="half" idx="15"/>
          </p:nvPr>
        </p:nvSpPr>
        <p:spPr>
          <a:xfrm>
            <a:off x="45720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p:cNvSpPr>
            <a:spLocks noGrp="1"/>
          </p:cNvSpPr>
          <p:nvPr>
            <p:ph type="dt" sz="half" idx="16"/>
          </p:nvPr>
        </p:nvSpPr>
        <p:spPr/>
        <p:txBody>
          <a:bodyPr/>
          <a:lstStyle>
            <a:lvl1pPr>
              <a:defRPr/>
            </a:lvl1pPr>
          </a:lstStyle>
          <a:p>
            <a:pPr>
              <a:defRPr/>
            </a:pPr>
            <a:endParaRPr lang="en-US"/>
          </a:p>
        </p:txBody>
      </p:sp>
      <p:sp>
        <p:nvSpPr>
          <p:cNvPr id="10" name="Footer Placeholder 5"/>
          <p:cNvSpPr>
            <a:spLocks noGrp="1"/>
          </p:cNvSpPr>
          <p:nvPr>
            <p:ph type="ftr" sz="quarter" idx="17"/>
          </p:nvPr>
        </p:nvSpPr>
        <p:spPr/>
        <p:txBody>
          <a:bodyPr/>
          <a:lstStyle>
            <a:lvl1pPr>
              <a:defRPr/>
            </a:lvl1pPr>
          </a:lstStyle>
          <a:p>
            <a:pPr>
              <a:defRPr/>
            </a:pPr>
            <a:endParaRPr lang="en-US"/>
          </a:p>
        </p:txBody>
      </p:sp>
      <p:sp>
        <p:nvSpPr>
          <p:cNvPr id="13" name="Slide Number Placeholder 6"/>
          <p:cNvSpPr>
            <a:spLocks noGrp="1"/>
          </p:cNvSpPr>
          <p:nvPr>
            <p:ph type="sldNum" sz="quarter" idx="18"/>
          </p:nvPr>
        </p:nvSpPr>
        <p:spPr/>
        <p:txBody>
          <a:bodyPr/>
          <a:lstStyle>
            <a:lvl1pPr>
              <a:defRPr/>
            </a:lvl1pPr>
          </a:lstStyle>
          <a:p>
            <a:fld id="{D56D1663-28DB-4319-AE79-69E37C27E76D}" type="slidenum">
              <a:rPr lang="en-US" altLang="en-US"/>
              <a:pPr/>
              <a:t>‹#›</a:t>
            </a:fld>
            <a:endParaRPr lang="en-US" altLang="en-US"/>
          </a:p>
        </p:txBody>
      </p:sp>
    </p:spTree>
    <p:extLst>
      <p:ext uri="{BB962C8B-B14F-4D97-AF65-F5344CB8AC3E}">
        <p14:creationId xmlns:p14="http://schemas.microsoft.com/office/powerpoint/2010/main" val="11402798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74625" y="153988"/>
            <a:ext cx="7772400" cy="777240"/>
          </a:xfrm>
        </p:spPr>
        <p:txBody>
          <a:bodyPr/>
          <a:lstStyle/>
          <a:p>
            <a:r>
              <a:rPr lang="en-US"/>
              <a:t>Click to edit Master title style</a:t>
            </a:r>
            <a:endParaRPr/>
          </a:p>
        </p:txBody>
      </p:sp>
      <p:sp>
        <p:nvSpPr>
          <p:cNvPr id="6" name="Slide Number Placeholder 4"/>
          <p:cNvSpPr>
            <a:spLocks noGrp="1"/>
          </p:cNvSpPr>
          <p:nvPr>
            <p:ph type="sldNum" sz="quarter" idx="12"/>
          </p:nvPr>
        </p:nvSpPr>
        <p:spPr/>
        <p:txBody>
          <a:bodyPr/>
          <a:lstStyle>
            <a:lvl1pPr>
              <a:defRPr sz="1400">
                <a:solidFill>
                  <a:schemeClr val="accent1"/>
                </a:solidFill>
              </a:defRPr>
            </a:lvl1pPr>
          </a:lstStyle>
          <a:p>
            <a:fld id="{D63CA138-C73F-47C6-9043-098459993F01}" type="slidenum">
              <a:rPr lang="en-US" altLang="en-US" smtClean="0"/>
              <a:pPr/>
              <a:t>‹#›</a:t>
            </a:fld>
            <a:endParaRPr lang="en-US" altLang="en-US" dirty="0"/>
          </a:p>
        </p:txBody>
      </p:sp>
    </p:spTree>
    <p:extLst>
      <p:ext uri="{BB962C8B-B14F-4D97-AF65-F5344CB8AC3E}">
        <p14:creationId xmlns:p14="http://schemas.microsoft.com/office/powerpoint/2010/main" val="18856182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99EAA0CA-7877-472C-ACAD-A6AFDFC17269}" type="slidenum">
              <a:rPr lang="en-US" altLang="en-US"/>
              <a:pPr/>
              <a:t>‹#›</a:t>
            </a:fld>
            <a:endParaRPr lang="en-US" altLang="en-US"/>
          </a:p>
        </p:txBody>
      </p:sp>
    </p:spTree>
    <p:extLst>
      <p:ext uri="{BB962C8B-B14F-4D97-AF65-F5344CB8AC3E}">
        <p14:creationId xmlns:p14="http://schemas.microsoft.com/office/powerpoint/2010/main" val="8551802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3" name="Content Placeholder 2"/>
          <p:cNvSpPr>
            <a:spLocks noGrp="1"/>
          </p:cNvSpPr>
          <p:nvPr>
            <p:ph idx="1"/>
          </p:nvPr>
        </p:nvSpPr>
        <p:spPr>
          <a:xfrm>
            <a:off x="4762052" y="990600"/>
            <a:ext cx="3566160" cy="513556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41052F15-C297-4DEA-8E4E-2A60E7E12B68}" type="slidenum">
              <a:rPr lang="en-US" altLang="en-US"/>
              <a:pPr/>
              <a:t>‹#›</a:t>
            </a:fld>
            <a:endParaRPr lang="en-US" altLang="en-US"/>
          </a:p>
        </p:txBody>
      </p:sp>
    </p:spTree>
    <p:extLst>
      <p:ext uri="{BB962C8B-B14F-4D97-AF65-F5344CB8AC3E}">
        <p14:creationId xmlns:p14="http://schemas.microsoft.com/office/powerpoint/2010/main" val="15455327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9"/>
          <p:cNvSpPr>
            <a:spLocks noGrp="1"/>
          </p:cNvSpPr>
          <p:nvPr>
            <p:ph type="pic" sz="quarter" idx="13"/>
          </p:nvPr>
        </p:nvSpPr>
        <p:spPr>
          <a:xfrm>
            <a:off x="4760258" y="990600"/>
            <a:ext cx="4096512" cy="5611813"/>
          </a:xfrm>
        </p:spPr>
        <p:txBody>
          <a:bodyPr rtlCol="0">
            <a:normAutofit/>
          </a:bodyPr>
          <a:lstStyle>
            <a:lvl1pPr>
              <a:buNone/>
              <a:defRPr/>
            </a:lvl1pPr>
          </a:lstStyle>
          <a:p>
            <a:pPr lvl="0"/>
            <a:r>
              <a:rPr lang="en-US" noProof="0"/>
              <a:t>Click icon to add picture</a:t>
            </a:r>
            <a:endParaRPr noProof="0"/>
          </a:p>
        </p:txBody>
      </p:sp>
      <p:sp>
        <p:nvSpPr>
          <p:cNvPr id="6" name="Date Placeholder 4"/>
          <p:cNvSpPr>
            <a:spLocks noGrp="1"/>
          </p:cNvSpPr>
          <p:nvPr>
            <p:ph type="dt" sz="half" idx="14"/>
          </p:nvPr>
        </p:nvSpPr>
        <p:spPr>
          <a:xfrm>
            <a:off x="161925" y="6124575"/>
            <a:ext cx="1752600" cy="365125"/>
          </a:xfrm>
        </p:spPr>
        <p:txBody>
          <a:bodyPr/>
          <a:lstStyle>
            <a:lvl1pPr algn="l">
              <a:defRPr/>
            </a:lvl1pPr>
          </a:lstStyle>
          <a:p>
            <a:pPr>
              <a:defRPr/>
            </a:pPr>
            <a:endParaRPr lang="en-US"/>
          </a:p>
        </p:txBody>
      </p:sp>
      <p:sp>
        <p:nvSpPr>
          <p:cNvPr id="7" name="Footer Placeholder 5"/>
          <p:cNvSpPr>
            <a:spLocks noGrp="1"/>
          </p:cNvSpPr>
          <p:nvPr>
            <p:ph type="ftr" sz="quarter" idx="15"/>
          </p:nvPr>
        </p:nvSpPr>
        <p:spPr>
          <a:xfrm>
            <a:off x="174625" y="6356350"/>
            <a:ext cx="3863975" cy="365125"/>
          </a:xfrm>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812DA118-F48A-4A0B-92A2-024CCAD39B53}" type="slidenum">
              <a:rPr lang="en-US" altLang="en-US"/>
              <a:pPr/>
              <a:t>‹#›</a:t>
            </a:fld>
            <a:endParaRPr lang="en-US" altLang="en-US"/>
          </a:p>
        </p:txBody>
      </p:sp>
    </p:spTree>
    <p:extLst>
      <p:ext uri="{BB962C8B-B14F-4D97-AF65-F5344CB8AC3E}">
        <p14:creationId xmlns:p14="http://schemas.microsoft.com/office/powerpoint/2010/main" val="1540896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6858000"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AE187E30-5C4D-49E9-BA39-7CC58CC307E7}" type="slidenum">
              <a:rPr lang="en-US" altLang="en-US"/>
              <a:pPr/>
              <a:t>‹#›</a:t>
            </a:fld>
            <a:endParaRPr lang="en-US" altLang="en-US"/>
          </a:p>
        </p:txBody>
      </p:sp>
    </p:spTree>
    <p:extLst>
      <p:ext uri="{BB962C8B-B14F-4D97-AF65-F5344CB8AC3E}">
        <p14:creationId xmlns:p14="http://schemas.microsoft.com/office/powerpoint/2010/main" val="26996667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3006726"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2"/>
          <p:cNvSpPr>
            <a:spLocks noGrp="1"/>
          </p:cNvSpPr>
          <p:nvPr>
            <p:ph type="pic" idx="13"/>
          </p:nvPr>
        </p:nvSpPr>
        <p:spPr>
          <a:xfrm>
            <a:off x="3352800" y="268288"/>
            <a:ext cx="47019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11" name="Picture Placeholder 2"/>
          <p:cNvSpPr>
            <a:spLocks noGrp="1"/>
          </p:cNvSpPr>
          <p:nvPr>
            <p:ph type="pic" idx="14"/>
          </p:nvPr>
        </p:nvSpPr>
        <p:spPr>
          <a:xfrm>
            <a:off x="33528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12" name="Picture Placeholder 2"/>
          <p:cNvSpPr>
            <a:spLocks noGrp="1"/>
          </p:cNvSpPr>
          <p:nvPr>
            <p:ph type="pic" idx="15"/>
          </p:nvPr>
        </p:nvSpPr>
        <p:spPr>
          <a:xfrm>
            <a:off x="57505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9" name="Date Placeholder 4"/>
          <p:cNvSpPr>
            <a:spLocks noGrp="1"/>
          </p:cNvSpPr>
          <p:nvPr>
            <p:ph type="dt" sz="half" idx="16"/>
          </p:nvPr>
        </p:nvSpPr>
        <p:spPr/>
        <p:txBody>
          <a:bodyPr/>
          <a:lstStyle>
            <a:lvl1pPr>
              <a:defRPr/>
            </a:lvl1pPr>
          </a:lstStyle>
          <a:p>
            <a:pPr>
              <a:defRPr/>
            </a:pPr>
            <a:endParaRPr lang="en-US"/>
          </a:p>
        </p:txBody>
      </p:sp>
      <p:sp>
        <p:nvSpPr>
          <p:cNvPr id="13" name="Footer Placeholder 5"/>
          <p:cNvSpPr>
            <a:spLocks noGrp="1"/>
          </p:cNvSpPr>
          <p:nvPr>
            <p:ph type="ftr" sz="quarter" idx="17"/>
          </p:nvPr>
        </p:nvSpPr>
        <p:spPr/>
        <p:txBody>
          <a:bodyPr/>
          <a:lstStyle>
            <a:lvl1pPr>
              <a:defRPr/>
            </a:lvl1pPr>
          </a:lstStyle>
          <a:p>
            <a:pPr>
              <a:defRPr/>
            </a:pPr>
            <a:endParaRPr lang="en-US"/>
          </a:p>
        </p:txBody>
      </p:sp>
      <p:sp>
        <p:nvSpPr>
          <p:cNvPr id="14" name="Slide Number Placeholder 6"/>
          <p:cNvSpPr>
            <a:spLocks noGrp="1"/>
          </p:cNvSpPr>
          <p:nvPr>
            <p:ph type="sldNum" sz="quarter" idx="18"/>
          </p:nvPr>
        </p:nvSpPr>
        <p:spPr/>
        <p:txBody>
          <a:bodyPr/>
          <a:lstStyle>
            <a:lvl1pPr>
              <a:defRPr/>
            </a:lvl1pPr>
          </a:lstStyle>
          <a:p>
            <a:fld id="{EAF9ACBE-43B0-44C2-9D48-E42E569DFB3C}" type="slidenum">
              <a:rPr lang="en-US" altLang="en-US"/>
              <a:pPr/>
              <a:t>‹#›</a:t>
            </a:fld>
            <a:endParaRPr lang="en-US" altLang="en-US"/>
          </a:p>
        </p:txBody>
      </p:sp>
    </p:spTree>
    <p:extLst>
      <p:ext uri="{BB962C8B-B14F-4D97-AF65-F5344CB8AC3E}">
        <p14:creationId xmlns:p14="http://schemas.microsoft.com/office/powerpoint/2010/main" val="31081692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3D64E102-F11D-4043-A58A-4E507DF71023}" type="slidenum">
              <a:rPr lang="en-US" altLang="en-US"/>
              <a:pPr/>
              <a:t>‹#›</a:t>
            </a:fld>
            <a:endParaRPr lang="en-US" altLang="en-US"/>
          </a:p>
        </p:txBody>
      </p:sp>
    </p:spTree>
    <p:extLst>
      <p:ext uri="{BB962C8B-B14F-4D97-AF65-F5344CB8AC3E}">
        <p14:creationId xmlns:p14="http://schemas.microsoft.com/office/powerpoint/2010/main" val="909474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43799" y="1035424"/>
            <a:ext cx="1322295" cy="5090739"/>
          </a:xfrm>
        </p:spPr>
        <p:txBody>
          <a:bodyPr vert="eaVert" anchor="t"/>
          <a:lstStyle/>
          <a:p>
            <a:r>
              <a:rPr lang="en-US"/>
              <a:t>Click to edit Master title style</a:t>
            </a:r>
            <a:endParaRPr/>
          </a:p>
        </p:txBody>
      </p:sp>
      <p:sp>
        <p:nvSpPr>
          <p:cNvPr id="3" name="Vertical Text Placeholder 2"/>
          <p:cNvSpPr>
            <a:spLocks noGrp="1"/>
          </p:cNvSpPr>
          <p:nvPr>
            <p:ph type="body" orient="vert" idx="1"/>
          </p:nvPr>
        </p:nvSpPr>
        <p:spPr>
          <a:xfrm>
            <a:off x="457200" y="1035424"/>
            <a:ext cx="6019800" cy="51097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4C2B3035-EC4B-4EB1-9F05-ACBC9A3AE3C7}" type="slidenum">
              <a:rPr lang="en-US" altLang="en-US"/>
              <a:pPr/>
              <a:t>‹#›</a:t>
            </a:fld>
            <a:endParaRPr lang="en-US" altLang="en-US"/>
          </a:p>
        </p:txBody>
      </p:sp>
    </p:spTree>
    <p:extLst>
      <p:ext uri="{BB962C8B-B14F-4D97-AF65-F5344CB8AC3E}">
        <p14:creationId xmlns:p14="http://schemas.microsoft.com/office/powerpoint/2010/main" val="2563010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450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6715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85800" y="6248400"/>
            <a:ext cx="1905000" cy="457200"/>
          </a:xfrm>
        </p:spPr>
        <p:txBody>
          <a:bodyPr/>
          <a:lstStyle>
            <a:lvl1pPr fontAlgn="auto">
              <a:spcBef>
                <a:spcPts val="0"/>
              </a:spcBef>
              <a:spcAft>
                <a:spcPts val="0"/>
              </a:spcAft>
              <a:defRPr>
                <a:latin typeface="+mn-lt"/>
                <a:ea typeface="+mn-ea"/>
                <a:cs typeface="+mn-cs"/>
              </a:defRPr>
            </a:lvl1pPr>
          </a:lstStyle>
          <a:p>
            <a:pPr>
              <a:defRPr/>
            </a:pPr>
            <a:r>
              <a:rPr lang="en-US"/>
              <a:t>BPS - 5th Ed.</a:t>
            </a:r>
          </a:p>
        </p:txBody>
      </p:sp>
      <p:sp>
        <p:nvSpPr>
          <p:cNvPr id="7" name="Footer Placeholder 6"/>
          <p:cNvSpPr>
            <a:spLocks noGrp="1"/>
          </p:cNvSpPr>
          <p:nvPr>
            <p:ph type="ftr" sz="quarter" idx="11"/>
          </p:nvPr>
        </p:nvSpPr>
        <p:spPr>
          <a:xfrm>
            <a:off x="3124200" y="6248400"/>
            <a:ext cx="2895600" cy="457200"/>
          </a:xfrm>
        </p:spPr>
        <p:txBody>
          <a:bodyPr/>
          <a:lstStyle>
            <a:lvl1pPr>
              <a:defRPr/>
            </a:lvl1pPr>
          </a:lstStyle>
          <a:p>
            <a:pPr>
              <a:defRPr/>
            </a:pPr>
            <a:r>
              <a:rPr lang="en-US"/>
              <a:t>Chapter 5</a:t>
            </a:r>
          </a:p>
        </p:txBody>
      </p:sp>
      <p:sp>
        <p:nvSpPr>
          <p:cNvPr id="8" name="Slide Number Placeholder 7"/>
          <p:cNvSpPr>
            <a:spLocks noGrp="1"/>
          </p:cNvSpPr>
          <p:nvPr>
            <p:ph type="sldNum" sz="quarter" idx="12"/>
          </p:nvPr>
        </p:nvSpPr>
        <p:spPr>
          <a:xfrm>
            <a:off x="6553200" y="6248400"/>
            <a:ext cx="1905000" cy="457200"/>
          </a:xfrm>
        </p:spPr>
        <p:txBody>
          <a:bodyPr/>
          <a:lstStyle>
            <a:lvl1pPr>
              <a:defRPr/>
            </a:lvl1pPr>
          </a:lstStyle>
          <a:p>
            <a:fld id="{A1263731-7B5D-440C-8CEF-0E34896D549C}" type="slidenum">
              <a:rPr lang="en-US" altLang="en-US"/>
              <a:pPr/>
              <a:t>‹#›</a:t>
            </a:fld>
            <a:endParaRPr lang="en-US" altLang="en-US"/>
          </a:p>
        </p:txBody>
      </p:sp>
    </p:spTree>
    <p:extLst>
      <p:ext uri="{BB962C8B-B14F-4D97-AF65-F5344CB8AC3E}">
        <p14:creationId xmlns:p14="http://schemas.microsoft.com/office/powerpoint/2010/main" val="1621001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a:lstStyle>
            <a:lvl1pPr fontAlgn="auto">
              <a:spcBef>
                <a:spcPts val="0"/>
              </a:spcBef>
              <a:spcAft>
                <a:spcPts val="0"/>
              </a:spcAft>
              <a:defRPr>
                <a:latin typeface="+mn-lt"/>
                <a:ea typeface="+mn-ea"/>
                <a:cs typeface="+mn-cs"/>
              </a:defRPr>
            </a:lvl1pPr>
          </a:lstStyle>
          <a:p>
            <a:pPr>
              <a:defRPr/>
            </a:pPr>
            <a:r>
              <a:rPr lang="en-US"/>
              <a:t>BPS - 5th Ed.</a:t>
            </a:r>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a:defRPr/>
            </a:pPr>
            <a:r>
              <a:rPr lang="en-US"/>
              <a:t>Chapter 5</a:t>
            </a:r>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B5D523D0-3B97-4F72-AF7F-29FC80EDAB1F}" type="slidenum">
              <a:rPr lang="en-US" altLang="en-US"/>
              <a:pPr/>
              <a:t>‹#›</a:t>
            </a:fld>
            <a:endParaRPr lang="en-US" altLang="en-US"/>
          </a:p>
        </p:txBody>
      </p:sp>
    </p:spTree>
    <p:extLst>
      <p:ext uri="{BB962C8B-B14F-4D97-AF65-F5344CB8AC3E}">
        <p14:creationId xmlns:p14="http://schemas.microsoft.com/office/powerpoint/2010/main" val="751055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lstStyle/>
          <a:p>
            <a:r>
              <a:rPr lang="en-US"/>
              <a:t>Click to edit Master title style</a:t>
            </a:r>
          </a:p>
        </p:txBody>
      </p:sp>
      <p:sp>
        <p:nvSpPr>
          <p:cNvPr id="3" name="Content Placeholder 2"/>
          <p:cNvSpPr>
            <a:spLocks noGrp="1"/>
          </p:cNvSpPr>
          <p:nvPr>
            <p:ph sz="half" idx="1"/>
          </p:nvPr>
        </p:nvSpPr>
        <p:spPr>
          <a:xfrm>
            <a:off x="457200" y="1143000"/>
            <a:ext cx="40386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143000"/>
            <a:ext cx="40386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62400"/>
            <a:ext cx="40386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76704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14400"/>
            <a:ext cx="6508750" cy="1143000"/>
          </a:xfrm>
          <a:prstGeom prst="rect">
            <a:avLst/>
          </a:prstGeom>
          <a:solidFill>
            <a:schemeClr val="accent2"/>
          </a:solidFill>
          <a:ln>
            <a:noFill/>
          </a:ln>
        </p:spPr>
        <p:txBody>
          <a:bodyPr vert="horz" wrap="square" lIns="91440" tIns="45720" rIns="91440" bIns="45720" numCol="1" anchor="b"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457200" y="2209800"/>
            <a:ext cx="6508750" cy="391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7199313" y="6356350"/>
            <a:ext cx="1752600" cy="365125"/>
          </a:xfrm>
          <a:prstGeom prst="rect">
            <a:avLst/>
          </a:prstGeom>
        </p:spPr>
        <p:txBody>
          <a:bodyPr vert="horz" lIns="91440" tIns="45720" rIns="91440" bIns="45720" rtlCol="0" anchor="ctr"/>
          <a:lstStyle>
            <a:lvl1pPr algn="r" eaLnBrk="1" fontAlgn="auto" hangingPunct="1">
              <a:spcBef>
                <a:spcPts val="0"/>
              </a:spcBef>
              <a:spcAft>
                <a:spcPts val="0"/>
              </a:spcAft>
              <a:defRPr sz="1100" b="1">
                <a:solidFill>
                  <a:schemeClr val="tx2">
                    <a:lumMod val="60000"/>
                    <a:lumOff val="40000"/>
                  </a:schemeClr>
                </a:solidFill>
                <a:latin typeface="+mn-lt"/>
                <a:ea typeface="+mn-ea"/>
                <a:cs typeface="+mn-cs"/>
              </a:defRPr>
            </a:lvl1pPr>
          </a:lstStyle>
          <a:p>
            <a:pPr>
              <a:defRPr/>
            </a:pPr>
            <a:endParaRPr lang="en-US"/>
          </a:p>
        </p:txBody>
      </p:sp>
      <p:sp>
        <p:nvSpPr>
          <p:cNvPr id="5" name="Footer Placeholder 4"/>
          <p:cNvSpPr>
            <a:spLocks noGrp="1"/>
          </p:cNvSpPr>
          <p:nvPr>
            <p:ph type="ftr" sz="quarter" idx="3"/>
          </p:nvPr>
        </p:nvSpPr>
        <p:spPr>
          <a:xfrm>
            <a:off x="174625" y="6356350"/>
            <a:ext cx="6007100" cy="365125"/>
          </a:xfrm>
          <a:prstGeom prst="rect">
            <a:avLst/>
          </a:prstGeom>
        </p:spPr>
        <p:txBody>
          <a:bodyPr vert="horz" lIns="91440" tIns="45720" rIns="91440" bIns="45720" rtlCol="0" anchor="ctr"/>
          <a:lstStyle>
            <a:lvl1pPr algn="l" eaLnBrk="1" fontAlgn="auto" hangingPunct="1">
              <a:spcBef>
                <a:spcPts val="0"/>
              </a:spcBef>
              <a:spcAft>
                <a:spcPts val="0"/>
              </a:spcAft>
              <a:defRPr sz="1100" b="1">
                <a:solidFill>
                  <a:schemeClr val="tx2">
                    <a:lumMod val="60000"/>
                    <a:lumOff val="40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8256588" y="360363"/>
            <a:ext cx="506412"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2200" b="1">
                <a:solidFill>
                  <a:schemeClr val="bg1"/>
                </a:solidFill>
              </a:defRPr>
            </a:lvl1pPr>
          </a:lstStyle>
          <a:p>
            <a:fld id="{62E17A0A-C982-4C62-A1E3-6AA8641CF0A1}"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5005" r:id="rId1"/>
    <p:sldLayoutId id="2147485006" r:id="rId2"/>
    <p:sldLayoutId id="2147485007" r:id="rId3"/>
    <p:sldLayoutId id="2147485008" r:id="rId4"/>
    <p:sldLayoutId id="2147485009" r:id="rId5"/>
    <p:sldLayoutId id="2147485010" r:id="rId6"/>
    <p:sldLayoutId id="2147485011" r:id="rId7"/>
    <p:sldLayoutId id="2147485012" r:id="rId8"/>
    <p:sldLayoutId id="2147485013" r:id="rId9"/>
    <p:sldLayoutId id="2147485014" r:id="rId10"/>
    <p:sldLayoutId id="2147485015" r:id="rId11"/>
    <p:sldLayoutId id="2147485016" r:id="rId12"/>
    <p:sldLayoutId id="2147485017" r:id="rId13"/>
    <p:sldLayoutId id="2147485018" r:id="rId14"/>
    <p:sldLayoutId id="2147485019" r:id="rId15"/>
    <p:sldLayoutId id="2147485020" r:id="rId16"/>
    <p:sldLayoutId id="2147485021" r:id="rId17"/>
    <p:sldLayoutId id="2147485022" r:id="rId18"/>
    <p:sldLayoutId id="2147485023" r:id="rId19"/>
    <p:sldLayoutId id="2147485024" r:id="rId20"/>
    <p:sldLayoutId id="2147485025" r:id="rId21"/>
    <p:sldLayoutId id="2147485026" r:id="rId22"/>
  </p:sldLayoutIdLst>
  <p:hf hdr="0" ftr="0" dt="0"/>
  <p:txStyles>
    <p:titleStyle>
      <a:lvl1pPr algn="l" rtl="0" eaLnBrk="0" fontAlgn="base" hangingPunct="0">
        <a:spcBef>
          <a:spcPct val="0"/>
        </a:spcBef>
        <a:spcAft>
          <a:spcPct val="0"/>
        </a:spcAft>
        <a:defRPr sz="3600" kern="1200">
          <a:solidFill>
            <a:schemeClr val="accent1"/>
          </a:solidFill>
          <a:latin typeface="+mj-lt"/>
          <a:ea typeface="ＭＳ Ｐゴシック" pitchFamily="-1" charset="-128"/>
          <a:cs typeface="ＭＳ Ｐゴシック" pitchFamily="-1" charset="-128"/>
        </a:defRPr>
      </a:lvl1pPr>
      <a:lvl2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2pPr>
      <a:lvl3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3pPr>
      <a:lvl4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4pPr>
      <a:lvl5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5pPr>
      <a:lvl6pPr marL="4572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6pPr>
      <a:lvl7pPr marL="9144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7pPr>
      <a:lvl8pPr marL="13716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8pPr>
      <a:lvl9pPr marL="18288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9pPr>
    </p:titleStyle>
    <p:bodyStyle>
      <a:lvl1pPr marL="228600" indent="-228600" algn="l" rtl="0" eaLnBrk="0" fontAlgn="base" hangingPunct="0">
        <a:spcBef>
          <a:spcPts val="1800"/>
        </a:spcBef>
        <a:spcAft>
          <a:spcPct val="0"/>
        </a:spcAft>
        <a:buClr>
          <a:schemeClr val="accent1"/>
        </a:buClr>
        <a:buSzPct val="100000"/>
        <a:buFont typeface="Wingdings 2" pitchFamily="18" charset="2"/>
        <a:buChar char="¡"/>
        <a:defRPr sz="2000" kern="1200">
          <a:solidFill>
            <a:schemeClr val="tx2"/>
          </a:solidFill>
          <a:latin typeface="+mn-lt"/>
          <a:ea typeface="ＭＳ Ｐゴシック" pitchFamily="-1" charset="-128"/>
          <a:cs typeface="ＭＳ Ｐゴシック" pitchFamily="-1" charset="-128"/>
        </a:defRPr>
      </a:lvl1pPr>
      <a:lvl2pPr marL="4572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2pPr>
      <a:lvl3pPr marL="6858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3pPr>
      <a:lvl4pPr marL="9144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4pPr>
      <a:lvl5pPr marL="11430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5.emf"/></Relationships>
</file>

<file path=ppt/slides/_rels/slide16.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image" Target="../media/image10.png"/><Relationship Id="rId7" Type="http://schemas.openxmlformats.org/officeDocument/2006/relationships/oleObject" Target="../embeddings/oleObject4.bin"/><Relationship Id="rId12" Type="http://schemas.openxmlformats.org/officeDocument/2006/relationships/image" Target="../media/image9.wmf"/><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image" Target="../media/image6.wmf"/><Relationship Id="rId11" Type="http://schemas.openxmlformats.org/officeDocument/2006/relationships/oleObject" Target="../embeddings/oleObject6.bin"/><Relationship Id="rId5" Type="http://schemas.openxmlformats.org/officeDocument/2006/relationships/oleObject" Target="../embeddings/oleObject3.bin"/><Relationship Id="rId10" Type="http://schemas.openxmlformats.org/officeDocument/2006/relationships/image" Target="../media/image8.wmf"/><Relationship Id="rId4" Type="http://schemas.openxmlformats.org/officeDocument/2006/relationships/image" Target="../media/image11.png"/><Relationship Id="rId9"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vmlDrawing" Target="../drawings/vmlDrawing4.vml"/><Relationship Id="rId5" Type="http://schemas.openxmlformats.org/officeDocument/2006/relationships/image" Target="../media/image14.wmf"/><Relationship Id="rId4" Type="http://schemas.openxmlformats.org/officeDocument/2006/relationships/oleObject" Target="../embeddings/oleObject7.bin"/></Relationships>
</file>

<file path=ppt/slides/_rels/slide22.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notesSlide" Target="../notesSlides/notesSlide6.xml"/><Relationship Id="rId7" Type="http://schemas.openxmlformats.org/officeDocument/2006/relationships/oleObject" Target="../embeddings/oleObject9.bin"/><Relationship Id="rId2" Type="http://schemas.openxmlformats.org/officeDocument/2006/relationships/slideLayout" Target="../slideLayouts/slideLayout12.xml"/><Relationship Id="rId1" Type="http://schemas.openxmlformats.org/officeDocument/2006/relationships/vmlDrawing" Target="../drawings/vmlDrawing5.vml"/><Relationship Id="rId6" Type="http://schemas.openxmlformats.org/officeDocument/2006/relationships/image" Target="../media/image15.emf"/><Relationship Id="rId5" Type="http://schemas.openxmlformats.org/officeDocument/2006/relationships/oleObject" Target="../embeddings/oleObject8.bin"/><Relationship Id="rId4" Type="http://schemas.openxmlformats.org/officeDocument/2006/relationships/image" Target="../media/image17.JPG"/></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2.xml"/><Relationship Id="rId1" Type="http://schemas.openxmlformats.org/officeDocument/2006/relationships/vmlDrawing" Target="../drawings/vmlDrawing6.vml"/><Relationship Id="rId4" Type="http://schemas.openxmlformats.org/officeDocument/2006/relationships/image" Target="../media/image18.wmf"/></Relationships>
</file>

<file path=ppt/slides/_rels/slide24.xml.rels><?xml version="1.0" encoding="UTF-8" standalone="yes"?>
<Relationships xmlns="http://schemas.openxmlformats.org/package/2006/relationships"><Relationship Id="rId3" Type="http://schemas.openxmlformats.org/officeDocument/2006/relationships/image" Target="../media/image20.jpeg"/><Relationship Id="rId7" Type="http://schemas.openxmlformats.org/officeDocument/2006/relationships/image" Target="../media/image19.wmf"/><Relationship Id="rId2" Type="http://schemas.openxmlformats.org/officeDocument/2006/relationships/slideLayout" Target="../slideLayouts/slideLayout12.xml"/><Relationship Id="rId1" Type="http://schemas.openxmlformats.org/officeDocument/2006/relationships/vmlDrawing" Target="../drawings/vmlDrawing7.vml"/><Relationship Id="rId6" Type="http://schemas.openxmlformats.org/officeDocument/2006/relationships/oleObject" Target="../embeddings/oleObject11.bin"/><Relationship Id="rId5" Type="http://schemas.openxmlformats.org/officeDocument/2006/relationships/image" Target="../media/image22.jpeg"/><Relationship Id="rId4" Type="http://schemas.openxmlformats.org/officeDocument/2006/relationships/image" Target="../media/image21.jpeg"/></Relationships>
</file>

<file path=ppt/slides/_rels/slide25.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12.xml"/><Relationship Id="rId1" Type="http://schemas.openxmlformats.org/officeDocument/2006/relationships/vmlDrawing" Target="../drawings/vmlDrawing8.vml"/><Relationship Id="rId6" Type="http://schemas.openxmlformats.org/officeDocument/2006/relationships/image" Target="../media/image24.wmf"/><Relationship Id="rId5" Type="http://schemas.openxmlformats.org/officeDocument/2006/relationships/oleObject" Target="../embeddings/oleObject13.bin"/><Relationship Id="rId10" Type="http://schemas.openxmlformats.org/officeDocument/2006/relationships/image" Target="../media/image26.wmf"/><Relationship Id="rId4" Type="http://schemas.openxmlformats.org/officeDocument/2006/relationships/image" Target="../media/image23.wmf"/><Relationship Id="rId9" Type="http://schemas.openxmlformats.org/officeDocument/2006/relationships/oleObject" Target="../embeddings/oleObject15.bin"/></Relationships>
</file>

<file path=ppt/slides/_rels/slide2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7.JPG"/><Relationship Id="rId7" Type="http://schemas.openxmlformats.org/officeDocument/2006/relationships/image" Target="../media/image32.png"/><Relationship Id="rId2" Type="http://schemas.openxmlformats.org/officeDocument/2006/relationships/slideLayout" Target="../slideLayouts/slideLayout12.xml"/><Relationship Id="rId1" Type="http://schemas.openxmlformats.org/officeDocument/2006/relationships/vmlDrawing" Target="../drawings/vmlDrawing9.vml"/><Relationship Id="rId6" Type="http://schemas.openxmlformats.org/officeDocument/2006/relationships/image" Target="../media/image27.wmf"/><Relationship Id="rId5" Type="http://schemas.openxmlformats.org/officeDocument/2006/relationships/oleObject" Target="../embeddings/oleObject16.bin"/><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vmlDrawing" Target="../drawings/vmlDrawing10.vml"/><Relationship Id="rId5" Type="http://schemas.openxmlformats.org/officeDocument/2006/relationships/image" Target="../media/image30.wmf"/><Relationship Id="rId4" Type="http://schemas.openxmlformats.org/officeDocument/2006/relationships/oleObject" Target="../embeddings/oleObject17.bin"/></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2.xml"/><Relationship Id="rId1" Type="http://schemas.openxmlformats.org/officeDocument/2006/relationships/vmlDrawing" Target="../drawings/vmlDrawing11.vml"/><Relationship Id="rId4" Type="http://schemas.openxmlformats.org/officeDocument/2006/relationships/image" Target="../media/image31.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2.xml"/><Relationship Id="rId1" Type="http://schemas.openxmlformats.org/officeDocument/2006/relationships/vmlDrawing" Target="../drawings/vmlDrawing12.vml"/><Relationship Id="rId6" Type="http://schemas.openxmlformats.org/officeDocument/2006/relationships/image" Target="../media/image33.wmf"/><Relationship Id="rId5" Type="http://schemas.openxmlformats.org/officeDocument/2006/relationships/oleObject" Target="../embeddings/oleObject20.bin"/><Relationship Id="rId4" Type="http://schemas.openxmlformats.org/officeDocument/2006/relationships/image" Target="../media/image32.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slideLayout" Target="../slideLayouts/slideLayout12.xml"/><Relationship Id="rId1" Type="http://schemas.openxmlformats.org/officeDocument/2006/relationships/vmlDrawing" Target="../drawings/vmlDrawing13.vml"/><Relationship Id="rId6" Type="http://schemas.openxmlformats.org/officeDocument/2006/relationships/image" Target="../media/image35.wmf"/><Relationship Id="rId5" Type="http://schemas.openxmlformats.org/officeDocument/2006/relationships/oleObject" Target="../embeddings/oleObject22.bin"/><Relationship Id="rId4" Type="http://schemas.openxmlformats.org/officeDocument/2006/relationships/image" Target="../media/image34.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727208" y="4298469"/>
            <a:ext cx="7772400" cy="1829761"/>
          </a:xfrm>
        </p:spPr>
        <p:txBody>
          <a:bodyPr>
            <a:normAutofit fontScale="90000"/>
          </a:bodyPr>
          <a:lstStyle/>
          <a:p>
            <a:pPr algn="ctr" eaLnBrk="1" fontAlgn="auto" hangingPunct="1">
              <a:spcAft>
                <a:spcPts val="0"/>
              </a:spcAft>
              <a:defRPr/>
            </a:pPr>
            <a:r>
              <a:rPr lang="en-US" sz="3000" b="0" dirty="0">
                <a:solidFill>
                  <a:schemeClr val="tx1"/>
                </a:solidFill>
                <a:effectLst/>
                <a:latin typeface="Arial" pitchFamily="34" charset="0"/>
                <a:ea typeface="ヒラギノ角ゴ Pro W3" pitchFamily="-84" charset="-128"/>
                <a:cs typeface="Arial" pitchFamily="34" charset="0"/>
              </a:rPr>
              <a:t>Chapter 5</a:t>
            </a:r>
            <a:br>
              <a:rPr lang="en-US" sz="3000" b="0" dirty="0">
                <a:solidFill>
                  <a:schemeClr val="tx1"/>
                </a:solidFill>
                <a:effectLst/>
                <a:latin typeface="Arial" pitchFamily="34" charset="0"/>
                <a:ea typeface="ヒラギノ角ゴ Pro W3" pitchFamily="-84" charset="-128"/>
                <a:cs typeface="Arial" pitchFamily="34" charset="0"/>
              </a:rPr>
            </a:br>
            <a:r>
              <a:rPr lang="en-US" sz="3000" b="0" dirty="0">
                <a:solidFill>
                  <a:schemeClr val="tx1"/>
                </a:solidFill>
                <a:effectLst/>
                <a:latin typeface="Arial" pitchFamily="34" charset="0"/>
                <a:ea typeface="ヒラギノ角ゴ Pro W3" pitchFamily="-84" charset="-128"/>
                <a:cs typeface="Arial" pitchFamily="34" charset="0"/>
              </a:rPr>
              <a:t>Sampling Distributions</a:t>
            </a:r>
            <a:br>
              <a:rPr lang="en-US" sz="3000" b="0" dirty="0">
                <a:solidFill>
                  <a:schemeClr val="tx1"/>
                </a:solidFill>
                <a:effectLst/>
                <a:latin typeface="Arial" pitchFamily="34" charset="0"/>
                <a:ea typeface="ヒラギノ角ゴ Pro W3" pitchFamily="-84" charset="-128"/>
                <a:cs typeface="Arial" pitchFamily="34" charset="0"/>
              </a:rPr>
            </a:br>
            <a:r>
              <a:rPr lang="en-US" sz="3000" b="0" dirty="0">
                <a:effectLst/>
                <a:ea typeface="ヒラギノ角ゴ Pro W3" pitchFamily="-84" charset="-128"/>
              </a:rPr>
              <a:t/>
            </a:r>
            <a:br>
              <a:rPr lang="en-US" sz="3000" b="0" dirty="0">
                <a:effectLst/>
                <a:ea typeface="ヒラギノ角ゴ Pro W3" pitchFamily="-84" charset="-128"/>
              </a:rPr>
            </a:br>
            <a:r>
              <a:rPr lang="en-US" sz="3000" b="0" dirty="0">
                <a:effectLst/>
                <a:ea typeface="ヒラギノ角ゴ Pro W3" pitchFamily="-84" charset="-128"/>
              </a:rPr>
              <a:t>Lecture Slides</a:t>
            </a:r>
            <a:endParaRPr lang="en-US" sz="3000" b="0" dirty="0">
              <a:solidFill>
                <a:schemeClr val="tx1"/>
              </a:solidFill>
              <a:effectLst/>
              <a:latin typeface="Arial" pitchFamily="34" charset="0"/>
              <a:ea typeface="ヒラギノ角ゴ Pro W3" pitchFamily="-84" charset="-128"/>
              <a:cs typeface="Arial" pitchFamily="34" charset="0"/>
            </a:endParaRPr>
          </a:p>
        </p:txBody>
      </p:sp>
      <p:sp>
        <p:nvSpPr>
          <p:cNvPr id="2" name="Footer Placeholder 1"/>
          <p:cNvSpPr>
            <a:spLocks noGrp="1"/>
          </p:cNvSpPr>
          <p:nvPr>
            <p:ph type="ftr" sz="quarter" idx="4294967295"/>
          </p:nvPr>
        </p:nvSpPr>
        <p:spPr>
          <a:xfrm>
            <a:off x="5943600" y="6294120"/>
            <a:ext cx="2807738" cy="365125"/>
          </a:xfrm>
          <a:prstGeom prst="rect">
            <a:avLst/>
          </a:prstGeom>
        </p:spPr>
        <p:txBody>
          <a:bodyPr/>
          <a:lstStyle/>
          <a:p>
            <a:pPr>
              <a:defRPr/>
            </a:pPr>
            <a:r>
              <a:rPr lang="en-US" sz="1200" dirty="0">
                <a:solidFill>
                  <a:prstClr val="black"/>
                </a:solidFill>
              </a:rPr>
              <a:t>© 2021 W.H. Freeman and Company</a:t>
            </a:r>
          </a:p>
        </p:txBody>
      </p:sp>
      <p:sp>
        <p:nvSpPr>
          <p:cNvPr id="6" name="Google Shape;56;p1"/>
          <p:cNvSpPr txBox="1">
            <a:spLocks/>
          </p:cNvSpPr>
          <p:nvPr/>
        </p:nvSpPr>
        <p:spPr>
          <a:xfrm>
            <a:off x="304800" y="457200"/>
            <a:ext cx="8617217" cy="3644900"/>
          </a:xfrm>
          <a:prstGeom prst="rect">
            <a:avLst/>
          </a:prstGeom>
          <a:noFill/>
          <a:ln>
            <a:noFill/>
          </a:ln>
        </p:spPr>
        <p:txBody>
          <a:bodyPr spcFirstLastPara="1" vert="horz" wrap="square" lIns="91425" tIns="45700" rIns="91425" bIns="45700" rtlCol="0" anchor="t"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spcBef>
                <a:spcPts val="0"/>
              </a:spcBef>
              <a:buClrTx/>
              <a:buFontTx/>
            </a:pPr>
            <a:r>
              <a:rPr lang="en-US" sz="5000" dirty="0">
                <a:latin typeface="Garamond"/>
                <a:ea typeface="Garamond"/>
                <a:cs typeface="Garamond"/>
                <a:sym typeface="Garamond"/>
              </a:rPr>
              <a:t>Introduction to the Practice of Statistics</a:t>
            </a:r>
            <a:br>
              <a:rPr lang="en-US" sz="5000" dirty="0">
                <a:latin typeface="Garamond"/>
                <a:ea typeface="Garamond"/>
                <a:cs typeface="Garamond"/>
                <a:sym typeface="Garamond"/>
              </a:rPr>
            </a:br>
            <a:r>
              <a:rPr lang="en-US" sz="5000" dirty="0">
                <a:latin typeface="Garamond"/>
                <a:ea typeface="Garamond"/>
                <a:cs typeface="Garamond"/>
                <a:sym typeface="Garamond"/>
              </a:rPr>
              <a:t>Tenth Edition</a:t>
            </a:r>
            <a:r>
              <a:rPr lang="en-US" sz="4000" dirty="0">
                <a:latin typeface="Garamond"/>
                <a:ea typeface="Garamond"/>
                <a:cs typeface="Garamond"/>
                <a:sym typeface="Garamond"/>
              </a:rPr>
              <a:t/>
            </a:r>
            <a:br>
              <a:rPr lang="en-US" sz="4000" dirty="0">
                <a:latin typeface="Garamond"/>
                <a:ea typeface="Garamond"/>
                <a:cs typeface="Garamond"/>
                <a:sym typeface="Garamond"/>
              </a:rPr>
            </a:br>
            <a:r>
              <a:rPr lang="en-US" sz="4000" dirty="0">
                <a:latin typeface="Garamond"/>
                <a:ea typeface="Garamond"/>
                <a:cs typeface="Garamond"/>
                <a:sym typeface="Garamond"/>
              </a:rPr>
              <a:t/>
            </a:r>
            <a:br>
              <a:rPr lang="en-US" sz="4000" dirty="0">
                <a:latin typeface="Garamond"/>
                <a:ea typeface="Garamond"/>
                <a:cs typeface="Garamond"/>
                <a:sym typeface="Garamond"/>
              </a:rPr>
            </a:br>
            <a:r>
              <a:rPr lang="en-US" sz="3500" dirty="0">
                <a:latin typeface="Garamond"/>
                <a:ea typeface="Garamond"/>
                <a:cs typeface="Garamond"/>
                <a:sym typeface="Garamond"/>
              </a:rPr>
              <a:t>David S. Moore			George P. McCabe</a:t>
            </a:r>
            <a:br>
              <a:rPr lang="en-US" sz="3500" dirty="0">
                <a:latin typeface="Garamond"/>
                <a:ea typeface="Garamond"/>
                <a:cs typeface="Garamond"/>
                <a:sym typeface="Garamond"/>
              </a:rPr>
            </a:br>
            <a:r>
              <a:rPr lang="en-US" sz="3500" dirty="0">
                <a:latin typeface="Garamond"/>
                <a:ea typeface="Garamond"/>
                <a:cs typeface="Garamond"/>
                <a:sym typeface="Garamond"/>
              </a:rPr>
              <a:t>Bruce Craig</a:t>
            </a:r>
          </a:p>
        </p:txBody>
      </p:sp>
    </p:spTree>
    <p:extLst>
      <p:ext uri="{BB962C8B-B14F-4D97-AF65-F5344CB8AC3E}">
        <p14:creationId xmlns:p14="http://schemas.microsoft.com/office/powerpoint/2010/main" val="4159262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2900"/>
            <a:ext cx="6508750" cy="1143000"/>
          </a:xfrm>
        </p:spPr>
        <p:txBody>
          <a:bodyPr/>
          <a:lstStyle/>
          <a:p>
            <a:r>
              <a:rPr lang="en-US" altLang="en-US" b="1" dirty="0"/>
              <a:t>Chapter 5</a:t>
            </a:r>
            <a:br>
              <a:rPr lang="en-US" altLang="en-US" b="1" dirty="0"/>
            </a:br>
            <a:r>
              <a:rPr lang="en-US" altLang="en-US" b="1" dirty="0"/>
              <a:t>Sampling Distributions</a:t>
            </a:r>
            <a:endParaRPr lang="en-US" b="1" dirty="0"/>
          </a:p>
        </p:txBody>
      </p:sp>
      <p:sp>
        <p:nvSpPr>
          <p:cNvPr id="3" name="Content Placeholder 2"/>
          <p:cNvSpPr>
            <a:spLocks noGrp="1"/>
          </p:cNvSpPr>
          <p:nvPr>
            <p:ph idx="1"/>
          </p:nvPr>
        </p:nvSpPr>
        <p:spPr>
          <a:xfrm>
            <a:off x="457200" y="1875157"/>
            <a:ext cx="8382000" cy="2346960"/>
          </a:xfrm>
        </p:spPr>
        <p:txBody>
          <a:bodyPr/>
          <a:lstStyle/>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5.1 Toward Statistical Inference</a:t>
            </a:r>
          </a:p>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5.2 The Sampling Distribution of a Sample Mean</a:t>
            </a:r>
          </a:p>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5.3 Sampling Distributions for Counts and Proportions</a:t>
            </a:r>
          </a:p>
        </p:txBody>
      </p:sp>
      <p:sp>
        <p:nvSpPr>
          <p:cNvPr id="27650"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9533D1FF-FB35-48DD-AF85-DBBDBD587DCC}" type="slidenum">
              <a:rPr lang="en-US" altLang="en-US" sz="1400">
                <a:solidFill>
                  <a:schemeClr val="accent1"/>
                </a:solidFill>
              </a:rPr>
              <a:pPr/>
              <a:t>2</a:t>
            </a:fld>
            <a:endParaRPr lang="en-US" altLang="en-US" sz="1400">
              <a:solidFill>
                <a:schemeClr val="accen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2"/>
          <p:cNvSpPr>
            <a:spLocks noGrp="1"/>
          </p:cNvSpPr>
          <p:nvPr>
            <p:ph type="title"/>
          </p:nvPr>
        </p:nvSpPr>
        <p:spPr>
          <a:xfrm>
            <a:off x="457200" y="342900"/>
            <a:ext cx="7101840" cy="1143000"/>
          </a:xfrm>
        </p:spPr>
        <p:txBody>
          <a:bodyPr anchor="t"/>
          <a:lstStyle/>
          <a:p>
            <a:pPr eaLnBrk="1" hangingPunct="1"/>
            <a:r>
              <a:rPr lang="en-US" altLang="en-US" b="1" dirty="0">
                <a:ea typeface="ＭＳ Ｐゴシック" pitchFamily="34" charset="-128"/>
              </a:rPr>
              <a:t>5.1 Toward Statistical Inference</a:t>
            </a:r>
          </a:p>
        </p:txBody>
      </p:sp>
      <p:sp>
        <p:nvSpPr>
          <p:cNvPr id="28675" name="Text Placeholder 3"/>
          <p:cNvSpPr>
            <a:spLocks noGrp="1"/>
          </p:cNvSpPr>
          <p:nvPr>
            <p:ph idx="1"/>
          </p:nvPr>
        </p:nvSpPr>
        <p:spPr>
          <a:xfrm>
            <a:off x="457200" y="1844041"/>
            <a:ext cx="6508750" cy="2941320"/>
          </a:xfrm>
        </p:spPr>
        <p:txBody>
          <a:bodyPr/>
          <a:lstStyle/>
          <a:p>
            <a:pPr eaLnBrk="1" hangingPunct="1"/>
            <a:r>
              <a:rPr lang="en-US" altLang="en-US" sz="2400" dirty="0">
                <a:solidFill>
                  <a:srgbClr val="073779"/>
                </a:solidFill>
                <a:ea typeface="ＭＳ Ｐゴシック" pitchFamily="34" charset="-128"/>
              </a:rPr>
              <a:t>Parameters and statistics</a:t>
            </a:r>
          </a:p>
          <a:p>
            <a:pPr eaLnBrk="1" hangingPunct="1"/>
            <a:r>
              <a:rPr lang="en-US" altLang="en-US" sz="2400" dirty="0">
                <a:solidFill>
                  <a:srgbClr val="073779"/>
                </a:solidFill>
                <a:ea typeface="ＭＳ Ｐゴシック" pitchFamily="34" charset="-128"/>
              </a:rPr>
              <a:t>Sampling variability</a:t>
            </a:r>
          </a:p>
          <a:p>
            <a:pPr eaLnBrk="1" hangingPunct="1"/>
            <a:r>
              <a:rPr lang="en-US" altLang="en-US" sz="2400" dirty="0">
                <a:solidFill>
                  <a:srgbClr val="073779"/>
                </a:solidFill>
                <a:ea typeface="ＭＳ Ｐゴシック" pitchFamily="34" charset="-128"/>
              </a:rPr>
              <a:t>Sampling distributions</a:t>
            </a:r>
          </a:p>
          <a:p>
            <a:pPr eaLnBrk="1" hangingPunct="1"/>
            <a:r>
              <a:rPr lang="en-US" altLang="en-US" sz="2400" dirty="0">
                <a:solidFill>
                  <a:srgbClr val="073779"/>
                </a:solidFill>
                <a:ea typeface="ＭＳ Ｐゴシック" pitchFamily="34" charset="-128"/>
              </a:rPr>
              <a:t>Bias and variability</a:t>
            </a:r>
          </a:p>
          <a:p>
            <a:pPr eaLnBrk="1" hangingPunct="1"/>
            <a:r>
              <a:rPr lang="en-US" altLang="en-US" sz="2400" dirty="0">
                <a:solidFill>
                  <a:srgbClr val="073779"/>
                </a:solidFill>
                <a:ea typeface="ＭＳ Ｐゴシック" pitchFamily="34" charset="-128"/>
              </a:rPr>
              <a:t>Sampling from large populations</a:t>
            </a:r>
          </a:p>
        </p:txBody>
      </p:sp>
      <p:sp>
        <p:nvSpPr>
          <p:cNvPr id="28676" name="Slide Number Placeholder 8"/>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EFCA77BE-67AC-40CB-8A10-31C06408FF4A}" type="slidenum">
              <a:rPr lang="en-US" altLang="en-US" sz="1400">
                <a:solidFill>
                  <a:schemeClr val="accent1"/>
                </a:solidFill>
              </a:rPr>
              <a:pPr/>
              <a:t>3</a:t>
            </a:fld>
            <a:endParaRPr lang="en-US" altLang="en-US" sz="1400">
              <a:solidFill>
                <a:schemeClr val="accen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p:txBody>
          <a:bodyPr/>
          <a:lstStyle/>
          <a:p>
            <a:pPr eaLnBrk="1" hangingPunct="1"/>
            <a:r>
              <a:rPr lang="en-US" altLang="en-US">
                <a:ea typeface="ＭＳ Ｐゴシック" pitchFamily="34" charset="-128"/>
              </a:rPr>
              <a:t>Parameters and Statistics</a:t>
            </a:r>
          </a:p>
        </p:txBody>
      </p:sp>
      <p:sp>
        <p:nvSpPr>
          <p:cNvPr id="2969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053910EC-68B8-4E03-B854-5B214D252B05}" type="slidenum">
              <a:rPr lang="en-US" altLang="en-US" sz="1200">
                <a:solidFill>
                  <a:schemeClr val="accent1"/>
                </a:solidFill>
              </a:rPr>
              <a:pPr>
                <a:lnSpc>
                  <a:spcPct val="80000"/>
                </a:lnSpc>
              </a:pPr>
              <a:t>4</a:t>
            </a:fld>
            <a:endParaRPr lang="en-US" altLang="en-US" sz="1200">
              <a:solidFill>
                <a:schemeClr val="accent1"/>
              </a:solidFill>
            </a:endParaRPr>
          </a:p>
        </p:txBody>
      </p:sp>
      <p:sp>
        <p:nvSpPr>
          <p:cNvPr id="29698" name="Rectangle 3"/>
          <p:cNvSpPr txBox="1">
            <a:spLocks noChangeArrowheads="1"/>
          </p:cNvSpPr>
          <p:nvPr/>
        </p:nvSpPr>
        <p:spPr bwMode="auto">
          <a:xfrm>
            <a:off x="393700" y="1074738"/>
            <a:ext cx="7772401" cy="1020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1085850" indent="-34290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buFont typeface="Wingdings" pitchFamily="2" charset="2"/>
              <a:buNone/>
            </a:pPr>
            <a:r>
              <a:rPr lang="en-US" altLang="en-US" dirty="0">
                <a:solidFill>
                  <a:srgbClr val="000000"/>
                </a:solidFill>
              </a:rPr>
              <a:t>As we begin to use sample data to draw conclusions about a wider population, we must be clear about whether a number describes a </a:t>
            </a:r>
          </a:p>
          <a:p>
            <a:pPr eaLnBrk="1" hangingPunct="1">
              <a:buFont typeface="Wingdings" pitchFamily="2" charset="2"/>
              <a:buNone/>
            </a:pPr>
            <a:r>
              <a:rPr lang="en-US" altLang="en-US" dirty="0">
                <a:solidFill>
                  <a:srgbClr val="000000"/>
                </a:solidFill>
              </a:rPr>
              <a:t>sample or a population.</a:t>
            </a:r>
            <a:endParaRPr lang="en-US" altLang="en-US" sz="3600" dirty="0">
              <a:solidFill>
                <a:srgbClr val="000000"/>
              </a:solidFill>
            </a:endParaRPr>
          </a:p>
        </p:txBody>
      </p:sp>
      <p:sp>
        <p:nvSpPr>
          <p:cNvPr id="6" name="TextBox 5"/>
          <p:cNvSpPr txBox="1">
            <a:spLocks noChangeArrowheads="1"/>
          </p:cNvSpPr>
          <p:nvPr/>
        </p:nvSpPr>
        <p:spPr bwMode="auto">
          <a:xfrm>
            <a:off x="503237" y="2198021"/>
            <a:ext cx="7662864" cy="2646363"/>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600" b="1" u="sng" dirty="0">
              <a:solidFill>
                <a:schemeClr val="tx1"/>
              </a:solidFill>
            </a:endParaRPr>
          </a:p>
          <a:p>
            <a:pPr algn="just">
              <a:spcBef>
                <a:spcPct val="0"/>
              </a:spcBef>
              <a:buClrTx/>
              <a:buSzTx/>
              <a:buFontTx/>
              <a:buNone/>
              <a:defRPr/>
            </a:pPr>
            <a:r>
              <a:rPr lang="en-US" altLang="en-US" dirty="0">
                <a:solidFill>
                  <a:schemeClr val="tx1"/>
                </a:solidFill>
              </a:rPr>
              <a:t>A </a:t>
            </a:r>
            <a:r>
              <a:rPr lang="en-US" altLang="en-US" b="1" dirty="0">
                <a:solidFill>
                  <a:schemeClr val="tx1"/>
                </a:solidFill>
              </a:rPr>
              <a:t>parameter </a:t>
            </a:r>
            <a:r>
              <a:rPr lang="en-US" altLang="en-US" dirty="0">
                <a:solidFill>
                  <a:schemeClr val="tx1"/>
                </a:solidFill>
              </a:rPr>
              <a:t>is a number that describes some characteristic of the population. In statistical practice, the value of a parameter is not known because we cannot examine the entire population.</a:t>
            </a:r>
          </a:p>
          <a:p>
            <a:pPr>
              <a:spcBef>
                <a:spcPct val="0"/>
              </a:spcBef>
              <a:buClrTx/>
              <a:buSzTx/>
              <a:buFontTx/>
              <a:buNone/>
              <a:defRPr/>
            </a:pPr>
            <a:endParaRPr lang="en-US" altLang="en-US" dirty="0">
              <a:solidFill>
                <a:schemeClr val="tx1"/>
              </a:solidFill>
            </a:endParaRPr>
          </a:p>
          <a:p>
            <a:pPr algn="just">
              <a:spcBef>
                <a:spcPct val="0"/>
              </a:spcBef>
              <a:buClrTx/>
              <a:buSzTx/>
              <a:buFontTx/>
              <a:buNone/>
              <a:defRPr/>
            </a:pPr>
            <a:r>
              <a:rPr lang="en-US" altLang="en-US" dirty="0">
                <a:solidFill>
                  <a:schemeClr val="tx1"/>
                </a:solidFill>
              </a:rPr>
              <a:t>A </a:t>
            </a:r>
            <a:r>
              <a:rPr lang="en-US" altLang="en-US" b="1" dirty="0">
                <a:solidFill>
                  <a:schemeClr val="tx1"/>
                </a:solidFill>
              </a:rPr>
              <a:t>statistic </a:t>
            </a:r>
            <a:r>
              <a:rPr lang="en-US" altLang="en-US" dirty="0">
                <a:solidFill>
                  <a:schemeClr val="tx1"/>
                </a:solidFill>
              </a:rPr>
              <a:t>is a number that describes some characteristic of a sample. The value of a statistic can be computed directly from the sample data, but it can change from sample to sample. We often use a statistic to estimate an unknown parameter.</a:t>
            </a:r>
          </a:p>
        </p:txBody>
      </p:sp>
      <p:sp>
        <p:nvSpPr>
          <p:cNvPr id="9" name="TextBox 8"/>
          <p:cNvSpPr txBox="1">
            <a:spLocks noChangeArrowheads="1"/>
          </p:cNvSpPr>
          <p:nvPr/>
        </p:nvSpPr>
        <p:spPr bwMode="auto">
          <a:xfrm>
            <a:off x="1393825" y="4946746"/>
            <a:ext cx="6378575" cy="708025"/>
          </a:xfrm>
          <a:prstGeom prst="rect">
            <a:avLst/>
          </a:prstGeom>
          <a:solidFill>
            <a:srgbClr val="FFD780"/>
          </a:solidFill>
          <a:ln/>
        </p:spPr>
        <p:style>
          <a:lnRef idx="1">
            <a:schemeClr val="accent3"/>
          </a:lnRef>
          <a:fillRef idx="2">
            <a:schemeClr val="accent3"/>
          </a:fillRef>
          <a:effectRef idx="1">
            <a:schemeClr val="accent3"/>
          </a:effectRef>
          <a:fontRef idx="minor">
            <a:schemeClr val="dk1"/>
          </a:fontRef>
        </p:style>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defRPr/>
            </a:pPr>
            <a:r>
              <a:rPr lang="en-US" sz="2000" dirty="0"/>
              <a:t>Remember </a:t>
            </a:r>
            <a:r>
              <a:rPr lang="en-US" sz="2000" b="1" dirty="0"/>
              <a:t>s</a:t>
            </a:r>
            <a:r>
              <a:rPr lang="en-US" sz="2000" dirty="0"/>
              <a:t> and </a:t>
            </a:r>
            <a:r>
              <a:rPr lang="en-US" sz="2000" b="1" dirty="0"/>
              <a:t>p:</a:t>
            </a:r>
            <a:r>
              <a:rPr lang="en-US" sz="2000" dirty="0"/>
              <a:t> </a:t>
            </a:r>
            <a:r>
              <a:rPr lang="en-US" sz="2000" b="1" dirty="0"/>
              <a:t>s</a:t>
            </a:r>
            <a:r>
              <a:rPr lang="en-US" sz="2000" dirty="0"/>
              <a:t>tatistics come from </a:t>
            </a:r>
            <a:r>
              <a:rPr lang="en-US" sz="2000" b="1" dirty="0"/>
              <a:t>s</a:t>
            </a:r>
            <a:r>
              <a:rPr lang="en-US" sz="2000" dirty="0"/>
              <a:t>amples, and</a:t>
            </a:r>
          </a:p>
          <a:p>
            <a:pPr algn="ctr" eaLnBrk="1" hangingPunct="1">
              <a:defRPr/>
            </a:pPr>
            <a:r>
              <a:rPr lang="en-US" sz="2000" b="1" dirty="0"/>
              <a:t>p</a:t>
            </a:r>
            <a:r>
              <a:rPr lang="en-US" sz="2000" dirty="0"/>
              <a:t>arameters come from </a:t>
            </a:r>
            <a:r>
              <a:rPr lang="en-US" sz="2000" b="1" dirty="0"/>
              <a:t>p</a:t>
            </a:r>
            <a:r>
              <a:rPr lang="en-US" sz="2000" dirty="0"/>
              <a:t>opulations.</a:t>
            </a:r>
          </a:p>
        </p:txBody>
      </p:sp>
      <mc:AlternateContent xmlns:mc="http://schemas.openxmlformats.org/markup-compatibility/2006" xmlns:a14="http://schemas.microsoft.com/office/drawing/2010/main">
        <mc:Choice Requires="a14">
          <p:sp>
            <p:nvSpPr>
              <p:cNvPr id="29704" name="TextBox 7" descr="We write mew (the Greek letter mew) for the population mean and lower-case sigma for the population standard deviation. We write x-bar for the sample mean and s for the sample standard deviation."/>
              <p:cNvSpPr txBox="1">
                <a:spLocks noChangeArrowheads="1"/>
              </p:cNvSpPr>
              <p:nvPr/>
            </p:nvSpPr>
            <p:spPr bwMode="auto">
              <a:xfrm>
                <a:off x="547687" y="5757133"/>
                <a:ext cx="7662864" cy="104291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dirty="0">
                    <a:solidFill>
                      <a:schemeClr val="tx1"/>
                    </a:solidFill>
                  </a:rPr>
                  <a:t>We write </a:t>
                </a:r>
                <a:r>
                  <a:rPr lang="en-US" altLang="en-US" i="1" dirty="0">
                    <a:solidFill>
                      <a:schemeClr val="tx1"/>
                    </a:solidFill>
                  </a:rPr>
                  <a:t>µ</a:t>
                </a:r>
                <a:r>
                  <a:rPr lang="en-US" altLang="en-US" dirty="0">
                    <a:solidFill>
                      <a:schemeClr val="tx1"/>
                    </a:solidFill>
                  </a:rPr>
                  <a:t> (the Greek letter mu) for the population mean and </a:t>
                </a:r>
                <a:r>
                  <a:rPr lang="en-US" altLang="en-US" i="1" dirty="0">
                    <a:solidFill>
                      <a:schemeClr val="tx1"/>
                    </a:solidFill>
                  </a:rPr>
                  <a:t>σ</a:t>
                </a:r>
                <a:r>
                  <a:rPr lang="en-US" altLang="en-US" dirty="0">
                    <a:solidFill>
                      <a:schemeClr val="tx1"/>
                    </a:solidFill>
                  </a:rPr>
                  <a:t> for the population standard deviation. We write </a:t>
                </a:r>
                <a14:m>
                  <m:oMath xmlns:m="http://schemas.openxmlformats.org/officeDocument/2006/math">
                    <m:acc>
                      <m:accPr>
                        <m:chr m:val="̅"/>
                        <m:ctrlPr>
                          <a:rPr lang="en-US" altLang="en-US" i="1" smtClean="0">
                            <a:solidFill>
                              <a:schemeClr val="tx1"/>
                            </a:solidFill>
                            <a:latin typeface="Cambria Math" panose="02040503050406030204" pitchFamily="18" charset="0"/>
                          </a:rPr>
                        </m:ctrlPr>
                      </m:accPr>
                      <m:e>
                        <m:r>
                          <a:rPr lang="en-US" altLang="en-US" b="0" i="1" smtClean="0">
                            <a:solidFill>
                              <a:schemeClr val="tx1"/>
                            </a:solidFill>
                            <a:latin typeface="Cambria Math" panose="02040503050406030204" pitchFamily="18" charset="0"/>
                          </a:rPr>
                          <m:t>𝑥</m:t>
                        </m:r>
                      </m:e>
                    </m:acc>
                  </m:oMath>
                </a14:m>
                <a:r>
                  <a:rPr lang="en-US" altLang="en-US" dirty="0">
                    <a:solidFill>
                      <a:schemeClr val="tx1"/>
                    </a:solidFill>
                  </a:rPr>
                  <a:t> (x-bar) for the sample mean and </a:t>
                </a:r>
                <a:r>
                  <a:rPr lang="en-US" altLang="en-US" i="1" dirty="0">
                    <a:solidFill>
                      <a:schemeClr val="tx1"/>
                    </a:solidFill>
                  </a:rPr>
                  <a:t>s</a:t>
                </a:r>
                <a:r>
                  <a:rPr lang="en-US" altLang="en-US" dirty="0">
                    <a:solidFill>
                      <a:schemeClr val="tx1"/>
                    </a:solidFill>
                  </a:rPr>
                  <a:t> for the sample standard deviation.</a:t>
                </a:r>
              </a:p>
            </p:txBody>
          </p:sp>
        </mc:Choice>
        <mc:Fallback xmlns="">
          <p:sp>
            <p:nvSpPr>
              <p:cNvPr id="29704" name="TextBox 7" descr="We write mew (the Greek letter mew) for the population mean and lower-case sigma for the population standard deviation. We write x-bar for the sample mean and s for the sample standard deviation."/>
              <p:cNvSpPr txBox="1">
                <a:spLocks noRot="1" noChangeAspect="1" noMove="1" noResize="1" noEditPoints="1" noAdjustHandles="1" noChangeArrowheads="1" noChangeShapeType="1" noTextEdit="1"/>
              </p:cNvSpPr>
              <p:nvPr/>
            </p:nvSpPr>
            <p:spPr bwMode="auto">
              <a:xfrm>
                <a:off x="547687" y="5757133"/>
                <a:ext cx="7662864" cy="1042914"/>
              </a:xfrm>
              <a:prstGeom prst="rect">
                <a:avLst/>
              </a:prstGeom>
              <a:blipFill>
                <a:blip r:embed="rId2"/>
                <a:stretch>
                  <a:fillRect l="-875" t="-2339" r="-955" b="-760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grpId="0" nodeType="clickEffect">
                                  <p:stCondLst>
                                    <p:cond delay="0"/>
                                  </p:stCondLst>
                                  <p:childTnLst>
                                    <p:set>
                                      <p:cBhvr>
                                        <p:cTn id="17" dur="1" fill="hold">
                                          <p:stCondLst>
                                            <p:cond delay="0"/>
                                          </p:stCondLst>
                                        </p:cTn>
                                        <p:tgtEl>
                                          <p:spTgt spid="29704"/>
                                        </p:tgtEl>
                                        <p:attrNameLst>
                                          <p:attrName>style.visibility</p:attrName>
                                        </p:attrNameLst>
                                      </p:cBhvr>
                                      <p:to>
                                        <p:strVal val="visible"/>
                                      </p:to>
                                    </p:set>
                                    <p:anim calcmode="lin" valueType="num">
                                      <p:cBhvr>
                                        <p:cTn id="18" dur="1000" fill="hold"/>
                                        <p:tgtEl>
                                          <p:spTgt spid="29704"/>
                                        </p:tgtEl>
                                        <p:attrNameLst>
                                          <p:attrName>ppt_w</p:attrName>
                                        </p:attrNameLst>
                                      </p:cBhvr>
                                      <p:tavLst>
                                        <p:tav tm="0">
                                          <p:val>
                                            <p:strVal val="#ppt_w*0.70"/>
                                          </p:val>
                                        </p:tav>
                                        <p:tav tm="100000">
                                          <p:val>
                                            <p:strVal val="#ppt_w"/>
                                          </p:val>
                                        </p:tav>
                                      </p:tavLst>
                                    </p:anim>
                                    <p:anim calcmode="lin" valueType="num">
                                      <p:cBhvr>
                                        <p:cTn id="19" dur="1000" fill="hold"/>
                                        <p:tgtEl>
                                          <p:spTgt spid="29704"/>
                                        </p:tgtEl>
                                        <p:attrNameLst>
                                          <p:attrName>ppt_h</p:attrName>
                                        </p:attrNameLst>
                                      </p:cBhvr>
                                      <p:tavLst>
                                        <p:tav tm="0">
                                          <p:val>
                                            <p:strVal val="#ppt_h"/>
                                          </p:val>
                                        </p:tav>
                                        <p:tav tm="100000">
                                          <p:val>
                                            <p:strVal val="#ppt_h"/>
                                          </p:val>
                                        </p:tav>
                                      </p:tavLst>
                                    </p:anim>
                                    <p:animEffect transition="in" filter="fade">
                                      <p:cBhvr>
                                        <p:cTn id="20" dur="1000"/>
                                        <p:tgtEl>
                                          <p:spTgt spid="29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29704" grpId="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pPr eaLnBrk="1" hangingPunct="1"/>
            <a:r>
              <a:rPr lang="en-US" altLang="en-US">
                <a:ea typeface="ＭＳ Ｐゴシック" pitchFamily="34" charset="-128"/>
              </a:rPr>
              <a:t>Statistical Estimation</a:t>
            </a:r>
          </a:p>
        </p:txBody>
      </p:sp>
      <p:sp>
        <p:nvSpPr>
          <p:cNvPr id="3072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1AA8FEDF-4A83-457E-B534-E1A10A93B166}" type="slidenum">
              <a:rPr lang="en-US" altLang="en-US" sz="1200">
                <a:solidFill>
                  <a:schemeClr val="accent1"/>
                </a:solidFill>
              </a:rPr>
              <a:pPr>
                <a:lnSpc>
                  <a:spcPct val="80000"/>
                </a:lnSpc>
              </a:pPr>
              <a:t>5</a:t>
            </a:fld>
            <a:endParaRPr lang="en-US" altLang="en-US" sz="1200">
              <a:solidFill>
                <a:schemeClr val="accent1"/>
              </a:solidFill>
            </a:endParaRPr>
          </a:p>
        </p:txBody>
      </p:sp>
      <p:sp>
        <p:nvSpPr>
          <p:cNvPr id="30724" name="Vertical Text Placeholder 2"/>
          <p:cNvSpPr txBox="1">
            <a:spLocks/>
          </p:cNvSpPr>
          <p:nvPr/>
        </p:nvSpPr>
        <p:spPr bwMode="auto">
          <a:xfrm>
            <a:off x="174625" y="995363"/>
            <a:ext cx="8588375" cy="3114675"/>
          </a:xfrm>
          <a:prstGeom prst="rect">
            <a:avLst/>
          </a:prstGeom>
          <a:solidFill>
            <a:srgbClr val="FFD780"/>
          </a:solidFill>
          <a:ln>
            <a:noFill/>
          </a:ln>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spcBef>
                <a:spcPts val="700"/>
              </a:spcBef>
              <a:buClr>
                <a:schemeClr val="accent2"/>
              </a:buClr>
              <a:buSzPct val="60000"/>
              <a:buFont typeface="Wingdings" pitchFamily="2" charset="2"/>
              <a:buNone/>
            </a:pPr>
            <a:r>
              <a:rPr lang="en-US" altLang="en-US" dirty="0">
                <a:solidFill>
                  <a:schemeClr val="tx1"/>
                </a:solidFill>
              </a:rPr>
              <a:t>The process of </a:t>
            </a:r>
            <a:r>
              <a:rPr lang="en-US" altLang="en-US" b="1" dirty="0">
                <a:solidFill>
                  <a:schemeClr val="tx1"/>
                </a:solidFill>
              </a:rPr>
              <a:t>statistical inference </a:t>
            </a:r>
            <a:r>
              <a:rPr lang="en-US" altLang="en-US" dirty="0">
                <a:solidFill>
                  <a:schemeClr val="tx1"/>
                </a:solidFill>
              </a:rPr>
              <a:t>involves using information from a sample to draw conclusions about a wider population.</a:t>
            </a:r>
          </a:p>
          <a:p>
            <a:pPr eaLnBrk="1" hangingPunct="1">
              <a:spcBef>
                <a:spcPts val="700"/>
              </a:spcBef>
              <a:buClr>
                <a:schemeClr val="accent2"/>
              </a:buClr>
              <a:buSzPct val="60000"/>
              <a:buFont typeface="Wingdings" pitchFamily="2" charset="2"/>
              <a:buNone/>
            </a:pPr>
            <a:r>
              <a:rPr lang="en-US" altLang="en-US" i="1" dirty="0">
                <a:solidFill>
                  <a:schemeClr val="tx1"/>
                </a:solidFill>
              </a:rPr>
              <a:t>Different random samples yield different statistics</a:t>
            </a:r>
            <a:r>
              <a:rPr lang="en-US" altLang="en-US" dirty="0">
                <a:solidFill>
                  <a:schemeClr val="tx1"/>
                </a:solidFill>
              </a:rPr>
              <a:t>. We need to be able to describe the </a:t>
            </a:r>
            <a:r>
              <a:rPr lang="en-US" altLang="en-US" b="1" dirty="0">
                <a:solidFill>
                  <a:schemeClr val="tx1"/>
                </a:solidFill>
              </a:rPr>
              <a:t>sampling distribution </a:t>
            </a:r>
            <a:r>
              <a:rPr lang="en-US" altLang="en-US" dirty="0">
                <a:solidFill>
                  <a:schemeClr val="tx1"/>
                </a:solidFill>
              </a:rPr>
              <a:t>of the possible values of a statistic in order to perform statistical inference.</a:t>
            </a:r>
          </a:p>
          <a:p>
            <a:pPr eaLnBrk="1" hangingPunct="1">
              <a:spcBef>
                <a:spcPts val="700"/>
              </a:spcBef>
              <a:buClr>
                <a:schemeClr val="accent2"/>
              </a:buClr>
              <a:buSzPct val="60000"/>
              <a:buFont typeface="Wingdings" pitchFamily="2" charset="2"/>
              <a:buNone/>
            </a:pPr>
            <a:r>
              <a:rPr lang="en-US" altLang="en-US" dirty="0">
                <a:solidFill>
                  <a:schemeClr val="tx1"/>
                </a:solidFill>
              </a:rPr>
              <a:t>The sampling distribution of a statistic consists of all possible values of the statistic and the relative frequency with which each value occurs. We may plot this distribution using a histogram, just as we plotted a histogram to display the distribution of data in Chapter 1.  </a:t>
            </a:r>
          </a:p>
          <a:p>
            <a:pPr eaLnBrk="1" hangingPunct="1">
              <a:spcBef>
                <a:spcPts val="700"/>
              </a:spcBef>
              <a:buClr>
                <a:schemeClr val="accent2"/>
              </a:buClr>
              <a:buSzPct val="60000"/>
              <a:buFont typeface="Wingdings" pitchFamily="2" charset="2"/>
              <a:buNone/>
            </a:pPr>
            <a:endParaRPr lang="en-US" altLang="en-US" dirty="0">
              <a:solidFill>
                <a:schemeClr val="tx1"/>
              </a:solidFill>
            </a:endParaRPr>
          </a:p>
        </p:txBody>
      </p:sp>
      <p:sp>
        <p:nvSpPr>
          <p:cNvPr id="10" name="Rounded Rectangle 9"/>
          <p:cNvSpPr>
            <a:spLocks noChangeArrowheads="1"/>
          </p:cNvSpPr>
          <p:nvPr/>
        </p:nvSpPr>
        <p:spPr bwMode="auto">
          <a:xfrm>
            <a:off x="414338" y="4246563"/>
            <a:ext cx="3154362" cy="1719262"/>
          </a:xfrm>
          <a:prstGeom prst="roundRect">
            <a:avLst>
              <a:gd name="adj" fmla="val 16667"/>
            </a:avLst>
          </a:prstGeom>
          <a:solidFill>
            <a:schemeClr val="accent1"/>
          </a:solidFill>
          <a:ln w="10000">
            <a:solidFill>
              <a:schemeClr val="accent1"/>
            </a:solidFill>
            <a:round/>
            <a:headEnd/>
            <a:tailEnd/>
          </a:ln>
          <a:effectLst>
            <a:outerShdw blurRad="38100" dist="30000" dir="5400000" rotWithShape="0">
              <a:srgbClr val="808080">
                <a:alpha val="45000"/>
              </a:srgbClr>
            </a:outerShdw>
          </a:effectLst>
        </p:spPr>
        <p:txBody>
          <a:bodyPr/>
          <a:lstStyle/>
          <a:p>
            <a:pPr eaLnBrk="1" fontAlgn="auto" hangingPunct="1">
              <a:spcBef>
                <a:spcPts val="0"/>
              </a:spcBef>
              <a:spcAft>
                <a:spcPts val="0"/>
              </a:spcAft>
              <a:defRPr/>
            </a:pPr>
            <a:r>
              <a:rPr lang="en-US" sz="2000" b="1" dirty="0">
                <a:solidFill>
                  <a:schemeClr val="lt1"/>
                </a:solidFill>
                <a:latin typeface="+mn-lt"/>
                <a:ea typeface="+mn-ea"/>
                <a:cs typeface="Arial"/>
              </a:rPr>
              <a:t>Population</a:t>
            </a:r>
          </a:p>
        </p:txBody>
      </p:sp>
      <p:sp>
        <p:nvSpPr>
          <p:cNvPr id="11" name="Oval 10"/>
          <p:cNvSpPr>
            <a:spLocks noChangeArrowheads="1"/>
          </p:cNvSpPr>
          <p:nvPr/>
        </p:nvSpPr>
        <p:spPr bwMode="auto">
          <a:xfrm>
            <a:off x="1460500" y="4686300"/>
            <a:ext cx="2108200" cy="850900"/>
          </a:xfrm>
          <a:prstGeom prst="ellipse">
            <a:avLst/>
          </a:prstGeom>
          <a:solidFill>
            <a:srgbClr val="D2DA7A"/>
          </a:solidFill>
          <a:ln w="10000">
            <a:solidFill>
              <a:srgbClr val="D2DA7A"/>
            </a:solidFill>
            <a:round/>
            <a:headEnd/>
            <a:tailEnd/>
          </a:ln>
          <a:effectLst>
            <a:outerShdw blurRad="38100" dist="30000" dir="5400000" rotWithShape="0">
              <a:srgbClr val="808080">
                <a:alpha val="45000"/>
              </a:srgbClr>
            </a:outerShdw>
          </a:effectLst>
        </p:spPr>
        <p:txBody>
          <a:bodyPr/>
          <a:lstStyle/>
          <a:p>
            <a:pPr algn="ctr" eaLnBrk="1" fontAlgn="auto" hangingPunct="1">
              <a:spcBef>
                <a:spcPts val="0"/>
              </a:spcBef>
              <a:spcAft>
                <a:spcPts val="0"/>
              </a:spcAft>
              <a:defRPr/>
            </a:pPr>
            <a:r>
              <a:rPr lang="en-US" sz="2000" b="1" dirty="0">
                <a:latin typeface="+mn-lt"/>
                <a:ea typeface="+mn-ea"/>
                <a:cs typeface="Arial"/>
              </a:rPr>
              <a:t>Sample</a:t>
            </a:r>
          </a:p>
        </p:txBody>
      </p:sp>
      <p:sp>
        <p:nvSpPr>
          <p:cNvPr id="12" name="Curved Down Arrow 11" descr="already described"/>
          <p:cNvSpPr>
            <a:spLocks noChangeArrowheads="1"/>
          </p:cNvSpPr>
          <p:nvPr/>
        </p:nvSpPr>
        <p:spPr bwMode="auto">
          <a:xfrm rot="-214438">
            <a:off x="3155950" y="4032250"/>
            <a:ext cx="2573338" cy="860425"/>
          </a:xfrm>
          <a:prstGeom prst="curvedDownArrow">
            <a:avLst>
              <a:gd name="adj1" fmla="val 24992"/>
              <a:gd name="adj2" fmla="val 49999"/>
              <a:gd name="adj3" fmla="val 25000"/>
            </a:avLst>
          </a:prstGeom>
          <a:solidFill>
            <a:srgbClr val="FADA7A"/>
          </a:solidFill>
          <a:ln w="10000">
            <a:solidFill>
              <a:srgbClr val="FADA7A"/>
            </a:solidFill>
            <a:miter lim="800000"/>
            <a:headEnd/>
            <a:tailEnd/>
          </a:ln>
          <a:effectLst>
            <a:outerShdw blurRad="38100" dist="30000" dir="5400000" rotWithShape="0">
              <a:srgbClr val="808080">
                <a:alpha val="45000"/>
              </a:srgbClr>
            </a:outerShdw>
          </a:effec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defRPr/>
            </a:pPr>
            <a:endParaRPr lang="en-US" altLang="en-US">
              <a:cs typeface="Arial" panose="020B0604020202020204" pitchFamily="34" charset="0"/>
            </a:endParaRPr>
          </a:p>
        </p:txBody>
      </p:sp>
      <p:sp>
        <p:nvSpPr>
          <p:cNvPr id="13" name="TextBox 12"/>
          <p:cNvSpPr txBox="1">
            <a:spLocks noChangeArrowheads="1"/>
          </p:cNvSpPr>
          <p:nvPr/>
        </p:nvSpPr>
        <p:spPr bwMode="auto">
          <a:xfrm>
            <a:off x="4641850" y="4794250"/>
            <a:ext cx="30861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b="1" dirty="0">
                <a:solidFill>
                  <a:schemeClr val="tx1"/>
                </a:solidFill>
              </a:rPr>
              <a:t>Collect data </a:t>
            </a:r>
            <a:r>
              <a:rPr lang="en-US" altLang="en-US" dirty="0">
                <a:solidFill>
                  <a:schemeClr val="tx1"/>
                </a:solidFill>
              </a:rPr>
              <a:t>from a representative </a:t>
            </a:r>
            <a:r>
              <a:rPr lang="en-US" altLang="en-US" b="1" dirty="0">
                <a:solidFill>
                  <a:schemeClr val="tx1"/>
                </a:solidFill>
              </a:rPr>
              <a:t>Sample</a:t>
            </a:r>
            <a:r>
              <a:rPr lang="en-US" altLang="en-US" dirty="0">
                <a:solidFill>
                  <a:schemeClr val="tx1"/>
                </a:solidFill>
              </a:rPr>
              <a:t>...</a:t>
            </a:r>
          </a:p>
        </p:txBody>
      </p:sp>
      <p:sp>
        <p:nvSpPr>
          <p:cNvPr id="15" name="Curved Down Arrow 14" descr="already described"/>
          <p:cNvSpPr>
            <a:spLocks noChangeArrowheads="1"/>
          </p:cNvSpPr>
          <p:nvPr/>
        </p:nvSpPr>
        <p:spPr bwMode="auto">
          <a:xfrm rot="6610493">
            <a:off x="6850857" y="5476081"/>
            <a:ext cx="1714500" cy="858837"/>
          </a:xfrm>
          <a:prstGeom prst="curvedDownArrow">
            <a:avLst>
              <a:gd name="adj1" fmla="val 24991"/>
              <a:gd name="adj2" fmla="val 50000"/>
              <a:gd name="adj3" fmla="val 25000"/>
            </a:avLst>
          </a:prstGeom>
          <a:solidFill>
            <a:srgbClr val="FADA7A"/>
          </a:solidFill>
          <a:ln w="10000">
            <a:solidFill>
              <a:srgbClr val="FADA7A"/>
            </a:solidFill>
            <a:miter lim="800000"/>
            <a:headEnd/>
            <a:tailEnd/>
          </a:ln>
          <a:effectLst>
            <a:outerShdw blurRad="38100" dist="30000" dir="5400000" rotWithShape="0">
              <a:srgbClr val="808080">
                <a:alpha val="45000"/>
              </a:srgbClr>
            </a:outerShdw>
          </a:effec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defRPr/>
            </a:pPr>
            <a:endParaRPr lang="en-US" altLang="en-US">
              <a:cs typeface="Arial" panose="020B0604020202020204" pitchFamily="34" charset="0"/>
            </a:endParaRPr>
          </a:p>
        </p:txBody>
      </p:sp>
      <p:sp>
        <p:nvSpPr>
          <p:cNvPr id="14" name="TextBox 13"/>
          <p:cNvSpPr txBox="1">
            <a:spLocks noChangeArrowheads="1"/>
          </p:cNvSpPr>
          <p:nvPr/>
        </p:nvSpPr>
        <p:spPr bwMode="auto">
          <a:xfrm>
            <a:off x="4222750" y="5965825"/>
            <a:ext cx="29257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a:solidFill>
                  <a:schemeClr val="tx1"/>
                </a:solidFill>
              </a:rPr>
              <a:t>Make an </a:t>
            </a:r>
            <a:r>
              <a:rPr lang="en-US" altLang="en-US" b="1">
                <a:solidFill>
                  <a:schemeClr val="tx1"/>
                </a:solidFill>
              </a:rPr>
              <a:t>inference </a:t>
            </a:r>
            <a:r>
              <a:rPr lang="en-US" altLang="en-US">
                <a:solidFill>
                  <a:schemeClr val="tx1"/>
                </a:solidFill>
              </a:rPr>
              <a:t>about the </a:t>
            </a:r>
            <a:r>
              <a:rPr lang="en-US" altLang="en-US" b="1">
                <a:solidFill>
                  <a:schemeClr val="tx1"/>
                </a:solidFill>
              </a:rPr>
              <a:t>Population.</a:t>
            </a:r>
          </a:p>
        </p:txBody>
      </p:sp>
      <p:sp>
        <p:nvSpPr>
          <p:cNvPr id="16" name="Curved Down Arrow 15" descr="already described"/>
          <p:cNvSpPr>
            <a:spLocks noChangeArrowheads="1"/>
          </p:cNvSpPr>
          <p:nvPr/>
        </p:nvSpPr>
        <p:spPr bwMode="auto">
          <a:xfrm rot="-9338745">
            <a:off x="725488" y="5670550"/>
            <a:ext cx="3365500" cy="690563"/>
          </a:xfrm>
          <a:prstGeom prst="curvedDownArrow">
            <a:avLst>
              <a:gd name="adj1" fmla="val 25000"/>
              <a:gd name="adj2" fmla="val 49999"/>
              <a:gd name="adj3" fmla="val 25000"/>
            </a:avLst>
          </a:prstGeom>
          <a:solidFill>
            <a:srgbClr val="FADA7A"/>
          </a:solidFill>
          <a:ln w="10000">
            <a:solidFill>
              <a:srgbClr val="FADA7A"/>
            </a:solidFill>
            <a:miter lim="800000"/>
            <a:headEnd/>
            <a:tailEnd/>
          </a:ln>
          <a:effectLst>
            <a:outerShdw blurRad="38100" dist="30000" dir="5400000" rotWithShape="0">
              <a:srgbClr val="808080">
                <a:alpha val="45000"/>
              </a:srgbClr>
            </a:outerShdw>
          </a:effec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defRPr/>
            </a:pPr>
            <a:endParaRPr lang="en-US" altLang="en-US">
              <a:cs typeface="Arial" panose="020B0604020202020204" pitchFamily="34" charset="0"/>
            </a:endParaRPr>
          </a:p>
        </p:txBody>
      </p:sp>
    </p:spTree>
    <p:extLst>
      <p:ext uri="{BB962C8B-B14F-4D97-AF65-F5344CB8AC3E}">
        <p14:creationId xmlns:p14="http://schemas.microsoft.com/office/powerpoint/2010/main" val="417412614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2000"/>
                                        <p:tgtEl>
                                          <p:spTgt spid="13"/>
                                        </p:tgtEl>
                                      </p:cBhvr>
                                    </p:animEffect>
                                  </p:childTnLst>
                                </p:cTn>
                              </p:par>
                              <p:par>
                                <p:cTn id="12" presetID="10" presetClass="entr" presetSubtype="0"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childTnLst>
                                </p:cTn>
                              </p:par>
                            </p:childTnLst>
                          </p:cTn>
                        </p:par>
                        <p:par>
                          <p:cTn id="15" fill="hold" nodeType="afterGroup">
                            <p:stCondLst>
                              <p:cond delay="3000"/>
                            </p:stCondLst>
                            <p:childTnLst>
                              <p:par>
                                <p:cTn id="16" presetID="10" presetClass="entr" presetSubtype="0" fill="hold"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1000"/>
                                        <p:tgtEl>
                                          <p:spTgt spid="15"/>
                                        </p:tgtEl>
                                      </p:cBhvr>
                                    </p:animEffect>
                                  </p:childTnLst>
                                </p:cTn>
                              </p:par>
                            </p:childTnLst>
                          </p:cTn>
                        </p:par>
                        <p:par>
                          <p:cTn id="19" fill="hold" nodeType="afterGroup">
                            <p:stCondLst>
                              <p:cond delay="4000"/>
                            </p:stCondLst>
                            <p:childTnLst>
                              <p:par>
                                <p:cTn id="20" presetID="10" presetClass="entr" presetSubtype="0" fill="hold" nodeType="after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pPr eaLnBrk="1" hangingPunct="1"/>
            <a:r>
              <a:rPr lang="en-US" altLang="en-US">
                <a:ea typeface="ＭＳ Ｐゴシック" pitchFamily="34" charset="-128"/>
              </a:rPr>
              <a:t>Sampling Variability</a:t>
            </a:r>
          </a:p>
        </p:txBody>
      </p:sp>
      <p:sp>
        <p:nvSpPr>
          <p:cNvPr id="317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EF2AA87A-BD1D-4F7D-83E1-86E7B00BA3EA}" type="slidenum">
              <a:rPr lang="en-US" altLang="en-US" sz="1200">
                <a:solidFill>
                  <a:schemeClr val="accent1"/>
                </a:solidFill>
              </a:rPr>
              <a:pPr>
                <a:lnSpc>
                  <a:spcPct val="80000"/>
                </a:lnSpc>
              </a:pPr>
              <a:t>6</a:t>
            </a:fld>
            <a:endParaRPr lang="en-US" altLang="en-US" sz="1200">
              <a:solidFill>
                <a:schemeClr val="accent1"/>
              </a:solidFill>
            </a:endParaRPr>
          </a:p>
        </p:txBody>
      </p:sp>
      <p:sp>
        <p:nvSpPr>
          <p:cNvPr id="31748" name="Vertical Text Placeholder 2"/>
          <p:cNvSpPr txBox="1">
            <a:spLocks/>
          </p:cNvSpPr>
          <p:nvPr/>
        </p:nvSpPr>
        <p:spPr bwMode="auto">
          <a:xfrm>
            <a:off x="174625" y="1208018"/>
            <a:ext cx="8081963" cy="1440379"/>
          </a:xfrm>
          <a:prstGeom prst="rect">
            <a:avLst/>
          </a:prstGeom>
          <a:solidFill>
            <a:srgbClr val="FFD780"/>
          </a:solidFill>
          <a:ln>
            <a:noFill/>
          </a:ln>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spcBef>
                <a:spcPts val="700"/>
              </a:spcBef>
              <a:buClr>
                <a:schemeClr val="accent2"/>
              </a:buClr>
              <a:buSzPct val="60000"/>
              <a:buFont typeface="Wingdings" pitchFamily="2" charset="2"/>
              <a:buNone/>
            </a:pPr>
            <a:r>
              <a:rPr lang="en-US" altLang="en-US" b="1" dirty="0">
                <a:solidFill>
                  <a:schemeClr val="tx1"/>
                </a:solidFill>
              </a:rPr>
              <a:t>Sampling variability </a:t>
            </a:r>
            <a:r>
              <a:rPr lang="en-US" altLang="en-US" dirty="0">
                <a:solidFill>
                  <a:schemeClr val="tx1"/>
                </a:solidFill>
              </a:rPr>
              <a:t>is a term used for the fact that the value of a statistic varies in repeated random sampling.</a:t>
            </a:r>
          </a:p>
          <a:p>
            <a:pPr eaLnBrk="1" hangingPunct="1">
              <a:spcBef>
                <a:spcPts val="700"/>
              </a:spcBef>
              <a:buClr>
                <a:schemeClr val="accent2"/>
              </a:buClr>
              <a:buSzPct val="60000"/>
              <a:buFont typeface="Wingdings" pitchFamily="2" charset="2"/>
              <a:buNone/>
            </a:pPr>
            <a:r>
              <a:rPr lang="en-US" altLang="en-US" dirty="0">
                <a:solidFill>
                  <a:schemeClr val="tx1"/>
                </a:solidFill>
              </a:rPr>
              <a:t>To make sense of sampling variability, we ask, </a:t>
            </a:r>
            <a:r>
              <a:rPr lang="ja-JP" altLang="en-US" dirty="0">
                <a:solidFill>
                  <a:schemeClr val="tx1"/>
                </a:solidFill>
              </a:rPr>
              <a:t>“</a:t>
            </a:r>
            <a:r>
              <a:rPr lang="en-US" altLang="ja-JP" dirty="0">
                <a:solidFill>
                  <a:schemeClr val="tx1"/>
                </a:solidFill>
              </a:rPr>
              <a:t>What would happen if we took many samples?</a:t>
            </a:r>
            <a:r>
              <a:rPr lang="ja-JP" altLang="en-US" dirty="0">
                <a:solidFill>
                  <a:schemeClr val="tx1"/>
                </a:solidFill>
              </a:rPr>
              <a:t>”</a:t>
            </a:r>
            <a:endParaRPr lang="en-US" altLang="en-US" dirty="0">
              <a:solidFill>
                <a:schemeClr val="tx1"/>
              </a:solidFill>
            </a:endParaRPr>
          </a:p>
        </p:txBody>
      </p:sp>
      <p:grpSp>
        <p:nvGrpSpPr>
          <p:cNvPr id="2" name="Group 1" descr="already described"/>
          <p:cNvGrpSpPr/>
          <p:nvPr/>
        </p:nvGrpSpPr>
        <p:grpSpPr>
          <a:xfrm>
            <a:off x="1014413" y="2942669"/>
            <a:ext cx="6981825" cy="3204411"/>
            <a:chOff x="1014413" y="2942669"/>
            <a:chExt cx="6981825" cy="3204411"/>
          </a:xfrm>
        </p:grpSpPr>
        <p:sp>
          <p:nvSpPr>
            <p:cNvPr id="8" name="Rounded Rectangle 7" descr="The image shows a rectangle figure which depicts the population and it has so many oval figures that depict samples. It depicts sampling variability, and discusses what will happen if so many samples are taken from the wider population."/>
            <p:cNvSpPr>
              <a:spLocks noChangeArrowheads="1"/>
            </p:cNvSpPr>
            <p:nvPr/>
          </p:nvSpPr>
          <p:spPr bwMode="auto">
            <a:xfrm>
              <a:off x="1014413" y="3100388"/>
              <a:ext cx="4076700" cy="2687637"/>
            </a:xfrm>
            <a:prstGeom prst="roundRect">
              <a:avLst>
                <a:gd name="adj" fmla="val 16667"/>
              </a:avLst>
            </a:prstGeom>
            <a:solidFill>
              <a:srgbClr val="D2DA7A"/>
            </a:solidFill>
            <a:ln w="47625" cmpd="dbl">
              <a:solidFill>
                <a:schemeClr val="bg1"/>
              </a:solidFill>
              <a:round/>
              <a:headEnd/>
              <a:tailEnd/>
            </a:ln>
            <a:effectLst>
              <a:outerShdw blurRad="38100" dist="30000" dir="5400000" rotWithShape="0">
                <a:srgbClr val="808080">
                  <a:alpha val="45000"/>
                </a:srgbClr>
              </a:outerShdw>
            </a:effectLst>
          </p:spPr>
          <p:txBody>
            <a:bodyPr/>
            <a:lstStyle/>
            <a:p>
              <a:pPr eaLnBrk="1" fontAlgn="auto" hangingPunct="1">
                <a:spcBef>
                  <a:spcPts val="0"/>
                </a:spcBef>
                <a:spcAft>
                  <a:spcPts val="0"/>
                </a:spcAft>
                <a:defRPr/>
              </a:pPr>
              <a:r>
                <a:rPr lang="en-US" sz="2000" b="1" dirty="0">
                  <a:latin typeface="Arial"/>
                  <a:ea typeface="+mn-ea"/>
                  <a:cs typeface="Arial"/>
                </a:rPr>
                <a:t>Population</a:t>
              </a:r>
            </a:p>
          </p:txBody>
        </p:sp>
        <p:sp>
          <p:nvSpPr>
            <p:cNvPr id="9" name="Oval 8"/>
            <p:cNvSpPr>
              <a:spLocks noChangeArrowheads="1"/>
            </p:cNvSpPr>
            <p:nvPr/>
          </p:nvSpPr>
          <p:spPr bwMode="auto">
            <a:xfrm>
              <a:off x="2546350" y="3763963"/>
              <a:ext cx="1455738" cy="576262"/>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600" b="1" dirty="0">
                  <a:solidFill>
                    <a:srgbClr val="FFFFFF"/>
                  </a:solidFill>
                  <a:cs typeface="Arial" panose="020B0604020202020204" pitchFamily="34" charset="0"/>
                </a:rPr>
                <a:t>Sample</a:t>
              </a:r>
              <a:endParaRPr lang="en-US" altLang="en-US" b="1" dirty="0">
                <a:solidFill>
                  <a:srgbClr val="FFFFFF"/>
                </a:solidFill>
                <a:cs typeface="Arial" panose="020B0604020202020204" pitchFamily="34" charset="0"/>
              </a:endParaRPr>
            </a:p>
          </p:txBody>
        </p:sp>
        <p:sp>
          <p:nvSpPr>
            <p:cNvPr id="10" name="Oval 9"/>
            <p:cNvSpPr>
              <a:spLocks noChangeArrowheads="1"/>
            </p:cNvSpPr>
            <p:nvPr/>
          </p:nvSpPr>
          <p:spPr bwMode="auto">
            <a:xfrm>
              <a:off x="3514725" y="4052888"/>
              <a:ext cx="1455738" cy="576262"/>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600" b="1">
                  <a:solidFill>
                    <a:srgbClr val="FFFFFF"/>
                  </a:solidFill>
                  <a:cs typeface="Arial" panose="020B0604020202020204" pitchFamily="34" charset="0"/>
                </a:rPr>
                <a:t>Sample</a:t>
              </a:r>
              <a:endParaRPr lang="en-US" altLang="en-US" b="1">
                <a:solidFill>
                  <a:srgbClr val="FFFFFF"/>
                </a:solidFill>
                <a:cs typeface="Arial" panose="020B0604020202020204" pitchFamily="34" charset="0"/>
              </a:endParaRPr>
            </a:p>
          </p:txBody>
        </p:sp>
        <p:sp>
          <p:nvSpPr>
            <p:cNvPr id="11" name="Oval 10"/>
            <p:cNvSpPr>
              <a:spLocks noChangeArrowheads="1"/>
            </p:cNvSpPr>
            <p:nvPr/>
          </p:nvSpPr>
          <p:spPr bwMode="auto">
            <a:xfrm>
              <a:off x="3427413" y="5041900"/>
              <a:ext cx="1454150" cy="576263"/>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600" b="1" dirty="0">
                  <a:solidFill>
                    <a:srgbClr val="FFFFFF"/>
                  </a:solidFill>
                  <a:cs typeface="Arial" panose="020B0604020202020204" pitchFamily="34" charset="0"/>
                </a:rPr>
                <a:t>Sample</a:t>
              </a:r>
              <a:endParaRPr lang="en-US" altLang="en-US" b="1" dirty="0">
                <a:solidFill>
                  <a:srgbClr val="FFFFFF"/>
                </a:solidFill>
                <a:cs typeface="Arial" panose="020B0604020202020204" pitchFamily="34" charset="0"/>
              </a:endParaRPr>
            </a:p>
          </p:txBody>
        </p:sp>
        <p:sp>
          <p:nvSpPr>
            <p:cNvPr id="12" name="Oval 11"/>
            <p:cNvSpPr>
              <a:spLocks noChangeArrowheads="1"/>
            </p:cNvSpPr>
            <p:nvPr/>
          </p:nvSpPr>
          <p:spPr bwMode="auto">
            <a:xfrm>
              <a:off x="3427413" y="3259138"/>
              <a:ext cx="1454150" cy="577850"/>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600" b="1" dirty="0">
                  <a:solidFill>
                    <a:srgbClr val="FFFFFF"/>
                  </a:solidFill>
                  <a:cs typeface="Arial" panose="020B0604020202020204" pitchFamily="34" charset="0"/>
                </a:rPr>
                <a:t>Sample</a:t>
              </a:r>
              <a:endParaRPr lang="en-US" altLang="en-US" b="1" dirty="0">
                <a:solidFill>
                  <a:srgbClr val="FFFFFF"/>
                </a:solidFill>
                <a:cs typeface="Arial" panose="020B0604020202020204" pitchFamily="34" charset="0"/>
              </a:endParaRPr>
            </a:p>
          </p:txBody>
        </p:sp>
        <p:sp>
          <p:nvSpPr>
            <p:cNvPr id="13" name="Oval 12"/>
            <p:cNvSpPr>
              <a:spLocks noChangeArrowheads="1"/>
            </p:cNvSpPr>
            <p:nvPr/>
          </p:nvSpPr>
          <p:spPr bwMode="auto">
            <a:xfrm>
              <a:off x="2744788" y="4537075"/>
              <a:ext cx="1455737" cy="576263"/>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600" b="1" dirty="0">
                  <a:solidFill>
                    <a:srgbClr val="FFFFFF"/>
                  </a:solidFill>
                  <a:cs typeface="Arial" panose="020B0604020202020204" pitchFamily="34" charset="0"/>
                </a:rPr>
                <a:t>Sample</a:t>
              </a:r>
              <a:endParaRPr lang="en-US" altLang="en-US" b="1" dirty="0">
                <a:solidFill>
                  <a:srgbClr val="FFFFFF"/>
                </a:solidFill>
                <a:cs typeface="Arial" panose="020B0604020202020204" pitchFamily="34" charset="0"/>
              </a:endParaRPr>
            </a:p>
          </p:txBody>
        </p:sp>
        <p:sp>
          <p:nvSpPr>
            <p:cNvPr id="14" name="Oval 13"/>
            <p:cNvSpPr>
              <a:spLocks noChangeArrowheads="1"/>
            </p:cNvSpPr>
            <p:nvPr/>
          </p:nvSpPr>
          <p:spPr bwMode="auto">
            <a:xfrm>
              <a:off x="1628775" y="4281488"/>
              <a:ext cx="1455738" cy="576262"/>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600" b="1" dirty="0">
                  <a:solidFill>
                    <a:srgbClr val="FFFFFF"/>
                  </a:solidFill>
                  <a:cs typeface="Arial" panose="020B0604020202020204" pitchFamily="34" charset="0"/>
                </a:rPr>
                <a:t>Sample</a:t>
              </a:r>
              <a:endParaRPr lang="en-US" altLang="en-US" b="1" dirty="0">
                <a:solidFill>
                  <a:srgbClr val="FFFFFF"/>
                </a:solidFill>
                <a:cs typeface="Arial" panose="020B0604020202020204" pitchFamily="34" charset="0"/>
              </a:endParaRPr>
            </a:p>
          </p:txBody>
        </p:sp>
        <p:sp>
          <p:nvSpPr>
            <p:cNvPr id="15" name="Oval 14"/>
            <p:cNvSpPr>
              <a:spLocks noChangeArrowheads="1"/>
            </p:cNvSpPr>
            <p:nvPr/>
          </p:nvSpPr>
          <p:spPr bwMode="auto">
            <a:xfrm>
              <a:off x="1447800" y="5041900"/>
              <a:ext cx="1455738" cy="576263"/>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600" b="1" dirty="0">
                  <a:solidFill>
                    <a:srgbClr val="FFFFFF"/>
                  </a:solidFill>
                  <a:cs typeface="Arial" panose="020B0604020202020204" pitchFamily="34" charset="0"/>
                </a:rPr>
                <a:t>Sample</a:t>
              </a:r>
              <a:endParaRPr lang="en-US" altLang="en-US" b="1" dirty="0">
                <a:solidFill>
                  <a:srgbClr val="FFFFFF"/>
                </a:solidFill>
                <a:cs typeface="Arial" panose="020B0604020202020204" pitchFamily="34" charset="0"/>
              </a:endParaRPr>
            </a:p>
          </p:txBody>
        </p:sp>
        <p:sp>
          <p:nvSpPr>
            <p:cNvPr id="16" name="Oval 15"/>
            <p:cNvSpPr>
              <a:spLocks noChangeArrowheads="1"/>
            </p:cNvSpPr>
            <p:nvPr/>
          </p:nvSpPr>
          <p:spPr bwMode="auto">
            <a:xfrm>
              <a:off x="1290638" y="3763963"/>
              <a:ext cx="1454150" cy="576262"/>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600" b="1" dirty="0">
                  <a:solidFill>
                    <a:srgbClr val="FFFFFF"/>
                  </a:solidFill>
                  <a:cs typeface="Arial" panose="020B0604020202020204" pitchFamily="34" charset="0"/>
                </a:rPr>
                <a:t>Sample</a:t>
              </a:r>
              <a:endParaRPr lang="en-US" altLang="en-US" b="1" dirty="0">
                <a:solidFill>
                  <a:srgbClr val="FFFFFF"/>
                </a:solidFill>
                <a:cs typeface="Arial" panose="020B0604020202020204" pitchFamily="34" charset="0"/>
              </a:endParaRPr>
            </a:p>
          </p:txBody>
        </p:sp>
        <p:sp>
          <p:nvSpPr>
            <p:cNvPr id="17" name="Curved Down Arrow 16"/>
            <p:cNvSpPr/>
            <p:nvPr/>
          </p:nvSpPr>
          <p:spPr>
            <a:xfrm rot="367008">
              <a:off x="4542172" y="2942669"/>
              <a:ext cx="2830025" cy="619150"/>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tx1"/>
                </a:solidFill>
                <a:cs typeface="Arial"/>
              </a:endParaRPr>
            </a:p>
          </p:txBody>
        </p:sp>
        <p:sp>
          <p:nvSpPr>
            <p:cNvPr id="18" name="Curved Down Arrow 17"/>
            <p:cNvSpPr/>
            <p:nvPr/>
          </p:nvSpPr>
          <p:spPr>
            <a:xfrm rot="21385562">
              <a:off x="3687412" y="3468728"/>
              <a:ext cx="3440856" cy="499372"/>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tx1"/>
                </a:solidFill>
                <a:cs typeface="Arial"/>
              </a:endParaRPr>
            </a:p>
          </p:txBody>
        </p:sp>
        <p:sp>
          <p:nvSpPr>
            <p:cNvPr id="19" name="Curved Down Arrow 18"/>
            <p:cNvSpPr/>
            <p:nvPr/>
          </p:nvSpPr>
          <p:spPr>
            <a:xfrm rot="214438" flipV="1">
              <a:off x="3928369" y="4860596"/>
              <a:ext cx="3217667" cy="517879"/>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tx1"/>
                </a:solidFill>
                <a:cs typeface="Arial"/>
              </a:endParaRPr>
            </a:p>
          </p:txBody>
        </p:sp>
        <p:sp>
          <p:nvSpPr>
            <p:cNvPr id="20" name="Curved Down Arrow 19"/>
            <p:cNvSpPr/>
            <p:nvPr/>
          </p:nvSpPr>
          <p:spPr>
            <a:xfrm rot="21385562">
              <a:off x="2713971" y="3973659"/>
              <a:ext cx="4430296" cy="619150"/>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tx1"/>
                </a:solidFill>
                <a:cs typeface="Arial"/>
              </a:endParaRPr>
            </a:p>
          </p:txBody>
        </p:sp>
        <p:sp>
          <p:nvSpPr>
            <p:cNvPr id="21" name="Curved Down Arrow 20"/>
            <p:cNvSpPr/>
            <p:nvPr/>
          </p:nvSpPr>
          <p:spPr>
            <a:xfrm rot="21385562">
              <a:off x="2492614" y="3242814"/>
              <a:ext cx="4587242" cy="768566"/>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tx1"/>
                </a:solidFill>
                <a:cs typeface="Arial"/>
              </a:endParaRPr>
            </a:p>
          </p:txBody>
        </p:sp>
        <p:sp>
          <p:nvSpPr>
            <p:cNvPr id="22" name="Curved Down Arrow 21"/>
            <p:cNvSpPr/>
            <p:nvPr/>
          </p:nvSpPr>
          <p:spPr>
            <a:xfrm flipV="1">
              <a:off x="2612792" y="5369820"/>
              <a:ext cx="4716314" cy="619150"/>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tx1"/>
                </a:solidFill>
                <a:cs typeface="Arial"/>
              </a:endParaRPr>
            </a:p>
          </p:txBody>
        </p:sp>
        <p:sp>
          <p:nvSpPr>
            <p:cNvPr id="23" name="Curved Down Arrow 22"/>
            <p:cNvSpPr/>
            <p:nvPr/>
          </p:nvSpPr>
          <p:spPr>
            <a:xfrm rot="21313586" flipV="1">
              <a:off x="4222643" y="5393749"/>
              <a:ext cx="3279600" cy="753331"/>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tx1"/>
                </a:solidFill>
                <a:cs typeface="Arial"/>
              </a:endParaRPr>
            </a:p>
          </p:txBody>
        </p:sp>
        <p:sp>
          <p:nvSpPr>
            <p:cNvPr id="24" name="Curved Down Arrow 23"/>
            <p:cNvSpPr/>
            <p:nvPr/>
          </p:nvSpPr>
          <p:spPr>
            <a:xfrm rot="21385562">
              <a:off x="4680765" y="3586184"/>
              <a:ext cx="2461046" cy="619150"/>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tx1"/>
                </a:solidFill>
                <a:cs typeface="Arial"/>
              </a:endParaRPr>
            </a:p>
          </p:txBody>
        </p:sp>
        <p:sp>
          <p:nvSpPr>
            <p:cNvPr id="25" name="TextBox 24"/>
            <p:cNvSpPr txBox="1"/>
            <p:nvPr/>
          </p:nvSpPr>
          <p:spPr>
            <a:xfrm>
              <a:off x="7059563" y="3688934"/>
              <a:ext cx="936675" cy="1569660"/>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pPr algn="ctr" eaLnBrk="1" hangingPunct="1">
                <a:defRPr/>
              </a:pPr>
              <a:r>
                <a:rPr lang="en-US" sz="9600" b="1" dirty="0">
                  <a:solidFill>
                    <a:schemeClr val="tx1"/>
                  </a:solidFill>
                  <a:cs typeface="Arial"/>
                </a:rPr>
                <a:t>?</a:t>
              </a:r>
            </a:p>
          </p:txBody>
        </p:sp>
      </p:grpSp>
    </p:spTree>
    <p:extLst>
      <p:ext uri="{BB962C8B-B14F-4D97-AF65-F5344CB8AC3E}">
        <p14:creationId xmlns:p14="http://schemas.microsoft.com/office/powerpoint/2010/main" val="2037828571"/>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1" name="Rectangle 19"/>
          <p:cNvSpPr>
            <a:spLocks noGrp="1" noChangeArrowheads="1"/>
          </p:cNvSpPr>
          <p:nvPr>
            <p:ph type="title"/>
          </p:nvPr>
        </p:nvSpPr>
        <p:spPr/>
        <p:txBody>
          <a:bodyPr/>
          <a:lstStyle/>
          <a:p>
            <a:pPr eaLnBrk="1" hangingPunct="1"/>
            <a:r>
              <a:rPr lang="en-US" altLang="en-US">
                <a:ea typeface="ＭＳ Ｐゴシック" pitchFamily="34" charset="-128"/>
              </a:rPr>
              <a:t>Sampling Distributions</a:t>
            </a:r>
          </a:p>
        </p:txBody>
      </p:sp>
      <p:sp>
        <p:nvSpPr>
          <p:cNvPr id="327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01BBE780-E709-42CE-ACEE-601BFCAF2A1E}" type="slidenum">
              <a:rPr lang="en-US" altLang="en-US" sz="1200">
                <a:solidFill>
                  <a:schemeClr val="accent1"/>
                </a:solidFill>
              </a:rPr>
              <a:pPr>
                <a:lnSpc>
                  <a:spcPct val="80000"/>
                </a:lnSpc>
              </a:pPr>
              <a:t>7</a:t>
            </a:fld>
            <a:endParaRPr lang="en-US" altLang="en-US" sz="1200">
              <a:solidFill>
                <a:schemeClr val="accent1"/>
              </a:solidFill>
            </a:endParaRPr>
          </a:p>
        </p:txBody>
      </p:sp>
      <p:sp>
        <p:nvSpPr>
          <p:cNvPr id="32772" name="TextBox 1"/>
          <p:cNvSpPr txBox="1">
            <a:spLocks noChangeArrowheads="1"/>
          </p:cNvSpPr>
          <p:nvPr/>
        </p:nvSpPr>
        <p:spPr bwMode="auto">
          <a:xfrm>
            <a:off x="303211" y="1168400"/>
            <a:ext cx="7699375"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r>
              <a:rPr lang="en-US" altLang="en-US" dirty="0">
                <a:solidFill>
                  <a:schemeClr val="tx1"/>
                </a:solidFill>
              </a:rPr>
              <a:t>If we measure enough subjects, the statistic will be very close to the unknown parameter that it is estimating.</a:t>
            </a:r>
          </a:p>
          <a:p>
            <a:pPr algn="just" eaLnBrk="1" hangingPunct="1">
              <a:spcBef>
                <a:spcPts val="1200"/>
              </a:spcBef>
            </a:pPr>
            <a:r>
              <a:rPr lang="en-US" altLang="en-US" dirty="0">
                <a:solidFill>
                  <a:schemeClr val="tx1"/>
                </a:solidFill>
              </a:rPr>
              <a:t>If we took every one of the possible samples of a certain size, calculated the sample mean for each, and made a histogram of all those values, we’</a:t>
            </a:r>
            <a:r>
              <a:rPr lang="en-US" altLang="ja-JP" dirty="0">
                <a:solidFill>
                  <a:schemeClr val="tx1"/>
                </a:solidFill>
              </a:rPr>
              <a:t>d have a </a:t>
            </a:r>
            <a:r>
              <a:rPr lang="en-US" altLang="ja-JP" b="1" dirty="0">
                <a:solidFill>
                  <a:schemeClr val="tx1"/>
                </a:solidFill>
              </a:rPr>
              <a:t>sampling distribution</a:t>
            </a:r>
            <a:r>
              <a:rPr lang="en-US" altLang="en-US" dirty="0">
                <a:solidFill>
                  <a:schemeClr val="tx1"/>
                </a:solidFill>
              </a:rPr>
              <a:t>.</a:t>
            </a:r>
            <a:endParaRPr lang="en-US" altLang="ja-JP" sz="3600" dirty="0">
              <a:solidFill>
                <a:schemeClr val="tx1"/>
              </a:solidFill>
            </a:endParaRPr>
          </a:p>
        </p:txBody>
      </p:sp>
      <p:sp>
        <p:nvSpPr>
          <p:cNvPr id="6" name="TextBox 5"/>
          <p:cNvSpPr txBox="1">
            <a:spLocks noChangeArrowheads="1"/>
          </p:cNvSpPr>
          <p:nvPr/>
        </p:nvSpPr>
        <p:spPr bwMode="auto">
          <a:xfrm>
            <a:off x="266699" y="3194169"/>
            <a:ext cx="7772400" cy="1014412"/>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r>
              <a:rPr lang="en-US" altLang="en-US" dirty="0">
                <a:solidFill>
                  <a:schemeClr val="tx1"/>
                </a:solidFill>
              </a:rPr>
              <a:t>The </a:t>
            </a:r>
            <a:r>
              <a:rPr lang="en-US" altLang="en-US" b="1" dirty="0">
                <a:solidFill>
                  <a:schemeClr val="tx1"/>
                </a:solidFill>
              </a:rPr>
              <a:t>sampling distribution </a:t>
            </a:r>
            <a:r>
              <a:rPr lang="en-US" altLang="en-US" dirty="0">
                <a:solidFill>
                  <a:schemeClr val="tx1"/>
                </a:solidFill>
              </a:rPr>
              <a:t>of a statistic is the distribution of values taken by the statistic in all possible samples of the same size from the same population.</a:t>
            </a:r>
            <a:endParaRPr lang="en-US" altLang="en-US" sz="2400" dirty="0">
              <a:solidFill>
                <a:schemeClr val="tx1"/>
              </a:solidFill>
            </a:endParaRPr>
          </a:p>
        </p:txBody>
      </p:sp>
      <p:sp>
        <p:nvSpPr>
          <p:cNvPr id="32774" name="Rectangle 2"/>
          <p:cNvSpPr>
            <a:spLocks noChangeArrowheads="1"/>
          </p:cNvSpPr>
          <p:nvPr/>
        </p:nvSpPr>
        <p:spPr bwMode="auto">
          <a:xfrm>
            <a:off x="266699" y="4634230"/>
            <a:ext cx="7772400" cy="1323975"/>
          </a:xfrm>
          <a:prstGeom prst="rect">
            <a:avLst/>
          </a:prstGeom>
          <a:solidFill>
            <a:srgbClr val="FFD780"/>
          </a:solidFill>
          <a:ln>
            <a:noFill/>
          </a:ln>
        </p:spPr>
        <p:txBody>
          <a:bodyPr wrap="square">
            <a:spAutoFit/>
          </a:bodyPr>
          <a:lstStyle/>
          <a:p>
            <a:pPr eaLnBrk="1" hangingPunct="1"/>
            <a:r>
              <a:rPr lang="en-US" altLang="en-US" sz="2000" dirty="0"/>
              <a:t>In practice, it</a:t>
            </a:r>
            <a:r>
              <a:rPr lang="en-US" altLang="ja-JP" sz="2000" dirty="0"/>
              <a:t> is difficult to take all possible samples of size </a:t>
            </a:r>
            <a:r>
              <a:rPr lang="en-US" altLang="ja-JP" sz="2000" i="1" dirty="0"/>
              <a:t>n</a:t>
            </a:r>
            <a:r>
              <a:rPr lang="en-US" altLang="ja-JP" sz="2000" dirty="0"/>
              <a:t> to obtain the actual sampling distribution of a statistic. Instead, we can use </a:t>
            </a:r>
            <a:r>
              <a:rPr lang="en-US" altLang="ja-JP" sz="2000" b="1" dirty="0"/>
              <a:t>simulation </a:t>
            </a:r>
            <a:r>
              <a:rPr lang="en-US" altLang="ja-JP" sz="2000" dirty="0"/>
              <a:t>to imitate the process of taking many, many samples.</a:t>
            </a:r>
            <a:endParaRPr lang="en-US" alt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Bias and Variability</a:t>
            </a:r>
            <a:endParaRPr lang="en-US" dirty="0"/>
          </a:p>
        </p:txBody>
      </p:sp>
      <p:sp>
        <p:nvSpPr>
          <p:cNvPr id="33798" name="Slide Number Placeholder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5A316549-44E0-4832-A91E-875C18876540}" type="slidenum">
              <a:rPr lang="en-US" altLang="en-US" sz="1400">
                <a:solidFill>
                  <a:schemeClr val="accent1"/>
                </a:solidFill>
              </a:rPr>
              <a:pPr/>
              <a:t>8</a:t>
            </a:fld>
            <a:endParaRPr lang="en-US" altLang="en-US" sz="1400">
              <a:solidFill>
                <a:schemeClr val="accent1"/>
              </a:solidFill>
            </a:endParaRPr>
          </a:p>
        </p:txBody>
      </p:sp>
      <p:sp>
        <p:nvSpPr>
          <p:cNvPr id="33794" name="TextBox 12"/>
          <p:cNvSpPr txBox="1">
            <a:spLocks noChangeArrowheads="1"/>
          </p:cNvSpPr>
          <p:nvPr/>
        </p:nvSpPr>
        <p:spPr bwMode="auto">
          <a:xfrm>
            <a:off x="174625" y="1039793"/>
            <a:ext cx="858837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r>
              <a:rPr lang="en-US" altLang="en-US" sz="1800" dirty="0">
                <a:solidFill>
                  <a:schemeClr val="tx1"/>
                </a:solidFill>
              </a:rPr>
              <a:t>We can think of the true value of the population parameter as the bull’s-eye on a target and of the sample statistic as an arrow fired at the target. Bias and variability describe what happens when we take many shots at the target.</a:t>
            </a:r>
          </a:p>
        </p:txBody>
      </p:sp>
      <p:pic>
        <p:nvPicPr>
          <p:cNvPr id="17" name="Picture 16" descr="Dots representing arrow strikes are marked on each of four bulls-eye targets. "/>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74625" y="2419454"/>
            <a:ext cx="4002739" cy="341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17"/>
          <p:cNvSpPr/>
          <p:nvPr/>
        </p:nvSpPr>
        <p:spPr>
          <a:xfrm>
            <a:off x="4267200" y="2189649"/>
            <a:ext cx="4495800" cy="1938337"/>
          </a:xfrm>
          <a:prstGeom prst="rect">
            <a:avLst/>
          </a:prstGeom>
          <a:solidFill>
            <a:srgbClr val="FFD780"/>
          </a:solidFill>
          <a:ln>
            <a:solidFill>
              <a:srgbClr val="EEEFD6"/>
            </a:solidFill>
          </a:ln>
        </p:spPr>
        <p:style>
          <a:lnRef idx="1">
            <a:schemeClr val="accent5"/>
          </a:lnRef>
          <a:fillRef idx="2">
            <a:schemeClr val="accent5"/>
          </a:fillRef>
          <a:effectRef idx="1">
            <a:schemeClr val="accent5"/>
          </a:effectRef>
          <a:fontRef idx="minor">
            <a:schemeClr val="dk1"/>
          </a:fontRef>
        </p:style>
        <p:txBody>
          <a:bodyPr>
            <a:spAutoFit/>
          </a:bodyPr>
          <a:lstStyle/>
          <a:p>
            <a:pPr algn="just" eaLnBrk="1" hangingPunct="1">
              <a:defRPr/>
            </a:pPr>
            <a:r>
              <a:rPr lang="en-US" sz="2000" b="1" dirty="0">
                <a:solidFill>
                  <a:schemeClr val="tx1"/>
                </a:solidFill>
                <a:ea typeface="ＭＳ Ｐゴシック" pitchFamily="-65" charset="-128"/>
              </a:rPr>
              <a:t>Bias </a:t>
            </a:r>
            <a:r>
              <a:rPr lang="en-US" sz="2000" dirty="0">
                <a:solidFill>
                  <a:schemeClr val="tx1"/>
                </a:solidFill>
                <a:ea typeface="ＭＳ Ｐゴシック" pitchFamily="-65" charset="-128"/>
              </a:rPr>
              <a:t>concerns the center of the sampling distribution. A statistic used to estimate a parameter is </a:t>
            </a:r>
            <a:r>
              <a:rPr lang="en-US" sz="2000" b="1" dirty="0">
                <a:solidFill>
                  <a:schemeClr val="tx1"/>
                </a:solidFill>
                <a:ea typeface="ＭＳ Ｐゴシック" pitchFamily="-65" charset="-128"/>
              </a:rPr>
              <a:t>unbiased</a:t>
            </a:r>
            <a:r>
              <a:rPr lang="en-US" sz="2000" dirty="0">
                <a:solidFill>
                  <a:schemeClr val="tx1"/>
                </a:solidFill>
                <a:ea typeface="ＭＳ Ｐゴシック" pitchFamily="-65" charset="-128"/>
              </a:rPr>
              <a:t> if the mean of its sampling distribution is equal to the true value of the parameter being estimated.</a:t>
            </a:r>
          </a:p>
        </p:txBody>
      </p:sp>
      <p:sp>
        <p:nvSpPr>
          <p:cNvPr id="19" name="Rectangle 18"/>
          <p:cNvSpPr/>
          <p:nvPr/>
        </p:nvSpPr>
        <p:spPr>
          <a:xfrm>
            <a:off x="4267200" y="4354513"/>
            <a:ext cx="4495800" cy="2246769"/>
          </a:xfrm>
          <a:prstGeom prst="rect">
            <a:avLst/>
          </a:prstGeom>
          <a:solidFill>
            <a:srgbClr val="FFD780"/>
          </a:solidFill>
          <a:ln>
            <a:solidFill>
              <a:srgbClr val="EEEFD6"/>
            </a:solidFill>
          </a:ln>
        </p:spPr>
        <p:style>
          <a:lnRef idx="1">
            <a:schemeClr val="accent5"/>
          </a:lnRef>
          <a:fillRef idx="2">
            <a:schemeClr val="accent5"/>
          </a:fillRef>
          <a:effectRef idx="1">
            <a:schemeClr val="accent5"/>
          </a:effectRef>
          <a:fontRef idx="minor">
            <a:schemeClr val="dk1"/>
          </a:fontRef>
        </p:style>
        <p:txBody>
          <a:bodyPr>
            <a:spAutoFit/>
          </a:bodyPr>
          <a:lstStyle/>
          <a:p>
            <a:pPr algn="just" eaLnBrk="1" hangingPunct="1">
              <a:defRPr/>
            </a:pPr>
            <a:r>
              <a:rPr lang="en-US" sz="2000" dirty="0">
                <a:solidFill>
                  <a:schemeClr val="tx1"/>
                </a:solidFill>
                <a:ea typeface="ＭＳ Ｐゴシック" pitchFamily="-65" charset="-128"/>
              </a:rPr>
              <a:t>The </a:t>
            </a:r>
            <a:r>
              <a:rPr lang="en-US" sz="2000" b="1" dirty="0">
                <a:solidFill>
                  <a:schemeClr val="tx1"/>
                </a:solidFill>
                <a:ea typeface="ＭＳ Ｐゴシック" pitchFamily="-65" charset="-128"/>
              </a:rPr>
              <a:t>variability of a statistic</a:t>
            </a:r>
            <a:r>
              <a:rPr lang="en-US" sz="2000" dirty="0">
                <a:solidFill>
                  <a:schemeClr val="tx1"/>
                </a:solidFill>
                <a:ea typeface="ＭＳ Ｐゴシック" pitchFamily="-65" charset="-128"/>
              </a:rPr>
              <a:t> is the spread of its sampling distribution. It is determined by the sampling design and the sample size </a:t>
            </a:r>
            <a:r>
              <a:rPr lang="en-US" sz="2000" i="1" dirty="0">
                <a:solidFill>
                  <a:schemeClr val="tx1"/>
                </a:solidFill>
                <a:ea typeface="ＭＳ Ｐゴシック" pitchFamily="-65" charset="-128"/>
              </a:rPr>
              <a:t>n</a:t>
            </a:r>
            <a:r>
              <a:rPr lang="en-US" sz="2000" dirty="0">
                <a:solidFill>
                  <a:schemeClr val="tx1"/>
                </a:solidFill>
                <a:ea typeface="ＭＳ Ｐゴシック" pitchFamily="-65" charset="-128"/>
              </a:rPr>
              <a:t>. </a:t>
            </a:r>
          </a:p>
          <a:p>
            <a:pPr algn="just" eaLnBrk="1" hangingPunct="1">
              <a:defRPr/>
            </a:pPr>
            <a:endParaRPr lang="en-US" sz="2000" dirty="0">
              <a:solidFill>
                <a:schemeClr val="tx1"/>
              </a:solidFill>
              <a:ea typeface="ＭＳ Ｐゴシック" pitchFamily="-65" charset="-128"/>
            </a:endParaRPr>
          </a:p>
          <a:p>
            <a:pPr algn="just" eaLnBrk="1" hangingPunct="1">
              <a:defRPr/>
            </a:pPr>
            <a:r>
              <a:rPr lang="en-US" sz="2000" dirty="0">
                <a:solidFill>
                  <a:schemeClr val="tx1"/>
                </a:solidFill>
                <a:ea typeface="ＭＳ Ｐゴシック" pitchFamily="-65" charset="-128"/>
              </a:rPr>
              <a:t>Statistics from larger samples have smaller spreads.</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1000"/>
                                        <p:tgtEl>
                                          <p:spTgt spid="1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Managing Bias and Variability</a:t>
            </a:r>
            <a:endParaRPr lang="en-US" dirty="0"/>
          </a:p>
        </p:txBody>
      </p:sp>
      <p:sp>
        <p:nvSpPr>
          <p:cNvPr id="34820" name="Slide Number Placeholder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EFB79683-40E9-42B8-9B29-778A1E3D05A9}" type="slidenum">
              <a:rPr lang="en-US" altLang="en-US" sz="1400">
                <a:solidFill>
                  <a:schemeClr val="accent1"/>
                </a:solidFill>
              </a:rPr>
              <a:pPr/>
              <a:t>9</a:t>
            </a:fld>
            <a:endParaRPr lang="en-US" altLang="en-US" sz="1400">
              <a:solidFill>
                <a:schemeClr val="accent1"/>
              </a:solidFill>
            </a:endParaRPr>
          </a:p>
        </p:txBody>
      </p:sp>
      <p:sp>
        <p:nvSpPr>
          <p:cNvPr id="34818" name="TextBox 12"/>
          <p:cNvSpPr txBox="1">
            <a:spLocks noChangeArrowheads="1"/>
          </p:cNvSpPr>
          <p:nvPr/>
        </p:nvSpPr>
        <p:spPr bwMode="auto">
          <a:xfrm>
            <a:off x="188914" y="1341597"/>
            <a:ext cx="7772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dirty="0">
                <a:solidFill>
                  <a:schemeClr val="tx1"/>
                </a:solidFill>
              </a:rPr>
              <a:t>A good sampling scheme must have both small bias and small variability. </a:t>
            </a:r>
          </a:p>
        </p:txBody>
      </p:sp>
      <p:sp>
        <p:nvSpPr>
          <p:cNvPr id="19" name="Rectangle 18"/>
          <p:cNvSpPr>
            <a:spLocks noChangeArrowheads="1"/>
          </p:cNvSpPr>
          <p:nvPr/>
        </p:nvSpPr>
        <p:spPr bwMode="auto">
          <a:xfrm>
            <a:off x="188914" y="2262347"/>
            <a:ext cx="8067675" cy="1016000"/>
          </a:xfrm>
          <a:prstGeom prst="rect">
            <a:avLst/>
          </a:prstGeom>
          <a:solidFill>
            <a:srgbClr val="FFD780"/>
          </a:solidFill>
          <a:ln w="12700">
            <a:solidFill>
              <a:srgbClr val="EEEFD6"/>
            </a:solidFill>
            <a:miter lim="800000"/>
            <a:headEnd/>
            <a:tailEnd/>
          </a:ln>
          <a:effectLst>
            <a:outerShdw blurRad="50800" dist="38100" dir="2700000" rotWithShape="0">
              <a:srgbClr val="808080">
                <a:alpha val="42998"/>
              </a:srgbClr>
            </a:outerShdw>
          </a:effec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defRPr/>
            </a:pPr>
            <a:r>
              <a:rPr lang="en-US" altLang="en-US" sz="2000" b="1" dirty="0"/>
              <a:t>To reduce bias</a:t>
            </a:r>
            <a:r>
              <a:rPr lang="en-US" altLang="en-US" sz="2000" dirty="0"/>
              <a:t>, use random sampling.</a:t>
            </a:r>
          </a:p>
          <a:p>
            <a:pPr eaLnBrk="1" hangingPunct="1">
              <a:defRPr/>
            </a:pPr>
            <a:endParaRPr lang="en-US" altLang="en-US" sz="2000" dirty="0"/>
          </a:p>
          <a:p>
            <a:pPr eaLnBrk="1" hangingPunct="1">
              <a:defRPr/>
            </a:pPr>
            <a:r>
              <a:rPr lang="en-US" altLang="en-US" sz="2000" b="1" dirty="0"/>
              <a:t>To reduce variability </a:t>
            </a:r>
            <a:r>
              <a:rPr lang="en-US" altLang="en-US" sz="2000" dirty="0"/>
              <a:t>of a statistic from an SRS, use a larger sample.</a:t>
            </a:r>
          </a:p>
        </p:txBody>
      </p:sp>
      <p:sp>
        <p:nvSpPr>
          <p:cNvPr id="9" name="Rectangle 8"/>
          <p:cNvSpPr>
            <a:spLocks noChangeArrowheads="1"/>
          </p:cNvSpPr>
          <p:nvPr/>
        </p:nvSpPr>
        <p:spPr bwMode="auto">
          <a:xfrm>
            <a:off x="188914" y="3792379"/>
            <a:ext cx="8067675" cy="1016000"/>
          </a:xfrm>
          <a:prstGeom prst="rect">
            <a:avLst/>
          </a:prstGeom>
          <a:solidFill>
            <a:srgbClr val="FFD780"/>
          </a:solidFill>
          <a:ln w="12700">
            <a:solidFill>
              <a:srgbClr val="8590B1"/>
            </a:solidFill>
            <a:miter lim="800000"/>
            <a:headEnd/>
            <a:tailEnd/>
          </a:ln>
          <a:effectLst>
            <a:outerShdw blurRad="50800" dist="38100" dir="2700000" rotWithShape="0">
              <a:srgbClr val="808080">
                <a:alpha val="42998"/>
              </a:srgbClr>
            </a:outerShdw>
          </a:effectLst>
        </p:spPr>
        <p:txBody>
          <a:bodyPr>
            <a:spAutoFit/>
          </a:bodyPr>
          <a:lstStyle/>
          <a:p>
            <a:pPr algn="just" eaLnBrk="1" hangingPunct="1">
              <a:defRPr/>
            </a:pPr>
            <a:r>
              <a:rPr lang="en-US" sz="2000" dirty="0">
                <a:solidFill>
                  <a:schemeClr val="dk1"/>
                </a:solidFill>
                <a:latin typeface="+mn-lt"/>
                <a:ea typeface="+mn-ea"/>
              </a:rPr>
              <a:t>The variability of a statistic from a random sample does not depend on the size of the population, as long as the population is at least 20 times larger than the sample.</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pPr eaLnBrk="1" hangingPunct="1">
              <a:lnSpc>
                <a:spcPct val="90000"/>
              </a:lnSpc>
            </a:pPr>
            <a:r>
              <a:rPr lang="en-US" altLang="en-US">
                <a:ea typeface="ＭＳ Ｐゴシック" pitchFamily="34" charset="-128"/>
              </a:rPr>
              <a:t>Why Randomize?</a:t>
            </a:r>
            <a:endParaRPr lang="en-US" altLang="en-US" sz="3200">
              <a:solidFill>
                <a:srgbClr val="33CCFF"/>
              </a:solidFill>
              <a:ea typeface="ＭＳ Ｐゴシック" pitchFamily="34" charset="-128"/>
            </a:endParaRPr>
          </a:p>
        </p:txBody>
      </p:sp>
      <p:sp>
        <p:nvSpPr>
          <p:cNvPr id="35842"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6389C1E6-86D1-46DE-BBFB-ADCA97ED42D5}" type="slidenum">
              <a:rPr lang="en-US" altLang="en-US" sz="1200">
                <a:solidFill>
                  <a:schemeClr val="accent1"/>
                </a:solidFill>
              </a:rPr>
              <a:pPr>
                <a:lnSpc>
                  <a:spcPct val="80000"/>
                </a:lnSpc>
              </a:pPr>
              <a:t>10</a:t>
            </a:fld>
            <a:endParaRPr lang="en-US" altLang="en-US" sz="1200">
              <a:solidFill>
                <a:schemeClr val="accent1"/>
              </a:solidFill>
            </a:endParaRPr>
          </a:p>
        </p:txBody>
      </p:sp>
      <p:sp>
        <p:nvSpPr>
          <p:cNvPr id="35844" name="Rectangle 1"/>
          <p:cNvSpPr>
            <a:spLocks noChangeArrowheads="1"/>
          </p:cNvSpPr>
          <p:nvPr/>
        </p:nvSpPr>
        <p:spPr bwMode="auto">
          <a:xfrm>
            <a:off x="174626" y="1236663"/>
            <a:ext cx="7772400" cy="1016000"/>
          </a:xfrm>
          <a:prstGeom prst="rect">
            <a:avLst/>
          </a:prstGeom>
          <a:solidFill>
            <a:srgbClr val="FFD780"/>
          </a:solidFill>
          <a:ln>
            <a:noFill/>
          </a:ln>
        </p:spPr>
        <p:txBody>
          <a:bodyPr wrap="square">
            <a:spAutoFit/>
          </a:bodyPr>
          <a:lstStyle/>
          <a:p>
            <a:pPr eaLnBrk="1" hangingPunct="1"/>
            <a:r>
              <a:rPr lang="en-US" altLang="en-US" sz="2000" dirty="0"/>
              <a:t>The purpose of a sample is to give us information about a larger population. The process of drawing conclusions about a population on the basis of sample data is called </a:t>
            </a:r>
            <a:r>
              <a:rPr lang="en-US" altLang="en-US" sz="2000" b="1" dirty="0"/>
              <a:t>inference</a:t>
            </a:r>
            <a:r>
              <a:rPr lang="en-US" altLang="en-US" sz="2000" dirty="0"/>
              <a:t>.</a:t>
            </a:r>
            <a:endParaRPr lang="en-US" altLang="en-US" sz="2000" b="1" dirty="0"/>
          </a:p>
        </p:txBody>
      </p:sp>
      <p:sp>
        <p:nvSpPr>
          <p:cNvPr id="18" name="TextBox 17"/>
          <p:cNvSpPr txBox="1">
            <a:spLocks noChangeArrowheads="1"/>
          </p:cNvSpPr>
          <p:nvPr/>
        </p:nvSpPr>
        <p:spPr bwMode="auto">
          <a:xfrm>
            <a:off x="373062" y="2738756"/>
            <a:ext cx="7573964" cy="3246437"/>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800100" indent="-342900"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spcAft>
                <a:spcPts val="600"/>
              </a:spcAft>
              <a:defRPr/>
            </a:pPr>
            <a:r>
              <a:rPr lang="en-US" altLang="en-US" sz="2000" b="1" u="sng" dirty="0"/>
              <a:t>Why should we rely on random sampling?</a:t>
            </a:r>
          </a:p>
          <a:p>
            <a:pPr marL="346075" indent="-339725" algn="just" eaLnBrk="1" hangingPunct="1">
              <a:spcAft>
                <a:spcPts val="1200"/>
              </a:spcAft>
              <a:buFont typeface="Tw Cen MT" pitchFamily="-65" charset="0"/>
              <a:buAutoNum type="arabicPeriod"/>
              <a:defRPr/>
            </a:pPr>
            <a:r>
              <a:rPr lang="en-US" altLang="en-US" sz="2000" dirty="0"/>
              <a:t>Random sampling eliminates bias in selecting samples from the list of available individuals.</a:t>
            </a:r>
          </a:p>
          <a:p>
            <a:pPr marL="346075" indent="-339725" algn="just" eaLnBrk="1" hangingPunct="1">
              <a:buFont typeface="Tw Cen MT" pitchFamily="-65" charset="0"/>
              <a:buAutoNum type="arabicPeriod"/>
              <a:defRPr/>
            </a:pPr>
            <a:r>
              <a:rPr lang="en-US" altLang="en-US" sz="2000" dirty="0"/>
              <a:t>The laws of probability allow trustworthy inference about the population.</a:t>
            </a:r>
          </a:p>
          <a:p>
            <a:pPr lvl="1" algn="just" eaLnBrk="1" hangingPunct="1">
              <a:spcBef>
                <a:spcPts val="600"/>
              </a:spcBef>
              <a:buClr>
                <a:schemeClr val="tx1"/>
              </a:buClr>
              <a:buFont typeface="Wingdings" pitchFamily="-65" charset="2"/>
              <a:buChar char="§"/>
              <a:defRPr/>
            </a:pPr>
            <a:r>
              <a:rPr lang="en-US" altLang="en-US" sz="2000" dirty="0"/>
              <a:t>Results from random samples come with a </a:t>
            </a:r>
            <a:r>
              <a:rPr lang="en-US" altLang="en-US" sz="2000" b="1" dirty="0"/>
              <a:t>margin of error</a:t>
            </a:r>
            <a:r>
              <a:rPr lang="en-US" altLang="en-US" sz="2000" dirty="0"/>
              <a:t> that sets bounds on the size of the likely error.</a:t>
            </a:r>
          </a:p>
          <a:p>
            <a:pPr lvl="1" algn="just" eaLnBrk="1" hangingPunct="1">
              <a:spcBef>
                <a:spcPts val="600"/>
              </a:spcBef>
              <a:buFont typeface="Wingdings" pitchFamily="-65" charset="2"/>
              <a:buChar char="§"/>
              <a:defRPr/>
            </a:pPr>
            <a:r>
              <a:rPr lang="en-US" altLang="en-US" sz="2000" dirty="0"/>
              <a:t>Larger random samples give better information about the population than smaller samples.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2"/>
          <p:cNvSpPr>
            <a:spLocks noGrp="1"/>
          </p:cNvSpPr>
          <p:nvPr>
            <p:ph type="title"/>
          </p:nvPr>
        </p:nvSpPr>
        <p:spPr>
          <a:xfrm>
            <a:off x="457200" y="365759"/>
            <a:ext cx="6858000" cy="1173481"/>
          </a:xfrm>
        </p:spPr>
        <p:txBody>
          <a:bodyPr anchor="t"/>
          <a:lstStyle/>
          <a:p>
            <a:pPr eaLnBrk="1" hangingPunct="1"/>
            <a:r>
              <a:rPr lang="en-US" altLang="en-US" b="1" dirty="0">
                <a:ea typeface="ＭＳ Ｐゴシック" pitchFamily="34" charset="-128"/>
              </a:rPr>
              <a:t>5.2 The Sampling Distribution of a Sample Mean</a:t>
            </a:r>
          </a:p>
        </p:txBody>
      </p:sp>
      <p:sp>
        <p:nvSpPr>
          <p:cNvPr id="36867" name="Text Placeholder 3"/>
          <p:cNvSpPr>
            <a:spLocks noGrp="1"/>
          </p:cNvSpPr>
          <p:nvPr>
            <p:ph idx="1"/>
          </p:nvPr>
        </p:nvSpPr>
        <p:spPr>
          <a:xfrm>
            <a:off x="457200" y="2119629"/>
            <a:ext cx="8051800" cy="2299971"/>
          </a:xfrm>
        </p:spPr>
        <p:txBody>
          <a:bodyPr/>
          <a:lstStyle/>
          <a:p>
            <a:pPr eaLnBrk="1" hangingPunct="1">
              <a:buSzPct val="110000"/>
              <a:buFont typeface="Wingdings" pitchFamily="2" charset="2"/>
              <a:buChar char="§"/>
            </a:pPr>
            <a:r>
              <a:rPr lang="en-US" altLang="en-US" sz="2400" dirty="0">
                <a:solidFill>
                  <a:schemeClr val="accent1"/>
                </a:solidFill>
                <a:ea typeface="ＭＳ Ｐゴシック" pitchFamily="34" charset="-128"/>
              </a:rPr>
              <a:t>Population distribution</a:t>
            </a:r>
          </a:p>
          <a:p>
            <a:pPr eaLnBrk="1" hangingPunct="1">
              <a:buSzPct val="110000"/>
              <a:buFont typeface="Wingdings" pitchFamily="2" charset="2"/>
              <a:buChar char="§"/>
            </a:pPr>
            <a:r>
              <a:rPr lang="en-US" altLang="en-US" sz="2400" dirty="0">
                <a:solidFill>
                  <a:schemeClr val="accent1"/>
                </a:solidFill>
                <a:ea typeface="ＭＳ Ｐゴシック" pitchFamily="34" charset="-128"/>
              </a:rPr>
              <a:t>The mean and standard deviation of the sample mean</a:t>
            </a:r>
          </a:p>
          <a:p>
            <a:pPr eaLnBrk="1" hangingPunct="1">
              <a:buSzPct val="110000"/>
              <a:buFont typeface="Wingdings" pitchFamily="2" charset="2"/>
              <a:buChar char="§"/>
            </a:pPr>
            <a:r>
              <a:rPr lang="en-US" altLang="en-US" sz="2400" dirty="0">
                <a:solidFill>
                  <a:schemeClr val="accent1"/>
                </a:solidFill>
                <a:ea typeface="ＭＳ Ｐゴシック" pitchFamily="34" charset="-128"/>
              </a:rPr>
              <a:t>Sampling distribution of a sample mean</a:t>
            </a:r>
          </a:p>
          <a:p>
            <a:pPr eaLnBrk="1" hangingPunct="1">
              <a:buSzPct val="110000"/>
              <a:buFont typeface="Wingdings" pitchFamily="2" charset="2"/>
              <a:buChar char="§"/>
            </a:pPr>
            <a:r>
              <a:rPr lang="en-US" altLang="en-US" sz="2400" dirty="0">
                <a:solidFill>
                  <a:schemeClr val="accent1"/>
                </a:solidFill>
                <a:ea typeface="ＭＳ Ｐゴシック" pitchFamily="34" charset="-128"/>
              </a:rPr>
              <a:t>Central limit theorem</a:t>
            </a:r>
          </a:p>
        </p:txBody>
      </p:sp>
      <p:sp>
        <p:nvSpPr>
          <p:cNvPr id="36868"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4DAFE6A6-7916-49D9-872F-E6D21D317B53}" type="slidenum">
              <a:rPr lang="en-US" altLang="en-US" sz="1400">
                <a:solidFill>
                  <a:schemeClr val="accent1"/>
                </a:solidFill>
              </a:rPr>
              <a:pPr/>
              <a:t>11</a:t>
            </a:fld>
            <a:endParaRPr lang="en-US" altLang="en-US" sz="1400">
              <a:solidFill>
                <a:schemeClr val="accen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463" y="179864"/>
            <a:ext cx="6774815" cy="777240"/>
          </a:xfrm>
        </p:spPr>
        <p:txBody>
          <a:bodyPr/>
          <a:lstStyle/>
          <a:p>
            <a:r>
              <a:rPr lang="en-US" altLang="en-US" dirty="0"/>
              <a:t>Population Distribution</a:t>
            </a:r>
            <a:endParaRPr lang="en-US" dirty="0"/>
          </a:p>
        </p:txBody>
      </p:sp>
      <p:sp>
        <p:nvSpPr>
          <p:cNvPr id="3789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85B15ED2-9B24-4F96-A5A5-32351D942640}" type="slidenum">
              <a:rPr lang="en-US" altLang="en-US" sz="1200">
                <a:solidFill>
                  <a:schemeClr val="accent1"/>
                </a:solidFill>
              </a:rPr>
              <a:pPr>
                <a:lnSpc>
                  <a:spcPct val="80000"/>
                </a:lnSpc>
              </a:pPr>
              <a:t>12</a:t>
            </a:fld>
            <a:endParaRPr lang="en-US" altLang="en-US" sz="1200">
              <a:solidFill>
                <a:schemeClr val="accent1"/>
              </a:solidFill>
            </a:endParaRPr>
          </a:p>
        </p:txBody>
      </p:sp>
      <p:sp>
        <p:nvSpPr>
          <p:cNvPr id="6" name="TextBox 5"/>
          <p:cNvSpPr txBox="1">
            <a:spLocks noChangeArrowheads="1"/>
          </p:cNvSpPr>
          <p:nvPr/>
        </p:nvSpPr>
        <p:spPr bwMode="auto">
          <a:xfrm>
            <a:off x="271463" y="1188720"/>
            <a:ext cx="7985125" cy="1431925"/>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700" b="1" u="sng" dirty="0">
              <a:solidFill>
                <a:schemeClr val="tx1"/>
              </a:solidFill>
            </a:endParaRPr>
          </a:p>
          <a:p>
            <a:pPr eaLnBrk="1" hangingPunct="1">
              <a:spcBef>
                <a:spcPct val="0"/>
              </a:spcBef>
              <a:buClrTx/>
              <a:buSzTx/>
              <a:buFontTx/>
              <a:buNone/>
              <a:defRPr/>
            </a:pPr>
            <a:r>
              <a:rPr lang="en-US" altLang="en-US" dirty="0">
                <a:solidFill>
                  <a:schemeClr val="tx1"/>
                </a:solidFill>
              </a:rPr>
              <a:t>The </a:t>
            </a:r>
            <a:r>
              <a:rPr lang="en-US" altLang="en-US" b="1" dirty="0">
                <a:solidFill>
                  <a:schemeClr val="tx1"/>
                </a:solidFill>
              </a:rPr>
              <a:t>population distribution</a:t>
            </a:r>
            <a:r>
              <a:rPr lang="en-US" altLang="en-US" dirty="0">
                <a:solidFill>
                  <a:schemeClr val="tx1"/>
                </a:solidFill>
              </a:rPr>
              <a:t> of a variable is the distribution of values of the variable among all individuals in the population. The population distribution is also the probability distribution of the variable when we choose one individual at random from the population.</a:t>
            </a:r>
          </a:p>
        </p:txBody>
      </p:sp>
      <p:sp>
        <p:nvSpPr>
          <p:cNvPr id="7" name="Rectangle 2"/>
          <p:cNvSpPr>
            <a:spLocks noChangeArrowheads="1"/>
          </p:cNvSpPr>
          <p:nvPr/>
        </p:nvSpPr>
        <p:spPr bwMode="auto">
          <a:xfrm>
            <a:off x="174625" y="2878138"/>
            <a:ext cx="7985125" cy="347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lvl="1" algn="just" eaLnBrk="1" hangingPunct="1"/>
            <a:r>
              <a:rPr lang="en-US" altLang="en-US" sz="2000" dirty="0"/>
              <a:t>In many examples, there is a well-defined population of interest from which SRS’s can be drawn, as when we sample students who attend a particular university.</a:t>
            </a:r>
          </a:p>
          <a:p>
            <a:pPr marL="0" lvl="1" algn="just" eaLnBrk="1" hangingPunct="1"/>
            <a:endParaRPr lang="en-US" altLang="en-US" sz="2000" dirty="0"/>
          </a:p>
          <a:p>
            <a:pPr marL="0" lvl="1" algn="just" eaLnBrk="1" hangingPunct="1"/>
            <a:r>
              <a:rPr lang="en-US" altLang="en-US" sz="2000" dirty="0"/>
              <a:t>However, sometimes the population of interest does not actually exist. For example, the exam scores of students who took a course </a:t>
            </a:r>
            <a:r>
              <a:rPr lang="en-US" altLang="en-US" sz="2000" i="1" dirty="0"/>
              <a:t>last</a:t>
            </a:r>
            <a:r>
              <a:rPr lang="en-US" altLang="en-US" sz="2000" dirty="0"/>
              <a:t> semester can be thought of as a sample from a hypothetical population of students who will take the course in the future, but that population of students does not yet exist. We can still think of the observations as having come from a population with a probability distribution.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 calcmode="lin" valueType="num">
                                      <p:cBhvr additive="base">
                                        <p:cTn id="1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3988"/>
            <a:ext cx="7772400" cy="1143000"/>
          </a:xfrm>
        </p:spPr>
        <p:txBody>
          <a:bodyPr/>
          <a:lstStyle/>
          <a:p>
            <a:r>
              <a:rPr lang="en-US" altLang="en-US" dirty="0"/>
              <a:t>Mean and Standard Deviation of a Sample Mean</a:t>
            </a:r>
            <a:endParaRPr lang="en-US" dirty="0"/>
          </a:p>
        </p:txBody>
      </p:sp>
      <p:sp>
        <p:nvSpPr>
          <p:cNvPr id="3994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B163C299-B4C6-4E14-8B51-C941077B166E}" type="slidenum">
              <a:rPr lang="en-US" altLang="en-US" sz="1200">
                <a:solidFill>
                  <a:schemeClr val="accent1"/>
                </a:solidFill>
              </a:rPr>
              <a:pPr>
                <a:lnSpc>
                  <a:spcPct val="80000"/>
                </a:lnSpc>
              </a:pPr>
              <a:t>13</a:t>
            </a:fld>
            <a:endParaRPr lang="en-US" altLang="en-US" sz="1200">
              <a:solidFill>
                <a:schemeClr val="accent1"/>
              </a:solidFill>
            </a:endParaRPr>
          </a:p>
        </p:txBody>
      </p:sp>
      <p:sp>
        <p:nvSpPr>
          <p:cNvPr id="1276930" name="Rectangle 2"/>
          <p:cNvSpPr>
            <a:spLocks noGrp="1" noChangeArrowheads="1"/>
          </p:cNvSpPr>
          <p:nvPr>
            <p:ph type="body" idx="4294967295"/>
          </p:nvPr>
        </p:nvSpPr>
        <p:spPr>
          <a:xfrm>
            <a:off x="174624" y="1702119"/>
            <a:ext cx="8588375" cy="3890962"/>
          </a:xfrm>
          <a:solidFill>
            <a:srgbClr val="FFD780"/>
          </a:solidFill>
        </p:spPr>
        <p:txBody>
          <a:bodyPr/>
          <a:lstStyle/>
          <a:p>
            <a:pPr marL="0" indent="0">
              <a:spcBef>
                <a:spcPct val="0"/>
              </a:spcBef>
              <a:buClr>
                <a:srgbClr val="CC0000"/>
              </a:buClr>
              <a:buFont typeface="Wingdings 2" pitchFamily="18" charset="2"/>
              <a:buNone/>
            </a:pPr>
            <a:r>
              <a:rPr lang="en-US" altLang="en-US" b="1" dirty="0">
                <a:solidFill>
                  <a:schemeClr val="tx1"/>
                </a:solidFill>
                <a:ea typeface="ＭＳ Ｐゴシック" pitchFamily="34" charset="-128"/>
              </a:rPr>
              <a:t>Mean of a sampling distribution of a sample mean</a:t>
            </a:r>
          </a:p>
          <a:p>
            <a:pPr marL="0" lvl="1" indent="0" algn="just">
              <a:spcBef>
                <a:spcPct val="0"/>
              </a:spcBef>
              <a:buClrTx/>
              <a:buSzTx/>
              <a:buFont typeface="Wingdings 2" pitchFamily="18" charset="2"/>
              <a:buNone/>
            </a:pPr>
            <a:r>
              <a:rPr lang="en-US" altLang="en-US" sz="2000" dirty="0">
                <a:solidFill>
                  <a:schemeClr val="tx1"/>
                </a:solidFill>
                <a:ea typeface="ＭＳ Ｐゴシック" pitchFamily="34" charset="-128"/>
              </a:rPr>
              <a:t>There is no tendency for a sample mean to fall systematically above or below </a:t>
            </a:r>
            <a:r>
              <a:rPr lang="en-US" altLang="en-US" sz="2000" i="1" dirty="0">
                <a:solidFill>
                  <a:schemeClr val="tx1"/>
                </a:solidFill>
                <a:latin typeface="Symbol" pitchFamily="18" charset="2"/>
                <a:ea typeface="ＭＳ Ｐゴシック" pitchFamily="34" charset="-128"/>
              </a:rPr>
              <a:t>m</a:t>
            </a:r>
            <a:r>
              <a:rPr lang="en-US" altLang="en-US" sz="2000" dirty="0">
                <a:solidFill>
                  <a:schemeClr val="tx1"/>
                </a:solidFill>
                <a:latin typeface="Symbol" pitchFamily="18" charset="2"/>
                <a:ea typeface="ＭＳ Ｐゴシック" pitchFamily="34" charset="-128"/>
              </a:rPr>
              <a:t>,</a:t>
            </a:r>
            <a:r>
              <a:rPr lang="en-US" altLang="en-US" sz="2000" dirty="0">
                <a:solidFill>
                  <a:schemeClr val="tx1"/>
                </a:solidFill>
                <a:ea typeface="ＭＳ Ｐゴシック" pitchFamily="34" charset="-128"/>
              </a:rPr>
              <a:t> even if the distribution of the raw data is skewed. Thus, the mean of the sampling distribution is an </a:t>
            </a:r>
            <a:r>
              <a:rPr lang="en-US" altLang="en-US" sz="2000" b="1" dirty="0">
                <a:solidFill>
                  <a:schemeClr val="tx1"/>
                </a:solidFill>
                <a:ea typeface="ＭＳ Ｐゴシック" pitchFamily="34" charset="-128"/>
              </a:rPr>
              <a:t>unbiased</a:t>
            </a:r>
            <a:r>
              <a:rPr lang="en-US" altLang="en-US" sz="2000" dirty="0">
                <a:solidFill>
                  <a:schemeClr val="tx1"/>
                </a:solidFill>
                <a:ea typeface="ＭＳ Ｐゴシック" pitchFamily="34" charset="-128"/>
              </a:rPr>
              <a:t> </a:t>
            </a:r>
            <a:r>
              <a:rPr lang="en-US" altLang="en-US" sz="2000" b="1" dirty="0">
                <a:solidFill>
                  <a:schemeClr val="tx1"/>
                </a:solidFill>
                <a:ea typeface="ＭＳ Ｐゴシック" pitchFamily="34" charset="-128"/>
              </a:rPr>
              <a:t>estimate </a:t>
            </a:r>
            <a:r>
              <a:rPr lang="en-US" altLang="en-US" sz="2000" dirty="0">
                <a:solidFill>
                  <a:schemeClr val="tx1"/>
                </a:solidFill>
                <a:ea typeface="ＭＳ Ｐゴシック" pitchFamily="34" charset="-128"/>
              </a:rPr>
              <a:t>of the population mean </a:t>
            </a:r>
            <a:r>
              <a:rPr lang="en-US" altLang="en-US" sz="2000" i="1" dirty="0">
                <a:solidFill>
                  <a:schemeClr val="tx1"/>
                </a:solidFill>
                <a:latin typeface="Symbol" pitchFamily="18" charset="2"/>
                <a:ea typeface="ＭＳ Ｐゴシック" pitchFamily="34" charset="-128"/>
              </a:rPr>
              <a:t>m.</a:t>
            </a:r>
            <a:endParaRPr lang="en-US" altLang="en-US" sz="2000" dirty="0">
              <a:solidFill>
                <a:schemeClr val="tx1"/>
              </a:solidFill>
              <a:ea typeface="ＭＳ Ｐゴシック" pitchFamily="34" charset="-128"/>
            </a:endParaRPr>
          </a:p>
          <a:p>
            <a:pPr marL="0" lvl="1" indent="0" algn="just">
              <a:lnSpc>
                <a:spcPct val="160000"/>
              </a:lnSpc>
              <a:spcBef>
                <a:spcPct val="0"/>
              </a:spcBef>
              <a:buClrTx/>
              <a:buSzTx/>
              <a:buFont typeface="Wingdings 2" pitchFamily="18" charset="2"/>
              <a:buNone/>
            </a:pPr>
            <a:endParaRPr lang="en-US" altLang="en-US" sz="600" dirty="0">
              <a:solidFill>
                <a:schemeClr val="tx1"/>
              </a:solidFill>
              <a:ea typeface="ＭＳ Ｐゴシック" pitchFamily="34" charset="-128"/>
            </a:endParaRPr>
          </a:p>
          <a:p>
            <a:pPr marL="0" indent="0" algn="just" eaLnBrk="1" hangingPunct="1">
              <a:buClr>
                <a:srgbClr val="CC0000"/>
              </a:buClr>
              <a:buFont typeface="Wingdings 2" pitchFamily="18" charset="2"/>
              <a:buNone/>
            </a:pPr>
            <a:r>
              <a:rPr lang="en-US" altLang="en-US" b="1" dirty="0">
                <a:solidFill>
                  <a:schemeClr val="tx1"/>
                </a:solidFill>
                <a:ea typeface="ＭＳ Ｐゴシック" pitchFamily="34" charset="-128"/>
              </a:rPr>
              <a:t>Standard deviation of a sampling distribution of a sample mean </a:t>
            </a:r>
            <a:endParaRPr lang="en-US" altLang="en-US" b="1" i="1" dirty="0">
              <a:solidFill>
                <a:schemeClr val="tx1"/>
              </a:solidFill>
              <a:ea typeface="ＭＳ Ｐゴシック" pitchFamily="34" charset="-128"/>
            </a:endParaRPr>
          </a:p>
          <a:p>
            <a:pPr marL="0" lvl="1" indent="0" algn="just" eaLnBrk="1" hangingPunct="1">
              <a:spcBef>
                <a:spcPct val="0"/>
              </a:spcBef>
              <a:buFont typeface="Wingdings 2" pitchFamily="18" charset="2"/>
              <a:buNone/>
            </a:pPr>
            <a:r>
              <a:rPr lang="en-US" altLang="en-US" sz="2000" dirty="0">
                <a:solidFill>
                  <a:schemeClr val="tx1"/>
                </a:solidFill>
                <a:ea typeface="ＭＳ Ｐゴシック" pitchFamily="34" charset="-128"/>
              </a:rPr>
              <a:t>The standard deviation of the sampling distribution measures how much the sample statistic varies from sample to sample. It is smaller than the standard deviation of the population by a factor of      . </a:t>
            </a:r>
          </a:p>
          <a:p>
            <a:pPr marL="0" lvl="1" indent="0" eaLnBrk="1" hangingPunct="1">
              <a:lnSpc>
                <a:spcPct val="160000"/>
              </a:lnSpc>
              <a:buFont typeface="Wingdings 2" pitchFamily="18" charset="2"/>
              <a:buNone/>
            </a:pPr>
            <a:r>
              <a:rPr lang="en-US" altLang="en-US" sz="2000" b="1" dirty="0">
                <a:solidFill>
                  <a:schemeClr val="tx1"/>
                </a:solidFill>
                <a:highlight>
                  <a:srgbClr val="FFFF00"/>
                </a:highlight>
                <a:ea typeface="ＭＳ Ｐゴシック" pitchFamily="34" charset="-128"/>
                <a:sym typeface="Wingdings" pitchFamily="2" charset="2"/>
              </a:rPr>
              <a:t>Averages are less variable than individual observations.</a:t>
            </a:r>
            <a:r>
              <a:rPr lang="en-US" altLang="en-US" sz="2000" dirty="0">
                <a:solidFill>
                  <a:schemeClr val="tx1"/>
                </a:solidFill>
                <a:highlight>
                  <a:srgbClr val="FFFF00"/>
                </a:highlight>
                <a:ea typeface="ＭＳ Ｐゴシック" pitchFamily="34" charset="-128"/>
              </a:rPr>
              <a:t> </a:t>
            </a:r>
          </a:p>
        </p:txBody>
      </p:sp>
      <p:graphicFrame>
        <p:nvGraphicFramePr>
          <p:cNvPr id="3" name="Object 2"/>
          <p:cNvGraphicFramePr>
            <a:graphicFrameLocks noChangeAspect="1"/>
          </p:cNvGraphicFramePr>
          <p:nvPr>
            <p:extLst>
              <p:ext uri="{D42A27DB-BD31-4B8C-83A1-F6EECF244321}">
                <p14:modId xmlns:p14="http://schemas.microsoft.com/office/powerpoint/2010/main" val="3360583133"/>
              </p:ext>
            </p:extLst>
          </p:nvPr>
        </p:nvGraphicFramePr>
        <p:xfrm>
          <a:off x="5834811" y="4524827"/>
          <a:ext cx="428659" cy="406098"/>
        </p:xfrm>
        <a:graphic>
          <a:graphicData uri="http://schemas.openxmlformats.org/presentationml/2006/ole">
            <mc:AlternateContent xmlns:mc="http://schemas.openxmlformats.org/markup-compatibility/2006">
              <mc:Choice xmlns:v="urn:schemas-microsoft-com:vml" Requires="v">
                <p:oleObj spid="_x0000_s68627" name="Equation" r:id="rId4" imgW="241200" imgH="228600" progId="Equation.DSMT4">
                  <p:embed/>
                </p:oleObj>
              </mc:Choice>
              <mc:Fallback>
                <p:oleObj name="Equation" r:id="rId4" imgW="241200" imgH="228600" progId="Equation.DSMT4">
                  <p:embed/>
                  <p:pic>
                    <p:nvPicPr>
                      <p:cNvPr id="0" name=""/>
                      <p:cNvPicPr/>
                      <p:nvPr/>
                    </p:nvPicPr>
                    <p:blipFill>
                      <a:blip r:embed="rId5"/>
                      <a:stretch>
                        <a:fillRect/>
                      </a:stretch>
                    </p:blipFill>
                    <p:spPr>
                      <a:xfrm>
                        <a:off x="5834811" y="4524827"/>
                        <a:ext cx="428659" cy="406098"/>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76930">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76930">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76930">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7693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6930" grpId="0" build="p"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74625" y="153988"/>
            <a:ext cx="7772400" cy="1143000"/>
          </a:xfrm>
        </p:spPr>
        <p:txBody>
          <a:bodyPr/>
          <a:lstStyle/>
          <a:p>
            <a:r>
              <a:rPr lang="en-US" altLang="en-US"/>
              <a:t>The Sampling Distribution of a Sample Mean </a:t>
            </a:r>
            <a:endParaRPr lang="en-US" altLang="en-US" dirty="0"/>
          </a:p>
        </p:txBody>
      </p:sp>
      <p:sp>
        <p:nvSpPr>
          <p:cNvPr id="41993" name="Slide Number Placeholder 5"/>
          <p:cNvSpPr txBox="1">
            <a:spLocks/>
          </p:cNvSpPr>
          <p:nvPr/>
        </p:nvSpPr>
        <p:spPr bwMode="auto">
          <a:xfrm>
            <a:off x="8485981" y="289517"/>
            <a:ext cx="508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r" eaLnBrk="1" hangingPunct="1">
              <a:lnSpc>
                <a:spcPct val="80000"/>
              </a:lnSpc>
            </a:pPr>
            <a:fld id="{800499A7-8798-42D9-8C3D-064839A27F50}" type="slidenum">
              <a:rPr lang="en-US" altLang="en-US" sz="1200" b="1">
                <a:solidFill>
                  <a:schemeClr val="accent1"/>
                </a:solidFill>
              </a:rPr>
              <a:pPr algn="r" eaLnBrk="1" hangingPunct="1">
                <a:lnSpc>
                  <a:spcPct val="80000"/>
                </a:lnSpc>
              </a:pPr>
              <a:t>14</a:t>
            </a:fld>
            <a:endParaRPr lang="en-US" altLang="en-US" sz="1200" b="1" dirty="0">
              <a:solidFill>
                <a:schemeClr val="accent1"/>
              </a:solidFill>
            </a:endParaRPr>
          </a:p>
        </p:txBody>
      </p:sp>
      <p:sp>
        <p:nvSpPr>
          <p:cNvPr id="41987" name="TextBox 1"/>
          <p:cNvSpPr txBox="1">
            <a:spLocks noChangeArrowheads="1"/>
          </p:cNvSpPr>
          <p:nvPr/>
        </p:nvSpPr>
        <p:spPr bwMode="auto">
          <a:xfrm>
            <a:off x="184149" y="1571782"/>
            <a:ext cx="85772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buFont typeface="Wingdings" pitchFamily="2" charset="2"/>
              <a:buNone/>
            </a:pPr>
            <a:r>
              <a:rPr lang="en-US" altLang="en-US" dirty="0">
                <a:solidFill>
                  <a:srgbClr val="000000"/>
                </a:solidFill>
              </a:rPr>
              <a:t>When we choose many SRSs from a population, the sampling distribution of the sample mean is centered at the population mean </a:t>
            </a:r>
            <a:r>
              <a:rPr lang="en-US" altLang="en-US" i="1" dirty="0">
                <a:solidFill>
                  <a:srgbClr val="000000"/>
                </a:solidFill>
              </a:rPr>
              <a:t>µ</a:t>
            </a:r>
            <a:r>
              <a:rPr lang="en-US" altLang="en-US" dirty="0">
                <a:solidFill>
                  <a:srgbClr val="000000"/>
                </a:solidFill>
              </a:rPr>
              <a:t> and is less spread out than the population distribution. Here are the facts:</a:t>
            </a:r>
          </a:p>
        </p:txBody>
      </p:sp>
      <p:sp>
        <p:nvSpPr>
          <p:cNvPr id="12" name="TextBox 11"/>
          <p:cNvSpPr txBox="1">
            <a:spLocks noChangeArrowheads="1"/>
          </p:cNvSpPr>
          <p:nvPr/>
        </p:nvSpPr>
        <p:spPr bwMode="auto">
          <a:xfrm>
            <a:off x="691353" y="3209590"/>
            <a:ext cx="7794625" cy="369887"/>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800" b="1" dirty="0">
                <a:solidFill>
                  <a:schemeClr val="tx1"/>
                </a:solidFill>
              </a:rPr>
              <a:t>The Sampling Distribution of Sample Means</a:t>
            </a:r>
            <a:endParaRPr lang="en-US" altLang="en-US" sz="1800" b="1" i="1" dirty="0">
              <a:solidFill>
                <a:schemeClr val="tx1"/>
              </a:solidFill>
              <a:latin typeface="Palatino" charset="0"/>
            </a:endParaRPr>
          </a:p>
        </p:txBody>
      </p:sp>
      <p:pic>
        <p:nvPicPr>
          <p:cNvPr id="13" name="Picture 12" descr="A population has mean mu and standard deviation sigma. Many S R S’s of size n are taken from the population, and their means, x bar, are collected. A normal distribution curve representing a sampling distribution of x bar is then shown. It has mean mu and a standard deviation of sigma divided by the square root of n."/>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74625" y="3688327"/>
            <a:ext cx="8689181" cy="2584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241048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1000" fill="hold"/>
                                        <p:tgtEl>
                                          <p:spTgt spid="13"/>
                                        </p:tgtEl>
                                        <p:attrNameLst>
                                          <p:attrName>ppt_w</p:attrName>
                                        </p:attrNameLst>
                                      </p:cBhvr>
                                      <p:tavLst>
                                        <p:tav tm="0">
                                          <p:val>
                                            <p:fltVal val="0"/>
                                          </p:val>
                                        </p:tav>
                                        <p:tav tm="100000">
                                          <p:val>
                                            <p:strVal val="#ppt_w"/>
                                          </p:val>
                                        </p:tav>
                                      </p:tavLst>
                                    </p:anim>
                                    <p:anim calcmode="lin" valueType="num">
                                      <p:cBhvr>
                                        <p:cTn id="8" dur="1000" fill="hold"/>
                                        <p:tgtEl>
                                          <p:spTgt spid="13"/>
                                        </p:tgtEl>
                                        <p:attrNameLst>
                                          <p:attrName>ppt_h</p:attrName>
                                        </p:attrNameLst>
                                      </p:cBhvr>
                                      <p:tavLst>
                                        <p:tav tm="0">
                                          <p:val>
                                            <p:fltVal val="0"/>
                                          </p:val>
                                        </p:tav>
                                        <p:tav tm="100000">
                                          <p:val>
                                            <p:strVal val="#ppt_h"/>
                                          </p:val>
                                        </p:tav>
                                      </p:tavLst>
                                    </p:anim>
                                    <p:anim calcmode="lin" valueType="num">
                                      <p:cBhvr>
                                        <p:cTn id="9" dur="1000" fill="hold"/>
                                        <p:tgtEl>
                                          <p:spTgt spid="1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3"/>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pPr eaLnBrk="1" hangingPunct="1"/>
            <a:r>
              <a:rPr lang="en-US" altLang="en-US" dirty="0">
                <a:ea typeface="ＭＳ Ｐゴシック" pitchFamily="34" charset="-128"/>
              </a:rPr>
              <a:t>The Central Limit Theorem</a:t>
            </a:r>
          </a:p>
        </p:txBody>
      </p:sp>
      <p:sp>
        <p:nvSpPr>
          <p:cNvPr id="4301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CC1CBC0E-C4AC-44BE-8AC2-9C68AF749527}" type="slidenum">
              <a:rPr lang="en-US" altLang="en-US" sz="1200">
                <a:solidFill>
                  <a:schemeClr val="accent1"/>
                </a:solidFill>
              </a:rPr>
              <a:pPr>
                <a:lnSpc>
                  <a:spcPct val="80000"/>
                </a:lnSpc>
              </a:pPr>
              <a:t>15</a:t>
            </a:fld>
            <a:endParaRPr lang="en-US" altLang="en-US" sz="1200">
              <a:solidFill>
                <a:schemeClr val="accent1"/>
              </a:solidFill>
            </a:endParaRPr>
          </a:p>
        </p:txBody>
      </p:sp>
      <p:sp>
        <p:nvSpPr>
          <p:cNvPr id="27651" name="Rectangle 1"/>
          <p:cNvSpPr>
            <a:spLocks noChangeArrowheads="1"/>
          </p:cNvSpPr>
          <p:nvPr/>
        </p:nvSpPr>
        <p:spPr bwMode="auto">
          <a:xfrm>
            <a:off x="174624" y="1040766"/>
            <a:ext cx="8335169" cy="2708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buFont typeface="Wingdings" pitchFamily="2" charset="2"/>
              <a:buNone/>
            </a:pPr>
            <a:r>
              <a:rPr lang="en-US" altLang="en-US" sz="2000" dirty="0"/>
              <a:t>Most population distributions are not Normal. What is the shape of the sampling distribution of sample means when the population distribution is not Normal?</a:t>
            </a:r>
          </a:p>
          <a:p>
            <a:pPr algn="just" eaLnBrk="1" hangingPunct="1">
              <a:spcBef>
                <a:spcPts val="600"/>
              </a:spcBef>
              <a:buFont typeface="Wingdings" pitchFamily="2" charset="2"/>
              <a:buNone/>
            </a:pPr>
            <a:r>
              <a:rPr lang="en-US" altLang="en-US" sz="2000" dirty="0"/>
              <a:t>Remarkably, </a:t>
            </a:r>
            <a:r>
              <a:rPr lang="en-US" altLang="en-US" sz="2000" i="1" dirty="0">
                <a:highlight>
                  <a:srgbClr val="FFFF00"/>
                </a:highlight>
              </a:rPr>
              <a:t>as the sample size increases, the distribution of sample means begins to look more and more like a Normal distribution! </a:t>
            </a:r>
            <a:endParaRPr lang="en-US" altLang="en-US" sz="2000" dirty="0">
              <a:highlight>
                <a:srgbClr val="FFFF00"/>
              </a:highlight>
            </a:endParaRPr>
          </a:p>
          <a:p>
            <a:pPr algn="just" eaLnBrk="1" hangingPunct="1">
              <a:spcBef>
                <a:spcPts val="600"/>
              </a:spcBef>
              <a:buFont typeface="Wingdings" pitchFamily="2" charset="2"/>
              <a:buNone/>
            </a:pPr>
            <a:r>
              <a:rPr lang="en-US" altLang="en-US" sz="2000" dirty="0"/>
              <a:t>When the sample is large enough, the distribution of sample means is very close to Normal, </a:t>
            </a:r>
            <a:r>
              <a:rPr lang="en-US" altLang="en-US" sz="2000" i="1" dirty="0"/>
              <a:t>no matter what shape the population distribution has, </a:t>
            </a:r>
            <a:r>
              <a:rPr lang="en-US" altLang="en-US" sz="2000" b="1" dirty="0"/>
              <a:t>as long as </a:t>
            </a:r>
            <a:r>
              <a:rPr lang="en-US" altLang="en-US" sz="2000" dirty="0"/>
              <a:t>the population has a finite standard deviation.</a:t>
            </a:r>
          </a:p>
        </p:txBody>
      </p:sp>
      <p:grpSp>
        <p:nvGrpSpPr>
          <p:cNvPr id="2" name="Group 2" descr="The image shows a statement and a mathematical expression on the central limit theorem, which is presented as: &quot;Draw an SRS of size 'n' from any population with mean 'mew' and finite standard deviation 'sigma.' The central limit theorem (CLT) says that when 'n' is large, the sampling distribution of the sample mean 'x bar' is approximately Normal.&quot; The expression is mentioned as: 'x bar' is approximately 'N' bracket open 'mew' comma 'sigma' divide by square root 'n' bracket close."/>
          <p:cNvGrpSpPr>
            <a:grpSpLocks/>
          </p:cNvGrpSpPr>
          <p:nvPr/>
        </p:nvGrpSpPr>
        <p:grpSpPr bwMode="auto">
          <a:xfrm>
            <a:off x="326231" y="4158378"/>
            <a:ext cx="8183562" cy="2339259"/>
            <a:chOff x="685800" y="4611104"/>
            <a:chExt cx="7981921" cy="2123658"/>
          </a:xfrm>
        </p:grpSpPr>
        <p:sp>
          <p:nvSpPr>
            <p:cNvPr id="9" name="TextBox 8"/>
            <p:cNvSpPr txBox="1">
              <a:spLocks noChangeArrowheads="1"/>
            </p:cNvSpPr>
            <p:nvPr/>
          </p:nvSpPr>
          <p:spPr bwMode="auto">
            <a:xfrm>
              <a:off x="685800" y="4611104"/>
              <a:ext cx="7981921" cy="2123658"/>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p:txBody>
        </p:sp>
        <p:graphicFrame>
          <p:nvGraphicFramePr>
            <p:cNvPr id="43015" name="Object 2"/>
            <p:cNvGraphicFramePr>
              <a:graphicFrameLocks noChangeAspect="1"/>
            </p:cNvGraphicFramePr>
            <p:nvPr>
              <p:extLst>
                <p:ext uri="{D42A27DB-BD31-4B8C-83A1-F6EECF244321}">
                  <p14:modId xmlns:p14="http://schemas.microsoft.com/office/powerpoint/2010/main" val="2194388970"/>
                </p:ext>
              </p:extLst>
            </p:nvPr>
          </p:nvGraphicFramePr>
          <p:xfrm>
            <a:off x="1030287" y="4666697"/>
            <a:ext cx="7208811" cy="1995000"/>
          </p:xfrm>
          <a:graphic>
            <a:graphicData uri="http://schemas.openxmlformats.org/presentationml/2006/ole">
              <mc:AlternateContent xmlns:mc="http://schemas.openxmlformats.org/markup-compatibility/2006">
                <mc:Choice xmlns:v="urn:schemas-microsoft-com:vml" Requires="v">
                  <p:oleObj spid="_x0000_s43097" name="Equation" r:id="rId3" imgW="4622800" imgH="1346200" progId="Equation.DSMT4">
                    <p:embed/>
                  </p:oleObj>
                </mc:Choice>
                <mc:Fallback>
                  <p:oleObj name="Equation" r:id="rId3" imgW="4622800" imgH="13462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0287" y="4666697"/>
                          <a:ext cx="7208811" cy="199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fade">
                                      <p:cBhvr>
                                        <p:cTn id="7" dur="500"/>
                                        <p:tgtEl>
                                          <p:spTgt spid="276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651">
                                            <p:txEl>
                                              <p:pRg st="1" end="1"/>
                                            </p:txEl>
                                          </p:spTgt>
                                        </p:tgtEl>
                                        <p:attrNameLst>
                                          <p:attrName>style.visibility</p:attrName>
                                        </p:attrNameLst>
                                      </p:cBhvr>
                                      <p:to>
                                        <p:strVal val="visible"/>
                                      </p:to>
                                    </p:set>
                                    <p:animEffect transition="in" filter="fade">
                                      <p:cBhvr>
                                        <p:cTn id="12" dur="500"/>
                                        <p:tgtEl>
                                          <p:spTgt spid="276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7651">
                                            <p:txEl>
                                              <p:pRg st="2" end="2"/>
                                            </p:txEl>
                                          </p:spTgt>
                                        </p:tgtEl>
                                        <p:attrNameLst>
                                          <p:attrName>style.visibility</p:attrName>
                                        </p:attrNameLst>
                                      </p:cBhvr>
                                      <p:to>
                                        <p:strVal val="visible"/>
                                      </p:to>
                                    </p:set>
                                    <p:animEffect transition="in" filter="fade">
                                      <p:cBhvr>
                                        <p:cTn id="17" dur="500"/>
                                        <p:tgtEl>
                                          <p:spTgt spid="2765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5"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p:cTn id="22" dur="1000" fill="hold"/>
                                        <p:tgtEl>
                                          <p:spTgt spid="2"/>
                                        </p:tgtEl>
                                        <p:attrNameLst>
                                          <p:attrName>ppt_w</p:attrName>
                                        </p:attrNameLst>
                                      </p:cBhvr>
                                      <p:tavLst>
                                        <p:tav tm="0">
                                          <p:val>
                                            <p:strVal val="#ppt_w*0.70"/>
                                          </p:val>
                                        </p:tav>
                                        <p:tav tm="100000">
                                          <p:val>
                                            <p:strVal val="#ppt_w"/>
                                          </p:val>
                                        </p:tav>
                                      </p:tavLst>
                                    </p:anim>
                                    <p:anim calcmode="lin" valueType="num">
                                      <p:cBhvr>
                                        <p:cTn id="23" dur="1000" fill="hold"/>
                                        <p:tgtEl>
                                          <p:spTgt spid="2"/>
                                        </p:tgtEl>
                                        <p:attrNameLst>
                                          <p:attrName>ppt_h</p:attrName>
                                        </p:attrNameLst>
                                      </p:cBhvr>
                                      <p:tavLst>
                                        <p:tav tm="0">
                                          <p:val>
                                            <p:strVal val="#ppt_h"/>
                                          </p:val>
                                        </p:tav>
                                        <p:tav tm="100000">
                                          <p:val>
                                            <p:strVal val="#ppt_h"/>
                                          </p:val>
                                        </p:tav>
                                      </p:tavLst>
                                    </p:anim>
                                    <p:animEffect transition="in" filter="fade">
                                      <p:cBhvr>
                                        <p:cTn id="2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pPr eaLnBrk="1" hangingPunct="1"/>
            <a:r>
              <a:rPr lang="en-US" altLang="en-US" dirty="0">
                <a:ea typeface="ＭＳ Ｐゴシック" pitchFamily="34" charset="-128"/>
              </a:rPr>
              <a:t>Central Limit Theorem Example</a:t>
            </a:r>
          </a:p>
        </p:txBody>
      </p:sp>
      <p:sp>
        <p:nvSpPr>
          <p:cNvPr id="4403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3B413D14-0D91-45A4-B4AC-DAB1F5C4E4C7}" type="slidenum">
              <a:rPr lang="en-US" altLang="en-US" sz="1200">
                <a:solidFill>
                  <a:schemeClr val="accent1"/>
                </a:solidFill>
              </a:rPr>
              <a:pPr>
                <a:lnSpc>
                  <a:spcPct val="80000"/>
                </a:lnSpc>
              </a:pPr>
              <a:t>16</a:t>
            </a:fld>
            <a:endParaRPr lang="en-US" altLang="en-US" sz="1200">
              <a:solidFill>
                <a:schemeClr val="accent1"/>
              </a:solidFill>
            </a:endParaRPr>
          </a:p>
        </p:txBody>
      </p:sp>
      <p:pic>
        <p:nvPicPr>
          <p:cNvPr id="44042" name="Picture 20" descr="The line graph shows the time required by the technicians to complete the maintenance of the Air conditioners. X-axis ranges from 0 to 1, the graph is right skewed and is close to zero. The mean time is mean (mew) equals to 1 hour and the standard deviation (sigma) equals to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3331" y="1173729"/>
            <a:ext cx="2086969" cy="1490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6" name="Text Placeholder 3"/>
          <p:cNvSpPr txBox="1">
            <a:spLocks/>
          </p:cNvSpPr>
          <p:nvPr/>
        </p:nvSpPr>
        <p:spPr bwMode="auto">
          <a:xfrm>
            <a:off x="2400300" y="1208088"/>
            <a:ext cx="6318250" cy="129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spcBef>
                <a:spcPts val="700"/>
              </a:spcBef>
              <a:buClr>
                <a:schemeClr val="accent2"/>
              </a:buClr>
              <a:buSzPct val="60000"/>
              <a:buFont typeface="Wingdings" pitchFamily="2" charset="2"/>
              <a:buNone/>
            </a:pPr>
            <a:r>
              <a:rPr lang="en-US" altLang="en-US" sz="1600" b="1" dirty="0">
                <a:solidFill>
                  <a:srgbClr val="000000"/>
                </a:solidFill>
              </a:rPr>
              <a:t>Example:  </a:t>
            </a:r>
            <a:r>
              <a:rPr lang="en-US" altLang="en-US" sz="1600" dirty="0">
                <a:solidFill>
                  <a:srgbClr val="000000"/>
                </a:solidFill>
              </a:rPr>
              <a:t>Based on service records from the past year, the time (in hours) that a technician requires to complete preventive maintenance on an air conditioner follows a distribution that is strongly right-skewed and whose most likely outcomes are close to 0. The mean time is </a:t>
            </a:r>
            <a:r>
              <a:rPr lang="en-US" altLang="en-US" sz="1600" i="1" dirty="0">
                <a:solidFill>
                  <a:srgbClr val="000000"/>
                </a:solidFill>
              </a:rPr>
              <a:t>µ </a:t>
            </a:r>
            <a:r>
              <a:rPr lang="en-US" altLang="en-US" sz="1600" dirty="0">
                <a:solidFill>
                  <a:srgbClr val="000000"/>
                </a:solidFill>
              </a:rPr>
              <a:t>= 1 hour, and the standard deviation is </a:t>
            </a:r>
            <a:r>
              <a:rPr lang="en-US" altLang="en-US" sz="1600" i="1" dirty="0">
                <a:solidFill>
                  <a:srgbClr val="000000"/>
                </a:solidFill>
              </a:rPr>
              <a:t>σ</a:t>
            </a:r>
            <a:r>
              <a:rPr lang="en-US" altLang="en-US" sz="1600" dirty="0">
                <a:solidFill>
                  <a:srgbClr val="000000"/>
                </a:solidFill>
              </a:rPr>
              <a:t> = 1.</a:t>
            </a:r>
          </a:p>
        </p:txBody>
      </p:sp>
      <p:sp>
        <p:nvSpPr>
          <p:cNvPr id="44037" name="TextBox 6"/>
          <p:cNvSpPr txBox="1">
            <a:spLocks noChangeArrowheads="1"/>
          </p:cNvSpPr>
          <p:nvPr/>
        </p:nvSpPr>
        <p:spPr bwMode="auto">
          <a:xfrm>
            <a:off x="373063" y="2663825"/>
            <a:ext cx="86439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600" b="1" dirty="0">
                <a:solidFill>
                  <a:schemeClr val="tx1"/>
                </a:solidFill>
              </a:rPr>
              <a:t>Your company will service an SRS of 70 air conditioners. You have budgeted 1.1 hours per unit. Will this be enough? </a:t>
            </a:r>
          </a:p>
        </p:txBody>
      </p:sp>
      <p:sp>
        <p:nvSpPr>
          <p:cNvPr id="22" name="TextBox 21"/>
          <p:cNvSpPr txBox="1">
            <a:spLocks noChangeArrowheads="1"/>
          </p:cNvSpPr>
          <p:nvPr/>
        </p:nvSpPr>
        <p:spPr bwMode="auto">
          <a:xfrm>
            <a:off x="409575" y="3248025"/>
            <a:ext cx="8391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600" dirty="0">
                <a:solidFill>
                  <a:schemeClr val="tx1"/>
                </a:solidFill>
              </a:rPr>
              <a:t>The mean and standard deviation of the sampling distribution of the average time spent working on the 70 units are</a:t>
            </a:r>
          </a:p>
        </p:txBody>
      </p:sp>
      <p:sp>
        <p:nvSpPr>
          <p:cNvPr id="26" name="TextBox 25"/>
          <p:cNvSpPr txBox="1">
            <a:spLocks noChangeArrowheads="1"/>
          </p:cNvSpPr>
          <p:nvPr/>
        </p:nvSpPr>
        <p:spPr bwMode="auto">
          <a:xfrm>
            <a:off x="392113" y="4333875"/>
            <a:ext cx="79025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600" dirty="0">
                <a:solidFill>
                  <a:schemeClr val="tx1"/>
                </a:solidFill>
              </a:rPr>
              <a:t>The central limit theorem says that the sampling distribution of the mean time spent working is approximately </a:t>
            </a:r>
            <a:r>
              <a:rPr lang="en-US" altLang="en-US" sz="1600" i="1" dirty="0">
                <a:solidFill>
                  <a:schemeClr val="tx1"/>
                </a:solidFill>
              </a:rPr>
              <a:t>N</a:t>
            </a:r>
            <a:r>
              <a:rPr lang="en-US" altLang="en-US" sz="1600" dirty="0">
                <a:solidFill>
                  <a:schemeClr val="tx1"/>
                </a:solidFill>
              </a:rPr>
              <a:t>(1, 0.12) because </a:t>
            </a:r>
            <a:r>
              <a:rPr lang="en-US" altLang="en-US" sz="1600" i="1" dirty="0">
                <a:solidFill>
                  <a:schemeClr val="tx1"/>
                </a:solidFill>
              </a:rPr>
              <a:t>n </a:t>
            </a:r>
            <a:r>
              <a:rPr lang="en-US" altLang="en-US" sz="1600" dirty="0">
                <a:solidFill>
                  <a:schemeClr val="tx1"/>
                </a:solidFill>
              </a:rPr>
              <a:t>= 70 ≥ 30.</a:t>
            </a:r>
            <a:endParaRPr lang="en-US" altLang="en-US" sz="1600" i="1" dirty="0">
              <a:solidFill>
                <a:schemeClr val="tx1"/>
              </a:solidFill>
            </a:endParaRPr>
          </a:p>
        </p:txBody>
      </p:sp>
      <p:pic>
        <p:nvPicPr>
          <p:cNvPr id="27" name="Picture 26" descr="The image shows a bell shaped curve or a distribution curve, which depicts the number of hours spent by the technicians. X-axis ranges from 0.64 to 1.36 with successive interval of 0.12, with the middle point of the curve or its peak lie at 1 on the x-axis. It has a shaded portion or area ranging from 1.12 to 1.3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19113" y="4967288"/>
            <a:ext cx="3252787" cy="180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TextBox 29"/>
          <p:cNvSpPr txBox="1">
            <a:spLocks noChangeArrowheads="1"/>
          </p:cNvSpPr>
          <p:nvPr/>
        </p:nvSpPr>
        <p:spPr bwMode="auto">
          <a:xfrm>
            <a:off x="4014788" y="5846763"/>
            <a:ext cx="443071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600" dirty="0">
                <a:solidFill>
                  <a:schemeClr val="tx1"/>
                </a:solidFill>
              </a:rPr>
              <a:t>If you budget 1.1 hours per unit, there is a 20% chance that the technicians will not complete the work within the budgeted time.</a:t>
            </a:r>
            <a:endParaRPr lang="en-US" altLang="en-US" sz="1600" i="1" dirty="0">
              <a:solidFill>
                <a:schemeClr val="tx1"/>
              </a:solidFill>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2872504004"/>
              </p:ext>
            </p:extLst>
          </p:nvPr>
        </p:nvGraphicFramePr>
        <p:xfrm>
          <a:off x="2893060" y="3938881"/>
          <a:ext cx="878840" cy="304214"/>
        </p:xfrm>
        <a:graphic>
          <a:graphicData uri="http://schemas.openxmlformats.org/presentationml/2006/ole">
            <mc:AlternateContent xmlns:mc="http://schemas.openxmlformats.org/markup-compatibility/2006">
              <mc:Choice xmlns:v="urn:schemas-microsoft-com:vml" Requires="v">
                <p:oleObj spid="_x0000_s44372" name="Equation" r:id="rId5" imgW="660240" imgH="228600" progId="Equation.DSMT4">
                  <p:embed/>
                </p:oleObj>
              </mc:Choice>
              <mc:Fallback>
                <p:oleObj name="Equation" r:id="rId5" imgW="660240" imgH="228600" progId="Equation.DSMT4">
                  <p:embed/>
                  <p:pic>
                    <p:nvPicPr>
                      <p:cNvPr id="0" name=""/>
                      <p:cNvPicPr/>
                      <p:nvPr/>
                    </p:nvPicPr>
                    <p:blipFill>
                      <a:blip r:embed="rId6"/>
                      <a:stretch>
                        <a:fillRect/>
                      </a:stretch>
                    </p:blipFill>
                    <p:spPr>
                      <a:xfrm>
                        <a:off x="2893060" y="3938881"/>
                        <a:ext cx="878840" cy="304214"/>
                      </a:xfrm>
                      <a:prstGeom prst="rect">
                        <a:avLst/>
                      </a:prstGeom>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564343203"/>
              </p:ext>
            </p:extLst>
          </p:nvPr>
        </p:nvGraphicFramePr>
        <p:xfrm>
          <a:off x="4725266" y="3837385"/>
          <a:ext cx="1598467" cy="507206"/>
        </p:xfrm>
        <a:graphic>
          <a:graphicData uri="http://schemas.openxmlformats.org/presentationml/2006/ole">
            <mc:AlternateContent xmlns:mc="http://schemas.openxmlformats.org/markup-compatibility/2006">
              <mc:Choice xmlns:v="urn:schemas-microsoft-com:vml" Requires="v">
                <p:oleObj spid="_x0000_s44373" name="Equation" r:id="rId7" imgW="1320480" imgH="419040" progId="Equation.DSMT4">
                  <p:embed/>
                </p:oleObj>
              </mc:Choice>
              <mc:Fallback>
                <p:oleObj name="Equation" r:id="rId7" imgW="1320480" imgH="419040" progId="Equation.DSMT4">
                  <p:embed/>
                  <p:pic>
                    <p:nvPicPr>
                      <p:cNvPr id="0" name=""/>
                      <p:cNvPicPr/>
                      <p:nvPr/>
                    </p:nvPicPr>
                    <p:blipFill>
                      <a:blip r:embed="rId8"/>
                      <a:stretch>
                        <a:fillRect/>
                      </a:stretch>
                    </p:blipFill>
                    <p:spPr>
                      <a:xfrm>
                        <a:off x="4725266" y="3837385"/>
                        <a:ext cx="1598467" cy="507206"/>
                      </a:xfrm>
                      <a:prstGeom prst="rect">
                        <a:avLst/>
                      </a:prstGeom>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705163067"/>
              </p:ext>
            </p:extLst>
          </p:nvPr>
        </p:nvGraphicFramePr>
        <p:xfrm>
          <a:off x="4014788" y="5040312"/>
          <a:ext cx="1725664" cy="644525"/>
        </p:xfrm>
        <a:graphic>
          <a:graphicData uri="http://schemas.openxmlformats.org/presentationml/2006/ole">
            <mc:AlternateContent xmlns:mc="http://schemas.openxmlformats.org/markup-compatibility/2006">
              <mc:Choice xmlns:v="urn:schemas-microsoft-com:vml" Requires="v">
                <p:oleObj spid="_x0000_s44374" name="Equation" r:id="rId9" imgW="1054080" imgH="393480" progId="Equation.DSMT4">
                  <p:embed/>
                </p:oleObj>
              </mc:Choice>
              <mc:Fallback>
                <p:oleObj name="Equation" r:id="rId9" imgW="1054080" imgH="393480" progId="Equation.DSMT4">
                  <p:embed/>
                  <p:pic>
                    <p:nvPicPr>
                      <p:cNvPr id="0" name=""/>
                      <p:cNvPicPr/>
                      <p:nvPr/>
                    </p:nvPicPr>
                    <p:blipFill>
                      <a:blip r:embed="rId10"/>
                      <a:stretch>
                        <a:fillRect/>
                      </a:stretch>
                    </p:blipFill>
                    <p:spPr>
                      <a:xfrm>
                        <a:off x="4014788" y="5040312"/>
                        <a:ext cx="1725664" cy="644525"/>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4189715590"/>
              </p:ext>
            </p:extLst>
          </p:nvPr>
        </p:nvGraphicFramePr>
        <p:xfrm>
          <a:off x="5983340" y="5100500"/>
          <a:ext cx="2918952" cy="628129"/>
        </p:xfrm>
        <a:graphic>
          <a:graphicData uri="http://schemas.openxmlformats.org/presentationml/2006/ole">
            <mc:AlternateContent xmlns:mc="http://schemas.openxmlformats.org/markup-compatibility/2006">
              <mc:Choice xmlns:v="urn:schemas-microsoft-com:vml" Requires="v">
                <p:oleObj spid="_x0000_s44375" name="Equation" r:id="rId11" imgW="2006280" imgH="431640" progId="Equation.DSMT4">
                  <p:embed/>
                </p:oleObj>
              </mc:Choice>
              <mc:Fallback>
                <p:oleObj name="Equation" r:id="rId11" imgW="2006280" imgH="431640" progId="Equation.DSMT4">
                  <p:embed/>
                  <p:pic>
                    <p:nvPicPr>
                      <p:cNvPr id="0" name=""/>
                      <p:cNvPicPr/>
                      <p:nvPr/>
                    </p:nvPicPr>
                    <p:blipFill>
                      <a:blip r:embed="rId12"/>
                      <a:stretch>
                        <a:fillRect/>
                      </a:stretch>
                    </p:blipFill>
                    <p:spPr>
                      <a:xfrm>
                        <a:off x="5983340" y="5100500"/>
                        <a:ext cx="2918952" cy="628129"/>
                      </a:xfrm>
                      <a:prstGeom prst="rect">
                        <a:avLst/>
                      </a:prstGeom>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1000"/>
                                        <p:tgtEl>
                                          <p:spTgt spid="2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par>
                                <p:cTn id="26" presetID="10"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15" presetClass="entr" presetSubtype="0"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anim calcmode="lin" valueType="num">
                                      <p:cBhvr>
                                        <p:cTn id="33" dur="1000" fill="hold"/>
                                        <p:tgtEl>
                                          <p:spTgt spid="27"/>
                                        </p:tgtEl>
                                        <p:attrNameLst>
                                          <p:attrName>ppt_w</p:attrName>
                                        </p:attrNameLst>
                                      </p:cBhvr>
                                      <p:tavLst>
                                        <p:tav tm="0">
                                          <p:val>
                                            <p:fltVal val="0"/>
                                          </p:val>
                                        </p:tav>
                                        <p:tav tm="100000">
                                          <p:val>
                                            <p:strVal val="#ppt_w"/>
                                          </p:val>
                                        </p:tav>
                                      </p:tavLst>
                                    </p:anim>
                                    <p:anim calcmode="lin" valueType="num">
                                      <p:cBhvr>
                                        <p:cTn id="34" dur="1000" fill="hold"/>
                                        <p:tgtEl>
                                          <p:spTgt spid="27"/>
                                        </p:tgtEl>
                                        <p:attrNameLst>
                                          <p:attrName>ppt_h</p:attrName>
                                        </p:attrNameLst>
                                      </p:cBhvr>
                                      <p:tavLst>
                                        <p:tav tm="0">
                                          <p:val>
                                            <p:fltVal val="0"/>
                                          </p:val>
                                        </p:tav>
                                        <p:tav tm="100000">
                                          <p:val>
                                            <p:strVal val="#ppt_h"/>
                                          </p:val>
                                        </p:tav>
                                      </p:tavLst>
                                    </p:anim>
                                    <p:anim calcmode="lin" valueType="num">
                                      <p:cBhvr>
                                        <p:cTn id="35" dur="1000" fill="hold"/>
                                        <p:tgtEl>
                                          <p:spTgt spid="27"/>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2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6" grpId="0"/>
      <p:bldP spid="3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4"/>
          <p:cNvSpPr>
            <a:spLocks noGrp="1" noChangeArrowheads="1"/>
          </p:cNvSpPr>
          <p:nvPr>
            <p:ph type="title"/>
          </p:nvPr>
        </p:nvSpPr>
        <p:spPr/>
        <p:txBody>
          <a:bodyPr/>
          <a:lstStyle/>
          <a:p>
            <a:pPr eaLnBrk="1" hangingPunct="1">
              <a:lnSpc>
                <a:spcPct val="110000"/>
              </a:lnSpc>
            </a:pPr>
            <a:r>
              <a:rPr lang="en-US" altLang="en-US">
                <a:ea typeface="ＭＳ Ｐゴシック" pitchFamily="34" charset="-128"/>
              </a:rPr>
              <a:t>A Few More Facts</a:t>
            </a:r>
          </a:p>
        </p:txBody>
      </p:sp>
      <p:sp>
        <p:nvSpPr>
          <p:cNvPr id="4506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12A9BFCB-A992-4D6C-B5B5-7CCDFD394D8F}" type="slidenum">
              <a:rPr lang="en-US" altLang="en-US" sz="1200">
                <a:solidFill>
                  <a:schemeClr val="accent1"/>
                </a:solidFill>
              </a:rPr>
              <a:pPr>
                <a:lnSpc>
                  <a:spcPct val="80000"/>
                </a:lnSpc>
              </a:pPr>
              <a:t>17</a:t>
            </a:fld>
            <a:endParaRPr lang="en-US" altLang="en-US" sz="1200">
              <a:solidFill>
                <a:schemeClr val="accent1"/>
              </a:solidFill>
            </a:endParaRPr>
          </a:p>
        </p:txBody>
      </p:sp>
      <p:pic>
        <p:nvPicPr>
          <p:cNvPr id="45062" name="Picture 9" descr="The distribution bar graph shows three clusters on the horizontal axis. It depicts that any linear combination of independent normal random variables is also normally distributed."/>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7660" y="931228"/>
            <a:ext cx="2833778" cy="913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1" name="Picture 4" descr="The image shows a normal distribution graph with y-axis ranges from 0 to 894 in successive intervals of 149, and x-axis ranges from 0 to 32. It depicts distribution of means, N equals to 2. There are five clusters of bars given in this graph. It discusses the central limit theorem which states that the distribution of a sum or average of many small random quantities is close to normal. It also discusses that the theorem also applies to discrete random variables."/>
          <p:cNvPicPr>
            <a:picLocks noChangeAspect="1"/>
          </p:cNvPicPr>
          <p:nvPr/>
        </p:nvPicPr>
        <p:blipFill>
          <a:blip r:embed="rId4">
            <a:extLst>
              <a:ext uri="{28A0092B-C50C-407E-A947-70E740481C1C}">
                <a14:useLocalDpi xmlns:a14="http://schemas.microsoft.com/office/drawing/2010/main" val="0"/>
              </a:ext>
            </a:extLst>
          </a:blip>
          <a:srcRect r="50574" b="48953"/>
          <a:stretch>
            <a:fillRect/>
          </a:stretch>
        </p:blipFill>
        <p:spPr bwMode="auto">
          <a:xfrm>
            <a:off x="430101" y="1830461"/>
            <a:ext cx="2671201" cy="1261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3" name="Picture 6" descr="The image shows a normal distribution graph with y-axis ranges from 0 to 894 in successive intervals of 149, and x-axis ranges from 0 to 32. It depicts distribution of means, N equals to 5. There is one cluster of bars given in this graph depicting a normal distribution. It discusses the central limit theorem which states that the distribution of a sum or average of many small random quantities is close to normal. "/>
          <p:cNvPicPr>
            <a:picLocks noChangeAspect="1"/>
          </p:cNvPicPr>
          <p:nvPr/>
        </p:nvPicPr>
        <p:blipFill>
          <a:blip r:embed="rId4">
            <a:extLst>
              <a:ext uri="{28A0092B-C50C-407E-A947-70E740481C1C}">
                <a14:useLocalDpi xmlns:a14="http://schemas.microsoft.com/office/drawing/2010/main" val="0"/>
              </a:ext>
            </a:extLst>
          </a:blip>
          <a:srcRect l="50034" b="49814"/>
          <a:stretch>
            <a:fillRect/>
          </a:stretch>
        </p:blipFill>
        <p:spPr bwMode="auto">
          <a:xfrm>
            <a:off x="430101" y="3093794"/>
            <a:ext cx="2670048" cy="1225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4" name="Picture 7" descr="The image shows a normal distribution graph with y-axis ranges from 0 to 1560 in successive intervals of 302, and x-axis ranges from 0 to 32. It depicts distribution of means, N equals to 10. There is one cluster of bars given in this graph depicting a normal distribution. It discusses the central limit theorem which states that the distribution of a sum or average of many small random quantities is close to normal."/>
          <p:cNvPicPr>
            <a:picLocks noChangeAspect="1"/>
          </p:cNvPicPr>
          <p:nvPr/>
        </p:nvPicPr>
        <p:blipFill>
          <a:blip r:embed="rId4">
            <a:extLst>
              <a:ext uri="{28A0092B-C50C-407E-A947-70E740481C1C}">
                <a14:useLocalDpi xmlns:a14="http://schemas.microsoft.com/office/drawing/2010/main" val="0"/>
              </a:ext>
            </a:extLst>
          </a:blip>
          <a:srcRect t="50122" r="49834"/>
          <a:stretch>
            <a:fillRect/>
          </a:stretch>
        </p:blipFill>
        <p:spPr bwMode="auto">
          <a:xfrm>
            <a:off x="385576" y="4321926"/>
            <a:ext cx="2670048" cy="1213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5" name="Picture 8" descr="The image shows a normal distribution graph with y-axis ranges from 0 to 1812 in successive intervals of 302, and x-axis ranges from 0 to 32. It depicts distribution of means, N equals to 25. There is one cluster of bars given in this graph depicting a normal distribution. It discusses the central limit theorem which states that the distribution of a sum or average of many small random quantities is close to normal."/>
          <p:cNvPicPr>
            <a:picLocks noChangeAspect="1"/>
          </p:cNvPicPr>
          <p:nvPr/>
        </p:nvPicPr>
        <p:blipFill>
          <a:blip r:embed="rId4">
            <a:extLst>
              <a:ext uri="{28A0092B-C50C-407E-A947-70E740481C1C}">
                <a14:useLocalDpi xmlns:a14="http://schemas.microsoft.com/office/drawing/2010/main" val="0"/>
              </a:ext>
            </a:extLst>
          </a:blip>
          <a:srcRect l="49886" t="51247"/>
          <a:stretch>
            <a:fillRect/>
          </a:stretch>
        </p:blipFill>
        <p:spPr bwMode="auto">
          <a:xfrm>
            <a:off x="385576" y="5535512"/>
            <a:ext cx="2670048" cy="1187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58" name="Rectangle 3"/>
          <p:cNvSpPr>
            <a:spLocks noChangeArrowheads="1"/>
          </p:cNvSpPr>
          <p:nvPr/>
        </p:nvSpPr>
        <p:spPr bwMode="auto">
          <a:xfrm>
            <a:off x="3378200" y="1727675"/>
            <a:ext cx="5552439"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en-US" altLang="en-US" sz="2000" dirty="0">
                <a:sym typeface="Symbol" pitchFamily="18" charset="2"/>
              </a:rPr>
              <a:t>Any linear combination of independent Normal random variables is also Normally distributed. </a:t>
            </a:r>
          </a:p>
          <a:p>
            <a:pPr algn="just"/>
            <a:endParaRPr lang="en-US" altLang="en-US" sz="1200" dirty="0">
              <a:sym typeface="Symbol" pitchFamily="18" charset="2"/>
            </a:endParaRPr>
          </a:p>
          <a:p>
            <a:pPr algn="just"/>
            <a:r>
              <a:rPr lang="en-US" altLang="en-US" sz="2000" dirty="0">
                <a:sym typeface="Symbol" pitchFamily="18" charset="2"/>
              </a:rPr>
              <a:t>More generally, the central limit theorem notes that the distribution of a sum or average of many small random quantities is close to Normal. </a:t>
            </a:r>
          </a:p>
          <a:p>
            <a:pPr algn="just"/>
            <a:endParaRPr lang="en-US" altLang="en-US" sz="1200" dirty="0">
              <a:sym typeface="Symbol" pitchFamily="18" charset="2"/>
            </a:endParaRPr>
          </a:p>
          <a:p>
            <a:pPr algn="just"/>
            <a:r>
              <a:rPr lang="en-US" altLang="en-US" sz="2000" dirty="0">
                <a:sym typeface="Symbol" pitchFamily="18" charset="2"/>
              </a:rPr>
              <a:t>Finally, the central limit theorem also applies to discrete random variables. An average of discrete random variables will </a:t>
            </a:r>
            <a:r>
              <a:rPr lang="en-US" altLang="en-US" sz="2000" i="1" dirty="0">
                <a:sym typeface="Symbol" pitchFamily="18" charset="2"/>
              </a:rPr>
              <a:t>never</a:t>
            </a:r>
            <a:r>
              <a:rPr lang="en-US" altLang="en-US" sz="2000" dirty="0">
                <a:sym typeface="Symbol" pitchFamily="18" charset="2"/>
              </a:rPr>
              <a:t> result in a continuous sampling distribution, but the Normal distribution often serves as a good </a:t>
            </a:r>
            <a:r>
              <a:rPr lang="en-US" altLang="en-US" sz="2000" i="1" dirty="0">
                <a:sym typeface="Symbol" pitchFamily="18" charset="2"/>
              </a:rPr>
              <a:t>approximation</a:t>
            </a:r>
            <a:r>
              <a:rPr lang="en-US" altLang="en-US" sz="2000" dirty="0">
                <a:sym typeface="Symbol" pitchFamily="18" charset="2"/>
              </a:rPr>
              <a:t>.</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2"/>
          <p:cNvSpPr>
            <a:spLocks noGrp="1"/>
          </p:cNvSpPr>
          <p:nvPr>
            <p:ph type="title"/>
          </p:nvPr>
        </p:nvSpPr>
        <p:spPr>
          <a:xfrm>
            <a:off x="457200" y="342900"/>
            <a:ext cx="6781800" cy="1143000"/>
          </a:xfrm>
        </p:spPr>
        <p:txBody>
          <a:bodyPr anchor="t"/>
          <a:lstStyle/>
          <a:p>
            <a:pPr eaLnBrk="1" hangingPunct="1"/>
            <a:r>
              <a:rPr lang="en-US" altLang="en-US" b="1" dirty="0">
                <a:ea typeface="ＭＳ Ｐゴシック" pitchFamily="34" charset="-128"/>
              </a:rPr>
              <a:t>5.3 Sampling Distributions for Counts and Proportions</a:t>
            </a:r>
          </a:p>
        </p:txBody>
      </p:sp>
      <p:sp>
        <p:nvSpPr>
          <p:cNvPr id="47107" name="Text Placeholder 3"/>
          <p:cNvSpPr>
            <a:spLocks noGrp="1"/>
          </p:cNvSpPr>
          <p:nvPr>
            <p:ph idx="1"/>
          </p:nvPr>
        </p:nvSpPr>
        <p:spPr>
          <a:xfrm>
            <a:off x="457200" y="1783080"/>
            <a:ext cx="6508750" cy="4282440"/>
          </a:xfrm>
        </p:spPr>
        <p:txBody>
          <a:bodyPr/>
          <a:lstStyle/>
          <a:p>
            <a:pPr eaLnBrk="1" hangingPunct="1">
              <a:buSzPct val="110000"/>
              <a:buFont typeface="Wingdings" pitchFamily="2" charset="2"/>
              <a:buChar char="§"/>
            </a:pPr>
            <a:r>
              <a:rPr lang="en-US" altLang="en-US" dirty="0">
                <a:solidFill>
                  <a:schemeClr val="accent1"/>
                </a:solidFill>
                <a:ea typeface="ＭＳ Ｐゴシック" pitchFamily="34" charset="-128"/>
              </a:rPr>
              <a:t>Binomial distributions for sample counts</a:t>
            </a:r>
          </a:p>
          <a:p>
            <a:pPr eaLnBrk="1" hangingPunct="1">
              <a:buSzPct val="110000"/>
              <a:buFont typeface="Wingdings" pitchFamily="2" charset="2"/>
              <a:buChar char="§"/>
            </a:pPr>
            <a:r>
              <a:rPr lang="en-US" altLang="en-US" dirty="0">
                <a:solidFill>
                  <a:schemeClr val="accent1"/>
                </a:solidFill>
                <a:ea typeface="ＭＳ Ｐゴシック" pitchFamily="34" charset="-128"/>
              </a:rPr>
              <a:t>Binomial distributions in statistical sampling</a:t>
            </a:r>
          </a:p>
          <a:p>
            <a:pPr eaLnBrk="1" hangingPunct="1">
              <a:buSzPct val="110000"/>
              <a:buFont typeface="Wingdings" pitchFamily="2" charset="2"/>
              <a:buChar char="§"/>
            </a:pPr>
            <a:r>
              <a:rPr lang="en-US" altLang="en-US" dirty="0">
                <a:solidFill>
                  <a:schemeClr val="accent1"/>
                </a:solidFill>
                <a:ea typeface="ＭＳ Ｐゴシック" pitchFamily="34" charset="-128"/>
              </a:rPr>
              <a:t>Finding binomial probabilities</a:t>
            </a:r>
          </a:p>
          <a:p>
            <a:pPr eaLnBrk="1" hangingPunct="1">
              <a:buSzPct val="110000"/>
              <a:buFont typeface="Wingdings" pitchFamily="2" charset="2"/>
              <a:buChar char="§"/>
            </a:pPr>
            <a:r>
              <a:rPr lang="en-US" altLang="en-US" dirty="0">
                <a:solidFill>
                  <a:schemeClr val="accent1"/>
                </a:solidFill>
                <a:ea typeface="ＭＳ Ｐゴシック" pitchFamily="34" charset="-128"/>
              </a:rPr>
              <a:t>Binomial mean and standard deviation</a:t>
            </a:r>
          </a:p>
          <a:p>
            <a:pPr eaLnBrk="1" hangingPunct="1">
              <a:buSzPct val="110000"/>
              <a:buFont typeface="Wingdings" pitchFamily="2" charset="2"/>
              <a:buChar char="§"/>
            </a:pPr>
            <a:r>
              <a:rPr lang="en-US" altLang="en-US" dirty="0">
                <a:solidFill>
                  <a:schemeClr val="accent1"/>
                </a:solidFill>
                <a:ea typeface="ＭＳ Ｐゴシック" pitchFamily="34" charset="-128"/>
              </a:rPr>
              <a:t>Sample proportions</a:t>
            </a:r>
          </a:p>
          <a:p>
            <a:pPr eaLnBrk="1" hangingPunct="1">
              <a:buSzPct val="110000"/>
              <a:buFont typeface="Wingdings" pitchFamily="2" charset="2"/>
              <a:buChar char="§"/>
            </a:pPr>
            <a:r>
              <a:rPr lang="en-US" altLang="en-US" dirty="0">
                <a:solidFill>
                  <a:schemeClr val="accent1"/>
                </a:solidFill>
                <a:ea typeface="ＭＳ Ｐゴシック" pitchFamily="34" charset="-128"/>
              </a:rPr>
              <a:t>Normal approximation for counts and proportions</a:t>
            </a:r>
          </a:p>
          <a:p>
            <a:pPr eaLnBrk="1" hangingPunct="1">
              <a:buSzPct val="110000"/>
              <a:buFont typeface="Wingdings" pitchFamily="2" charset="2"/>
              <a:buChar char="§"/>
            </a:pPr>
            <a:r>
              <a:rPr lang="en-US" altLang="en-US" dirty="0">
                <a:solidFill>
                  <a:schemeClr val="accent1"/>
                </a:solidFill>
                <a:ea typeface="ＭＳ Ｐゴシック" pitchFamily="34" charset="-128"/>
              </a:rPr>
              <a:t>Binomial formula</a:t>
            </a:r>
          </a:p>
          <a:p>
            <a:pPr eaLnBrk="1" hangingPunct="1">
              <a:buSzPct val="110000"/>
              <a:buFont typeface="Wingdings" pitchFamily="2" charset="2"/>
              <a:buChar char="§"/>
            </a:pPr>
            <a:r>
              <a:rPr lang="en-US" altLang="en-US" dirty="0">
                <a:solidFill>
                  <a:schemeClr val="accent1"/>
                </a:solidFill>
                <a:ea typeface="ＭＳ Ｐゴシック" pitchFamily="34" charset="-128"/>
              </a:rPr>
              <a:t>Poisson distributions for sample counts</a:t>
            </a:r>
          </a:p>
        </p:txBody>
      </p:sp>
      <p:sp>
        <p:nvSpPr>
          <p:cNvPr id="47108"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72654DEB-3E67-46A6-BAB9-F793BA8E4C9D}" type="slidenum">
              <a:rPr lang="en-US" altLang="en-US" sz="1400">
                <a:solidFill>
                  <a:schemeClr val="accent1"/>
                </a:solidFill>
              </a:rPr>
              <a:pPr/>
              <a:t>18</a:t>
            </a:fld>
            <a:endParaRPr lang="en-US" altLang="en-US" sz="1400">
              <a:solidFill>
                <a:schemeClr val="accent1"/>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2" name="Rectangle 2"/>
          <p:cNvSpPr>
            <a:spLocks noGrp="1" noChangeArrowheads="1"/>
          </p:cNvSpPr>
          <p:nvPr>
            <p:ph type="title"/>
          </p:nvPr>
        </p:nvSpPr>
        <p:spPr/>
        <p:txBody>
          <a:bodyPr/>
          <a:lstStyle/>
          <a:p>
            <a:pPr eaLnBrk="1" hangingPunct="1"/>
            <a:r>
              <a:rPr lang="en-US" altLang="en-US">
                <a:ea typeface="ＭＳ Ｐゴシック" pitchFamily="34" charset="-128"/>
              </a:rPr>
              <a:t>The Binomial Setting</a:t>
            </a:r>
          </a:p>
        </p:txBody>
      </p:sp>
      <p:sp>
        <p:nvSpPr>
          <p:cNvPr id="4813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B2FA51D0-3FAC-4BA8-BC11-921FF4AE4258}" type="slidenum">
              <a:rPr lang="en-US" altLang="en-US" sz="1200">
                <a:solidFill>
                  <a:schemeClr val="accent1"/>
                </a:solidFill>
              </a:rPr>
              <a:pPr>
                <a:lnSpc>
                  <a:spcPct val="80000"/>
                </a:lnSpc>
              </a:pPr>
              <a:t>19</a:t>
            </a:fld>
            <a:endParaRPr lang="en-US" altLang="en-US" sz="1200">
              <a:solidFill>
                <a:schemeClr val="accent1"/>
              </a:solidFill>
            </a:endParaRPr>
          </a:p>
        </p:txBody>
      </p:sp>
      <p:sp>
        <p:nvSpPr>
          <p:cNvPr id="48130" name="Rectangle 3"/>
          <p:cNvSpPr txBox="1">
            <a:spLocks noChangeArrowheads="1"/>
          </p:cNvSpPr>
          <p:nvPr/>
        </p:nvSpPr>
        <p:spPr bwMode="auto">
          <a:xfrm>
            <a:off x="317500" y="1204913"/>
            <a:ext cx="8639175" cy="157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a:buFont typeface="Wingdings" pitchFamily="2" charset="2"/>
              <a:buNone/>
            </a:pPr>
            <a:r>
              <a:rPr lang="en-US" altLang="en-US" dirty="0">
                <a:solidFill>
                  <a:schemeClr val="tx1"/>
                </a:solidFill>
              </a:rPr>
              <a:t>When the same chance process is repeated several times, we are often interested in whether a particular outcome does or does not happen on each repetition. In some cases, the number of repeated trials is fixed in advance, and we are interested in the number of times a particular event (called a </a:t>
            </a:r>
            <a:r>
              <a:rPr lang="ja-JP" altLang="en-US" dirty="0">
                <a:solidFill>
                  <a:schemeClr val="tx1"/>
                </a:solidFill>
              </a:rPr>
              <a:t>“</a:t>
            </a:r>
            <a:r>
              <a:rPr lang="en-US" altLang="ja-JP" dirty="0">
                <a:solidFill>
                  <a:schemeClr val="tx1"/>
                </a:solidFill>
              </a:rPr>
              <a:t>success</a:t>
            </a:r>
            <a:r>
              <a:rPr lang="ja-JP" altLang="en-US" dirty="0">
                <a:solidFill>
                  <a:schemeClr val="tx1"/>
                </a:solidFill>
              </a:rPr>
              <a:t>”</a:t>
            </a:r>
            <a:r>
              <a:rPr lang="en-US" altLang="ja-JP" dirty="0">
                <a:solidFill>
                  <a:schemeClr val="tx1"/>
                </a:solidFill>
              </a:rPr>
              <a:t>) occurs.  </a:t>
            </a:r>
            <a:endParaRPr lang="en-US" altLang="en-US" dirty="0">
              <a:solidFill>
                <a:schemeClr val="tx1"/>
              </a:solidFill>
            </a:endParaRPr>
          </a:p>
        </p:txBody>
      </p:sp>
      <p:sp>
        <p:nvSpPr>
          <p:cNvPr id="5" name="TextBox 4"/>
          <p:cNvSpPr txBox="1">
            <a:spLocks noChangeArrowheads="1"/>
          </p:cNvSpPr>
          <p:nvPr/>
        </p:nvSpPr>
        <p:spPr bwMode="auto">
          <a:xfrm>
            <a:off x="355600" y="3005138"/>
            <a:ext cx="8308975" cy="923925"/>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p>
            <a:pPr algn="just" eaLnBrk="1" hangingPunct="1">
              <a:defRPr/>
            </a:pPr>
            <a:r>
              <a:rPr lang="en-US" dirty="0">
                <a:latin typeface="Arial"/>
                <a:ea typeface="ＭＳ Ｐゴシック" charset="-128"/>
                <a:cs typeface="Arial"/>
              </a:rPr>
              <a:t>A </a:t>
            </a:r>
            <a:r>
              <a:rPr lang="en-US" b="1" dirty="0">
                <a:latin typeface="Arial"/>
                <a:ea typeface="ＭＳ Ｐゴシック" charset="-128"/>
                <a:cs typeface="Arial"/>
              </a:rPr>
              <a:t>binomial setting </a:t>
            </a:r>
            <a:r>
              <a:rPr lang="en-US" dirty="0">
                <a:latin typeface="Arial"/>
                <a:ea typeface="ＭＳ Ｐゴシック" charset="-128"/>
                <a:cs typeface="Arial"/>
              </a:rPr>
              <a:t>arises </a:t>
            </a:r>
            <a:r>
              <a:rPr lang="en-US" dirty="0">
                <a:solidFill>
                  <a:srgbClr val="000000"/>
                </a:solidFill>
                <a:latin typeface="Arial"/>
                <a:ea typeface="ＭＳ Ｐゴシック" charset="-128"/>
                <a:cs typeface="Arial"/>
              </a:rPr>
              <a:t>when we perform several independent trials of the same chance process and record the number of times that a particular outcome occurs. The four conditions (called </a:t>
            </a:r>
            <a:r>
              <a:rPr lang="en-US" b="1" dirty="0">
                <a:solidFill>
                  <a:srgbClr val="000000"/>
                </a:solidFill>
                <a:latin typeface="Arial"/>
                <a:ea typeface="ＭＳ Ｐゴシック" charset="-128"/>
                <a:cs typeface="Arial"/>
              </a:rPr>
              <a:t>BINS</a:t>
            </a:r>
            <a:r>
              <a:rPr lang="en-US" dirty="0">
                <a:solidFill>
                  <a:srgbClr val="000000"/>
                </a:solidFill>
                <a:latin typeface="Arial"/>
                <a:ea typeface="ＭＳ Ｐゴシック" charset="-128"/>
                <a:cs typeface="Arial"/>
              </a:rPr>
              <a:t>) for a binomial setting are as follows:</a:t>
            </a:r>
          </a:p>
        </p:txBody>
      </p:sp>
      <p:sp>
        <p:nvSpPr>
          <p:cNvPr id="6" name="TextBox 5"/>
          <p:cNvSpPr txBox="1">
            <a:spLocks noChangeArrowheads="1"/>
          </p:cNvSpPr>
          <p:nvPr/>
        </p:nvSpPr>
        <p:spPr bwMode="auto">
          <a:xfrm>
            <a:off x="317500" y="4162772"/>
            <a:ext cx="8308975" cy="2031325"/>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marL="168275" indent="-168275">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just" eaLnBrk="1" hangingPunct="1">
              <a:spcBef>
                <a:spcPct val="0"/>
              </a:spcBef>
              <a:buClrTx/>
              <a:buSzTx/>
              <a:defRPr/>
            </a:pPr>
            <a:r>
              <a:rPr lang="en-US" altLang="en-US" sz="1800" b="1" dirty="0">
                <a:solidFill>
                  <a:schemeClr val="tx1"/>
                </a:solidFill>
                <a:highlight>
                  <a:srgbClr val="FFFF00"/>
                </a:highlight>
              </a:rPr>
              <a:t>B</a:t>
            </a:r>
            <a:r>
              <a:rPr lang="en-US" altLang="en-US" sz="1800" dirty="0">
                <a:solidFill>
                  <a:schemeClr val="tx1"/>
                </a:solidFill>
                <a:highlight>
                  <a:srgbClr val="FFFF00"/>
                </a:highlight>
              </a:rPr>
              <a:t>inary?</a:t>
            </a:r>
            <a:r>
              <a:rPr lang="en-US" altLang="en-US" sz="1800" dirty="0">
                <a:solidFill>
                  <a:schemeClr val="tx1"/>
                </a:solidFill>
              </a:rPr>
              <a:t> The possible outcomes of each trial can be classified as </a:t>
            </a:r>
            <a:r>
              <a:rPr lang="ja-JP" altLang="en-US" sz="1800" dirty="0">
                <a:solidFill>
                  <a:schemeClr val="tx1"/>
                </a:solidFill>
              </a:rPr>
              <a:t>“</a:t>
            </a:r>
            <a:r>
              <a:rPr lang="en-US" altLang="ja-JP" sz="1800" dirty="0">
                <a:solidFill>
                  <a:schemeClr val="tx1"/>
                </a:solidFill>
              </a:rPr>
              <a:t>success</a:t>
            </a:r>
            <a:r>
              <a:rPr lang="ja-JP" altLang="en-US" sz="1800" dirty="0">
                <a:solidFill>
                  <a:schemeClr val="tx1"/>
                </a:solidFill>
              </a:rPr>
              <a:t>”</a:t>
            </a:r>
            <a:r>
              <a:rPr lang="en-US" altLang="ja-JP" sz="1800" dirty="0">
                <a:solidFill>
                  <a:schemeClr val="tx1"/>
                </a:solidFill>
              </a:rPr>
              <a:t> or </a:t>
            </a:r>
            <a:r>
              <a:rPr lang="ja-JP" altLang="en-US" sz="1800" dirty="0">
                <a:solidFill>
                  <a:schemeClr val="tx1"/>
                </a:solidFill>
              </a:rPr>
              <a:t>“</a:t>
            </a:r>
            <a:r>
              <a:rPr lang="en-US" altLang="ja-JP" sz="1800" dirty="0">
                <a:solidFill>
                  <a:schemeClr val="tx1"/>
                </a:solidFill>
              </a:rPr>
              <a:t>failure.</a:t>
            </a:r>
            <a:r>
              <a:rPr lang="ja-JP" altLang="en-US" sz="1800" dirty="0">
                <a:solidFill>
                  <a:schemeClr val="tx1"/>
                </a:solidFill>
              </a:rPr>
              <a:t>”</a:t>
            </a:r>
            <a:endParaRPr lang="en-US" altLang="ja-JP" sz="1800" dirty="0">
              <a:solidFill>
                <a:schemeClr val="tx1"/>
              </a:solidFill>
            </a:endParaRPr>
          </a:p>
          <a:p>
            <a:pPr algn="just" eaLnBrk="1" hangingPunct="1">
              <a:spcBef>
                <a:spcPct val="0"/>
              </a:spcBef>
              <a:buClrTx/>
              <a:buSzTx/>
              <a:defRPr/>
            </a:pPr>
            <a:r>
              <a:rPr lang="en-US" altLang="en-US" sz="1800" b="1" dirty="0">
                <a:solidFill>
                  <a:schemeClr val="tx1"/>
                </a:solidFill>
                <a:highlight>
                  <a:srgbClr val="FFFF00"/>
                </a:highlight>
              </a:rPr>
              <a:t>I</a:t>
            </a:r>
            <a:r>
              <a:rPr lang="en-US" altLang="en-US" sz="1800" dirty="0">
                <a:solidFill>
                  <a:schemeClr val="tx1"/>
                </a:solidFill>
                <a:highlight>
                  <a:srgbClr val="FFFF00"/>
                </a:highlight>
              </a:rPr>
              <a:t>ndependent?</a:t>
            </a:r>
            <a:r>
              <a:rPr lang="en-US" altLang="en-US" sz="1800" b="1" dirty="0">
                <a:solidFill>
                  <a:schemeClr val="tx1"/>
                </a:solidFill>
              </a:rPr>
              <a:t> </a:t>
            </a:r>
            <a:r>
              <a:rPr lang="en-US" altLang="en-US" sz="1800" dirty="0">
                <a:solidFill>
                  <a:schemeClr val="tx1"/>
                </a:solidFill>
              </a:rPr>
              <a:t>Trials must be </a:t>
            </a:r>
            <a:r>
              <a:rPr lang="en-US" altLang="en-US" sz="1800" b="1" dirty="0">
                <a:solidFill>
                  <a:schemeClr val="tx1"/>
                </a:solidFill>
              </a:rPr>
              <a:t>independent</a:t>
            </a:r>
            <a:r>
              <a:rPr lang="en-US" altLang="en-US" sz="1800" dirty="0">
                <a:solidFill>
                  <a:schemeClr val="tx1"/>
                </a:solidFill>
              </a:rPr>
              <a:t>; that is, the result of one trial must not have any effect on the result of any other trial.</a:t>
            </a:r>
          </a:p>
          <a:p>
            <a:pPr algn="just" eaLnBrk="1" hangingPunct="1">
              <a:spcBef>
                <a:spcPct val="0"/>
              </a:spcBef>
              <a:buClrTx/>
              <a:buSzTx/>
              <a:defRPr/>
            </a:pPr>
            <a:r>
              <a:rPr lang="en-US" altLang="en-US" sz="1800" b="1" dirty="0">
                <a:solidFill>
                  <a:schemeClr val="tx1"/>
                </a:solidFill>
                <a:highlight>
                  <a:srgbClr val="FFFF00"/>
                </a:highlight>
              </a:rPr>
              <a:t>N</a:t>
            </a:r>
            <a:r>
              <a:rPr lang="en-US" altLang="en-US" sz="1800" dirty="0">
                <a:solidFill>
                  <a:schemeClr val="tx1"/>
                </a:solidFill>
                <a:highlight>
                  <a:srgbClr val="FFFF00"/>
                </a:highlight>
              </a:rPr>
              <a:t>umber?</a:t>
            </a:r>
            <a:r>
              <a:rPr lang="en-US" altLang="en-US" sz="1800" b="1" dirty="0">
                <a:solidFill>
                  <a:schemeClr val="tx1"/>
                </a:solidFill>
              </a:rPr>
              <a:t> </a:t>
            </a:r>
            <a:r>
              <a:rPr lang="en-US" altLang="en-US" sz="1800" dirty="0">
                <a:solidFill>
                  <a:schemeClr val="tx1"/>
                </a:solidFill>
              </a:rPr>
              <a:t>The number of trials </a:t>
            </a:r>
            <a:r>
              <a:rPr lang="en-US" altLang="en-US" sz="1800" i="1" dirty="0">
                <a:solidFill>
                  <a:schemeClr val="tx1"/>
                </a:solidFill>
              </a:rPr>
              <a:t>n </a:t>
            </a:r>
            <a:r>
              <a:rPr lang="en-US" altLang="en-US" sz="1800" dirty="0">
                <a:solidFill>
                  <a:schemeClr val="tx1"/>
                </a:solidFill>
              </a:rPr>
              <a:t>of the chance process must be fixed in advance.</a:t>
            </a:r>
          </a:p>
          <a:p>
            <a:pPr algn="just" eaLnBrk="1" hangingPunct="1">
              <a:spcBef>
                <a:spcPct val="0"/>
              </a:spcBef>
              <a:buClrTx/>
              <a:buSzTx/>
              <a:defRPr/>
            </a:pPr>
            <a:r>
              <a:rPr lang="en-US" altLang="en-US" sz="1800" b="1" dirty="0">
                <a:solidFill>
                  <a:schemeClr val="tx1"/>
                </a:solidFill>
                <a:highlight>
                  <a:srgbClr val="FFFF00"/>
                </a:highlight>
              </a:rPr>
              <a:t>S</a:t>
            </a:r>
            <a:r>
              <a:rPr lang="en-US" altLang="en-US" sz="1800" dirty="0">
                <a:solidFill>
                  <a:schemeClr val="tx1"/>
                </a:solidFill>
                <a:highlight>
                  <a:srgbClr val="FFFF00"/>
                </a:highlight>
              </a:rPr>
              <a:t>uccess?</a:t>
            </a:r>
            <a:r>
              <a:rPr lang="en-US" altLang="en-US" sz="1800" b="1" dirty="0">
                <a:solidFill>
                  <a:schemeClr val="tx1"/>
                </a:solidFill>
              </a:rPr>
              <a:t> </a:t>
            </a:r>
            <a:r>
              <a:rPr lang="en-US" altLang="en-US" sz="1800" dirty="0">
                <a:solidFill>
                  <a:schemeClr val="tx1"/>
                </a:solidFill>
              </a:rPr>
              <a:t>The probability </a:t>
            </a:r>
            <a:r>
              <a:rPr lang="en-US" altLang="en-US" sz="1800" i="1" dirty="0">
                <a:solidFill>
                  <a:srgbClr val="000000"/>
                </a:solidFill>
              </a:rPr>
              <a:t>p </a:t>
            </a:r>
            <a:r>
              <a:rPr lang="en-US" altLang="en-US" sz="1800" dirty="0">
                <a:solidFill>
                  <a:srgbClr val="000000"/>
                </a:solidFill>
              </a:rPr>
              <a:t>of success must be the same on every trial.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pPr eaLnBrk="1" hangingPunct="1"/>
            <a:r>
              <a:rPr lang="en-US" altLang="en-US">
                <a:ea typeface="ＭＳ Ｐゴシック" pitchFamily="34" charset="-128"/>
              </a:rPr>
              <a:t>Binomial Distribution</a:t>
            </a:r>
          </a:p>
        </p:txBody>
      </p:sp>
      <p:sp>
        <p:nvSpPr>
          <p:cNvPr id="4915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E308DD78-9C34-485D-95CD-60B0870BF376}" type="slidenum">
              <a:rPr lang="en-US" altLang="en-US" sz="1200">
                <a:solidFill>
                  <a:schemeClr val="accent1"/>
                </a:solidFill>
              </a:rPr>
              <a:pPr>
                <a:lnSpc>
                  <a:spcPct val="80000"/>
                </a:lnSpc>
              </a:pPr>
              <a:t>20</a:t>
            </a:fld>
            <a:endParaRPr lang="en-US" altLang="en-US" sz="1200">
              <a:solidFill>
                <a:schemeClr val="accent1"/>
              </a:solidFill>
            </a:endParaRPr>
          </a:p>
        </p:txBody>
      </p:sp>
      <p:sp>
        <p:nvSpPr>
          <p:cNvPr id="49156" name="Vertical Text Placeholder 2"/>
          <p:cNvSpPr txBox="1">
            <a:spLocks/>
          </p:cNvSpPr>
          <p:nvPr/>
        </p:nvSpPr>
        <p:spPr bwMode="auto">
          <a:xfrm>
            <a:off x="174625" y="1084263"/>
            <a:ext cx="8427243" cy="2058035"/>
          </a:xfrm>
          <a:prstGeom prst="rect">
            <a:avLst/>
          </a:prstGeom>
          <a:solidFill>
            <a:srgbClr val="FFD780"/>
          </a:solidFill>
          <a:ln>
            <a:noFill/>
          </a:ln>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a:buFont typeface="Wingdings" pitchFamily="2" charset="2"/>
              <a:buNone/>
            </a:pPr>
            <a:r>
              <a:rPr lang="en-US" altLang="en-US" dirty="0">
                <a:solidFill>
                  <a:schemeClr val="tx1"/>
                </a:solidFill>
              </a:rPr>
              <a:t>Consider tossing a coin </a:t>
            </a:r>
            <a:r>
              <a:rPr lang="en-US" altLang="en-US" i="1" dirty="0">
                <a:solidFill>
                  <a:schemeClr val="tx1"/>
                </a:solidFill>
              </a:rPr>
              <a:t>n</a:t>
            </a:r>
            <a:r>
              <a:rPr lang="en-US" altLang="en-US" dirty="0">
                <a:solidFill>
                  <a:schemeClr val="tx1"/>
                </a:solidFill>
              </a:rPr>
              <a:t> times. Each toss gives either heads or tails. Knowing the outcome of one toss does not change our assessment of the probability of an outcome on any other toss. If we define heads as a success, then </a:t>
            </a:r>
            <a:r>
              <a:rPr lang="en-US" altLang="en-US" i="1" dirty="0">
                <a:solidFill>
                  <a:schemeClr val="tx1"/>
                </a:solidFill>
              </a:rPr>
              <a:t>p </a:t>
            </a:r>
            <a:r>
              <a:rPr lang="en-US" altLang="en-US" dirty="0">
                <a:solidFill>
                  <a:schemeClr val="tx1"/>
                </a:solidFill>
              </a:rPr>
              <a:t>is the probability of a head and is 0.5 on any toss.</a:t>
            </a:r>
          </a:p>
          <a:p>
            <a:pPr algn="just">
              <a:spcBef>
                <a:spcPts val="600"/>
              </a:spcBef>
            </a:pPr>
            <a:r>
              <a:rPr lang="en-US" altLang="en-US" dirty="0">
                <a:solidFill>
                  <a:schemeClr val="tx1"/>
                </a:solidFill>
              </a:rPr>
              <a:t>The number of heads in </a:t>
            </a:r>
            <a:r>
              <a:rPr lang="en-US" altLang="en-US" i="1" dirty="0">
                <a:solidFill>
                  <a:schemeClr val="tx1"/>
                </a:solidFill>
              </a:rPr>
              <a:t>n</a:t>
            </a:r>
            <a:r>
              <a:rPr lang="en-US" altLang="en-US" dirty="0">
                <a:solidFill>
                  <a:schemeClr val="tx1"/>
                </a:solidFill>
              </a:rPr>
              <a:t> tosses is a binomial random variable </a:t>
            </a:r>
            <a:r>
              <a:rPr lang="en-US" altLang="en-US" i="1" dirty="0">
                <a:solidFill>
                  <a:schemeClr val="tx1"/>
                </a:solidFill>
              </a:rPr>
              <a:t>X</a:t>
            </a:r>
            <a:r>
              <a:rPr lang="en-US" altLang="en-US" dirty="0">
                <a:solidFill>
                  <a:schemeClr val="tx1"/>
                </a:solidFill>
              </a:rPr>
              <a:t>. The probability distribution of </a:t>
            </a:r>
            <a:r>
              <a:rPr lang="en-US" altLang="en-US" i="1" dirty="0">
                <a:solidFill>
                  <a:schemeClr val="tx1"/>
                </a:solidFill>
              </a:rPr>
              <a:t>X</a:t>
            </a:r>
            <a:r>
              <a:rPr lang="en-US" altLang="en-US" dirty="0">
                <a:solidFill>
                  <a:schemeClr val="tx1"/>
                </a:solidFill>
              </a:rPr>
              <a:t> is called a </a:t>
            </a:r>
            <a:r>
              <a:rPr lang="en-US" altLang="en-US" b="1" dirty="0">
                <a:solidFill>
                  <a:schemeClr val="tx1"/>
                </a:solidFill>
              </a:rPr>
              <a:t>binomial distribution.</a:t>
            </a:r>
            <a:endParaRPr lang="en-US" altLang="en-US" dirty="0">
              <a:solidFill>
                <a:schemeClr val="tx1"/>
              </a:solidFill>
            </a:endParaRPr>
          </a:p>
        </p:txBody>
      </p:sp>
      <p:sp>
        <p:nvSpPr>
          <p:cNvPr id="11" name="TextBox 10"/>
          <p:cNvSpPr txBox="1">
            <a:spLocks noChangeArrowheads="1"/>
          </p:cNvSpPr>
          <p:nvPr/>
        </p:nvSpPr>
        <p:spPr bwMode="auto">
          <a:xfrm>
            <a:off x="255190" y="3386696"/>
            <a:ext cx="8266112" cy="1693862"/>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r>
              <a:rPr lang="en-US" altLang="en-US" b="1" dirty="0">
                <a:solidFill>
                  <a:schemeClr val="tx1"/>
                </a:solidFill>
                <a:highlight>
                  <a:srgbClr val="FFFF00"/>
                </a:highlight>
              </a:rPr>
              <a:t>Binomial Distribution</a:t>
            </a:r>
          </a:p>
          <a:p>
            <a:pPr algn="just" eaLnBrk="1" hangingPunct="1">
              <a:spcBef>
                <a:spcPct val="0"/>
              </a:spcBef>
              <a:buClrTx/>
              <a:buSzTx/>
              <a:buFontTx/>
              <a:buNone/>
              <a:defRPr/>
            </a:pPr>
            <a:r>
              <a:rPr lang="en-US" altLang="en-US" dirty="0">
                <a:solidFill>
                  <a:schemeClr val="tx1"/>
                </a:solidFill>
              </a:rPr>
              <a:t>The count </a:t>
            </a:r>
            <a:r>
              <a:rPr lang="en-US" altLang="en-US" i="1" dirty="0">
                <a:solidFill>
                  <a:schemeClr val="tx1"/>
                </a:solidFill>
              </a:rPr>
              <a:t>X </a:t>
            </a:r>
            <a:r>
              <a:rPr lang="en-US" altLang="en-US" dirty="0">
                <a:solidFill>
                  <a:schemeClr val="tx1"/>
                </a:solidFill>
              </a:rPr>
              <a:t>of successes in a binomial setting has the </a:t>
            </a:r>
            <a:r>
              <a:rPr lang="en-US" altLang="en-US" b="1" dirty="0">
                <a:solidFill>
                  <a:schemeClr val="tx1"/>
                </a:solidFill>
              </a:rPr>
              <a:t>binomial distribution </a:t>
            </a:r>
            <a:r>
              <a:rPr lang="en-US" altLang="en-US" dirty="0">
                <a:solidFill>
                  <a:schemeClr val="tx1"/>
                </a:solidFill>
              </a:rPr>
              <a:t>with parameters </a:t>
            </a:r>
            <a:r>
              <a:rPr lang="en-US" altLang="en-US" i="1" dirty="0">
                <a:solidFill>
                  <a:schemeClr val="tx1"/>
                </a:solidFill>
              </a:rPr>
              <a:t>n </a:t>
            </a:r>
            <a:r>
              <a:rPr lang="en-US" altLang="en-US" dirty="0">
                <a:solidFill>
                  <a:schemeClr val="tx1"/>
                </a:solidFill>
              </a:rPr>
              <a:t>and </a:t>
            </a:r>
            <a:r>
              <a:rPr lang="en-US" altLang="en-US" i="1" dirty="0">
                <a:solidFill>
                  <a:schemeClr val="tx1"/>
                </a:solidFill>
              </a:rPr>
              <a:t>p</a:t>
            </a:r>
            <a:r>
              <a:rPr lang="en-US" altLang="en-US" dirty="0">
                <a:solidFill>
                  <a:schemeClr val="tx1"/>
                </a:solidFill>
              </a:rPr>
              <a:t>, where </a:t>
            </a:r>
            <a:r>
              <a:rPr lang="en-US" altLang="en-US" i="1" dirty="0">
                <a:solidFill>
                  <a:schemeClr val="tx1"/>
                </a:solidFill>
              </a:rPr>
              <a:t>n </a:t>
            </a:r>
            <a:r>
              <a:rPr lang="en-US" altLang="en-US" dirty="0">
                <a:solidFill>
                  <a:schemeClr val="tx1"/>
                </a:solidFill>
              </a:rPr>
              <a:t>is the number of trials of the chance process, and </a:t>
            </a:r>
            <a:r>
              <a:rPr lang="en-US" altLang="en-US" i="1" dirty="0">
                <a:solidFill>
                  <a:schemeClr val="tx1"/>
                </a:solidFill>
              </a:rPr>
              <a:t>p </a:t>
            </a:r>
            <a:r>
              <a:rPr lang="en-US" altLang="en-US" dirty="0">
                <a:solidFill>
                  <a:schemeClr val="tx1"/>
                </a:solidFill>
              </a:rPr>
              <a:t>is the probability of a success on any one trial. The possible values of </a:t>
            </a:r>
            <a:r>
              <a:rPr lang="en-US" altLang="en-US" i="1" dirty="0">
                <a:solidFill>
                  <a:schemeClr val="tx1"/>
                </a:solidFill>
              </a:rPr>
              <a:t>X </a:t>
            </a:r>
            <a:r>
              <a:rPr lang="en-US" altLang="en-US" dirty="0">
                <a:solidFill>
                  <a:schemeClr val="tx1"/>
                </a:solidFill>
              </a:rPr>
              <a:t>are the whole numbers from 0 to </a:t>
            </a:r>
            <a:r>
              <a:rPr lang="en-US" altLang="en-US" i="1" dirty="0">
                <a:solidFill>
                  <a:schemeClr val="tx1"/>
                </a:solidFill>
              </a:rPr>
              <a:t>n</a:t>
            </a:r>
            <a:r>
              <a:rPr lang="en-US" altLang="en-US" dirty="0">
                <a:solidFill>
                  <a:schemeClr val="tx1"/>
                </a:solidFill>
              </a:rPr>
              <a:t>.</a:t>
            </a:r>
            <a:endParaRPr lang="en-US" altLang="en-US" sz="2400" dirty="0">
              <a:solidFill>
                <a:schemeClr val="tx1"/>
              </a:solidFill>
            </a:endParaRPr>
          </a:p>
        </p:txBody>
      </p:sp>
      <p:sp>
        <p:nvSpPr>
          <p:cNvPr id="12" name="TextBox 11"/>
          <p:cNvSpPr txBox="1">
            <a:spLocks noChangeArrowheads="1"/>
          </p:cNvSpPr>
          <p:nvPr/>
        </p:nvSpPr>
        <p:spPr bwMode="auto">
          <a:xfrm>
            <a:off x="178594" y="5328239"/>
            <a:ext cx="834270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r>
              <a:rPr lang="en-US" altLang="en-US" b="1" dirty="0">
                <a:solidFill>
                  <a:schemeClr val="tx1"/>
                </a:solidFill>
                <a:highlight>
                  <a:srgbClr val="FFFF00"/>
                </a:highlight>
              </a:rPr>
              <a:t>Note:</a:t>
            </a:r>
            <a:r>
              <a:rPr lang="en-US" altLang="en-US" dirty="0">
                <a:solidFill>
                  <a:schemeClr val="tx1"/>
                </a:solidFill>
              </a:rPr>
              <a:t> Not all counts have binomial distributions. Be sure to check the conditions for a binomial setting and make sure you are being asked to count the number of successes in a certain number of trials!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 of the Binomial Distribution</a:t>
            </a:r>
          </a:p>
        </p:txBody>
      </p:sp>
      <p:sp>
        <p:nvSpPr>
          <p:cNvPr id="50178"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FD88AB4E-A064-4B96-AC20-A180965F94C1}" type="slidenum">
              <a:rPr lang="en-US" altLang="en-US" sz="1400">
                <a:solidFill>
                  <a:schemeClr val="accent1"/>
                </a:solidFill>
              </a:rPr>
              <a:pPr/>
              <a:t>21</a:t>
            </a:fld>
            <a:endParaRPr lang="en-US" altLang="en-US" sz="1400">
              <a:solidFill>
                <a:schemeClr val="accent1"/>
              </a:solidFill>
            </a:endParaRPr>
          </a:p>
        </p:txBody>
      </p:sp>
      <p:sp>
        <p:nvSpPr>
          <p:cNvPr id="3" name="TextBox 2"/>
          <p:cNvSpPr txBox="1"/>
          <p:nvPr/>
        </p:nvSpPr>
        <p:spPr>
          <a:xfrm>
            <a:off x="260636" y="1431014"/>
            <a:ext cx="7600377" cy="646331"/>
          </a:xfrm>
          <a:prstGeom prst="rect">
            <a:avLst/>
          </a:prstGeom>
          <a:solidFill>
            <a:srgbClr val="FFD780"/>
          </a:solidFill>
        </p:spPr>
        <p:txBody>
          <a:bodyPr wrap="square" rtlCol="0">
            <a:spAutoFit/>
          </a:bodyPr>
          <a:lstStyle/>
          <a:p>
            <a:r>
              <a:rPr lang="en-US" dirty="0"/>
              <a:t>In a binomial setting with </a:t>
            </a:r>
            <a:r>
              <a:rPr lang="en-US" i="1" dirty="0"/>
              <a:t>n</a:t>
            </a:r>
            <a:r>
              <a:rPr lang="en-US" dirty="0"/>
              <a:t> trials and success probability </a:t>
            </a:r>
            <a:r>
              <a:rPr lang="en-US" i="1" dirty="0"/>
              <a:t>p</a:t>
            </a:r>
            <a:r>
              <a:rPr lang="en-US" dirty="0"/>
              <a:t>, the probability of exactly </a:t>
            </a:r>
            <a:r>
              <a:rPr lang="en-US" i="1" dirty="0"/>
              <a:t>x</a:t>
            </a:r>
            <a:r>
              <a:rPr lang="en-US" dirty="0"/>
              <a:t> successes </a:t>
            </a:r>
            <a:r>
              <a:rPr lang="en-US" dirty="0" smtClean="0"/>
              <a:t>is</a:t>
            </a: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4180556796"/>
              </p:ext>
            </p:extLst>
          </p:nvPr>
        </p:nvGraphicFramePr>
        <p:xfrm>
          <a:off x="2481846" y="2251252"/>
          <a:ext cx="3165677" cy="651757"/>
        </p:xfrm>
        <a:graphic>
          <a:graphicData uri="http://schemas.openxmlformats.org/presentationml/2006/ole">
            <mc:AlternateContent xmlns:mc="http://schemas.openxmlformats.org/markup-compatibility/2006">
              <mc:Choice xmlns:v="urn:schemas-microsoft-com:vml" Requires="v">
                <p:oleObj spid="_x0000_s69638" name="Equation" r:id="rId4" imgW="2158920" imgH="444240" progId="Equation.DSMT4">
                  <p:embed/>
                </p:oleObj>
              </mc:Choice>
              <mc:Fallback>
                <p:oleObj name="Equation" r:id="rId4" imgW="2158920" imgH="444240" progId="Equation.DSMT4">
                  <p:embed/>
                  <p:pic>
                    <p:nvPicPr>
                      <p:cNvPr id="0" name=""/>
                      <p:cNvPicPr/>
                      <p:nvPr/>
                    </p:nvPicPr>
                    <p:blipFill>
                      <a:blip r:embed="rId5"/>
                      <a:stretch>
                        <a:fillRect/>
                      </a:stretch>
                    </p:blipFill>
                    <p:spPr>
                      <a:xfrm>
                        <a:off x="2481846" y="2251252"/>
                        <a:ext cx="3165677" cy="651757"/>
                      </a:xfrm>
                      <a:prstGeom prst="rect">
                        <a:avLst/>
                      </a:prstGeom>
                      <a:solidFill>
                        <a:srgbClr val="FFD780"/>
                      </a:solidFill>
                    </p:spPr>
                  </p:pic>
                </p:oleObj>
              </mc:Fallback>
            </mc:AlternateContent>
          </a:graphicData>
        </a:graphic>
      </p:graphicFrame>
      <p:sp>
        <p:nvSpPr>
          <p:cNvPr id="5" name="TextBox 4">
            <a:extLst>
              <a:ext uri="{FF2B5EF4-FFF2-40B4-BE49-F238E27FC236}">
                <a16:creationId xmlns:a16="http://schemas.microsoft.com/office/drawing/2014/main" xmlns="" id="{CE9F9125-2C7A-4C0E-908A-72A00587913A}"/>
              </a:ext>
            </a:extLst>
          </p:cNvPr>
          <p:cNvSpPr txBox="1"/>
          <p:nvPr/>
        </p:nvSpPr>
        <p:spPr>
          <a:xfrm>
            <a:off x="224853" y="4705790"/>
            <a:ext cx="7772400" cy="923330"/>
          </a:xfrm>
          <a:prstGeom prst="rect">
            <a:avLst/>
          </a:prstGeom>
          <a:noFill/>
        </p:spPr>
        <p:txBody>
          <a:bodyPr wrap="square" rtlCol="0">
            <a:spAutoFit/>
          </a:bodyPr>
          <a:lstStyle/>
          <a:p>
            <a:r>
              <a:rPr lang="en-US" altLang="en-US" b="1" dirty="0">
                <a:highlight>
                  <a:srgbClr val="FFFF00"/>
                </a:highlight>
              </a:rPr>
              <a:t>Note:</a:t>
            </a:r>
            <a:r>
              <a:rPr lang="en-US" altLang="en-US" dirty="0"/>
              <a:t>  The binomial distributions are important in statistics when we want to make inferences about the proportion </a:t>
            </a:r>
            <a:r>
              <a:rPr lang="en-US" altLang="en-US" i="1" dirty="0"/>
              <a:t>p</a:t>
            </a:r>
            <a:r>
              <a:rPr lang="en-US" altLang="en-US" dirty="0"/>
              <a:t> of successes in a population.</a:t>
            </a:r>
          </a:p>
          <a:p>
            <a:endParaRPr lang="en-US" dirty="0"/>
          </a:p>
        </p:txBody>
      </p:sp>
      <p:sp>
        <p:nvSpPr>
          <p:cNvPr id="8" name="TextBox 7"/>
          <p:cNvSpPr txBox="1"/>
          <p:nvPr/>
        </p:nvSpPr>
        <p:spPr>
          <a:xfrm>
            <a:off x="260636" y="3098008"/>
            <a:ext cx="7600377" cy="923330"/>
          </a:xfrm>
          <a:prstGeom prst="rect">
            <a:avLst/>
          </a:prstGeom>
          <a:solidFill>
            <a:srgbClr val="FFD780"/>
          </a:solidFill>
        </p:spPr>
        <p:txBody>
          <a:bodyPr wrap="square" rtlCol="0">
            <a:spAutoFit/>
          </a:bodyPr>
          <a:lstStyle/>
          <a:p>
            <a:r>
              <a:rPr lang="en-US" dirty="0" smtClean="0"/>
              <a:t>In </a:t>
            </a:r>
            <a:r>
              <a:rPr lang="en-US" dirty="0"/>
              <a:t>this formula, </a:t>
            </a:r>
            <a:r>
              <a:rPr lang="en-US" i="1" dirty="0"/>
              <a:t>x</a:t>
            </a:r>
            <a:r>
              <a:rPr lang="en-US" dirty="0"/>
              <a:t>! means </a:t>
            </a:r>
            <a:r>
              <a:rPr lang="en-US" i="1" dirty="0"/>
              <a:t>x</a:t>
            </a:r>
            <a:r>
              <a:rPr lang="en-US" dirty="0"/>
              <a:t>(</a:t>
            </a:r>
            <a:r>
              <a:rPr lang="en-US" i="1" dirty="0"/>
              <a:t>x </a:t>
            </a:r>
            <a:r>
              <a:rPr lang="en-US" dirty="0"/>
              <a:t>– 1)(</a:t>
            </a:r>
            <a:r>
              <a:rPr lang="en-US" i="1" dirty="0"/>
              <a:t>x </a:t>
            </a:r>
            <a:r>
              <a:rPr lang="en-US" dirty="0"/>
              <a:t>– 2) . . . 2(1).</a:t>
            </a:r>
          </a:p>
          <a:p>
            <a:endParaRPr lang="en-US" dirty="0"/>
          </a:p>
          <a:p>
            <a:r>
              <a:rPr lang="en-US" dirty="0"/>
              <a:t>For example, 5! = 5(4)(3)(2)(1) = 120.</a:t>
            </a:r>
          </a:p>
        </p:txBody>
      </p:sp>
    </p:spTree>
    <p:extLst>
      <p:ext uri="{BB962C8B-B14F-4D97-AF65-F5344CB8AC3E}">
        <p14:creationId xmlns:p14="http://schemas.microsoft.com/office/powerpoint/2010/main" val="3939205418"/>
      </p:ext>
    </p:extLst>
  </p:cSld>
  <p:clrMapOvr>
    <a:masterClrMapping/>
  </p:clrMapOvr>
  <p:transition spd="med">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a:xfrm>
            <a:off x="174625" y="153988"/>
            <a:ext cx="7772400" cy="1143000"/>
          </a:xfrm>
        </p:spPr>
        <p:txBody>
          <a:bodyPr/>
          <a:lstStyle/>
          <a:p>
            <a:pPr eaLnBrk="1" hangingPunct="1"/>
            <a:r>
              <a:rPr lang="en-US" altLang="en-US" dirty="0">
                <a:ea typeface="ＭＳ Ｐゴシック" pitchFamily="34" charset="-128"/>
              </a:rPr>
              <a:t>Binomial Distributions in Statistical Sampling</a:t>
            </a:r>
          </a:p>
        </p:txBody>
      </p:sp>
      <p:sp>
        <p:nvSpPr>
          <p:cNvPr id="5222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E4913C00-B0D6-4914-88AA-AE92E7840DA3}" type="slidenum">
              <a:rPr lang="en-US" altLang="en-US" sz="1200">
                <a:solidFill>
                  <a:schemeClr val="accent1"/>
                </a:solidFill>
              </a:rPr>
              <a:pPr>
                <a:lnSpc>
                  <a:spcPct val="80000"/>
                </a:lnSpc>
              </a:pPr>
              <a:t>22</a:t>
            </a:fld>
            <a:endParaRPr lang="en-US" altLang="en-US" sz="1200">
              <a:solidFill>
                <a:schemeClr val="accent1"/>
              </a:solidFill>
            </a:endParaRPr>
          </a:p>
        </p:txBody>
      </p:sp>
      <p:pic>
        <p:nvPicPr>
          <p:cNvPr id="5" name="Picture 4" descr="The animations illustrate how binomial distributions in statistical sampling are calculated. An SRS of size &quot;n&quot; from a population with proportion &quot;p&quot; of successes is considered. It explains how an actual probability is calculated when there is no defective CD in a sample of 10 CDs, selected from a shipment of 10,000.  The actual probability equals to 0.3485. However, using the binomial distribution, the probability for P(X=0) equals to 0.3487, which is equal to the actual probability. The binomial distribution is calculated as &quot;P (X equals 0)&quot; equals to 0.10 raised to the power 0 multiplied by 0.90 raised to the power 10,&quot; equals to 0.3487.&quot;" hidden="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4550" y="831850"/>
            <a:ext cx="638175" cy="276225"/>
          </a:xfrm>
          <a:prstGeom prst="rect">
            <a:avLst/>
          </a:prstGeom>
        </p:spPr>
      </p:pic>
      <p:pic>
        <p:nvPicPr>
          <p:cNvPr id="6" name="Picture 5" descr="To skip animation steps, move to the next slide." hidden="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75300" y="831849"/>
            <a:ext cx="638175" cy="276225"/>
          </a:xfrm>
          <a:prstGeom prst="rect">
            <a:avLst/>
          </a:prstGeom>
        </p:spPr>
      </p:pic>
      <p:sp>
        <p:nvSpPr>
          <p:cNvPr id="52228" name="Vertical Text Placeholder 2"/>
          <p:cNvSpPr txBox="1">
            <a:spLocks/>
          </p:cNvSpPr>
          <p:nvPr/>
        </p:nvSpPr>
        <p:spPr bwMode="auto">
          <a:xfrm>
            <a:off x="168275" y="1481138"/>
            <a:ext cx="8455025"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a:spcBef>
                <a:spcPts val="600"/>
              </a:spcBef>
            </a:pPr>
            <a:r>
              <a:rPr lang="en-US" altLang="en-US" sz="1800" b="1" dirty="0">
                <a:solidFill>
                  <a:srgbClr val="000000"/>
                </a:solidFill>
              </a:rPr>
              <a:t>Example:  </a:t>
            </a:r>
            <a:r>
              <a:rPr lang="en-US" altLang="en-US" sz="1800" dirty="0">
                <a:solidFill>
                  <a:srgbClr val="000000"/>
                </a:solidFill>
              </a:rPr>
              <a:t>Suppose 10% of CDs have defective copy-protection schemes that can harm computers. A music distributor inspects an SRS of 10 CDs from a shipment of 10,000. Let </a:t>
            </a:r>
            <a:r>
              <a:rPr lang="en-US" altLang="en-US" sz="1800" i="1" dirty="0">
                <a:solidFill>
                  <a:srgbClr val="000000"/>
                </a:solidFill>
              </a:rPr>
              <a:t>X </a:t>
            </a:r>
            <a:r>
              <a:rPr lang="en-US" altLang="en-US" sz="1800" dirty="0">
                <a:solidFill>
                  <a:srgbClr val="000000"/>
                </a:solidFill>
              </a:rPr>
              <a:t>= number of defective CDs in the SRS of size 10.</a:t>
            </a:r>
          </a:p>
          <a:p>
            <a:pPr algn="just">
              <a:spcBef>
                <a:spcPts val="600"/>
              </a:spcBef>
            </a:pPr>
            <a:r>
              <a:rPr lang="en-US" altLang="en-US" sz="1800" b="1" dirty="0">
                <a:solidFill>
                  <a:srgbClr val="000000"/>
                </a:solidFill>
              </a:rPr>
              <a:t>What is </a:t>
            </a:r>
            <a:r>
              <a:rPr lang="en-US" altLang="en-US" sz="1800" b="1" i="1" dirty="0">
                <a:solidFill>
                  <a:srgbClr val="000000"/>
                </a:solidFill>
              </a:rPr>
              <a:t>P</a:t>
            </a:r>
            <a:r>
              <a:rPr lang="en-US" altLang="en-US" sz="1800" b="1" dirty="0">
                <a:solidFill>
                  <a:srgbClr val="000000"/>
                </a:solidFill>
              </a:rPr>
              <a:t>(</a:t>
            </a:r>
            <a:r>
              <a:rPr lang="en-US" altLang="en-US" sz="1800" b="1" i="1" dirty="0">
                <a:solidFill>
                  <a:srgbClr val="000000"/>
                </a:solidFill>
              </a:rPr>
              <a:t>X </a:t>
            </a:r>
            <a:r>
              <a:rPr lang="en-US" altLang="en-US" sz="1800" b="1" dirty="0">
                <a:solidFill>
                  <a:srgbClr val="000000"/>
                </a:solidFill>
              </a:rPr>
              <a:t>= 0)? </a:t>
            </a:r>
          </a:p>
          <a:p>
            <a:pPr algn="just">
              <a:spcBef>
                <a:spcPts val="600"/>
              </a:spcBef>
            </a:pPr>
            <a:endParaRPr lang="en-US" altLang="en-US" sz="1800" b="1" dirty="0">
              <a:solidFill>
                <a:srgbClr val="000000"/>
              </a:solidFill>
            </a:endParaRPr>
          </a:p>
          <a:p>
            <a:pPr algn="just">
              <a:spcBef>
                <a:spcPts val="600"/>
              </a:spcBef>
            </a:pPr>
            <a:r>
              <a:rPr lang="en-US" altLang="en-US" sz="1800" b="1" dirty="0">
                <a:solidFill>
                  <a:schemeClr val="tx1"/>
                </a:solidFill>
                <a:highlight>
                  <a:srgbClr val="FFFF00"/>
                </a:highlight>
              </a:rPr>
              <a:t>Note:</a:t>
            </a:r>
            <a:r>
              <a:rPr lang="en-US" altLang="en-US" sz="1800" dirty="0">
                <a:solidFill>
                  <a:schemeClr val="tx1"/>
                </a:solidFill>
                <a:highlight>
                  <a:srgbClr val="FFFF00"/>
                </a:highlight>
              </a:rPr>
              <a:t> This </a:t>
            </a:r>
            <a:r>
              <a:rPr lang="en-US" altLang="en-US" sz="1800" dirty="0">
                <a:solidFill>
                  <a:srgbClr val="000000"/>
                </a:solidFill>
                <a:highlight>
                  <a:srgbClr val="FFFF00"/>
                </a:highlight>
              </a:rPr>
              <a:t>is not quite a binomial setting. Why?</a:t>
            </a:r>
          </a:p>
          <a:p>
            <a:pPr algn="just">
              <a:spcBef>
                <a:spcPts val="600"/>
              </a:spcBef>
              <a:buFont typeface="Wingdings" pitchFamily="2" charset="2"/>
              <a:buNone/>
            </a:pPr>
            <a:endParaRPr lang="en-US" altLang="en-US" dirty="0">
              <a:solidFill>
                <a:srgbClr val="FF0000"/>
              </a:solidFill>
            </a:endParaRPr>
          </a:p>
        </p:txBody>
      </p:sp>
      <p:sp>
        <p:nvSpPr>
          <p:cNvPr id="52236" name="Rectangle 11"/>
          <p:cNvSpPr>
            <a:spLocks noChangeArrowheads="1"/>
          </p:cNvSpPr>
          <p:nvPr/>
        </p:nvSpPr>
        <p:spPr bwMode="auto">
          <a:xfrm>
            <a:off x="168275" y="3725876"/>
            <a:ext cx="234027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buFont typeface="Wingdings" pitchFamily="2" charset="2"/>
              <a:buNone/>
            </a:pPr>
            <a:r>
              <a:rPr lang="en-US" altLang="en-US" sz="1600" dirty="0">
                <a:solidFill>
                  <a:srgbClr val="000000"/>
                </a:solidFill>
              </a:rPr>
              <a:t>The actual probability is</a:t>
            </a:r>
            <a:endParaRPr lang="en-US" altLang="en-US" sz="2800" dirty="0">
              <a:solidFill>
                <a:srgbClr val="000000"/>
              </a:solidFill>
            </a:endParaRPr>
          </a:p>
        </p:txBody>
      </p:sp>
      <p:sp>
        <p:nvSpPr>
          <p:cNvPr id="8" name="TextBox 15"/>
          <p:cNvSpPr txBox="1">
            <a:spLocks noChangeArrowheads="1"/>
          </p:cNvSpPr>
          <p:nvPr/>
        </p:nvSpPr>
        <p:spPr bwMode="auto">
          <a:xfrm>
            <a:off x="269755" y="4315853"/>
            <a:ext cx="7937500" cy="1477962"/>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sz="1800" b="1" dirty="0"/>
              <a:t>Sampling Distribution of a Count</a:t>
            </a:r>
          </a:p>
          <a:p>
            <a:pPr algn="just" eaLnBrk="1" hangingPunct="1">
              <a:defRPr/>
            </a:pPr>
            <a:r>
              <a:rPr lang="en-US" sz="1800" dirty="0"/>
              <a:t>Choose an SRS of size </a:t>
            </a:r>
            <a:r>
              <a:rPr lang="en-US" sz="1800" i="1" dirty="0"/>
              <a:t>n</a:t>
            </a:r>
            <a:r>
              <a:rPr lang="en-US" sz="1800" dirty="0"/>
              <a:t> from a population with proportion </a:t>
            </a:r>
            <a:r>
              <a:rPr lang="en-US" sz="1800" i="1" dirty="0"/>
              <a:t>p</a:t>
            </a:r>
            <a:r>
              <a:rPr lang="en-US" sz="1800" dirty="0"/>
              <a:t> of successes. When the population is much larger than the sample, the count </a:t>
            </a:r>
            <a:r>
              <a:rPr lang="en-US" sz="1800" i="1" dirty="0"/>
              <a:t>X</a:t>
            </a:r>
            <a:r>
              <a:rPr lang="en-US" sz="1800" dirty="0"/>
              <a:t> of successes in the sample has approximately the binomial distribution with parameters </a:t>
            </a:r>
            <a:r>
              <a:rPr lang="en-US" sz="1800" i="1" dirty="0"/>
              <a:t>n</a:t>
            </a:r>
            <a:r>
              <a:rPr lang="en-US" sz="1800" dirty="0"/>
              <a:t> and </a:t>
            </a:r>
            <a:r>
              <a:rPr lang="en-US" sz="1800" i="1" dirty="0"/>
              <a:t>p</a:t>
            </a:r>
            <a:r>
              <a:rPr lang="en-US" sz="1800" dirty="0"/>
              <a:t>.</a:t>
            </a:r>
          </a:p>
        </p:txBody>
      </p:sp>
      <p:grpSp>
        <p:nvGrpSpPr>
          <p:cNvPr id="4" name="Group 23" descr="already described"/>
          <p:cNvGrpSpPr>
            <a:grpSpLocks/>
          </p:cNvGrpSpPr>
          <p:nvPr/>
        </p:nvGrpSpPr>
        <p:grpSpPr bwMode="auto">
          <a:xfrm>
            <a:off x="550054" y="5985676"/>
            <a:ext cx="7224713" cy="742950"/>
            <a:chOff x="292100" y="3466523"/>
            <a:chExt cx="7224098" cy="743242"/>
          </a:xfrm>
        </p:grpSpPr>
        <p:sp>
          <p:nvSpPr>
            <p:cNvPr id="52235" name="Rectangle 16"/>
            <p:cNvSpPr>
              <a:spLocks noChangeArrowheads="1"/>
            </p:cNvSpPr>
            <p:nvPr/>
          </p:nvSpPr>
          <p:spPr bwMode="auto">
            <a:xfrm>
              <a:off x="292100" y="3672957"/>
              <a:ext cx="302448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buFont typeface="Wingdings" pitchFamily="2" charset="2"/>
                <a:buNone/>
              </a:pPr>
              <a:r>
                <a:rPr lang="en-US" altLang="en-US" sz="1600" dirty="0">
                  <a:solidFill>
                    <a:srgbClr val="000000"/>
                  </a:solidFill>
                </a:rPr>
                <a:t>Using the binomial distribution,</a:t>
              </a:r>
              <a:endParaRPr lang="en-US" altLang="en-US" sz="2800" dirty="0">
                <a:solidFill>
                  <a:srgbClr val="000000"/>
                </a:solidFill>
              </a:endParaRPr>
            </a:p>
          </p:txBody>
        </p:sp>
        <p:graphicFrame>
          <p:nvGraphicFramePr>
            <p:cNvPr id="52234" name="Object 3"/>
            <p:cNvGraphicFramePr>
              <a:graphicFrameLocks noChangeAspect="1"/>
            </p:cNvGraphicFramePr>
            <p:nvPr>
              <p:extLst>
                <p:ext uri="{D42A27DB-BD31-4B8C-83A1-F6EECF244321}">
                  <p14:modId xmlns:p14="http://schemas.microsoft.com/office/powerpoint/2010/main" val="4121679168"/>
                </p:ext>
              </p:extLst>
            </p:nvPr>
          </p:nvGraphicFramePr>
          <p:xfrm>
            <a:off x="3425558" y="3466523"/>
            <a:ext cx="4090640" cy="743242"/>
          </p:xfrm>
          <a:graphic>
            <a:graphicData uri="http://schemas.openxmlformats.org/presentationml/2006/ole">
              <mc:AlternateContent xmlns:mc="http://schemas.openxmlformats.org/markup-compatibility/2006">
                <mc:Choice xmlns:v="urn:schemas-microsoft-com:vml" Requires="v">
                  <p:oleObj spid="_x0000_s65658" name="Equation" r:id="rId5" imgW="2451100" imgH="444500" progId="Equation.DSMT4">
                    <p:embed/>
                  </p:oleObj>
                </mc:Choice>
                <mc:Fallback>
                  <p:oleObj name="Equation" r:id="rId5" imgW="2451100" imgH="4445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5558" y="3466523"/>
                          <a:ext cx="4090640" cy="743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aphicFrame>
        <p:nvGraphicFramePr>
          <p:cNvPr id="2" name="Object 1"/>
          <p:cNvGraphicFramePr>
            <a:graphicFrameLocks noChangeAspect="1"/>
          </p:cNvGraphicFramePr>
          <p:nvPr>
            <p:extLst>
              <p:ext uri="{D42A27DB-BD31-4B8C-83A1-F6EECF244321}">
                <p14:modId xmlns:p14="http://schemas.microsoft.com/office/powerpoint/2010/main" val="778754144"/>
              </p:ext>
            </p:extLst>
          </p:nvPr>
        </p:nvGraphicFramePr>
        <p:xfrm>
          <a:off x="2508546" y="3638927"/>
          <a:ext cx="4578998" cy="512451"/>
        </p:xfrm>
        <a:graphic>
          <a:graphicData uri="http://schemas.openxmlformats.org/presentationml/2006/ole">
            <mc:AlternateContent xmlns:mc="http://schemas.openxmlformats.org/markup-compatibility/2006">
              <mc:Choice xmlns:v="urn:schemas-microsoft-com:vml" Requires="v">
                <p:oleObj spid="_x0000_s65659" name="Equation" r:id="rId7" imgW="3517560" imgH="393480" progId="Equation.DSMT4">
                  <p:embed/>
                </p:oleObj>
              </mc:Choice>
              <mc:Fallback>
                <p:oleObj name="Equation" r:id="rId7" imgW="3517560" imgH="393480" progId="Equation.DSMT4">
                  <p:embed/>
                  <p:pic>
                    <p:nvPicPr>
                      <p:cNvPr id="0" name=""/>
                      <p:cNvPicPr/>
                      <p:nvPr/>
                    </p:nvPicPr>
                    <p:blipFill>
                      <a:blip r:embed="rId8"/>
                      <a:stretch>
                        <a:fillRect/>
                      </a:stretch>
                    </p:blipFill>
                    <p:spPr>
                      <a:xfrm>
                        <a:off x="2508546" y="3638927"/>
                        <a:ext cx="4578998" cy="512451"/>
                      </a:xfrm>
                      <a:prstGeom prst="rect">
                        <a:avLst/>
                      </a:prstGeom>
                    </p:spPr>
                  </p:pic>
                </p:oleObj>
              </mc:Fallback>
            </mc:AlternateContent>
          </a:graphicData>
        </a:graphic>
      </p:graphicFrame>
    </p:spTree>
    <p:extLst>
      <p:ext uri="{BB962C8B-B14F-4D97-AF65-F5344CB8AC3E}">
        <p14:creationId xmlns:p14="http://schemas.microsoft.com/office/powerpoint/2010/main" val="428564081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0"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a:xfrm>
            <a:off x="174625" y="153988"/>
            <a:ext cx="7772400" cy="1143000"/>
          </a:xfrm>
        </p:spPr>
        <p:txBody>
          <a:bodyPr/>
          <a:lstStyle/>
          <a:p>
            <a:pPr eaLnBrk="1" hangingPunct="1">
              <a:lnSpc>
                <a:spcPct val="90000"/>
              </a:lnSpc>
            </a:pPr>
            <a:r>
              <a:rPr lang="en-US" altLang="en-US" dirty="0">
                <a:ea typeface="ＭＳ Ｐゴシック" pitchFamily="34" charset="-128"/>
              </a:rPr>
              <a:t>Binomial Mean and Standard Deviation</a:t>
            </a:r>
            <a:endParaRPr lang="en-US" altLang="en-US" sz="2400" dirty="0">
              <a:solidFill>
                <a:srgbClr val="33CCFF"/>
              </a:solidFill>
              <a:ea typeface="ＭＳ Ｐゴシック" pitchFamily="34" charset="-128"/>
            </a:endParaRPr>
          </a:p>
        </p:txBody>
      </p:sp>
      <p:sp>
        <p:nvSpPr>
          <p:cNvPr id="5427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8BB2753C-0941-41A7-858C-60F8D34A82C8}" type="slidenum">
              <a:rPr lang="en-US" altLang="en-US" sz="1200">
                <a:solidFill>
                  <a:schemeClr val="accent1"/>
                </a:solidFill>
              </a:rPr>
              <a:pPr>
                <a:lnSpc>
                  <a:spcPct val="80000"/>
                </a:lnSpc>
              </a:pPr>
              <a:t>23</a:t>
            </a:fld>
            <a:endParaRPr lang="en-US" altLang="en-US" sz="1200">
              <a:solidFill>
                <a:schemeClr val="accent1"/>
              </a:solidFill>
            </a:endParaRPr>
          </a:p>
        </p:txBody>
      </p:sp>
      <p:sp>
        <p:nvSpPr>
          <p:cNvPr id="54276" name="TextBox 1"/>
          <p:cNvSpPr txBox="1">
            <a:spLocks noChangeArrowheads="1"/>
          </p:cNvSpPr>
          <p:nvPr/>
        </p:nvSpPr>
        <p:spPr bwMode="auto">
          <a:xfrm>
            <a:off x="207963" y="1481650"/>
            <a:ext cx="847725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buFont typeface="Wingdings" pitchFamily="2" charset="2"/>
              <a:buNone/>
            </a:pPr>
            <a:r>
              <a:rPr lang="en-US" altLang="en-US" dirty="0">
                <a:solidFill>
                  <a:srgbClr val="000000"/>
                </a:solidFill>
              </a:rPr>
              <a:t>If a count </a:t>
            </a:r>
            <a:r>
              <a:rPr lang="en-US" altLang="en-US" i="1" dirty="0">
                <a:solidFill>
                  <a:srgbClr val="000000"/>
                </a:solidFill>
              </a:rPr>
              <a:t>X</a:t>
            </a:r>
            <a:r>
              <a:rPr lang="en-US" altLang="en-US" dirty="0">
                <a:solidFill>
                  <a:srgbClr val="000000"/>
                </a:solidFill>
              </a:rPr>
              <a:t> has the binomial distribution based on </a:t>
            </a:r>
            <a:r>
              <a:rPr lang="en-US" altLang="en-US" i="1" dirty="0">
                <a:solidFill>
                  <a:srgbClr val="000000"/>
                </a:solidFill>
              </a:rPr>
              <a:t>n</a:t>
            </a:r>
            <a:r>
              <a:rPr lang="en-US" altLang="en-US" dirty="0">
                <a:solidFill>
                  <a:srgbClr val="000000"/>
                </a:solidFill>
              </a:rPr>
              <a:t> observations with probability </a:t>
            </a:r>
            <a:r>
              <a:rPr lang="en-US" altLang="en-US" i="1" dirty="0">
                <a:solidFill>
                  <a:srgbClr val="000000"/>
                </a:solidFill>
              </a:rPr>
              <a:t>p</a:t>
            </a:r>
            <a:r>
              <a:rPr lang="en-US" altLang="en-US" dirty="0">
                <a:solidFill>
                  <a:srgbClr val="000000"/>
                </a:solidFill>
              </a:rPr>
              <a:t> of success, what is its mean </a:t>
            </a:r>
            <a:r>
              <a:rPr lang="en-US" altLang="en-US" i="1" dirty="0">
                <a:solidFill>
                  <a:srgbClr val="000000"/>
                </a:solidFill>
              </a:rPr>
              <a:t>µ</a:t>
            </a:r>
            <a:r>
              <a:rPr lang="en-US" altLang="en-US" dirty="0">
                <a:solidFill>
                  <a:srgbClr val="000000"/>
                </a:solidFill>
              </a:rPr>
              <a:t>?   </a:t>
            </a:r>
          </a:p>
          <a:p>
            <a:pPr>
              <a:buFont typeface="Wingdings" pitchFamily="2" charset="2"/>
              <a:buNone/>
            </a:pPr>
            <a:endParaRPr lang="en-US" altLang="en-US" dirty="0">
              <a:solidFill>
                <a:srgbClr val="000000"/>
              </a:solidFill>
            </a:endParaRPr>
          </a:p>
          <a:p>
            <a:pPr>
              <a:buFont typeface="Wingdings" pitchFamily="2" charset="2"/>
              <a:buNone/>
            </a:pPr>
            <a:r>
              <a:rPr lang="en-US" altLang="en-US" dirty="0">
                <a:solidFill>
                  <a:srgbClr val="000000"/>
                </a:solidFill>
              </a:rPr>
              <a:t>Here are the facts:</a:t>
            </a:r>
            <a:endParaRPr lang="en-US" altLang="en-US" sz="3600" i="1" dirty="0">
              <a:solidFill>
                <a:srgbClr val="000000"/>
              </a:solidFill>
            </a:endParaRPr>
          </a:p>
        </p:txBody>
      </p:sp>
      <p:grpSp>
        <p:nvGrpSpPr>
          <p:cNvPr id="4" name="Group 3"/>
          <p:cNvGrpSpPr/>
          <p:nvPr/>
        </p:nvGrpSpPr>
        <p:grpSpPr>
          <a:xfrm>
            <a:off x="412750" y="2914252"/>
            <a:ext cx="8272463" cy="2605881"/>
            <a:chOff x="412750" y="2914252"/>
            <a:chExt cx="8272463" cy="2605881"/>
          </a:xfrm>
        </p:grpSpPr>
        <p:grpSp>
          <p:nvGrpSpPr>
            <p:cNvPr id="2" name="Group 10" descr="The image shows the mean and standard deviation of a binomial random variable. The statement &quot;If a count X has the binomial distribution with number of trials n and probability of success p, the mean and standard deviation of X are&quot; is mentioned, which is followed by mathematical expressions that are given as: &quot;mew subscript x equals to np&quot; and &quot;sigma subscript x equals to square root np bracket open 1- p bracket close.&quot;"/>
            <p:cNvGrpSpPr>
              <a:grpSpLocks/>
            </p:cNvGrpSpPr>
            <p:nvPr/>
          </p:nvGrpSpPr>
          <p:grpSpPr bwMode="auto">
            <a:xfrm>
              <a:off x="412750" y="2914252"/>
              <a:ext cx="8272463" cy="2605881"/>
              <a:chOff x="292100" y="3564883"/>
              <a:chExt cx="7843838" cy="2606893"/>
            </a:xfrm>
          </p:grpSpPr>
          <p:sp>
            <p:nvSpPr>
              <p:cNvPr id="10" name="TextBox 9"/>
              <p:cNvSpPr txBox="1">
                <a:spLocks noChangeArrowheads="1"/>
              </p:cNvSpPr>
              <p:nvPr/>
            </p:nvSpPr>
            <p:spPr bwMode="auto">
              <a:xfrm>
                <a:off x="757238" y="3564883"/>
                <a:ext cx="6896100" cy="369475"/>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b="1" dirty="0">
                    <a:highlight>
                      <a:srgbClr val="FFFF00"/>
                    </a:highlight>
                    <a:latin typeface="+mn-lt"/>
                    <a:ea typeface="+mn-ea"/>
                  </a:rPr>
                  <a:t>Mean and Standard Deviation of a Binomial Random Variable</a:t>
                </a:r>
              </a:p>
            </p:txBody>
          </p:sp>
          <p:sp>
            <p:nvSpPr>
              <p:cNvPr id="9" name="TextBox 8"/>
              <p:cNvSpPr txBox="1">
                <a:spLocks noChangeArrowheads="1"/>
              </p:cNvSpPr>
              <p:nvPr/>
            </p:nvSpPr>
            <p:spPr bwMode="auto">
              <a:xfrm>
                <a:off x="292100" y="3892830"/>
                <a:ext cx="7843838" cy="2278946"/>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endParaRPr lang="en-US" altLang="en-US" sz="800" dirty="0">
                  <a:solidFill>
                    <a:srgbClr val="000000"/>
                  </a:solidFill>
                </a:endParaRPr>
              </a:p>
              <a:p>
                <a:pPr eaLnBrk="1" hangingPunct="1">
                  <a:spcBef>
                    <a:spcPct val="0"/>
                  </a:spcBef>
                  <a:spcAft>
                    <a:spcPts val="1200"/>
                  </a:spcAft>
                  <a:buClrTx/>
                  <a:buSzTx/>
                  <a:buFontTx/>
                  <a:buNone/>
                  <a:defRPr/>
                </a:pPr>
                <a:r>
                  <a:rPr lang="en-US" altLang="en-US" sz="1800" dirty="0">
                    <a:solidFill>
                      <a:srgbClr val="000000"/>
                    </a:solidFill>
                  </a:rPr>
                  <a:t>If a count </a:t>
                </a:r>
                <a:r>
                  <a:rPr lang="en-US" altLang="en-US" sz="1800" i="1" dirty="0">
                    <a:solidFill>
                      <a:srgbClr val="000000"/>
                    </a:solidFill>
                  </a:rPr>
                  <a:t>X</a:t>
                </a:r>
                <a:r>
                  <a:rPr lang="en-US" altLang="en-US" sz="1800" dirty="0">
                    <a:solidFill>
                      <a:srgbClr val="000000"/>
                    </a:solidFill>
                  </a:rPr>
                  <a:t> has the binomial distribution with number of trials </a:t>
                </a:r>
                <a:r>
                  <a:rPr lang="en-US" altLang="en-US" sz="1800" i="1" dirty="0">
                    <a:solidFill>
                      <a:srgbClr val="000000"/>
                    </a:solidFill>
                  </a:rPr>
                  <a:t>n </a:t>
                </a:r>
                <a:r>
                  <a:rPr lang="en-US" altLang="en-US" sz="1800" dirty="0">
                    <a:solidFill>
                      <a:srgbClr val="000000"/>
                    </a:solidFill>
                  </a:rPr>
                  <a:t>and probability of success </a:t>
                </a:r>
                <a:r>
                  <a:rPr lang="en-US" altLang="en-US" sz="1800" i="1" dirty="0">
                    <a:solidFill>
                      <a:srgbClr val="000000"/>
                    </a:solidFill>
                  </a:rPr>
                  <a:t>p</a:t>
                </a:r>
                <a:r>
                  <a:rPr lang="en-US" altLang="en-US" sz="1800" dirty="0">
                    <a:solidFill>
                      <a:srgbClr val="000000"/>
                    </a:solidFill>
                  </a:rPr>
                  <a:t>, the </a:t>
                </a:r>
                <a:r>
                  <a:rPr lang="en-US" altLang="en-US" sz="1800" b="1" dirty="0">
                    <a:solidFill>
                      <a:schemeClr val="tx1"/>
                    </a:solidFill>
                  </a:rPr>
                  <a:t>mean</a:t>
                </a:r>
                <a:r>
                  <a:rPr lang="en-US" altLang="en-US" sz="1800" dirty="0">
                    <a:solidFill>
                      <a:schemeClr val="tx1"/>
                    </a:solidFill>
                  </a:rPr>
                  <a:t> and </a:t>
                </a:r>
                <a:r>
                  <a:rPr lang="en-US" altLang="en-US" sz="1800" b="1" dirty="0">
                    <a:solidFill>
                      <a:schemeClr val="tx1"/>
                    </a:solidFill>
                  </a:rPr>
                  <a:t>standard deviation</a:t>
                </a:r>
                <a:r>
                  <a:rPr lang="en-US" altLang="en-US" sz="1800" dirty="0">
                    <a:solidFill>
                      <a:schemeClr val="tx1"/>
                    </a:solidFill>
                  </a:rPr>
                  <a:t> of </a:t>
                </a:r>
                <a:r>
                  <a:rPr lang="en-US" altLang="en-US" sz="1800" i="1" dirty="0">
                    <a:solidFill>
                      <a:srgbClr val="000000"/>
                    </a:solidFill>
                  </a:rPr>
                  <a:t>X </a:t>
                </a:r>
                <a:r>
                  <a:rPr lang="en-US" altLang="en-US" sz="1800" dirty="0">
                    <a:solidFill>
                      <a:srgbClr val="000000"/>
                    </a:solidFill>
                  </a:rPr>
                  <a:t>are</a:t>
                </a:r>
              </a:p>
              <a:p>
                <a:pPr eaLnBrk="1" hangingPunct="1">
                  <a:spcBef>
                    <a:spcPct val="0"/>
                  </a:spcBef>
                  <a:spcAft>
                    <a:spcPts val="1200"/>
                  </a:spcAft>
                  <a:buClrTx/>
                  <a:buSzTx/>
                  <a:buFontTx/>
                  <a:buNone/>
                  <a:defRPr/>
                </a:pPr>
                <a:endParaRPr lang="en-US" altLang="en-US" sz="1800" dirty="0">
                  <a:solidFill>
                    <a:srgbClr val="000000"/>
                  </a:solidFill>
                </a:endParaRPr>
              </a:p>
              <a:p>
                <a:pPr eaLnBrk="1" hangingPunct="1">
                  <a:spcBef>
                    <a:spcPct val="0"/>
                  </a:spcBef>
                  <a:spcAft>
                    <a:spcPts val="1200"/>
                  </a:spcAft>
                  <a:buClrTx/>
                  <a:buSzTx/>
                  <a:buFontTx/>
                  <a:buNone/>
                  <a:defRPr/>
                </a:pPr>
                <a:endParaRPr lang="en-US" altLang="en-US" sz="1800" dirty="0">
                  <a:solidFill>
                    <a:srgbClr val="000000"/>
                  </a:solidFill>
                </a:endParaRPr>
              </a:p>
              <a:p>
                <a:pPr eaLnBrk="1" hangingPunct="1">
                  <a:spcBef>
                    <a:spcPct val="0"/>
                  </a:spcBef>
                  <a:spcAft>
                    <a:spcPts val="1200"/>
                  </a:spcAft>
                  <a:buClrTx/>
                  <a:buSzTx/>
                  <a:buFontTx/>
                  <a:buNone/>
                  <a:defRPr/>
                </a:pPr>
                <a:endParaRPr lang="en-US" altLang="en-US" sz="1800" dirty="0">
                  <a:solidFill>
                    <a:srgbClr val="000000"/>
                  </a:solidFill>
                </a:endParaRPr>
              </a:p>
            </p:txBody>
          </p:sp>
        </p:grpSp>
        <p:graphicFrame>
          <p:nvGraphicFramePr>
            <p:cNvPr id="3" name="Object 2"/>
            <p:cNvGraphicFramePr>
              <a:graphicFrameLocks noChangeAspect="1"/>
            </p:cNvGraphicFramePr>
            <p:nvPr>
              <p:extLst>
                <p:ext uri="{D42A27DB-BD31-4B8C-83A1-F6EECF244321}">
                  <p14:modId xmlns:p14="http://schemas.microsoft.com/office/powerpoint/2010/main" val="1749641147"/>
                </p:ext>
              </p:extLst>
            </p:nvPr>
          </p:nvGraphicFramePr>
          <p:xfrm>
            <a:off x="3685476" y="4316705"/>
            <a:ext cx="1727009" cy="833028"/>
          </p:xfrm>
          <a:graphic>
            <a:graphicData uri="http://schemas.openxmlformats.org/presentationml/2006/ole">
              <mc:AlternateContent xmlns:mc="http://schemas.openxmlformats.org/markup-compatibility/2006">
                <mc:Choice xmlns:v="urn:schemas-microsoft-com:vml" Requires="v">
                  <p:oleObj spid="_x0000_s54362" name="Equation" r:id="rId3" imgW="1079280" imgH="520560" progId="Equation.DSMT4">
                    <p:embed/>
                  </p:oleObj>
                </mc:Choice>
                <mc:Fallback>
                  <p:oleObj name="Equation" r:id="rId3" imgW="1079280" imgH="520560" progId="Equation.DSMT4">
                    <p:embed/>
                    <p:pic>
                      <p:nvPicPr>
                        <p:cNvPr id="0" name=""/>
                        <p:cNvPicPr/>
                        <p:nvPr/>
                      </p:nvPicPr>
                      <p:blipFill>
                        <a:blip r:embed="rId4"/>
                        <a:stretch>
                          <a:fillRect/>
                        </a:stretch>
                      </p:blipFill>
                      <p:spPr>
                        <a:xfrm>
                          <a:off x="3685476" y="4316705"/>
                          <a:ext cx="1727009" cy="833028"/>
                        </a:xfrm>
                        <a:prstGeom prst="rect">
                          <a:avLst/>
                        </a:prstGeom>
                      </p:spPr>
                    </p:pic>
                  </p:oleObj>
                </mc:Fallback>
              </mc:AlternateContent>
            </a:graphicData>
          </a:graphic>
        </p:graphicFrame>
      </p:grpSp>
      <p:sp>
        <p:nvSpPr>
          <p:cNvPr id="12" name="TextBox 11"/>
          <p:cNvSpPr txBox="1">
            <a:spLocks noChangeArrowheads="1"/>
          </p:cNvSpPr>
          <p:nvPr/>
        </p:nvSpPr>
        <p:spPr bwMode="auto">
          <a:xfrm>
            <a:off x="412750" y="5847953"/>
            <a:ext cx="79375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800" b="1" dirty="0">
                <a:solidFill>
                  <a:schemeClr val="tx1"/>
                </a:solidFill>
                <a:highlight>
                  <a:srgbClr val="FFFF00"/>
                </a:highlight>
              </a:rPr>
              <a:t>Note:</a:t>
            </a:r>
            <a:r>
              <a:rPr lang="en-US" altLang="en-US" sz="1800" b="1" dirty="0">
                <a:solidFill>
                  <a:schemeClr val="tx1"/>
                </a:solidFill>
              </a:rPr>
              <a:t> </a:t>
            </a:r>
            <a:r>
              <a:rPr lang="en-US" altLang="en-US" sz="1800" dirty="0">
                <a:solidFill>
                  <a:schemeClr val="tx1"/>
                </a:solidFill>
              </a:rPr>
              <a:t>These formulas work </a:t>
            </a:r>
            <a:r>
              <a:rPr lang="en-US" altLang="en-US" sz="1800" b="1" dirty="0">
                <a:solidFill>
                  <a:schemeClr val="tx1"/>
                </a:solidFill>
              </a:rPr>
              <a:t>ONLY</a:t>
            </a:r>
            <a:r>
              <a:rPr lang="en-US" altLang="en-US" sz="1800" dirty="0">
                <a:solidFill>
                  <a:schemeClr val="tx1"/>
                </a:solidFill>
              </a:rPr>
              <a:t> for binomial distributions. They cannot be used for other distributions!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a:xfrm>
            <a:off x="174625" y="153988"/>
            <a:ext cx="7772400" cy="1143000"/>
          </a:xfrm>
        </p:spPr>
        <p:txBody>
          <a:bodyPr/>
          <a:lstStyle/>
          <a:p>
            <a:pPr eaLnBrk="1" hangingPunct="1">
              <a:lnSpc>
                <a:spcPct val="90000"/>
              </a:lnSpc>
            </a:pPr>
            <a:r>
              <a:rPr lang="en-US" altLang="en-US" dirty="0">
                <a:ea typeface="ＭＳ Ｐゴシック" pitchFamily="34" charset="-128"/>
              </a:rPr>
              <a:t>Normal Approximation for </a:t>
            </a:r>
            <a:br>
              <a:rPr lang="en-US" altLang="en-US" dirty="0">
                <a:ea typeface="ＭＳ Ｐゴシック" pitchFamily="34" charset="-128"/>
              </a:rPr>
            </a:br>
            <a:r>
              <a:rPr lang="en-US" altLang="en-US" dirty="0">
                <a:ea typeface="ＭＳ Ｐゴシック" pitchFamily="34" charset="-128"/>
              </a:rPr>
              <a:t>Binomial Distributions</a:t>
            </a:r>
            <a:endParaRPr lang="en-US" altLang="en-US" sz="2400" dirty="0">
              <a:solidFill>
                <a:srgbClr val="33CCFF"/>
              </a:solidFill>
              <a:ea typeface="ＭＳ Ｐゴシック" pitchFamily="34" charset="-128"/>
            </a:endParaRPr>
          </a:p>
        </p:txBody>
      </p:sp>
      <p:sp>
        <p:nvSpPr>
          <p:cNvPr id="5529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4F44A1B2-B133-4301-B244-B65BDA47A671}" type="slidenum">
              <a:rPr lang="en-US" altLang="en-US" sz="1200">
                <a:solidFill>
                  <a:schemeClr val="accent1"/>
                </a:solidFill>
              </a:rPr>
              <a:pPr>
                <a:lnSpc>
                  <a:spcPct val="80000"/>
                </a:lnSpc>
              </a:pPr>
              <a:t>24</a:t>
            </a:fld>
            <a:endParaRPr lang="en-US" altLang="en-US" sz="1200">
              <a:solidFill>
                <a:schemeClr val="accent1"/>
              </a:solidFill>
            </a:endParaRPr>
          </a:p>
        </p:txBody>
      </p:sp>
      <p:sp>
        <p:nvSpPr>
          <p:cNvPr id="55300" name="Rectangle 1"/>
          <p:cNvSpPr>
            <a:spLocks noChangeArrowheads="1"/>
          </p:cNvSpPr>
          <p:nvPr/>
        </p:nvSpPr>
        <p:spPr bwMode="auto">
          <a:xfrm>
            <a:off x="174625" y="1430338"/>
            <a:ext cx="811133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buFont typeface="Wingdings" pitchFamily="2" charset="2"/>
              <a:buNone/>
            </a:pPr>
            <a:r>
              <a:rPr lang="en-US" altLang="en-US" sz="2000" b="1" dirty="0"/>
              <a:t>Observation:</a:t>
            </a:r>
            <a:r>
              <a:rPr lang="en-US" altLang="en-US" sz="2000" dirty="0"/>
              <a:t>  </a:t>
            </a:r>
            <a:r>
              <a:rPr lang="en-US" altLang="en-US" sz="2000" dirty="0">
                <a:highlight>
                  <a:srgbClr val="FFFF00"/>
                </a:highlight>
              </a:rPr>
              <a:t>As </a:t>
            </a:r>
            <a:r>
              <a:rPr lang="en-US" altLang="en-US" sz="2000" i="1" dirty="0">
                <a:highlight>
                  <a:srgbClr val="FFFF00"/>
                </a:highlight>
              </a:rPr>
              <a:t>n</a:t>
            </a:r>
            <a:r>
              <a:rPr lang="en-US" altLang="en-US" sz="2000" dirty="0">
                <a:highlight>
                  <a:srgbClr val="FFFF00"/>
                </a:highlight>
              </a:rPr>
              <a:t> gets larger, something interesting happens to the shape of a binomial distribution.</a:t>
            </a:r>
          </a:p>
        </p:txBody>
      </p:sp>
      <p:pic>
        <p:nvPicPr>
          <p:cNvPr id="20" name="Picture 19" descr="The image shows a binomial distribution graph. X-axis shows 0, 8 and 10 markings on it, and the y-axis ranges from 0 to 0.330. The peak of the graph lie at marking 8 on the x-axis, and around 0.330 on the y-axis."/>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1025" y="2262188"/>
            <a:ext cx="2336800" cy="167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20" descr="The image shows a binomial distribution graph. X-axis shows 0, 16 and 20 markings on it, and the y-axis shows 0, 0.117 and 0.234 markings on it. The peak of the graph lie at the marking 16 on the x-axis, and around 0.234 on the y-axis."/>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263900" y="2262188"/>
            <a:ext cx="2335213" cy="167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21" descr="The image shows a binomial distribution graph. X-axis shows 0, 40 and 50 markings on it, and the y-axis shows 0, 0.074 and 0.148 markings on it. The peak of the graph lie at the marking 40 on the x-axis, and around 0.148 on the y-axis. It depicts that when n is large, the distribution of X is approximately Normal."/>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075363" y="2262188"/>
            <a:ext cx="2349500" cy="167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2"/>
          <p:cNvGrpSpPr/>
          <p:nvPr/>
        </p:nvGrpSpPr>
        <p:grpSpPr>
          <a:xfrm>
            <a:off x="665956" y="4198333"/>
            <a:ext cx="7843838" cy="2508857"/>
            <a:chOff x="665956" y="4198333"/>
            <a:chExt cx="7843838" cy="2508857"/>
          </a:xfrm>
        </p:grpSpPr>
        <p:grpSp>
          <p:nvGrpSpPr>
            <p:cNvPr id="2" name="Group 11" descr="The image shows normal approximation for binomial distributions. The statement &quot;Suppose that X has the binomial distribution with n trials and success probability p. When n is large, the distribution of X is approximately Normal with mean and standard deviation&quot; is mentioned, which is followed by probability expression given as: mean, mew subscript x equals to np. The other expression is given as : standard deviation sigma subscript x equals to square root of product of np and &quot;1 minus p.&quot; &#10;Another statement &quot;As a rule of thumb, we will use the Normal approximation when n is so large that np greater than equal to 10 and n (1 – p) greater than equal to 10&quot; is mentioned in the image.  &#10;"/>
            <p:cNvGrpSpPr>
              <a:grpSpLocks/>
            </p:cNvGrpSpPr>
            <p:nvPr/>
          </p:nvGrpSpPr>
          <p:grpSpPr bwMode="auto">
            <a:xfrm>
              <a:off x="665956" y="4198333"/>
              <a:ext cx="7843838" cy="1261468"/>
              <a:chOff x="292100" y="3799663"/>
              <a:chExt cx="7843838" cy="1262658"/>
            </a:xfrm>
          </p:grpSpPr>
          <p:sp>
            <p:nvSpPr>
              <p:cNvPr id="17" name="TextBox 16"/>
              <p:cNvSpPr txBox="1">
                <a:spLocks noChangeArrowheads="1"/>
              </p:cNvSpPr>
              <p:nvPr/>
            </p:nvSpPr>
            <p:spPr bwMode="auto">
              <a:xfrm>
                <a:off x="694531" y="3799663"/>
                <a:ext cx="6896100" cy="369680"/>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b="1" dirty="0">
                    <a:highlight>
                      <a:srgbClr val="FFFF00"/>
                    </a:highlight>
                    <a:latin typeface="+mn-lt"/>
                    <a:ea typeface="+mn-ea"/>
                  </a:rPr>
                  <a:t>Normal Approximation for Binomial Distributions</a:t>
                </a:r>
              </a:p>
            </p:txBody>
          </p:sp>
          <p:sp>
            <p:nvSpPr>
              <p:cNvPr id="16" name="TextBox 15"/>
              <p:cNvSpPr txBox="1">
                <a:spLocks noChangeArrowheads="1"/>
              </p:cNvSpPr>
              <p:nvPr/>
            </p:nvSpPr>
            <p:spPr bwMode="auto">
              <a:xfrm>
                <a:off x="292100" y="4138120"/>
                <a:ext cx="7843838" cy="924201"/>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just" eaLnBrk="1" hangingPunct="1">
                  <a:spcBef>
                    <a:spcPct val="0"/>
                  </a:spcBef>
                  <a:spcAft>
                    <a:spcPts val="1200"/>
                  </a:spcAft>
                  <a:buClrTx/>
                  <a:buSzTx/>
                  <a:buFontTx/>
                  <a:buNone/>
                  <a:defRPr/>
                </a:pPr>
                <a:r>
                  <a:rPr lang="en-US" altLang="en-US" sz="1800" dirty="0">
                    <a:solidFill>
                      <a:srgbClr val="000000"/>
                    </a:solidFill>
                  </a:rPr>
                  <a:t>Suppose that </a:t>
                </a:r>
                <a:r>
                  <a:rPr lang="en-US" altLang="en-US" sz="1800" i="1" dirty="0">
                    <a:solidFill>
                      <a:srgbClr val="000000"/>
                    </a:solidFill>
                  </a:rPr>
                  <a:t>X</a:t>
                </a:r>
                <a:r>
                  <a:rPr lang="en-US" altLang="en-US" sz="1800" dirty="0">
                    <a:solidFill>
                      <a:srgbClr val="000000"/>
                    </a:solidFill>
                  </a:rPr>
                  <a:t> has the binomial distribution with </a:t>
                </a:r>
                <a:r>
                  <a:rPr lang="en-US" altLang="en-US" sz="1800" i="1" dirty="0">
                    <a:solidFill>
                      <a:srgbClr val="000000"/>
                    </a:solidFill>
                  </a:rPr>
                  <a:t>n</a:t>
                </a:r>
                <a:r>
                  <a:rPr lang="en-US" altLang="en-US" sz="1800" dirty="0">
                    <a:solidFill>
                      <a:srgbClr val="000000"/>
                    </a:solidFill>
                  </a:rPr>
                  <a:t> trials and success probability </a:t>
                </a:r>
                <a:r>
                  <a:rPr lang="en-US" altLang="en-US" sz="1800" i="1" dirty="0">
                    <a:solidFill>
                      <a:srgbClr val="000000"/>
                    </a:solidFill>
                  </a:rPr>
                  <a:t>p</a:t>
                </a:r>
                <a:r>
                  <a:rPr lang="en-US" altLang="en-US" sz="1800" dirty="0">
                    <a:solidFill>
                      <a:srgbClr val="000000"/>
                    </a:solidFill>
                  </a:rPr>
                  <a:t>. When </a:t>
                </a:r>
                <a:r>
                  <a:rPr lang="en-US" altLang="en-US" sz="1800" i="1" dirty="0">
                    <a:solidFill>
                      <a:srgbClr val="000000"/>
                    </a:solidFill>
                  </a:rPr>
                  <a:t>n</a:t>
                </a:r>
                <a:r>
                  <a:rPr lang="en-US" altLang="en-US" sz="1800" dirty="0">
                    <a:solidFill>
                      <a:srgbClr val="000000"/>
                    </a:solidFill>
                  </a:rPr>
                  <a:t> is large, the distribution of </a:t>
                </a:r>
                <a:r>
                  <a:rPr lang="en-US" altLang="en-US" sz="1800" i="1" dirty="0">
                    <a:solidFill>
                      <a:srgbClr val="000000"/>
                    </a:solidFill>
                  </a:rPr>
                  <a:t>X</a:t>
                </a:r>
                <a:r>
                  <a:rPr lang="en-US" altLang="en-US" sz="1800" dirty="0">
                    <a:solidFill>
                      <a:srgbClr val="000000"/>
                    </a:solidFill>
                  </a:rPr>
                  <a:t> is approximately Normal with mean and standard </a:t>
                </a:r>
                <a:r>
                  <a:rPr lang="en-US" altLang="en-US" sz="1800" dirty="0" smtClean="0">
                    <a:solidFill>
                      <a:srgbClr val="000000"/>
                    </a:solidFill>
                  </a:rPr>
                  <a:t>deviation</a:t>
                </a:r>
                <a:endParaRPr lang="en-US" altLang="en-US" sz="1800" dirty="0">
                  <a:solidFill>
                    <a:srgbClr val="000000"/>
                  </a:solidFill>
                </a:endParaRPr>
              </a:p>
            </p:txBody>
          </p:sp>
        </p:grpSp>
        <p:graphicFrame>
          <p:nvGraphicFramePr>
            <p:cNvPr id="11" name="Object 10"/>
            <p:cNvGraphicFramePr>
              <a:graphicFrameLocks noChangeAspect="1"/>
            </p:cNvGraphicFramePr>
            <p:nvPr>
              <p:extLst>
                <p:ext uri="{D42A27DB-BD31-4B8C-83A1-F6EECF244321}">
                  <p14:modId xmlns:p14="http://schemas.microsoft.com/office/powerpoint/2010/main" val="1640055796"/>
                </p:ext>
              </p:extLst>
            </p:nvPr>
          </p:nvGraphicFramePr>
          <p:xfrm>
            <a:off x="2795587" y="5520654"/>
            <a:ext cx="3271838" cy="468312"/>
          </p:xfrm>
          <a:graphic>
            <a:graphicData uri="http://schemas.openxmlformats.org/presentationml/2006/ole">
              <mc:AlternateContent xmlns:mc="http://schemas.openxmlformats.org/markup-compatibility/2006">
                <mc:Choice xmlns:v="urn:schemas-microsoft-com:vml" Requires="v">
                  <p:oleObj spid="_x0000_s70662" name="Equation" r:id="rId6" imgW="2044440" imgH="291960" progId="Equation.DSMT4">
                    <p:embed/>
                  </p:oleObj>
                </mc:Choice>
                <mc:Fallback>
                  <p:oleObj name="Equation" r:id="rId6" imgW="2044440" imgH="291960" progId="Equation.DSMT4">
                    <p:embed/>
                    <p:pic>
                      <p:nvPicPr>
                        <p:cNvPr id="0" name=""/>
                        <p:cNvPicPr/>
                        <p:nvPr/>
                      </p:nvPicPr>
                      <p:blipFill>
                        <a:blip r:embed="rId7"/>
                        <a:stretch>
                          <a:fillRect/>
                        </a:stretch>
                      </p:blipFill>
                      <p:spPr>
                        <a:xfrm>
                          <a:off x="2795587" y="5520654"/>
                          <a:ext cx="3271838" cy="468312"/>
                        </a:xfrm>
                        <a:prstGeom prst="rect">
                          <a:avLst/>
                        </a:prstGeom>
                        <a:solidFill>
                          <a:srgbClr val="FFD780"/>
                        </a:solidFill>
                      </p:spPr>
                    </p:pic>
                  </p:oleObj>
                </mc:Fallback>
              </mc:AlternateContent>
            </a:graphicData>
          </a:graphic>
        </p:graphicFrame>
        <p:sp>
          <p:nvSpPr>
            <p:cNvPr id="12" name="TextBox 11"/>
            <p:cNvSpPr txBox="1">
              <a:spLocks noChangeArrowheads="1"/>
            </p:cNvSpPr>
            <p:nvPr/>
          </p:nvSpPr>
          <p:spPr bwMode="auto">
            <a:xfrm>
              <a:off x="665956" y="6060859"/>
              <a:ext cx="7843838" cy="646331"/>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sz="1800" b="1" dirty="0" smtClean="0">
                  <a:solidFill>
                    <a:schemeClr val="tx1"/>
                  </a:solidFill>
                </a:rPr>
                <a:t>As </a:t>
              </a:r>
              <a:r>
                <a:rPr lang="en-US" altLang="en-US" sz="1800" b="1" dirty="0">
                  <a:solidFill>
                    <a:schemeClr val="tx1"/>
                  </a:solidFill>
                </a:rPr>
                <a:t>a rule of thumb</a:t>
              </a:r>
              <a:r>
                <a:rPr lang="en-US" altLang="en-US" sz="1800" dirty="0">
                  <a:solidFill>
                    <a:schemeClr val="tx1"/>
                  </a:solidFill>
                </a:rPr>
                <a:t>, we will use the Normal approximation when </a:t>
              </a:r>
              <a:r>
                <a:rPr lang="en-US" altLang="en-US" sz="1800" i="1" dirty="0">
                  <a:solidFill>
                    <a:schemeClr val="tx1"/>
                  </a:solidFill>
                </a:rPr>
                <a:t>n</a:t>
              </a:r>
              <a:r>
                <a:rPr lang="en-US" altLang="en-US" sz="1800" dirty="0">
                  <a:solidFill>
                    <a:schemeClr val="tx1"/>
                  </a:solidFill>
                </a:rPr>
                <a:t> is so large that </a:t>
              </a:r>
              <a:r>
                <a:rPr lang="en-US" altLang="en-US" sz="1800" i="1" dirty="0">
                  <a:solidFill>
                    <a:schemeClr val="tx1"/>
                  </a:solidFill>
                </a:rPr>
                <a:t>np </a:t>
              </a:r>
              <a:r>
                <a:rPr lang="en-US" altLang="en-US" sz="1800" dirty="0">
                  <a:solidFill>
                    <a:schemeClr val="tx1"/>
                  </a:solidFill>
                </a:rPr>
                <a:t>≥ 10 and </a:t>
              </a:r>
              <a:r>
                <a:rPr lang="en-US" altLang="en-US" sz="1800" i="1" dirty="0">
                  <a:solidFill>
                    <a:schemeClr val="tx1"/>
                  </a:solidFill>
                </a:rPr>
                <a:t>n</a:t>
              </a:r>
              <a:r>
                <a:rPr lang="en-US" altLang="en-US" sz="1800" dirty="0">
                  <a:solidFill>
                    <a:schemeClr val="tx1"/>
                  </a:solidFill>
                </a:rPr>
                <a:t>(1 </a:t>
              </a:r>
              <a:r>
                <a:rPr lang="en-US" altLang="en-US" sz="1800" dirty="0">
                  <a:solidFill>
                    <a:srgbClr val="000000"/>
                  </a:solidFill>
                </a:rPr>
                <a:t>– </a:t>
              </a:r>
              <a:r>
                <a:rPr lang="en-US" altLang="en-US" sz="1800" i="1" dirty="0">
                  <a:solidFill>
                    <a:srgbClr val="000000"/>
                  </a:solidFill>
                </a:rPr>
                <a:t>p</a:t>
              </a:r>
              <a:r>
                <a:rPr lang="en-US" altLang="en-US" sz="1800" dirty="0">
                  <a:solidFill>
                    <a:srgbClr val="000000"/>
                  </a:solidFill>
                </a:rPr>
                <a:t>) ≥ 10.  </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anim calcmode="lin" valueType="num">
                                      <p:cBhvr>
                                        <p:cTn id="9" dur="500" fill="hold"/>
                                        <p:tgtEl>
                                          <p:spTgt spid="20"/>
                                        </p:tgtEl>
                                        <p:attrNameLst>
                                          <p:attrName>ppt_x</p:attrName>
                                        </p:attrNameLst>
                                      </p:cBhvr>
                                      <p:tavLst>
                                        <p:tav tm="0" fmla="#ppt_x+(cos(-2*pi*(1-$))*-#ppt_x-sin(-2*pi*(1-$))*(1-#ppt_y))*(1-$)">
                                          <p:val>
                                            <p:fltVal val="0"/>
                                          </p:val>
                                        </p:tav>
                                        <p:tav tm="100000">
                                          <p:val>
                                            <p:fltVal val="1"/>
                                          </p:val>
                                        </p:tav>
                                      </p:tavLst>
                                    </p:anim>
                                    <p:anim calcmode="lin" valueType="num">
                                      <p:cBhvr>
                                        <p:cTn id="10" dur="500" fill="hold"/>
                                        <p:tgtEl>
                                          <p:spTgt spid="2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p:cTn id="15" dur="500" fill="hold"/>
                                        <p:tgtEl>
                                          <p:spTgt spid="21"/>
                                        </p:tgtEl>
                                        <p:attrNameLst>
                                          <p:attrName>ppt_w</p:attrName>
                                        </p:attrNameLst>
                                      </p:cBhvr>
                                      <p:tavLst>
                                        <p:tav tm="0">
                                          <p:val>
                                            <p:fltVal val="0"/>
                                          </p:val>
                                        </p:tav>
                                        <p:tav tm="100000">
                                          <p:val>
                                            <p:strVal val="#ppt_w"/>
                                          </p:val>
                                        </p:tav>
                                      </p:tavLst>
                                    </p:anim>
                                    <p:anim calcmode="lin" valueType="num">
                                      <p:cBhvr>
                                        <p:cTn id="16" dur="500" fill="hold"/>
                                        <p:tgtEl>
                                          <p:spTgt spid="21"/>
                                        </p:tgtEl>
                                        <p:attrNameLst>
                                          <p:attrName>ppt_h</p:attrName>
                                        </p:attrNameLst>
                                      </p:cBhvr>
                                      <p:tavLst>
                                        <p:tav tm="0">
                                          <p:val>
                                            <p:fltVal val="0"/>
                                          </p:val>
                                        </p:tav>
                                        <p:tav tm="100000">
                                          <p:val>
                                            <p:strVal val="#ppt_h"/>
                                          </p:val>
                                        </p:tav>
                                      </p:tavLst>
                                    </p:anim>
                                    <p:anim calcmode="lin" valueType="num">
                                      <p:cBhvr>
                                        <p:cTn id="17" dur="500" fill="hold"/>
                                        <p:tgtEl>
                                          <p:spTgt spid="21"/>
                                        </p:tgtEl>
                                        <p:attrNameLst>
                                          <p:attrName>ppt_x</p:attrName>
                                        </p:attrNameLst>
                                      </p:cBhvr>
                                      <p:tavLst>
                                        <p:tav tm="0" fmla="#ppt_x+(cos(-2*pi*(1-$))*-#ppt_x-sin(-2*pi*(1-$))*(1-#ppt_y))*(1-$)">
                                          <p:val>
                                            <p:fltVal val="0"/>
                                          </p:val>
                                        </p:tav>
                                        <p:tav tm="100000">
                                          <p:val>
                                            <p:fltVal val="1"/>
                                          </p:val>
                                        </p:tav>
                                      </p:tavLst>
                                    </p:anim>
                                    <p:anim calcmode="lin" valueType="num">
                                      <p:cBhvr>
                                        <p:cTn id="18" dur="500" fill="hold"/>
                                        <p:tgtEl>
                                          <p:spTgt spid="21"/>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 calcmode="lin" valueType="num">
                                      <p:cBhvr>
                                        <p:cTn id="23" dur="500" fill="hold"/>
                                        <p:tgtEl>
                                          <p:spTgt spid="22"/>
                                        </p:tgtEl>
                                        <p:attrNameLst>
                                          <p:attrName>ppt_w</p:attrName>
                                        </p:attrNameLst>
                                      </p:cBhvr>
                                      <p:tavLst>
                                        <p:tav tm="0">
                                          <p:val>
                                            <p:fltVal val="0"/>
                                          </p:val>
                                        </p:tav>
                                        <p:tav tm="100000">
                                          <p:val>
                                            <p:strVal val="#ppt_w"/>
                                          </p:val>
                                        </p:tav>
                                      </p:tavLst>
                                    </p:anim>
                                    <p:anim calcmode="lin" valueType="num">
                                      <p:cBhvr>
                                        <p:cTn id="24" dur="500" fill="hold"/>
                                        <p:tgtEl>
                                          <p:spTgt spid="22"/>
                                        </p:tgtEl>
                                        <p:attrNameLst>
                                          <p:attrName>ppt_h</p:attrName>
                                        </p:attrNameLst>
                                      </p:cBhvr>
                                      <p:tavLst>
                                        <p:tav tm="0">
                                          <p:val>
                                            <p:fltVal val="0"/>
                                          </p:val>
                                        </p:tav>
                                        <p:tav tm="100000">
                                          <p:val>
                                            <p:strVal val="#ppt_h"/>
                                          </p:val>
                                        </p:tav>
                                      </p:tavLst>
                                    </p:anim>
                                    <p:anim calcmode="lin" valueType="num">
                                      <p:cBhvr>
                                        <p:cTn id="25" dur="500" fill="hold"/>
                                        <p:tgtEl>
                                          <p:spTgt spid="22"/>
                                        </p:tgtEl>
                                        <p:attrNameLst>
                                          <p:attrName>ppt_x</p:attrName>
                                        </p:attrNameLst>
                                      </p:cBhvr>
                                      <p:tavLst>
                                        <p:tav tm="0" fmla="#ppt_x+(cos(-2*pi*(1-$))*-#ppt_x-sin(-2*pi*(1-$))*(1-#ppt_y))*(1-$)">
                                          <p:val>
                                            <p:fltVal val="0"/>
                                          </p:val>
                                        </p:tav>
                                        <p:tav tm="100000">
                                          <p:val>
                                            <p:fltVal val="1"/>
                                          </p:val>
                                        </p:tav>
                                      </p:tavLst>
                                    </p:anim>
                                    <p:anim calcmode="lin" valueType="num">
                                      <p:cBhvr>
                                        <p:cTn id="26" dur="500" fill="hold"/>
                                        <p:tgtEl>
                                          <p:spTgt spid="22"/>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a:xfrm>
            <a:off x="174625" y="153988"/>
            <a:ext cx="4867275" cy="777240"/>
          </a:xfrm>
        </p:spPr>
        <p:txBody>
          <a:bodyPr/>
          <a:lstStyle/>
          <a:p>
            <a:pPr eaLnBrk="1" hangingPunct="1">
              <a:lnSpc>
                <a:spcPct val="90000"/>
              </a:lnSpc>
            </a:pPr>
            <a:r>
              <a:rPr lang="en-US" altLang="en-US" dirty="0">
                <a:ea typeface="ＭＳ Ｐゴシック" pitchFamily="34" charset="-128"/>
              </a:rPr>
              <a:t>Normal Approximation</a:t>
            </a:r>
            <a:endParaRPr lang="en-US" altLang="en-US" sz="2400" dirty="0">
              <a:solidFill>
                <a:srgbClr val="33CCFF"/>
              </a:solidFill>
              <a:ea typeface="ＭＳ Ｐゴシック" pitchFamily="34" charset="-128"/>
            </a:endParaRPr>
          </a:p>
        </p:txBody>
      </p:sp>
      <p:sp>
        <p:nvSpPr>
          <p:cNvPr id="5632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56A0275F-3FCD-456C-9F7C-A9E92B69895F}" type="slidenum">
              <a:rPr lang="en-US" altLang="en-US" sz="1200">
                <a:solidFill>
                  <a:schemeClr val="accent1"/>
                </a:solidFill>
              </a:rPr>
              <a:pPr>
                <a:lnSpc>
                  <a:spcPct val="80000"/>
                </a:lnSpc>
              </a:pPr>
              <a:t>25</a:t>
            </a:fld>
            <a:endParaRPr lang="en-US" altLang="en-US" sz="1200">
              <a:solidFill>
                <a:schemeClr val="accent1"/>
              </a:solidFill>
            </a:endParaRPr>
          </a:p>
        </p:txBody>
      </p:sp>
      <p:sp>
        <p:nvSpPr>
          <p:cNvPr id="56324" name="Rectangle 1"/>
          <p:cNvSpPr>
            <a:spLocks noChangeArrowheads="1"/>
          </p:cNvSpPr>
          <p:nvPr/>
        </p:nvSpPr>
        <p:spPr bwMode="auto">
          <a:xfrm>
            <a:off x="174625" y="960438"/>
            <a:ext cx="8864443"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buFont typeface="Wingdings" pitchFamily="2" charset="2"/>
              <a:buNone/>
            </a:pPr>
            <a:r>
              <a:rPr lang="en-US" altLang="en-US" sz="1600" b="1" dirty="0">
                <a:solidFill>
                  <a:srgbClr val="000000"/>
                </a:solidFill>
              </a:rPr>
              <a:t>Example:</a:t>
            </a:r>
            <a:r>
              <a:rPr lang="en-US" altLang="en-US" sz="1600" dirty="0">
                <a:solidFill>
                  <a:srgbClr val="000000"/>
                </a:solidFill>
              </a:rPr>
              <a:t>  Sample surveys show that fewer people enjoy shopping than in the past. A survey asked a nationwide random sample of 2500 adults if they agreed or disagreed that </a:t>
            </a:r>
            <a:r>
              <a:rPr lang="ja-JP" altLang="en-US" sz="1600" dirty="0">
                <a:solidFill>
                  <a:srgbClr val="000000"/>
                </a:solidFill>
              </a:rPr>
              <a:t>“</a:t>
            </a:r>
            <a:r>
              <a:rPr lang="en-US" altLang="ja-JP" sz="1600" dirty="0">
                <a:solidFill>
                  <a:srgbClr val="000000"/>
                </a:solidFill>
              </a:rPr>
              <a:t>I like buying new clothes, but shopping is often frustrating and time-consuming.</a:t>
            </a:r>
            <a:r>
              <a:rPr lang="ja-JP" altLang="en-US" sz="1600" dirty="0">
                <a:solidFill>
                  <a:srgbClr val="000000"/>
                </a:solidFill>
              </a:rPr>
              <a:t>”</a:t>
            </a:r>
            <a:r>
              <a:rPr lang="en-US" altLang="ja-JP" sz="1600" dirty="0">
                <a:solidFill>
                  <a:srgbClr val="000000"/>
                </a:solidFill>
              </a:rPr>
              <a:t> Suppose that exactly 60% of all adult U.S. residents would say </a:t>
            </a:r>
            <a:r>
              <a:rPr lang="ja-JP" altLang="en-US" sz="1600" dirty="0">
                <a:solidFill>
                  <a:srgbClr val="000000"/>
                </a:solidFill>
              </a:rPr>
              <a:t>“</a:t>
            </a:r>
            <a:r>
              <a:rPr lang="en-US" altLang="ja-JP" sz="1600" dirty="0">
                <a:solidFill>
                  <a:srgbClr val="000000"/>
                </a:solidFill>
              </a:rPr>
              <a:t>Agree</a:t>
            </a:r>
            <a:r>
              <a:rPr lang="ja-JP" altLang="en-US" sz="1600" dirty="0">
                <a:solidFill>
                  <a:srgbClr val="000000"/>
                </a:solidFill>
              </a:rPr>
              <a:t>”</a:t>
            </a:r>
            <a:r>
              <a:rPr lang="en-US" altLang="ja-JP" sz="1600" dirty="0">
                <a:solidFill>
                  <a:srgbClr val="000000"/>
                </a:solidFill>
              </a:rPr>
              <a:t> if asked the same question. Let </a:t>
            </a:r>
            <a:r>
              <a:rPr lang="en-US" altLang="ja-JP" sz="1600" i="1" dirty="0">
                <a:solidFill>
                  <a:srgbClr val="000000"/>
                </a:solidFill>
              </a:rPr>
              <a:t>X</a:t>
            </a:r>
            <a:r>
              <a:rPr lang="en-US" altLang="ja-JP" sz="1600" dirty="0">
                <a:solidFill>
                  <a:srgbClr val="000000"/>
                </a:solidFill>
              </a:rPr>
              <a:t> = the number in the sample who agree. </a:t>
            </a:r>
            <a:r>
              <a:rPr lang="en-US" altLang="ja-JP" sz="1600" b="1" dirty="0">
                <a:solidFill>
                  <a:srgbClr val="000000"/>
                </a:solidFill>
              </a:rPr>
              <a:t>Estimate the probability that 1520 or more of the sample agree.</a:t>
            </a:r>
            <a:endParaRPr lang="en-US" altLang="en-US" sz="1600" dirty="0">
              <a:solidFill>
                <a:srgbClr val="000000"/>
              </a:solidFill>
            </a:endParaRPr>
          </a:p>
        </p:txBody>
      </p:sp>
      <p:sp>
        <p:nvSpPr>
          <p:cNvPr id="56325" name="TextBox 11"/>
          <p:cNvSpPr txBox="1">
            <a:spLocks noChangeArrowheads="1"/>
          </p:cNvSpPr>
          <p:nvPr/>
        </p:nvSpPr>
        <p:spPr bwMode="auto">
          <a:xfrm>
            <a:off x="357188" y="2325688"/>
            <a:ext cx="66119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600" b="1" dirty="0">
                <a:solidFill>
                  <a:schemeClr val="tx1"/>
                </a:solidFill>
              </a:rPr>
              <a:t>1) Verify that X is approximately a binomial random variable.</a:t>
            </a:r>
          </a:p>
        </p:txBody>
      </p:sp>
      <p:sp>
        <p:nvSpPr>
          <p:cNvPr id="25" name="TextBox 16"/>
          <p:cNvSpPr txBox="1">
            <a:spLocks noChangeArrowheads="1"/>
          </p:cNvSpPr>
          <p:nvPr/>
        </p:nvSpPr>
        <p:spPr bwMode="auto">
          <a:xfrm>
            <a:off x="620712" y="2663825"/>
            <a:ext cx="8418355"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400" b="1" dirty="0">
                <a:solidFill>
                  <a:schemeClr val="tx1"/>
                </a:solidFill>
              </a:rPr>
              <a:t>B:</a:t>
            </a:r>
            <a:r>
              <a:rPr lang="en-US" altLang="en-US" sz="1400" dirty="0">
                <a:solidFill>
                  <a:schemeClr val="tx1"/>
                </a:solidFill>
              </a:rPr>
              <a:t> Success = agree; Failure = do not </a:t>
            </a:r>
            <a:r>
              <a:rPr lang="en-US" altLang="ja-JP" sz="1400" dirty="0">
                <a:solidFill>
                  <a:schemeClr val="tx1"/>
                </a:solidFill>
              </a:rPr>
              <a:t>agree</a:t>
            </a:r>
          </a:p>
          <a:p>
            <a:pPr eaLnBrk="1" hangingPunct="1"/>
            <a:r>
              <a:rPr lang="en-US" altLang="en-US" sz="1400" b="1" dirty="0">
                <a:solidFill>
                  <a:schemeClr val="tx1"/>
                </a:solidFill>
              </a:rPr>
              <a:t> I:</a:t>
            </a:r>
            <a:r>
              <a:rPr lang="en-US" altLang="en-US" sz="1400" dirty="0">
                <a:solidFill>
                  <a:schemeClr val="tx1"/>
                </a:solidFill>
              </a:rPr>
              <a:t>  Because the population of U.S. adults is greater than 25,000, it is reasonable to assume that the 2500</a:t>
            </a:r>
          </a:p>
          <a:p>
            <a:pPr eaLnBrk="1" hangingPunct="1"/>
            <a:r>
              <a:rPr lang="en-US" altLang="en-US" sz="1400" dirty="0">
                <a:solidFill>
                  <a:schemeClr val="tx1"/>
                </a:solidFill>
              </a:rPr>
              <a:t>     trials are independent of each other.  </a:t>
            </a:r>
          </a:p>
          <a:p>
            <a:pPr eaLnBrk="1" hangingPunct="1"/>
            <a:r>
              <a:rPr lang="en-US" altLang="en-US" sz="1400" b="1" dirty="0">
                <a:solidFill>
                  <a:schemeClr val="tx1"/>
                </a:solidFill>
              </a:rPr>
              <a:t>N: </a:t>
            </a:r>
            <a:r>
              <a:rPr lang="en-US" altLang="en-US" sz="1400" dirty="0">
                <a:solidFill>
                  <a:schemeClr val="tx1"/>
                </a:solidFill>
              </a:rPr>
              <a:t> </a:t>
            </a:r>
            <a:r>
              <a:rPr lang="en-US" altLang="en-US" sz="1400" i="1" dirty="0">
                <a:solidFill>
                  <a:schemeClr val="tx1"/>
                </a:solidFill>
              </a:rPr>
              <a:t>n</a:t>
            </a:r>
            <a:r>
              <a:rPr lang="en-US" altLang="en-US" sz="1400" dirty="0">
                <a:solidFill>
                  <a:schemeClr val="tx1"/>
                </a:solidFill>
              </a:rPr>
              <a:t> = 2500 trials of the chance process.</a:t>
            </a:r>
          </a:p>
          <a:p>
            <a:pPr eaLnBrk="1" hangingPunct="1"/>
            <a:r>
              <a:rPr lang="en-US" altLang="en-US" sz="1400" b="1" dirty="0">
                <a:solidFill>
                  <a:schemeClr val="tx1"/>
                </a:solidFill>
              </a:rPr>
              <a:t>S:</a:t>
            </a:r>
            <a:r>
              <a:rPr lang="en-US" altLang="en-US" sz="1400" dirty="0">
                <a:solidFill>
                  <a:schemeClr val="tx1"/>
                </a:solidFill>
              </a:rPr>
              <a:t> The probability of selecting an adult who agrees is </a:t>
            </a:r>
            <a:r>
              <a:rPr lang="en-US" altLang="en-US" sz="1400" i="1" dirty="0">
                <a:solidFill>
                  <a:schemeClr val="tx1"/>
                </a:solidFill>
              </a:rPr>
              <a:t>p</a:t>
            </a:r>
            <a:r>
              <a:rPr lang="en-US" altLang="en-US" sz="1400" dirty="0">
                <a:solidFill>
                  <a:schemeClr val="tx1"/>
                </a:solidFill>
              </a:rPr>
              <a:t> = 0.60.</a:t>
            </a:r>
          </a:p>
        </p:txBody>
      </p:sp>
      <p:sp>
        <p:nvSpPr>
          <p:cNvPr id="24" name="TextBox 11"/>
          <p:cNvSpPr txBox="1">
            <a:spLocks noChangeArrowheads="1"/>
          </p:cNvSpPr>
          <p:nvPr/>
        </p:nvSpPr>
        <p:spPr bwMode="auto">
          <a:xfrm>
            <a:off x="357188" y="3865563"/>
            <a:ext cx="58959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600" b="1">
                <a:solidFill>
                  <a:schemeClr val="tx1"/>
                </a:solidFill>
              </a:rPr>
              <a:t>2) Check the conditions for using a Normal approximation.</a:t>
            </a:r>
          </a:p>
        </p:txBody>
      </p:sp>
      <p:sp>
        <p:nvSpPr>
          <p:cNvPr id="26" name="TextBox 16"/>
          <p:cNvSpPr txBox="1">
            <a:spLocks noChangeArrowheads="1"/>
          </p:cNvSpPr>
          <p:nvPr/>
        </p:nvSpPr>
        <p:spPr bwMode="auto">
          <a:xfrm>
            <a:off x="620713" y="4152900"/>
            <a:ext cx="8418354"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400" dirty="0">
                <a:solidFill>
                  <a:schemeClr val="tx1"/>
                </a:solidFill>
              </a:rPr>
              <a:t>Because </a:t>
            </a:r>
            <a:r>
              <a:rPr lang="en-US" altLang="en-US" sz="1400" i="1" dirty="0">
                <a:solidFill>
                  <a:schemeClr val="tx1"/>
                </a:solidFill>
              </a:rPr>
              <a:t>np</a:t>
            </a:r>
            <a:r>
              <a:rPr lang="en-US" altLang="en-US" sz="1400" dirty="0">
                <a:solidFill>
                  <a:schemeClr val="tx1"/>
                </a:solidFill>
              </a:rPr>
              <a:t> = 2500(0.60) = 1500 and </a:t>
            </a:r>
            <a:r>
              <a:rPr lang="en-US" altLang="en-US" sz="1400" i="1" dirty="0">
                <a:solidFill>
                  <a:schemeClr val="tx1"/>
                </a:solidFill>
              </a:rPr>
              <a:t>n</a:t>
            </a:r>
            <a:r>
              <a:rPr lang="en-US" altLang="en-US" sz="1400" dirty="0">
                <a:solidFill>
                  <a:schemeClr val="tx1"/>
                </a:solidFill>
              </a:rPr>
              <a:t>(1 – </a:t>
            </a:r>
            <a:r>
              <a:rPr lang="en-US" altLang="en-US" sz="1400" i="1" dirty="0">
                <a:solidFill>
                  <a:schemeClr val="tx1"/>
                </a:solidFill>
              </a:rPr>
              <a:t>p</a:t>
            </a:r>
            <a:r>
              <a:rPr lang="en-US" altLang="en-US" sz="1400" dirty="0">
                <a:solidFill>
                  <a:schemeClr val="tx1"/>
                </a:solidFill>
              </a:rPr>
              <a:t>) = 2500(0.40) = 1000 are both at least 10, we may use the Normal approximation.</a:t>
            </a:r>
          </a:p>
        </p:txBody>
      </p:sp>
      <p:sp>
        <p:nvSpPr>
          <p:cNvPr id="27" name="TextBox 26"/>
          <p:cNvSpPr txBox="1">
            <a:spLocks noChangeArrowheads="1"/>
          </p:cNvSpPr>
          <p:nvPr/>
        </p:nvSpPr>
        <p:spPr bwMode="auto">
          <a:xfrm>
            <a:off x="342900" y="4706938"/>
            <a:ext cx="55530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600" b="1">
                <a:solidFill>
                  <a:schemeClr val="tx1"/>
                </a:solidFill>
              </a:rPr>
              <a:t>3) Calculate </a:t>
            </a:r>
            <a:r>
              <a:rPr lang="en-US" altLang="en-US" sz="1600" b="1" i="1">
                <a:solidFill>
                  <a:schemeClr val="tx1"/>
                </a:solidFill>
              </a:rPr>
              <a:t>P</a:t>
            </a:r>
            <a:r>
              <a:rPr lang="en-US" altLang="en-US" sz="1600" b="1">
                <a:solidFill>
                  <a:schemeClr val="tx1"/>
                </a:solidFill>
              </a:rPr>
              <a:t>(</a:t>
            </a:r>
            <a:r>
              <a:rPr lang="en-US" altLang="en-US" sz="1600" b="1" i="1">
                <a:solidFill>
                  <a:schemeClr val="tx1"/>
                </a:solidFill>
              </a:rPr>
              <a:t>X</a:t>
            </a:r>
            <a:r>
              <a:rPr lang="en-US" altLang="en-US" sz="1600" b="1">
                <a:solidFill>
                  <a:schemeClr val="tx1"/>
                </a:solidFill>
              </a:rPr>
              <a:t> ≥ 1520) using a Normal approximation.</a:t>
            </a:r>
          </a:p>
        </p:txBody>
      </p:sp>
      <p:sp>
        <p:nvSpPr>
          <p:cNvPr id="29" name="Curved Right Arrow 28" descr="Arrow pointing from 24.49 to the equation z equals 1520 minus 1500 over 24.49"/>
          <p:cNvSpPr/>
          <p:nvPr/>
        </p:nvSpPr>
        <p:spPr>
          <a:xfrm rot="15881178" flipH="1">
            <a:off x="5410565" y="3876368"/>
            <a:ext cx="375595" cy="2717939"/>
          </a:xfrm>
          <a:prstGeom prst="curvedRightArrow">
            <a:avLst/>
          </a:prstGeom>
        </p:spPr>
        <p:style>
          <a:lnRef idx="0">
            <a:schemeClr val="accent5"/>
          </a:lnRef>
          <a:fillRef idx="3">
            <a:schemeClr val="accent5"/>
          </a:fillRef>
          <a:effectRef idx="3">
            <a:schemeClr val="accent5"/>
          </a:effectRef>
          <a:fontRef idx="minor">
            <a:schemeClr val="lt1"/>
          </a:fontRef>
        </p:style>
        <p:txBody>
          <a:bodyPr anchor="ctr"/>
          <a:lstStyle/>
          <a:p>
            <a:pPr algn="ctr" eaLnBrk="1" hangingPunct="1">
              <a:defRPr/>
            </a:pPr>
            <a:endParaRPr lang="en-US">
              <a:solidFill>
                <a:schemeClr val="tx1"/>
              </a:solidFill>
            </a:endParaRPr>
          </a:p>
        </p:txBody>
      </p:sp>
      <p:sp>
        <p:nvSpPr>
          <p:cNvPr id="30" name="Curved Right Arrow 29" descr="Arrow pointing from 0.82 to P (Z is greater than or equal to 0.82)"/>
          <p:cNvSpPr/>
          <p:nvPr/>
        </p:nvSpPr>
        <p:spPr>
          <a:xfrm rot="4832199" flipH="1">
            <a:off x="6133367" y="4457600"/>
            <a:ext cx="656567" cy="3805789"/>
          </a:xfrm>
          <a:prstGeom prst="curvedRightArrow">
            <a:avLst/>
          </a:prstGeom>
        </p:spPr>
        <p:style>
          <a:lnRef idx="0">
            <a:schemeClr val="accent5"/>
          </a:lnRef>
          <a:fillRef idx="3">
            <a:schemeClr val="accent5"/>
          </a:fillRef>
          <a:effectRef idx="3">
            <a:schemeClr val="accent5"/>
          </a:effectRef>
          <a:fontRef idx="minor">
            <a:schemeClr val="lt1"/>
          </a:fontRef>
        </p:style>
        <p:txBody>
          <a:bodyPr anchor="ctr"/>
          <a:lstStyle/>
          <a:p>
            <a:pPr algn="ctr" eaLnBrk="1" hangingPunct="1">
              <a:defRPr/>
            </a:pPr>
            <a:endParaRPr lang="en-US">
              <a:solidFill>
                <a:schemeClr val="tx1"/>
              </a:solidFill>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1418168227"/>
              </p:ext>
            </p:extLst>
          </p:nvPr>
        </p:nvGraphicFramePr>
        <p:xfrm>
          <a:off x="283497" y="5180013"/>
          <a:ext cx="4167188" cy="777875"/>
        </p:xfrm>
        <a:graphic>
          <a:graphicData uri="http://schemas.openxmlformats.org/presentationml/2006/ole">
            <mc:AlternateContent xmlns:mc="http://schemas.openxmlformats.org/markup-compatibility/2006">
              <mc:Choice xmlns:v="urn:schemas-microsoft-com:vml" Requires="v">
                <p:oleObj spid="_x0000_s66742" name="Equation" r:id="rId3" imgW="2857320" imgH="533160" progId="Equation.DSMT4">
                  <p:embed/>
                </p:oleObj>
              </mc:Choice>
              <mc:Fallback>
                <p:oleObj name="Equation" r:id="rId3" imgW="2857320" imgH="533160" progId="Equation.DSMT4">
                  <p:embed/>
                  <p:pic>
                    <p:nvPicPr>
                      <p:cNvPr id="0" name=""/>
                      <p:cNvPicPr/>
                      <p:nvPr/>
                    </p:nvPicPr>
                    <p:blipFill>
                      <a:blip r:embed="rId4"/>
                      <a:stretch>
                        <a:fillRect/>
                      </a:stretch>
                    </p:blipFill>
                    <p:spPr>
                      <a:xfrm>
                        <a:off x="283497" y="5180013"/>
                        <a:ext cx="4167188" cy="777875"/>
                      </a:xfrm>
                      <a:prstGeom prst="rect">
                        <a:avLst/>
                      </a:prstGeom>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3615445711"/>
              </p:ext>
            </p:extLst>
          </p:nvPr>
        </p:nvGraphicFramePr>
        <p:xfrm>
          <a:off x="5717529" y="5235337"/>
          <a:ext cx="2675095" cy="740428"/>
        </p:xfrm>
        <a:graphic>
          <a:graphicData uri="http://schemas.openxmlformats.org/presentationml/2006/ole">
            <mc:AlternateContent xmlns:mc="http://schemas.openxmlformats.org/markup-compatibility/2006">
              <mc:Choice xmlns:v="urn:schemas-microsoft-com:vml" Requires="v">
                <p:oleObj spid="_x0000_s66743" name="Equation" r:id="rId5" imgW="1422360" imgH="393480" progId="Equation.DSMT4">
                  <p:embed/>
                </p:oleObj>
              </mc:Choice>
              <mc:Fallback>
                <p:oleObj name="Equation" r:id="rId5" imgW="1422360" imgH="393480" progId="Equation.DSMT4">
                  <p:embed/>
                  <p:pic>
                    <p:nvPicPr>
                      <p:cNvPr id="0" name=""/>
                      <p:cNvPicPr/>
                      <p:nvPr/>
                    </p:nvPicPr>
                    <p:blipFill>
                      <a:blip r:embed="rId6"/>
                      <a:stretch>
                        <a:fillRect/>
                      </a:stretch>
                    </p:blipFill>
                    <p:spPr>
                      <a:xfrm>
                        <a:off x="5717529" y="5235337"/>
                        <a:ext cx="2675095" cy="740428"/>
                      </a:xfrm>
                      <a:prstGeom prst="rect">
                        <a:avLst/>
                      </a:prstGeom>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1394761116"/>
              </p:ext>
            </p:extLst>
          </p:nvPr>
        </p:nvGraphicFramePr>
        <p:xfrm>
          <a:off x="4114800" y="2209800"/>
          <a:ext cx="914400" cy="198438"/>
        </p:xfrm>
        <a:graphic>
          <a:graphicData uri="http://schemas.openxmlformats.org/presentationml/2006/ole">
            <mc:AlternateContent xmlns:mc="http://schemas.openxmlformats.org/markup-compatibility/2006">
              <mc:Choice xmlns:v="urn:schemas-microsoft-com:vml" Requires="v">
                <p:oleObj spid="_x0000_s66744" name="Equation" r:id="rId7" imgW="914400" imgH="198720" progId="Equation.DSMT4">
                  <p:embed/>
                </p:oleObj>
              </mc:Choice>
              <mc:Fallback>
                <p:oleObj name="Equation" r:id="rId7" imgW="914400" imgH="198720" progId="Equation.DSMT4">
                  <p:embed/>
                  <p:pic>
                    <p:nvPicPr>
                      <p:cNvPr id="0" name=""/>
                      <p:cNvPicPr/>
                      <p:nvPr/>
                    </p:nvPicPr>
                    <p:blipFill>
                      <a:blip r:embed="rId8"/>
                      <a:stretch>
                        <a:fillRect/>
                      </a:stretch>
                    </p:blipFill>
                    <p:spPr>
                      <a:xfrm>
                        <a:off x="4114800" y="2209800"/>
                        <a:ext cx="914400" cy="198438"/>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3174162665"/>
              </p:ext>
            </p:extLst>
          </p:nvPr>
        </p:nvGraphicFramePr>
        <p:xfrm>
          <a:off x="1852662" y="5972984"/>
          <a:ext cx="5501040" cy="454631"/>
        </p:xfrm>
        <a:graphic>
          <a:graphicData uri="http://schemas.openxmlformats.org/presentationml/2006/ole">
            <mc:AlternateContent xmlns:mc="http://schemas.openxmlformats.org/markup-compatibility/2006">
              <mc:Choice xmlns:v="urn:schemas-microsoft-com:vml" Requires="v">
                <p:oleObj spid="_x0000_s66745" name="Equation" r:id="rId9" imgW="3073320" imgH="253800" progId="Equation.DSMT4">
                  <p:embed/>
                </p:oleObj>
              </mc:Choice>
              <mc:Fallback>
                <p:oleObj name="Equation" r:id="rId9" imgW="3073320" imgH="253800" progId="Equation.DSMT4">
                  <p:embed/>
                  <p:pic>
                    <p:nvPicPr>
                      <p:cNvPr id="0" name=""/>
                      <p:cNvPicPr/>
                      <p:nvPr/>
                    </p:nvPicPr>
                    <p:blipFill>
                      <a:blip r:embed="rId10"/>
                      <a:stretch>
                        <a:fillRect/>
                      </a:stretch>
                    </p:blipFill>
                    <p:spPr>
                      <a:xfrm>
                        <a:off x="1852662" y="5972984"/>
                        <a:ext cx="5501040" cy="454631"/>
                      </a:xfrm>
                      <a:prstGeom prst="rect">
                        <a:avLst/>
                      </a:prstGeom>
                    </p:spPr>
                  </p:pic>
                </p:oleObj>
              </mc:Fallback>
            </mc:AlternateContent>
          </a:graphicData>
        </a:graphic>
      </p:graphicFrame>
    </p:spTree>
    <p:extLst>
      <p:ext uri="{BB962C8B-B14F-4D97-AF65-F5344CB8AC3E}">
        <p14:creationId xmlns:p14="http://schemas.microsoft.com/office/powerpoint/2010/main" val="276139565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10" presetClass="entr" presetSubtype="0" fill="hold" grpId="0" nodeType="after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1000"/>
                                        <p:tgtEl>
                                          <p:spTgt spid="2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1000"/>
                                        <p:tgtEl>
                                          <p:spTgt spid="26"/>
                                        </p:tgtEl>
                                      </p:cBhvr>
                                    </p:animEffect>
                                  </p:childTnLst>
                                </p:cTn>
                              </p:par>
                            </p:childTnLst>
                          </p:cTn>
                        </p:par>
                        <p:par>
                          <p:cTn id="19" fill="hold" nodeType="afterGroup">
                            <p:stCondLst>
                              <p:cond delay="1000"/>
                            </p:stCondLst>
                            <p:childTnLst>
                              <p:par>
                                <p:cTn id="20" presetID="10" presetClass="entr" presetSubtype="0"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000"/>
                                        <p:tgtEl>
                                          <p:spTgt spid="2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1000"/>
                                        <p:tgtEl>
                                          <p:spTgt spid="29"/>
                                        </p:tgtEl>
                                      </p:cBhvr>
                                    </p:animEffect>
                                  </p:childTnLst>
                                </p:cTn>
                              </p:par>
                              <p:par>
                                <p:cTn id="33" presetID="10" presetClass="entr" presetSubtype="0" fill="hold"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1000"/>
                                        <p:tgtEl>
                                          <p:spTgt spid="30"/>
                                        </p:tgtEl>
                                      </p:cBhvr>
                                    </p:animEffect>
                                  </p:childTnLst>
                                </p:cTn>
                              </p:par>
                              <p:par>
                                <p:cTn id="41" presetID="10" presetClass="entr" presetSubtype="0" fill="hold" nodeType="with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4" grpId="0"/>
      <p:bldP spid="26" grpId="0"/>
      <p:bldP spid="27" grpId="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a:xfrm>
            <a:off x="174625" y="153988"/>
            <a:ext cx="7772400" cy="1143000"/>
          </a:xfrm>
        </p:spPr>
        <p:txBody>
          <a:bodyPr/>
          <a:lstStyle/>
          <a:p>
            <a:pPr eaLnBrk="1" hangingPunct="1"/>
            <a:r>
              <a:rPr lang="en-US" altLang="en-US" dirty="0">
                <a:ea typeface="ＭＳ Ｐゴシック" pitchFamily="34" charset="-128"/>
              </a:rPr>
              <a:t>Sampling Distribution of a Sample Proportion</a:t>
            </a:r>
          </a:p>
        </p:txBody>
      </p:sp>
      <p:sp>
        <p:nvSpPr>
          <p:cNvPr id="573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E52E07D9-06EB-445B-8725-760BFE5F1754}" type="slidenum">
              <a:rPr lang="en-US" altLang="en-US" sz="1200">
                <a:solidFill>
                  <a:schemeClr val="accent1"/>
                </a:solidFill>
              </a:rPr>
              <a:pPr>
                <a:lnSpc>
                  <a:spcPct val="80000"/>
                </a:lnSpc>
              </a:pPr>
              <a:t>26</a:t>
            </a:fld>
            <a:endParaRPr lang="en-US" altLang="en-US" sz="1200">
              <a:solidFill>
                <a:schemeClr val="accent1"/>
              </a:solidFill>
            </a:endParaRPr>
          </a:p>
        </p:txBody>
      </p:sp>
      <p:pic>
        <p:nvPicPr>
          <p:cNvPr id="2" name="Picture 1" descr="The animation illustrates through a graph the sample proportion &quot;p hat,&quot; standard deviation and mean of the sampling distribution.&#10;The population proportion &quot;p&quot; of successes depicts many Simple Random Samples (SRS) from a population. The population distribution curve with horizontal axis labeled &quot;values of sample proportion p hat.&quot; The mid of the curve on the x-axis shows the mean value 'p,' and standard deviation of the sampling distribution equals &quot;whole square root of p times 1 minus p, divide by n.&quot;"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8356" y="767455"/>
            <a:ext cx="638175" cy="276225"/>
          </a:xfrm>
          <a:prstGeom prst="rect">
            <a:avLst/>
          </a:prstGeom>
        </p:spPr>
      </p:pic>
      <p:pic>
        <p:nvPicPr>
          <p:cNvPr id="3" name="Picture 2" descr="To skip animation steps, move to the next slide."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206" y="721424"/>
            <a:ext cx="638175" cy="276225"/>
          </a:xfrm>
          <a:prstGeom prst="rect">
            <a:avLst/>
          </a:prstGeom>
        </p:spPr>
      </p:pic>
      <mc:AlternateContent xmlns:mc="http://schemas.openxmlformats.org/markup-compatibility/2006">
        <mc:Choice xmlns:a14="http://schemas.microsoft.com/office/drawing/2010/main" Requires="a14">
          <p:sp>
            <p:nvSpPr>
              <p:cNvPr id="4" name="TextBox 3"/>
              <p:cNvSpPr txBox="1"/>
              <p:nvPr/>
            </p:nvSpPr>
            <p:spPr>
              <a:xfrm>
                <a:off x="1023937" y="1373943"/>
                <a:ext cx="6872288" cy="646331"/>
              </a:xfrm>
              <a:prstGeom prst="rect">
                <a:avLst/>
              </a:prstGeom>
              <a:solidFill>
                <a:srgbClr val="FFD780"/>
              </a:solidFill>
            </p:spPr>
            <p:txBody>
              <a:bodyPr wrap="square" rtlCol="0">
                <a:spAutoFit/>
              </a:bodyPr>
              <a:lstStyle/>
              <a:p>
                <a:r>
                  <a:rPr lang="en-US" dirty="0"/>
                  <a:t>There is an important connection between the sample proportion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a:rPr>
                          <m:t>𝑝</m:t>
                        </m:r>
                      </m:e>
                    </m:acc>
                  </m:oMath>
                </a14:m>
                <a:r>
                  <a:rPr lang="en-US" dirty="0"/>
                  <a:t> and the number of “successes” </a:t>
                </a:r>
                <a:r>
                  <a:rPr lang="en-US" i="1" dirty="0"/>
                  <a:t>X</a:t>
                </a:r>
                <a:r>
                  <a:rPr lang="en-US" dirty="0"/>
                  <a:t> in the sample</a:t>
                </a:r>
                <a:r>
                  <a:rPr lang="en-US" dirty="0" smtClean="0"/>
                  <a:t>.</a:t>
                </a:r>
                <a:endParaRPr lang="en-US" dirty="0"/>
              </a:p>
            </p:txBody>
          </p:sp>
        </mc:Choice>
        <mc:Fallback>
          <p:sp>
            <p:nvSpPr>
              <p:cNvPr id="4" name="TextBox 3"/>
              <p:cNvSpPr txBox="1">
                <a:spLocks noRot="1" noChangeAspect="1" noMove="1" noResize="1" noEditPoints="1" noAdjustHandles="1" noChangeArrowheads="1" noChangeShapeType="1" noTextEdit="1"/>
              </p:cNvSpPr>
              <p:nvPr/>
            </p:nvSpPr>
            <p:spPr>
              <a:xfrm>
                <a:off x="1023937" y="1373943"/>
                <a:ext cx="6872288" cy="646331"/>
              </a:xfrm>
              <a:prstGeom prst="rect">
                <a:avLst/>
              </a:prstGeom>
              <a:blipFill rotWithShape="0">
                <a:blip r:embed="rId4"/>
                <a:stretch>
                  <a:fillRect l="-799" t="-4717" b="-14151"/>
                </a:stretch>
              </a:blipFill>
            </p:spPr>
            <p:txBody>
              <a:bodyPr/>
              <a:lstStyle/>
              <a:p>
                <a:r>
                  <a:rPr lang="en-US">
                    <a:noFill/>
                  </a:rPr>
                  <a:t> </a:t>
                </a:r>
              </a:p>
            </p:txBody>
          </p:sp>
        </mc:Fallback>
      </mc:AlternateContent>
      <p:graphicFrame>
        <p:nvGraphicFramePr>
          <p:cNvPr id="5" name="Object 4"/>
          <p:cNvGraphicFramePr>
            <a:graphicFrameLocks noChangeAspect="1"/>
          </p:cNvGraphicFramePr>
          <p:nvPr>
            <p:extLst>
              <p:ext uri="{D42A27DB-BD31-4B8C-83A1-F6EECF244321}">
                <p14:modId xmlns:p14="http://schemas.microsoft.com/office/powerpoint/2010/main" val="528203797"/>
              </p:ext>
            </p:extLst>
          </p:nvPr>
        </p:nvGraphicFramePr>
        <p:xfrm>
          <a:off x="2569987" y="2104396"/>
          <a:ext cx="3783520" cy="667680"/>
        </p:xfrm>
        <a:graphic>
          <a:graphicData uri="http://schemas.openxmlformats.org/presentationml/2006/ole">
            <mc:AlternateContent xmlns:mc="http://schemas.openxmlformats.org/markup-compatibility/2006">
              <mc:Choice xmlns:v="urn:schemas-microsoft-com:vml" Requires="v">
                <p:oleObj spid="_x0000_s71684" name="Equation" r:id="rId5" imgW="2374560" imgH="419040" progId="Equation.DSMT4">
                  <p:embed/>
                </p:oleObj>
              </mc:Choice>
              <mc:Fallback>
                <p:oleObj name="Equation" r:id="rId5" imgW="2374560" imgH="419040" progId="Equation.DSMT4">
                  <p:embed/>
                  <p:pic>
                    <p:nvPicPr>
                      <p:cNvPr id="0" name=""/>
                      <p:cNvPicPr/>
                      <p:nvPr/>
                    </p:nvPicPr>
                    <p:blipFill>
                      <a:blip r:embed="rId6"/>
                      <a:stretch>
                        <a:fillRect/>
                      </a:stretch>
                    </p:blipFill>
                    <p:spPr>
                      <a:xfrm>
                        <a:off x="2569987" y="2104396"/>
                        <a:ext cx="3783520" cy="667680"/>
                      </a:xfrm>
                      <a:prstGeom prst="rect">
                        <a:avLst/>
                      </a:prstGeom>
                      <a:solidFill>
                        <a:srgbClr val="FFD780"/>
                      </a:solidFill>
                    </p:spPr>
                  </p:pic>
                </p:oleObj>
              </mc:Fallback>
            </mc:AlternateContent>
          </a:graphicData>
        </a:graphic>
      </p:graphicFrame>
      <p:grpSp>
        <p:nvGrpSpPr>
          <p:cNvPr id="57355" name="Group 18" descr="already described"/>
          <p:cNvGrpSpPr>
            <a:grpSpLocks/>
          </p:cNvGrpSpPr>
          <p:nvPr/>
        </p:nvGrpSpPr>
        <p:grpSpPr bwMode="auto">
          <a:xfrm>
            <a:off x="593725" y="2960232"/>
            <a:ext cx="7953375" cy="3456683"/>
            <a:chOff x="-242149" y="4885842"/>
            <a:chExt cx="8422734" cy="3461261"/>
          </a:xfrm>
        </p:grpSpPr>
        <p:sp>
          <p:nvSpPr>
            <p:cNvPr id="24" name="TextBox 23"/>
            <p:cNvSpPr txBox="1">
              <a:spLocks noChangeArrowheads="1"/>
            </p:cNvSpPr>
            <p:nvPr/>
          </p:nvSpPr>
          <p:spPr bwMode="auto">
            <a:xfrm>
              <a:off x="781693" y="4885842"/>
              <a:ext cx="6497777" cy="338585"/>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sz="1600" b="1" dirty="0">
                  <a:solidFill>
                    <a:schemeClr val="dk1"/>
                  </a:solidFill>
                  <a:latin typeface="+mn-lt"/>
                  <a:ea typeface="+mn-ea"/>
                </a:rPr>
                <a:t>Sampling Distribution of a Sample Proportion</a:t>
              </a:r>
            </a:p>
          </p:txBody>
        </p:sp>
        <mc:AlternateContent xmlns:mc="http://schemas.openxmlformats.org/markup-compatibility/2006" xmlns:a14="http://schemas.microsoft.com/office/drawing/2010/main">
          <mc:Choice Requires="a14">
            <p:sp>
              <p:nvSpPr>
                <p:cNvPr id="23" name="TextBox 22"/>
                <p:cNvSpPr txBox="1">
                  <a:spLocks noChangeArrowheads="1"/>
                </p:cNvSpPr>
                <p:nvPr/>
              </p:nvSpPr>
              <p:spPr bwMode="auto">
                <a:xfrm>
                  <a:off x="-242149" y="5224427"/>
                  <a:ext cx="8422734" cy="3122676"/>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marL="342900" indent="-342900">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sz="1600" dirty="0">
                      <a:solidFill>
                        <a:srgbClr val="000000"/>
                      </a:solidFill>
                    </a:rPr>
                    <a:t>	Choose an SRS of size </a:t>
                  </a:r>
                  <a:r>
                    <a:rPr lang="en-US" altLang="en-US" sz="1600" i="1" dirty="0">
                      <a:solidFill>
                        <a:srgbClr val="000000"/>
                      </a:solidFill>
                    </a:rPr>
                    <a:t>n</a:t>
                  </a:r>
                  <a:r>
                    <a:rPr lang="en-US" altLang="en-US" sz="1600" dirty="0">
                      <a:solidFill>
                        <a:srgbClr val="000000"/>
                      </a:solidFill>
                    </a:rPr>
                    <a:t> from a population of size </a:t>
                  </a:r>
                  <a:r>
                    <a:rPr lang="en-US" altLang="en-US" sz="1600" i="1" dirty="0">
                      <a:solidFill>
                        <a:srgbClr val="000000"/>
                      </a:solidFill>
                    </a:rPr>
                    <a:t>N</a:t>
                  </a:r>
                  <a:r>
                    <a:rPr lang="en-US" altLang="en-US" sz="1600" dirty="0">
                      <a:solidFill>
                        <a:srgbClr val="000000"/>
                      </a:solidFill>
                    </a:rPr>
                    <a:t> with proportion </a:t>
                  </a:r>
                  <a:r>
                    <a:rPr lang="en-US" altLang="en-US" sz="1600" i="1" dirty="0">
                      <a:solidFill>
                        <a:srgbClr val="000000"/>
                      </a:solidFill>
                    </a:rPr>
                    <a:t>p</a:t>
                  </a:r>
                  <a:r>
                    <a:rPr lang="en-US" altLang="en-US" sz="1600" dirty="0">
                      <a:solidFill>
                        <a:srgbClr val="000000"/>
                      </a:solidFill>
                    </a:rPr>
                    <a:t> of successes. Let </a:t>
                  </a:r>
                  <a14:m>
                    <m:oMath xmlns:m="http://schemas.openxmlformats.org/officeDocument/2006/math">
                      <m:acc>
                        <m:accPr>
                          <m:chr m:val="̂"/>
                          <m:ctrlPr>
                            <a:rPr lang="en-US" altLang="en-US" sz="1600" i="1" smtClean="0">
                              <a:solidFill>
                                <a:srgbClr val="000000"/>
                              </a:solidFill>
                              <a:latin typeface="Cambria Math" panose="02040503050406030204" pitchFamily="18" charset="0"/>
                            </a:rPr>
                          </m:ctrlPr>
                        </m:accPr>
                        <m:e>
                          <m:r>
                            <a:rPr lang="en-US" altLang="en-US" sz="1600" b="0" i="1" smtClean="0">
                              <a:solidFill>
                                <a:srgbClr val="000000"/>
                              </a:solidFill>
                              <a:latin typeface="Cambria Math"/>
                            </a:rPr>
                            <m:t>𝑝</m:t>
                          </m:r>
                        </m:e>
                      </m:acc>
                    </m:oMath>
                  </a14:m>
                  <a:r>
                    <a:rPr lang="en-US" altLang="en-US" sz="1600" dirty="0">
                      <a:solidFill>
                        <a:srgbClr val="000000"/>
                      </a:solidFill>
                    </a:rPr>
                    <a:t> be the sample proportion of successes. Then:</a:t>
                  </a:r>
                </a:p>
                <a:p>
                  <a:pPr eaLnBrk="1" hangingPunct="1">
                    <a:spcBef>
                      <a:spcPct val="0"/>
                    </a:spcBef>
                    <a:spcAft>
                      <a:spcPts val="1200"/>
                    </a:spcAft>
                    <a:buClrTx/>
                    <a:buSzTx/>
                    <a:buFontTx/>
                    <a:buNone/>
                    <a:defRPr/>
                  </a:pPr>
                  <a:r>
                    <a:rPr lang="en-US" altLang="en-US" sz="1600" dirty="0">
                      <a:solidFill>
                        <a:srgbClr val="000000"/>
                      </a:solidFill>
                    </a:rPr>
                    <a:t>	The </a:t>
                  </a:r>
                  <a:r>
                    <a:rPr lang="en-US" altLang="en-US" sz="1600" b="1" dirty="0">
                      <a:solidFill>
                        <a:srgbClr val="000000"/>
                      </a:solidFill>
                    </a:rPr>
                    <a:t>mean</a:t>
                  </a:r>
                  <a:r>
                    <a:rPr lang="en-US" altLang="en-US" sz="1600" dirty="0">
                      <a:solidFill>
                        <a:srgbClr val="000000"/>
                      </a:solidFill>
                    </a:rPr>
                    <a:t> of the sampling distribution is </a:t>
                  </a:r>
                  <a:r>
                    <a:rPr lang="en-US" altLang="en-US" sz="1600" i="1" dirty="0">
                      <a:solidFill>
                        <a:srgbClr val="000000"/>
                      </a:solidFill>
                    </a:rPr>
                    <a:t>p</a:t>
                  </a:r>
                  <a:r>
                    <a:rPr lang="en-US" altLang="en-US" sz="1600" dirty="0">
                      <a:solidFill>
                        <a:srgbClr val="000000"/>
                      </a:solidFill>
                    </a:rPr>
                    <a:t>.</a:t>
                  </a:r>
                </a:p>
                <a:p>
                  <a:pPr eaLnBrk="1" hangingPunct="1">
                    <a:spcBef>
                      <a:spcPct val="0"/>
                    </a:spcBef>
                    <a:spcAft>
                      <a:spcPts val="1200"/>
                    </a:spcAft>
                    <a:buClrTx/>
                    <a:buSzTx/>
                    <a:buFontTx/>
                    <a:buNone/>
                    <a:defRPr/>
                  </a:pPr>
                  <a:r>
                    <a:rPr lang="en-US" altLang="en-US" sz="1600" dirty="0">
                      <a:solidFill>
                        <a:srgbClr val="000000"/>
                      </a:solidFill>
                    </a:rPr>
                    <a:t>	The </a:t>
                  </a:r>
                  <a:r>
                    <a:rPr lang="en-US" altLang="en-US" sz="1600" b="1" dirty="0">
                      <a:solidFill>
                        <a:srgbClr val="000000"/>
                      </a:solidFill>
                    </a:rPr>
                    <a:t>standard deviation </a:t>
                  </a:r>
                  <a:r>
                    <a:rPr lang="en-US" altLang="en-US" sz="1600" dirty="0">
                      <a:solidFill>
                        <a:srgbClr val="000000"/>
                      </a:solidFill>
                    </a:rPr>
                    <a:t>of the sampling distribution is</a:t>
                  </a:r>
                </a:p>
                <a:p>
                  <a:pPr algn="ctr" eaLnBrk="1" hangingPunct="1">
                    <a:spcBef>
                      <a:spcPct val="0"/>
                    </a:spcBef>
                    <a:spcAft>
                      <a:spcPts val="1200"/>
                    </a:spcAft>
                    <a:buClrTx/>
                    <a:buSzTx/>
                    <a:buFontTx/>
                    <a:buNone/>
                    <a:defRPr/>
                  </a:pPr>
                  <a14:m>
                    <m:oMathPara xmlns:m="http://schemas.openxmlformats.org/officeDocument/2006/math">
                      <m:oMathParaPr>
                        <m:jc m:val="centerGroup"/>
                      </m:oMathParaPr>
                      <m:oMath xmlns:m="http://schemas.openxmlformats.org/officeDocument/2006/math">
                        <m:sSub>
                          <m:sSubPr>
                            <m:ctrlPr>
                              <a:rPr lang="en-US" altLang="en-US" sz="1600" i="1" smtClean="0">
                                <a:solidFill>
                                  <a:srgbClr val="000000"/>
                                </a:solidFill>
                                <a:latin typeface="Cambria Math" panose="02040503050406030204" pitchFamily="18" charset="0"/>
                              </a:rPr>
                            </m:ctrlPr>
                          </m:sSubPr>
                          <m:e>
                            <m:r>
                              <a:rPr lang="en-US" altLang="en-US" sz="1600" i="1" smtClean="0">
                                <a:solidFill>
                                  <a:srgbClr val="000000"/>
                                </a:solidFill>
                                <a:latin typeface="Cambria Math"/>
                                <a:ea typeface="Cambria Math"/>
                              </a:rPr>
                              <m:t>𝜎</m:t>
                            </m:r>
                          </m:e>
                          <m:sub>
                            <m:acc>
                              <m:accPr>
                                <m:chr m:val="̂"/>
                                <m:ctrlPr>
                                  <a:rPr lang="en-US" altLang="en-US" sz="1600" i="1" smtClean="0">
                                    <a:solidFill>
                                      <a:srgbClr val="000000"/>
                                    </a:solidFill>
                                    <a:latin typeface="Cambria Math" panose="02040503050406030204" pitchFamily="18" charset="0"/>
                                  </a:rPr>
                                </m:ctrlPr>
                              </m:accPr>
                              <m:e>
                                <m:r>
                                  <a:rPr lang="en-US" altLang="en-US" sz="1600" b="0" i="1" smtClean="0">
                                    <a:solidFill>
                                      <a:srgbClr val="000000"/>
                                    </a:solidFill>
                                    <a:latin typeface="Cambria Math"/>
                                  </a:rPr>
                                  <m:t>𝑝</m:t>
                                </m:r>
                              </m:e>
                            </m:acc>
                          </m:sub>
                        </m:sSub>
                        <m:r>
                          <a:rPr lang="en-US" altLang="en-US" sz="1600" b="0" i="1" smtClean="0">
                            <a:solidFill>
                              <a:srgbClr val="000000"/>
                            </a:solidFill>
                            <a:latin typeface="Cambria Math"/>
                          </a:rPr>
                          <m:t>=</m:t>
                        </m:r>
                        <m:rad>
                          <m:radPr>
                            <m:degHide m:val="on"/>
                            <m:ctrlPr>
                              <a:rPr lang="en-US" altLang="en-US" sz="1600" b="0" i="1" smtClean="0">
                                <a:solidFill>
                                  <a:srgbClr val="000000"/>
                                </a:solidFill>
                                <a:latin typeface="Cambria Math" panose="02040503050406030204" pitchFamily="18" charset="0"/>
                              </a:rPr>
                            </m:ctrlPr>
                          </m:radPr>
                          <m:deg/>
                          <m:e>
                            <m:f>
                              <m:fPr>
                                <m:ctrlPr>
                                  <a:rPr lang="en-US" altLang="en-US" sz="1600" b="0" i="1" smtClean="0">
                                    <a:solidFill>
                                      <a:srgbClr val="000000"/>
                                    </a:solidFill>
                                    <a:latin typeface="Cambria Math" panose="02040503050406030204" pitchFamily="18" charset="0"/>
                                  </a:rPr>
                                </m:ctrlPr>
                              </m:fPr>
                              <m:num>
                                <m:r>
                                  <a:rPr lang="en-US" altLang="en-US" sz="1600" b="0" i="1" smtClean="0">
                                    <a:solidFill>
                                      <a:srgbClr val="000000"/>
                                    </a:solidFill>
                                    <a:latin typeface="Cambria Math"/>
                                  </a:rPr>
                                  <m:t>𝑝</m:t>
                                </m:r>
                                <m:r>
                                  <a:rPr lang="en-US" altLang="en-US" sz="1600" b="0" i="1" smtClean="0">
                                    <a:solidFill>
                                      <a:srgbClr val="000000"/>
                                    </a:solidFill>
                                    <a:latin typeface="Cambria Math"/>
                                  </a:rPr>
                                  <m:t>(1−</m:t>
                                </m:r>
                                <m:r>
                                  <a:rPr lang="en-US" altLang="en-US" sz="1600" b="0" i="1" smtClean="0">
                                    <a:solidFill>
                                      <a:srgbClr val="000000"/>
                                    </a:solidFill>
                                    <a:latin typeface="Cambria Math"/>
                                  </a:rPr>
                                  <m:t>𝑝</m:t>
                                </m:r>
                                <m:r>
                                  <a:rPr lang="en-US" altLang="en-US" sz="1600" b="0" i="1" smtClean="0">
                                    <a:solidFill>
                                      <a:srgbClr val="000000"/>
                                    </a:solidFill>
                                    <a:latin typeface="Cambria Math"/>
                                  </a:rPr>
                                  <m:t>)</m:t>
                                </m:r>
                              </m:num>
                              <m:den>
                                <m:r>
                                  <a:rPr lang="en-US" altLang="en-US" sz="1600" b="0" i="1" smtClean="0">
                                    <a:solidFill>
                                      <a:srgbClr val="000000"/>
                                    </a:solidFill>
                                    <a:latin typeface="Cambria Math"/>
                                  </a:rPr>
                                  <m:t>𝑛</m:t>
                                </m:r>
                              </m:den>
                            </m:f>
                          </m:e>
                        </m:rad>
                      </m:oMath>
                    </m:oMathPara>
                  </a14:m>
                  <a:endParaRPr lang="en-US" altLang="en-US" sz="1600" i="1" dirty="0">
                    <a:solidFill>
                      <a:srgbClr val="000000"/>
                    </a:solidFill>
                  </a:endParaRPr>
                </a:p>
                <a:p>
                  <a:pPr eaLnBrk="1" hangingPunct="1">
                    <a:spcBef>
                      <a:spcPct val="0"/>
                    </a:spcBef>
                    <a:spcAft>
                      <a:spcPts val="1200"/>
                    </a:spcAft>
                    <a:buClrTx/>
                    <a:buSzTx/>
                    <a:buFontTx/>
                    <a:buNone/>
                    <a:defRPr/>
                  </a:pPr>
                  <a:r>
                    <a:rPr lang="en-US" altLang="en-US" sz="1600" i="1" dirty="0">
                      <a:solidFill>
                        <a:srgbClr val="000000"/>
                      </a:solidFill>
                    </a:rPr>
                    <a:t>	</a:t>
                  </a:r>
                  <a:r>
                    <a:rPr lang="en-US" altLang="en-US" sz="1600" dirty="0">
                      <a:solidFill>
                        <a:srgbClr val="000000"/>
                      </a:solidFill>
                    </a:rPr>
                    <a:t>For large n, </a:t>
                  </a:r>
                  <a14:m>
                    <m:oMath xmlns:m="http://schemas.openxmlformats.org/officeDocument/2006/math">
                      <m:acc>
                        <m:accPr>
                          <m:chr m:val="̂"/>
                          <m:ctrlPr>
                            <a:rPr lang="en-US" altLang="en-US" sz="1600" i="1" smtClean="0">
                              <a:solidFill>
                                <a:srgbClr val="000000"/>
                              </a:solidFill>
                              <a:latin typeface="Cambria Math" panose="02040503050406030204" pitchFamily="18" charset="0"/>
                            </a:rPr>
                          </m:ctrlPr>
                        </m:accPr>
                        <m:e>
                          <m:r>
                            <a:rPr lang="en-US" altLang="en-US" sz="1600" b="0" i="1" smtClean="0">
                              <a:solidFill>
                                <a:srgbClr val="000000"/>
                              </a:solidFill>
                              <a:latin typeface="Cambria Math"/>
                            </a:rPr>
                            <m:t>𝑝</m:t>
                          </m:r>
                        </m:e>
                      </m:acc>
                    </m:oMath>
                  </a14:m>
                  <a:r>
                    <a:rPr lang="en-US" altLang="en-US" sz="1600" dirty="0">
                      <a:solidFill>
                        <a:srgbClr val="000000"/>
                      </a:solidFill>
                    </a:rPr>
                    <a:t> has approximately the </a:t>
                  </a:r>
                  <a14:m>
                    <m:oMath xmlns:m="http://schemas.openxmlformats.org/officeDocument/2006/math">
                      <m:r>
                        <a:rPr lang="en-US" altLang="en-US" sz="1600" b="0" i="1" smtClean="0">
                          <a:solidFill>
                            <a:srgbClr val="000000"/>
                          </a:solidFill>
                          <a:latin typeface="Cambria Math"/>
                        </a:rPr>
                        <m:t>𝑁</m:t>
                      </m:r>
                      <m:r>
                        <a:rPr lang="en-US" altLang="en-US" sz="1600" b="0" i="1" smtClean="0">
                          <a:solidFill>
                            <a:srgbClr val="000000"/>
                          </a:solidFill>
                          <a:latin typeface="Cambria Math"/>
                        </a:rPr>
                        <m:t>(</m:t>
                      </m:r>
                      <m:r>
                        <a:rPr lang="en-US" altLang="en-US" sz="1600" b="0" i="1" smtClean="0">
                          <a:solidFill>
                            <a:srgbClr val="000000"/>
                          </a:solidFill>
                          <a:latin typeface="Cambria Math"/>
                        </a:rPr>
                        <m:t>𝑝</m:t>
                      </m:r>
                      <m:r>
                        <a:rPr lang="en-US" altLang="en-US" sz="1600" b="0" i="1" smtClean="0">
                          <a:solidFill>
                            <a:srgbClr val="000000"/>
                          </a:solidFill>
                          <a:latin typeface="Cambria Math"/>
                        </a:rPr>
                        <m:t>,</m:t>
                      </m:r>
                      <m:rad>
                        <m:radPr>
                          <m:degHide m:val="on"/>
                          <m:ctrlPr>
                            <a:rPr lang="en-US" altLang="en-US" sz="1600" b="0" i="1" smtClean="0">
                              <a:solidFill>
                                <a:srgbClr val="000000"/>
                              </a:solidFill>
                              <a:latin typeface="Cambria Math" panose="02040503050406030204" pitchFamily="18" charset="0"/>
                            </a:rPr>
                          </m:ctrlPr>
                        </m:radPr>
                        <m:deg/>
                        <m:e>
                          <m:r>
                            <a:rPr lang="en-US" altLang="en-US" sz="1600" b="0" i="1" smtClean="0">
                              <a:solidFill>
                                <a:srgbClr val="000000"/>
                              </a:solidFill>
                              <a:latin typeface="Cambria Math"/>
                            </a:rPr>
                            <m:t>𝑝</m:t>
                          </m:r>
                          <m:r>
                            <a:rPr lang="en-US" altLang="en-US" sz="1600" b="0" i="1" smtClean="0">
                              <a:solidFill>
                                <a:srgbClr val="000000"/>
                              </a:solidFill>
                              <a:latin typeface="Cambria Math"/>
                            </a:rPr>
                            <m:t>(1−</m:t>
                          </m:r>
                          <m:r>
                            <a:rPr lang="en-US" altLang="en-US" sz="1600" b="0" i="1" smtClean="0">
                              <a:solidFill>
                                <a:srgbClr val="000000"/>
                              </a:solidFill>
                              <a:latin typeface="Cambria Math"/>
                            </a:rPr>
                            <m:t>𝑝</m:t>
                          </m:r>
                          <m:r>
                            <a:rPr lang="en-US" altLang="en-US" sz="1600" b="0" i="1" smtClean="0">
                              <a:solidFill>
                                <a:srgbClr val="000000"/>
                              </a:solidFill>
                              <a:latin typeface="Cambria Math"/>
                            </a:rPr>
                            <m:t>)/</m:t>
                          </m:r>
                          <m:r>
                            <a:rPr lang="en-US" altLang="en-US" sz="1600" b="0" i="1" smtClean="0">
                              <a:solidFill>
                                <a:srgbClr val="000000"/>
                              </a:solidFill>
                              <a:latin typeface="Cambria Math"/>
                            </a:rPr>
                            <m:t>𝑛</m:t>
                          </m:r>
                        </m:e>
                      </m:rad>
                    </m:oMath>
                  </a14:m>
                  <a:r>
                    <a:rPr lang="en-US" altLang="en-US" sz="1600" i="1" dirty="0">
                      <a:solidFill>
                        <a:srgbClr val="000000"/>
                      </a:solidFill>
                    </a:rPr>
                    <a:t> </a:t>
                  </a:r>
                  <a:r>
                    <a:rPr lang="en-US" altLang="en-US" sz="1600" dirty="0">
                      <a:solidFill>
                        <a:srgbClr val="000000"/>
                      </a:solidFill>
                    </a:rPr>
                    <a:t>distribution.</a:t>
                  </a:r>
                  <a:endParaRPr lang="en-US" altLang="en-US" sz="1600" i="1" dirty="0">
                    <a:solidFill>
                      <a:srgbClr val="000000"/>
                    </a:solidFill>
                  </a:endParaRPr>
                </a:p>
                <a:p>
                  <a:pPr eaLnBrk="1" hangingPunct="1">
                    <a:spcBef>
                      <a:spcPct val="0"/>
                    </a:spcBef>
                    <a:spcAft>
                      <a:spcPts val="1200"/>
                    </a:spcAft>
                    <a:buClrTx/>
                    <a:buSzTx/>
                    <a:buFontTx/>
                    <a:buNone/>
                    <a:defRPr/>
                  </a:pPr>
                  <a:r>
                    <a:rPr lang="en-US" altLang="en-US" sz="1600" dirty="0">
                      <a:solidFill>
                        <a:srgbClr val="000000"/>
                      </a:solidFill>
                    </a:rPr>
                    <a:t>	As </a:t>
                  </a:r>
                  <a:r>
                    <a:rPr lang="en-US" altLang="en-US" sz="1600" i="1" dirty="0">
                      <a:solidFill>
                        <a:srgbClr val="000000"/>
                      </a:solidFill>
                    </a:rPr>
                    <a:t>n</a:t>
                  </a:r>
                  <a:r>
                    <a:rPr lang="en-US" altLang="en-US" sz="1600" dirty="0">
                      <a:solidFill>
                        <a:srgbClr val="000000"/>
                      </a:solidFill>
                    </a:rPr>
                    <a:t> increases, the sampling distribution becomes </a:t>
                  </a:r>
                  <a:r>
                    <a:rPr lang="en-US" altLang="en-US" sz="1600" b="1" dirty="0">
                      <a:solidFill>
                        <a:srgbClr val="000000"/>
                      </a:solidFill>
                    </a:rPr>
                    <a:t>approximately Normal</a:t>
                  </a:r>
                  <a:r>
                    <a:rPr lang="en-US" altLang="en-US" sz="1600" dirty="0">
                      <a:solidFill>
                        <a:srgbClr val="000000"/>
                      </a:solidFill>
                    </a:rPr>
                    <a:t>.</a:t>
                  </a:r>
                </a:p>
              </p:txBody>
            </p:sp>
          </mc:Choice>
          <mc:Fallback xmlns="">
            <p:sp>
              <p:nvSpPr>
                <p:cNvPr id="23" name="TextBox 22"/>
                <p:cNvSpPr txBox="1">
                  <a:spLocks noRot="1" noChangeAspect="1" noMove="1" noResize="1" noEditPoints="1" noAdjustHandles="1" noChangeArrowheads="1" noChangeShapeType="1" noTextEdit="1"/>
                </p:cNvSpPr>
                <p:nvPr/>
              </p:nvSpPr>
              <p:spPr bwMode="auto">
                <a:xfrm>
                  <a:off x="-242149" y="5224427"/>
                  <a:ext cx="8422734" cy="3122676"/>
                </a:xfrm>
                <a:prstGeom prst="rect">
                  <a:avLst/>
                </a:prstGeom>
                <a:blipFill rotWithShape="0">
                  <a:blip r:embed="rId7"/>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grpSp>
      <p:pic>
        <p:nvPicPr>
          <p:cNvPr id="19" name="Picture 18" descr="A population has proportion p. Many S R S’s of size n are taken from the population, and their p hats are collected. A normal distribution curve representing values of p hat is then shown. It has mean p and a standard deviation of square root of start fraction p left parenthesis 1 minus p right parenthesis over n end fraction."/>
          <p:cNvPicPr>
            <a:picLocks noChangeAspect="1"/>
          </p:cNvPicPr>
          <p:nvPr/>
        </p:nvPicPr>
        <p:blipFill>
          <a:blip r:embed="rId8">
            <a:extLst>
              <a:ext uri="{28A0092B-C50C-407E-A947-70E740481C1C}">
                <a14:useLocalDpi xmlns:a14="http://schemas.microsoft.com/office/drawing/2010/main" val="0"/>
              </a:ext>
            </a:extLst>
          </a:blip>
          <a:stretch>
            <a:fillRect/>
          </a:stretch>
        </p:blipFill>
        <p:spPr bwMode="auto">
          <a:xfrm>
            <a:off x="84814" y="3298369"/>
            <a:ext cx="8972560" cy="2732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5684283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7355"/>
                                        </p:tgtEl>
                                        <p:attrNameLst>
                                          <p:attrName>style.visibility</p:attrName>
                                        </p:attrNameLst>
                                      </p:cBhvr>
                                      <p:to>
                                        <p:strVal val="visible"/>
                                      </p:to>
                                    </p:set>
                                    <p:animEffect transition="in" filter="fade">
                                      <p:cBhvr>
                                        <p:cTn id="7" dur="500"/>
                                        <p:tgtEl>
                                          <p:spTgt spid="57355"/>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iterate type="lt">
                                    <p:tmPct val="5000"/>
                                  </p:iterate>
                                  <p:childTnLst>
                                    <p:set>
                                      <p:cBhvr>
                                        <p:cTn id="11" dur="1" fill="hold">
                                          <p:stCondLst>
                                            <p:cond delay="0"/>
                                          </p:stCondLst>
                                        </p:cTn>
                                        <p:tgtEl>
                                          <p:spTgt spid="19"/>
                                        </p:tgtEl>
                                        <p:attrNameLst>
                                          <p:attrName>style.visibility</p:attrName>
                                        </p:attrNameLst>
                                      </p:cBhvr>
                                      <p:to>
                                        <p:strVal val="visible"/>
                                      </p:to>
                                    </p:set>
                                    <p:anim calcmode="lin" valueType="num">
                                      <p:cBhvr>
                                        <p:cTn id="12" dur="1000" fill="hold"/>
                                        <p:tgtEl>
                                          <p:spTgt spid="19"/>
                                        </p:tgtEl>
                                        <p:attrNameLst>
                                          <p:attrName>ppt_w</p:attrName>
                                        </p:attrNameLst>
                                      </p:cBhvr>
                                      <p:tavLst>
                                        <p:tav tm="0">
                                          <p:val>
                                            <p:fltVal val="0"/>
                                          </p:val>
                                        </p:tav>
                                        <p:tav tm="100000">
                                          <p:val>
                                            <p:strVal val="#ppt_w"/>
                                          </p:val>
                                        </p:tav>
                                      </p:tavLst>
                                    </p:anim>
                                    <p:anim calcmode="lin" valueType="num">
                                      <p:cBhvr>
                                        <p:cTn id="13" dur="1000" fill="hold"/>
                                        <p:tgtEl>
                                          <p:spTgt spid="19"/>
                                        </p:tgtEl>
                                        <p:attrNameLst>
                                          <p:attrName>ppt_h</p:attrName>
                                        </p:attrNameLst>
                                      </p:cBhvr>
                                      <p:tavLst>
                                        <p:tav tm="0">
                                          <p:val>
                                            <p:fltVal val="0"/>
                                          </p:val>
                                        </p:tav>
                                        <p:tav tm="100000">
                                          <p:val>
                                            <p:strVal val="#ppt_h"/>
                                          </p:val>
                                        </p:tav>
                                      </p:tavLst>
                                    </p:anim>
                                    <p:anim calcmode="lin" valueType="num">
                                      <p:cBhvr>
                                        <p:cTn id="14" dur="1000" fill="hold"/>
                                        <p:tgtEl>
                                          <p:spTgt spid="19"/>
                                        </p:tgtEl>
                                        <p:attrNameLst>
                                          <p:attrName>style.rotation</p:attrName>
                                        </p:attrNameLst>
                                      </p:cBhvr>
                                      <p:tavLst>
                                        <p:tav tm="0">
                                          <p:val>
                                            <p:fltVal val="90"/>
                                          </p:val>
                                        </p:tav>
                                        <p:tav tm="100000">
                                          <p:val>
                                            <p:fltVal val="0"/>
                                          </p:val>
                                        </p:tav>
                                      </p:tavLst>
                                    </p:anim>
                                    <p:animEffect transition="in" filter="fade">
                                      <p:cBhvr>
                                        <p:cTn id="15"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p:txBody>
          <a:bodyPr/>
          <a:lstStyle/>
          <a:p>
            <a:pPr eaLnBrk="1" hangingPunct="1"/>
            <a:r>
              <a:rPr lang="en-US" altLang="en-US">
                <a:ea typeface="ＭＳ Ｐゴシック" pitchFamily="34" charset="-128"/>
              </a:rPr>
              <a:t>Binomial Formula</a:t>
            </a:r>
          </a:p>
        </p:txBody>
      </p:sp>
      <p:sp>
        <p:nvSpPr>
          <p:cNvPr id="583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44A6692A-62F7-4237-BFCB-EA40D248D148}" type="slidenum">
              <a:rPr lang="en-US" altLang="en-US" sz="1200">
                <a:solidFill>
                  <a:schemeClr val="accent1"/>
                </a:solidFill>
              </a:rPr>
              <a:pPr>
                <a:lnSpc>
                  <a:spcPct val="80000"/>
                </a:lnSpc>
              </a:pPr>
              <a:t>27</a:t>
            </a:fld>
            <a:endParaRPr lang="en-US" altLang="en-US" sz="1200">
              <a:solidFill>
                <a:schemeClr val="accent1"/>
              </a:solidFill>
            </a:endParaRPr>
          </a:p>
        </p:txBody>
      </p:sp>
      <p:sp>
        <p:nvSpPr>
          <p:cNvPr id="58372" name="TextBox 2"/>
          <p:cNvSpPr txBox="1">
            <a:spLocks noChangeArrowheads="1"/>
          </p:cNvSpPr>
          <p:nvPr/>
        </p:nvSpPr>
        <p:spPr bwMode="auto">
          <a:xfrm>
            <a:off x="197644" y="1292237"/>
            <a:ext cx="8058944"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a:buFont typeface="Wingdings" pitchFamily="2" charset="2"/>
              <a:buNone/>
            </a:pPr>
            <a:r>
              <a:rPr lang="en-US" altLang="en-US" dirty="0">
                <a:solidFill>
                  <a:schemeClr val="tx1"/>
                </a:solidFill>
              </a:rPr>
              <a:t>Here, we justify the expression given previously for the binomial distribution. First, we can find the chance that a binomial random variable takes any value by </a:t>
            </a:r>
            <a:r>
              <a:rPr lang="en-US" altLang="en-US" i="1" dirty="0">
                <a:solidFill>
                  <a:schemeClr val="tx1"/>
                </a:solidFill>
              </a:rPr>
              <a:t>adding probabilities for the different ways of getting exactly that many successes in n observations</a:t>
            </a:r>
            <a:r>
              <a:rPr lang="en-US" altLang="en-US" dirty="0">
                <a:solidFill>
                  <a:schemeClr val="tx1"/>
                </a:solidFill>
              </a:rPr>
              <a:t>.</a:t>
            </a:r>
            <a:endParaRPr lang="en-US" altLang="en-US" i="1" dirty="0">
              <a:solidFill>
                <a:schemeClr val="tx1"/>
              </a:solidFill>
            </a:endParaRPr>
          </a:p>
        </p:txBody>
      </p:sp>
      <p:sp>
        <p:nvSpPr>
          <p:cNvPr id="8" name="TextBox 7"/>
          <p:cNvSpPr txBox="1">
            <a:spLocks noChangeArrowheads="1"/>
          </p:cNvSpPr>
          <p:nvPr/>
        </p:nvSpPr>
        <p:spPr bwMode="auto">
          <a:xfrm>
            <a:off x="317032" y="3039376"/>
            <a:ext cx="7939556" cy="707886"/>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dirty="0" smtClean="0">
                <a:solidFill>
                  <a:schemeClr val="tx1"/>
                </a:solidFill>
              </a:rPr>
              <a:t>The number of ways of arranging </a:t>
            </a:r>
            <a:r>
              <a:rPr lang="en-US" altLang="en-US" i="1" dirty="0">
                <a:solidFill>
                  <a:schemeClr val="tx1"/>
                </a:solidFill>
              </a:rPr>
              <a:t>k</a:t>
            </a:r>
            <a:r>
              <a:rPr lang="en-US" altLang="en-US" dirty="0">
                <a:solidFill>
                  <a:schemeClr val="tx1"/>
                </a:solidFill>
              </a:rPr>
              <a:t> successes among </a:t>
            </a:r>
            <a:r>
              <a:rPr lang="en-US" altLang="en-US" i="1" dirty="0">
                <a:solidFill>
                  <a:schemeClr val="tx1"/>
                </a:solidFill>
              </a:rPr>
              <a:t>n</a:t>
            </a:r>
            <a:r>
              <a:rPr lang="en-US" altLang="en-US" dirty="0">
                <a:solidFill>
                  <a:schemeClr val="tx1"/>
                </a:solidFill>
              </a:rPr>
              <a:t> observations is given by the </a:t>
            </a:r>
            <a:r>
              <a:rPr lang="en-US" altLang="en-US" b="1" dirty="0">
                <a:solidFill>
                  <a:schemeClr val="tx1"/>
                </a:solidFill>
              </a:rPr>
              <a:t>binomial </a:t>
            </a:r>
            <a:r>
              <a:rPr lang="en-US" altLang="en-US" b="1" dirty="0" smtClean="0">
                <a:solidFill>
                  <a:schemeClr val="tx1"/>
                </a:solidFill>
              </a:rPr>
              <a:t>coefficient</a:t>
            </a:r>
            <a:endParaRPr lang="en-US" altLang="en-US" dirty="0">
              <a:solidFill>
                <a:schemeClr val="tx1"/>
              </a:solidFill>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1585556851"/>
              </p:ext>
            </p:extLst>
          </p:nvPr>
        </p:nvGraphicFramePr>
        <p:xfrm>
          <a:off x="3540124" y="3786908"/>
          <a:ext cx="1699915" cy="767035"/>
        </p:xfrm>
        <a:graphic>
          <a:graphicData uri="http://schemas.openxmlformats.org/presentationml/2006/ole">
            <mc:AlternateContent xmlns:mc="http://schemas.openxmlformats.org/markup-compatibility/2006">
              <mc:Choice xmlns:v="urn:schemas-microsoft-com:vml" Requires="v">
                <p:oleObj spid="_x0000_s72707" name="Equation" r:id="rId4" imgW="1041120" imgH="469800" progId="Equation.DSMT4">
                  <p:embed/>
                </p:oleObj>
              </mc:Choice>
              <mc:Fallback>
                <p:oleObj name="Equation" r:id="rId4" imgW="1041120" imgH="469800" progId="Equation.DSMT4">
                  <p:embed/>
                  <p:pic>
                    <p:nvPicPr>
                      <p:cNvPr id="0" name=""/>
                      <p:cNvPicPr/>
                      <p:nvPr/>
                    </p:nvPicPr>
                    <p:blipFill>
                      <a:blip r:embed="rId5"/>
                      <a:stretch>
                        <a:fillRect/>
                      </a:stretch>
                    </p:blipFill>
                    <p:spPr>
                      <a:xfrm>
                        <a:off x="3540124" y="3786908"/>
                        <a:ext cx="1699915" cy="767035"/>
                      </a:xfrm>
                      <a:prstGeom prst="rect">
                        <a:avLst/>
                      </a:prstGeom>
                      <a:solidFill>
                        <a:srgbClr val="FFD780"/>
                      </a:solidFill>
                    </p:spPr>
                  </p:pic>
                </p:oleObj>
              </mc:Fallback>
            </mc:AlternateContent>
          </a:graphicData>
        </a:graphic>
      </p:graphicFrame>
      <p:sp>
        <p:nvSpPr>
          <p:cNvPr id="7" name="TextBox 6"/>
          <p:cNvSpPr txBox="1">
            <a:spLocks noChangeArrowheads="1"/>
          </p:cNvSpPr>
          <p:nvPr/>
        </p:nvSpPr>
        <p:spPr bwMode="auto">
          <a:xfrm>
            <a:off x="317032" y="4622152"/>
            <a:ext cx="7939556" cy="400110"/>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ts val="1200"/>
              </a:spcBef>
              <a:spcAft>
                <a:spcPts val="0"/>
              </a:spcAft>
              <a:buClrTx/>
              <a:buSzTx/>
              <a:buFontTx/>
              <a:buNone/>
              <a:defRPr/>
            </a:pPr>
            <a:r>
              <a:rPr lang="en-US" altLang="en-US" b="1" dirty="0" smtClean="0">
                <a:solidFill>
                  <a:schemeClr val="tx1"/>
                </a:solidFill>
                <a:highlight>
                  <a:srgbClr val="FFFF00"/>
                </a:highlight>
              </a:rPr>
              <a:t>Note</a:t>
            </a:r>
            <a:r>
              <a:rPr lang="en-US" altLang="en-US" b="1" dirty="0">
                <a:solidFill>
                  <a:schemeClr val="tx1"/>
                </a:solidFill>
                <a:highlight>
                  <a:srgbClr val="FFFF00"/>
                </a:highlight>
              </a:rPr>
              <a:t>:</a:t>
            </a:r>
            <a:r>
              <a:rPr lang="en-US" altLang="en-US" b="1" dirty="0">
                <a:solidFill>
                  <a:schemeClr val="tx1"/>
                </a:solidFill>
              </a:rPr>
              <a:t> </a:t>
            </a:r>
            <a:r>
              <a:rPr lang="en-US" altLang="en-US" i="1" dirty="0">
                <a:solidFill>
                  <a:schemeClr val="tx1"/>
                </a:solidFill>
              </a:rPr>
              <a:t>n</a:t>
            </a:r>
            <a:r>
              <a:rPr lang="en-US" altLang="en-US" dirty="0">
                <a:solidFill>
                  <a:schemeClr val="tx1"/>
                </a:solidFill>
              </a:rPr>
              <a:t>! = </a:t>
            </a:r>
            <a:r>
              <a:rPr lang="en-US" altLang="en-US" i="1" dirty="0">
                <a:solidFill>
                  <a:schemeClr val="tx1"/>
                </a:solidFill>
              </a:rPr>
              <a:t>n</a:t>
            </a:r>
            <a:r>
              <a:rPr lang="en-US" altLang="en-US" dirty="0">
                <a:solidFill>
                  <a:schemeClr val="tx1"/>
                </a:solidFill>
              </a:rPr>
              <a:t>(</a:t>
            </a:r>
            <a:r>
              <a:rPr lang="en-US" altLang="en-US" i="1" dirty="0">
                <a:solidFill>
                  <a:schemeClr val="tx1"/>
                </a:solidFill>
              </a:rPr>
              <a:t>n – </a:t>
            </a:r>
            <a:r>
              <a:rPr lang="en-US" altLang="en-US" dirty="0">
                <a:solidFill>
                  <a:schemeClr val="tx1"/>
                </a:solidFill>
              </a:rPr>
              <a:t>1)(</a:t>
            </a:r>
            <a:r>
              <a:rPr lang="en-US" altLang="en-US" i="1" dirty="0">
                <a:solidFill>
                  <a:schemeClr val="tx1"/>
                </a:solidFill>
              </a:rPr>
              <a:t>n</a:t>
            </a:r>
            <a:r>
              <a:rPr lang="en-US" altLang="en-US" dirty="0">
                <a:solidFill>
                  <a:schemeClr val="tx1"/>
                </a:solidFill>
              </a:rPr>
              <a:t> – 2) </a:t>
            </a:r>
            <a:r>
              <a:rPr lang="en-US" altLang="en-US" i="1" dirty="0">
                <a:solidFill>
                  <a:schemeClr val="tx1"/>
                </a:solidFill>
              </a:rPr>
              <a:t>• . . . • </a:t>
            </a:r>
            <a:r>
              <a:rPr lang="en-US" altLang="en-US" dirty="0">
                <a:solidFill>
                  <a:schemeClr val="tx1"/>
                </a:solidFill>
              </a:rPr>
              <a:t>(3)(2)(1)</a:t>
            </a:r>
            <a:r>
              <a:rPr lang="en-US" altLang="en-US" i="1" dirty="0">
                <a:solidFill>
                  <a:schemeClr val="tx1"/>
                </a:solidFill>
              </a:rPr>
              <a:t> </a:t>
            </a:r>
            <a:r>
              <a:rPr lang="en-US" altLang="en-US" dirty="0">
                <a:solidFill>
                  <a:schemeClr val="tx1"/>
                </a:solidFill>
              </a:rPr>
              <a:t>and 0! = 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9" name="Rectangle 19"/>
          <p:cNvSpPr>
            <a:spLocks noGrp="1" noChangeArrowheads="1"/>
          </p:cNvSpPr>
          <p:nvPr>
            <p:ph type="title"/>
          </p:nvPr>
        </p:nvSpPr>
        <p:spPr>
          <a:xfrm>
            <a:off x="174625" y="153988"/>
            <a:ext cx="6425406" cy="777240"/>
          </a:xfrm>
        </p:spPr>
        <p:txBody>
          <a:bodyPr/>
          <a:lstStyle/>
          <a:p>
            <a:pPr eaLnBrk="1" hangingPunct="1"/>
            <a:r>
              <a:rPr lang="en-US" altLang="en-US" dirty="0">
                <a:ea typeface="ＭＳ Ｐゴシック" pitchFamily="34" charset="-128"/>
              </a:rPr>
              <a:t>Binomial Probability</a:t>
            </a:r>
            <a:r>
              <a:rPr lang="en-US" altLang="en-US" sz="2000" dirty="0">
                <a:ea typeface="ＭＳ Ｐゴシック" pitchFamily="34" charset="-128"/>
              </a:rPr>
              <a:t> (1 of 2)</a:t>
            </a:r>
          </a:p>
        </p:txBody>
      </p:sp>
      <p:sp>
        <p:nvSpPr>
          <p:cNvPr id="6041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230BAA73-1D7B-4EDE-B1DD-3466515B91C0}" type="slidenum">
              <a:rPr lang="en-US" altLang="en-US" sz="1200">
                <a:solidFill>
                  <a:schemeClr val="accent1"/>
                </a:solidFill>
              </a:rPr>
              <a:pPr>
                <a:lnSpc>
                  <a:spcPct val="80000"/>
                </a:lnSpc>
              </a:pPr>
              <a:t>28</a:t>
            </a:fld>
            <a:endParaRPr lang="en-US" altLang="en-US" sz="1200">
              <a:solidFill>
                <a:schemeClr val="accent1"/>
              </a:solidFill>
            </a:endParaRPr>
          </a:p>
        </p:txBody>
      </p:sp>
      <p:sp>
        <p:nvSpPr>
          <p:cNvPr id="60420" name="TextBox 1"/>
          <p:cNvSpPr txBox="1">
            <a:spLocks noChangeArrowheads="1"/>
          </p:cNvSpPr>
          <p:nvPr/>
        </p:nvSpPr>
        <p:spPr bwMode="auto">
          <a:xfrm>
            <a:off x="179387" y="1181265"/>
            <a:ext cx="8301037"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a:buFont typeface="Wingdings" pitchFamily="2" charset="2"/>
              <a:buNone/>
            </a:pPr>
            <a:r>
              <a:rPr lang="en-US" altLang="en-US" dirty="0">
                <a:solidFill>
                  <a:srgbClr val="000000"/>
                </a:solidFill>
              </a:rPr>
              <a:t>The binomial coefficient counts the number of different ways in which </a:t>
            </a:r>
            <a:r>
              <a:rPr lang="en-US" altLang="en-US" i="1" dirty="0">
                <a:solidFill>
                  <a:srgbClr val="000000"/>
                </a:solidFill>
              </a:rPr>
              <a:t>k</a:t>
            </a:r>
            <a:r>
              <a:rPr lang="en-US" altLang="en-US" dirty="0">
                <a:solidFill>
                  <a:srgbClr val="000000"/>
                </a:solidFill>
              </a:rPr>
              <a:t> successes can be arranged among </a:t>
            </a:r>
            <a:r>
              <a:rPr lang="en-US" altLang="en-US" i="1" dirty="0">
                <a:solidFill>
                  <a:srgbClr val="000000"/>
                </a:solidFill>
              </a:rPr>
              <a:t>n</a:t>
            </a:r>
            <a:r>
              <a:rPr lang="en-US" altLang="en-US" dirty="0">
                <a:solidFill>
                  <a:srgbClr val="000000"/>
                </a:solidFill>
              </a:rPr>
              <a:t> trials. The binomial probability </a:t>
            </a:r>
          </a:p>
          <a:p>
            <a:pPr algn="just">
              <a:buFont typeface="Wingdings" pitchFamily="2" charset="2"/>
              <a:buNone/>
            </a:pPr>
            <a:r>
              <a:rPr lang="en-US" altLang="en-US" i="1" dirty="0">
                <a:solidFill>
                  <a:srgbClr val="000000"/>
                </a:solidFill>
              </a:rPr>
              <a:t>P</a:t>
            </a:r>
            <a:r>
              <a:rPr lang="en-US" altLang="en-US" dirty="0">
                <a:solidFill>
                  <a:srgbClr val="000000"/>
                </a:solidFill>
              </a:rPr>
              <a:t>(</a:t>
            </a:r>
            <a:r>
              <a:rPr lang="en-US" altLang="en-US" i="1" dirty="0">
                <a:solidFill>
                  <a:srgbClr val="000000"/>
                </a:solidFill>
              </a:rPr>
              <a:t>X</a:t>
            </a:r>
            <a:r>
              <a:rPr lang="en-US" altLang="en-US" dirty="0">
                <a:solidFill>
                  <a:srgbClr val="000000"/>
                </a:solidFill>
              </a:rPr>
              <a:t> = </a:t>
            </a:r>
            <a:r>
              <a:rPr lang="en-US" altLang="en-US" i="1" dirty="0">
                <a:solidFill>
                  <a:srgbClr val="000000"/>
                </a:solidFill>
              </a:rPr>
              <a:t>k</a:t>
            </a:r>
            <a:r>
              <a:rPr lang="en-US" altLang="en-US" dirty="0">
                <a:solidFill>
                  <a:srgbClr val="000000"/>
                </a:solidFill>
              </a:rPr>
              <a:t>) is this count multiplied by the probability of any one specific arrangement of the </a:t>
            </a:r>
            <a:r>
              <a:rPr lang="en-US" altLang="en-US" i="1" dirty="0">
                <a:solidFill>
                  <a:srgbClr val="000000"/>
                </a:solidFill>
              </a:rPr>
              <a:t>k</a:t>
            </a:r>
            <a:r>
              <a:rPr lang="en-US" altLang="en-US" dirty="0">
                <a:solidFill>
                  <a:srgbClr val="000000"/>
                </a:solidFill>
              </a:rPr>
              <a:t> successes.</a:t>
            </a:r>
            <a:endParaRPr lang="en-US" altLang="en-US" sz="3600" dirty="0">
              <a:solidFill>
                <a:srgbClr val="000000"/>
              </a:solidFill>
            </a:endParaRPr>
          </a:p>
        </p:txBody>
      </p:sp>
      <p:sp>
        <p:nvSpPr>
          <p:cNvPr id="8" name="TextBox 7"/>
          <p:cNvSpPr txBox="1">
            <a:spLocks noChangeArrowheads="1"/>
          </p:cNvSpPr>
          <p:nvPr/>
        </p:nvSpPr>
        <p:spPr bwMode="auto">
          <a:xfrm>
            <a:off x="2516981" y="3054433"/>
            <a:ext cx="4083050" cy="400110"/>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sz="2000" b="1" dirty="0">
                <a:solidFill>
                  <a:srgbClr val="FF0000"/>
                </a:solidFill>
                <a:highlight>
                  <a:srgbClr val="FFFF00"/>
                </a:highlight>
                <a:latin typeface="+mn-lt"/>
                <a:ea typeface="+mn-ea"/>
              </a:rPr>
              <a:t>Binomial Probability</a:t>
            </a:r>
          </a:p>
        </p:txBody>
      </p:sp>
      <p:sp>
        <p:nvSpPr>
          <p:cNvPr id="7" name="TextBox 6"/>
          <p:cNvSpPr txBox="1">
            <a:spLocks noChangeArrowheads="1"/>
          </p:cNvSpPr>
          <p:nvPr/>
        </p:nvSpPr>
        <p:spPr bwMode="auto">
          <a:xfrm>
            <a:off x="636588" y="3419475"/>
            <a:ext cx="7843837" cy="1878013"/>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just" eaLnBrk="1" hangingPunct="1">
              <a:spcBef>
                <a:spcPct val="0"/>
              </a:spcBef>
              <a:spcAft>
                <a:spcPts val="1200"/>
              </a:spcAft>
              <a:buClrTx/>
              <a:buSzTx/>
              <a:buFontTx/>
              <a:buNone/>
              <a:defRPr/>
            </a:pPr>
            <a:r>
              <a:rPr lang="en-US" altLang="en-US" dirty="0">
                <a:solidFill>
                  <a:srgbClr val="000000"/>
                </a:solidFill>
              </a:rPr>
              <a:t>If </a:t>
            </a:r>
            <a:r>
              <a:rPr lang="en-US" altLang="en-US" i="1" dirty="0">
                <a:solidFill>
                  <a:srgbClr val="000000"/>
                </a:solidFill>
              </a:rPr>
              <a:t>X</a:t>
            </a:r>
            <a:r>
              <a:rPr lang="en-US" altLang="en-US" dirty="0">
                <a:solidFill>
                  <a:srgbClr val="000000"/>
                </a:solidFill>
              </a:rPr>
              <a:t> has the binomial distribution with </a:t>
            </a:r>
            <a:r>
              <a:rPr lang="en-US" altLang="en-US" i="1" dirty="0">
                <a:solidFill>
                  <a:srgbClr val="000000"/>
                </a:solidFill>
              </a:rPr>
              <a:t>n</a:t>
            </a:r>
            <a:r>
              <a:rPr lang="en-US" altLang="en-US" dirty="0">
                <a:solidFill>
                  <a:srgbClr val="000000"/>
                </a:solidFill>
              </a:rPr>
              <a:t> trials and probability </a:t>
            </a:r>
            <a:r>
              <a:rPr lang="en-US" altLang="en-US" i="1" dirty="0">
                <a:solidFill>
                  <a:srgbClr val="000000"/>
                </a:solidFill>
              </a:rPr>
              <a:t>p</a:t>
            </a:r>
            <a:r>
              <a:rPr lang="en-US" altLang="en-US" dirty="0">
                <a:solidFill>
                  <a:srgbClr val="000000"/>
                </a:solidFill>
              </a:rPr>
              <a:t> of success on each trial, the possible values of </a:t>
            </a:r>
            <a:r>
              <a:rPr lang="en-US" altLang="en-US" i="1" dirty="0">
                <a:solidFill>
                  <a:srgbClr val="000000"/>
                </a:solidFill>
              </a:rPr>
              <a:t>X</a:t>
            </a:r>
            <a:r>
              <a:rPr lang="en-US" altLang="en-US" dirty="0">
                <a:solidFill>
                  <a:srgbClr val="000000"/>
                </a:solidFill>
              </a:rPr>
              <a:t> are 0, 1, 2, . . . , </a:t>
            </a:r>
            <a:r>
              <a:rPr lang="en-US" altLang="en-US" i="1" dirty="0">
                <a:solidFill>
                  <a:srgbClr val="000000"/>
                </a:solidFill>
              </a:rPr>
              <a:t>n</a:t>
            </a:r>
            <a:r>
              <a:rPr lang="en-US" altLang="en-US" dirty="0">
                <a:solidFill>
                  <a:srgbClr val="000000"/>
                </a:solidFill>
              </a:rPr>
              <a:t>. If </a:t>
            </a:r>
            <a:r>
              <a:rPr lang="en-US" altLang="en-US" i="1" dirty="0">
                <a:solidFill>
                  <a:srgbClr val="000000"/>
                </a:solidFill>
              </a:rPr>
              <a:t>k</a:t>
            </a:r>
            <a:r>
              <a:rPr lang="en-US" altLang="en-US" dirty="0">
                <a:solidFill>
                  <a:srgbClr val="000000"/>
                </a:solidFill>
              </a:rPr>
              <a:t> is any one of these values,  </a:t>
            </a:r>
          </a:p>
          <a:p>
            <a:pPr eaLnBrk="1" hangingPunct="1">
              <a:spcBef>
                <a:spcPct val="0"/>
              </a:spcBef>
              <a:spcAft>
                <a:spcPts val="1200"/>
              </a:spcAft>
              <a:buClrTx/>
              <a:buSzTx/>
              <a:buFontTx/>
              <a:buNone/>
              <a:defRPr/>
            </a:pPr>
            <a:endParaRPr lang="en-US" altLang="en-US" sz="1800" dirty="0">
              <a:solidFill>
                <a:srgbClr val="000000"/>
              </a:solidFill>
            </a:endParaRPr>
          </a:p>
          <a:p>
            <a:pPr eaLnBrk="1" hangingPunct="1">
              <a:spcBef>
                <a:spcPct val="0"/>
              </a:spcBef>
              <a:spcAft>
                <a:spcPts val="1200"/>
              </a:spcAft>
              <a:buClrTx/>
              <a:buSzTx/>
              <a:buFontTx/>
              <a:buNone/>
              <a:defRPr/>
            </a:pPr>
            <a:endParaRPr lang="en-US" altLang="en-US" sz="1800" dirty="0">
              <a:solidFill>
                <a:srgbClr val="000000"/>
              </a:solidFill>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1460067540"/>
              </p:ext>
            </p:extLst>
          </p:nvPr>
        </p:nvGraphicFramePr>
        <p:xfrm>
          <a:off x="3308994" y="4324459"/>
          <a:ext cx="3053661" cy="779658"/>
        </p:xfrm>
        <a:graphic>
          <a:graphicData uri="http://schemas.openxmlformats.org/presentationml/2006/ole">
            <mc:AlternateContent xmlns:mc="http://schemas.openxmlformats.org/markup-compatibility/2006">
              <mc:Choice xmlns:v="urn:schemas-microsoft-com:vml" Requires="v">
                <p:oleObj spid="_x0000_s67646" name="Equation" r:id="rId3" imgW="1790640" imgH="457200" progId="Equation.DSMT4">
                  <p:embed/>
                </p:oleObj>
              </mc:Choice>
              <mc:Fallback>
                <p:oleObj name="Equation" r:id="rId3" imgW="1790640" imgH="457200" progId="Equation.DSMT4">
                  <p:embed/>
                  <p:pic>
                    <p:nvPicPr>
                      <p:cNvPr id="0" name=""/>
                      <p:cNvPicPr/>
                      <p:nvPr/>
                    </p:nvPicPr>
                    <p:blipFill>
                      <a:blip r:embed="rId4"/>
                      <a:stretch>
                        <a:fillRect/>
                      </a:stretch>
                    </p:blipFill>
                    <p:spPr>
                      <a:xfrm>
                        <a:off x="3308994" y="4324459"/>
                        <a:ext cx="3053661" cy="779658"/>
                      </a:xfrm>
                      <a:prstGeom prst="rect">
                        <a:avLst/>
                      </a:prstGeom>
                    </p:spPr>
                  </p:pic>
                </p:oleObj>
              </mc:Fallback>
            </mc:AlternateContent>
          </a:graphicData>
        </a:graphic>
      </p:graphicFrame>
      <p:grpSp>
        <p:nvGrpSpPr>
          <p:cNvPr id="3" name="Group 18" descr="already described"/>
          <p:cNvGrpSpPr>
            <a:grpSpLocks/>
          </p:cNvGrpSpPr>
          <p:nvPr/>
        </p:nvGrpSpPr>
        <p:grpSpPr bwMode="auto">
          <a:xfrm>
            <a:off x="1643906" y="5391151"/>
            <a:ext cx="3296394" cy="1072727"/>
            <a:chOff x="1299499" y="5007047"/>
            <a:chExt cx="3295571" cy="1073204"/>
          </a:xfrm>
        </p:grpSpPr>
        <p:sp>
          <p:nvSpPr>
            <p:cNvPr id="16" name="Curved Right Arrow 15"/>
            <p:cNvSpPr>
              <a:spLocks noChangeArrowheads="1"/>
            </p:cNvSpPr>
            <p:nvPr/>
          </p:nvSpPr>
          <p:spPr bwMode="auto">
            <a:xfrm rot="-6909413">
              <a:off x="3587894" y="4455687"/>
              <a:ext cx="455816" cy="1558536"/>
            </a:xfrm>
            <a:prstGeom prst="curvedRightArrow">
              <a:avLst>
                <a:gd name="adj1" fmla="val 24995"/>
                <a:gd name="adj2" fmla="val 50006"/>
                <a:gd name="adj3" fmla="val 25000"/>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defRPr/>
              </a:pPr>
              <a:endParaRPr lang="en-US" altLang="en-US"/>
            </a:p>
          </p:txBody>
        </p:sp>
        <p:sp>
          <p:nvSpPr>
            <p:cNvPr id="17" name="TextBox 16"/>
            <p:cNvSpPr txBox="1"/>
            <p:nvPr/>
          </p:nvSpPr>
          <p:spPr>
            <a:xfrm>
              <a:off x="1299499" y="5156921"/>
              <a:ext cx="1700458" cy="923330"/>
            </a:xfrm>
            <a:prstGeom prst="rect">
              <a:avLst/>
            </a:prstGeom>
            <a:solidFill>
              <a:schemeClr val="accent3">
                <a:lumMod val="20000"/>
                <a:lumOff val="80000"/>
              </a:schemeClr>
            </a:solidFill>
          </p:spPr>
          <p:style>
            <a:lnRef idx="0">
              <a:schemeClr val="accent5"/>
            </a:lnRef>
            <a:fillRef idx="3">
              <a:schemeClr val="accent5"/>
            </a:fillRef>
            <a:effectRef idx="3">
              <a:schemeClr val="accent5"/>
            </a:effectRef>
            <a:fontRef idx="minor">
              <a:schemeClr val="lt1"/>
            </a:fontRef>
          </p:style>
          <p:txBody>
            <a:bodyPr>
              <a:spAutoFit/>
            </a:bodyPr>
            <a:lstStyle/>
            <a:p>
              <a:pPr algn="ctr" eaLnBrk="1" hangingPunct="1">
                <a:defRPr/>
              </a:pPr>
              <a:r>
                <a:rPr lang="en-US" dirty="0">
                  <a:solidFill>
                    <a:srgbClr val="000000"/>
                  </a:solidFill>
                </a:rPr>
                <a:t>Number of arrangements of </a:t>
              </a:r>
              <a:r>
                <a:rPr lang="en-US" i="1" dirty="0" err="1">
                  <a:solidFill>
                    <a:srgbClr val="000000"/>
                  </a:solidFill>
                </a:rPr>
                <a:t>k</a:t>
              </a:r>
              <a:r>
                <a:rPr lang="en-US" dirty="0">
                  <a:solidFill>
                    <a:srgbClr val="000000"/>
                  </a:solidFill>
                </a:rPr>
                <a:t> successes</a:t>
              </a:r>
            </a:p>
          </p:txBody>
        </p:sp>
      </p:grpSp>
      <p:grpSp>
        <p:nvGrpSpPr>
          <p:cNvPr id="4" name="Group 20" descr="already described"/>
          <p:cNvGrpSpPr>
            <a:grpSpLocks/>
          </p:cNvGrpSpPr>
          <p:nvPr/>
        </p:nvGrpSpPr>
        <p:grpSpPr bwMode="auto">
          <a:xfrm>
            <a:off x="4173348" y="4823048"/>
            <a:ext cx="1700213" cy="1946889"/>
            <a:chOff x="3897369" y="4438090"/>
            <a:chExt cx="1700458" cy="1947787"/>
          </a:xfrm>
        </p:grpSpPr>
        <p:sp>
          <p:nvSpPr>
            <p:cNvPr id="19" name="Curved Right Arrow 18"/>
            <p:cNvSpPr>
              <a:spLocks noChangeArrowheads="1"/>
            </p:cNvSpPr>
            <p:nvPr/>
          </p:nvSpPr>
          <p:spPr bwMode="auto">
            <a:xfrm rot="12336418">
              <a:off x="4455363" y="4438090"/>
              <a:ext cx="376291" cy="1420797"/>
            </a:xfrm>
            <a:prstGeom prst="curvedRightArrow">
              <a:avLst>
                <a:gd name="adj1" fmla="val 24995"/>
                <a:gd name="adj2" fmla="val 49991"/>
                <a:gd name="adj3" fmla="val 40412"/>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defRPr/>
              </a:pPr>
              <a:endParaRPr lang="en-US" altLang="en-US"/>
            </a:p>
          </p:txBody>
        </p:sp>
        <p:sp>
          <p:nvSpPr>
            <p:cNvPr id="20" name="TextBox 19"/>
            <p:cNvSpPr txBox="1"/>
            <p:nvPr/>
          </p:nvSpPr>
          <p:spPr>
            <a:xfrm>
              <a:off x="3897369" y="5739546"/>
              <a:ext cx="1700458" cy="646331"/>
            </a:xfrm>
            <a:prstGeom prst="rect">
              <a:avLst/>
            </a:prstGeom>
            <a:solidFill>
              <a:schemeClr val="accent3">
                <a:lumMod val="20000"/>
                <a:lumOff val="80000"/>
              </a:schemeClr>
            </a:solidFill>
          </p:spPr>
          <p:style>
            <a:lnRef idx="0">
              <a:schemeClr val="accent5"/>
            </a:lnRef>
            <a:fillRef idx="3">
              <a:schemeClr val="accent5"/>
            </a:fillRef>
            <a:effectRef idx="3">
              <a:schemeClr val="accent5"/>
            </a:effectRef>
            <a:fontRef idx="minor">
              <a:schemeClr val="lt1"/>
            </a:fontRef>
          </p:style>
          <p:txBody>
            <a:bodyPr>
              <a:spAutoFit/>
            </a:bodyPr>
            <a:lstStyle/>
            <a:p>
              <a:pPr algn="ctr" eaLnBrk="1" hangingPunct="1">
                <a:defRPr/>
              </a:pPr>
              <a:r>
                <a:rPr lang="en-US" dirty="0">
                  <a:solidFill>
                    <a:srgbClr val="000000"/>
                  </a:solidFill>
                </a:rPr>
                <a:t>Probability of </a:t>
              </a:r>
              <a:r>
                <a:rPr lang="en-US" i="1" dirty="0" err="1">
                  <a:solidFill>
                    <a:srgbClr val="000000"/>
                  </a:solidFill>
                </a:rPr>
                <a:t>k</a:t>
              </a:r>
              <a:r>
                <a:rPr lang="en-US" dirty="0">
                  <a:solidFill>
                    <a:srgbClr val="000000"/>
                  </a:solidFill>
                </a:rPr>
                <a:t> successes</a:t>
              </a:r>
            </a:p>
          </p:txBody>
        </p:sp>
      </p:grpSp>
      <p:grpSp>
        <p:nvGrpSpPr>
          <p:cNvPr id="2" name="Group 16" descr="already described"/>
          <p:cNvGrpSpPr>
            <a:grpSpLocks/>
          </p:cNvGrpSpPr>
          <p:nvPr/>
        </p:nvGrpSpPr>
        <p:grpSpPr bwMode="auto">
          <a:xfrm>
            <a:off x="5229224" y="4864099"/>
            <a:ext cx="3335192" cy="1349210"/>
            <a:chOff x="4953374" y="4479318"/>
            <a:chExt cx="3334575" cy="1349610"/>
          </a:xfrm>
        </p:grpSpPr>
        <p:sp>
          <p:nvSpPr>
            <p:cNvPr id="11" name="Curved Right Arrow 10"/>
            <p:cNvSpPr>
              <a:spLocks noChangeArrowheads="1"/>
            </p:cNvSpPr>
            <p:nvPr/>
          </p:nvSpPr>
          <p:spPr bwMode="auto">
            <a:xfrm rot="6909413" flipH="1">
              <a:off x="5627796" y="4465418"/>
              <a:ext cx="581197" cy="1625299"/>
            </a:xfrm>
            <a:prstGeom prst="curvedRightArrow">
              <a:avLst>
                <a:gd name="adj1" fmla="val 25013"/>
                <a:gd name="adj2" fmla="val 50000"/>
                <a:gd name="adj3" fmla="val 25000"/>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defRPr/>
              </a:pPr>
              <a:endParaRPr lang="en-US" altLang="en-US"/>
            </a:p>
          </p:txBody>
        </p:sp>
        <p:sp>
          <p:nvSpPr>
            <p:cNvPr id="13" name="TextBox 12"/>
            <p:cNvSpPr txBox="1"/>
            <p:nvPr/>
          </p:nvSpPr>
          <p:spPr>
            <a:xfrm>
              <a:off x="6681770" y="5182597"/>
              <a:ext cx="1606179" cy="646331"/>
            </a:xfrm>
            <a:prstGeom prst="rect">
              <a:avLst/>
            </a:prstGeom>
            <a:solidFill>
              <a:schemeClr val="accent3">
                <a:lumMod val="20000"/>
                <a:lumOff val="80000"/>
              </a:schemeClr>
            </a:solidFill>
          </p:spPr>
          <p:style>
            <a:lnRef idx="0">
              <a:schemeClr val="accent5"/>
            </a:lnRef>
            <a:fillRef idx="3">
              <a:schemeClr val="accent5"/>
            </a:fillRef>
            <a:effectRef idx="3">
              <a:schemeClr val="accent5"/>
            </a:effectRef>
            <a:fontRef idx="minor">
              <a:schemeClr val="lt1"/>
            </a:fontRef>
          </p:style>
          <p:txBody>
            <a:bodyPr>
              <a:spAutoFit/>
            </a:bodyPr>
            <a:lstStyle/>
            <a:p>
              <a:pPr algn="ctr" eaLnBrk="1" hangingPunct="1">
                <a:defRPr/>
              </a:pPr>
              <a:r>
                <a:rPr lang="en-US" dirty="0">
                  <a:solidFill>
                    <a:srgbClr val="000000"/>
                  </a:solidFill>
                </a:rPr>
                <a:t>Probability of </a:t>
              </a:r>
              <a:r>
                <a:rPr lang="en-US" i="1" dirty="0">
                  <a:solidFill>
                    <a:srgbClr val="000000"/>
                  </a:solidFill>
                </a:rPr>
                <a:t>n − k</a:t>
              </a:r>
              <a:r>
                <a:rPr lang="en-US" dirty="0">
                  <a:solidFill>
                    <a:srgbClr val="000000"/>
                  </a:solidFill>
                </a:rPr>
                <a:t> failures</a:t>
              </a:r>
            </a:p>
          </p:txBody>
        </p:sp>
        <p:sp>
          <p:nvSpPr>
            <p:cNvPr id="12" name="Right Brace 11"/>
            <p:cNvSpPr>
              <a:spLocks/>
            </p:cNvSpPr>
            <p:nvPr/>
          </p:nvSpPr>
          <p:spPr bwMode="auto">
            <a:xfrm rot="5400000" flipV="1">
              <a:off x="5276325" y="4156367"/>
              <a:ext cx="190556" cy="836458"/>
            </a:xfrm>
            <a:prstGeom prst="rightBrace">
              <a:avLst>
                <a:gd name="adj1" fmla="val 8332"/>
                <a:gd name="adj2" fmla="val 50000"/>
              </a:avLst>
            </a:prstGeom>
            <a:noFill/>
            <a:ln w="19050">
              <a:solidFill>
                <a:srgbClr val="800000"/>
              </a:solidFill>
              <a:round/>
              <a:headEnd/>
              <a:tailEnd/>
            </a:ln>
            <a:effectLst>
              <a:outerShdw blurRad="38100" dist="30000" dir="5400000" rotWithShape="0">
                <a:srgbClr val="808080">
                  <a:alpha val="45000"/>
                </a:srgbClr>
              </a:outerShdw>
            </a:effectLst>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defRPr/>
              </a:pPr>
              <a:endParaRPr lang="en-US" altLang="en-US"/>
            </a:p>
          </p:txBody>
        </p:sp>
      </p:grpSp>
    </p:spTree>
    <p:extLst>
      <p:ext uri="{BB962C8B-B14F-4D97-AF65-F5344CB8AC3E}">
        <p14:creationId xmlns:p14="http://schemas.microsoft.com/office/powerpoint/2010/main" val="212015060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bg/>
                                          </p:spTgt>
                                        </p:tgtEl>
                                        <p:attrNameLst>
                                          <p:attrName>style.visibility</p:attrName>
                                        </p:attrNameLst>
                                      </p:cBhvr>
                                      <p:to>
                                        <p:strVal val="visible"/>
                                      </p:to>
                                    </p:set>
                                    <p:animEffect transition="in" filter="fade">
                                      <p:cBhvr>
                                        <p:cTn id="10" dur="1000"/>
                                        <p:tgtEl>
                                          <p:spTgt spid="7">
                                            <p:bg/>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1000"/>
                                        <p:tgtEl>
                                          <p:spTgt spid="7">
                                            <p:txEl>
                                              <p:pRg st="0" end="0"/>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childTnLst>
                                </p:cTn>
                              </p:par>
                            </p:childTnLst>
                          </p:cTn>
                        </p:par>
                        <p:par>
                          <p:cTn id="22" fill="hold" nodeType="afterGroup">
                            <p:stCondLst>
                              <p:cond delay="1000"/>
                            </p:stCondLst>
                            <p:childTnLst>
                              <p:par>
                                <p:cTn id="23" presetID="10" presetClass="entr" presetSubtype="0"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1000"/>
                                        <p:tgtEl>
                                          <p:spTgt spid="4"/>
                                        </p:tgtEl>
                                      </p:cBhvr>
                                    </p:animEffect>
                                  </p:childTnLst>
                                </p:cTn>
                              </p:par>
                            </p:childTnLst>
                          </p:cTn>
                        </p:par>
                        <p:par>
                          <p:cTn id="26" fill="hold" nodeType="afterGroup">
                            <p:stCondLst>
                              <p:cond delay="2000"/>
                            </p:stCondLst>
                            <p:childTnLst>
                              <p:par>
                                <p:cTn id="27" presetID="10" presetClass="entr" presetSubtype="0" fill="hold" nodeType="after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5"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a:xfrm>
            <a:off x="174625" y="153988"/>
            <a:ext cx="5806451" cy="777240"/>
          </a:xfrm>
        </p:spPr>
        <p:txBody>
          <a:bodyPr/>
          <a:lstStyle/>
          <a:p>
            <a:pPr eaLnBrk="1" hangingPunct="1">
              <a:lnSpc>
                <a:spcPct val="90000"/>
              </a:lnSpc>
            </a:pPr>
            <a:r>
              <a:rPr lang="en-US" altLang="en-US" dirty="0">
                <a:ea typeface="ＭＳ Ｐゴシック" pitchFamily="34" charset="-128"/>
              </a:rPr>
              <a:t>Binomial Probability</a:t>
            </a:r>
            <a:r>
              <a:rPr lang="en-US" altLang="en-US" sz="2400" dirty="0">
                <a:ea typeface="ＭＳ Ｐゴシック" pitchFamily="34" charset="-128"/>
              </a:rPr>
              <a:t> (2 of 2)</a:t>
            </a:r>
            <a:endParaRPr lang="en-US" altLang="en-US" sz="2400" dirty="0">
              <a:solidFill>
                <a:srgbClr val="33CCFF"/>
              </a:solidFill>
              <a:ea typeface="ＭＳ Ｐゴシック" pitchFamily="34" charset="-128"/>
            </a:endParaRPr>
          </a:p>
        </p:txBody>
      </p:sp>
      <p:sp>
        <p:nvSpPr>
          <p:cNvPr id="61442"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53C6541F-F308-491D-9813-752A587AAEDE}" type="slidenum">
              <a:rPr lang="en-US" altLang="en-US" sz="1200">
                <a:solidFill>
                  <a:schemeClr val="accent1"/>
                </a:solidFill>
              </a:rPr>
              <a:pPr>
                <a:lnSpc>
                  <a:spcPct val="80000"/>
                </a:lnSpc>
              </a:pPr>
              <a:t>29</a:t>
            </a:fld>
            <a:endParaRPr lang="en-US" altLang="en-US" sz="1200">
              <a:solidFill>
                <a:schemeClr val="accent1"/>
              </a:solidFill>
            </a:endParaRPr>
          </a:p>
        </p:txBody>
      </p:sp>
      <p:sp>
        <p:nvSpPr>
          <p:cNvPr id="48133" name="Rectangle 1"/>
          <p:cNvSpPr>
            <a:spLocks noChangeArrowheads="1"/>
          </p:cNvSpPr>
          <p:nvPr/>
        </p:nvSpPr>
        <p:spPr bwMode="auto">
          <a:xfrm>
            <a:off x="141287" y="957206"/>
            <a:ext cx="8407398" cy="987450"/>
          </a:xfrm>
          <a:prstGeom prst="rect">
            <a:avLst/>
          </a:prstGeom>
          <a:noFill/>
          <a:ln>
            <a:noFill/>
          </a:ln>
        </p:spPr>
        <p:txBody>
          <a:bodyPr wrap="square">
            <a:spAutoFit/>
          </a:bodyPr>
          <a:lstStyle/>
          <a:p>
            <a:pPr eaLnBrk="1" hangingPunct="1">
              <a:buFont typeface="Wingdings" charset="0"/>
              <a:buNone/>
              <a:defRPr/>
            </a:pPr>
            <a:r>
              <a:rPr lang="en-US" b="1" dirty="0">
                <a:solidFill>
                  <a:srgbClr val="000000"/>
                </a:solidFill>
                <a:latin typeface="Arial" charset="0"/>
                <a:ea typeface="ＭＳ Ｐゴシック" charset="0"/>
                <a:cs typeface="ＭＳ Ｐゴシック" charset="0"/>
              </a:rPr>
              <a:t>Example:  </a:t>
            </a:r>
            <a:r>
              <a:rPr lang="en-US" dirty="0">
                <a:solidFill>
                  <a:srgbClr val="000000"/>
                </a:solidFill>
                <a:latin typeface="Arial" charset="0"/>
                <a:ea typeface="ＭＳ Ｐゴシック" charset="0"/>
                <a:cs typeface="ＭＳ Ｐゴシック" charset="0"/>
              </a:rPr>
              <a:t>Each child of a particular pair of parents has probability 0.25 of having blood type O. Suppose the parents have five children.</a:t>
            </a:r>
          </a:p>
          <a:p>
            <a:pPr marL="338328" indent="-338328" eaLnBrk="1" hangingPunct="1">
              <a:spcBef>
                <a:spcPts val="500"/>
              </a:spcBef>
              <a:buClr>
                <a:schemeClr val="tx1"/>
              </a:buClr>
              <a:buFont typeface="Wingdings" charset="0"/>
              <a:buNone/>
              <a:defRPr/>
            </a:pPr>
            <a:r>
              <a:rPr lang="en-US" b="1" dirty="0">
                <a:solidFill>
                  <a:srgbClr val="000000"/>
                </a:solidFill>
                <a:latin typeface="Arial" charset="0"/>
                <a:ea typeface="ＭＳ Ｐゴシック" charset="0"/>
                <a:cs typeface="ＭＳ Ｐゴシック" charset="0"/>
              </a:rPr>
              <a:t>(a) Find the probability that exactly three of the children have type O blood.</a:t>
            </a:r>
          </a:p>
        </p:txBody>
      </p:sp>
      <p:sp>
        <p:nvSpPr>
          <p:cNvPr id="61448" name="TextBox 8"/>
          <p:cNvSpPr txBox="1">
            <a:spLocks noChangeArrowheads="1"/>
          </p:cNvSpPr>
          <p:nvPr/>
        </p:nvSpPr>
        <p:spPr bwMode="auto">
          <a:xfrm>
            <a:off x="581024" y="2286182"/>
            <a:ext cx="7967661"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800" dirty="0">
                <a:solidFill>
                  <a:schemeClr val="tx1"/>
                </a:solidFill>
              </a:rPr>
              <a:t>Let </a:t>
            </a:r>
            <a:r>
              <a:rPr lang="en-US" altLang="en-US" sz="1800" i="1" dirty="0">
                <a:solidFill>
                  <a:schemeClr val="tx1"/>
                </a:solidFill>
              </a:rPr>
              <a:t>X</a:t>
            </a:r>
            <a:r>
              <a:rPr lang="en-US" altLang="en-US" sz="1800" dirty="0">
                <a:solidFill>
                  <a:schemeClr val="tx1"/>
                </a:solidFill>
              </a:rPr>
              <a:t> = the number of children with type O blood. We know </a:t>
            </a:r>
            <a:r>
              <a:rPr lang="en-US" altLang="en-US" sz="1800" i="1" dirty="0">
                <a:solidFill>
                  <a:schemeClr val="tx1"/>
                </a:solidFill>
              </a:rPr>
              <a:t>X </a:t>
            </a:r>
            <a:r>
              <a:rPr lang="en-US" altLang="en-US" sz="1800" dirty="0">
                <a:solidFill>
                  <a:schemeClr val="tx1"/>
                </a:solidFill>
              </a:rPr>
              <a:t>has a binomial distribution with </a:t>
            </a:r>
            <a:r>
              <a:rPr lang="en-US" altLang="en-US" sz="1800" i="1" dirty="0">
                <a:solidFill>
                  <a:schemeClr val="tx1"/>
                </a:solidFill>
              </a:rPr>
              <a:t>n</a:t>
            </a:r>
            <a:r>
              <a:rPr lang="en-US" altLang="en-US" sz="1800" dirty="0">
                <a:solidFill>
                  <a:schemeClr val="tx1"/>
                </a:solidFill>
              </a:rPr>
              <a:t> = 5</a:t>
            </a:r>
            <a:r>
              <a:rPr lang="en-US" altLang="en-US" sz="1800" i="1" dirty="0">
                <a:solidFill>
                  <a:schemeClr val="tx1"/>
                </a:solidFill>
              </a:rPr>
              <a:t> </a:t>
            </a:r>
            <a:r>
              <a:rPr lang="en-US" altLang="en-US" sz="1800" dirty="0">
                <a:solidFill>
                  <a:schemeClr val="tx1"/>
                </a:solidFill>
              </a:rPr>
              <a:t>and </a:t>
            </a:r>
            <a:r>
              <a:rPr lang="en-US" altLang="en-US" sz="1800" i="1" dirty="0">
                <a:solidFill>
                  <a:schemeClr val="tx1"/>
                </a:solidFill>
              </a:rPr>
              <a:t>p</a:t>
            </a:r>
            <a:r>
              <a:rPr lang="en-US" altLang="en-US" sz="1800" dirty="0">
                <a:solidFill>
                  <a:schemeClr val="tx1"/>
                </a:solidFill>
              </a:rPr>
              <a:t> = 0.25.</a:t>
            </a:r>
          </a:p>
        </p:txBody>
      </p:sp>
      <p:graphicFrame>
        <p:nvGraphicFramePr>
          <p:cNvPr id="2" name="Object 1"/>
          <p:cNvGraphicFramePr>
            <a:graphicFrameLocks noChangeAspect="1"/>
          </p:cNvGraphicFramePr>
          <p:nvPr>
            <p:extLst>
              <p:ext uri="{D42A27DB-BD31-4B8C-83A1-F6EECF244321}">
                <p14:modId xmlns:p14="http://schemas.microsoft.com/office/powerpoint/2010/main" val="46256880"/>
              </p:ext>
            </p:extLst>
          </p:nvPr>
        </p:nvGraphicFramePr>
        <p:xfrm>
          <a:off x="1808160" y="3076657"/>
          <a:ext cx="5509020" cy="667760"/>
        </p:xfrm>
        <a:graphic>
          <a:graphicData uri="http://schemas.openxmlformats.org/presentationml/2006/ole">
            <mc:AlternateContent xmlns:mc="http://schemas.openxmlformats.org/markup-compatibility/2006">
              <mc:Choice xmlns:v="urn:schemas-microsoft-com:vml" Requires="v">
                <p:oleObj spid="_x0000_s61615" name="Equation" r:id="rId3" imgW="3771720" imgH="457200" progId="Equation.DSMT4">
                  <p:embed/>
                </p:oleObj>
              </mc:Choice>
              <mc:Fallback>
                <p:oleObj name="Equation" r:id="rId3" imgW="3771720" imgH="457200" progId="Equation.DSMT4">
                  <p:embed/>
                  <p:pic>
                    <p:nvPicPr>
                      <p:cNvPr id="0" name=""/>
                      <p:cNvPicPr/>
                      <p:nvPr/>
                    </p:nvPicPr>
                    <p:blipFill>
                      <a:blip r:embed="rId4"/>
                      <a:stretch>
                        <a:fillRect/>
                      </a:stretch>
                    </p:blipFill>
                    <p:spPr>
                      <a:xfrm>
                        <a:off x="1808160" y="3076657"/>
                        <a:ext cx="5509020" cy="667760"/>
                      </a:xfrm>
                      <a:prstGeom prst="rect">
                        <a:avLst/>
                      </a:prstGeom>
                    </p:spPr>
                  </p:pic>
                </p:oleObj>
              </mc:Fallback>
            </mc:AlternateContent>
          </a:graphicData>
        </a:graphic>
      </p:graphicFrame>
      <p:sp>
        <p:nvSpPr>
          <p:cNvPr id="10" name="TextBox 9"/>
          <p:cNvSpPr txBox="1">
            <a:spLocks noChangeArrowheads="1"/>
          </p:cNvSpPr>
          <p:nvPr/>
        </p:nvSpPr>
        <p:spPr bwMode="auto">
          <a:xfrm>
            <a:off x="193674" y="3888779"/>
            <a:ext cx="840739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1313" indent="-341313"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600" b="1" dirty="0">
                <a:solidFill>
                  <a:schemeClr val="tx1"/>
                </a:solidFill>
              </a:rPr>
              <a:t>(</a:t>
            </a:r>
            <a:r>
              <a:rPr lang="en-US" altLang="en-US" sz="1800" b="1" dirty="0">
                <a:solidFill>
                  <a:schemeClr val="tx1"/>
                </a:solidFill>
              </a:rPr>
              <a:t>b) Should the parents be surprised if more than three of their children have type O blood?</a:t>
            </a:r>
          </a:p>
        </p:txBody>
      </p:sp>
      <p:graphicFrame>
        <p:nvGraphicFramePr>
          <p:cNvPr id="12" name="Object 3" descr="The image shows probability calculations, which are mentioned as: P bracket open X greater than 3 bracket close, equals to P bracket open X equals to 4 bracket close, plus P bracket open X equals to 5 bracket close. The expression is equals to bracket open 5 at the top and 4 at the bottom, multiplied by 0.25 superscript 4, multiplied by 0.75 superscript 1, plus, bracket open 5 at the top and 5 at the bottom, multiplied by 0.25 superscript 5, multiplied by 0.75 superscript 0. The expression is further equals to 5 multiplied by 0.25 superscript 4, multiplied by 0.75 superscript 1, plus, 1 multiplied by 0.25 superscript 5, multiplied by 0.75 superscript 0. The expression shows the result as: 0.01465 plus 0.00098 equals to 0.01563.&#10;"/>
          <p:cNvGraphicFramePr>
            <a:graphicFrameLocks noChangeAspect="1"/>
          </p:cNvGraphicFramePr>
          <p:nvPr>
            <p:extLst>
              <p:ext uri="{D42A27DB-BD31-4B8C-83A1-F6EECF244321}">
                <p14:modId xmlns:p14="http://schemas.microsoft.com/office/powerpoint/2010/main" val="2098675290"/>
              </p:ext>
            </p:extLst>
          </p:nvPr>
        </p:nvGraphicFramePr>
        <p:xfrm>
          <a:off x="1205356" y="4679254"/>
          <a:ext cx="4775720" cy="1964695"/>
        </p:xfrm>
        <a:graphic>
          <a:graphicData uri="http://schemas.openxmlformats.org/presentationml/2006/ole">
            <mc:AlternateContent xmlns:mc="http://schemas.openxmlformats.org/markup-compatibility/2006">
              <mc:Choice xmlns:v="urn:schemas-microsoft-com:vml" Requires="v">
                <p:oleObj spid="_x0000_s61616" name="Equation" r:id="rId5" imgW="2781000" imgH="1143000" progId="Equation.DSMT4">
                  <p:embed/>
                </p:oleObj>
              </mc:Choice>
              <mc:Fallback>
                <p:oleObj name="Equation" r:id="rId5" imgW="2781000" imgH="1143000" progId="Equation.DSMT4">
                  <p:embed/>
                  <p:pic>
                    <p:nvPicPr>
                      <p:cNvPr id="0" name="Object 3" descr="The image shows probability calculations, which are mentioned as: P bracket open X greater than 3 bracket close, equals to P bracket open X equals to 4 bracket close, plus P bracket open X equals to 5 bracket close. The expression is equals to bracket open 5 at the top and 4 at the bottom, multiplied by 0.25 superscript 4, multiplied by 0.75 superscript 1, plus, bracket open 5 at the top and 5 at the bottom, multiplied by 0.25 superscript 5, multiplied by 0.75 superscript 0. The expression is further equals to 5 multiplied by 0.25 superscript 4, multiplied by 0.75 superscript 1, plus, 1 multiplied by 0.25 superscript 5, multiplied by 0.75 superscript 0. The expression shows the result as: 0.01465 plus 0.00098 equals to 0.01563.&#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5356" y="4679254"/>
                        <a:ext cx="4775720" cy="1964695"/>
                      </a:xfrm>
                      <a:prstGeom prst="rect">
                        <a:avLst/>
                      </a:prstGeom>
                      <a:noFill/>
                      <a:ln>
                        <a:noFill/>
                      </a:ln>
                      <a:effectLst/>
                    </p:spPr>
                  </p:pic>
                </p:oleObj>
              </mc:Fallback>
            </mc:AlternateContent>
          </a:graphicData>
        </a:graphic>
      </p:graphicFrame>
      <p:sp>
        <p:nvSpPr>
          <p:cNvPr id="14" name="TextBox 13"/>
          <p:cNvSpPr txBox="1"/>
          <p:nvPr/>
        </p:nvSpPr>
        <p:spPr>
          <a:xfrm>
            <a:off x="6330546" y="4939720"/>
            <a:ext cx="2568177" cy="1754327"/>
          </a:xfrm>
          <a:prstGeom prst="rect">
            <a:avLst/>
          </a:prstGeom>
          <a:solidFill>
            <a:srgbClr val="FFD780"/>
          </a:solidFill>
        </p:spPr>
        <p:style>
          <a:lnRef idx="0">
            <a:schemeClr val="accent5"/>
          </a:lnRef>
          <a:fillRef idx="3">
            <a:schemeClr val="accent5"/>
          </a:fillRef>
          <a:effectRef idx="3">
            <a:schemeClr val="accent5"/>
          </a:effectRef>
          <a:fontRef idx="minor">
            <a:schemeClr val="lt1"/>
          </a:fontRef>
        </p:style>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sz="1800" dirty="0">
                <a:solidFill>
                  <a:srgbClr val="000000"/>
                </a:solidFill>
              </a:rPr>
              <a:t>Because there is only a 1.5% chance that more than three children out of five would have Type O blood, the parents should be surprised!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1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500" fill="hold"/>
                                        <p:tgtEl>
                                          <p:spTgt spid="14"/>
                                        </p:tgtEl>
                                        <p:attrNameLst>
                                          <p:attrName>ppt_w</p:attrName>
                                        </p:attrNameLst>
                                      </p:cBhvr>
                                      <p:tavLst>
                                        <p:tav tm="0">
                                          <p:val>
                                            <p:fltVal val="0"/>
                                          </p:val>
                                        </p:tav>
                                        <p:tav tm="100000">
                                          <p:val>
                                            <p:strVal val="#ppt_w"/>
                                          </p:val>
                                        </p:tav>
                                      </p:tavLst>
                                    </p:anim>
                                    <p:anim calcmode="lin" valueType="num">
                                      <p:cBhvr>
                                        <p:cTn id="18" dur="500" fill="hold"/>
                                        <p:tgtEl>
                                          <p:spTgt spid="1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pPr eaLnBrk="1" hangingPunct="1">
              <a:lnSpc>
                <a:spcPct val="90000"/>
              </a:lnSpc>
            </a:pPr>
            <a:r>
              <a:rPr lang="en-US" altLang="en-US" dirty="0">
                <a:ea typeface="ＭＳ Ｐゴシック" pitchFamily="34" charset="-128"/>
              </a:rPr>
              <a:t>Poisson Setting</a:t>
            </a:r>
            <a:endParaRPr lang="en-US" altLang="en-US" sz="2400" dirty="0">
              <a:solidFill>
                <a:srgbClr val="33CCFF"/>
              </a:solidFill>
              <a:ea typeface="ＭＳ Ｐゴシック" pitchFamily="34" charset="-128"/>
            </a:endParaRPr>
          </a:p>
        </p:txBody>
      </p:sp>
      <p:sp>
        <p:nvSpPr>
          <p:cNvPr id="62466"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854605C3-D04E-4C56-945F-F389753046F2}" type="slidenum">
              <a:rPr lang="en-US" altLang="en-US" sz="1200">
                <a:solidFill>
                  <a:schemeClr val="accent1"/>
                </a:solidFill>
              </a:rPr>
              <a:pPr>
                <a:lnSpc>
                  <a:spcPct val="80000"/>
                </a:lnSpc>
              </a:pPr>
              <a:t>30</a:t>
            </a:fld>
            <a:endParaRPr lang="en-US" altLang="en-US" sz="1200">
              <a:solidFill>
                <a:schemeClr val="accent1"/>
              </a:solidFill>
            </a:endParaRPr>
          </a:p>
        </p:txBody>
      </p:sp>
      <p:sp>
        <p:nvSpPr>
          <p:cNvPr id="62469" name="Rectangle 3"/>
          <p:cNvSpPr txBox="1">
            <a:spLocks noChangeArrowheads="1"/>
          </p:cNvSpPr>
          <p:nvPr/>
        </p:nvSpPr>
        <p:spPr bwMode="auto">
          <a:xfrm>
            <a:off x="317500" y="1204913"/>
            <a:ext cx="8639175" cy="157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1200150" indent="-45720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buFont typeface="Wingdings" pitchFamily="2" charset="2"/>
              <a:buNone/>
            </a:pPr>
            <a:r>
              <a:rPr lang="en-US" altLang="en-US" dirty="0">
                <a:solidFill>
                  <a:schemeClr val="tx1"/>
                </a:solidFill>
              </a:rPr>
              <a:t>Frequently, we meet counts that are </a:t>
            </a:r>
            <a:r>
              <a:rPr lang="en-US" altLang="en-US" b="1" dirty="0">
                <a:solidFill>
                  <a:schemeClr val="tx1"/>
                </a:solidFill>
                <a:highlight>
                  <a:srgbClr val="FFFF00"/>
                </a:highlight>
              </a:rPr>
              <a:t>open-ended</a:t>
            </a:r>
            <a:r>
              <a:rPr lang="en-US" altLang="en-US" dirty="0">
                <a:solidFill>
                  <a:schemeClr val="tx1"/>
                </a:solidFill>
              </a:rPr>
              <a:t>:</a:t>
            </a:r>
          </a:p>
          <a:p>
            <a:pPr lvl="1">
              <a:buFont typeface="Arial" pitchFamily="34" charset="0"/>
              <a:buChar char="•"/>
            </a:pPr>
            <a:r>
              <a:rPr lang="en-US" altLang="ja-JP" sz="2000" dirty="0">
                <a:solidFill>
                  <a:schemeClr val="tx1"/>
                </a:solidFill>
              </a:rPr>
              <a:t>The number of customers at a café between noon and 1:00 p.m.</a:t>
            </a:r>
          </a:p>
          <a:p>
            <a:pPr lvl="1">
              <a:buFont typeface="Arial" pitchFamily="34" charset="0"/>
              <a:buChar char="•"/>
            </a:pPr>
            <a:r>
              <a:rPr lang="en-US" altLang="ja-JP" sz="2000" dirty="0">
                <a:solidFill>
                  <a:schemeClr val="tx1"/>
                </a:solidFill>
              </a:rPr>
              <a:t>The number of dings on your car door</a:t>
            </a:r>
          </a:p>
          <a:p>
            <a:pPr lvl="1">
              <a:buFont typeface="Arial" pitchFamily="34" charset="0"/>
              <a:buChar char="•"/>
            </a:pPr>
            <a:r>
              <a:rPr lang="en-US" altLang="ja-JP" sz="2000" dirty="0">
                <a:solidFill>
                  <a:schemeClr val="tx1"/>
                </a:solidFill>
              </a:rPr>
              <a:t>The number of reported pedestrian/bicyclist collisions on campus during an academic year  </a:t>
            </a:r>
            <a:endParaRPr lang="en-US" altLang="en-US" sz="2000" dirty="0">
              <a:solidFill>
                <a:schemeClr val="tx1"/>
              </a:solidFill>
            </a:endParaRPr>
          </a:p>
        </p:txBody>
      </p:sp>
      <p:sp>
        <p:nvSpPr>
          <p:cNvPr id="13" name="TextBox 12"/>
          <p:cNvSpPr txBox="1">
            <a:spLocks noChangeArrowheads="1"/>
          </p:cNvSpPr>
          <p:nvPr/>
        </p:nvSpPr>
        <p:spPr bwMode="auto">
          <a:xfrm>
            <a:off x="355600" y="3005138"/>
            <a:ext cx="8407400" cy="646112"/>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p>
            <a:pPr algn="just" eaLnBrk="1" hangingPunct="1">
              <a:defRPr/>
            </a:pPr>
            <a:r>
              <a:rPr lang="en-US" dirty="0">
                <a:solidFill>
                  <a:srgbClr val="000000"/>
                </a:solidFill>
                <a:latin typeface="Arial"/>
                <a:ea typeface="ＭＳ Ｐゴシック" charset="-128"/>
                <a:cs typeface="Arial"/>
              </a:rPr>
              <a:t>A </a:t>
            </a:r>
            <a:r>
              <a:rPr lang="en-US" b="1" dirty="0">
                <a:solidFill>
                  <a:srgbClr val="C00000"/>
                </a:solidFill>
                <a:latin typeface="Arial"/>
                <a:ea typeface="ＭＳ Ｐゴシック" charset="-128"/>
                <a:cs typeface="Arial"/>
              </a:rPr>
              <a:t>Poisson setting </a:t>
            </a:r>
            <a:r>
              <a:rPr lang="en-US" dirty="0">
                <a:solidFill>
                  <a:srgbClr val="000000"/>
                </a:solidFill>
                <a:latin typeface="Arial"/>
                <a:ea typeface="ＭＳ Ｐゴシック" charset="-128"/>
                <a:cs typeface="Arial"/>
              </a:rPr>
              <a:t>arises when we consider the number of successes that occur in a fixed unit of measure, such as a period of time or a region of space.</a:t>
            </a:r>
          </a:p>
        </p:txBody>
      </p:sp>
      <p:sp>
        <p:nvSpPr>
          <p:cNvPr id="2" name="TextBox 1"/>
          <p:cNvSpPr txBox="1"/>
          <p:nvPr/>
        </p:nvSpPr>
        <p:spPr>
          <a:xfrm>
            <a:off x="2128603" y="3803650"/>
            <a:ext cx="5006715" cy="369332"/>
          </a:xfrm>
          <a:prstGeom prst="rect">
            <a:avLst/>
          </a:prstGeom>
          <a:solidFill>
            <a:schemeClr val="bg1">
              <a:lumMod val="75000"/>
            </a:schemeClr>
          </a:solidFill>
        </p:spPr>
        <p:style>
          <a:lnRef idx="1">
            <a:schemeClr val="accent2"/>
          </a:lnRef>
          <a:fillRef idx="2">
            <a:schemeClr val="accent2"/>
          </a:fillRef>
          <a:effectRef idx="1">
            <a:schemeClr val="accent2"/>
          </a:effectRef>
          <a:fontRef idx="minor">
            <a:schemeClr val="dk1"/>
          </a:fontRef>
        </p:style>
        <p:txBody>
          <a:bodyPr wrap="square">
            <a:spAutoFit/>
          </a:bodyPr>
          <a:lstStyle/>
          <a:p>
            <a:pPr algn="ctr" eaLnBrk="1" hangingPunct="1">
              <a:defRPr/>
            </a:pPr>
            <a:r>
              <a:rPr lang="en-US" b="1" dirty="0">
                <a:solidFill>
                  <a:schemeClr val="tx1"/>
                </a:solidFill>
                <a:highlight>
                  <a:srgbClr val="FFFF00"/>
                </a:highlight>
              </a:rPr>
              <a:t>Conditions for the Poisson Distribution</a:t>
            </a:r>
          </a:p>
        </p:txBody>
      </p:sp>
      <p:sp>
        <p:nvSpPr>
          <p:cNvPr id="15" name="TextBox 14"/>
          <p:cNvSpPr txBox="1">
            <a:spLocks noChangeArrowheads="1"/>
          </p:cNvSpPr>
          <p:nvPr/>
        </p:nvSpPr>
        <p:spPr bwMode="auto">
          <a:xfrm>
            <a:off x="355600" y="4171950"/>
            <a:ext cx="8407400" cy="1754326"/>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marL="168275" indent="-168275"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marL="342900" indent="-342900" algn="just" eaLnBrk="1" hangingPunct="1">
              <a:buFont typeface="+mj-lt"/>
              <a:buAutoNum type="arabicPeriod"/>
              <a:defRPr/>
            </a:pPr>
            <a:r>
              <a:rPr lang="en-US" dirty="0">
                <a:cs typeface="Arial" charset="0"/>
              </a:rPr>
              <a:t>The numbers of successes that occur in two non-overlapping units of measure are </a:t>
            </a:r>
            <a:r>
              <a:rPr lang="en-US" b="1" dirty="0">
                <a:cs typeface="Arial" charset="0"/>
              </a:rPr>
              <a:t>independent</a:t>
            </a:r>
            <a:r>
              <a:rPr lang="en-US" dirty="0">
                <a:cs typeface="Arial" charset="0"/>
              </a:rPr>
              <a:t>.</a:t>
            </a:r>
          </a:p>
          <a:p>
            <a:pPr marL="342900" indent="-342900" algn="just" eaLnBrk="1" hangingPunct="1">
              <a:buFont typeface="+mj-lt"/>
              <a:buAutoNum type="arabicPeriod"/>
              <a:defRPr/>
            </a:pPr>
            <a:r>
              <a:rPr lang="en-US" dirty="0">
                <a:cs typeface="Arial" charset="0"/>
              </a:rPr>
              <a:t>The probability that a success will occur in a unit of measure is the same for all units of equal size and is proportional to the size of the unit.</a:t>
            </a:r>
          </a:p>
          <a:p>
            <a:pPr marL="342900" indent="-342900" algn="just" eaLnBrk="1" hangingPunct="1">
              <a:buFont typeface="+mj-lt"/>
              <a:buAutoNum type="arabicPeriod"/>
              <a:defRPr/>
            </a:pPr>
            <a:r>
              <a:rPr lang="en-US" dirty="0">
                <a:cs typeface="Arial" charset="0"/>
              </a:rPr>
              <a:t>The probability that more than one event occurs in a unit of measure is negligible for very small units. In other words, the events occur one at a time.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childTnLst>
                                </p:cTn>
                              </p:par>
                              <p:par>
                                <p:cTn id="18" presetID="12" presetClass="entr" presetSubtype="4" fill="hold" nodeType="withEffect">
                                  <p:stCondLst>
                                    <p:cond delay="0"/>
                                  </p:stCondLst>
                                  <p:childTnLst>
                                    <p:set>
                                      <p:cBhvr>
                                        <p:cTn id="19" dur="1" fill="hold">
                                          <p:stCondLst>
                                            <p:cond delay="0"/>
                                          </p:stCondLst>
                                        </p:cTn>
                                        <p:tgtEl>
                                          <p:spTgt spid="15">
                                            <p:txEl>
                                              <p:pRg st="0" end="0"/>
                                            </p:txEl>
                                          </p:spTgt>
                                        </p:tgtEl>
                                        <p:attrNameLst>
                                          <p:attrName>style.visibility</p:attrName>
                                        </p:attrNameLst>
                                      </p:cBhvr>
                                      <p:to>
                                        <p:strVal val="visible"/>
                                      </p:to>
                                    </p:set>
                                    <p:anim calcmode="lin" valueType="num">
                                      <p:cBhvr additive="base">
                                        <p:cTn id="20" dur="500"/>
                                        <p:tgtEl>
                                          <p:spTgt spid="15">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15">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4" fill="hold" nodeType="clickEffect">
                                  <p:stCondLst>
                                    <p:cond delay="0"/>
                                  </p:stCondLst>
                                  <p:childTnLst>
                                    <p:set>
                                      <p:cBhvr>
                                        <p:cTn id="25" dur="1" fill="hold">
                                          <p:stCondLst>
                                            <p:cond delay="0"/>
                                          </p:stCondLst>
                                        </p:cTn>
                                        <p:tgtEl>
                                          <p:spTgt spid="15">
                                            <p:txEl>
                                              <p:pRg st="1" end="1"/>
                                            </p:txEl>
                                          </p:spTgt>
                                        </p:tgtEl>
                                        <p:attrNameLst>
                                          <p:attrName>style.visibility</p:attrName>
                                        </p:attrNameLst>
                                      </p:cBhvr>
                                      <p:to>
                                        <p:strVal val="visible"/>
                                      </p:to>
                                    </p:set>
                                    <p:anim calcmode="lin" valueType="num">
                                      <p:cBhvr additive="base">
                                        <p:cTn id="26" dur="500"/>
                                        <p:tgtEl>
                                          <p:spTgt spid="15">
                                            <p:txEl>
                                              <p:pRg st="1" end="1"/>
                                            </p:txEl>
                                          </p:spTgt>
                                        </p:tgtEl>
                                        <p:attrNameLst>
                                          <p:attrName>ppt_y</p:attrName>
                                        </p:attrNameLst>
                                      </p:cBhvr>
                                      <p:tavLst>
                                        <p:tav tm="0">
                                          <p:val>
                                            <p:strVal val="#ppt_y+#ppt_h*1.125000"/>
                                          </p:val>
                                        </p:tav>
                                        <p:tav tm="100000">
                                          <p:val>
                                            <p:strVal val="#ppt_y"/>
                                          </p:val>
                                        </p:tav>
                                      </p:tavLst>
                                    </p:anim>
                                    <p:animEffect transition="in" filter="wipe(up)">
                                      <p:cBhvr>
                                        <p:cTn id="27" dur="500"/>
                                        <p:tgtEl>
                                          <p:spTgt spid="15">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nodeType="clickEffect">
                                  <p:stCondLst>
                                    <p:cond delay="0"/>
                                  </p:stCondLst>
                                  <p:childTnLst>
                                    <p:set>
                                      <p:cBhvr>
                                        <p:cTn id="31" dur="1" fill="hold">
                                          <p:stCondLst>
                                            <p:cond delay="0"/>
                                          </p:stCondLst>
                                        </p:cTn>
                                        <p:tgtEl>
                                          <p:spTgt spid="15">
                                            <p:txEl>
                                              <p:pRg st="2" end="2"/>
                                            </p:txEl>
                                          </p:spTgt>
                                        </p:tgtEl>
                                        <p:attrNameLst>
                                          <p:attrName>style.visibility</p:attrName>
                                        </p:attrNameLst>
                                      </p:cBhvr>
                                      <p:to>
                                        <p:strVal val="visible"/>
                                      </p:to>
                                    </p:set>
                                    <p:anim calcmode="lin" valueType="num">
                                      <p:cBhvr additive="base">
                                        <p:cTn id="32" dur="500" fill="hold"/>
                                        <p:tgtEl>
                                          <p:spTgt spid="15">
                                            <p:txEl>
                                              <p:pRg st="2" end="2"/>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 grpId="0" animBg="1"/>
      <p:bldP spid="1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a:xfrm>
            <a:off x="174625" y="145279"/>
            <a:ext cx="7772400" cy="777240"/>
          </a:xfrm>
        </p:spPr>
        <p:txBody>
          <a:bodyPr/>
          <a:lstStyle/>
          <a:p>
            <a:pPr eaLnBrk="1" hangingPunct="1">
              <a:lnSpc>
                <a:spcPct val="90000"/>
              </a:lnSpc>
            </a:pPr>
            <a:r>
              <a:rPr lang="en-US" altLang="en-US" dirty="0">
                <a:ea typeface="ＭＳ Ｐゴシック" pitchFamily="34" charset="-128"/>
              </a:rPr>
              <a:t>Poisson Distribution</a:t>
            </a:r>
            <a:endParaRPr lang="en-US" altLang="en-US" sz="2400" dirty="0">
              <a:solidFill>
                <a:srgbClr val="33CCFF"/>
              </a:solidFill>
              <a:ea typeface="ＭＳ Ｐゴシック" pitchFamily="34" charset="-128"/>
            </a:endParaRPr>
          </a:p>
        </p:txBody>
      </p:sp>
      <p:sp>
        <p:nvSpPr>
          <p:cNvPr id="63490"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545FFF75-3727-43A5-8871-E33C515EB4DF}" type="slidenum">
              <a:rPr lang="en-US" altLang="en-US" sz="1200">
                <a:solidFill>
                  <a:schemeClr val="accent1"/>
                </a:solidFill>
              </a:rPr>
              <a:pPr>
                <a:lnSpc>
                  <a:spcPct val="80000"/>
                </a:lnSpc>
              </a:pPr>
              <a:t>31</a:t>
            </a:fld>
            <a:endParaRPr lang="en-US" altLang="en-US" sz="1200">
              <a:solidFill>
                <a:schemeClr val="accent1"/>
              </a:solidFill>
            </a:endParaRPr>
          </a:p>
        </p:txBody>
      </p:sp>
      <p:sp>
        <p:nvSpPr>
          <p:cNvPr id="26" name="TextBox 25"/>
          <p:cNvSpPr txBox="1">
            <a:spLocks noChangeArrowheads="1"/>
          </p:cNvSpPr>
          <p:nvPr/>
        </p:nvSpPr>
        <p:spPr bwMode="auto">
          <a:xfrm>
            <a:off x="2560455" y="1096603"/>
            <a:ext cx="4083050" cy="369887"/>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b="1" dirty="0">
                <a:highlight>
                  <a:srgbClr val="FFFF00"/>
                </a:highlight>
                <a:latin typeface="+mn-lt"/>
                <a:ea typeface="+mn-ea"/>
              </a:rPr>
              <a:t>Poisson Probability</a:t>
            </a:r>
          </a:p>
        </p:txBody>
      </p:sp>
      <p:sp>
        <p:nvSpPr>
          <p:cNvPr id="25" name="TextBox 24"/>
          <p:cNvSpPr txBox="1">
            <a:spLocks noChangeArrowheads="1"/>
          </p:cNvSpPr>
          <p:nvPr/>
        </p:nvSpPr>
        <p:spPr bwMode="auto">
          <a:xfrm>
            <a:off x="541155" y="1504276"/>
            <a:ext cx="8121650" cy="1570037"/>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dirty="0">
                <a:solidFill>
                  <a:schemeClr val="tx1"/>
                </a:solidFill>
              </a:rPr>
              <a:t>If </a:t>
            </a:r>
            <a:r>
              <a:rPr lang="en-US" altLang="en-US" i="1" dirty="0">
                <a:solidFill>
                  <a:schemeClr val="tx1"/>
                </a:solidFill>
              </a:rPr>
              <a:t>X</a:t>
            </a:r>
            <a:r>
              <a:rPr lang="en-US" altLang="en-US" dirty="0">
                <a:solidFill>
                  <a:schemeClr val="tx1"/>
                </a:solidFill>
              </a:rPr>
              <a:t> has the </a:t>
            </a:r>
            <a:r>
              <a:rPr lang="en-US" altLang="en-US" b="1" dirty="0">
                <a:solidFill>
                  <a:schemeClr val="tx1"/>
                </a:solidFill>
              </a:rPr>
              <a:t>Poisson distribution </a:t>
            </a:r>
            <a:r>
              <a:rPr lang="en-US" altLang="en-US" dirty="0">
                <a:solidFill>
                  <a:schemeClr val="tx1"/>
                </a:solidFill>
              </a:rPr>
              <a:t>with mean </a:t>
            </a:r>
            <a:r>
              <a:rPr lang="en-US" altLang="en-US" i="1" dirty="0">
                <a:solidFill>
                  <a:schemeClr val="tx1"/>
                </a:solidFill>
              </a:rPr>
              <a:t>μ</a:t>
            </a:r>
            <a:r>
              <a:rPr lang="en-US" altLang="en-US" dirty="0">
                <a:solidFill>
                  <a:schemeClr val="tx1"/>
                </a:solidFill>
              </a:rPr>
              <a:t>, the possible values of </a:t>
            </a:r>
            <a:r>
              <a:rPr lang="en-US" altLang="en-US" i="1" dirty="0">
                <a:solidFill>
                  <a:schemeClr val="tx1"/>
                </a:solidFill>
              </a:rPr>
              <a:t>X</a:t>
            </a:r>
            <a:r>
              <a:rPr lang="en-US" altLang="en-US" dirty="0">
                <a:solidFill>
                  <a:schemeClr val="tx1"/>
                </a:solidFill>
              </a:rPr>
              <a:t> are 0, 1, 2, 3, . . . . If </a:t>
            </a:r>
            <a:r>
              <a:rPr lang="en-US" altLang="en-US" i="1" dirty="0">
                <a:solidFill>
                  <a:schemeClr val="tx1"/>
                </a:solidFill>
              </a:rPr>
              <a:t>k</a:t>
            </a:r>
            <a:r>
              <a:rPr lang="en-US" altLang="en-US" dirty="0">
                <a:solidFill>
                  <a:schemeClr val="tx1"/>
                </a:solidFill>
              </a:rPr>
              <a:t> is any whole number, </a:t>
            </a:r>
          </a:p>
          <a:p>
            <a:pPr eaLnBrk="1" hangingPunct="1">
              <a:spcBef>
                <a:spcPct val="0"/>
              </a:spcBef>
              <a:spcAft>
                <a:spcPts val="1200"/>
              </a:spcAft>
              <a:buClrTx/>
              <a:buSzTx/>
              <a:buFontTx/>
              <a:buNone/>
              <a:defRPr/>
            </a:pPr>
            <a:endParaRPr lang="en-US" altLang="en-US" sz="1800" dirty="0">
              <a:solidFill>
                <a:schemeClr val="tx1"/>
              </a:solidFill>
            </a:endParaRPr>
          </a:p>
          <a:p>
            <a:pPr eaLnBrk="1" hangingPunct="1">
              <a:spcBef>
                <a:spcPct val="0"/>
              </a:spcBef>
              <a:spcAft>
                <a:spcPts val="1200"/>
              </a:spcAft>
              <a:buClrTx/>
              <a:buSzTx/>
              <a:buFontTx/>
              <a:buNone/>
              <a:defRPr/>
            </a:pPr>
            <a:endParaRPr lang="en-US" altLang="en-US" sz="1800" dirty="0">
              <a:solidFill>
                <a:schemeClr val="tx1"/>
              </a:solidFill>
            </a:endParaRPr>
          </a:p>
        </p:txBody>
      </p:sp>
      <p:graphicFrame>
        <p:nvGraphicFramePr>
          <p:cNvPr id="63498" name="Object 2" descr="The image shows a probability expression &quot;P&quot; bracket open X equals to k bracket close, equals to product of &quot;e&quot; superscipt 'minus mew' and mew superscript k, and the product is divided by k factorial."/>
          <p:cNvGraphicFramePr>
            <a:graphicFrameLocks noChangeAspect="1"/>
          </p:cNvGraphicFramePr>
          <p:nvPr>
            <p:extLst>
              <p:ext uri="{D42A27DB-BD31-4B8C-83A1-F6EECF244321}">
                <p14:modId xmlns:p14="http://schemas.microsoft.com/office/powerpoint/2010/main" val="3117834190"/>
              </p:ext>
            </p:extLst>
          </p:nvPr>
        </p:nvGraphicFramePr>
        <p:xfrm>
          <a:off x="1230313" y="2154275"/>
          <a:ext cx="2287587" cy="901700"/>
        </p:xfrm>
        <a:graphic>
          <a:graphicData uri="http://schemas.openxmlformats.org/presentationml/2006/ole">
            <mc:AlternateContent xmlns:mc="http://schemas.openxmlformats.org/markup-compatibility/2006">
              <mc:Choice xmlns:v="urn:schemas-microsoft-com:vml" Requires="v">
                <p:oleObj spid="_x0000_s63700" name="Equation" r:id="rId3" imgW="1320480" imgH="520560" progId="Equation.DSMT4">
                  <p:embed/>
                </p:oleObj>
              </mc:Choice>
              <mc:Fallback>
                <p:oleObj name="Equation" r:id="rId3" imgW="1320480" imgH="520560" progId="Equation.DSMT4">
                  <p:embed/>
                  <p:pic>
                    <p:nvPicPr>
                      <p:cNvPr id="0" name="Object 2"/>
                      <p:cNvPicPr>
                        <a:picLocks noChangeAspect="1" noChangeArrowheads="1"/>
                      </p:cNvPicPr>
                      <p:nvPr/>
                    </p:nvPicPr>
                    <p:blipFill>
                      <a:blip r:embed="rId4"/>
                      <a:srcRect/>
                      <a:stretch>
                        <a:fillRect/>
                      </a:stretch>
                    </p:blipFill>
                    <p:spPr bwMode="auto">
                      <a:xfrm>
                        <a:off x="1230313" y="2154275"/>
                        <a:ext cx="2287587" cy="901700"/>
                      </a:xfrm>
                      <a:prstGeom prst="rect">
                        <a:avLst/>
                      </a:prstGeom>
                      <a:noFill/>
                      <a:ln>
                        <a:noFill/>
                      </a:ln>
                      <a:effectLst/>
                    </p:spPr>
                  </p:pic>
                </p:oleObj>
              </mc:Fallback>
            </mc:AlternateContent>
          </a:graphicData>
        </a:graphic>
      </p:graphicFrame>
      <p:sp>
        <p:nvSpPr>
          <p:cNvPr id="63499" name="TextBox 1"/>
          <p:cNvSpPr txBox="1">
            <a:spLocks noChangeArrowheads="1"/>
          </p:cNvSpPr>
          <p:nvPr/>
        </p:nvSpPr>
        <p:spPr bwMode="auto">
          <a:xfrm>
            <a:off x="3930650" y="2180878"/>
            <a:ext cx="4572000" cy="65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800" dirty="0">
                <a:solidFill>
                  <a:schemeClr val="tx1"/>
                </a:solidFill>
              </a:rPr>
              <a:t>The </a:t>
            </a:r>
            <a:r>
              <a:rPr lang="en-US" altLang="en-US" sz="1800" b="1" dirty="0">
                <a:solidFill>
                  <a:schemeClr val="tx1"/>
                </a:solidFill>
              </a:rPr>
              <a:t>standard deviation</a:t>
            </a:r>
            <a:r>
              <a:rPr lang="en-US" altLang="en-US" sz="1800" dirty="0">
                <a:solidFill>
                  <a:schemeClr val="tx1"/>
                </a:solidFill>
              </a:rPr>
              <a:t> of the distribution is       . </a:t>
            </a:r>
          </a:p>
        </p:txBody>
      </p:sp>
      <p:graphicFrame>
        <p:nvGraphicFramePr>
          <p:cNvPr id="12" name="Object 3" descr="The image shows probability calculations, which are mentioned as: P bracket open X less than 2 bracket close, equals to P bracket open X equals to 0 bracket close, plus P bracket open X equals to 1 bracket close, plus P bracket open X equals to 2 bracket close. The expression is equals to product of &quot;e superscript minus 2.1,&quot; and 2.1 superscript 0, divide by 0 factorial, plus the expression &quot;e superscript minus 2.1,&quot; multiplied by 2.1 superscript 1, divide by 1 factorial,&quot; plus the expression &quot;e superscript minus 2.1,&quot; multiplied by 2.1 superscript 2, divide by 2 factorial. The expression given as final result is: 0.1225 plus 0.2572 plus 0.2700, which is equal to 0.6497."/>
          <p:cNvGraphicFramePr>
            <a:graphicFrameLocks noChangeAspect="1"/>
          </p:cNvGraphicFramePr>
          <p:nvPr>
            <p:extLst>
              <p:ext uri="{D42A27DB-BD31-4B8C-83A1-F6EECF244321}">
                <p14:modId xmlns:p14="http://schemas.microsoft.com/office/powerpoint/2010/main" val="1237156290"/>
              </p:ext>
            </p:extLst>
          </p:nvPr>
        </p:nvGraphicFramePr>
        <p:xfrm>
          <a:off x="688975" y="4964113"/>
          <a:ext cx="5483225" cy="1709737"/>
        </p:xfrm>
        <a:graphic>
          <a:graphicData uri="http://schemas.openxmlformats.org/presentationml/2006/ole">
            <mc:AlternateContent xmlns:mc="http://schemas.openxmlformats.org/markup-compatibility/2006">
              <mc:Choice xmlns:v="urn:schemas-microsoft-com:vml" Requires="v">
                <p:oleObj spid="_x0000_s63701" name="Equation" r:id="rId5" imgW="2895480" imgH="901440" progId="Equation.DSMT4">
                  <p:embed/>
                </p:oleObj>
              </mc:Choice>
              <mc:Fallback>
                <p:oleObj name="Equation" r:id="rId5" imgW="2895480" imgH="901440" progId="Equation.DSMT4">
                  <p:embed/>
                  <p:pic>
                    <p:nvPicPr>
                      <p:cNvPr id="0" name="Object 3" descr="The image shows probability calculations, which are mentioned as: P bracket open X less than 2 bracket close, equals to P bracket open X equals to 0 bracket close, plus P bracket open X equals to 1 bracket close, plus P bracket open X equals to 2 bracket close. The expression is equals to product of &quot;e superscript minus 2.1,&quot; and 2.1 superscript 0, divide by 0 factorial, plus the expression &quot;e superscript minus 2.1,&quot; multiplied by 2.1 superscript 1, divide by 1 factorial,&quot; plus the expression &quot;e superscript minus 2.1,&quot; multiplied by 2.1 superscript 2, divide by 2 factorial. The expression given as final result is: 0.1225 plus 0.2572 plus 0.2700, which is equal to 0.6497."/>
                      <p:cNvPicPr>
                        <a:picLocks noChangeAspect="1" noChangeArrowheads="1"/>
                      </p:cNvPicPr>
                      <p:nvPr/>
                    </p:nvPicPr>
                    <p:blipFill>
                      <a:blip r:embed="rId6"/>
                      <a:srcRect/>
                      <a:stretch>
                        <a:fillRect/>
                      </a:stretch>
                    </p:blipFill>
                    <p:spPr bwMode="auto">
                      <a:xfrm>
                        <a:off x="688975" y="4964113"/>
                        <a:ext cx="5483225" cy="1709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4" name="TextBox 13"/>
          <p:cNvSpPr txBox="1"/>
          <p:nvPr/>
        </p:nvSpPr>
        <p:spPr>
          <a:xfrm>
            <a:off x="6497458" y="5019264"/>
            <a:ext cx="2421690" cy="1477328"/>
          </a:xfrm>
          <a:prstGeom prst="rect">
            <a:avLst/>
          </a:prstGeom>
          <a:solidFill>
            <a:srgbClr val="FFD780"/>
          </a:solidFill>
        </p:spPr>
        <p:style>
          <a:lnRef idx="0">
            <a:schemeClr val="accent5"/>
          </a:lnRef>
          <a:fillRef idx="3">
            <a:schemeClr val="accent5"/>
          </a:fillRef>
          <a:effectRef idx="3">
            <a:schemeClr val="accent5"/>
          </a:effectRef>
          <a:fontRef idx="minor">
            <a:schemeClr val="lt1"/>
          </a:fontRef>
        </p:style>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just" eaLnBrk="1" hangingPunct="1">
              <a:defRPr/>
            </a:pPr>
            <a:r>
              <a:rPr lang="en-US" sz="1800" dirty="0">
                <a:solidFill>
                  <a:srgbClr val="000000"/>
                </a:solidFill>
              </a:rPr>
              <a:t>There is roughly a 65% chance that you will have no more than two dropped calls tomorrow.</a:t>
            </a:r>
          </a:p>
        </p:txBody>
      </p:sp>
      <p:graphicFrame>
        <p:nvGraphicFramePr>
          <p:cNvPr id="2" name="Object 1">
            <a:extLst>
              <a:ext uri="{FF2B5EF4-FFF2-40B4-BE49-F238E27FC236}">
                <a16:creationId xmlns:a16="http://schemas.microsoft.com/office/drawing/2014/main" xmlns="" id="{D98222F9-F0FD-418E-B55A-C63329CB9D98}"/>
              </a:ext>
            </a:extLst>
          </p:cNvPr>
          <p:cNvGraphicFramePr>
            <a:graphicFrameLocks noChangeAspect="1"/>
          </p:cNvGraphicFramePr>
          <p:nvPr>
            <p:extLst>
              <p:ext uri="{D42A27DB-BD31-4B8C-83A1-F6EECF244321}">
                <p14:modId xmlns:p14="http://schemas.microsoft.com/office/powerpoint/2010/main" val="643966540"/>
              </p:ext>
            </p:extLst>
          </p:nvPr>
        </p:nvGraphicFramePr>
        <p:xfrm>
          <a:off x="4193200" y="2462270"/>
          <a:ext cx="408780" cy="389314"/>
        </p:xfrm>
        <a:graphic>
          <a:graphicData uri="http://schemas.openxmlformats.org/presentationml/2006/ole">
            <mc:AlternateContent xmlns:mc="http://schemas.openxmlformats.org/markup-compatibility/2006">
              <mc:Choice xmlns:v="urn:schemas-microsoft-com:vml" Requires="v">
                <p:oleObj spid="_x0000_s63702" name="Equation" r:id="rId7" imgW="266400" imgH="253800" progId="Equation.DSMT4">
                  <p:embed/>
                </p:oleObj>
              </mc:Choice>
              <mc:Fallback>
                <p:oleObj name="Equation" r:id="rId7" imgW="266400" imgH="253800" progId="Equation.DSMT4">
                  <p:embed/>
                  <p:pic>
                    <p:nvPicPr>
                      <p:cNvPr id="0" name=""/>
                      <p:cNvPicPr/>
                      <p:nvPr/>
                    </p:nvPicPr>
                    <p:blipFill>
                      <a:blip r:embed="rId8"/>
                      <a:stretch>
                        <a:fillRect/>
                      </a:stretch>
                    </p:blipFill>
                    <p:spPr>
                      <a:xfrm>
                        <a:off x="4193200" y="2462270"/>
                        <a:ext cx="408780" cy="389314"/>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xmlns="" id="{23FEE1D6-4198-4F47-93CA-BC88599F4793}"/>
              </a:ext>
            </a:extLst>
          </p:cNvPr>
          <p:cNvSpPr txBox="1"/>
          <p:nvPr/>
        </p:nvSpPr>
        <p:spPr>
          <a:xfrm>
            <a:off x="437837" y="3247131"/>
            <a:ext cx="8328285" cy="1754326"/>
          </a:xfrm>
          <a:prstGeom prst="rect">
            <a:avLst/>
          </a:prstGeom>
          <a:noFill/>
        </p:spPr>
        <p:txBody>
          <a:bodyPr wrap="square" rtlCol="0">
            <a:spAutoFit/>
          </a:bodyPr>
          <a:lstStyle/>
          <a:p>
            <a:pPr algn="just"/>
            <a:r>
              <a:rPr lang="en-US" altLang="en-US" b="1" dirty="0"/>
              <a:t>Example:  </a:t>
            </a:r>
            <a:r>
              <a:rPr lang="en-US" altLang="en-US" dirty="0"/>
              <a:t>Suppose the number of dropped calls on your cell phone varies, with an average of 2.1 calls per day. If we assume the Poisson setting is reasonable, we can model the daily count of dropped calls </a:t>
            </a:r>
            <a:r>
              <a:rPr lang="en-US" altLang="en-US" i="1" dirty="0"/>
              <a:t>X</a:t>
            </a:r>
            <a:r>
              <a:rPr lang="en-US" altLang="en-US" dirty="0"/>
              <a:t> using the Poisson distribution with </a:t>
            </a:r>
            <a:r>
              <a:rPr lang="en-US" altLang="en-US" i="1" dirty="0"/>
              <a:t>μ</a:t>
            </a:r>
            <a:r>
              <a:rPr lang="en-US" altLang="en-US" dirty="0"/>
              <a:t> = 2.1. What is the probability of having no more than two dropped calls tomorrow?</a:t>
            </a:r>
          </a:p>
          <a:p>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5">
                                            <p:bg/>
                                          </p:spTgt>
                                        </p:tgtEl>
                                        <p:attrNameLst>
                                          <p:attrName>style.visibility</p:attrName>
                                        </p:attrNameLst>
                                      </p:cBhvr>
                                      <p:to>
                                        <p:strVal val="visible"/>
                                      </p:to>
                                    </p:set>
                                    <p:animEffect transition="in" filter="fade">
                                      <p:cBhvr>
                                        <p:cTn id="7" dur="1000"/>
                                        <p:tgtEl>
                                          <p:spTgt spid="25">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
                                            <p:txEl>
                                              <p:pRg st="0" end="0"/>
                                            </p:txEl>
                                          </p:spTgt>
                                        </p:tgtEl>
                                        <p:attrNameLst>
                                          <p:attrName>style.visibility</p:attrName>
                                        </p:attrNameLst>
                                      </p:cBhvr>
                                      <p:to>
                                        <p:strVal val="visible"/>
                                      </p:to>
                                    </p:set>
                                    <p:animEffect transition="in" filter="fade">
                                      <p:cBhvr>
                                        <p:cTn id="12" dur="1000"/>
                                        <p:tgtEl>
                                          <p:spTgt spid="2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1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p:cTn id="22" dur="500" fill="hold"/>
                                        <p:tgtEl>
                                          <p:spTgt spid="14"/>
                                        </p:tgtEl>
                                        <p:attrNameLst>
                                          <p:attrName>ppt_w</p:attrName>
                                        </p:attrNameLst>
                                      </p:cBhvr>
                                      <p:tavLst>
                                        <p:tav tm="0">
                                          <p:val>
                                            <p:fltVal val="0"/>
                                          </p:val>
                                        </p:tav>
                                        <p:tav tm="100000">
                                          <p:val>
                                            <p:strVal val="#ppt_w"/>
                                          </p:val>
                                        </p:tav>
                                      </p:tavLst>
                                    </p:anim>
                                    <p:anim calcmode="lin" valueType="num">
                                      <p:cBhvr>
                                        <p:cTn id="23" dur="500" fill="hold"/>
                                        <p:tgtEl>
                                          <p:spTgt spid="1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uild="p" bldLvl="5"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9725"/>
            <a:ext cx="7562538" cy="1217950"/>
          </a:xfrm>
        </p:spPr>
        <p:txBody>
          <a:bodyPr/>
          <a:lstStyle/>
          <a:p>
            <a:r>
              <a:rPr lang="en-US" altLang="en-US" b="1" dirty="0"/>
              <a:t>Chapter 5</a:t>
            </a:r>
            <a:br>
              <a:rPr lang="en-US" altLang="en-US" b="1" dirty="0"/>
            </a:br>
            <a:r>
              <a:rPr lang="en-US" altLang="en-US" b="1" dirty="0"/>
              <a:t>Sampling Distributions (Review)</a:t>
            </a:r>
            <a:endParaRPr lang="en-US" b="1" dirty="0"/>
          </a:p>
        </p:txBody>
      </p:sp>
      <p:sp>
        <p:nvSpPr>
          <p:cNvPr id="3" name="Content Placeholder 2"/>
          <p:cNvSpPr>
            <a:spLocks noGrp="1"/>
          </p:cNvSpPr>
          <p:nvPr>
            <p:ph idx="1"/>
          </p:nvPr>
        </p:nvSpPr>
        <p:spPr>
          <a:xfrm>
            <a:off x="457200" y="2134850"/>
            <a:ext cx="7562538" cy="2901846"/>
          </a:xfrm>
        </p:spPr>
        <p:txBody>
          <a:bodyPr/>
          <a:lstStyle/>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5.1 Toward Statistical Inference</a:t>
            </a:r>
          </a:p>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5.2 The Sampling Distribution of a Sample Mean</a:t>
            </a:r>
          </a:p>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5.3 Sampling Distributions for Counts and Proportions</a:t>
            </a:r>
          </a:p>
        </p:txBody>
      </p:sp>
      <p:sp>
        <p:nvSpPr>
          <p:cNvPr id="64514"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8B2FB0E8-16D1-4D2F-B9AD-7CA3AF2B9F51}" type="slidenum">
              <a:rPr lang="en-US" altLang="en-US" sz="1400">
                <a:solidFill>
                  <a:schemeClr val="accent1"/>
                </a:solidFill>
              </a:rPr>
              <a:pPr/>
              <a:t>32</a:t>
            </a:fld>
            <a:endParaRPr lang="en-US" altLang="en-US" sz="1400">
              <a:solidFill>
                <a:schemeClr val="accent1"/>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laza">
  <a:themeElements>
    <a:clrScheme name="Sky">
      <a:dk1>
        <a:sysClr val="windowText" lastClr="000000"/>
      </a:dk1>
      <a:lt1>
        <a:sysClr val="window" lastClr="FFFFFF"/>
      </a:lt1>
      <a:dk2>
        <a:srgbClr val="1782BF"/>
      </a:dk2>
      <a:lt2>
        <a:srgbClr val="62BCE9"/>
      </a:lt2>
      <a:accent1>
        <a:srgbClr val="073779"/>
      </a:accent1>
      <a:accent2>
        <a:srgbClr val="8FD9FB"/>
      </a:accent2>
      <a:accent3>
        <a:srgbClr val="FFCC00"/>
      </a:accent3>
      <a:accent4>
        <a:srgbClr val="EB6615"/>
      </a:accent4>
      <a:accent5>
        <a:srgbClr val="C76402"/>
      </a:accent5>
      <a:accent6>
        <a:srgbClr val="B523B4"/>
      </a:accent6>
      <a:hlink>
        <a:srgbClr val="FFDE26"/>
      </a:hlink>
      <a:folHlink>
        <a:srgbClr val="DEBE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Plaza.thmx</Template>
  <TotalTime>2367</TotalTime>
  <Words>3214</Words>
  <Application>Microsoft Office PowerPoint</Application>
  <PresentationFormat>On-screen Show (4:3)</PresentationFormat>
  <Paragraphs>268</Paragraphs>
  <Slides>32</Slides>
  <Notes>7</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2</vt:i4>
      </vt:variant>
      <vt:variant>
        <vt:lpstr>Slide Titles</vt:lpstr>
      </vt:variant>
      <vt:variant>
        <vt:i4>32</vt:i4>
      </vt:variant>
    </vt:vector>
  </HeadingPairs>
  <TitlesOfParts>
    <vt:vector size="46" baseType="lpstr">
      <vt:lpstr>ＭＳ Ｐゴシック</vt:lpstr>
      <vt:lpstr>Arial</vt:lpstr>
      <vt:lpstr>Calibri</vt:lpstr>
      <vt:lpstr>Cambria Math</vt:lpstr>
      <vt:lpstr>Garamond</vt:lpstr>
      <vt:lpstr>Palatino</vt:lpstr>
      <vt:lpstr>Symbol</vt:lpstr>
      <vt:lpstr>Tw Cen MT</vt:lpstr>
      <vt:lpstr>Wingdings</vt:lpstr>
      <vt:lpstr>Wingdings 2</vt:lpstr>
      <vt:lpstr>ヒラギノ角ゴ Pro W3</vt:lpstr>
      <vt:lpstr>Plaza</vt:lpstr>
      <vt:lpstr>MathType 6.0 Equation</vt:lpstr>
      <vt:lpstr>Equation</vt:lpstr>
      <vt:lpstr>Chapter 5 Sampling Distributions  Lecture Slides</vt:lpstr>
      <vt:lpstr>Chapter 5 Sampling Distributions</vt:lpstr>
      <vt:lpstr>5.1 Toward Statistical Inference</vt:lpstr>
      <vt:lpstr>Parameters and Statistics</vt:lpstr>
      <vt:lpstr>Statistical Estimation</vt:lpstr>
      <vt:lpstr>Sampling Variability</vt:lpstr>
      <vt:lpstr>Sampling Distributions</vt:lpstr>
      <vt:lpstr>Bias and Variability</vt:lpstr>
      <vt:lpstr>Managing Bias and Variability</vt:lpstr>
      <vt:lpstr>Why Randomize?</vt:lpstr>
      <vt:lpstr>5.2 The Sampling Distribution of a Sample Mean</vt:lpstr>
      <vt:lpstr>Population Distribution</vt:lpstr>
      <vt:lpstr>Mean and Standard Deviation of a Sample Mean</vt:lpstr>
      <vt:lpstr>The Sampling Distribution of a Sample Mean </vt:lpstr>
      <vt:lpstr>The Central Limit Theorem</vt:lpstr>
      <vt:lpstr>Central Limit Theorem Example</vt:lpstr>
      <vt:lpstr>A Few More Facts</vt:lpstr>
      <vt:lpstr>5.3 Sampling Distributions for Counts and Proportions</vt:lpstr>
      <vt:lpstr>The Binomial Setting</vt:lpstr>
      <vt:lpstr>Binomial Distribution</vt:lpstr>
      <vt:lpstr>Form of the Binomial Distribution</vt:lpstr>
      <vt:lpstr>Binomial Distributions in Statistical Sampling</vt:lpstr>
      <vt:lpstr>Binomial Mean and Standard Deviation</vt:lpstr>
      <vt:lpstr>Normal Approximation for  Binomial Distributions</vt:lpstr>
      <vt:lpstr>Normal Approximation</vt:lpstr>
      <vt:lpstr>Sampling Distribution of a Sample Proportion</vt:lpstr>
      <vt:lpstr>Binomial Formula</vt:lpstr>
      <vt:lpstr>Binomial Probability (1 of 2)</vt:lpstr>
      <vt:lpstr>Binomial Probability (2 of 2)</vt:lpstr>
      <vt:lpstr>Poisson Setting</vt:lpstr>
      <vt:lpstr>Poisson Distribution</vt:lpstr>
      <vt:lpstr>Chapter 5 Sampling Distributions (Review)</vt:lpstr>
    </vt:vector>
  </TitlesOfParts>
  <Company>ISD 194</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Sampling Distributions</dc:title>
  <dc:creator>Jason Molesky</dc:creator>
  <cp:lastModifiedBy>Newton, Andy</cp:lastModifiedBy>
  <cp:revision>289</cp:revision>
  <dcterms:created xsi:type="dcterms:W3CDTF">2012-01-13T00:58:02Z</dcterms:created>
  <dcterms:modified xsi:type="dcterms:W3CDTF">2020-12-08T22:01:21Z</dcterms:modified>
</cp:coreProperties>
</file>